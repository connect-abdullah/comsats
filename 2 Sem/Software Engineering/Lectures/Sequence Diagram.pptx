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82" r:id="rId6"/>
    <p:sldId id="261" r:id="rId7"/>
    <p:sldId id="283" r:id="rId8"/>
    <p:sldId id="284" r:id="rId9"/>
    <p:sldId id="260" r:id="rId10"/>
    <p:sldId id="262" r:id="rId11"/>
    <p:sldId id="263" r:id="rId12"/>
    <p:sldId id="285" r:id="rId13"/>
    <p:sldId id="265" r:id="rId14"/>
    <p:sldId id="266" r:id="rId15"/>
    <p:sldId id="267" r:id="rId16"/>
    <p:sldId id="268" r:id="rId17"/>
    <p:sldId id="269" r:id="rId18"/>
    <p:sldId id="286" r:id="rId19"/>
    <p:sldId id="288" r:id="rId20"/>
    <p:sldId id="287" r:id="rId21"/>
    <p:sldId id="289" r:id="rId22"/>
    <p:sldId id="290" r:id="rId23"/>
    <p:sldId id="291" r:id="rId24"/>
    <p:sldId id="292" r:id="rId25"/>
    <p:sldId id="270" r:id="rId26"/>
    <p:sldId id="271" r:id="rId27"/>
    <p:sldId id="293" r:id="rId28"/>
    <p:sldId id="272" r:id="rId29"/>
    <p:sldId id="274" r:id="rId30"/>
    <p:sldId id="273" r:id="rId31"/>
    <p:sldId id="275" r:id="rId32"/>
    <p:sldId id="276" r:id="rId33"/>
    <p:sldId id="277" r:id="rId34"/>
    <p:sldId id="278" r:id="rId35"/>
    <p:sldId id="279" r:id="rId36"/>
    <p:sldId id="280" r:id="rId37"/>
    <p:sldId id="281"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66" autoAdjust="0"/>
    <p:restoredTop sz="94660"/>
  </p:normalViewPr>
  <p:slideViewPr>
    <p:cSldViewPr snapToGrid="0">
      <p:cViewPr varScale="1">
        <p:scale>
          <a:sx n="87" d="100"/>
          <a:sy n="87" d="100"/>
        </p:scale>
        <p:origin x="86" y="11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0807134-A28E-4A9C-A832-D6B3AC0CE94F}" type="datetimeFigureOut">
              <a:rPr lang="en-US" smtClean="0"/>
              <a:t>4/28/2025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0799B7-F69E-4122-B6A3-040C298EAFED}" type="slidenum">
              <a:rPr lang="en-US" smtClean="0"/>
              <a:t>‹#›</a:t>
            </a:fld>
            <a:endParaRPr lang="en-US"/>
          </a:p>
        </p:txBody>
      </p:sp>
    </p:spTree>
    <p:extLst>
      <p:ext uri="{BB962C8B-B14F-4D97-AF65-F5344CB8AC3E}">
        <p14:creationId xmlns:p14="http://schemas.microsoft.com/office/powerpoint/2010/main" val="24423791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0807134-A28E-4A9C-A832-D6B3AC0CE94F}" type="datetimeFigureOut">
              <a:rPr lang="en-US" smtClean="0"/>
              <a:t>4/28/2025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0799B7-F69E-4122-B6A3-040C298EAFED}" type="slidenum">
              <a:rPr lang="en-US" smtClean="0"/>
              <a:t>‹#›</a:t>
            </a:fld>
            <a:endParaRPr lang="en-US"/>
          </a:p>
        </p:txBody>
      </p:sp>
    </p:spTree>
    <p:extLst>
      <p:ext uri="{BB962C8B-B14F-4D97-AF65-F5344CB8AC3E}">
        <p14:creationId xmlns:p14="http://schemas.microsoft.com/office/powerpoint/2010/main" val="10090929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0807134-A28E-4A9C-A832-D6B3AC0CE94F}" type="datetimeFigureOut">
              <a:rPr lang="en-US" smtClean="0"/>
              <a:t>4/28/2025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0799B7-F69E-4122-B6A3-040C298EAFED}" type="slidenum">
              <a:rPr lang="en-US" smtClean="0"/>
              <a:t>‹#›</a:t>
            </a:fld>
            <a:endParaRPr lang="en-US"/>
          </a:p>
        </p:txBody>
      </p:sp>
    </p:spTree>
    <p:extLst>
      <p:ext uri="{BB962C8B-B14F-4D97-AF65-F5344CB8AC3E}">
        <p14:creationId xmlns:p14="http://schemas.microsoft.com/office/powerpoint/2010/main" val="25505912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0807134-A28E-4A9C-A832-D6B3AC0CE94F}" type="datetimeFigureOut">
              <a:rPr lang="en-US" smtClean="0"/>
              <a:t>4/28/2025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0799B7-F69E-4122-B6A3-040C298EAFED}" type="slidenum">
              <a:rPr lang="en-US" smtClean="0"/>
              <a:t>‹#›</a:t>
            </a:fld>
            <a:endParaRPr lang="en-US"/>
          </a:p>
        </p:txBody>
      </p:sp>
    </p:spTree>
    <p:extLst>
      <p:ext uri="{BB962C8B-B14F-4D97-AF65-F5344CB8AC3E}">
        <p14:creationId xmlns:p14="http://schemas.microsoft.com/office/powerpoint/2010/main" val="21458032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0807134-A28E-4A9C-A832-D6B3AC0CE94F}" type="datetimeFigureOut">
              <a:rPr lang="en-US" smtClean="0"/>
              <a:t>4/28/2025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90799B7-F69E-4122-B6A3-040C298EAFED}" type="slidenum">
              <a:rPr lang="en-US" smtClean="0"/>
              <a:t>‹#›</a:t>
            </a:fld>
            <a:endParaRPr lang="en-US"/>
          </a:p>
        </p:txBody>
      </p:sp>
    </p:spTree>
    <p:extLst>
      <p:ext uri="{BB962C8B-B14F-4D97-AF65-F5344CB8AC3E}">
        <p14:creationId xmlns:p14="http://schemas.microsoft.com/office/powerpoint/2010/main" val="14969852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0807134-A28E-4A9C-A832-D6B3AC0CE94F}" type="datetimeFigureOut">
              <a:rPr lang="en-US" smtClean="0"/>
              <a:t>4/28/2025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0799B7-F69E-4122-B6A3-040C298EAFED}" type="slidenum">
              <a:rPr lang="en-US" smtClean="0"/>
              <a:t>‹#›</a:t>
            </a:fld>
            <a:endParaRPr lang="en-US"/>
          </a:p>
        </p:txBody>
      </p:sp>
    </p:spTree>
    <p:extLst>
      <p:ext uri="{BB962C8B-B14F-4D97-AF65-F5344CB8AC3E}">
        <p14:creationId xmlns:p14="http://schemas.microsoft.com/office/powerpoint/2010/main" val="41177352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0807134-A28E-4A9C-A832-D6B3AC0CE94F}" type="datetimeFigureOut">
              <a:rPr lang="en-US" smtClean="0"/>
              <a:t>4/28/2025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90799B7-F69E-4122-B6A3-040C298EAFED}" type="slidenum">
              <a:rPr lang="en-US" smtClean="0"/>
              <a:t>‹#›</a:t>
            </a:fld>
            <a:endParaRPr lang="en-US"/>
          </a:p>
        </p:txBody>
      </p:sp>
    </p:spTree>
    <p:extLst>
      <p:ext uri="{BB962C8B-B14F-4D97-AF65-F5344CB8AC3E}">
        <p14:creationId xmlns:p14="http://schemas.microsoft.com/office/powerpoint/2010/main" val="39200387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0807134-A28E-4A9C-A832-D6B3AC0CE94F}" type="datetimeFigureOut">
              <a:rPr lang="en-US" smtClean="0"/>
              <a:t>4/28/2025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0799B7-F69E-4122-B6A3-040C298EAFED}" type="slidenum">
              <a:rPr lang="en-US" smtClean="0"/>
              <a:t>‹#›</a:t>
            </a:fld>
            <a:endParaRPr lang="en-US"/>
          </a:p>
        </p:txBody>
      </p:sp>
    </p:spTree>
    <p:extLst>
      <p:ext uri="{BB962C8B-B14F-4D97-AF65-F5344CB8AC3E}">
        <p14:creationId xmlns:p14="http://schemas.microsoft.com/office/powerpoint/2010/main" val="30494120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0807134-A28E-4A9C-A832-D6B3AC0CE94F}" type="datetimeFigureOut">
              <a:rPr lang="en-US" smtClean="0"/>
              <a:t>4/28/2025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0799B7-F69E-4122-B6A3-040C298EAFED}" type="slidenum">
              <a:rPr lang="en-US" smtClean="0"/>
              <a:t>‹#›</a:t>
            </a:fld>
            <a:endParaRPr lang="en-US"/>
          </a:p>
        </p:txBody>
      </p:sp>
    </p:spTree>
    <p:extLst>
      <p:ext uri="{BB962C8B-B14F-4D97-AF65-F5344CB8AC3E}">
        <p14:creationId xmlns:p14="http://schemas.microsoft.com/office/powerpoint/2010/main" val="36216505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0807134-A28E-4A9C-A832-D6B3AC0CE94F}" type="datetimeFigureOut">
              <a:rPr lang="en-US" smtClean="0"/>
              <a:t>4/28/2025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0799B7-F69E-4122-B6A3-040C298EAFED}" type="slidenum">
              <a:rPr lang="en-US" smtClean="0"/>
              <a:t>‹#›</a:t>
            </a:fld>
            <a:endParaRPr lang="en-US"/>
          </a:p>
        </p:txBody>
      </p:sp>
    </p:spTree>
    <p:extLst>
      <p:ext uri="{BB962C8B-B14F-4D97-AF65-F5344CB8AC3E}">
        <p14:creationId xmlns:p14="http://schemas.microsoft.com/office/powerpoint/2010/main" val="2985325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0807134-A28E-4A9C-A832-D6B3AC0CE94F}" type="datetimeFigureOut">
              <a:rPr lang="en-US" smtClean="0"/>
              <a:t>4/28/2025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0799B7-F69E-4122-B6A3-040C298EAFED}" type="slidenum">
              <a:rPr lang="en-US" smtClean="0"/>
              <a:t>‹#›</a:t>
            </a:fld>
            <a:endParaRPr lang="en-US"/>
          </a:p>
        </p:txBody>
      </p:sp>
    </p:spTree>
    <p:extLst>
      <p:ext uri="{BB962C8B-B14F-4D97-AF65-F5344CB8AC3E}">
        <p14:creationId xmlns:p14="http://schemas.microsoft.com/office/powerpoint/2010/main" val="28817241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807134-A28E-4A9C-A832-D6B3AC0CE94F}" type="datetimeFigureOut">
              <a:rPr lang="en-US" smtClean="0"/>
              <a:t>4/28/2025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0799B7-F69E-4122-B6A3-040C298EAFED}" type="slidenum">
              <a:rPr lang="en-US" smtClean="0"/>
              <a:t>‹#›</a:t>
            </a:fld>
            <a:endParaRPr lang="en-US"/>
          </a:p>
        </p:txBody>
      </p:sp>
    </p:spTree>
    <p:extLst>
      <p:ext uri="{BB962C8B-B14F-4D97-AF65-F5344CB8AC3E}">
        <p14:creationId xmlns:p14="http://schemas.microsoft.com/office/powerpoint/2010/main" val="37372437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Sequence Diagram</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24908742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Sequence Diagrams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lnSpcReduction="10000"/>
          </a:bodyPr>
          <a:lstStyle/>
          <a:p>
            <a:pPr algn="just"/>
            <a:r>
              <a:rPr lang="en-US" dirty="0" smtClean="0"/>
              <a:t>A sequence diagram is a type of interaction diagram because it describes how—and in what order—a group of objects works together. </a:t>
            </a:r>
          </a:p>
          <a:p>
            <a:pPr algn="just"/>
            <a:r>
              <a:rPr lang="en-US" dirty="0" smtClean="0"/>
              <a:t>These diagrams are used by software developers and business professionals to understand requirements for a new system or to document an existing process. </a:t>
            </a:r>
          </a:p>
          <a:p>
            <a:pPr algn="just"/>
            <a:r>
              <a:rPr lang="en-US" dirty="0" smtClean="0"/>
              <a:t>Sequence diagrams are sometimes known as event diagrams or event scenarios.</a:t>
            </a:r>
          </a:p>
          <a:p>
            <a:pPr algn="just"/>
            <a:r>
              <a:rPr lang="en-US" dirty="0" smtClean="0"/>
              <a:t>Sequence Diagrams are time focus and they show the order of the interaction visually by using the vertical axis of the diagram to represent time what messages are sent and when</a:t>
            </a:r>
          </a:p>
          <a:p>
            <a:pPr algn="just"/>
            <a:endParaRPr lang="en-US" dirty="0"/>
          </a:p>
        </p:txBody>
      </p:sp>
    </p:spTree>
    <p:extLst>
      <p:ext uri="{BB962C8B-B14F-4D97-AF65-F5344CB8AC3E}">
        <p14:creationId xmlns:p14="http://schemas.microsoft.com/office/powerpoint/2010/main" val="38439558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lgn="ctr">
              <a:buNone/>
            </a:pPr>
            <a:r>
              <a:rPr lang="en-US" sz="7200" b="1" dirty="0" smtClean="0">
                <a:latin typeface="Times New Roman" panose="02020603050405020304" pitchFamily="18" charset="0"/>
                <a:cs typeface="Times New Roman" panose="02020603050405020304" pitchFamily="18" charset="0"/>
              </a:rPr>
              <a:t>Basic Symbols and Components</a:t>
            </a:r>
            <a:endParaRPr lang="en-US" sz="7200" dirty="0"/>
          </a:p>
        </p:txBody>
      </p:sp>
    </p:spTree>
    <p:extLst>
      <p:ext uri="{BB962C8B-B14F-4D97-AF65-F5344CB8AC3E}">
        <p14:creationId xmlns:p14="http://schemas.microsoft.com/office/powerpoint/2010/main" val="391497064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6187" y="72558"/>
            <a:ext cx="11803561" cy="6535632"/>
          </a:xfrm>
        </p:spPr>
        <p:txBody>
          <a:bodyPr/>
          <a:lstStyle/>
          <a:p>
            <a:pPr marL="0" indent="0">
              <a:buNone/>
            </a:pPr>
            <a:r>
              <a:rPr lang="en-US" sz="3600" b="1" dirty="0" smtClean="0"/>
              <a:t>Frame</a:t>
            </a:r>
            <a:endParaRPr lang="en-US" sz="3600" b="1" dirty="0"/>
          </a:p>
          <a:p>
            <a:pPr marL="0" indent="0">
              <a:buNone/>
            </a:pPr>
            <a:r>
              <a:rPr lang="en-US" sz="3600" dirty="0" smtClean="0"/>
              <a:t>A </a:t>
            </a:r>
            <a:r>
              <a:rPr lang="en-US" sz="3600" dirty="0"/>
              <a:t>frame element provides a consistent place for a diagram's label, while providing a graphical boundary for the diagram. The frame element is optional in UML diagrams</a:t>
            </a:r>
            <a:endParaRPr lang="en-US" b="1" dirty="0"/>
          </a:p>
        </p:txBody>
      </p:sp>
      <p:pic>
        <p:nvPicPr>
          <p:cNvPr id="8" name="Picture 7"/>
          <p:cNvPicPr>
            <a:picLocks noChangeAspect="1"/>
          </p:cNvPicPr>
          <p:nvPr/>
        </p:nvPicPr>
        <p:blipFill>
          <a:blip r:embed="rId2"/>
          <a:stretch>
            <a:fillRect/>
          </a:stretch>
        </p:blipFill>
        <p:spPr>
          <a:xfrm>
            <a:off x="3341076" y="2805112"/>
            <a:ext cx="5791200" cy="3305175"/>
          </a:xfrm>
          <a:prstGeom prst="rect">
            <a:avLst/>
          </a:prstGeom>
        </p:spPr>
      </p:pic>
    </p:spTree>
    <p:extLst>
      <p:ext uri="{BB962C8B-B14F-4D97-AF65-F5344CB8AC3E}">
        <p14:creationId xmlns:p14="http://schemas.microsoft.com/office/powerpoint/2010/main" val="310598445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6187" y="72558"/>
            <a:ext cx="11803561" cy="6535632"/>
          </a:xfrm>
        </p:spPr>
        <p:txBody>
          <a:bodyPr/>
          <a:lstStyle/>
          <a:p>
            <a:pPr marL="0" indent="0">
              <a:buNone/>
            </a:pPr>
            <a:r>
              <a:rPr lang="en-US" sz="3600" b="1" dirty="0" smtClean="0"/>
              <a:t>Lifeline</a:t>
            </a:r>
          </a:p>
          <a:p>
            <a:endParaRPr lang="en-US" b="1" dirty="0"/>
          </a:p>
          <a:p>
            <a:pPr algn="just"/>
            <a:r>
              <a:rPr lang="en-US" dirty="0" smtClean="0"/>
              <a:t>A lifeline represents an individual participant in a sequence diagram.</a:t>
            </a:r>
          </a:p>
          <a:p>
            <a:pPr algn="just"/>
            <a:r>
              <a:rPr lang="en-US" dirty="0" smtClean="0"/>
              <a:t>A lifeline will usually have a rectangle containing its object name.</a:t>
            </a:r>
          </a:p>
          <a:p>
            <a:pPr algn="just"/>
            <a:r>
              <a:rPr lang="en-US" dirty="0" smtClean="0"/>
              <a:t>If its name is "self", that indicates that the lifeline represents the classifier which owns the sequence diagram</a:t>
            </a:r>
            <a:br>
              <a:rPr lang="en-US" dirty="0" smtClean="0"/>
            </a:br>
            <a:endParaRPr lang="en-US" b="1" dirty="0"/>
          </a:p>
        </p:txBody>
      </p:sp>
      <p:pic>
        <p:nvPicPr>
          <p:cNvPr id="7" name="Picture 6"/>
          <p:cNvPicPr>
            <a:picLocks noChangeAspect="1"/>
          </p:cNvPicPr>
          <p:nvPr/>
        </p:nvPicPr>
        <p:blipFill>
          <a:blip r:embed="rId2"/>
          <a:stretch>
            <a:fillRect/>
          </a:stretch>
        </p:blipFill>
        <p:spPr>
          <a:xfrm>
            <a:off x="5047710" y="3141090"/>
            <a:ext cx="6772275" cy="3467100"/>
          </a:xfrm>
          <a:prstGeom prst="rect">
            <a:avLst/>
          </a:prstGeom>
        </p:spPr>
      </p:pic>
    </p:spTree>
    <p:extLst>
      <p:ext uri="{BB962C8B-B14F-4D97-AF65-F5344CB8AC3E}">
        <p14:creationId xmlns:p14="http://schemas.microsoft.com/office/powerpoint/2010/main" val="36163441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9667875" y="72558"/>
            <a:ext cx="2524125" cy="1558279"/>
          </a:xfrm>
          <a:prstGeom prst="rect">
            <a:avLst/>
          </a:prstGeom>
        </p:spPr>
      </p:pic>
      <p:sp>
        <p:nvSpPr>
          <p:cNvPr id="3" name="Content Placeholder 2"/>
          <p:cNvSpPr>
            <a:spLocks noGrp="1"/>
          </p:cNvSpPr>
          <p:nvPr>
            <p:ph idx="1"/>
          </p:nvPr>
        </p:nvSpPr>
        <p:spPr>
          <a:xfrm>
            <a:off x="206187" y="72558"/>
            <a:ext cx="10842027" cy="6535632"/>
          </a:xfrm>
        </p:spPr>
        <p:txBody>
          <a:bodyPr/>
          <a:lstStyle/>
          <a:p>
            <a:pPr marL="0" indent="0">
              <a:buNone/>
            </a:pPr>
            <a:r>
              <a:rPr lang="en-US" sz="3600" b="1" dirty="0" smtClean="0"/>
              <a:t>Lifeline</a:t>
            </a:r>
          </a:p>
          <a:p>
            <a:endParaRPr lang="en-US" b="1" dirty="0"/>
          </a:p>
          <a:p>
            <a:pPr algn="just"/>
            <a:r>
              <a:rPr lang="en-US" dirty="0" smtClean="0"/>
              <a:t>A </a:t>
            </a:r>
            <a:r>
              <a:rPr lang="en-US" dirty="0"/>
              <a:t>lifeline represents an individual participant in the </a:t>
            </a:r>
            <a:r>
              <a:rPr lang="en-US" dirty="0" smtClean="0"/>
              <a:t>Interaction.</a:t>
            </a:r>
          </a:p>
          <a:p>
            <a:pPr algn="just"/>
            <a:r>
              <a:rPr lang="en-US" dirty="0" smtClean="0"/>
              <a:t>A </a:t>
            </a:r>
            <a:r>
              <a:rPr lang="en-US" dirty="0"/>
              <a:t>sequence diagram is made up of several of these lifeline notations that should be arranged horizontally across the top of the diagram. </a:t>
            </a:r>
            <a:endParaRPr lang="en-US" dirty="0" smtClean="0"/>
          </a:p>
          <a:p>
            <a:pPr algn="just"/>
            <a:r>
              <a:rPr lang="en-US" dirty="0" smtClean="0"/>
              <a:t>No </a:t>
            </a:r>
            <a:r>
              <a:rPr lang="en-US" dirty="0"/>
              <a:t>two lifeline notations should overlap each other. They represent the different objects or parts that interact with each other in the system during the sequence.</a:t>
            </a:r>
          </a:p>
          <a:p>
            <a:pPr algn="just"/>
            <a:r>
              <a:rPr lang="en-US" dirty="0"/>
              <a:t>A lifeline notation with an actor element symbol is used when the particular sequence diagram is owned by a use case.</a:t>
            </a:r>
          </a:p>
          <a:p>
            <a:pPr marL="0" indent="0">
              <a:buNone/>
            </a:pPr>
            <a:r>
              <a:rPr lang="en-US" dirty="0" smtClean="0"/>
              <a:t/>
            </a:r>
            <a:br>
              <a:rPr lang="en-US" dirty="0" smtClean="0"/>
            </a:br>
            <a:endParaRPr lang="en-US" b="1" dirty="0"/>
          </a:p>
        </p:txBody>
      </p:sp>
      <p:pic>
        <p:nvPicPr>
          <p:cNvPr id="6" name="Picture 5"/>
          <p:cNvPicPr>
            <a:picLocks noChangeAspect="1"/>
          </p:cNvPicPr>
          <p:nvPr/>
        </p:nvPicPr>
        <p:blipFill>
          <a:blip r:embed="rId3"/>
          <a:stretch>
            <a:fillRect/>
          </a:stretch>
        </p:blipFill>
        <p:spPr>
          <a:xfrm>
            <a:off x="11205769" y="3834598"/>
            <a:ext cx="828675" cy="2695575"/>
          </a:xfrm>
          <a:prstGeom prst="rect">
            <a:avLst/>
          </a:prstGeom>
        </p:spPr>
      </p:pic>
    </p:spTree>
    <p:extLst>
      <p:ext uri="{BB962C8B-B14F-4D97-AF65-F5344CB8AC3E}">
        <p14:creationId xmlns:p14="http://schemas.microsoft.com/office/powerpoint/2010/main" val="195811491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434147" y="72558"/>
            <a:ext cx="2676890" cy="4534632"/>
          </a:xfrm>
          <a:prstGeom prst="rect">
            <a:avLst/>
          </a:prstGeom>
        </p:spPr>
      </p:pic>
      <p:sp>
        <p:nvSpPr>
          <p:cNvPr id="3" name="Content Placeholder 2"/>
          <p:cNvSpPr>
            <a:spLocks noGrp="1"/>
          </p:cNvSpPr>
          <p:nvPr>
            <p:ph idx="1"/>
          </p:nvPr>
        </p:nvSpPr>
        <p:spPr>
          <a:xfrm>
            <a:off x="206187" y="72558"/>
            <a:ext cx="10230281" cy="6535632"/>
          </a:xfrm>
        </p:spPr>
        <p:txBody>
          <a:bodyPr>
            <a:normAutofit/>
          </a:bodyPr>
          <a:lstStyle/>
          <a:p>
            <a:pPr marL="0" indent="0">
              <a:buNone/>
            </a:pPr>
            <a:r>
              <a:rPr lang="en-US" sz="3600" b="1" dirty="0" smtClean="0"/>
              <a:t>Lifeline</a:t>
            </a:r>
          </a:p>
          <a:p>
            <a:pPr marL="0" indent="0">
              <a:buNone/>
            </a:pPr>
            <a:endParaRPr lang="en-US" sz="3600" b="1" dirty="0" smtClean="0"/>
          </a:p>
          <a:p>
            <a:pPr algn="just"/>
            <a:r>
              <a:rPr lang="en-US" dirty="0" smtClean="0"/>
              <a:t>Lifelines represent either roles or object instances that participate in the sequence being modeled. </a:t>
            </a:r>
          </a:p>
          <a:p>
            <a:pPr algn="just"/>
            <a:r>
              <a:rPr lang="en-US" dirty="0" smtClean="0"/>
              <a:t>In </a:t>
            </a:r>
            <a:r>
              <a:rPr lang="en-US" dirty="0"/>
              <a:t>the example shown in </a:t>
            </a:r>
            <a:r>
              <a:rPr lang="en-US" dirty="0" smtClean="0"/>
              <a:t>Figure, </a:t>
            </a:r>
            <a:r>
              <a:rPr lang="en-US" dirty="0"/>
              <a:t>the lifeline represents an instance of the class Student, whose instance name is freshman. Note that, here, the lifeline name is underlined. When an underline is used, it means that the lifeline represents a specific instance of a class in a sequence diagram, and not a particular kind of instance (i.e., a role). </a:t>
            </a:r>
            <a:endParaRPr lang="en-US" dirty="0" smtClean="0"/>
          </a:p>
          <a:p>
            <a:pPr algn="just"/>
            <a:r>
              <a:rPr lang="en-US" dirty="0" smtClean="0"/>
              <a:t>Sequence </a:t>
            </a:r>
            <a:r>
              <a:rPr lang="en-US" dirty="0"/>
              <a:t>diagrams may include roles (such as </a:t>
            </a:r>
            <a:r>
              <a:rPr lang="en-US" i="1" dirty="0"/>
              <a:t>buyer</a:t>
            </a:r>
            <a:r>
              <a:rPr lang="en-US" dirty="0"/>
              <a:t> and </a:t>
            </a:r>
            <a:r>
              <a:rPr lang="en-US" i="1" dirty="0"/>
              <a:t>seller</a:t>
            </a:r>
            <a:r>
              <a:rPr lang="en-US" dirty="0"/>
              <a:t>) without specifying who plays those roles (such as </a:t>
            </a:r>
            <a:r>
              <a:rPr lang="en-US" b="1" dirty="0"/>
              <a:t>Bill</a:t>
            </a:r>
            <a:r>
              <a:rPr lang="en-US" dirty="0"/>
              <a:t> and </a:t>
            </a:r>
            <a:r>
              <a:rPr lang="en-US" b="1" dirty="0"/>
              <a:t>Fred</a:t>
            </a:r>
            <a:r>
              <a:rPr lang="en-US" dirty="0"/>
              <a:t>). This allows diagram reuse in different contexts. Simply put, instance names in sequence diagrams are underlined; roles names are not.</a:t>
            </a:r>
            <a:endParaRPr lang="en-US" b="1" dirty="0"/>
          </a:p>
        </p:txBody>
      </p:sp>
    </p:spTree>
    <p:extLst>
      <p:ext uri="{BB962C8B-B14F-4D97-AF65-F5344CB8AC3E}">
        <p14:creationId xmlns:p14="http://schemas.microsoft.com/office/powerpoint/2010/main" val="176233418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434147" y="72558"/>
            <a:ext cx="2676890" cy="4534632"/>
          </a:xfrm>
          <a:prstGeom prst="rect">
            <a:avLst/>
          </a:prstGeom>
        </p:spPr>
      </p:pic>
      <p:sp>
        <p:nvSpPr>
          <p:cNvPr id="3" name="Content Placeholder 2"/>
          <p:cNvSpPr>
            <a:spLocks noGrp="1"/>
          </p:cNvSpPr>
          <p:nvPr>
            <p:ph idx="1"/>
          </p:nvPr>
        </p:nvSpPr>
        <p:spPr>
          <a:xfrm>
            <a:off x="206187" y="72558"/>
            <a:ext cx="10230281" cy="6535632"/>
          </a:xfrm>
        </p:spPr>
        <p:txBody>
          <a:bodyPr>
            <a:normAutofit/>
          </a:bodyPr>
          <a:lstStyle/>
          <a:p>
            <a:pPr marL="0" indent="0">
              <a:buNone/>
            </a:pPr>
            <a:r>
              <a:rPr lang="en-US" sz="3600" b="1" dirty="0" smtClean="0"/>
              <a:t>Lifeline</a:t>
            </a:r>
          </a:p>
          <a:p>
            <a:pPr marL="0" indent="0">
              <a:buNone/>
            </a:pPr>
            <a:endParaRPr lang="en-US" sz="3600" b="1" dirty="0" smtClean="0"/>
          </a:p>
          <a:p>
            <a:pPr algn="just"/>
            <a:r>
              <a:rPr lang="en-US" dirty="0" smtClean="0"/>
              <a:t>Our example lifeline in Figure is a named object, but not all lifelines represent named objects. Instead a lifeline can be used to represent an anonymous or unnamed instance. </a:t>
            </a:r>
          </a:p>
          <a:p>
            <a:pPr algn="just"/>
            <a:r>
              <a:rPr lang="en-US" dirty="0" smtClean="0"/>
              <a:t>When modeling an unnamed instance on a sequence diagram, the lifeline's name follows the same pattern as a named instance; but instead of providing an instance name, that portion of the lifeline's name is left blank. </a:t>
            </a:r>
          </a:p>
          <a:p>
            <a:pPr algn="just"/>
            <a:r>
              <a:rPr lang="en-US" dirty="0" smtClean="0"/>
              <a:t>Again referring to Figure, if the lifeline is representing an anonymous instance of the Student class, the lifeline would be: "Student." Also, because sequence diagrams are used during the design phase of projects, it is completely legitimate to have an object whose type is unspecified: for example, "freshman."</a:t>
            </a:r>
            <a:endParaRPr lang="en-US" b="1" dirty="0"/>
          </a:p>
        </p:txBody>
      </p:sp>
    </p:spTree>
    <p:extLst>
      <p:ext uri="{BB962C8B-B14F-4D97-AF65-F5344CB8AC3E}">
        <p14:creationId xmlns:p14="http://schemas.microsoft.com/office/powerpoint/2010/main" val="381163175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6187" y="72558"/>
            <a:ext cx="10842027" cy="6535632"/>
          </a:xfrm>
        </p:spPr>
        <p:txBody>
          <a:bodyPr>
            <a:normAutofit/>
          </a:bodyPr>
          <a:lstStyle/>
          <a:p>
            <a:pPr marL="0" indent="0">
              <a:buNone/>
            </a:pPr>
            <a:r>
              <a:rPr lang="en-US" sz="3600" b="1" dirty="0" smtClean="0"/>
              <a:t>Actor</a:t>
            </a:r>
            <a:endParaRPr lang="en-US" dirty="0" smtClean="0"/>
          </a:p>
          <a:p>
            <a:pPr algn="just"/>
            <a:endParaRPr lang="en-US" dirty="0" smtClean="0"/>
          </a:p>
          <a:p>
            <a:pPr algn="just"/>
            <a:r>
              <a:rPr lang="en-US" dirty="0" smtClean="0"/>
              <a:t>a type of role played by an entity that interacts with the subject (e.g., by exchanging signals and data)</a:t>
            </a:r>
          </a:p>
          <a:p>
            <a:pPr algn="just"/>
            <a:r>
              <a:rPr lang="en-US" dirty="0" smtClean="0"/>
              <a:t>external to the subject (i.e., in the sense that an instance of an actor is not a part of the instance of its corresponding subject).</a:t>
            </a:r>
          </a:p>
          <a:p>
            <a:pPr algn="just"/>
            <a:r>
              <a:rPr lang="en-US" dirty="0" smtClean="0"/>
              <a:t>represent roles played by human users, external hardware, or other subjects.</a:t>
            </a:r>
          </a:p>
          <a:p>
            <a:pPr algn="just"/>
            <a:r>
              <a:rPr lang="en-US" dirty="0" smtClean="0"/>
              <a:t>An actor does not necessarily represent a specific physical entity but merely a particular role of some entity.</a:t>
            </a:r>
          </a:p>
          <a:p>
            <a:pPr algn="just"/>
            <a:r>
              <a:rPr lang="en-US" dirty="0" smtClean="0"/>
              <a:t>A person may play the role of several different actors and, conversely, a given actor may be played by multiple different person.</a:t>
            </a:r>
            <a:br>
              <a:rPr lang="en-US" dirty="0" smtClean="0"/>
            </a:br>
            <a:endParaRPr lang="en-US" b="1" dirty="0"/>
          </a:p>
        </p:txBody>
      </p:sp>
      <p:pic>
        <p:nvPicPr>
          <p:cNvPr id="6" name="Picture 5"/>
          <p:cNvPicPr>
            <a:picLocks noChangeAspect="1"/>
          </p:cNvPicPr>
          <p:nvPr/>
        </p:nvPicPr>
        <p:blipFill>
          <a:blip r:embed="rId2"/>
          <a:stretch>
            <a:fillRect/>
          </a:stretch>
        </p:blipFill>
        <p:spPr>
          <a:xfrm>
            <a:off x="11205769" y="3834598"/>
            <a:ext cx="828675" cy="2695575"/>
          </a:xfrm>
          <a:prstGeom prst="rect">
            <a:avLst/>
          </a:prstGeom>
        </p:spPr>
      </p:pic>
      <p:pic>
        <p:nvPicPr>
          <p:cNvPr id="2" name="Picture 1"/>
          <p:cNvPicPr>
            <a:picLocks noChangeAspect="1"/>
          </p:cNvPicPr>
          <p:nvPr/>
        </p:nvPicPr>
        <p:blipFill>
          <a:blip r:embed="rId3"/>
          <a:stretch>
            <a:fillRect/>
          </a:stretch>
        </p:blipFill>
        <p:spPr>
          <a:xfrm>
            <a:off x="11443894" y="72558"/>
            <a:ext cx="590550" cy="3076575"/>
          </a:xfrm>
          <a:prstGeom prst="rect">
            <a:avLst/>
          </a:prstGeom>
        </p:spPr>
      </p:pic>
    </p:spTree>
    <p:extLst>
      <p:ext uri="{BB962C8B-B14F-4D97-AF65-F5344CB8AC3E}">
        <p14:creationId xmlns:p14="http://schemas.microsoft.com/office/powerpoint/2010/main" val="200034793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6188" y="72558"/>
            <a:ext cx="10407118" cy="6535632"/>
          </a:xfrm>
        </p:spPr>
        <p:txBody>
          <a:bodyPr>
            <a:normAutofit lnSpcReduction="10000"/>
          </a:bodyPr>
          <a:lstStyle/>
          <a:p>
            <a:pPr marL="0" indent="0">
              <a:buNone/>
            </a:pPr>
            <a:r>
              <a:rPr lang="en-US" sz="3600" b="1" dirty="0" smtClean="0"/>
              <a:t>Activations</a:t>
            </a:r>
          </a:p>
          <a:p>
            <a:pPr algn="just"/>
            <a:r>
              <a:rPr lang="en-US" dirty="0"/>
              <a:t>A thin rectangle on a lifeline) represents the period during which an element is performing an operation.</a:t>
            </a:r>
          </a:p>
          <a:p>
            <a:pPr algn="just"/>
            <a:r>
              <a:rPr lang="en-US" dirty="0"/>
              <a:t>The top and the bottom of the of the rectangle are aligned with the initiation and the completion time </a:t>
            </a:r>
            <a:r>
              <a:rPr lang="en-US" dirty="0" smtClean="0"/>
              <a:t>respectively.</a:t>
            </a:r>
          </a:p>
          <a:p>
            <a:pPr algn="just"/>
            <a:r>
              <a:rPr lang="en-US" dirty="0"/>
              <a:t>S</a:t>
            </a:r>
            <a:r>
              <a:rPr lang="en-US" dirty="0" smtClean="0"/>
              <a:t>ome people also called </a:t>
            </a:r>
            <a:r>
              <a:rPr lang="en-US" dirty="0"/>
              <a:t>i</a:t>
            </a:r>
            <a:r>
              <a:rPr lang="en-US" dirty="0" smtClean="0"/>
              <a:t>t </a:t>
            </a:r>
            <a:r>
              <a:rPr lang="en-US" b="1" dirty="0"/>
              <a:t>Execution </a:t>
            </a:r>
            <a:r>
              <a:rPr lang="en-US" b="1" dirty="0" smtClean="0"/>
              <a:t>Occurrence or </a:t>
            </a:r>
            <a:r>
              <a:rPr lang="en-US" b="1" dirty="0"/>
              <a:t>Activation </a:t>
            </a:r>
            <a:r>
              <a:rPr lang="en-US" b="1" dirty="0" smtClean="0"/>
              <a:t>Bars.</a:t>
            </a:r>
            <a:endParaRPr lang="en-US" b="1" dirty="0"/>
          </a:p>
          <a:p>
            <a:pPr algn="just"/>
            <a:r>
              <a:rPr lang="en-US" dirty="0"/>
              <a:t>It is used to indicate that an object is active (or instantiated) during an interaction between two objects. The length of the rectangle indicates the duration of the objects staying active.</a:t>
            </a:r>
          </a:p>
          <a:p>
            <a:pPr algn="just"/>
            <a:r>
              <a:rPr lang="en-US" dirty="0"/>
              <a:t>In a sequence diagram, an interaction between two objects occurs when one object sends a message to another. </a:t>
            </a:r>
            <a:endParaRPr lang="en-US" dirty="0" smtClean="0"/>
          </a:p>
          <a:p>
            <a:pPr algn="just"/>
            <a:r>
              <a:rPr lang="en-US" dirty="0" smtClean="0"/>
              <a:t>The </a:t>
            </a:r>
            <a:r>
              <a:rPr lang="en-US" dirty="0"/>
              <a:t>use of the activation bar on the lifelines of the Message Caller (the object that sends the message) and the Message Receiver (the object that receives the message) indicates that both are active/ are instantiated during the exchange of the message.</a:t>
            </a:r>
          </a:p>
          <a:p>
            <a:endParaRPr lang="en-US" dirty="0"/>
          </a:p>
          <a:p>
            <a:pPr marL="0" indent="0">
              <a:buNone/>
            </a:pPr>
            <a:endParaRPr lang="en-US" b="1" dirty="0"/>
          </a:p>
        </p:txBody>
      </p:sp>
      <p:pic>
        <p:nvPicPr>
          <p:cNvPr id="5" name="Picture 4"/>
          <p:cNvPicPr>
            <a:picLocks noChangeAspect="1"/>
          </p:cNvPicPr>
          <p:nvPr/>
        </p:nvPicPr>
        <p:blipFill>
          <a:blip r:embed="rId2"/>
          <a:stretch>
            <a:fillRect/>
          </a:stretch>
        </p:blipFill>
        <p:spPr>
          <a:xfrm>
            <a:off x="10613305" y="72558"/>
            <a:ext cx="1466850" cy="3028950"/>
          </a:xfrm>
          <a:prstGeom prst="rect">
            <a:avLst/>
          </a:prstGeom>
        </p:spPr>
      </p:pic>
    </p:spTree>
    <p:extLst>
      <p:ext uri="{BB962C8B-B14F-4D97-AF65-F5344CB8AC3E}">
        <p14:creationId xmlns:p14="http://schemas.microsoft.com/office/powerpoint/2010/main" val="364132189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41364" y="942680"/>
            <a:ext cx="11325325" cy="5476974"/>
          </a:xfrm>
          <a:prstGeom prst="rect">
            <a:avLst/>
          </a:prstGeom>
        </p:spPr>
      </p:pic>
    </p:spTree>
    <p:extLst>
      <p:ext uri="{BB962C8B-B14F-4D97-AF65-F5344CB8AC3E}">
        <p14:creationId xmlns:p14="http://schemas.microsoft.com/office/powerpoint/2010/main" val="364449382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6187" y="72558"/>
            <a:ext cx="11831841" cy="6785442"/>
          </a:xfrm>
        </p:spPr>
        <p:txBody>
          <a:bodyPr>
            <a:normAutofit/>
          </a:bodyPr>
          <a:lstStyle/>
          <a:p>
            <a:pPr marL="0" indent="0" algn="just">
              <a:buNone/>
            </a:pPr>
            <a:r>
              <a:rPr lang="en-US" sz="3600" b="1" dirty="0" smtClean="0"/>
              <a:t>Call Message</a:t>
            </a:r>
          </a:p>
          <a:p>
            <a:pPr algn="just">
              <a:lnSpc>
                <a:spcPct val="150000"/>
              </a:lnSpc>
              <a:spcBef>
                <a:spcPts val="0"/>
              </a:spcBef>
            </a:pPr>
            <a:r>
              <a:rPr lang="en-US" dirty="0"/>
              <a:t>A message defines a particular communication between Lifelines of an Interaction.</a:t>
            </a:r>
          </a:p>
          <a:p>
            <a:pPr algn="just"/>
            <a:endParaRPr lang="en-US" dirty="0" smtClean="0"/>
          </a:p>
          <a:p>
            <a:pPr algn="just">
              <a:lnSpc>
                <a:spcPct val="150000"/>
              </a:lnSpc>
              <a:spcBef>
                <a:spcPts val="0"/>
              </a:spcBef>
            </a:pPr>
            <a:r>
              <a:rPr lang="en-US" dirty="0" smtClean="0"/>
              <a:t>Call </a:t>
            </a:r>
            <a:r>
              <a:rPr lang="en-US" dirty="0"/>
              <a:t>message is a kind of message that represents an invocation of operation of target </a:t>
            </a:r>
            <a:r>
              <a:rPr lang="en-US" dirty="0" smtClean="0"/>
              <a:t>lifeline</a:t>
            </a:r>
          </a:p>
          <a:p>
            <a:pPr marL="0" indent="0" algn="just">
              <a:buNone/>
            </a:pPr>
            <a:r>
              <a:rPr lang="en-US" sz="3600" b="1" dirty="0"/>
              <a:t>Return </a:t>
            </a:r>
            <a:r>
              <a:rPr lang="en-US" sz="3600" b="1" dirty="0" smtClean="0"/>
              <a:t>Message</a:t>
            </a:r>
          </a:p>
          <a:p>
            <a:pPr algn="just"/>
            <a:endParaRPr lang="en-US" dirty="0" smtClean="0"/>
          </a:p>
          <a:p>
            <a:pPr algn="just"/>
            <a:r>
              <a:rPr lang="en-US" dirty="0" smtClean="0"/>
              <a:t>A </a:t>
            </a:r>
            <a:r>
              <a:rPr lang="en-US" dirty="0"/>
              <a:t>message defines a particular communication between Lifelines of an Interaction</a:t>
            </a:r>
            <a:r>
              <a:rPr lang="en-US" dirty="0" smtClean="0"/>
              <a:t>.</a:t>
            </a:r>
          </a:p>
          <a:p>
            <a:pPr algn="just"/>
            <a:r>
              <a:rPr lang="en-US" dirty="0" smtClean="0"/>
              <a:t>Return </a:t>
            </a:r>
            <a:r>
              <a:rPr lang="en-US" dirty="0"/>
              <a:t>message is a kind of message that represents the pass of information back to the caller of a corresponded former message</a:t>
            </a:r>
          </a:p>
          <a:p>
            <a:pPr marL="0" indent="0" algn="just">
              <a:buNone/>
            </a:pPr>
            <a:endParaRPr lang="en-US" sz="3600" b="1" dirty="0"/>
          </a:p>
        </p:txBody>
      </p:sp>
      <p:pic>
        <p:nvPicPr>
          <p:cNvPr id="2" name="Picture 1"/>
          <p:cNvPicPr>
            <a:picLocks noChangeAspect="1"/>
          </p:cNvPicPr>
          <p:nvPr/>
        </p:nvPicPr>
        <p:blipFill>
          <a:blip r:embed="rId2"/>
          <a:stretch>
            <a:fillRect/>
          </a:stretch>
        </p:blipFill>
        <p:spPr>
          <a:xfrm>
            <a:off x="5854045" y="1296725"/>
            <a:ext cx="5637229" cy="1097683"/>
          </a:xfrm>
          <a:prstGeom prst="rect">
            <a:avLst/>
          </a:prstGeom>
        </p:spPr>
      </p:pic>
      <p:pic>
        <p:nvPicPr>
          <p:cNvPr id="4" name="Picture 3"/>
          <p:cNvPicPr>
            <a:picLocks noChangeAspect="1"/>
          </p:cNvPicPr>
          <p:nvPr/>
        </p:nvPicPr>
        <p:blipFill>
          <a:blip r:embed="rId3"/>
          <a:stretch>
            <a:fillRect/>
          </a:stretch>
        </p:blipFill>
        <p:spPr>
          <a:xfrm>
            <a:off x="6268825" y="3699186"/>
            <a:ext cx="5690255" cy="1259314"/>
          </a:xfrm>
          <a:prstGeom prst="rect">
            <a:avLst/>
          </a:prstGeom>
        </p:spPr>
      </p:pic>
    </p:spTree>
    <p:extLst>
      <p:ext uri="{BB962C8B-B14F-4D97-AF65-F5344CB8AC3E}">
        <p14:creationId xmlns:p14="http://schemas.microsoft.com/office/powerpoint/2010/main" val="24573020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6187" y="72558"/>
            <a:ext cx="11369928" cy="6785442"/>
          </a:xfrm>
        </p:spPr>
        <p:txBody>
          <a:bodyPr>
            <a:normAutofit/>
          </a:bodyPr>
          <a:lstStyle/>
          <a:p>
            <a:pPr marL="0" indent="0" algn="just">
              <a:buNone/>
            </a:pPr>
            <a:r>
              <a:rPr lang="en-US" sz="3600" b="1" dirty="0" smtClean="0"/>
              <a:t>Self Message</a:t>
            </a:r>
          </a:p>
          <a:p>
            <a:pPr algn="just">
              <a:lnSpc>
                <a:spcPct val="110000"/>
              </a:lnSpc>
              <a:spcBef>
                <a:spcPts val="600"/>
              </a:spcBef>
              <a:spcAft>
                <a:spcPts val="600"/>
              </a:spcAft>
            </a:pPr>
            <a:r>
              <a:rPr lang="en-US" dirty="0" smtClean="0"/>
              <a:t>Self </a:t>
            </a:r>
            <a:r>
              <a:rPr lang="en-US" dirty="0"/>
              <a:t>message is a kind of message that represents </a:t>
            </a:r>
            <a:endParaRPr lang="en-US" dirty="0" smtClean="0"/>
          </a:p>
          <a:p>
            <a:pPr marL="0" indent="0" algn="just">
              <a:lnSpc>
                <a:spcPct val="110000"/>
              </a:lnSpc>
              <a:spcBef>
                <a:spcPts val="600"/>
              </a:spcBef>
              <a:spcAft>
                <a:spcPts val="600"/>
              </a:spcAft>
              <a:buNone/>
            </a:pPr>
            <a:r>
              <a:rPr lang="en-US" dirty="0" smtClean="0"/>
              <a:t>the </a:t>
            </a:r>
            <a:r>
              <a:rPr lang="en-US" dirty="0"/>
              <a:t>invocation of message of the same lifeline</a:t>
            </a:r>
            <a:r>
              <a:rPr lang="en-US" dirty="0" smtClean="0"/>
              <a:t>. </a:t>
            </a:r>
          </a:p>
          <a:p>
            <a:pPr algn="just">
              <a:lnSpc>
                <a:spcPct val="110000"/>
              </a:lnSpc>
              <a:spcBef>
                <a:spcPts val="600"/>
              </a:spcBef>
              <a:spcAft>
                <a:spcPts val="600"/>
              </a:spcAft>
            </a:pPr>
            <a:r>
              <a:rPr lang="en-US" dirty="0" smtClean="0"/>
              <a:t>In it one method calling another method belonging to the same object.</a:t>
            </a:r>
            <a:endParaRPr lang="en-US" dirty="0"/>
          </a:p>
          <a:p>
            <a:pPr marL="0" indent="0" algn="just">
              <a:lnSpc>
                <a:spcPct val="150000"/>
              </a:lnSpc>
              <a:spcBef>
                <a:spcPts val="0"/>
              </a:spcBef>
              <a:buNone/>
            </a:pPr>
            <a:r>
              <a:rPr lang="en-US" sz="3600" b="1" dirty="0"/>
              <a:t>Recursive </a:t>
            </a:r>
            <a:r>
              <a:rPr lang="en-US" sz="3600" b="1" dirty="0" smtClean="0"/>
              <a:t>Message</a:t>
            </a:r>
          </a:p>
          <a:p>
            <a:pPr algn="just">
              <a:lnSpc>
                <a:spcPct val="100000"/>
              </a:lnSpc>
              <a:spcBef>
                <a:spcPts val="600"/>
              </a:spcBef>
              <a:spcAft>
                <a:spcPts val="600"/>
              </a:spcAft>
            </a:pPr>
            <a:r>
              <a:rPr lang="en-US" dirty="0" smtClean="0"/>
              <a:t>Recursive </a:t>
            </a:r>
            <a:r>
              <a:rPr lang="en-US" dirty="0"/>
              <a:t>message is a kind of message that </a:t>
            </a:r>
            <a:endParaRPr lang="en-US" dirty="0" smtClean="0"/>
          </a:p>
          <a:p>
            <a:pPr marL="0" indent="0" algn="just">
              <a:lnSpc>
                <a:spcPct val="100000"/>
              </a:lnSpc>
              <a:spcBef>
                <a:spcPts val="600"/>
              </a:spcBef>
              <a:spcAft>
                <a:spcPts val="600"/>
              </a:spcAft>
              <a:buNone/>
            </a:pPr>
            <a:r>
              <a:rPr lang="en-US" dirty="0" smtClean="0"/>
              <a:t>  represents </a:t>
            </a:r>
            <a:r>
              <a:rPr lang="en-US" dirty="0"/>
              <a:t>the invocation of message of the </a:t>
            </a:r>
            <a:endParaRPr lang="en-US" dirty="0" smtClean="0"/>
          </a:p>
          <a:p>
            <a:pPr marL="0" indent="0" algn="just">
              <a:lnSpc>
                <a:spcPct val="100000"/>
              </a:lnSpc>
              <a:spcBef>
                <a:spcPts val="600"/>
              </a:spcBef>
              <a:spcAft>
                <a:spcPts val="600"/>
              </a:spcAft>
              <a:buNone/>
            </a:pPr>
            <a:r>
              <a:rPr lang="en-US" dirty="0" smtClean="0"/>
              <a:t>  same </a:t>
            </a:r>
            <a:r>
              <a:rPr lang="en-US" dirty="0"/>
              <a:t>lifeline. It's target points to an </a:t>
            </a:r>
            <a:r>
              <a:rPr lang="en-US" dirty="0" smtClean="0"/>
              <a:t>activation</a:t>
            </a:r>
          </a:p>
          <a:p>
            <a:pPr marL="0" indent="0" algn="just">
              <a:lnSpc>
                <a:spcPct val="100000"/>
              </a:lnSpc>
              <a:spcBef>
                <a:spcPts val="600"/>
              </a:spcBef>
              <a:spcAft>
                <a:spcPts val="600"/>
              </a:spcAft>
              <a:buNone/>
            </a:pPr>
            <a:r>
              <a:rPr lang="en-US" dirty="0" smtClean="0"/>
              <a:t>  on </a:t>
            </a:r>
            <a:r>
              <a:rPr lang="en-US" dirty="0"/>
              <a:t>top of the activation where the message was </a:t>
            </a:r>
            <a:endParaRPr lang="en-US" dirty="0" smtClean="0"/>
          </a:p>
          <a:p>
            <a:pPr marL="0" indent="0" algn="just">
              <a:lnSpc>
                <a:spcPct val="100000"/>
              </a:lnSpc>
              <a:spcBef>
                <a:spcPts val="600"/>
              </a:spcBef>
              <a:spcAft>
                <a:spcPts val="600"/>
              </a:spcAft>
              <a:buNone/>
            </a:pPr>
            <a:r>
              <a:rPr lang="en-US" dirty="0" smtClean="0"/>
              <a:t>  invoked </a:t>
            </a:r>
            <a:r>
              <a:rPr lang="en-US" dirty="0"/>
              <a:t>from</a:t>
            </a:r>
            <a:r>
              <a:rPr lang="en-US" dirty="0" smtClean="0"/>
              <a:t>.</a:t>
            </a:r>
          </a:p>
          <a:p>
            <a:pPr algn="just">
              <a:lnSpc>
                <a:spcPct val="100000"/>
              </a:lnSpc>
              <a:spcBef>
                <a:spcPts val="600"/>
              </a:spcBef>
              <a:spcAft>
                <a:spcPts val="600"/>
              </a:spcAft>
            </a:pPr>
            <a:r>
              <a:rPr lang="en-US" dirty="0" smtClean="0"/>
              <a:t> It represent </a:t>
            </a:r>
            <a:r>
              <a:rPr lang="en-US" dirty="0"/>
              <a:t>a recursive call of an operation</a:t>
            </a:r>
          </a:p>
          <a:p>
            <a:pPr marL="0" indent="0" algn="just">
              <a:lnSpc>
                <a:spcPct val="150000"/>
              </a:lnSpc>
              <a:spcBef>
                <a:spcPts val="0"/>
              </a:spcBef>
              <a:buNone/>
            </a:pPr>
            <a:endParaRPr lang="en-US" sz="3600" b="1" dirty="0"/>
          </a:p>
        </p:txBody>
      </p:sp>
      <p:pic>
        <p:nvPicPr>
          <p:cNvPr id="5" name="Picture 4"/>
          <p:cNvPicPr>
            <a:picLocks noChangeAspect="1"/>
          </p:cNvPicPr>
          <p:nvPr/>
        </p:nvPicPr>
        <p:blipFill>
          <a:blip r:embed="rId2"/>
          <a:stretch>
            <a:fillRect/>
          </a:stretch>
        </p:blipFill>
        <p:spPr>
          <a:xfrm>
            <a:off x="8191893" y="72558"/>
            <a:ext cx="4000107" cy="1805086"/>
          </a:xfrm>
          <a:prstGeom prst="rect">
            <a:avLst/>
          </a:prstGeom>
        </p:spPr>
      </p:pic>
      <p:pic>
        <p:nvPicPr>
          <p:cNvPr id="6" name="Picture 5"/>
          <p:cNvPicPr>
            <a:picLocks noChangeAspect="1"/>
          </p:cNvPicPr>
          <p:nvPr/>
        </p:nvPicPr>
        <p:blipFill>
          <a:blip r:embed="rId3"/>
          <a:stretch>
            <a:fillRect/>
          </a:stretch>
        </p:blipFill>
        <p:spPr>
          <a:xfrm>
            <a:off x="7939185" y="3465279"/>
            <a:ext cx="4070563" cy="1466850"/>
          </a:xfrm>
          <a:prstGeom prst="rect">
            <a:avLst/>
          </a:prstGeom>
        </p:spPr>
      </p:pic>
    </p:spTree>
    <p:extLst>
      <p:ext uri="{BB962C8B-B14F-4D97-AF65-F5344CB8AC3E}">
        <p14:creationId xmlns:p14="http://schemas.microsoft.com/office/powerpoint/2010/main" val="411879010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6187" y="72558"/>
            <a:ext cx="11369928" cy="6785442"/>
          </a:xfrm>
        </p:spPr>
        <p:txBody>
          <a:bodyPr>
            <a:normAutofit/>
          </a:bodyPr>
          <a:lstStyle/>
          <a:p>
            <a:pPr marL="0" indent="0" algn="just">
              <a:buNone/>
            </a:pPr>
            <a:r>
              <a:rPr lang="en-US" sz="3600" b="1" dirty="0" smtClean="0"/>
              <a:t>Create Message</a:t>
            </a:r>
          </a:p>
          <a:p>
            <a:pPr algn="just"/>
            <a:r>
              <a:rPr lang="en-US" dirty="0" smtClean="0"/>
              <a:t>A message defines a particular communication </a:t>
            </a:r>
          </a:p>
          <a:p>
            <a:pPr marL="0" indent="0" algn="just">
              <a:buNone/>
            </a:pPr>
            <a:r>
              <a:rPr lang="en-US" dirty="0" smtClean="0"/>
              <a:t>between Lifelines of an Interaction.</a:t>
            </a:r>
          </a:p>
          <a:p>
            <a:pPr algn="just"/>
            <a:r>
              <a:rPr lang="en-US" dirty="0" smtClean="0"/>
              <a:t>Create message is a kind of message </a:t>
            </a:r>
          </a:p>
          <a:p>
            <a:pPr marL="0" indent="0" algn="just">
              <a:buNone/>
            </a:pPr>
            <a:r>
              <a:rPr lang="en-US" dirty="0" smtClean="0"/>
              <a:t>that represents the instantiation of (target) lifeline.</a:t>
            </a:r>
          </a:p>
          <a:p>
            <a:pPr marL="0" indent="0" algn="just">
              <a:buNone/>
            </a:pPr>
            <a:endParaRPr lang="en-US" sz="3600" b="1" dirty="0" smtClean="0"/>
          </a:p>
          <a:p>
            <a:pPr marL="0" indent="0" algn="just">
              <a:buNone/>
            </a:pPr>
            <a:endParaRPr lang="en-US" sz="3600" b="1" dirty="0"/>
          </a:p>
          <a:p>
            <a:pPr marL="0" indent="0" algn="just">
              <a:buNone/>
            </a:pPr>
            <a:r>
              <a:rPr lang="en-US" sz="3600" b="1" dirty="0" smtClean="0"/>
              <a:t>Destroy Message</a:t>
            </a:r>
          </a:p>
          <a:p>
            <a:pPr algn="just"/>
            <a:r>
              <a:rPr lang="en-US" dirty="0" smtClean="0"/>
              <a:t>A message defines a particular communication </a:t>
            </a:r>
          </a:p>
          <a:p>
            <a:pPr marL="0" indent="0" algn="just">
              <a:buNone/>
            </a:pPr>
            <a:r>
              <a:rPr lang="en-US" dirty="0" smtClean="0"/>
              <a:t>between Lifelines of an Interaction.</a:t>
            </a:r>
          </a:p>
          <a:p>
            <a:pPr algn="just"/>
            <a:r>
              <a:rPr lang="en-US" dirty="0" smtClean="0"/>
              <a:t>Destroy message is a kind of message that represents the request of destroying the lifecycle of target lifeline..</a:t>
            </a:r>
            <a:endParaRPr lang="en-US" dirty="0"/>
          </a:p>
          <a:p>
            <a:pPr marL="0" indent="0" algn="just">
              <a:lnSpc>
                <a:spcPct val="150000"/>
              </a:lnSpc>
              <a:spcBef>
                <a:spcPts val="0"/>
              </a:spcBef>
              <a:buNone/>
            </a:pPr>
            <a:endParaRPr lang="en-US" sz="3600" b="1" dirty="0"/>
          </a:p>
        </p:txBody>
      </p:sp>
      <p:pic>
        <p:nvPicPr>
          <p:cNvPr id="2" name="Picture 1"/>
          <p:cNvPicPr>
            <a:picLocks noChangeAspect="1"/>
          </p:cNvPicPr>
          <p:nvPr/>
        </p:nvPicPr>
        <p:blipFill>
          <a:blip r:embed="rId2"/>
          <a:stretch>
            <a:fillRect/>
          </a:stretch>
        </p:blipFill>
        <p:spPr>
          <a:xfrm>
            <a:off x="8582025" y="-65988"/>
            <a:ext cx="3609975" cy="2647950"/>
          </a:xfrm>
          <a:prstGeom prst="rect">
            <a:avLst/>
          </a:prstGeom>
        </p:spPr>
      </p:pic>
      <p:pic>
        <p:nvPicPr>
          <p:cNvPr id="4" name="Picture 3"/>
          <p:cNvPicPr>
            <a:picLocks noChangeAspect="1"/>
          </p:cNvPicPr>
          <p:nvPr/>
        </p:nvPicPr>
        <p:blipFill>
          <a:blip r:embed="rId3"/>
          <a:stretch>
            <a:fillRect/>
          </a:stretch>
        </p:blipFill>
        <p:spPr>
          <a:xfrm>
            <a:off x="7475456" y="3815106"/>
            <a:ext cx="4783219" cy="1809750"/>
          </a:xfrm>
          <a:prstGeom prst="rect">
            <a:avLst/>
          </a:prstGeom>
        </p:spPr>
      </p:pic>
    </p:spTree>
    <p:extLst>
      <p:ext uri="{BB962C8B-B14F-4D97-AF65-F5344CB8AC3E}">
        <p14:creationId xmlns:p14="http://schemas.microsoft.com/office/powerpoint/2010/main" val="121967254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6187" y="72558"/>
            <a:ext cx="11369928" cy="6785442"/>
          </a:xfrm>
        </p:spPr>
        <p:txBody>
          <a:bodyPr>
            <a:normAutofit/>
          </a:bodyPr>
          <a:lstStyle/>
          <a:p>
            <a:pPr marL="0" indent="0" algn="just">
              <a:buNone/>
            </a:pPr>
            <a:r>
              <a:rPr lang="en-US" sz="3600" b="1" dirty="0"/>
              <a:t>Duration </a:t>
            </a:r>
            <a:r>
              <a:rPr lang="en-US" sz="3600" b="1" dirty="0" smtClean="0"/>
              <a:t>Message</a:t>
            </a:r>
          </a:p>
          <a:p>
            <a:pPr algn="just"/>
            <a:r>
              <a:rPr lang="en-US" dirty="0" smtClean="0"/>
              <a:t>Duration message shows the distance </a:t>
            </a:r>
          </a:p>
          <a:p>
            <a:pPr marL="0" indent="0" algn="just">
              <a:buNone/>
            </a:pPr>
            <a:r>
              <a:rPr lang="en-US" dirty="0"/>
              <a:t> </a:t>
            </a:r>
            <a:r>
              <a:rPr lang="en-US" dirty="0" smtClean="0"/>
              <a:t>  between two time instants for a message</a:t>
            </a:r>
          </a:p>
          <a:p>
            <a:pPr marL="0" indent="0" algn="just">
              <a:buNone/>
            </a:pPr>
            <a:r>
              <a:rPr lang="en-US" dirty="0" smtClean="0"/>
              <a:t> invocation.</a:t>
            </a:r>
          </a:p>
          <a:p>
            <a:pPr algn="just"/>
            <a:r>
              <a:rPr lang="en-US" dirty="0"/>
              <a:t>By setting a duration constraint for a </a:t>
            </a:r>
            <a:endParaRPr lang="en-US" dirty="0" smtClean="0"/>
          </a:p>
          <a:p>
            <a:pPr marL="0" indent="0" algn="just">
              <a:buNone/>
            </a:pPr>
            <a:r>
              <a:rPr lang="en-US" dirty="0" smtClean="0"/>
              <a:t> message</a:t>
            </a:r>
            <a:r>
              <a:rPr lang="en-US" dirty="0"/>
              <a:t>, the </a:t>
            </a:r>
            <a:r>
              <a:rPr lang="en-US" dirty="0" smtClean="0"/>
              <a:t>message </a:t>
            </a:r>
            <a:r>
              <a:rPr lang="en-US" dirty="0"/>
              <a:t>will be shown as </a:t>
            </a:r>
            <a:endParaRPr lang="en-US" dirty="0" smtClean="0"/>
          </a:p>
          <a:p>
            <a:pPr marL="0" indent="0" algn="just">
              <a:buNone/>
            </a:pPr>
            <a:r>
              <a:rPr lang="en-US" dirty="0" smtClean="0"/>
              <a:t>a </a:t>
            </a:r>
            <a:r>
              <a:rPr lang="en-US" dirty="0"/>
              <a:t>sloping line</a:t>
            </a:r>
          </a:p>
          <a:p>
            <a:pPr marL="0" indent="0" algn="just">
              <a:buNone/>
            </a:pPr>
            <a:r>
              <a:rPr lang="en-US" sz="3600" b="1" dirty="0" smtClean="0"/>
              <a:t>Note</a:t>
            </a:r>
            <a:endParaRPr lang="en-US" dirty="0"/>
          </a:p>
          <a:p>
            <a:pPr marL="0" indent="0" algn="just">
              <a:buNone/>
            </a:pPr>
            <a:r>
              <a:rPr lang="en-US" dirty="0"/>
              <a:t>A note (comment) gives the ability to attach various remarks to elements. A comment carries no semantic force, but may contain information that is useful to a modeler.</a:t>
            </a:r>
          </a:p>
        </p:txBody>
      </p:sp>
      <p:pic>
        <p:nvPicPr>
          <p:cNvPr id="6" name="Picture 5"/>
          <p:cNvPicPr>
            <a:picLocks noChangeAspect="1"/>
          </p:cNvPicPr>
          <p:nvPr/>
        </p:nvPicPr>
        <p:blipFill>
          <a:blip r:embed="rId2"/>
          <a:stretch>
            <a:fillRect/>
          </a:stretch>
        </p:blipFill>
        <p:spPr>
          <a:xfrm>
            <a:off x="9527062" y="5508138"/>
            <a:ext cx="2318993" cy="1349862"/>
          </a:xfrm>
          <a:prstGeom prst="rect">
            <a:avLst/>
          </a:prstGeom>
        </p:spPr>
      </p:pic>
      <p:pic>
        <p:nvPicPr>
          <p:cNvPr id="7" name="Picture 6"/>
          <p:cNvPicPr>
            <a:picLocks noChangeAspect="1"/>
          </p:cNvPicPr>
          <p:nvPr/>
        </p:nvPicPr>
        <p:blipFill>
          <a:blip r:embed="rId3"/>
          <a:stretch>
            <a:fillRect/>
          </a:stretch>
        </p:blipFill>
        <p:spPr>
          <a:xfrm>
            <a:off x="6617616" y="197963"/>
            <a:ext cx="5498380" cy="3714161"/>
          </a:xfrm>
          <a:prstGeom prst="rect">
            <a:avLst/>
          </a:prstGeom>
        </p:spPr>
      </p:pic>
    </p:spTree>
    <p:extLst>
      <p:ext uri="{BB962C8B-B14F-4D97-AF65-F5344CB8AC3E}">
        <p14:creationId xmlns:p14="http://schemas.microsoft.com/office/powerpoint/2010/main" val="276560367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71413" y="165607"/>
            <a:ext cx="11574642" cy="6376595"/>
          </a:xfrm>
          <a:prstGeom prst="rect">
            <a:avLst/>
          </a:prstGeom>
        </p:spPr>
      </p:pic>
    </p:spTree>
    <p:extLst>
      <p:ext uri="{BB962C8B-B14F-4D97-AF65-F5344CB8AC3E}">
        <p14:creationId xmlns:p14="http://schemas.microsoft.com/office/powerpoint/2010/main" val="286040297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6187" y="72558"/>
            <a:ext cx="11369928" cy="6785442"/>
          </a:xfrm>
        </p:spPr>
        <p:txBody>
          <a:bodyPr>
            <a:normAutofit/>
          </a:bodyPr>
          <a:lstStyle/>
          <a:p>
            <a:pPr marL="0" indent="0" algn="just">
              <a:buNone/>
            </a:pPr>
            <a:r>
              <a:rPr lang="en-US" sz="3600" b="1" dirty="0" smtClean="0"/>
              <a:t>Lifeline Start and End</a:t>
            </a:r>
          </a:p>
          <a:p>
            <a:pPr marL="0" indent="0" algn="just">
              <a:buNone/>
            </a:pPr>
            <a:r>
              <a:rPr lang="en-US" dirty="0" smtClean="0"/>
              <a:t>The </a:t>
            </a:r>
            <a:r>
              <a:rPr lang="en-US" dirty="0"/>
              <a:t>following diagram shows an object being created and destroyed.</a:t>
            </a:r>
            <a:endParaRPr lang="en-US" b="1" dirty="0"/>
          </a:p>
        </p:txBody>
      </p:sp>
      <p:pic>
        <p:nvPicPr>
          <p:cNvPr id="2" name="Picture 1"/>
          <p:cNvPicPr>
            <a:picLocks noChangeAspect="1"/>
          </p:cNvPicPr>
          <p:nvPr/>
        </p:nvPicPr>
        <p:blipFill>
          <a:blip r:embed="rId2"/>
          <a:stretch>
            <a:fillRect/>
          </a:stretch>
        </p:blipFill>
        <p:spPr>
          <a:xfrm>
            <a:off x="1310325" y="1219592"/>
            <a:ext cx="9247695" cy="5539161"/>
          </a:xfrm>
          <a:prstGeom prst="rect">
            <a:avLst/>
          </a:prstGeom>
        </p:spPr>
      </p:pic>
    </p:spTree>
    <p:extLst>
      <p:ext uri="{BB962C8B-B14F-4D97-AF65-F5344CB8AC3E}">
        <p14:creationId xmlns:p14="http://schemas.microsoft.com/office/powerpoint/2010/main" val="251611211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6187" y="72558"/>
            <a:ext cx="11369928" cy="6785442"/>
          </a:xfrm>
        </p:spPr>
        <p:txBody>
          <a:bodyPr>
            <a:normAutofit/>
          </a:bodyPr>
          <a:lstStyle/>
          <a:p>
            <a:pPr marL="0" indent="0" algn="just">
              <a:buNone/>
            </a:pPr>
            <a:r>
              <a:rPr lang="en-US" sz="3600" b="1" dirty="0" smtClean="0"/>
              <a:t>Message</a:t>
            </a:r>
          </a:p>
          <a:p>
            <a:pPr marL="0" indent="0" algn="just">
              <a:buNone/>
            </a:pPr>
            <a:r>
              <a:rPr lang="en-US" dirty="0" smtClean="0"/>
              <a:t>The first message of a sequence diagram always starts at the top and is typically located on the left side of the diagram for readability. </a:t>
            </a:r>
          </a:p>
          <a:p>
            <a:pPr marL="0" indent="0" algn="just">
              <a:buNone/>
            </a:pPr>
            <a:r>
              <a:rPr lang="en-US" dirty="0" smtClean="0"/>
              <a:t>Subsequent messages are then added to the diagram slightly lower then the previous message.</a:t>
            </a:r>
          </a:p>
          <a:p>
            <a:pPr marL="0" indent="0" algn="just">
              <a:buNone/>
            </a:pPr>
            <a:r>
              <a:rPr lang="en-US" dirty="0"/>
              <a:t>To show an object (i.e., lifeline) sending a message to another object, you draw a line to the receiving object with a solid arrowhead (if a synchronous call operation) or with a stick arrowhead (if an asynchronous signal). </a:t>
            </a:r>
            <a:endParaRPr lang="en-US" dirty="0" smtClean="0"/>
          </a:p>
          <a:p>
            <a:pPr marL="0" indent="0" algn="just">
              <a:buNone/>
            </a:pPr>
            <a:r>
              <a:rPr lang="en-US" dirty="0" smtClean="0"/>
              <a:t>The </a:t>
            </a:r>
            <a:r>
              <a:rPr lang="en-US" dirty="0"/>
              <a:t>message/method name is placed above the arrowed line. The message that is being sent to the receiving object represents an operation/method that the receiving object's class implements. </a:t>
            </a:r>
            <a:endParaRPr lang="en-US" b="1" dirty="0"/>
          </a:p>
        </p:txBody>
      </p:sp>
    </p:spTree>
    <p:extLst>
      <p:ext uri="{BB962C8B-B14F-4D97-AF65-F5344CB8AC3E}">
        <p14:creationId xmlns:p14="http://schemas.microsoft.com/office/powerpoint/2010/main" val="413786959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6187" y="72558"/>
            <a:ext cx="11369928" cy="6785442"/>
          </a:xfrm>
        </p:spPr>
        <p:txBody>
          <a:bodyPr>
            <a:normAutofit/>
          </a:bodyPr>
          <a:lstStyle/>
          <a:p>
            <a:pPr marL="0" indent="0" algn="just">
              <a:buNone/>
            </a:pPr>
            <a:r>
              <a:rPr lang="en-US" sz="3600" b="1" dirty="0" smtClean="0"/>
              <a:t>Message</a:t>
            </a:r>
          </a:p>
        </p:txBody>
      </p:sp>
      <p:pic>
        <p:nvPicPr>
          <p:cNvPr id="2" name="Picture 1"/>
          <p:cNvPicPr>
            <a:picLocks noChangeAspect="1"/>
          </p:cNvPicPr>
          <p:nvPr/>
        </p:nvPicPr>
        <p:blipFill>
          <a:blip r:embed="rId2"/>
          <a:stretch>
            <a:fillRect/>
          </a:stretch>
        </p:blipFill>
        <p:spPr>
          <a:xfrm>
            <a:off x="737645" y="773723"/>
            <a:ext cx="10730089" cy="5530362"/>
          </a:xfrm>
          <a:prstGeom prst="rect">
            <a:avLst/>
          </a:prstGeom>
        </p:spPr>
      </p:pic>
    </p:spTree>
    <p:extLst>
      <p:ext uri="{BB962C8B-B14F-4D97-AF65-F5344CB8AC3E}">
        <p14:creationId xmlns:p14="http://schemas.microsoft.com/office/powerpoint/2010/main" val="411165672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6187" y="72558"/>
            <a:ext cx="11369928" cy="6785442"/>
          </a:xfrm>
        </p:spPr>
        <p:txBody>
          <a:bodyPr>
            <a:normAutofit/>
          </a:bodyPr>
          <a:lstStyle/>
          <a:p>
            <a:pPr marL="0" indent="0" algn="just">
              <a:buNone/>
            </a:pPr>
            <a:r>
              <a:rPr lang="en-US" sz="3600" b="1" dirty="0" smtClean="0"/>
              <a:t>Message</a:t>
            </a:r>
          </a:p>
          <a:p>
            <a:pPr marL="0" indent="0" algn="just">
              <a:buNone/>
            </a:pPr>
            <a:r>
              <a:rPr lang="en-US" dirty="0" smtClean="0"/>
              <a:t>In </a:t>
            </a:r>
            <a:r>
              <a:rPr lang="en-US" dirty="0"/>
              <a:t>the example in Figure 4, the analyst object makes a call to the system object which is an instance of the </a:t>
            </a:r>
            <a:r>
              <a:rPr lang="en-US" dirty="0" err="1"/>
              <a:t>ReportingSystem</a:t>
            </a:r>
            <a:r>
              <a:rPr lang="en-US" dirty="0"/>
              <a:t> class. </a:t>
            </a:r>
            <a:endParaRPr lang="en-US" dirty="0" smtClean="0"/>
          </a:p>
          <a:p>
            <a:pPr marL="0" indent="0" algn="just">
              <a:buNone/>
            </a:pPr>
            <a:r>
              <a:rPr lang="en-US" dirty="0" smtClean="0"/>
              <a:t>The </a:t>
            </a:r>
            <a:r>
              <a:rPr lang="en-US" dirty="0"/>
              <a:t>analyst object is calling the system object's </a:t>
            </a:r>
            <a:r>
              <a:rPr lang="en-US" dirty="0" err="1"/>
              <a:t>getAvailableReports</a:t>
            </a:r>
            <a:r>
              <a:rPr lang="en-US" dirty="0"/>
              <a:t> </a:t>
            </a:r>
            <a:r>
              <a:rPr lang="en-US" dirty="0" smtClean="0"/>
              <a:t>method.</a:t>
            </a:r>
          </a:p>
          <a:p>
            <a:pPr marL="0" indent="0" algn="just">
              <a:buNone/>
            </a:pPr>
            <a:r>
              <a:rPr lang="en-US" dirty="0" smtClean="0"/>
              <a:t>The </a:t>
            </a:r>
            <a:r>
              <a:rPr lang="en-US" dirty="0"/>
              <a:t>system object then calls the </a:t>
            </a:r>
            <a:r>
              <a:rPr lang="en-US" dirty="0" err="1"/>
              <a:t>getSecurityClearance</a:t>
            </a:r>
            <a:r>
              <a:rPr lang="en-US" dirty="0"/>
              <a:t> method with the argument of </a:t>
            </a:r>
            <a:r>
              <a:rPr lang="en-US" dirty="0" err="1"/>
              <a:t>userId</a:t>
            </a:r>
            <a:r>
              <a:rPr lang="en-US" dirty="0"/>
              <a:t> on the </a:t>
            </a:r>
            <a:r>
              <a:rPr lang="en-US" dirty="0" err="1"/>
              <a:t>secSystem</a:t>
            </a:r>
            <a:r>
              <a:rPr lang="en-US" dirty="0"/>
              <a:t> object, which is of the class type </a:t>
            </a:r>
            <a:r>
              <a:rPr lang="en-US" dirty="0" err="1"/>
              <a:t>SecuritySystem</a:t>
            </a:r>
            <a:r>
              <a:rPr lang="en-US" dirty="0"/>
              <a:t>. </a:t>
            </a:r>
            <a:endParaRPr lang="en-US" dirty="0" smtClean="0"/>
          </a:p>
          <a:p>
            <a:pPr marL="0" indent="0" algn="just">
              <a:buNone/>
            </a:pPr>
            <a:r>
              <a:rPr lang="en-US" dirty="0" smtClean="0"/>
              <a:t>(</a:t>
            </a:r>
            <a:r>
              <a:rPr lang="en-US" dirty="0"/>
              <a:t>Note: When reading this sequence diagram, assume that the analyst has already logged into the system.</a:t>
            </a:r>
            <a:endParaRPr lang="en-US" b="1" dirty="0"/>
          </a:p>
        </p:txBody>
      </p:sp>
    </p:spTree>
    <p:extLst>
      <p:ext uri="{BB962C8B-B14F-4D97-AF65-F5344CB8AC3E}">
        <p14:creationId xmlns:p14="http://schemas.microsoft.com/office/powerpoint/2010/main" val="279367686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6187" y="72558"/>
            <a:ext cx="11369928" cy="6785442"/>
          </a:xfrm>
        </p:spPr>
        <p:txBody>
          <a:bodyPr>
            <a:normAutofit lnSpcReduction="10000"/>
          </a:bodyPr>
          <a:lstStyle/>
          <a:p>
            <a:pPr marL="0" indent="0" algn="just">
              <a:buNone/>
            </a:pPr>
            <a:r>
              <a:rPr lang="en-US" sz="3600" b="1" dirty="0" smtClean="0"/>
              <a:t>Message</a:t>
            </a:r>
          </a:p>
          <a:p>
            <a:pPr marL="0" indent="0" algn="just">
              <a:lnSpc>
                <a:spcPct val="100000"/>
              </a:lnSpc>
              <a:spcBef>
                <a:spcPts val="600"/>
              </a:spcBef>
              <a:spcAft>
                <a:spcPts val="600"/>
              </a:spcAft>
              <a:buNone/>
            </a:pPr>
            <a:r>
              <a:rPr lang="en-US" dirty="0"/>
              <a:t>Besides just showing message calls on the sequence diagram, the Figure </a:t>
            </a:r>
            <a:r>
              <a:rPr lang="en-US" dirty="0" smtClean="0"/>
              <a:t> </a:t>
            </a:r>
            <a:r>
              <a:rPr lang="en-US" dirty="0"/>
              <a:t>diagram includes return messages. </a:t>
            </a:r>
            <a:endParaRPr lang="en-US" dirty="0" smtClean="0"/>
          </a:p>
          <a:p>
            <a:pPr marL="0" indent="0" algn="just">
              <a:lnSpc>
                <a:spcPct val="100000"/>
              </a:lnSpc>
              <a:spcBef>
                <a:spcPts val="600"/>
              </a:spcBef>
              <a:spcAft>
                <a:spcPts val="600"/>
              </a:spcAft>
              <a:buNone/>
            </a:pPr>
            <a:r>
              <a:rPr lang="en-US" dirty="0" smtClean="0"/>
              <a:t>These </a:t>
            </a:r>
            <a:r>
              <a:rPr lang="en-US" dirty="0"/>
              <a:t>return messages are optional; a return message is drawn as a dotted line with an open arrowhead back to the originating lifeline, and above this dotted line you place the return value from the operation. </a:t>
            </a:r>
            <a:endParaRPr lang="en-US" dirty="0" smtClean="0"/>
          </a:p>
          <a:p>
            <a:pPr marL="0" indent="0" algn="just">
              <a:lnSpc>
                <a:spcPct val="100000"/>
              </a:lnSpc>
              <a:spcBef>
                <a:spcPts val="600"/>
              </a:spcBef>
              <a:spcAft>
                <a:spcPts val="600"/>
              </a:spcAft>
              <a:buNone/>
            </a:pPr>
            <a:r>
              <a:rPr lang="en-US" dirty="0" smtClean="0"/>
              <a:t>In Figure </a:t>
            </a:r>
            <a:r>
              <a:rPr lang="en-US" dirty="0"/>
              <a:t>the </a:t>
            </a:r>
            <a:r>
              <a:rPr lang="en-US" dirty="0" err="1"/>
              <a:t>secSystem</a:t>
            </a:r>
            <a:r>
              <a:rPr lang="en-US" dirty="0"/>
              <a:t> object returns </a:t>
            </a:r>
            <a:r>
              <a:rPr lang="en-US" dirty="0" err="1"/>
              <a:t>userClearance</a:t>
            </a:r>
            <a:r>
              <a:rPr lang="en-US" dirty="0"/>
              <a:t> to the system object when the </a:t>
            </a:r>
            <a:r>
              <a:rPr lang="en-US" dirty="0" err="1"/>
              <a:t>getSecurityClearance</a:t>
            </a:r>
            <a:r>
              <a:rPr lang="en-US" dirty="0"/>
              <a:t> method is called. The system object returns </a:t>
            </a:r>
            <a:r>
              <a:rPr lang="en-US" dirty="0" err="1"/>
              <a:t>availableReports</a:t>
            </a:r>
            <a:r>
              <a:rPr lang="en-US" dirty="0"/>
              <a:t> when the </a:t>
            </a:r>
            <a:r>
              <a:rPr lang="en-US" dirty="0" err="1"/>
              <a:t>getAvailableReports</a:t>
            </a:r>
            <a:r>
              <a:rPr lang="en-US" dirty="0"/>
              <a:t> method is called</a:t>
            </a:r>
            <a:r>
              <a:rPr lang="en-US" dirty="0" smtClean="0"/>
              <a:t>.</a:t>
            </a:r>
          </a:p>
          <a:p>
            <a:pPr marL="0" indent="0" algn="just">
              <a:lnSpc>
                <a:spcPct val="100000"/>
              </a:lnSpc>
              <a:spcBef>
                <a:spcPts val="600"/>
              </a:spcBef>
              <a:spcAft>
                <a:spcPts val="600"/>
              </a:spcAft>
              <a:buNone/>
            </a:pPr>
            <a:r>
              <a:rPr lang="en-US" dirty="0"/>
              <a:t>Again, the return messages are an optional part of a sequence diagram. The use of return messages depends on the level of detail/abstraction that is being modeled. Return messages are useful if finer detail is required; otherwise, the invocation message is sufficient. I personally like to include return messages whenever a value will be returned, because I find the extra details make a sequence diagram easier to read</a:t>
            </a:r>
            <a:endParaRPr lang="en-US" b="1" dirty="0"/>
          </a:p>
        </p:txBody>
      </p:sp>
    </p:spTree>
    <p:extLst>
      <p:ext uri="{BB962C8B-B14F-4D97-AF65-F5344CB8AC3E}">
        <p14:creationId xmlns:p14="http://schemas.microsoft.com/office/powerpoint/2010/main" val="368874197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6187" y="72558"/>
            <a:ext cx="11369928" cy="6785442"/>
          </a:xfrm>
        </p:spPr>
        <p:txBody>
          <a:bodyPr>
            <a:normAutofit/>
          </a:bodyPr>
          <a:lstStyle/>
          <a:p>
            <a:pPr marL="0" indent="0" algn="just">
              <a:buNone/>
            </a:pPr>
            <a:r>
              <a:rPr lang="en-US" sz="3600" b="1" dirty="0" smtClean="0"/>
              <a:t>Message</a:t>
            </a:r>
          </a:p>
          <a:p>
            <a:pPr marL="0" indent="0" algn="just">
              <a:lnSpc>
                <a:spcPct val="100000"/>
              </a:lnSpc>
              <a:spcBef>
                <a:spcPts val="600"/>
              </a:spcBef>
              <a:spcAft>
                <a:spcPts val="600"/>
              </a:spcAft>
              <a:buNone/>
            </a:pPr>
            <a:r>
              <a:rPr lang="en-US" dirty="0" smtClean="0"/>
              <a:t>When modeling a sequence diagram, there will be times that an object will need to send a message to itself. When does an object call itself? A purist would argue that an object should never send a message to itself. However, modeling an object sending a message to itself can be useful in some cases. For example, Figure on next slide is an improved version of the last given Figure. The new Figure shows the system object calling its </a:t>
            </a:r>
            <a:r>
              <a:rPr lang="en-US" dirty="0" err="1" smtClean="0"/>
              <a:t>determineAvailableReports</a:t>
            </a:r>
            <a:r>
              <a:rPr lang="en-US" dirty="0" smtClean="0"/>
              <a:t> method. By showing the system sending itself the message "</a:t>
            </a:r>
            <a:r>
              <a:rPr lang="en-US" dirty="0" err="1" smtClean="0"/>
              <a:t>determineAvailableReports</a:t>
            </a:r>
            <a:r>
              <a:rPr lang="en-US" dirty="0" smtClean="0"/>
              <a:t>," the model draws attention to the fact that this processing takes place in the system object.</a:t>
            </a:r>
          </a:p>
          <a:p>
            <a:pPr marL="0" indent="0" algn="just">
              <a:lnSpc>
                <a:spcPct val="100000"/>
              </a:lnSpc>
              <a:spcBef>
                <a:spcPts val="600"/>
              </a:spcBef>
              <a:spcAft>
                <a:spcPts val="600"/>
              </a:spcAft>
              <a:buNone/>
            </a:pPr>
            <a:r>
              <a:rPr lang="en-US" dirty="0" smtClean="0"/>
              <a:t>To draw an object calling itself, you draw a message as you would normally, but instead of connecting it to another object, you connect the message back to the object itself.</a:t>
            </a:r>
            <a:endParaRPr lang="en-US" b="1" dirty="0"/>
          </a:p>
        </p:txBody>
      </p:sp>
    </p:spTree>
    <p:extLst>
      <p:ext uri="{BB962C8B-B14F-4D97-AF65-F5344CB8AC3E}">
        <p14:creationId xmlns:p14="http://schemas.microsoft.com/office/powerpoint/2010/main" val="183007495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6187" y="72558"/>
            <a:ext cx="11369928" cy="6785442"/>
          </a:xfrm>
        </p:spPr>
        <p:txBody>
          <a:bodyPr>
            <a:normAutofit/>
          </a:bodyPr>
          <a:lstStyle/>
          <a:p>
            <a:pPr marL="0" indent="0" algn="just">
              <a:buNone/>
            </a:pPr>
            <a:r>
              <a:rPr lang="en-US" sz="3600" b="1" dirty="0" smtClean="0"/>
              <a:t>Message</a:t>
            </a:r>
          </a:p>
          <a:p>
            <a:pPr marL="0" indent="0" algn="just">
              <a:buNone/>
            </a:pPr>
            <a:endParaRPr lang="en-US" sz="3600" b="1" dirty="0" smtClean="0"/>
          </a:p>
        </p:txBody>
      </p:sp>
      <p:pic>
        <p:nvPicPr>
          <p:cNvPr id="2" name="Picture 1"/>
          <p:cNvPicPr>
            <a:picLocks noChangeAspect="1"/>
          </p:cNvPicPr>
          <p:nvPr/>
        </p:nvPicPr>
        <p:blipFill>
          <a:blip r:embed="rId2"/>
          <a:stretch>
            <a:fillRect/>
          </a:stretch>
        </p:blipFill>
        <p:spPr>
          <a:xfrm>
            <a:off x="206187" y="826478"/>
            <a:ext cx="11601881" cy="5420582"/>
          </a:xfrm>
          <a:prstGeom prst="rect">
            <a:avLst/>
          </a:prstGeom>
        </p:spPr>
      </p:pic>
    </p:spTree>
    <p:extLst>
      <p:ext uri="{BB962C8B-B14F-4D97-AF65-F5344CB8AC3E}">
        <p14:creationId xmlns:p14="http://schemas.microsoft.com/office/powerpoint/2010/main" val="87865476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6187" y="72558"/>
            <a:ext cx="11369928" cy="6785442"/>
          </a:xfrm>
        </p:spPr>
        <p:txBody>
          <a:bodyPr>
            <a:normAutofit/>
          </a:bodyPr>
          <a:lstStyle/>
          <a:p>
            <a:pPr marL="0" indent="0" algn="just">
              <a:buNone/>
            </a:pPr>
            <a:r>
              <a:rPr lang="en-US" sz="3600" b="1" dirty="0" smtClean="0"/>
              <a:t>Message</a:t>
            </a:r>
          </a:p>
          <a:p>
            <a:pPr algn="just" fontAlgn="base"/>
            <a:r>
              <a:rPr lang="en-US" dirty="0"/>
              <a:t>The example messages in </a:t>
            </a:r>
            <a:r>
              <a:rPr lang="en-US" dirty="0" smtClean="0"/>
              <a:t>last Figure  </a:t>
            </a:r>
            <a:r>
              <a:rPr lang="en-US" dirty="0"/>
              <a:t>show synchronous messages; however, in sequence diagrams you can model asynchronous messages, too. An asynchronous message is drawn similar to a synchronous one, but the message's line is drawn with a stick arrowhead, as shown in Figure </a:t>
            </a:r>
            <a:r>
              <a:rPr lang="en-US" dirty="0" smtClean="0"/>
              <a:t>below.</a:t>
            </a:r>
            <a:endParaRPr lang="en-US" dirty="0"/>
          </a:p>
          <a:p>
            <a:pPr marL="0" indent="0">
              <a:buNone/>
            </a:pPr>
            <a:r>
              <a:rPr lang="en-US" dirty="0" smtClean="0"/>
              <a:t/>
            </a:r>
            <a:br>
              <a:rPr lang="en-US" dirty="0" smtClean="0"/>
            </a:br>
            <a:endParaRPr lang="en-US" b="1" dirty="0"/>
          </a:p>
        </p:txBody>
      </p:sp>
      <p:pic>
        <p:nvPicPr>
          <p:cNvPr id="2" name="Picture 1"/>
          <p:cNvPicPr>
            <a:picLocks noChangeAspect="1"/>
          </p:cNvPicPr>
          <p:nvPr/>
        </p:nvPicPr>
        <p:blipFill>
          <a:blip r:embed="rId2"/>
          <a:stretch>
            <a:fillRect/>
          </a:stretch>
        </p:blipFill>
        <p:spPr>
          <a:xfrm>
            <a:off x="2277208" y="2999287"/>
            <a:ext cx="7023955" cy="3238500"/>
          </a:xfrm>
          <a:prstGeom prst="rect">
            <a:avLst/>
          </a:prstGeom>
        </p:spPr>
      </p:pic>
    </p:spTree>
    <p:extLst>
      <p:ext uri="{BB962C8B-B14F-4D97-AF65-F5344CB8AC3E}">
        <p14:creationId xmlns:p14="http://schemas.microsoft.com/office/powerpoint/2010/main" val="232171211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6187" y="72558"/>
            <a:ext cx="4903141" cy="6785442"/>
          </a:xfrm>
        </p:spPr>
        <p:txBody>
          <a:bodyPr>
            <a:normAutofit/>
          </a:bodyPr>
          <a:lstStyle/>
          <a:p>
            <a:pPr marL="0" indent="0" algn="just">
              <a:buNone/>
            </a:pPr>
            <a:r>
              <a:rPr lang="en-US" sz="3600" b="1" dirty="0" smtClean="0"/>
              <a:t>Duration and Time Constraints</a:t>
            </a:r>
          </a:p>
          <a:p>
            <a:pPr marL="0" indent="0" algn="just">
              <a:buNone/>
            </a:pPr>
            <a:r>
              <a:rPr lang="en-US" dirty="0" smtClean="0"/>
              <a:t>By default, a message is shown as a horizontal line. Since the lifeline represents the passage of time down the screen, when modelling a real-time system, or even a time-bound business process, it can be important to consider the length of time it takes to perform actions. By setting a duration constraint for a message, the message will be shown as a sloping line.</a:t>
            </a:r>
            <a:endParaRPr lang="en-US" b="1" dirty="0"/>
          </a:p>
        </p:txBody>
      </p:sp>
      <p:pic>
        <p:nvPicPr>
          <p:cNvPr id="4" name="Picture 3"/>
          <p:cNvPicPr>
            <a:picLocks noChangeAspect="1"/>
          </p:cNvPicPr>
          <p:nvPr/>
        </p:nvPicPr>
        <p:blipFill>
          <a:blip r:embed="rId2"/>
          <a:stretch>
            <a:fillRect/>
          </a:stretch>
        </p:blipFill>
        <p:spPr>
          <a:xfrm>
            <a:off x="5406616" y="393716"/>
            <a:ext cx="6638925" cy="6372225"/>
          </a:xfrm>
          <a:prstGeom prst="rect">
            <a:avLst/>
          </a:prstGeom>
        </p:spPr>
      </p:pic>
    </p:spTree>
    <p:extLst>
      <p:ext uri="{BB962C8B-B14F-4D97-AF65-F5344CB8AC3E}">
        <p14:creationId xmlns:p14="http://schemas.microsoft.com/office/powerpoint/2010/main" val="292213165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67501"/>
            <a:ext cx="4826962" cy="369332"/>
          </a:xfrm>
          <a:prstGeom prst="rect">
            <a:avLst/>
          </a:prstGeom>
        </p:spPr>
        <p:txBody>
          <a:bodyPr wrap="none">
            <a:spAutoFit/>
          </a:bodyPr>
          <a:lstStyle/>
          <a:p>
            <a:r>
              <a:rPr lang="en-US" b="0" i="0" dirty="0" smtClean="0">
                <a:solidFill>
                  <a:srgbClr val="595959"/>
                </a:solidFill>
                <a:effectLst/>
                <a:latin typeface="Arial" panose="020B0604020202020204" pitchFamily="34" charset="0"/>
              </a:rPr>
              <a:t>The following diagram shows a loop fragment</a:t>
            </a:r>
            <a:endParaRPr lang="en-US" dirty="0"/>
          </a:p>
        </p:txBody>
      </p:sp>
      <p:pic>
        <p:nvPicPr>
          <p:cNvPr id="7" name="Picture 6"/>
          <p:cNvPicPr>
            <a:picLocks noChangeAspect="1"/>
          </p:cNvPicPr>
          <p:nvPr/>
        </p:nvPicPr>
        <p:blipFill>
          <a:blip r:embed="rId2"/>
          <a:stretch>
            <a:fillRect/>
          </a:stretch>
        </p:blipFill>
        <p:spPr>
          <a:xfrm>
            <a:off x="556181" y="697585"/>
            <a:ext cx="10887959" cy="5816338"/>
          </a:xfrm>
          <a:prstGeom prst="rect">
            <a:avLst/>
          </a:prstGeom>
        </p:spPr>
      </p:pic>
    </p:spTree>
    <p:extLst>
      <p:ext uri="{BB962C8B-B14F-4D97-AF65-F5344CB8AC3E}">
        <p14:creationId xmlns:p14="http://schemas.microsoft.com/office/powerpoint/2010/main" val="224280269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6187" y="72558"/>
            <a:ext cx="4903141" cy="6785442"/>
          </a:xfrm>
        </p:spPr>
        <p:txBody>
          <a:bodyPr>
            <a:normAutofit/>
          </a:bodyPr>
          <a:lstStyle/>
          <a:p>
            <a:pPr marL="0" indent="0" algn="just">
              <a:buNone/>
            </a:pPr>
            <a:r>
              <a:rPr lang="en-US" sz="3600" b="1" dirty="0" smtClean="0"/>
              <a:t>Guards</a:t>
            </a:r>
          </a:p>
          <a:p>
            <a:pPr marL="0" indent="0" algn="just">
              <a:buNone/>
            </a:pPr>
            <a:r>
              <a:rPr lang="en-US" sz="2600" dirty="0"/>
              <a:t>When modeling object interactions, there will be times when a condition must be met for a message to be sent to the </a:t>
            </a:r>
            <a:r>
              <a:rPr lang="en-US" sz="2600" dirty="0" smtClean="0"/>
              <a:t>object.</a:t>
            </a:r>
          </a:p>
          <a:p>
            <a:pPr marL="0" indent="0" algn="just">
              <a:buNone/>
            </a:pPr>
            <a:r>
              <a:rPr lang="en-US" sz="2600" dirty="0" smtClean="0"/>
              <a:t>Guards </a:t>
            </a:r>
            <a:r>
              <a:rPr lang="en-US" sz="2600" dirty="0"/>
              <a:t>are used throughout UML diagrams to control flow. Figure </a:t>
            </a:r>
            <a:r>
              <a:rPr lang="en-US" sz="2600" dirty="0" smtClean="0"/>
              <a:t> </a:t>
            </a:r>
            <a:r>
              <a:rPr lang="en-US" sz="2600" dirty="0"/>
              <a:t>shows a fragment of a sequence diagram with a guard on the message </a:t>
            </a:r>
            <a:r>
              <a:rPr lang="en-US" sz="2600" dirty="0" err="1"/>
              <a:t>addStudent</a:t>
            </a:r>
            <a:r>
              <a:rPr lang="en-US" sz="2600" dirty="0"/>
              <a:t> </a:t>
            </a:r>
            <a:r>
              <a:rPr lang="en-US" sz="2600" dirty="0" smtClean="0"/>
              <a:t>method.</a:t>
            </a:r>
          </a:p>
          <a:p>
            <a:pPr marL="0" indent="0" algn="just">
              <a:buNone/>
            </a:pPr>
            <a:r>
              <a:rPr lang="en-US" sz="2600" dirty="0" smtClean="0"/>
              <a:t>The </a:t>
            </a:r>
            <a:r>
              <a:rPr lang="en-US" sz="2600" dirty="0"/>
              <a:t>guard is the text "[</a:t>
            </a:r>
            <a:r>
              <a:rPr lang="en-US" sz="2600" dirty="0" err="1"/>
              <a:t>pastDueBalance</a:t>
            </a:r>
            <a:r>
              <a:rPr lang="en-US" sz="2600" dirty="0"/>
              <a:t> = 0]." By having the guard on this message, the </a:t>
            </a:r>
            <a:r>
              <a:rPr lang="en-US" sz="2600" dirty="0" err="1"/>
              <a:t>addStudent</a:t>
            </a:r>
            <a:r>
              <a:rPr lang="en-US" sz="2600" dirty="0"/>
              <a:t> message will only be sent if the accounts receivable system returns a past due balance of zero.</a:t>
            </a:r>
            <a:endParaRPr lang="en-US" sz="2600" b="1" dirty="0"/>
          </a:p>
        </p:txBody>
      </p:sp>
      <p:pic>
        <p:nvPicPr>
          <p:cNvPr id="2" name="Picture 1"/>
          <p:cNvPicPr>
            <a:picLocks noChangeAspect="1"/>
          </p:cNvPicPr>
          <p:nvPr/>
        </p:nvPicPr>
        <p:blipFill>
          <a:blip r:embed="rId2"/>
          <a:stretch>
            <a:fillRect/>
          </a:stretch>
        </p:blipFill>
        <p:spPr>
          <a:xfrm>
            <a:off x="5416062" y="646236"/>
            <a:ext cx="6609250" cy="4778618"/>
          </a:xfrm>
          <a:prstGeom prst="rect">
            <a:avLst/>
          </a:prstGeom>
        </p:spPr>
      </p:pic>
    </p:spTree>
    <p:extLst>
      <p:ext uri="{BB962C8B-B14F-4D97-AF65-F5344CB8AC3E}">
        <p14:creationId xmlns:p14="http://schemas.microsoft.com/office/powerpoint/2010/main" val="36200780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6187" y="72558"/>
            <a:ext cx="11784708" cy="6785442"/>
          </a:xfrm>
        </p:spPr>
        <p:txBody>
          <a:bodyPr>
            <a:normAutofit/>
          </a:bodyPr>
          <a:lstStyle/>
          <a:p>
            <a:pPr marL="0" indent="0" algn="ctr">
              <a:buNone/>
            </a:pPr>
            <a:endParaRPr lang="en-US" sz="7200" b="1" dirty="0" smtClean="0"/>
          </a:p>
          <a:p>
            <a:pPr marL="0" indent="0" algn="ctr">
              <a:buNone/>
            </a:pPr>
            <a:endParaRPr lang="en-US" sz="7200" b="1" dirty="0"/>
          </a:p>
          <a:p>
            <a:pPr marL="0" indent="0" algn="ctr">
              <a:buNone/>
            </a:pPr>
            <a:r>
              <a:rPr lang="en-US" sz="7200" b="1" dirty="0" smtClean="0"/>
              <a:t>How to make a sequence diagram</a:t>
            </a:r>
          </a:p>
          <a:p>
            <a:pPr marL="0" indent="0" algn="ctr">
              <a:buNone/>
            </a:pPr>
            <a:endParaRPr lang="en-US" sz="7200" b="1" dirty="0" smtClean="0"/>
          </a:p>
        </p:txBody>
      </p:sp>
    </p:spTree>
    <p:extLst>
      <p:ext uri="{BB962C8B-B14F-4D97-AF65-F5344CB8AC3E}">
        <p14:creationId xmlns:p14="http://schemas.microsoft.com/office/powerpoint/2010/main" val="213696912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6187" y="72558"/>
            <a:ext cx="11784708" cy="6785442"/>
          </a:xfrm>
        </p:spPr>
        <p:txBody>
          <a:bodyPr>
            <a:normAutofit fontScale="47500" lnSpcReduction="20000"/>
          </a:bodyPr>
          <a:lstStyle/>
          <a:p>
            <a:pPr marL="0" indent="0">
              <a:lnSpc>
                <a:spcPct val="120000"/>
              </a:lnSpc>
              <a:spcBef>
                <a:spcPts val="600"/>
              </a:spcBef>
              <a:spcAft>
                <a:spcPts val="600"/>
              </a:spcAft>
              <a:buNone/>
            </a:pPr>
            <a:r>
              <a:rPr lang="en-US" sz="5100" b="1" dirty="0" smtClean="0"/>
              <a:t>Step </a:t>
            </a:r>
            <a:r>
              <a:rPr lang="en-US" sz="5100" b="1" dirty="0"/>
              <a:t>1: Identify the scenario</a:t>
            </a:r>
            <a:endParaRPr lang="en-US" sz="5100" dirty="0"/>
          </a:p>
          <a:p>
            <a:pPr algn="just">
              <a:lnSpc>
                <a:spcPct val="120000"/>
              </a:lnSpc>
              <a:spcBef>
                <a:spcPts val="600"/>
              </a:spcBef>
              <a:spcAft>
                <a:spcPts val="600"/>
              </a:spcAft>
            </a:pPr>
            <a:r>
              <a:rPr lang="en-US" sz="5100" dirty="0"/>
              <a:t>Start by defining the scenario you want to depict in the diagram. Is it a user logging in, placing an order, or </a:t>
            </a:r>
            <a:r>
              <a:rPr lang="en-US" sz="5100" dirty="0" smtClean="0"/>
              <a:t> browsing </a:t>
            </a:r>
            <a:r>
              <a:rPr lang="en-US" sz="5100" dirty="0"/>
              <a:t>a product catalog?</a:t>
            </a:r>
          </a:p>
          <a:p>
            <a:pPr marL="0" indent="0">
              <a:lnSpc>
                <a:spcPct val="120000"/>
              </a:lnSpc>
              <a:spcBef>
                <a:spcPts val="600"/>
              </a:spcBef>
              <a:spcAft>
                <a:spcPts val="600"/>
              </a:spcAft>
              <a:buNone/>
            </a:pPr>
            <a:r>
              <a:rPr lang="en-US" sz="5100" b="1" dirty="0" smtClean="0"/>
              <a:t>Step </a:t>
            </a:r>
            <a:r>
              <a:rPr lang="en-US" sz="5100" b="1" dirty="0"/>
              <a:t>2: Identify the objects and actors involved</a:t>
            </a:r>
            <a:endParaRPr lang="en-US" sz="5100" dirty="0"/>
          </a:p>
          <a:p>
            <a:pPr>
              <a:lnSpc>
                <a:spcPct val="120000"/>
              </a:lnSpc>
              <a:spcBef>
                <a:spcPts val="600"/>
              </a:spcBef>
              <a:spcAft>
                <a:spcPts val="600"/>
              </a:spcAft>
            </a:pPr>
            <a:r>
              <a:rPr lang="en-US" sz="5100" dirty="0"/>
              <a:t>The objects and actors represent anything interacting and exchanging information during the scenario. For example, if your scenario is someone ordering a pizza online, components that may be involved include:</a:t>
            </a:r>
          </a:p>
          <a:p>
            <a:pPr>
              <a:lnSpc>
                <a:spcPct val="120000"/>
              </a:lnSpc>
              <a:spcBef>
                <a:spcPts val="600"/>
              </a:spcBef>
              <a:spcAft>
                <a:spcPts val="600"/>
              </a:spcAft>
            </a:pPr>
            <a:r>
              <a:rPr lang="en-US" sz="5100" dirty="0"/>
              <a:t>Actor: user (the person placing the order).</a:t>
            </a:r>
          </a:p>
          <a:p>
            <a:pPr>
              <a:lnSpc>
                <a:spcPct val="120000"/>
              </a:lnSpc>
              <a:spcBef>
                <a:spcPts val="600"/>
              </a:spcBef>
              <a:spcAft>
                <a:spcPts val="600"/>
              </a:spcAft>
            </a:pPr>
            <a:r>
              <a:rPr lang="en-US" sz="5100" dirty="0"/>
              <a:t>Object 1: web browser (where the user interacts with the online pizza shop).</a:t>
            </a:r>
          </a:p>
          <a:p>
            <a:pPr>
              <a:lnSpc>
                <a:spcPct val="120000"/>
              </a:lnSpc>
              <a:spcBef>
                <a:spcPts val="600"/>
              </a:spcBef>
              <a:spcAft>
                <a:spcPts val="600"/>
              </a:spcAft>
            </a:pPr>
            <a:r>
              <a:rPr lang="en-US" sz="5100" dirty="0"/>
              <a:t>Object 2: order processing system (internal system that handles the order).</a:t>
            </a:r>
          </a:p>
          <a:p>
            <a:pPr>
              <a:lnSpc>
                <a:spcPct val="120000"/>
              </a:lnSpc>
              <a:spcBef>
                <a:spcPts val="600"/>
              </a:spcBef>
              <a:spcAft>
                <a:spcPts val="600"/>
              </a:spcAft>
            </a:pPr>
            <a:r>
              <a:rPr lang="en-US" sz="5100" dirty="0"/>
              <a:t>Object 3: database (stores information about pizzas, user details, etc.).</a:t>
            </a:r>
          </a:p>
          <a:p>
            <a:pPr>
              <a:lnSpc>
                <a:spcPct val="120000"/>
              </a:lnSpc>
              <a:spcBef>
                <a:spcPts val="600"/>
              </a:spcBef>
              <a:spcAft>
                <a:spcPts val="600"/>
              </a:spcAft>
            </a:pPr>
            <a:r>
              <a:rPr lang="en-US" sz="5100" dirty="0"/>
              <a:t>Place all the components, including actors and objects, horizontally across the top of the diagram. Each component represents a lifeline, showing its involvement throughout the scenario</a:t>
            </a:r>
            <a:r>
              <a:rPr lang="en-US" sz="5100" dirty="0" smtClean="0"/>
              <a:t>.</a:t>
            </a:r>
            <a:r>
              <a:rPr lang="en-US" sz="3600" dirty="0" smtClean="0"/>
              <a:t/>
            </a:r>
            <a:br>
              <a:rPr lang="en-US" sz="3600" dirty="0" smtClean="0"/>
            </a:br>
            <a:endParaRPr lang="en-US" sz="3600" dirty="0"/>
          </a:p>
          <a:p>
            <a:pPr marL="0" indent="0" algn="just">
              <a:buNone/>
            </a:pPr>
            <a:endParaRPr lang="en-US" sz="3600" b="1" dirty="0" smtClean="0"/>
          </a:p>
        </p:txBody>
      </p:sp>
    </p:spTree>
    <p:extLst>
      <p:ext uri="{BB962C8B-B14F-4D97-AF65-F5344CB8AC3E}">
        <p14:creationId xmlns:p14="http://schemas.microsoft.com/office/powerpoint/2010/main" val="362547054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6187" y="72558"/>
            <a:ext cx="11784708" cy="6785442"/>
          </a:xfrm>
        </p:spPr>
        <p:txBody>
          <a:bodyPr>
            <a:normAutofit/>
          </a:bodyPr>
          <a:lstStyle/>
          <a:p>
            <a:pPr marL="0" indent="0" algn="just">
              <a:buNone/>
            </a:pPr>
            <a:r>
              <a:rPr lang="en-US" sz="3200" b="1" dirty="0"/>
              <a:t>Step 3: Draw the message flow</a:t>
            </a:r>
            <a:endParaRPr lang="en-US" sz="3200" dirty="0"/>
          </a:p>
          <a:p>
            <a:pPr algn="just">
              <a:lnSpc>
                <a:spcPct val="100000"/>
              </a:lnSpc>
              <a:spcBef>
                <a:spcPts val="600"/>
              </a:spcBef>
              <a:spcAft>
                <a:spcPts val="600"/>
              </a:spcAft>
            </a:pPr>
            <a:r>
              <a:rPr lang="en-US" dirty="0"/>
              <a:t>Use arrows to represent messages exchanged between components. To show the sequence of messages, place arrows and activation bars (which highlight when a component is active) appropriately.</a:t>
            </a:r>
          </a:p>
          <a:p>
            <a:pPr algn="just">
              <a:lnSpc>
                <a:spcPct val="100000"/>
              </a:lnSpc>
              <a:spcBef>
                <a:spcPts val="600"/>
              </a:spcBef>
              <a:spcAft>
                <a:spcPts val="600"/>
              </a:spcAft>
            </a:pPr>
            <a:r>
              <a:rPr lang="en-US" dirty="0"/>
              <a:t>Consider this important distinction when drawing message flow:</a:t>
            </a:r>
          </a:p>
          <a:p>
            <a:pPr algn="just">
              <a:lnSpc>
                <a:spcPct val="100000"/>
              </a:lnSpc>
              <a:spcBef>
                <a:spcPts val="600"/>
              </a:spcBef>
              <a:spcAft>
                <a:spcPts val="600"/>
              </a:spcAft>
            </a:pPr>
            <a:r>
              <a:rPr lang="en-US" dirty="0"/>
              <a:t>Synchronous messages (solid arrows). These messages imply the sender waits for a response from the receiver before continuing. Think of it like a conversation where you wait for a reply before speaking again.</a:t>
            </a:r>
          </a:p>
          <a:p>
            <a:pPr algn="just">
              <a:lnSpc>
                <a:spcPct val="100000"/>
              </a:lnSpc>
              <a:spcBef>
                <a:spcPts val="600"/>
              </a:spcBef>
              <a:spcAft>
                <a:spcPts val="600"/>
              </a:spcAft>
            </a:pPr>
            <a:r>
              <a:rPr lang="en-US" dirty="0"/>
              <a:t>Asynchronous messages (dashed arrows). These messages indicate the sender doesn’t wait for a response and can continue with other tasks. Imagine sending a text message and doing other things while waiting for a reply.</a:t>
            </a:r>
          </a:p>
        </p:txBody>
      </p:sp>
    </p:spTree>
    <p:extLst>
      <p:ext uri="{BB962C8B-B14F-4D97-AF65-F5344CB8AC3E}">
        <p14:creationId xmlns:p14="http://schemas.microsoft.com/office/powerpoint/2010/main" val="15783228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6187" y="72558"/>
            <a:ext cx="11784708" cy="6785442"/>
          </a:xfrm>
        </p:spPr>
        <p:txBody>
          <a:bodyPr>
            <a:normAutofit/>
          </a:bodyPr>
          <a:lstStyle/>
          <a:p>
            <a:pPr marL="0" indent="0">
              <a:buNone/>
            </a:pPr>
            <a:r>
              <a:rPr lang="en-US" sz="3200" b="1" dirty="0"/>
              <a:t>Step 4. Refine and document</a:t>
            </a:r>
            <a:endParaRPr lang="en-US" sz="3200" dirty="0"/>
          </a:p>
          <a:p>
            <a:r>
              <a:rPr lang="en-US" sz="3200" dirty="0"/>
              <a:t>Double-check the flow of messages and ensure they align with the scenario you defined. Are there any missing steps or inconsistencies? If you made any assumptions while creating the diagram, document them for future reference.</a:t>
            </a:r>
          </a:p>
          <a:p>
            <a:r>
              <a:rPr lang="en-US" sz="3200" dirty="0"/>
              <a:t>Sequence diagrams are excellent communication tools. Share your diagram with team members to ensure everyone is aligned on the interaction flow.</a:t>
            </a:r>
          </a:p>
        </p:txBody>
      </p:sp>
    </p:spTree>
    <p:extLst>
      <p:ext uri="{BB962C8B-B14F-4D97-AF65-F5344CB8AC3E}">
        <p14:creationId xmlns:p14="http://schemas.microsoft.com/office/powerpoint/2010/main" val="359285146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6187" y="72558"/>
            <a:ext cx="11784708" cy="6785442"/>
          </a:xfrm>
        </p:spPr>
        <p:txBody>
          <a:bodyPr>
            <a:normAutofit/>
          </a:bodyPr>
          <a:lstStyle/>
          <a:p>
            <a:pPr marL="0" indent="0" algn="ctr">
              <a:buNone/>
            </a:pPr>
            <a:endParaRPr lang="en-US" sz="7200" b="1" dirty="0" smtClean="0"/>
          </a:p>
          <a:p>
            <a:pPr marL="0" indent="0" algn="ctr">
              <a:buNone/>
            </a:pPr>
            <a:endParaRPr lang="en-US" sz="7200" b="1" dirty="0"/>
          </a:p>
          <a:p>
            <a:pPr marL="0" indent="0" algn="ctr">
              <a:buNone/>
            </a:pPr>
            <a:r>
              <a:rPr lang="en-US" sz="7200" b="1" dirty="0" smtClean="0"/>
              <a:t>Sequence diagram examples</a:t>
            </a:r>
          </a:p>
        </p:txBody>
      </p:sp>
    </p:spTree>
    <p:extLst>
      <p:ext uri="{BB962C8B-B14F-4D97-AF65-F5344CB8AC3E}">
        <p14:creationId xmlns:p14="http://schemas.microsoft.com/office/powerpoint/2010/main" val="264979375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6187" y="72558"/>
            <a:ext cx="11784708" cy="6785442"/>
          </a:xfrm>
        </p:spPr>
        <p:txBody>
          <a:bodyPr>
            <a:normAutofit/>
          </a:bodyPr>
          <a:lstStyle/>
          <a:p>
            <a:pPr marL="0" indent="0">
              <a:buNone/>
            </a:pPr>
            <a:r>
              <a:rPr lang="en-US" sz="3200" b="1" dirty="0"/>
              <a:t>Logging into a system</a:t>
            </a:r>
            <a:endParaRPr lang="en-US" sz="3200" dirty="0"/>
          </a:p>
          <a:p>
            <a:pPr algn="just">
              <a:lnSpc>
                <a:spcPct val="100000"/>
              </a:lnSpc>
              <a:spcBef>
                <a:spcPts val="1200"/>
              </a:spcBef>
              <a:spcAft>
                <a:spcPts val="600"/>
              </a:spcAft>
            </a:pPr>
            <a:r>
              <a:rPr lang="en-US" sz="2400" dirty="0"/>
              <a:t>Imagine a user entering their username and password to access Gmail. </a:t>
            </a:r>
            <a:endParaRPr lang="en-US" sz="2400" dirty="0" smtClean="0"/>
          </a:p>
          <a:p>
            <a:pPr algn="just">
              <a:lnSpc>
                <a:spcPct val="100000"/>
              </a:lnSpc>
              <a:spcBef>
                <a:spcPts val="1200"/>
              </a:spcBef>
              <a:spcAft>
                <a:spcPts val="600"/>
              </a:spcAft>
            </a:pPr>
            <a:r>
              <a:rPr lang="en-US" sz="2400" dirty="0" smtClean="0"/>
              <a:t>In </a:t>
            </a:r>
            <a:r>
              <a:rPr lang="en-US" sz="2400" dirty="0"/>
              <a:t>this example, the sequence diagram shows how the user interface interacts with the authentication server (checking credentials) and the database (fetching user information). Visualizing these interactions allows developers to:</a:t>
            </a:r>
          </a:p>
          <a:p>
            <a:pPr algn="just">
              <a:lnSpc>
                <a:spcPct val="100000"/>
              </a:lnSpc>
              <a:spcBef>
                <a:spcPts val="1200"/>
              </a:spcBef>
              <a:spcAft>
                <a:spcPts val="600"/>
              </a:spcAft>
            </a:pPr>
            <a:r>
              <a:rPr lang="en-US" sz="2400" dirty="0"/>
              <a:t>Confirm correct information flow. Is the username and password securely sent to the authentication server?</a:t>
            </a:r>
          </a:p>
          <a:p>
            <a:pPr algn="just">
              <a:lnSpc>
                <a:spcPct val="100000"/>
              </a:lnSpc>
              <a:spcBef>
                <a:spcPts val="1200"/>
              </a:spcBef>
              <a:spcAft>
                <a:spcPts val="600"/>
              </a:spcAft>
            </a:pPr>
            <a:r>
              <a:rPr lang="en-US" sz="2400" dirty="0"/>
              <a:t>Handle  errors. How does the system handle incorrect passwords or server overloads?</a:t>
            </a:r>
          </a:p>
          <a:p>
            <a:pPr algn="just">
              <a:lnSpc>
                <a:spcPct val="100000"/>
              </a:lnSpc>
              <a:spcBef>
                <a:spcPts val="1200"/>
              </a:spcBef>
              <a:spcAft>
                <a:spcPts val="600"/>
              </a:spcAft>
            </a:pPr>
            <a:r>
              <a:rPr lang="en-US" sz="2400" dirty="0"/>
              <a:t>Provide a smooth user experience. Is the user redirected to the inbox quickly after a successful login?</a:t>
            </a:r>
          </a:p>
          <a:p>
            <a:pPr algn="just">
              <a:lnSpc>
                <a:spcPct val="100000"/>
              </a:lnSpc>
              <a:spcBef>
                <a:spcPts val="1200"/>
              </a:spcBef>
              <a:spcAft>
                <a:spcPts val="600"/>
              </a:spcAft>
            </a:pPr>
            <a:r>
              <a:rPr lang="en-US" sz="2400" dirty="0"/>
              <a:t>This allows developers to refine the login process before coding begins, leading to a smoother and more secure user experience.</a:t>
            </a:r>
          </a:p>
        </p:txBody>
      </p:sp>
    </p:spTree>
    <p:extLst>
      <p:ext uri="{BB962C8B-B14F-4D97-AF65-F5344CB8AC3E}">
        <p14:creationId xmlns:p14="http://schemas.microsoft.com/office/powerpoint/2010/main" val="340352198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71341" y="-207389"/>
            <a:ext cx="11585541" cy="6758576"/>
          </a:xfrm>
          <a:prstGeom prst="rect">
            <a:avLst/>
          </a:prstGeom>
        </p:spPr>
      </p:pic>
    </p:spTree>
    <p:extLst>
      <p:ext uri="{BB962C8B-B14F-4D97-AF65-F5344CB8AC3E}">
        <p14:creationId xmlns:p14="http://schemas.microsoft.com/office/powerpoint/2010/main" val="249382745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6187" y="72558"/>
            <a:ext cx="11784708" cy="6785442"/>
          </a:xfrm>
        </p:spPr>
        <p:txBody>
          <a:bodyPr>
            <a:normAutofit/>
          </a:bodyPr>
          <a:lstStyle/>
          <a:p>
            <a:pPr marL="0" indent="0" algn="just">
              <a:lnSpc>
                <a:spcPct val="100000"/>
              </a:lnSpc>
              <a:spcBef>
                <a:spcPts val="600"/>
              </a:spcBef>
              <a:spcAft>
                <a:spcPts val="600"/>
              </a:spcAft>
              <a:buNone/>
            </a:pPr>
            <a:r>
              <a:rPr lang="en-US" sz="3200" b="1" dirty="0"/>
              <a:t>Placing an order</a:t>
            </a:r>
          </a:p>
          <a:p>
            <a:pPr marL="0" indent="0" algn="just">
              <a:lnSpc>
                <a:spcPct val="100000"/>
              </a:lnSpc>
              <a:spcBef>
                <a:spcPts val="600"/>
              </a:spcBef>
              <a:spcAft>
                <a:spcPts val="600"/>
              </a:spcAft>
              <a:buNone/>
            </a:pPr>
            <a:r>
              <a:rPr lang="en-US" sz="2400" dirty="0"/>
              <a:t>Sequence diagrams can help visualize the process of placing an order online, like on Amazon. Imagine a user adding an item to their cart and proceeding to checkout. The sequence diagram shows how the user interface interacts with the order processing system, which might look like this:</a:t>
            </a:r>
          </a:p>
          <a:p>
            <a:pPr algn="just">
              <a:lnSpc>
                <a:spcPct val="100000"/>
              </a:lnSpc>
              <a:spcBef>
                <a:spcPts val="600"/>
              </a:spcBef>
              <a:spcAft>
                <a:spcPts val="600"/>
              </a:spcAft>
            </a:pPr>
            <a:r>
              <a:rPr lang="en-US" sz="2400" dirty="0"/>
              <a:t>The system checks the shopping cart for items.</a:t>
            </a:r>
          </a:p>
          <a:p>
            <a:pPr algn="just">
              <a:lnSpc>
                <a:spcPct val="100000"/>
              </a:lnSpc>
              <a:spcBef>
                <a:spcPts val="600"/>
              </a:spcBef>
              <a:spcAft>
                <a:spcPts val="600"/>
              </a:spcAft>
            </a:pPr>
            <a:r>
              <a:rPr lang="en-US" sz="2400" dirty="0"/>
              <a:t>It verifies item availability in the product database.</a:t>
            </a:r>
          </a:p>
          <a:p>
            <a:pPr algn="just">
              <a:lnSpc>
                <a:spcPct val="100000"/>
              </a:lnSpc>
              <a:spcBef>
                <a:spcPts val="600"/>
              </a:spcBef>
              <a:spcAft>
                <a:spcPts val="600"/>
              </a:spcAft>
            </a:pPr>
            <a:r>
              <a:rPr lang="en-US" sz="2400" dirty="0"/>
              <a:t>It communicates with the payment gateway to process payment information.</a:t>
            </a:r>
          </a:p>
          <a:p>
            <a:pPr algn="just">
              <a:lnSpc>
                <a:spcPct val="100000"/>
              </a:lnSpc>
              <a:spcBef>
                <a:spcPts val="600"/>
              </a:spcBef>
              <a:spcAft>
                <a:spcPts val="600"/>
              </a:spcAft>
            </a:pPr>
            <a:r>
              <a:rPr lang="en-US" sz="2400" dirty="0"/>
              <a:t>By visualizing these interactions, developers can identify potential issues early:</a:t>
            </a:r>
          </a:p>
          <a:p>
            <a:pPr algn="just">
              <a:lnSpc>
                <a:spcPct val="100000"/>
              </a:lnSpc>
              <a:spcBef>
                <a:spcPts val="600"/>
              </a:spcBef>
              <a:spcAft>
                <a:spcPts val="600"/>
              </a:spcAft>
            </a:pPr>
            <a:r>
              <a:rPr lang="en-US" sz="2400" dirty="0"/>
              <a:t>Are steps missing, like confirming order details before payment?</a:t>
            </a:r>
          </a:p>
          <a:p>
            <a:pPr algn="just">
              <a:lnSpc>
                <a:spcPct val="100000"/>
              </a:lnSpc>
              <a:spcBef>
                <a:spcPts val="600"/>
              </a:spcBef>
              <a:spcAft>
                <a:spcPts val="600"/>
              </a:spcAft>
            </a:pPr>
            <a:r>
              <a:rPr lang="en-US" sz="2400" dirty="0"/>
              <a:t>What happens if the item is out of stock after being added to the cart?</a:t>
            </a:r>
          </a:p>
          <a:p>
            <a:pPr algn="just">
              <a:lnSpc>
                <a:spcPct val="100000"/>
              </a:lnSpc>
              <a:spcBef>
                <a:spcPts val="600"/>
              </a:spcBef>
              <a:spcAft>
                <a:spcPts val="600"/>
              </a:spcAft>
            </a:pPr>
            <a:r>
              <a:rPr lang="en-US" sz="2400" dirty="0"/>
              <a:t>How does the system handle potential payment gateway errors?</a:t>
            </a:r>
          </a:p>
          <a:p>
            <a:pPr algn="just">
              <a:lnSpc>
                <a:spcPct val="100000"/>
              </a:lnSpc>
              <a:spcBef>
                <a:spcPts val="600"/>
              </a:spcBef>
              <a:spcAft>
                <a:spcPts val="600"/>
              </a:spcAft>
            </a:pPr>
            <a:r>
              <a:rPr lang="en-US" sz="2400" dirty="0"/>
              <a:t>Using a sequence diagram ensures an efficient order placement process for users of an e-commerce website.</a:t>
            </a:r>
          </a:p>
        </p:txBody>
      </p:sp>
    </p:spTree>
    <p:extLst>
      <p:ext uri="{BB962C8B-B14F-4D97-AF65-F5344CB8AC3E}">
        <p14:creationId xmlns:p14="http://schemas.microsoft.com/office/powerpoint/2010/main" val="108387213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26244" y="377071"/>
            <a:ext cx="11738532" cy="6305083"/>
          </a:xfrm>
          <a:prstGeom prst="rect">
            <a:avLst/>
          </a:prstGeom>
        </p:spPr>
      </p:pic>
    </p:spTree>
    <p:extLst>
      <p:ext uri="{BB962C8B-B14F-4D97-AF65-F5344CB8AC3E}">
        <p14:creationId xmlns:p14="http://schemas.microsoft.com/office/powerpoint/2010/main" val="160597478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6187" y="72558"/>
            <a:ext cx="11784708" cy="6785442"/>
          </a:xfrm>
        </p:spPr>
        <p:txBody>
          <a:bodyPr>
            <a:normAutofit/>
          </a:bodyPr>
          <a:lstStyle/>
          <a:p>
            <a:pPr marL="0" indent="0">
              <a:buNone/>
            </a:pPr>
            <a:r>
              <a:rPr lang="en-US" sz="3200" b="1" dirty="0"/>
              <a:t>Logging into a system</a:t>
            </a:r>
            <a:endParaRPr lang="en-US" sz="3200" dirty="0"/>
          </a:p>
          <a:p>
            <a:pPr algn="just">
              <a:lnSpc>
                <a:spcPct val="100000"/>
              </a:lnSpc>
              <a:spcBef>
                <a:spcPts val="1200"/>
              </a:spcBef>
              <a:spcAft>
                <a:spcPts val="600"/>
              </a:spcAft>
            </a:pPr>
            <a:r>
              <a:rPr lang="en-US" sz="2400" dirty="0"/>
              <a:t>Imagine a user entering their username and password to access Gmail. </a:t>
            </a:r>
            <a:endParaRPr lang="en-US" sz="2400" dirty="0" smtClean="0"/>
          </a:p>
          <a:p>
            <a:pPr algn="just">
              <a:lnSpc>
                <a:spcPct val="100000"/>
              </a:lnSpc>
              <a:spcBef>
                <a:spcPts val="1200"/>
              </a:spcBef>
              <a:spcAft>
                <a:spcPts val="600"/>
              </a:spcAft>
            </a:pPr>
            <a:r>
              <a:rPr lang="en-US" sz="2400" dirty="0" smtClean="0"/>
              <a:t>In </a:t>
            </a:r>
            <a:r>
              <a:rPr lang="en-US" sz="2400" dirty="0"/>
              <a:t>this example, the sequence diagram shows how the user interface interacts with the authentication server (checking credentials) and the database (fetching user information). Visualizing these interactions allows developers to:</a:t>
            </a:r>
          </a:p>
          <a:p>
            <a:pPr algn="just">
              <a:lnSpc>
                <a:spcPct val="100000"/>
              </a:lnSpc>
              <a:spcBef>
                <a:spcPts val="1200"/>
              </a:spcBef>
              <a:spcAft>
                <a:spcPts val="600"/>
              </a:spcAft>
            </a:pPr>
            <a:r>
              <a:rPr lang="en-US" sz="2400" dirty="0"/>
              <a:t>Confirm correct information flow. Is the username and password securely sent to the authentication server?</a:t>
            </a:r>
          </a:p>
          <a:p>
            <a:pPr algn="just">
              <a:lnSpc>
                <a:spcPct val="100000"/>
              </a:lnSpc>
              <a:spcBef>
                <a:spcPts val="1200"/>
              </a:spcBef>
              <a:spcAft>
                <a:spcPts val="600"/>
              </a:spcAft>
            </a:pPr>
            <a:r>
              <a:rPr lang="en-US" sz="2400" dirty="0"/>
              <a:t>Handle  errors. How does the system handle incorrect passwords or server overloads?</a:t>
            </a:r>
          </a:p>
          <a:p>
            <a:pPr algn="just">
              <a:lnSpc>
                <a:spcPct val="100000"/>
              </a:lnSpc>
              <a:spcBef>
                <a:spcPts val="1200"/>
              </a:spcBef>
              <a:spcAft>
                <a:spcPts val="600"/>
              </a:spcAft>
            </a:pPr>
            <a:r>
              <a:rPr lang="en-US" sz="2400" dirty="0"/>
              <a:t>Provide a smooth user experience. Is the user redirected to the inbox quickly after a successful login?</a:t>
            </a:r>
          </a:p>
          <a:p>
            <a:pPr algn="just">
              <a:lnSpc>
                <a:spcPct val="100000"/>
              </a:lnSpc>
              <a:spcBef>
                <a:spcPts val="1200"/>
              </a:spcBef>
              <a:spcAft>
                <a:spcPts val="600"/>
              </a:spcAft>
            </a:pPr>
            <a:r>
              <a:rPr lang="en-US" sz="2400" dirty="0"/>
              <a:t>This allows developers to refine the login process before coding begins, leading to a smoother and more secure user experience.</a:t>
            </a:r>
          </a:p>
        </p:txBody>
      </p:sp>
    </p:spTree>
    <p:extLst>
      <p:ext uri="{BB962C8B-B14F-4D97-AF65-F5344CB8AC3E}">
        <p14:creationId xmlns:p14="http://schemas.microsoft.com/office/powerpoint/2010/main" val="294418917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241</TotalTime>
  <Words>1805</Words>
  <Application>Microsoft Office PowerPoint</Application>
  <PresentationFormat>Widescreen</PresentationFormat>
  <Paragraphs>163</Paragraphs>
  <Slides>37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37</vt:i4>
      </vt:variant>
    </vt:vector>
  </HeadingPairs>
  <TitlesOfParts>
    <vt:vector size="42" baseType="lpstr">
      <vt:lpstr>Arial</vt:lpstr>
      <vt:lpstr>Calibri</vt:lpstr>
      <vt:lpstr>Calibri Light</vt:lpstr>
      <vt:lpstr>Times New Roman</vt:lpstr>
      <vt:lpstr>Office Theme</vt:lpstr>
      <vt:lpstr>Sequence Diagram</vt:lpstr>
      <vt:lpstr>Sequence Diagrams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Sequence Diagram</dc:title>
  <dc:creator>admin</dc:creator>
  <cp:lastModifiedBy>admin</cp:lastModifiedBy>
  <cp:revision>41</cp:revision>
  <dcterms:created xsi:type="dcterms:W3CDTF">2025-04-28T10:45:32Z</dcterms:created>
  <dcterms:modified xsi:type="dcterms:W3CDTF">2025-04-28T14:47:27Z</dcterms:modified>
</cp:coreProperties>
</file>