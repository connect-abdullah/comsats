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0" r:id="rId4"/>
  </p:sldMasterIdLst>
  <p:notesMasterIdLst>
    <p:notesMasterId r:id="rId23"/>
  </p:notesMasterIdLst>
  <p:handoutMasterIdLst>
    <p:handoutMasterId r:id="rId24"/>
  </p:handoutMasterIdLst>
  <p:sldIdLst>
    <p:sldId id="308" r:id="rId5"/>
    <p:sldId id="505" r:id="rId6"/>
    <p:sldId id="506" r:id="rId7"/>
    <p:sldId id="507" r:id="rId8"/>
    <p:sldId id="508" r:id="rId9"/>
    <p:sldId id="509" r:id="rId10"/>
    <p:sldId id="510" r:id="rId11"/>
    <p:sldId id="511" r:id="rId12"/>
    <p:sldId id="512" r:id="rId13"/>
    <p:sldId id="515" r:id="rId14"/>
    <p:sldId id="516" r:id="rId15"/>
    <p:sldId id="518" r:id="rId16"/>
    <p:sldId id="517" r:id="rId17"/>
    <p:sldId id="519" r:id="rId18"/>
    <p:sldId id="521" r:id="rId19"/>
    <p:sldId id="522" r:id="rId20"/>
    <p:sldId id="523" r:id="rId21"/>
    <p:sldId id="524"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ee" initials="S" lastIdx="17" clrIdx="0"/>
  <p:cmAuthor id="1" name="Hp" initials="H"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0000FF"/>
    <a:srgbClr val="006600"/>
    <a:srgbClr val="A02020"/>
    <a:srgbClr val="B9DFC2"/>
    <a:srgbClr val="FFCCCC"/>
    <a:srgbClr val="E1CDB7"/>
    <a:srgbClr val="66CCFF"/>
    <a:srgbClr val="6B618F"/>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8171" autoAdjust="0"/>
  </p:normalViewPr>
  <p:slideViewPr>
    <p:cSldViewPr>
      <p:cViewPr varScale="1">
        <p:scale>
          <a:sx n="85" d="100"/>
          <a:sy n="85" d="100"/>
        </p:scale>
        <p:origin x="1406" y="-19"/>
      </p:cViewPr>
      <p:guideLst>
        <p:guide orient="horz" pos="2160"/>
        <p:guide pos="2880"/>
      </p:guideLst>
    </p:cSldViewPr>
  </p:slideViewPr>
  <p:outlineViewPr>
    <p:cViewPr>
      <p:scale>
        <a:sx n="33" d="100"/>
        <a:sy n="33" d="100"/>
      </p:scale>
      <p:origin x="48" y="1137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F7CF4B-9645-4A7B-8203-B3FA0788D36D}" type="datetime1">
              <a:rPr lang="en-US" smtClean="0"/>
              <a:t>4/3/2024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01/26/2015</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9982DD-099B-4C22-BD3A-1DD3C5B2FDB8}" type="slidenum">
              <a:rPr lang="en-US" smtClean="0"/>
              <a:t>‹#›</a:t>
            </a:fld>
            <a:endParaRPr lang="en-US" dirty="0"/>
          </a:p>
        </p:txBody>
      </p:sp>
    </p:spTree>
    <p:extLst>
      <p:ext uri="{BB962C8B-B14F-4D97-AF65-F5344CB8AC3E}">
        <p14:creationId xmlns:p14="http://schemas.microsoft.com/office/powerpoint/2010/main" val="275119546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50D0D0A8-E1F9-4A2E-A64E-A2D06F83B0B5}" type="datetime1">
              <a:rPr lang="en-US" smtClean="0"/>
              <a:t>4/3/2024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r>
              <a:rPr lang="en-US" dirty="0"/>
              <a:t>01/26/2015</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A4C719D9-CCCC-479C-8E5B-B4668CC71D86}" type="slidenum">
              <a:rPr lang="en-US"/>
              <a:pPr>
                <a:defRPr/>
              </a:pPr>
              <a:t>‹#›</a:t>
            </a:fld>
            <a:endParaRPr lang="en-US" dirty="0"/>
          </a:p>
        </p:txBody>
      </p:sp>
    </p:spTree>
    <p:extLst>
      <p:ext uri="{BB962C8B-B14F-4D97-AF65-F5344CB8AC3E}">
        <p14:creationId xmlns:p14="http://schemas.microsoft.com/office/powerpoint/2010/main" val="3758668218"/>
      </p:ext>
    </p:extLst>
  </p:cSld>
  <p:clrMap bg1="lt1" tx1="dk1" bg2="lt2" tx2="dk2" accent1="accent1" accent2="accent2" accent3="accent3" accent4="accent4" accent5="accent5" accent6="accent6" hlink="hlink" folHlink="folHlink"/>
  <p:hf hdr="0" ftr="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
        <p:nvSpPr>
          <p:cNvPr id="2" name="Date Placeholder 1"/>
          <p:cNvSpPr>
            <a:spLocks noGrp="1"/>
          </p:cNvSpPr>
          <p:nvPr>
            <p:ph type="dt" idx="10"/>
          </p:nvPr>
        </p:nvSpPr>
        <p:spPr/>
        <p:txBody>
          <a:bodyPr/>
          <a:lstStyle/>
          <a:p>
            <a:pPr>
              <a:defRPr/>
            </a:pPr>
            <a:fld id="{FACF3273-2EB3-40DD-814C-84A4FC9C5835}" type="datetime1">
              <a:rPr lang="en-US" smtClean="0"/>
              <a:t>4/3/2024</a:t>
            </a:fld>
            <a:endParaRPr lang="en-US" dirty="0"/>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 Placeholder 4"/>
          <p:cNvSpPr txBox="1">
            <a:spLocks/>
          </p:cNvSpPr>
          <p:nvPr/>
        </p:nvSpPr>
        <p:spPr bwMode="auto">
          <a:xfrm>
            <a:off x="7091363" y="6586538"/>
            <a:ext cx="693737" cy="420687"/>
          </a:xfrm>
          <a:prstGeom prst="rect">
            <a:avLst/>
          </a:prstGeom>
          <a:noFill/>
          <a:ln w="9525">
            <a:noFill/>
            <a:miter lim="800000"/>
            <a:headEnd/>
            <a:tailEnd/>
          </a:ln>
        </p:spPr>
        <p:txBody>
          <a:bodyPr/>
          <a:lstStyle/>
          <a:p>
            <a:pPr marL="228600" indent="-228600" algn="ctr" eaLnBrk="0" fontAlgn="auto" hangingPunct="0">
              <a:spcBef>
                <a:spcPct val="20000"/>
              </a:spcBef>
              <a:spcAft>
                <a:spcPts val="0"/>
              </a:spcAft>
              <a:buClr>
                <a:srgbClr val="FF0000"/>
              </a:buClr>
              <a:buSzPct val="60000"/>
              <a:buFont typeface="Marlett" pitchFamily="2" charset="2"/>
              <a:buNone/>
              <a:defRPr/>
            </a:pPr>
            <a:fld id="{F40E3FC1-1F21-44D9-A8B4-146808728144}" type="slidenum">
              <a:rPr lang="en-US" sz="1200" b="1">
                <a:latin typeface="Arial Unicode MS" pitchFamily="34" charset="-128"/>
                <a:ea typeface="Arial Unicode MS" pitchFamily="34" charset="-128"/>
                <a:cs typeface="Arial Unicode MS" pitchFamily="34" charset="-128"/>
              </a:rPr>
              <a:pPr marL="228600" indent="-228600" algn="ctr" eaLnBrk="0" fontAlgn="auto" hangingPunct="0">
                <a:spcBef>
                  <a:spcPct val="20000"/>
                </a:spcBef>
                <a:spcAft>
                  <a:spcPts val="0"/>
                </a:spcAft>
                <a:buClr>
                  <a:srgbClr val="FF0000"/>
                </a:buClr>
                <a:buSzPct val="60000"/>
                <a:buFont typeface="Marlett" pitchFamily="2" charset="2"/>
                <a:buNone/>
                <a:defRPr/>
              </a:pPr>
              <a:t>‹#›</a:t>
            </a:fld>
            <a:endParaRPr lang="en-US" sz="1200" b="1" dirty="0">
              <a:latin typeface="Arial Unicode MS" pitchFamily="34" charset="-128"/>
              <a:ea typeface="Arial Unicode MS" pitchFamily="34" charset="-128"/>
              <a:cs typeface="Arial Unicode MS" pitchFamily="34" charset="-128"/>
            </a:endParaRPr>
          </a:p>
        </p:txBody>
      </p:sp>
      <p:sp>
        <p:nvSpPr>
          <p:cNvPr id="5" name="Text Placeholder 4"/>
          <p:cNvSpPr txBox="1">
            <a:spLocks/>
          </p:cNvSpPr>
          <p:nvPr/>
        </p:nvSpPr>
        <p:spPr bwMode="auto">
          <a:xfrm>
            <a:off x="3571875" y="6599150"/>
            <a:ext cx="1695450" cy="240263"/>
          </a:xfrm>
          <a:prstGeom prst="rect">
            <a:avLst/>
          </a:prstGeom>
          <a:noFill/>
          <a:ln w="9525">
            <a:noFill/>
            <a:miter lim="800000"/>
            <a:headEnd/>
            <a:tailEnd/>
          </a:ln>
        </p:spPr>
        <p:txBody>
          <a:bodyPr/>
          <a:lstStyle/>
          <a:p>
            <a:pPr marL="228600" indent="-228600" algn="ctr" eaLnBrk="0" fontAlgn="auto" hangingPunct="0">
              <a:spcBef>
                <a:spcPct val="20000"/>
              </a:spcBef>
              <a:spcAft>
                <a:spcPts val="0"/>
              </a:spcAft>
              <a:buClr>
                <a:srgbClr val="FF0000"/>
              </a:buClr>
              <a:buSzPct val="60000"/>
              <a:buFont typeface="Marlett" pitchFamily="2" charset="2"/>
              <a:buNone/>
              <a:defRPr/>
            </a:pPr>
            <a:fld id="{6FD8D0D8-4386-463A-BE64-8F1AD9DBB0EF}" type="datetime4">
              <a:rPr lang="en-US" sz="1100" b="1">
                <a:latin typeface="Arial Unicode MS" pitchFamily="34" charset="-128"/>
                <a:ea typeface="Arial Unicode MS" pitchFamily="34" charset="-128"/>
                <a:cs typeface="Arial Unicode MS" pitchFamily="34" charset="-128"/>
              </a:rPr>
              <a:pPr marL="228600" indent="-228600" algn="ctr" eaLnBrk="0" fontAlgn="auto" hangingPunct="0">
                <a:spcBef>
                  <a:spcPct val="20000"/>
                </a:spcBef>
                <a:spcAft>
                  <a:spcPts val="0"/>
                </a:spcAft>
                <a:buClr>
                  <a:srgbClr val="FF0000"/>
                </a:buClr>
                <a:buSzPct val="60000"/>
                <a:buFont typeface="Marlett" pitchFamily="2" charset="2"/>
                <a:buNone/>
                <a:defRPr/>
              </a:pPr>
              <a:t>April 3, 2024</a:t>
            </a:fld>
            <a:endParaRPr lang="en-US" sz="1100" b="1" dirty="0">
              <a:latin typeface="Arial Unicode MS" pitchFamily="34" charset="-128"/>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948112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1123330" name="Rectangle 2"/>
          <p:cNvSpPr>
            <a:spLocks noChangeArrowheads="1"/>
          </p:cNvSpPr>
          <p:nvPr/>
        </p:nvSpPr>
        <p:spPr bwMode="auto">
          <a:xfrm>
            <a:off x="0" y="0"/>
            <a:ext cx="9144000" cy="685800"/>
          </a:xfrm>
          <a:prstGeom prst="rect">
            <a:avLst/>
          </a:prstGeom>
          <a:solidFill>
            <a:srgbClr val="FFFF99"/>
          </a:solidFill>
          <a:ln w="9525" algn="ctr">
            <a:solidFill>
              <a:schemeClr val="tx1"/>
            </a:solidFill>
            <a:miter lim="800000"/>
            <a:headEnd/>
            <a:tailEnd/>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
        <p:nvSpPr>
          <p:cNvPr id="1123336" name="Rectangle 8"/>
          <p:cNvSpPr>
            <a:spLocks noChangeArrowheads="1"/>
          </p:cNvSpPr>
          <p:nvPr/>
        </p:nvSpPr>
        <p:spPr bwMode="auto">
          <a:xfrm>
            <a:off x="0" y="0"/>
            <a:ext cx="9144000" cy="685800"/>
          </a:xfrm>
          <a:prstGeom prst="rect">
            <a:avLst/>
          </a:prstGeom>
          <a:solidFill>
            <a:srgbClr val="FFFF99"/>
          </a:solidFill>
          <a:ln w="9525" algn="ctr">
            <a:noFill/>
            <a:miter lim="800000"/>
            <a:headEnd/>
            <a:tailEnd/>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
        <p:nvSpPr>
          <p:cNvPr id="1028" name="Rectangle 3"/>
          <p:cNvSpPr>
            <a:spLocks noGrp="1" noChangeArrowheads="1"/>
          </p:cNvSpPr>
          <p:nvPr>
            <p:ph type="title"/>
          </p:nvPr>
        </p:nvSpPr>
        <p:spPr bwMode="auto">
          <a:xfrm>
            <a:off x="107950" y="0"/>
            <a:ext cx="8870950" cy="7318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ko-KR"/>
              <a:t>Click to edit Master title style</a:t>
            </a:r>
          </a:p>
        </p:txBody>
      </p:sp>
      <p:sp>
        <p:nvSpPr>
          <p:cNvPr id="1029" name="Rectangle 4"/>
          <p:cNvSpPr>
            <a:spLocks noGrp="1" noChangeArrowheads="1"/>
          </p:cNvSpPr>
          <p:nvPr>
            <p:ph type="body" idx="1"/>
          </p:nvPr>
        </p:nvSpPr>
        <p:spPr bwMode="auto">
          <a:xfrm>
            <a:off x="179388" y="771525"/>
            <a:ext cx="8799512" cy="5124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123333" name="Line 5"/>
          <p:cNvSpPr>
            <a:spLocks noChangeShapeType="1"/>
          </p:cNvSpPr>
          <p:nvPr/>
        </p:nvSpPr>
        <p:spPr bwMode="auto">
          <a:xfrm>
            <a:off x="0" y="685800"/>
            <a:ext cx="9144000" cy="0"/>
          </a:xfrm>
          <a:prstGeom prst="line">
            <a:avLst/>
          </a:prstGeom>
          <a:noFill/>
          <a:ln w="38100">
            <a:solidFill>
              <a:srgbClr val="FF0000"/>
            </a:solidFill>
            <a:round/>
            <a:headEnd/>
            <a:tailEnd type="none" w="sm" len="lg"/>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Tree>
  </p:cSld>
  <p:clrMap bg1="lt1" tx1="dk1" bg2="lt2" tx2="dk2" accent1="accent1" accent2="accent2" accent3="accent3" accent4="accent4" accent5="accent5" accent6="accent6" hlink="hlink" folHlink="folHlink"/>
  <p:sldLayoutIdLst>
    <p:sldLayoutId id="2147483782" r:id="rId1"/>
    <p:sldLayoutId id="2147483784" r:id="rId2"/>
    <p:sldLayoutId id="2147483783" r:id="rId3"/>
    <p:sldLayoutId id="2147483785" r:id="rId4"/>
  </p:sldLayoutIdLst>
  <p:transition spd="slow">
    <p:blinds dir="vert"/>
  </p:transition>
  <p:hf hdr="0" ftr="0" dt="0"/>
  <p:txStyles>
    <p:titleStyle>
      <a:lvl1pPr algn="l" rtl="0" fontAlgn="base">
        <a:spcBef>
          <a:spcPct val="0"/>
        </a:spcBef>
        <a:spcAft>
          <a:spcPct val="0"/>
        </a:spcAft>
        <a:defRPr kumimoji="1" sz="3200" b="1">
          <a:solidFill>
            <a:srgbClr val="006600"/>
          </a:solidFill>
          <a:latin typeface="+mj-lt"/>
          <a:ea typeface="+mj-ea"/>
          <a:cs typeface="+mj-cs"/>
        </a:defRPr>
      </a:lvl1pPr>
      <a:lvl2pPr algn="l" rtl="0" fontAlgn="base">
        <a:spcBef>
          <a:spcPct val="0"/>
        </a:spcBef>
        <a:spcAft>
          <a:spcPct val="0"/>
        </a:spcAft>
        <a:defRPr kumimoji="1" sz="3200" b="1">
          <a:solidFill>
            <a:srgbClr val="006600"/>
          </a:solidFill>
          <a:latin typeface="Arial" pitchFamily="34" charset="0"/>
        </a:defRPr>
      </a:lvl2pPr>
      <a:lvl3pPr algn="l" rtl="0" fontAlgn="base">
        <a:spcBef>
          <a:spcPct val="0"/>
        </a:spcBef>
        <a:spcAft>
          <a:spcPct val="0"/>
        </a:spcAft>
        <a:defRPr kumimoji="1" sz="3200" b="1">
          <a:solidFill>
            <a:srgbClr val="006600"/>
          </a:solidFill>
          <a:latin typeface="Arial" pitchFamily="34" charset="0"/>
        </a:defRPr>
      </a:lvl3pPr>
      <a:lvl4pPr algn="l" rtl="0" fontAlgn="base">
        <a:spcBef>
          <a:spcPct val="0"/>
        </a:spcBef>
        <a:spcAft>
          <a:spcPct val="0"/>
        </a:spcAft>
        <a:defRPr kumimoji="1" sz="3200" b="1">
          <a:solidFill>
            <a:srgbClr val="006600"/>
          </a:solidFill>
          <a:latin typeface="Arial" pitchFamily="34" charset="0"/>
        </a:defRPr>
      </a:lvl4pPr>
      <a:lvl5pPr algn="l" rtl="0" fontAlgn="base">
        <a:spcBef>
          <a:spcPct val="0"/>
        </a:spcBef>
        <a:spcAft>
          <a:spcPct val="0"/>
        </a:spcAft>
        <a:defRPr kumimoji="1" sz="3200" b="1">
          <a:solidFill>
            <a:srgbClr val="006600"/>
          </a:solidFill>
          <a:latin typeface="Arial" pitchFamily="34" charset="0"/>
        </a:defRPr>
      </a:lvl5pPr>
      <a:lvl6pPr marL="457200" algn="l" rtl="0" eaLnBrk="1" fontAlgn="base" hangingPunct="1">
        <a:spcBef>
          <a:spcPct val="0"/>
        </a:spcBef>
        <a:spcAft>
          <a:spcPct val="0"/>
        </a:spcAft>
        <a:defRPr kumimoji="1" sz="2800" b="1">
          <a:solidFill>
            <a:srgbClr val="006600"/>
          </a:solidFill>
          <a:latin typeface="Arial" pitchFamily="34" charset="0"/>
        </a:defRPr>
      </a:lvl6pPr>
      <a:lvl7pPr marL="914400" algn="l" rtl="0" eaLnBrk="1" fontAlgn="base" hangingPunct="1">
        <a:spcBef>
          <a:spcPct val="0"/>
        </a:spcBef>
        <a:spcAft>
          <a:spcPct val="0"/>
        </a:spcAft>
        <a:defRPr kumimoji="1" sz="2800" b="1">
          <a:solidFill>
            <a:srgbClr val="006600"/>
          </a:solidFill>
          <a:latin typeface="Arial" pitchFamily="34" charset="0"/>
        </a:defRPr>
      </a:lvl7pPr>
      <a:lvl8pPr marL="1371600" algn="l" rtl="0" eaLnBrk="1" fontAlgn="base" hangingPunct="1">
        <a:spcBef>
          <a:spcPct val="0"/>
        </a:spcBef>
        <a:spcAft>
          <a:spcPct val="0"/>
        </a:spcAft>
        <a:defRPr kumimoji="1" sz="2800" b="1">
          <a:solidFill>
            <a:srgbClr val="006600"/>
          </a:solidFill>
          <a:latin typeface="Arial" pitchFamily="34" charset="0"/>
        </a:defRPr>
      </a:lvl8pPr>
      <a:lvl9pPr marL="1828800" algn="l" rtl="0" eaLnBrk="1" fontAlgn="base" hangingPunct="1">
        <a:spcBef>
          <a:spcPct val="0"/>
        </a:spcBef>
        <a:spcAft>
          <a:spcPct val="0"/>
        </a:spcAft>
        <a:defRPr kumimoji="1" sz="2800" b="1">
          <a:solidFill>
            <a:srgbClr val="006600"/>
          </a:solidFill>
          <a:latin typeface="Arial" pitchFamily="34" charset="0"/>
        </a:defRPr>
      </a:lvl9pPr>
    </p:titleStyle>
    <p:bodyStyle>
      <a:lvl1pPr marL="228600" indent="-228600" algn="l" rtl="0" fontAlgn="base">
        <a:spcBef>
          <a:spcPct val="20000"/>
        </a:spcBef>
        <a:spcAft>
          <a:spcPct val="0"/>
        </a:spcAft>
        <a:buClr>
          <a:srgbClr val="FF0000"/>
        </a:buClr>
        <a:buSzPct val="60000"/>
        <a:buFont typeface="Marlett" pitchFamily="2" charset="2"/>
        <a:buChar char="n"/>
        <a:defRPr kumimoji="1" sz="2800">
          <a:solidFill>
            <a:schemeClr val="tx1"/>
          </a:solidFill>
          <a:latin typeface="+mn-lt"/>
          <a:ea typeface="+mn-ea"/>
          <a:cs typeface="+mn-cs"/>
        </a:defRPr>
      </a:lvl1pPr>
      <a:lvl2pPr marL="742950" indent="-285750" algn="l" rtl="0" fontAlgn="base">
        <a:spcBef>
          <a:spcPct val="20000"/>
        </a:spcBef>
        <a:spcAft>
          <a:spcPct val="0"/>
        </a:spcAft>
        <a:buClr>
          <a:srgbClr val="00FF00"/>
        </a:buClr>
        <a:buFont typeface="Marlett" pitchFamily="2" charset="2"/>
        <a:buChar char="5"/>
        <a:defRPr kumimoji="1" sz="2600">
          <a:solidFill>
            <a:schemeClr val="tx1"/>
          </a:solidFill>
          <a:latin typeface="+mn-lt"/>
        </a:defRPr>
      </a:lvl2pPr>
      <a:lvl3pPr marL="1143000" indent="-228600" algn="l" rtl="0" fontAlgn="base">
        <a:spcBef>
          <a:spcPct val="20000"/>
        </a:spcBef>
        <a:spcAft>
          <a:spcPct val="0"/>
        </a:spcAft>
        <a:buClr>
          <a:srgbClr val="0000FF"/>
        </a:buClr>
        <a:buSzPct val="50000"/>
        <a:buFont typeface="Marlett" pitchFamily="2" charset="2"/>
        <a:buChar char="g"/>
        <a:defRPr kumimoji="1" sz="2400">
          <a:solidFill>
            <a:schemeClr val="tx1"/>
          </a:solidFill>
          <a:latin typeface="+mn-lt"/>
        </a:defRPr>
      </a:lvl3pPr>
      <a:lvl4pPr marL="1600200" indent="-228600" algn="l" rtl="0" fontAlgn="base">
        <a:spcBef>
          <a:spcPct val="20000"/>
        </a:spcBef>
        <a:spcAft>
          <a:spcPct val="0"/>
        </a:spcAft>
        <a:buClr>
          <a:schemeClr val="accent2"/>
        </a:buClr>
        <a:buFont typeface="Marlett" pitchFamily="2" charset="2"/>
        <a:buChar char="u"/>
        <a:defRPr kumimoji="1" sz="2300">
          <a:solidFill>
            <a:schemeClr val="tx1"/>
          </a:solidFill>
          <a:latin typeface="+mn-lt"/>
        </a:defRPr>
      </a:lvl4pPr>
      <a:lvl5pPr marL="2057400" indent="-228600" algn="l" rtl="0" fontAlgn="base">
        <a:spcBef>
          <a:spcPct val="20000"/>
        </a:spcBef>
        <a:spcAft>
          <a:spcPct val="0"/>
        </a:spcAft>
        <a:buClr>
          <a:schemeClr val="tx1"/>
        </a:buClr>
        <a:buChar char="»"/>
        <a:defRPr kumimoji="1" sz="2200">
          <a:solidFill>
            <a:schemeClr val="tx1"/>
          </a:solidFill>
          <a:latin typeface="+mn-lt"/>
        </a:defRPr>
      </a:lvl5pPr>
      <a:lvl6pPr marL="2514600" indent="-228600" algn="l" rtl="0" eaLnBrk="1" fontAlgn="base" hangingPunct="1">
        <a:spcBef>
          <a:spcPct val="20000"/>
        </a:spcBef>
        <a:spcAft>
          <a:spcPct val="0"/>
        </a:spcAft>
        <a:buClr>
          <a:schemeClr val="tx1"/>
        </a:buClr>
        <a:buChar char="»"/>
        <a:defRPr kumimoji="1" sz="2400">
          <a:solidFill>
            <a:schemeClr val="tx1"/>
          </a:solidFill>
          <a:latin typeface="+mn-lt"/>
        </a:defRPr>
      </a:lvl6pPr>
      <a:lvl7pPr marL="2971800" indent="-228600" algn="l" rtl="0" eaLnBrk="1" fontAlgn="base" hangingPunct="1">
        <a:spcBef>
          <a:spcPct val="20000"/>
        </a:spcBef>
        <a:spcAft>
          <a:spcPct val="0"/>
        </a:spcAft>
        <a:buClr>
          <a:schemeClr val="tx1"/>
        </a:buClr>
        <a:buChar char="»"/>
        <a:defRPr kumimoji="1" sz="2400">
          <a:solidFill>
            <a:schemeClr val="tx1"/>
          </a:solidFill>
          <a:latin typeface="+mn-lt"/>
        </a:defRPr>
      </a:lvl7pPr>
      <a:lvl8pPr marL="3429000" indent="-228600" algn="l" rtl="0" eaLnBrk="1" fontAlgn="base" hangingPunct="1">
        <a:spcBef>
          <a:spcPct val="20000"/>
        </a:spcBef>
        <a:spcAft>
          <a:spcPct val="0"/>
        </a:spcAft>
        <a:buClr>
          <a:schemeClr val="tx1"/>
        </a:buClr>
        <a:buChar char="»"/>
        <a:defRPr kumimoji="1" sz="2400">
          <a:solidFill>
            <a:schemeClr val="tx1"/>
          </a:solidFill>
          <a:latin typeface="+mn-lt"/>
        </a:defRPr>
      </a:lvl8pPr>
      <a:lvl9pPr marL="3886200" indent="-228600" algn="l" rtl="0" eaLnBrk="1" fontAlgn="base" hangingPunct="1">
        <a:spcBef>
          <a:spcPct val="20000"/>
        </a:spcBef>
        <a:spcAft>
          <a:spcPct val="0"/>
        </a:spcAft>
        <a:buClr>
          <a:schemeClr val="tx1"/>
        </a:buClr>
        <a:buChar char="»"/>
        <a:defRPr kumimoji="1"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0" y="-31750"/>
            <a:ext cx="9144000" cy="1631950"/>
          </a:xfrm>
          <a:prstGeom prst="rect">
            <a:avLst/>
          </a:prstGeom>
          <a:solidFill>
            <a:srgbClr val="FFFF99"/>
          </a:solidFill>
          <a:ln w="9525" algn="ctr">
            <a:solidFill>
              <a:schemeClr val="tx1"/>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18" name="Line 3"/>
          <p:cNvSpPr>
            <a:spLocks noChangeShapeType="1"/>
          </p:cNvSpPr>
          <p:nvPr/>
        </p:nvSpPr>
        <p:spPr bwMode="auto">
          <a:xfrm>
            <a:off x="0" y="1600200"/>
            <a:ext cx="9144000" cy="0"/>
          </a:xfrm>
          <a:prstGeom prst="line">
            <a:avLst/>
          </a:prstGeom>
          <a:noFill/>
          <a:ln w="76200">
            <a:solidFill>
              <a:srgbClr val="FF3300"/>
            </a:solidFill>
            <a:round/>
            <a:headEnd/>
            <a:tailEnd/>
          </a:ln>
        </p:spPr>
        <p:txBody>
          <a:bodyPr/>
          <a:lstStyle/>
          <a:p>
            <a:endParaRPr lang="en-US" dirty="0"/>
          </a:p>
        </p:txBody>
      </p:sp>
      <p:sp>
        <p:nvSpPr>
          <p:cNvPr id="34819" name="Text Box 4"/>
          <p:cNvSpPr txBox="1">
            <a:spLocks noChangeArrowheads="1"/>
          </p:cNvSpPr>
          <p:nvPr/>
        </p:nvSpPr>
        <p:spPr bwMode="auto">
          <a:xfrm>
            <a:off x="152400" y="274144"/>
            <a:ext cx="8839200" cy="1040285"/>
          </a:xfrm>
          <a:prstGeom prst="rect">
            <a:avLst/>
          </a:prstGeom>
          <a:noFill/>
          <a:ln w="9525">
            <a:noFill/>
            <a:miter lim="800000"/>
            <a:headEnd/>
            <a:tailEnd/>
          </a:ln>
        </p:spPr>
        <p:txBody>
          <a:bodyPr wrap="square">
            <a:spAutoFit/>
          </a:bodyPr>
          <a:lstStyle/>
          <a:p>
            <a:pPr algn="ctr" eaLnBrk="0" hangingPunct="0">
              <a:spcBef>
                <a:spcPct val="20000"/>
              </a:spcBef>
              <a:buClr>
                <a:srgbClr val="FF0000"/>
              </a:buClr>
              <a:buSzPct val="60000"/>
            </a:pPr>
            <a:r>
              <a:rPr lang="en-US" sz="2800" b="1" dirty="0">
                <a:solidFill>
                  <a:srgbClr val="0000CC"/>
                </a:solidFill>
                <a:cs typeface="+mn-cs"/>
              </a:rPr>
              <a:t>Software Quality Engineering</a:t>
            </a:r>
          </a:p>
          <a:p>
            <a:pPr algn="ctr" eaLnBrk="0" hangingPunct="0">
              <a:spcBef>
                <a:spcPct val="20000"/>
              </a:spcBef>
              <a:buClr>
                <a:srgbClr val="FF0000"/>
              </a:buClr>
              <a:buSzPct val="60000"/>
            </a:pPr>
            <a:r>
              <a:rPr lang="en-US" sz="2800" b="1" dirty="0">
                <a:solidFill>
                  <a:srgbClr val="0000CC"/>
                </a:solidFill>
                <a:cs typeface="+mn-cs"/>
              </a:rPr>
              <a:t>BS(SE)-VI</a:t>
            </a:r>
          </a:p>
        </p:txBody>
      </p:sp>
      <p:sp>
        <p:nvSpPr>
          <p:cNvPr id="34820" name="Text Box 5"/>
          <p:cNvSpPr txBox="1">
            <a:spLocks noChangeArrowheads="1"/>
          </p:cNvSpPr>
          <p:nvPr/>
        </p:nvSpPr>
        <p:spPr bwMode="auto">
          <a:xfrm>
            <a:off x="346412" y="2028655"/>
            <a:ext cx="8568988" cy="1828800"/>
          </a:xfrm>
          <a:prstGeom prst="rect">
            <a:avLst/>
          </a:prstGeom>
          <a:noFill/>
          <a:ln w="9525">
            <a:noFill/>
            <a:miter lim="800000"/>
            <a:headEnd/>
            <a:tailEnd/>
          </a:ln>
        </p:spPr>
        <p:txBody>
          <a:bodyPr wrap="none"/>
          <a:lstStyle/>
          <a:p>
            <a:pPr marL="511175" indent="-279400" algn="ctr"/>
            <a:endParaRPr lang="en-US" sz="1200" dirty="0">
              <a:solidFill>
                <a:schemeClr val="accent1"/>
              </a:solidFill>
              <a:cs typeface="Times New Roman" pitchFamily="18" charset="0"/>
            </a:endParaRPr>
          </a:p>
          <a:p>
            <a:pPr marL="511175" indent="-279400" algn="ctr"/>
            <a:r>
              <a:rPr lang="en-US" sz="2000" b="1" dirty="0">
                <a:solidFill>
                  <a:srgbClr val="006600"/>
                </a:solidFill>
                <a:cs typeface="Times New Roman" pitchFamily="18" charset="0"/>
              </a:rPr>
              <a:t>Dr. </a:t>
            </a:r>
            <a:r>
              <a:rPr lang="en-US" sz="2000" b="1" dirty="0" smtClean="0">
                <a:solidFill>
                  <a:srgbClr val="006600"/>
                </a:solidFill>
                <a:cs typeface="Times New Roman" pitchFamily="18" charset="0"/>
              </a:rPr>
              <a:t>Uzair Iqbal Janjua</a:t>
            </a:r>
            <a:endParaRPr lang="en-US" sz="2000" b="1" dirty="0">
              <a:solidFill>
                <a:srgbClr val="006600"/>
              </a:solidFill>
              <a:cs typeface="Times New Roman" pitchFamily="18" charset="0"/>
            </a:endParaRPr>
          </a:p>
          <a:p>
            <a:pPr marL="511175" indent="-279400" algn="ctr"/>
            <a:endParaRPr lang="en-US" sz="2000" b="1" dirty="0">
              <a:solidFill>
                <a:srgbClr val="006600"/>
              </a:solidFill>
              <a:cs typeface="Times New Roman" pitchFamily="18" charset="0"/>
            </a:endParaRPr>
          </a:p>
          <a:p>
            <a:pPr marL="511175" indent="-279400" algn="ctr"/>
            <a:endParaRPr lang="en-US" sz="800" dirty="0">
              <a:solidFill>
                <a:srgbClr val="006600"/>
              </a:solidFill>
            </a:endParaRPr>
          </a:p>
          <a:p>
            <a:pPr marL="511175" indent="-279400" algn="ctr"/>
            <a:r>
              <a:rPr lang="en-US" dirty="0">
                <a:solidFill>
                  <a:srgbClr val="006600"/>
                </a:solidFill>
              </a:rPr>
              <a:t>Department of Computer Science</a:t>
            </a:r>
          </a:p>
          <a:p>
            <a:pPr marL="511175" indent="-279400" algn="ctr"/>
            <a:r>
              <a:rPr lang="en-US" dirty="0">
                <a:solidFill>
                  <a:srgbClr val="006600"/>
                </a:solidFill>
              </a:rPr>
              <a:t>COMSATS University Islamabad, Islamabad Campus</a:t>
            </a:r>
          </a:p>
          <a:p>
            <a:pPr marL="511175" indent="-279400" algn="ctr"/>
            <a:r>
              <a:rPr lang="en-US" dirty="0" smtClean="0">
                <a:solidFill>
                  <a:srgbClr val="006600"/>
                </a:solidFill>
              </a:rPr>
              <a:t>uzair_iqbal@comsats.edu.pk</a:t>
            </a:r>
            <a:endParaRPr lang="en-US" b="1" dirty="0">
              <a:solidFill>
                <a:srgbClr val="006600"/>
              </a:solidFill>
              <a:cs typeface="Times New Roman" pitchFamily="18" charset="0"/>
            </a:endParaRPr>
          </a:p>
          <a:p>
            <a:pPr marL="511175" indent="-279400" algn="ctr"/>
            <a:endParaRPr lang="en-US" dirty="0"/>
          </a:p>
        </p:txBody>
      </p:sp>
      <p:sp>
        <p:nvSpPr>
          <p:cNvPr id="34823" name="Rectangle 34"/>
          <p:cNvSpPr>
            <a:spLocks noChangeArrowheads="1"/>
          </p:cNvSpPr>
          <p:nvPr/>
        </p:nvSpPr>
        <p:spPr bwMode="auto">
          <a:xfrm>
            <a:off x="533400" y="3486723"/>
            <a:ext cx="8229600" cy="3066477"/>
          </a:xfrm>
          <a:prstGeom prst="rect">
            <a:avLst/>
          </a:prstGeom>
          <a:noFill/>
          <a:ln w="9525">
            <a:noFill/>
            <a:miter lim="800000"/>
            <a:headEnd/>
            <a:tailEnd/>
          </a:ln>
        </p:spPr>
        <p:txBody>
          <a:bodyPr/>
          <a:lstStyle/>
          <a:p>
            <a:pPr eaLnBrk="0" hangingPunct="0">
              <a:spcBef>
                <a:spcPct val="20000"/>
              </a:spcBef>
              <a:buClr>
                <a:srgbClr val="FF0000"/>
              </a:buClr>
              <a:buSzPct val="60000"/>
            </a:pPr>
            <a:endParaRPr kumimoji="1" lang="en-US" dirty="0"/>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smtClean="0"/>
              <a:t>Non Functional Requirements NFR</a:t>
            </a:r>
            <a:endParaRPr lang="en-US" dirty="0"/>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659812" cy="5857876"/>
          </a:xfrm>
        </p:spPr>
        <p:txBody>
          <a:bodyPr/>
          <a:lstStyle/>
          <a:p>
            <a:pPr marL="0" indent="0" algn="just">
              <a:spcBef>
                <a:spcPts val="600"/>
              </a:spcBef>
              <a:spcAft>
                <a:spcPts val="600"/>
              </a:spcAft>
              <a:buNone/>
            </a:pPr>
            <a:r>
              <a:rPr lang="en-US" sz="2400" b="1" i="1" dirty="0"/>
              <a:t>Correctness</a:t>
            </a:r>
            <a:endParaRPr lang="en-US" sz="2400" dirty="0"/>
          </a:p>
          <a:p>
            <a:pPr algn="just">
              <a:spcBef>
                <a:spcPts val="600"/>
              </a:spcBef>
              <a:spcAft>
                <a:spcPts val="600"/>
              </a:spcAft>
            </a:pPr>
            <a:r>
              <a:rPr lang="en-US" sz="2400" dirty="0" smtClean="0"/>
              <a:t>Correctness requirements are related to the outputs of software systems, such as a query display of a customer’s balance in the sales accounting information system.</a:t>
            </a:r>
          </a:p>
          <a:p>
            <a:pPr algn="just">
              <a:spcBef>
                <a:spcPts val="600"/>
              </a:spcBef>
              <a:spcAft>
                <a:spcPts val="600"/>
              </a:spcAft>
            </a:pPr>
            <a:r>
              <a:rPr lang="en-US" sz="2400" dirty="0" smtClean="0"/>
              <a:t>This output specification is usually multidimensional; some common dimensions are:</a:t>
            </a:r>
          </a:p>
          <a:p>
            <a:pPr lvl="1" algn="just">
              <a:spcBef>
                <a:spcPts val="600"/>
              </a:spcBef>
              <a:spcAft>
                <a:spcPts val="600"/>
              </a:spcAft>
            </a:pPr>
            <a:r>
              <a:rPr lang="en-US" sz="2200" dirty="0" smtClean="0"/>
              <a:t>The required </a:t>
            </a:r>
            <a:r>
              <a:rPr lang="en-US" sz="2200" b="1" dirty="0" smtClean="0">
                <a:solidFill>
                  <a:srgbClr val="FFC000"/>
                </a:solidFill>
              </a:rPr>
              <a:t>accuracy of the output</a:t>
            </a:r>
            <a:r>
              <a:rPr lang="en-US" sz="2200" dirty="0" smtClean="0"/>
              <a:t>. This may be adversely affected by inaccurate data or inaccurate calculations. For example, the probability of non accurate inventory information, containing one or more mistakes, will not exceed1</a:t>
            </a:r>
            <a:r>
              <a:rPr lang="en-US" sz="2200" dirty="0"/>
              <a:t>%.</a:t>
            </a:r>
          </a:p>
          <a:p>
            <a:pPr lvl="1" algn="just">
              <a:spcBef>
                <a:spcPts val="600"/>
              </a:spcBef>
              <a:spcAft>
                <a:spcPts val="600"/>
              </a:spcAft>
            </a:pPr>
            <a:r>
              <a:rPr lang="en-US" sz="2200" dirty="0" smtClean="0"/>
              <a:t>The required </a:t>
            </a:r>
            <a:r>
              <a:rPr lang="en-US" sz="2200" b="1" dirty="0">
                <a:solidFill>
                  <a:srgbClr val="FFC000"/>
                </a:solidFill>
              </a:rPr>
              <a:t>completeness of the output information</a:t>
            </a:r>
            <a:r>
              <a:rPr lang="en-US" sz="2200" dirty="0" smtClean="0"/>
              <a:t>. This may be adversely affected by incomplete data. For example, the probability of missing data from a club member’s record: the number of his cellular phone or home address will not exceed 1</a:t>
            </a:r>
            <a:r>
              <a:rPr lang="en-US" sz="2200" dirty="0"/>
              <a:t>%.</a:t>
            </a:r>
          </a:p>
          <a:p>
            <a:pPr>
              <a:spcBef>
                <a:spcPts val="600"/>
              </a:spcBef>
              <a:spcAft>
                <a:spcPts val="600"/>
              </a:spcAft>
            </a:pPr>
            <a:endParaRPr lang="en-US" sz="2000" dirty="0"/>
          </a:p>
        </p:txBody>
      </p:sp>
    </p:spTree>
    <p:extLst>
      <p:ext uri="{BB962C8B-B14F-4D97-AF65-F5344CB8AC3E}">
        <p14:creationId xmlns:p14="http://schemas.microsoft.com/office/powerpoint/2010/main" val="2866452183"/>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705475"/>
          </a:xfrm>
        </p:spPr>
        <p:txBody>
          <a:bodyPr/>
          <a:lstStyle/>
          <a:p>
            <a:pPr marL="0" indent="0" algn="just">
              <a:buNone/>
            </a:pPr>
            <a:r>
              <a:rPr lang="en-US" sz="2200" dirty="0" smtClean="0"/>
              <a:t>….</a:t>
            </a:r>
            <a:r>
              <a:rPr lang="en-US" sz="2200" b="1" i="1" dirty="0"/>
              <a:t> </a:t>
            </a:r>
            <a:r>
              <a:rPr lang="en-US" sz="2200" b="1" i="1" dirty="0" smtClean="0"/>
              <a:t>Correctness</a:t>
            </a:r>
            <a:endParaRPr lang="en-US" sz="2200" dirty="0"/>
          </a:p>
          <a:p>
            <a:pPr algn="just">
              <a:spcBef>
                <a:spcPts val="600"/>
              </a:spcBef>
              <a:spcAft>
                <a:spcPts val="600"/>
              </a:spcAft>
            </a:pPr>
            <a:r>
              <a:rPr lang="en-US" sz="2100" dirty="0" smtClean="0"/>
              <a:t>The required </a:t>
            </a:r>
            <a:r>
              <a:rPr lang="en-US" sz="2200" b="1" dirty="0">
                <a:solidFill>
                  <a:srgbClr val="FFC000"/>
                </a:solidFill>
              </a:rPr>
              <a:t>up-to-datedness of information </a:t>
            </a:r>
            <a:r>
              <a:rPr lang="en-US" sz="2100" dirty="0" smtClean="0"/>
              <a:t>(defined according to the frequency of data updating). In other words, the up-to-datedness defines the time between the event and its recording and actual usage by the software system. For example, it is required that information regarding club member payments be updated within one working day (with probability 99.5</a:t>
            </a:r>
            <a:r>
              <a:rPr lang="en-US" sz="2100" dirty="0"/>
              <a:t>%).</a:t>
            </a:r>
          </a:p>
          <a:p>
            <a:pPr algn="just">
              <a:spcBef>
                <a:spcPts val="600"/>
              </a:spcBef>
              <a:spcAft>
                <a:spcPts val="600"/>
              </a:spcAft>
            </a:pPr>
            <a:r>
              <a:rPr lang="en-US" sz="2100" dirty="0" smtClean="0"/>
              <a:t>The </a:t>
            </a:r>
            <a:r>
              <a:rPr lang="en-US" sz="2200" b="1" dirty="0">
                <a:solidFill>
                  <a:srgbClr val="FFC000"/>
                </a:solidFill>
              </a:rPr>
              <a:t>required response time, </a:t>
            </a:r>
            <a:r>
              <a:rPr lang="en-US" sz="2100" dirty="0" smtClean="0"/>
              <a:t>defined as the time needed to obtain the requested information, or as the requested reaction time of the firmware installed in a computerized apparatus.</a:t>
            </a:r>
          </a:p>
          <a:p>
            <a:pPr algn="just">
              <a:spcBef>
                <a:spcPts val="600"/>
              </a:spcBef>
              <a:spcAft>
                <a:spcPts val="600"/>
              </a:spcAft>
            </a:pPr>
            <a:r>
              <a:rPr lang="en-US" sz="2100" dirty="0" smtClean="0"/>
              <a:t>Two examples: (</a:t>
            </a:r>
            <a:r>
              <a:rPr lang="en-US" sz="2100" dirty="0"/>
              <a:t>1</a:t>
            </a:r>
            <a:r>
              <a:rPr lang="en-US" sz="2100" dirty="0" smtClean="0"/>
              <a:t>) Response time for queries regarding the inventory item will be on average less than 2 seconds; (</a:t>
            </a:r>
            <a:r>
              <a:rPr lang="en-US" sz="2100" dirty="0"/>
              <a:t>2</a:t>
            </a:r>
            <a:r>
              <a:rPr lang="en-US" sz="2100" dirty="0" smtClean="0"/>
              <a:t>) The reaction time to open a valve for a cooling agent flow, when the liquid temperature rises above 90 degrees centigrade, will be less than 10 seconds</a:t>
            </a:r>
            <a:r>
              <a:rPr lang="en-US" sz="2100" dirty="0"/>
              <a:t>.</a:t>
            </a:r>
          </a:p>
          <a:p>
            <a:pPr algn="just">
              <a:spcBef>
                <a:spcPts val="600"/>
              </a:spcBef>
              <a:spcAft>
                <a:spcPts val="600"/>
              </a:spcAft>
            </a:pPr>
            <a:r>
              <a:rPr lang="en-US" sz="2100" dirty="0" smtClean="0"/>
              <a:t>The standards for coding and documenting the software system</a:t>
            </a:r>
            <a:r>
              <a:rPr lang="en-US" sz="2100" dirty="0"/>
              <a:t>.</a:t>
            </a:r>
          </a:p>
          <a:p>
            <a:pPr algn="just"/>
            <a:endParaRPr lang="en-US" sz="2200" dirty="0"/>
          </a:p>
        </p:txBody>
      </p:sp>
    </p:spTree>
    <p:extLst>
      <p:ext uri="{BB962C8B-B14F-4D97-AF65-F5344CB8AC3E}">
        <p14:creationId xmlns:p14="http://schemas.microsoft.com/office/powerpoint/2010/main" val="3443955354"/>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spcBef>
                <a:spcPts val="600"/>
              </a:spcBef>
              <a:spcAft>
                <a:spcPts val="600"/>
              </a:spcAft>
              <a:buNone/>
            </a:pPr>
            <a:r>
              <a:rPr lang="en-US" sz="2200" b="1" i="1" dirty="0"/>
              <a:t>Reliability</a:t>
            </a:r>
            <a:endParaRPr lang="en-US" sz="2200" dirty="0"/>
          </a:p>
          <a:p>
            <a:pPr algn="just">
              <a:spcBef>
                <a:spcPts val="600"/>
              </a:spcBef>
              <a:spcAft>
                <a:spcPts val="600"/>
              </a:spcAft>
            </a:pPr>
            <a:r>
              <a:rPr lang="en-US" sz="2000" dirty="0" smtClean="0"/>
              <a:t>Reliability requirements deal with failures to provide service. They determine the maximum allowed software system failure rate, the maximum allowed percentage of a software system’s downtime, and the maximum allowed recovery times. The requirements can refer to the entire system or to one or more of its separate functions</a:t>
            </a:r>
            <a:r>
              <a:rPr lang="en-US" sz="2000" dirty="0"/>
              <a:t>.</a:t>
            </a:r>
          </a:p>
          <a:p>
            <a:pPr algn="just">
              <a:spcBef>
                <a:spcPts val="600"/>
              </a:spcBef>
              <a:spcAft>
                <a:spcPts val="600"/>
              </a:spcAft>
            </a:pPr>
            <a:r>
              <a:rPr lang="en-US" sz="2000" dirty="0"/>
              <a:t>Examples</a:t>
            </a:r>
          </a:p>
          <a:p>
            <a:pPr lvl="1" algn="just">
              <a:spcBef>
                <a:spcPts val="600"/>
              </a:spcBef>
              <a:spcAft>
                <a:spcPts val="600"/>
              </a:spcAft>
            </a:pPr>
            <a:r>
              <a:rPr lang="en-US" sz="1800" dirty="0" smtClean="0"/>
              <a:t>The failure frequency of a heart-monitoring unit operating in a hospital’s intensive care ward is required to be less than one in 20 years. Its heart attack detection function is required to have a failure rate of less than one per 100 years</a:t>
            </a:r>
            <a:r>
              <a:rPr lang="en-US" sz="1800" dirty="0"/>
              <a:t>.</a:t>
            </a:r>
          </a:p>
          <a:p>
            <a:pPr lvl="1" algn="just">
              <a:spcBef>
                <a:spcPts val="600"/>
              </a:spcBef>
              <a:spcAft>
                <a:spcPts val="600"/>
              </a:spcAft>
            </a:pPr>
            <a:r>
              <a:rPr lang="en-US" sz="1800" dirty="0" smtClean="0"/>
              <a:t>One requirement of the new software system to be installed in the main branch of the Independence Bank, which operates 120 branches, is that on average, it will not fail more than 1 time per 12 months during the bank’s office hours. In addition, the probability that the off- time ( time needed for repair and recovery of all the bank’s services) be more than 10 minutes is required to be less than 0.5</a:t>
            </a:r>
            <a:r>
              <a:rPr lang="en-US" sz="1800" dirty="0"/>
              <a:t>%.</a:t>
            </a:r>
          </a:p>
          <a:p>
            <a:pPr algn="just">
              <a:spcBef>
                <a:spcPts val="600"/>
              </a:spcBef>
              <a:spcAft>
                <a:spcPts val="600"/>
              </a:spcAft>
            </a:pPr>
            <a:endParaRPr lang="en-US" sz="2000" dirty="0"/>
          </a:p>
        </p:txBody>
      </p:sp>
    </p:spTree>
    <p:extLst>
      <p:ext uri="{BB962C8B-B14F-4D97-AF65-F5344CB8AC3E}">
        <p14:creationId xmlns:p14="http://schemas.microsoft.com/office/powerpoint/2010/main" val="2619817365"/>
      </p:ext>
    </p:extLst>
  </p:cSld>
  <p:clrMapOvr>
    <a:masterClrMapping/>
  </p:clrMapOvr>
  <p:transition spd="slow">
    <p:blinds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spcBef>
                <a:spcPts val="600"/>
              </a:spcBef>
              <a:spcAft>
                <a:spcPts val="600"/>
              </a:spcAft>
              <a:buNone/>
            </a:pPr>
            <a:r>
              <a:rPr lang="en-US" sz="2200" b="1" i="1" dirty="0" smtClean="0"/>
              <a:t>Ef</a:t>
            </a:r>
            <a:r>
              <a:rPr lang="en-US" sz="2200" b="1" dirty="0" smtClean="0"/>
              <a:t>fi</a:t>
            </a:r>
            <a:r>
              <a:rPr lang="en-US" sz="2200" b="1" i="1" dirty="0" smtClean="0"/>
              <a:t>ciency</a:t>
            </a:r>
            <a:endParaRPr lang="en-US" sz="2200" dirty="0"/>
          </a:p>
          <a:p>
            <a:pPr algn="just">
              <a:spcBef>
                <a:spcPts val="600"/>
              </a:spcBef>
              <a:spcAft>
                <a:spcPts val="600"/>
              </a:spcAft>
            </a:pPr>
            <a:r>
              <a:rPr lang="en-US" sz="2000" dirty="0" smtClean="0"/>
              <a:t>Efficiency requirements deal with the hardware resources needed to perform all the functions of the software system in conformance with all other requirements. </a:t>
            </a:r>
          </a:p>
          <a:p>
            <a:pPr algn="just">
              <a:spcBef>
                <a:spcPts val="600"/>
              </a:spcBef>
              <a:spcAft>
                <a:spcPts val="600"/>
              </a:spcAft>
            </a:pPr>
            <a:r>
              <a:rPr lang="en-US" sz="2000" dirty="0" smtClean="0"/>
              <a:t>The main hardware resources to be considered are </a:t>
            </a:r>
          </a:p>
          <a:p>
            <a:pPr lvl="1" algn="just">
              <a:spcBef>
                <a:spcPts val="600"/>
              </a:spcBef>
              <a:spcAft>
                <a:spcPts val="600"/>
              </a:spcAft>
            </a:pPr>
            <a:r>
              <a:rPr lang="en-US" sz="1800" dirty="0" smtClean="0"/>
              <a:t>the computer’s processing capabilities (measured in Million Instructions Per Second (MIPS), megahertz–million cycles per second, etc.),</a:t>
            </a:r>
          </a:p>
          <a:p>
            <a:pPr lvl="1" algn="just">
              <a:spcBef>
                <a:spcPts val="600"/>
              </a:spcBef>
              <a:spcAft>
                <a:spcPts val="600"/>
              </a:spcAft>
            </a:pPr>
            <a:r>
              <a:rPr lang="en-US" sz="1800" dirty="0" smtClean="0"/>
              <a:t>its data storage capability in terms of memory and disk capacity (measured in gigabytes (GBs), terabytes (TBs), etc.), </a:t>
            </a:r>
          </a:p>
          <a:p>
            <a:pPr lvl="1" algn="just">
              <a:spcBef>
                <a:spcPts val="600"/>
              </a:spcBef>
              <a:spcAft>
                <a:spcPts val="600"/>
              </a:spcAft>
            </a:pPr>
            <a:r>
              <a:rPr lang="en-US" sz="1800" dirty="0" smtClean="0"/>
              <a:t>and the data communication capability of the communication lines (usually measured in megabits per second (MBPSs), and gigabits per second (GBPSs).</a:t>
            </a:r>
            <a:endParaRPr lang="en-US" sz="1800" dirty="0"/>
          </a:p>
          <a:p>
            <a:pPr algn="just">
              <a:spcBef>
                <a:spcPts val="600"/>
              </a:spcBef>
              <a:spcAft>
                <a:spcPts val="600"/>
              </a:spcAft>
            </a:pPr>
            <a:r>
              <a:rPr lang="en-US" sz="2000" dirty="0" smtClean="0"/>
              <a:t>Another type of efficiency requirement deals with the time lapse between recharging the system’s portable units such as information system units located in portable computers and meteorological units placed outdoors.</a:t>
            </a:r>
            <a:endParaRPr lang="en-US" sz="2000" dirty="0"/>
          </a:p>
        </p:txBody>
      </p:sp>
    </p:spTree>
    <p:extLst>
      <p:ext uri="{BB962C8B-B14F-4D97-AF65-F5344CB8AC3E}">
        <p14:creationId xmlns:p14="http://schemas.microsoft.com/office/powerpoint/2010/main" val="3680217113"/>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553076"/>
          </a:xfrm>
        </p:spPr>
        <p:txBody>
          <a:bodyPr/>
          <a:lstStyle/>
          <a:p>
            <a:pPr marL="0" indent="0">
              <a:spcBef>
                <a:spcPts val="600"/>
              </a:spcBef>
              <a:spcAft>
                <a:spcPts val="600"/>
              </a:spcAft>
              <a:buNone/>
            </a:pPr>
            <a:r>
              <a:rPr lang="en-US" sz="2000" b="1" i="1" dirty="0" smtClean="0"/>
              <a:t>…</a:t>
            </a:r>
            <a:r>
              <a:rPr lang="en-US" sz="2200" b="1" i="1" dirty="0" smtClean="0"/>
              <a:t>Ef</a:t>
            </a:r>
            <a:r>
              <a:rPr lang="en-US" sz="2200" b="1" dirty="0" smtClean="0"/>
              <a:t>fi</a:t>
            </a:r>
            <a:r>
              <a:rPr lang="en-US" sz="2200" b="1" i="1" dirty="0" smtClean="0"/>
              <a:t>ciency</a:t>
            </a:r>
            <a:endParaRPr lang="en-US" sz="2200" dirty="0"/>
          </a:p>
          <a:p>
            <a:pPr marL="0" indent="0">
              <a:spcBef>
                <a:spcPts val="600"/>
              </a:spcBef>
              <a:spcAft>
                <a:spcPts val="600"/>
              </a:spcAft>
              <a:buNone/>
            </a:pPr>
            <a:r>
              <a:rPr lang="en-US" sz="2200" dirty="0"/>
              <a:t>Examples</a:t>
            </a:r>
          </a:p>
          <a:p>
            <a:pPr marL="457200" indent="-457200" algn="just">
              <a:spcBef>
                <a:spcPts val="600"/>
              </a:spcBef>
              <a:spcAft>
                <a:spcPts val="600"/>
              </a:spcAft>
              <a:buSzPct val="100000"/>
              <a:buFont typeface="+mj-lt"/>
              <a:buAutoNum type="arabicPeriod"/>
            </a:pPr>
            <a:r>
              <a:rPr lang="en-US" sz="2100" dirty="0" smtClean="0"/>
              <a:t>A chain of stores is considering two alternative bids for a software system. Both bids consist of placing the same type of computers in the chain’s headquarters and its branches. The bids differ solely in the storage volume :</a:t>
            </a:r>
            <a:r>
              <a:rPr lang="en-US" sz="2100" dirty="0" smtClean="0">
                <a:solidFill>
                  <a:srgbClr val="FF0000"/>
                </a:solidFill>
              </a:rPr>
              <a:t>2TB per branch computer, and 20 TB in the head office computer (</a:t>
            </a:r>
            <a:r>
              <a:rPr lang="en-US" sz="2100" dirty="0" err="1" smtClean="0">
                <a:solidFill>
                  <a:srgbClr val="FF0000"/>
                </a:solidFill>
              </a:rPr>
              <a:t>BidA</a:t>
            </a:r>
            <a:r>
              <a:rPr lang="en-US" sz="2100" dirty="0" smtClean="0">
                <a:solidFill>
                  <a:srgbClr val="FF0000"/>
                </a:solidFill>
              </a:rPr>
              <a:t>)</a:t>
            </a:r>
            <a:r>
              <a:rPr lang="en-US" sz="2100" dirty="0" smtClean="0"/>
              <a:t>, </a:t>
            </a:r>
            <a:r>
              <a:rPr lang="en-US" sz="2100" dirty="0" smtClean="0">
                <a:solidFill>
                  <a:srgbClr val="0000FF"/>
                </a:solidFill>
              </a:rPr>
              <a:t>1 TB per branch computer and 10 GB in the head office computer (</a:t>
            </a:r>
            <a:r>
              <a:rPr lang="en-US" sz="2100" dirty="0" err="1" smtClean="0">
                <a:solidFill>
                  <a:srgbClr val="0000FF"/>
                </a:solidFill>
              </a:rPr>
              <a:t>BidB</a:t>
            </a:r>
            <a:r>
              <a:rPr lang="en-US" sz="2100" dirty="0" smtClean="0">
                <a:solidFill>
                  <a:srgbClr val="0000FF"/>
                </a:solidFill>
              </a:rPr>
              <a:t>). </a:t>
            </a:r>
          </a:p>
          <a:p>
            <a:pPr marL="514350" lvl="1" indent="0" algn="just">
              <a:spcBef>
                <a:spcPts val="600"/>
              </a:spcBef>
              <a:spcAft>
                <a:spcPts val="600"/>
              </a:spcAft>
              <a:buSzPct val="100000"/>
              <a:buNone/>
            </a:pPr>
            <a:r>
              <a:rPr lang="en-US" sz="2100" dirty="0">
                <a:ea typeface="+mn-ea"/>
                <a:cs typeface="+mn-cs"/>
              </a:rPr>
              <a:t>There is also a difference in the number of communication lines required</a:t>
            </a:r>
            <a:r>
              <a:rPr lang="en-US" sz="2100" dirty="0">
                <a:solidFill>
                  <a:srgbClr val="FF0000"/>
                </a:solidFill>
                <a:ea typeface="+mn-ea"/>
                <a:cs typeface="+mn-cs"/>
              </a:rPr>
              <a:t>: </a:t>
            </a:r>
            <a:r>
              <a:rPr lang="en-US" sz="2100" dirty="0" err="1" smtClean="0">
                <a:solidFill>
                  <a:srgbClr val="FF0000"/>
                </a:solidFill>
                <a:ea typeface="+mn-ea"/>
                <a:cs typeface="+mn-cs"/>
              </a:rPr>
              <a:t>BidA</a:t>
            </a:r>
            <a:r>
              <a:rPr lang="en-US" sz="2100" dirty="0" smtClean="0">
                <a:solidFill>
                  <a:srgbClr val="FF0000"/>
                </a:solidFill>
                <a:ea typeface="+mn-ea"/>
                <a:cs typeface="+mn-cs"/>
              </a:rPr>
              <a:t> </a:t>
            </a:r>
            <a:r>
              <a:rPr lang="en-US" sz="2100" dirty="0">
                <a:solidFill>
                  <a:srgbClr val="FF0000"/>
                </a:solidFill>
                <a:ea typeface="+mn-ea"/>
                <a:cs typeface="+mn-cs"/>
              </a:rPr>
              <a:t>comprises three communication lines of 28.8 MBPS between each branch and the head office</a:t>
            </a:r>
            <a:r>
              <a:rPr lang="en-US" sz="2100" dirty="0">
                <a:ea typeface="+mn-ea"/>
                <a:cs typeface="+mn-cs"/>
              </a:rPr>
              <a:t>, where as </a:t>
            </a:r>
            <a:r>
              <a:rPr lang="en-US" sz="2100" dirty="0">
                <a:solidFill>
                  <a:srgbClr val="0000FF"/>
                </a:solidFill>
                <a:ea typeface="+mn-ea"/>
                <a:cs typeface="+mn-cs"/>
              </a:rPr>
              <a:t>Bid B is based on two communication lines of the same capacity between each branch and the head office. </a:t>
            </a:r>
          </a:p>
          <a:p>
            <a:pPr marL="514350" lvl="1" indent="0" algn="just">
              <a:spcBef>
                <a:spcPts val="600"/>
              </a:spcBef>
              <a:spcAft>
                <a:spcPts val="600"/>
              </a:spcAft>
              <a:buSzPct val="100000"/>
              <a:buNone/>
            </a:pPr>
            <a:r>
              <a:rPr lang="en-US" sz="2100" dirty="0" smtClean="0">
                <a:ea typeface="+mn-ea"/>
                <a:cs typeface="+mn-cs"/>
              </a:rPr>
              <a:t>In </a:t>
            </a:r>
            <a:r>
              <a:rPr lang="en-US" sz="2100" dirty="0">
                <a:ea typeface="+mn-ea"/>
                <a:cs typeface="+mn-cs"/>
              </a:rPr>
              <a:t>this case, it is evident that Bid B is more efficient than Bid A because fewer hardware resources are required..</a:t>
            </a:r>
          </a:p>
        </p:txBody>
      </p:sp>
    </p:spTree>
    <p:extLst>
      <p:ext uri="{BB962C8B-B14F-4D97-AF65-F5344CB8AC3E}">
        <p14:creationId xmlns:p14="http://schemas.microsoft.com/office/powerpoint/2010/main" val="1843813622"/>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buNone/>
            </a:pPr>
            <a:r>
              <a:rPr lang="en-US" sz="2000" b="1" i="1" dirty="0" smtClean="0"/>
              <a:t>…</a:t>
            </a:r>
            <a:r>
              <a:rPr lang="en-US" sz="2200" b="1" i="1" dirty="0" smtClean="0"/>
              <a:t>Ef</a:t>
            </a:r>
            <a:r>
              <a:rPr lang="en-US" sz="2200" b="1" dirty="0" smtClean="0"/>
              <a:t>fi</a:t>
            </a:r>
            <a:r>
              <a:rPr lang="en-US" sz="2200" b="1" i="1" dirty="0" smtClean="0"/>
              <a:t>ciency</a:t>
            </a:r>
            <a:endParaRPr lang="en-US" sz="2200" dirty="0"/>
          </a:p>
          <a:p>
            <a:pPr marL="0" indent="0">
              <a:buNone/>
            </a:pPr>
            <a:r>
              <a:rPr lang="en-US" sz="2200" dirty="0"/>
              <a:t>Examples</a:t>
            </a:r>
          </a:p>
          <a:p>
            <a:pPr marL="457200" indent="-457200" algn="just">
              <a:lnSpc>
                <a:spcPct val="150000"/>
              </a:lnSpc>
              <a:spcBef>
                <a:spcPts val="1200"/>
              </a:spcBef>
              <a:spcAft>
                <a:spcPts val="1200"/>
              </a:spcAft>
              <a:buSzPct val="100000"/>
              <a:buFont typeface="+mj-lt"/>
              <a:buAutoNum type="arabicPeriod" startAt="2"/>
            </a:pPr>
            <a:r>
              <a:rPr lang="en-US" sz="2200" dirty="0" smtClean="0"/>
              <a:t>An out door meteorological unit. The system performs measurements once per hour, logs the results, and transmits the results once a day to the meteorological center by means of wire less communication. </a:t>
            </a:r>
            <a:r>
              <a:rPr lang="en-US" sz="2200" dirty="0" smtClean="0">
                <a:solidFill>
                  <a:srgbClr val="FF0000"/>
                </a:solidFill>
              </a:rPr>
              <a:t>The unit is equipped with a 1,000 </a:t>
            </a:r>
            <a:r>
              <a:rPr lang="en-US" sz="2200" dirty="0" err="1" smtClean="0">
                <a:solidFill>
                  <a:srgbClr val="FF0000"/>
                </a:solidFill>
              </a:rPr>
              <a:t>milli</a:t>
            </a:r>
            <a:r>
              <a:rPr lang="en-US" sz="2200" dirty="0" smtClean="0">
                <a:solidFill>
                  <a:srgbClr val="FF0000"/>
                </a:solidFill>
              </a:rPr>
              <a:t>-ampere hour cell, which is capable of supplying the power requirements of the unit for at least 30 days</a:t>
            </a:r>
            <a:r>
              <a:rPr lang="en-US" sz="2200" dirty="0" smtClean="0"/>
              <a:t>. </a:t>
            </a:r>
            <a:r>
              <a:rPr lang="en-US" sz="2200" dirty="0" smtClean="0">
                <a:solidFill>
                  <a:srgbClr val="0000FF"/>
                </a:solidFill>
              </a:rPr>
              <a:t>An alternative meteorological unit of higher efficiency is able to cope with all the requirements with a 500 </a:t>
            </a:r>
            <a:r>
              <a:rPr lang="en-US" sz="2200" dirty="0" err="1" smtClean="0">
                <a:solidFill>
                  <a:srgbClr val="0000FF"/>
                </a:solidFill>
              </a:rPr>
              <a:t>milliampere</a:t>
            </a:r>
            <a:r>
              <a:rPr lang="en-US" sz="2200" dirty="0" smtClean="0">
                <a:solidFill>
                  <a:srgbClr val="0000FF"/>
                </a:solidFill>
              </a:rPr>
              <a:t> unit</a:t>
            </a:r>
            <a:r>
              <a:rPr lang="en-US" sz="2200" dirty="0">
                <a:solidFill>
                  <a:srgbClr val="0000FF"/>
                </a:solidFill>
              </a:rPr>
              <a:t>.</a:t>
            </a:r>
          </a:p>
        </p:txBody>
      </p:sp>
    </p:spTree>
    <p:extLst>
      <p:ext uri="{BB962C8B-B14F-4D97-AF65-F5344CB8AC3E}">
        <p14:creationId xmlns:p14="http://schemas.microsoft.com/office/powerpoint/2010/main" val="2981726677"/>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spcBef>
                <a:spcPts val="600"/>
              </a:spcBef>
              <a:spcAft>
                <a:spcPts val="600"/>
              </a:spcAft>
              <a:buNone/>
            </a:pPr>
            <a:r>
              <a:rPr lang="en-US" sz="2200" b="1" i="1" dirty="0"/>
              <a:t>Integrity</a:t>
            </a:r>
            <a:endParaRPr lang="en-US" sz="2200" dirty="0"/>
          </a:p>
          <a:p>
            <a:pPr algn="just">
              <a:spcBef>
                <a:spcPts val="600"/>
              </a:spcBef>
              <a:spcAft>
                <a:spcPts val="600"/>
              </a:spcAft>
            </a:pPr>
            <a:r>
              <a:rPr lang="en-US" sz="2000" dirty="0" smtClean="0"/>
              <a:t>Integrity requirements deal with the software system security, that is, requirements to prevent unauthorized access, to distinguish between the majority of personnel only allowed to see the information (read only permit), and a limited group who will be allowed to add and change data (write permit), and so forth. Integrity requirements are defined to cope with risks of “non friendly” unauthorized attempts to damage the software system and its performance</a:t>
            </a:r>
            <a:r>
              <a:rPr lang="en-US" sz="2000" dirty="0"/>
              <a:t>.</a:t>
            </a:r>
          </a:p>
          <a:p>
            <a:pPr algn="just">
              <a:spcBef>
                <a:spcPts val="600"/>
              </a:spcBef>
              <a:spcAft>
                <a:spcPts val="600"/>
              </a:spcAft>
            </a:pPr>
            <a:r>
              <a:rPr lang="en-US" sz="2000" dirty="0"/>
              <a:t>Example</a:t>
            </a:r>
          </a:p>
          <a:p>
            <a:pPr marL="0" indent="0" algn="just">
              <a:spcBef>
                <a:spcPts val="600"/>
              </a:spcBef>
              <a:spcAft>
                <a:spcPts val="600"/>
              </a:spcAft>
              <a:buNone/>
            </a:pPr>
            <a:r>
              <a:rPr lang="en-US" sz="2000" dirty="0" smtClean="0"/>
              <a:t>The Engineering Department of a local municipality operates a geographic information system (GIS). The department is planning to allow citizens access to its GIS files through the Internet. The software requirements include: the possibility to view and copy information, but not to make changes to maps of the citizens’ own assets, and neither to those of any other asset in the municipality area (“read only” permit). Access will be denied to plans in progress, and to those maps defined by the department head as having “limited access</a:t>
            </a:r>
            <a:r>
              <a:rPr lang="en-US" sz="2200" dirty="0"/>
              <a:t>.”</a:t>
            </a:r>
          </a:p>
        </p:txBody>
      </p:sp>
    </p:spTree>
    <p:extLst>
      <p:ext uri="{BB962C8B-B14F-4D97-AF65-F5344CB8AC3E}">
        <p14:creationId xmlns:p14="http://schemas.microsoft.com/office/powerpoint/2010/main" val="3814996731"/>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spcBef>
                <a:spcPts val="600"/>
              </a:spcBef>
              <a:spcAft>
                <a:spcPts val="600"/>
              </a:spcAft>
              <a:buNone/>
            </a:pPr>
            <a:r>
              <a:rPr lang="en-US" sz="2400" b="1" i="1" dirty="0"/>
              <a:t>Usability</a:t>
            </a:r>
            <a:endParaRPr lang="en-US" sz="2400" dirty="0"/>
          </a:p>
          <a:p>
            <a:pPr algn="just">
              <a:spcBef>
                <a:spcPts val="600"/>
              </a:spcBef>
              <a:spcAft>
                <a:spcPts val="600"/>
              </a:spcAft>
            </a:pPr>
            <a:r>
              <a:rPr lang="en-US" sz="2200" dirty="0" smtClean="0"/>
              <a:t>Usability requirements deal with the scope of staff resources needed to train a new employee and to operate the software system. The usability requirements relate to the </a:t>
            </a:r>
            <a:r>
              <a:rPr lang="en-US" sz="2200" dirty="0" smtClean="0">
                <a:solidFill>
                  <a:srgbClr val="0000FF"/>
                </a:solidFill>
              </a:rPr>
              <a:t>(a) operation usability, the productivity of the user, that is, the average number of transactions performed per hour, and (b) training usability, the average time spent training a new employee.</a:t>
            </a:r>
          </a:p>
          <a:p>
            <a:pPr algn="just">
              <a:spcBef>
                <a:spcPts val="600"/>
              </a:spcBef>
              <a:spcAft>
                <a:spcPts val="600"/>
              </a:spcAft>
            </a:pPr>
            <a:r>
              <a:rPr lang="en-US" sz="2200" dirty="0"/>
              <a:t>Example</a:t>
            </a:r>
          </a:p>
          <a:p>
            <a:pPr lvl="1" algn="just">
              <a:spcBef>
                <a:spcPts val="600"/>
              </a:spcBef>
              <a:spcAft>
                <a:spcPts val="600"/>
              </a:spcAft>
            </a:pPr>
            <a:r>
              <a:rPr lang="en-US" sz="1600" dirty="0"/>
              <a:t>The software usability requirements for the new helpdesk system initiated by a home appliance manufacturing company lists the following specification requirements: </a:t>
            </a:r>
          </a:p>
          <a:p>
            <a:pPr marL="0" indent="0" algn="just">
              <a:spcBef>
                <a:spcPts val="600"/>
              </a:spcBef>
              <a:spcAft>
                <a:spcPts val="600"/>
              </a:spcAft>
              <a:buNone/>
            </a:pPr>
            <a:r>
              <a:rPr lang="en-US" sz="1800" dirty="0" smtClean="0"/>
              <a:t>	(</a:t>
            </a:r>
            <a:r>
              <a:rPr lang="en-US" sz="1800" dirty="0"/>
              <a:t>1) A staff member should be able to handle at least 60 service calls a </a:t>
            </a:r>
            <a:r>
              <a:rPr lang="en-US" sz="1800" dirty="0" smtClean="0"/>
              <a:t>		day</a:t>
            </a:r>
            <a:r>
              <a:rPr lang="en-US" sz="1800" dirty="0"/>
              <a:t>.</a:t>
            </a:r>
          </a:p>
          <a:p>
            <a:pPr marL="0" indent="0" algn="just">
              <a:spcBef>
                <a:spcPts val="600"/>
              </a:spcBef>
              <a:spcAft>
                <a:spcPts val="600"/>
              </a:spcAft>
              <a:buNone/>
            </a:pPr>
            <a:r>
              <a:rPr lang="en-US" sz="1800" dirty="0" smtClean="0"/>
              <a:t>	(</a:t>
            </a:r>
            <a:r>
              <a:rPr lang="en-US" sz="1800" dirty="0"/>
              <a:t>2)Training a new employee will take no more than 2 days (16 training </a:t>
            </a:r>
            <a:r>
              <a:rPr lang="en-US" sz="1800" dirty="0" smtClean="0"/>
              <a:t>	hours</a:t>
            </a:r>
            <a:r>
              <a:rPr lang="en-US" sz="1800" dirty="0"/>
              <a:t>), at the end of which the trainee will be able to handle 45 service </a:t>
            </a:r>
            <a:r>
              <a:rPr lang="en-US" sz="1800" dirty="0" smtClean="0"/>
              <a:t>	calls </a:t>
            </a:r>
            <a:r>
              <a:rPr lang="en-US" sz="1800" dirty="0"/>
              <a:t>a day.</a:t>
            </a:r>
          </a:p>
        </p:txBody>
      </p:sp>
    </p:spTree>
    <p:extLst>
      <p:ext uri="{BB962C8B-B14F-4D97-AF65-F5344CB8AC3E}">
        <p14:creationId xmlns:p14="http://schemas.microsoft.com/office/powerpoint/2010/main" val="836595545"/>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400" b="1" i="1" dirty="0"/>
              <a:t>Maintainability</a:t>
            </a:r>
            <a:endParaRPr lang="en-US" sz="2400" dirty="0"/>
          </a:p>
          <a:p>
            <a:pPr algn="just"/>
            <a:r>
              <a:rPr lang="en-US" sz="2400" dirty="0" smtClean="0"/>
              <a:t>Maintainability requirements determine the efforts needed by users and maintenance personnel to identify the reasons of a software failure, to correct the failure, and to verify the success of the correction. This factor’s requirements refer to the modular structure of software, the internal program documentation, and the programmer’s manual, among other items</a:t>
            </a:r>
            <a:r>
              <a:rPr lang="en-US" sz="2400" dirty="0"/>
              <a:t>.</a:t>
            </a:r>
          </a:p>
          <a:p>
            <a:pPr algn="just"/>
            <a:r>
              <a:rPr lang="en-US" sz="2400" dirty="0" smtClean="0"/>
              <a:t>Example</a:t>
            </a:r>
          </a:p>
          <a:p>
            <a:pPr lvl="1" algn="just"/>
            <a:r>
              <a:rPr lang="en-US" sz="2200" dirty="0" smtClean="0"/>
              <a:t>Typical maintainability requirements:</a:t>
            </a:r>
          </a:p>
          <a:p>
            <a:pPr marL="0" indent="0" algn="just">
              <a:buNone/>
            </a:pPr>
            <a:r>
              <a:rPr lang="en-US" sz="2400" dirty="0" smtClean="0"/>
              <a:t>	(a)The size of a software module will not exceed 30 	statements.</a:t>
            </a:r>
          </a:p>
          <a:p>
            <a:pPr marL="0" indent="0" algn="just">
              <a:buNone/>
            </a:pPr>
            <a:r>
              <a:rPr lang="en-US" sz="2400" dirty="0" smtClean="0"/>
              <a:t> 	(b)The programming will adhere to the company coding 	standards and guidelines</a:t>
            </a:r>
            <a:r>
              <a:rPr lang="en-US" sz="2400" dirty="0"/>
              <a:t>.</a:t>
            </a:r>
            <a:endParaRPr lang="en-US" sz="1800" dirty="0"/>
          </a:p>
        </p:txBody>
      </p:sp>
    </p:spTree>
    <p:extLst>
      <p:ext uri="{BB962C8B-B14F-4D97-AF65-F5344CB8AC3E}">
        <p14:creationId xmlns:p14="http://schemas.microsoft.com/office/powerpoint/2010/main" val="269836911"/>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buNone/>
            </a:pPr>
            <a:r>
              <a:rPr lang="en-US" sz="2400" b="1" i="1" dirty="0"/>
              <a:t>Flexibility</a:t>
            </a:r>
            <a:endParaRPr lang="en-US" sz="2400" dirty="0"/>
          </a:p>
          <a:p>
            <a:pPr algn="just"/>
            <a:r>
              <a:rPr lang="en-US" sz="2400" dirty="0" smtClean="0"/>
              <a:t>The flexibility factor deals with the capabilities and efforts required to support adaptive maintenance activities. These capabilities include the resources (i.e., in man-days) required to adapt a software package to a variety of customers, with a variating extent of activities, and a different range of products, but of the same trade. No software changes are needed in these cases as the package is planned for flexibility. This factor’s requirements also support perfective maintenance activities, such as changes and additions to the software in order to improve its service, and to adapt it to changes in the firm’s technical or commercial environment.</a:t>
            </a:r>
            <a:endParaRPr lang="en-US" sz="1800" dirty="0"/>
          </a:p>
        </p:txBody>
      </p:sp>
    </p:spTree>
    <p:extLst>
      <p:ext uri="{BB962C8B-B14F-4D97-AF65-F5344CB8AC3E}">
        <p14:creationId xmlns:p14="http://schemas.microsoft.com/office/powerpoint/2010/main" val="1078063559"/>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400" b="1" i="1" dirty="0" smtClean="0"/>
              <a:t>…Flexibility</a:t>
            </a:r>
            <a:endParaRPr lang="en-US" sz="2400" dirty="0"/>
          </a:p>
          <a:p>
            <a:pPr algn="just"/>
            <a:r>
              <a:rPr lang="en-US" sz="2400" dirty="0" smtClean="0"/>
              <a:t>Example</a:t>
            </a:r>
            <a:endParaRPr lang="en-US" sz="2400" dirty="0"/>
          </a:p>
          <a:p>
            <a:pPr marL="0" indent="0" algn="just">
              <a:buNone/>
            </a:pPr>
            <a:r>
              <a:rPr lang="en-US" sz="2400" dirty="0" smtClean="0"/>
              <a:t>Teacher Support Software (TSS) is a software product that deals with the documentation of student achievements, calculation of final grades, printing of term grade statements, and automatic printing of warning letters to parents of failing pupils. The software specifications included the following flexibility requirements: </a:t>
            </a:r>
          </a:p>
          <a:p>
            <a:pPr lvl="1" algn="just"/>
            <a:r>
              <a:rPr lang="en-US" sz="2200" dirty="0" smtClean="0"/>
              <a:t>The software should be suitable for teachers of all subjects and school levels (elementary, middle</a:t>
            </a:r>
            <a:r>
              <a:rPr lang="en-US" sz="2200" b="1" i="1" dirty="0" smtClean="0"/>
              <a:t>, </a:t>
            </a:r>
            <a:r>
              <a:rPr lang="en-US" sz="2200" dirty="0" smtClean="0"/>
              <a:t>and high school).</a:t>
            </a:r>
          </a:p>
          <a:p>
            <a:pPr lvl="1" algn="just"/>
            <a:r>
              <a:rPr lang="en-US" sz="2200" dirty="0" smtClean="0"/>
              <a:t>Another flexibility requirement: non professionals should be able to use TSS to create new types of reports according to the school master’s requirements and /or demands of the city’s department of education</a:t>
            </a:r>
            <a:r>
              <a:rPr lang="en-US" sz="2200" dirty="0"/>
              <a:t>.</a:t>
            </a:r>
            <a:endParaRPr lang="en-US" sz="1600" dirty="0"/>
          </a:p>
        </p:txBody>
      </p:sp>
    </p:spTree>
    <p:extLst>
      <p:ext uri="{BB962C8B-B14F-4D97-AF65-F5344CB8AC3E}">
        <p14:creationId xmlns:p14="http://schemas.microsoft.com/office/powerpoint/2010/main" val="870947477"/>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400" b="1" i="1" dirty="0"/>
              <a:t>Testability</a:t>
            </a:r>
            <a:endParaRPr lang="en-US" sz="2400" dirty="0"/>
          </a:p>
          <a:p>
            <a:pPr algn="just"/>
            <a:r>
              <a:rPr lang="en-US" sz="2400" dirty="0" smtClean="0"/>
              <a:t>Testability requirements deal with the testing process of a software system, as well as with its operation. Testability requirements for the ease of testing are related to special features in the programs that help the tester, for instance by providing predefined intermediate results and log files. Testability requirements related to software operation include automatic diagnostics performed by the software system prior to operating the system, to find out whether all components of the software system are in working order and to obtain a report on the detected faults. Another type of these requirements deals with automatic diagnostic checks to be applied by the maintenance technicians to detect the causes of software failures.</a:t>
            </a:r>
            <a:endParaRPr lang="en-US" sz="2400" dirty="0"/>
          </a:p>
        </p:txBody>
      </p:sp>
    </p:spTree>
    <p:extLst>
      <p:ext uri="{BB962C8B-B14F-4D97-AF65-F5344CB8AC3E}">
        <p14:creationId xmlns:p14="http://schemas.microsoft.com/office/powerpoint/2010/main" val="1296660620"/>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400" b="1" i="1" dirty="0" smtClean="0"/>
              <a:t>...Testability</a:t>
            </a:r>
            <a:endParaRPr lang="en-US" sz="2400" dirty="0"/>
          </a:p>
          <a:p>
            <a:pPr algn="just"/>
            <a:r>
              <a:rPr lang="en-US" sz="2400" dirty="0" smtClean="0"/>
              <a:t>Example</a:t>
            </a:r>
            <a:endParaRPr lang="en-US" sz="2400" dirty="0"/>
          </a:p>
          <a:p>
            <a:pPr marL="0" indent="0" algn="just">
              <a:buNone/>
            </a:pPr>
            <a:r>
              <a:rPr lang="en-US" sz="2400" dirty="0" smtClean="0"/>
              <a:t>An industrial computerized control unit is programmed to calculate various measures of the production status, report the performance level of the machinery, and operate a warning signal in predefined situations. </a:t>
            </a:r>
          </a:p>
          <a:p>
            <a:pPr marL="0" indent="0" algn="just">
              <a:buNone/>
            </a:pPr>
            <a:r>
              <a:rPr lang="en-US" sz="2400" dirty="0" smtClean="0"/>
              <a:t>One testability requirement demanded was to develop a set of standard test data, including the expected correct reactions of the system in each case. This standard test data is to be run every morning before production begins, to verify that the computerized unit responds properly</a:t>
            </a:r>
            <a:r>
              <a:rPr lang="en-US" sz="2400" dirty="0"/>
              <a:t>.</a:t>
            </a:r>
            <a:endParaRPr lang="en-US" sz="1600" dirty="0"/>
          </a:p>
        </p:txBody>
      </p:sp>
    </p:spTree>
    <p:extLst>
      <p:ext uri="{BB962C8B-B14F-4D97-AF65-F5344CB8AC3E}">
        <p14:creationId xmlns:p14="http://schemas.microsoft.com/office/powerpoint/2010/main" val="2881390874"/>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400" b="1" i="1" dirty="0"/>
              <a:t>Portability</a:t>
            </a:r>
            <a:endParaRPr lang="en-US" sz="2400" dirty="0"/>
          </a:p>
          <a:p>
            <a:pPr algn="just"/>
            <a:r>
              <a:rPr lang="en-US" sz="2400" dirty="0" smtClean="0"/>
              <a:t>Portability requirements relate to the adaptation of a software system to other environments consisting of different hardware, different operating systems, and so forth. These requirements make it possible to widen the market for the software product and enable using the same basic software in diverse situations: in different hard ware and operating systems</a:t>
            </a:r>
            <a:r>
              <a:rPr lang="en-US" sz="2400" dirty="0"/>
              <a:t>.</a:t>
            </a:r>
          </a:p>
          <a:p>
            <a:pPr algn="just"/>
            <a:r>
              <a:rPr lang="en-US" sz="2400" dirty="0"/>
              <a:t>Example</a:t>
            </a:r>
          </a:p>
          <a:p>
            <a:pPr marL="0" indent="0" algn="just">
              <a:buNone/>
            </a:pPr>
            <a:r>
              <a:rPr lang="en-US" sz="2400" dirty="0" smtClean="0"/>
              <a:t>A software package designed and programmed to operate in a Windows 2007 environment is required to allow a low cost transfer to Linux environments</a:t>
            </a:r>
            <a:r>
              <a:rPr lang="en-US" sz="2400" dirty="0"/>
              <a:t>.</a:t>
            </a:r>
            <a:endParaRPr lang="en-US" sz="1600" dirty="0"/>
          </a:p>
        </p:txBody>
      </p:sp>
    </p:spTree>
    <p:extLst>
      <p:ext uri="{BB962C8B-B14F-4D97-AF65-F5344CB8AC3E}">
        <p14:creationId xmlns:p14="http://schemas.microsoft.com/office/powerpoint/2010/main" val="1289754431"/>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736012" cy="5857876"/>
          </a:xfrm>
        </p:spPr>
        <p:txBody>
          <a:bodyPr/>
          <a:lstStyle/>
          <a:p>
            <a:pPr marL="0" indent="0" algn="just">
              <a:buNone/>
            </a:pPr>
            <a:r>
              <a:rPr lang="en-US" sz="2400" b="1" i="1" dirty="0"/>
              <a:t>Reusability</a:t>
            </a:r>
          </a:p>
          <a:p>
            <a:pPr algn="just"/>
            <a:r>
              <a:rPr lang="en-US" sz="2100" dirty="0" smtClean="0"/>
              <a:t>Reusability requirements deal with “two-directional” requirements.</a:t>
            </a:r>
          </a:p>
          <a:p>
            <a:pPr algn="just"/>
            <a:r>
              <a:rPr lang="en-US" sz="2100" dirty="0" smtClean="0"/>
              <a:t>One direction is the use of a software module, or an entire application, taken from an existing software product in a new software project currently being developed.</a:t>
            </a:r>
            <a:r>
              <a:rPr lang="en-US" sz="2100" dirty="0"/>
              <a:t> </a:t>
            </a:r>
            <a:r>
              <a:rPr lang="en-US" sz="2100" dirty="0" smtClean="0"/>
              <a:t>The existing software module or entire application may be software former developed by the organization, or open source software, or purchased software.</a:t>
            </a:r>
          </a:p>
          <a:p>
            <a:pPr algn="just"/>
            <a:r>
              <a:rPr lang="en-US" sz="2100" dirty="0" smtClean="0"/>
              <a:t>The other direction relates to a requirement to develop modules or a group of modules, or even an entire project, in away to enable their reuse in future projects. Reused software is expected to be tested by its developers, and already corrected according to failures experienced by former users. In other words, it is assumed that most of the software faults have already been detected by quality assurance activities performed by the original software developers, and any failures identified by users of the software, corrected accordingly. Thus, the reuse of software is expected to save development resources, shorten the development schedule, and provide higher quality software modules</a:t>
            </a:r>
            <a:r>
              <a:rPr lang="en-US" sz="2100" dirty="0"/>
              <a:t>.</a:t>
            </a:r>
            <a:endParaRPr lang="en-US" sz="2100" dirty="0" smtClean="0"/>
          </a:p>
          <a:p>
            <a:pPr algn="just"/>
            <a:endParaRPr lang="en-US" sz="2100" dirty="0"/>
          </a:p>
        </p:txBody>
      </p:sp>
    </p:spTree>
    <p:extLst>
      <p:ext uri="{BB962C8B-B14F-4D97-AF65-F5344CB8AC3E}">
        <p14:creationId xmlns:p14="http://schemas.microsoft.com/office/powerpoint/2010/main" val="3004559091"/>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lgn="just">
              <a:buNone/>
            </a:pPr>
            <a:r>
              <a:rPr lang="en-US" sz="2000" b="1" i="1" dirty="0" smtClean="0"/>
              <a:t>…Reusability</a:t>
            </a:r>
            <a:endParaRPr lang="en-US" sz="2000" dirty="0"/>
          </a:p>
          <a:p>
            <a:pPr algn="just"/>
            <a:r>
              <a:rPr lang="en-US" sz="2200" dirty="0"/>
              <a:t>Example</a:t>
            </a:r>
          </a:p>
          <a:p>
            <a:pPr marL="0" indent="0" algn="just">
              <a:buNone/>
            </a:pPr>
            <a:r>
              <a:rPr lang="en-US" sz="2200" dirty="0" smtClean="0"/>
              <a:t>A software development unit has been required to develop a software system for the operation and control of a hotel swimming pool serving hotel guests and members of a pool club. Although the management did not define reusability requirements, the unit’s team leader, after analyzing the information processing requirements of the hotel’s spa, decided to add the following reusability requirement: A list of the software modules for the pool project should be designed and programmed in a way that will allow its reuse in the spa’s future software system planned to be developed next year. These modules include</a:t>
            </a:r>
            <a:r>
              <a:rPr lang="en-US" sz="2200" dirty="0"/>
              <a:t>:</a:t>
            </a:r>
          </a:p>
          <a:p>
            <a:pPr algn="just"/>
            <a:r>
              <a:rPr lang="en-US" sz="2200" dirty="0" smtClean="0"/>
              <a:t>The entrance checks of membership cards module</a:t>
            </a:r>
            <a:endParaRPr lang="en-US" sz="2200" dirty="0"/>
          </a:p>
          <a:p>
            <a:pPr algn="just"/>
            <a:r>
              <a:rPr lang="en-US" sz="2200" dirty="0" smtClean="0"/>
              <a:t>The club members visit recording module</a:t>
            </a:r>
            <a:endParaRPr lang="en-US" sz="2200" dirty="0"/>
          </a:p>
          <a:p>
            <a:pPr algn="just"/>
            <a:r>
              <a:rPr lang="en-US" sz="2200" dirty="0" smtClean="0"/>
              <a:t>The pool’s restaurant billing module</a:t>
            </a:r>
            <a:endParaRPr lang="en-US" sz="2200" dirty="0"/>
          </a:p>
          <a:p>
            <a:pPr algn="just"/>
            <a:r>
              <a:rPr lang="en-US" sz="2200" dirty="0" smtClean="0"/>
              <a:t>The processing of membership renewal payments</a:t>
            </a:r>
            <a:endParaRPr lang="en-US" sz="2200" dirty="0"/>
          </a:p>
        </p:txBody>
      </p:sp>
    </p:spTree>
    <p:extLst>
      <p:ext uri="{BB962C8B-B14F-4D97-AF65-F5344CB8AC3E}">
        <p14:creationId xmlns:p14="http://schemas.microsoft.com/office/powerpoint/2010/main" val="1034480852"/>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E53384-84E4-4B2D-B4E4-46CB0F20AC89}"/>
              </a:ext>
            </a:extLst>
          </p:cNvPr>
          <p:cNvSpPr>
            <a:spLocks noGrp="1"/>
          </p:cNvSpPr>
          <p:nvPr>
            <p:ph type="title"/>
          </p:nvPr>
        </p:nvSpPr>
        <p:spPr/>
        <p:txBody>
          <a:bodyPr/>
          <a:lstStyle/>
          <a:p>
            <a:r>
              <a:rPr lang="en-US" dirty="0"/>
              <a:t>McCall’s Quality Model (1977)</a:t>
            </a:r>
          </a:p>
        </p:txBody>
      </p:sp>
      <p:sp>
        <p:nvSpPr>
          <p:cNvPr id="3" name="Content Placeholder 2">
            <a:extLst>
              <a:ext uri="{FF2B5EF4-FFF2-40B4-BE49-F238E27FC236}">
                <a16:creationId xmlns="" xmlns:a16="http://schemas.microsoft.com/office/drawing/2014/main" id="{9B08100F-D56F-40CA-AD38-80A1152460CB}"/>
              </a:ext>
            </a:extLst>
          </p:cNvPr>
          <p:cNvSpPr>
            <a:spLocks noGrp="1"/>
          </p:cNvSpPr>
          <p:nvPr>
            <p:ph idx="1"/>
          </p:nvPr>
        </p:nvSpPr>
        <p:spPr>
          <a:xfrm>
            <a:off x="179388" y="771524"/>
            <a:ext cx="8583612" cy="5857876"/>
          </a:xfrm>
        </p:spPr>
        <p:txBody>
          <a:bodyPr/>
          <a:lstStyle/>
          <a:p>
            <a:pPr marL="0" indent="0">
              <a:buNone/>
            </a:pPr>
            <a:r>
              <a:rPr lang="en-US" sz="2400" b="1" i="1" dirty="0"/>
              <a:t>Interoperability</a:t>
            </a:r>
          </a:p>
          <a:p>
            <a:r>
              <a:rPr lang="en-US" sz="2000" dirty="0" smtClean="0"/>
              <a:t>Interoperability requirements focus on creating interfaces with other software systems or equipment firmware (for example, the firmware of the production machinery and testing equipment interfaces with the production control software). Interoperability requirements sometimes specify the name(s) of the software or firmware to which an interface is required. They may also specify the accepted standard output structure in a specific industry or application area</a:t>
            </a:r>
            <a:r>
              <a:rPr lang="en-US" sz="2000" dirty="0"/>
              <a:t>.</a:t>
            </a:r>
          </a:p>
          <a:p>
            <a:r>
              <a:rPr lang="en-US" sz="2000" dirty="0"/>
              <a:t>Example</a:t>
            </a:r>
          </a:p>
          <a:p>
            <a:pPr marL="0" indent="0">
              <a:buNone/>
            </a:pPr>
            <a:r>
              <a:rPr lang="en-US" sz="2000" dirty="0" smtClean="0"/>
              <a:t>The firmware of a medical laboratory’s equipment is required to process its results (output) according to a standard data structure that can then serve as the input for a number of standard medical laboratory information systems. Another interoperability requirement at the same lab: the laboratory information system is required to interface with a medical clinic information system, in order to transmit patients’ test results automatically to the physician’s clinic</a:t>
            </a:r>
            <a:r>
              <a:rPr lang="en-US" sz="2000" dirty="0"/>
              <a:t>.</a:t>
            </a:r>
            <a:endParaRPr lang="en-US" sz="2200" dirty="0"/>
          </a:p>
        </p:txBody>
      </p:sp>
    </p:spTree>
    <p:extLst>
      <p:ext uri="{BB962C8B-B14F-4D97-AF65-F5344CB8AC3E}">
        <p14:creationId xmlns:p14="http://schemas.microsoft.com/office/powerpoint/2010/main" val="987035408"/>
      </p:ext>
    </p:extLst>
  </p:cSld>
  <p:clrMapOvr>
    <a:masterClrMapping/>
  </p:clrMapOvr>
  <p:transition spd="slow">
    <p:blinds dir="vert"/>
  </p:transition>
  <p:timing>
    <p:tnLst>
      <p:par>
        <p:cTn id="1" dur="indefinite" restart="never" nodeType="tmRoot"/>
      </p:par>
    </p:tnLst>
  </p:timing>
</p:sld>
</file>

<file path=ppt/theme/theme1.xml><?xml version="1.0" encoding="utf-8"?>
<a:theme xmlns:a="http://schemas.openxmlformats.org/drawingml/2006/main" name="csu-dj">
  <a:themeElements>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su-dj">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10000"/>
          </a:lnSpc>
          <a:spcBef>
            <a:spcPct val="20000"/>
          </a:spcBef>
          <a:spcAft>
            <a:spcPct val="0"/>
          </a:spcAft>
          <a:buClr>
            <a:srgbClr val="FF0000"/>
          </a:buClr>
          <a:buSzPct val="60000"/>
          <a:buFont typeface="Marlett" pitchFamily="2" charset="2"/>
          <a:buChar char="n"/>
          <a:tabLst/>
          <a:defRPr kumimoji="1" 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10000"/>
          </a:lnSpc>
          <a:spcBef>
            <a:spcPct val="20000"/>
          </a:spcBef>
          <a:spcAft>
            <a:spcPct val="0"/>
          </a:spcAft>
          <a:buClr>
            <a:srgbClr val="FF0000"/>
          </a:buClr>
          <a:buSzPct val="60000"/>
          <a:buFont typeface="Marlett" pitchFamily="2" charset="2"/>
          <a:buChar char="n"/>
          <a:tabLst/>
          <a:defRPr kumimoji="1" 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su-dj 1">
        <a:dk1>
          <a:srgbClr val="000000"/>
        </a:dk1>
        <a:lt1>
          <a:srgbClr val="FFFFFF"/>
        </a:lt1>
        <a:dk2>
          <a:srgbClr val="000000"/>
        </a:dk2>
        <a:lt2>
          <a:srgbClr val="393939"/>
        </a:lt2>
        <a:accent1>
          <a:srgbClr val="FF0000"/>
        </a:accent1>
        <a:accent2>
          <a:srgbClr val="00FF00"/>
        </a:accent2>
        <a:accent3>
          <a:srgbClr val="FFFFFF"/>
        </a:accent3>
        <a:accent4>
          <a:srgbClr val="000000"/>
        </a:accent4>
        <a:accent5>
          <a:srgbClr val="FFAAAA"/>
        </a:accent5>
        <a:accent6>
          <a:srgbClr val="00E700"/>
        </a:accent6>
        <a:hlink>
          <a:srgbClr val="0000FF"/>
        </a:hlink>
        <a:folHlink>
          <a:srgbClr val="FFFF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5576C4349FC24198F3B485892BCF1B" ma:contentTypeVersion="3" ma:contentTypeDescription="Create a new document." ma:contentTypeScope="" ma:versionID="76d707f36c7931d75ca78df0463f3c32">
  <xsd:schema xmlns:xsd="http://www.w3.org/2001/XMLSchema" xmlns:xs="http://www.w3.org/2001/XMLSchema" xmlns:p="http://schemas.microsoft.com/office/2006/metadata/properties" xmlns:ns2="f7a257be-ecaa-47a9-b593-7ec7322fade8" targetNamespace="http://schemas.microsoft.com/office/2006/metadata/properties" ma:root="true" ma:fieldsID="a3348da419da9f914e6c53b0b29fb35b" ns2:_="">
    <xsd:import namespace="f7a257be-ecaa-47a9-b593-7ec7322fade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a257be-ecaa-47a9-b593-7ec7322fa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C95D73-B01B-4204-9357-56CBA9E07505}"/>
</file>

<file path=customXml/itemProps2.xml><?xml version="1.0" encoding="utf-8"?>
<ds:datastoreItem xmlns:ds="http://schemas.openxmlformats.org/officeDocument/2006/customXml" ds:itemID="{3B27AB24-6056-404B-B8A7-6D6C4DC0A30B}">
  <ds:schemaRefs>
    <ds:schemaRef ds:uri="http://schemas.microsoft.com/sharepoint/v3/contenttype/forms"/>
  </ds:schemaRefs>
</ds:datastoreItem>
</file>

<file path=customXml/itemProps3.xml><?xml version="1.0" encoding="utf-8"?>
<ds:datastoreItem xmlns:ds="http://schemas.openxmlformats.org/officeDocument/2006/customXml" ds:itemID="{26C7304D-4019-4736-9AB2-6FAA3FB609A7}">
  <ds:schemaRefs>
    <ds:schemaRef ds:uri="3997b96b-c35b-4bfb-b36b-d541d4990fef"/>
    <ds:schemaRef ds:uri="http://www.w3.org/XML/1998/namespace"/>
    <ds:schemaRef ds:uri="http://purl.org/dc/terms/"/>
    <ds:schemaRef ds:uri="http://purl.org/dc/elements/1.1/"/>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Apex</Template>
  <TotalTime>10033283</TotalTime>
  <Words>2285</Words>
  <Application>Microsoft Office PowerPoint</Application>
  <PresentationFormat>On-screen Show (4:3)</PresentationFormat>
  <Paragraphs>108</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 Unicode MS</vt:lpstr>
      <vt:lpstr>맑은 고딕</vt:lpstr>
      <vt:lpstr>Arial</vt:lpstr>
      <vt:lpstr>Calibri</vt:lpstr>
      <vt:lpstr>Goudy Stout</vt:lpstr>
      <vt:lpstr>Marlett</vt:lpstr>
      <vt:lpstr>Times New Roman</vt:lpstr>
      <vt:lpstr>csu-dj</vt:lpstr>
      <vt:lpstr>PowerPoint Presentation</vt:lpstr>
      <vt:lpstr>Non Functional Requirements NFR</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lpstr>McCall’s Quality Model (1977)</vt:lpstr>
    </vt:vector>
  </TitlesOfParts>
  <Company>North Dakota State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Center Networks</dc:title>
  <dc:creator>Assad</dc:creator>
  <cp:lastModifiedBy>admin</cp:lastModifiedBy>
  <cp:revision>2330</cp:revision>
  <dcterms:created xsi:type="dcterms:W3CDTF">2012-03-05T21:22:22Z</dcterms:created>
  <dcterms:modified xsi:type="dcterms:W3CDTF">2024-04-03T17:11:59Z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0x010100605576C4349FC24198F3B485892BCF1B</vt:lpwstr>
  </property>
</Properties>
</file>