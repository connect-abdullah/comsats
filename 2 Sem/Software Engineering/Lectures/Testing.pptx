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353" r:id="rId5"/>
    <p:sldId id="362" r:id="rId6"/>
    <p:sldId id="318" r:id="rId7"/>
    <p:sldId id="336" r:id="rId8"/>
    <p:sldId id="263" r:id="rId9"/>
    <p:sldId id="320" r:id="rId10"/>
    <p:sldId id="264" r:id="rId11"/>
    <p:sldId id="265" r:id="rId12"/>
    <p:sldId id="269" r:id="rId13"/>
    <p:sldId id="319" r:id="rId14"/>
    <p:sldId id="270" r:id="rId15"/>
    <p:sldId id="337" r:id="rId16"/>
    <p:sldId id="395" r:id="rId17"/>
    <p:sldId id="267" r:id="rId18"/>
    <p:sldId id="340" r:id="rId19"/>
    <p:sldId id="339" r:id="rId20"/>
    <p:sldId id="266" r:id="rId21"/>
    <p:sldId id="341" r:id="rId22"/>
    <p:sldId id="591" r:id="rId23"/>
    <p:sldId id="592" r:id="rId24"/>
    <p:sldId id="593" r:id="rId25"/>
    <p:sldId id="594" r:id="rId26"/>
    <p:sldId id="302" r:id="rId27"/>
    <p:sldId id="387" r:id="rId28"/>
    <p:sldId id="574" r:id="rId29"/>
    <p:sldId id="334" r:id="rId30"/>
    <p:sldId id="372" r:id="rId31"/>
    <p:sldId id="384" r:id="rId32"/>
    <p:sldId id="383" r:id="rId33"/>
    <p:sldId id="303" r:id="rId34"/>
    <p:sldId id="321" r:id="rId35"/>
    <p:sldId id="322" r:id="rId36"/>
    <p:sldId id="31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6E3713-F164-4082-84DD-758118E66C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EE207A-9F0A-4466-8454-C39804C1C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222D1-AEF6-46B8-A83E-20829FEF4E01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7CDAD-174F-4225-99B2-E4841853A4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412D-60BA-4076-A0BF-05B46C41E1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8168C-1D99-401E-A4DC-504AB668FB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79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0452A-A46F-40DD-B63B-C56769D8EBD8}" type="datetimeFigureOut">
              <a:rPr lang="en-US" smtClean="0"/>
              <a:t>5/22/2024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AF2A1-7540-4B11-B6D8-6EEC1FCE3C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6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D2B3A7-13B6-4019-9402-AC5B57182D56}" type="slidenum">
              <a:rPr lang="ar-S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dirty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1F53DB3-F9C4-4187-87F5-6F8773B32676}" type="slidenum">
              <a:rPr lang="ar-S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dirty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BF57AD-FD73-44E7-8C5D-FFBFD81F47C6}" type="slidenum">
              <a:rPr lang="ar-S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dirty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0653EB-AB5E-4B30-B646-835B73523A3E}" type="slidenum">
              <a:rPr lang="ar-S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dirty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7E96-D0F2-4046-A486-1DC9F02F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40327"/>
            <a:ext cx="10515600" cy="683636"/>
          </a:xfrm>
        </p:spPr>
        <p:txBody>
          <a:bodyPr anchor="b">
            <a:noAutofit/>
          </a:bodyPr>
          <a:lstStyle>
            <a:lvl1pPr algn="l"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15761D-DE0F-411B-A10D-343FE2E4E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1537710"/>
            <a:ext cx="10515599" cy="4461307"/>
          </a:xfrm>
        </p:spPr>
        <p:txBody>
          <a:bodyPr/>
          <a:lstStyle>
            <a:lvl1pPr marL="0" indent="0" algn="l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72A29-C20A-4221-8383-542A64D1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SOFTWARE QUALITY ENGINEERING-CSE302 Spring2020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8FDB-C49A-48AA-930B-B929F5E8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999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9BF4-A861-481A-B88E-0AE4066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5" y="365125"/>
            <a:ext cx="10758055" cy="70167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DCED-AF41-47DE-B7F8-B72A914E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5" y="1260764"/>
            <a:ext cx="10758055" cy="4916199"/>
          </a:xfrm>
        </p:spPr>
        <p:txBody>
          <a:bodyPr/>
          <a:lstStyle>
            <a:lvl1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4B76E-6687-43A5-B15E-E512178F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4709" y="6406861"/>
            <a:ext cx="41148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SOFTWARE QUALITY ENGINEERING-CSE302 Spring2020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C0DB-CB3F-43F1-A26F-0EFFC662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81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9BF4-A861-481A-B88E-0AE4066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5" y="365125"/>
            <a:ext cx="10758055" cy="70167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4DCED-AF41-47DE-B7F8-B72A914E9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745" y="1260764"/>
            <a:ext cx="10758055" cy="4916199"/>
          </a:xfrm>
        </p:spPr>
        <p:txBody>
          <a:bodyPr/>
          <a:lstStyle>
            <a:lvl1pPr marL="228600" indent="-22860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228600" indent="-22860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228600" indent="-22860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228600" indent="-22860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28600" indent="-22860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4B76E-6687-43A5-B15E-E512178F7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94709" y="6356350"/>
            <a:ext cx="4114800" cy="365125"/>
          </a:xfrm>
        </p:spPr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C0DB-CB3F-43F1-A26F-0EFFC662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7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21BEE-F935-4A17-AE57-FBF5CAB79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>
            <a:lvl1pPr defTabSz="919163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0BCFE-A22D-41F2-9822-8BBD2D22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0182" y="6356350"/>
            <a:ext cx="4959927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SOFTWARE QUALITY ENGINEERING-CSE302 Spring2020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7E54F-DB92-4F67-9283-A55F0E04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87E5DFA-01C7-4F6D-B6B2-8DCB9532AE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246909"/>
            <a:ext cx="10515600" cy="4879255"/>
          </a:xfrm>
        </p:spPr>
        <p:txBody>
          <a:bodyPr/>
          <a:lstStyle>
            <a:lvl1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0" indent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  <a:p>
            <a:pPr lvl="4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93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1933" y="68263"/>
            <a:ext cx="10066867" cy="825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66184" y="1376363"/>
            <a:ext cx="11529483" cy="471805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914401" y="6248401"/>
            <a:ext cx="2537884" cy="455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>
          <a:xfrm>
            <a:off x="4165601" y="6248401"/>
            <a:ext cx="3858684" cy="455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SOFTWARE QUALITY ENGINEERING-CSE302 Spring2020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>
          <a:xfrm>
            <a:off x="8737601" y="6248401"/>
            <a:ext cx="2537884" cy="4556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EED24-8DEB-4E1B-8260-98253776F6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56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281C7-E2DA-4821-A002-FD21BB56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652B4-8D28-4C11-8C1F-A47245011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1F15B-8560-4B4A-89EE-EC9E4E3ED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13364" y="63367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SOFTWARE QUALITY ENGINEERING-CSE302 Spring2020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8FA34-DC2D-45C1-83E0-B8DC83AB4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D1D9A2-9893-4E86-955D-F8E189B463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1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4" r:id="rId4"/>
    <p:sldLayoutId id="214748366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fessionalqa.com/test-proces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62200" y="2209801"/>
            <a:ext cx="7772400" cy="147002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Software Testing</a:t>
            </a:r>
            <a:endParaRPr lang="en-US" altLang="en-US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DF837D-2DA3-40D7-8364-0677B11C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B2FF2-B62A-46E7-BC8C-50323B7E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401851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1077351" y="2958905"/>
            <a:ext cx="10515600" cy="68363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Quality test cases, quality review and test processes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3233225" y="3828756"/>
            <a:ext cx="6400800" cy="914400"/>
          </a:xfrm>
        </p:spPr>
        <p:txBody>
          <a:bodyPr/>
          <a:lstStyle/>
          <a:p>
            <a:pPr algn="ctr" eaLnBrk="1" hangingPunct="1"/>
            <a:endParaRPr lang="en-US" alt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53AFC4-0024-422C-BAE6-9803E050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B02FF1D-FFC6-44E5-9CF7-0E24AE99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649" y="579438"/>
            <a:ext cx="8229600" cy="868362"/>
          </a:xfrm>
        </p:spPr>
        <p:txBody>
          <a:bodyPr/>
          <a:lstStyle/>
          <a:p>
            <a:pPr>
              <a:defRPr/>
            </a:pPr>
            <a:r>
              <a:rPr lang="en-US" b="1" u="sng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Software Testing</a:t>
            </a:r>
            <a:endParaRPr lang="en-US" u="sng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27649" y="1447800"/>
            <a:ext cx="10778197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 eaLnBrk="0" hangingPunct="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/>
              <a:t>Computer programs  </a:t>
            </a:r>
            <a:r>
              <a:rPr lang="en-US" sz="2800" dirty="0"/>
              <a:t>are designed  and    developed  by  humans  and  hence  are  </a:t>
            </a:r>
            <a:r>
              <a:rPr lang="en-US" sz="2800" dirty="0">
                <a:solidFill>
                  <a:srgbClr val="FF0000"/>
                </a:solidFill>
              </a:rPr>
              <a:t>prone  to  errors.</a:t>
            </a:r>
          </a:p>
          <a:p>
            <a:pPr marL="342900" indent="-342900" algn="just" eaLnBrk="0" hangingPunct="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/>
              <a:t>Unchecked</a:t>
            </a:r>
            <a:r>
              <a:rPr lang="en-US" sz="2800" dirty="0"/>
              <a:t>,  they  can  </a:t>
            </a:r>
            <a:r>
              <a:rPr lang="en-US" sz="2800" dirty="0">
                <a:solidFill>
                  <a:srgbClr val="FF0000"/>
                </a:solidFill>
              </a:rPr>
              <a:t>lead  to  a  lot  of problems</a:t>
            </a:r>
            <a:r>
              <a:rPr lang="en-US" sz="2800" dirty="0"/>
              <a:t>.  </a:t>
            </a:r>
          </a:p>
          <a:p>
            <a:pPr marL="342900" indent="-342900" algn="just" eaLnBrk="0" hangingPunct="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/>
              <a:t>Testing the software </a:t>
            </a:r>
            <a:r>
              <a:rPr lang="en-US" sz="2800" dirty="0"/>
              <a:t>becomes </a:t>
            </a:r>
            <a:r>
              <a:rPr lang="en-US" sz="2800" dirty="0">
                <a:solidFill>
                  <a:srgbClr val="FF0000"/>
                </a:solidFill>
              </a:rPr>
              <a:t>an essential part </a:t>
            </a:r>
            <a:r>
              <a:rPr lang="en-US" sz="2800" dirty="0"/>
              <a:t>of the software development lifecycle.</a:t>
            </a:r>
          </a:p>
          <a:p>
            <a:pPr marL="342900" indent="-342900" algn="just" eaLnBrk="0" hangingPunct="0">
              <a:spcBef>
                <a:spcPct val="20000"/>
              </a:spcBef>
              <a:buFont typeface="Wingdings" pitchFamily="2" charset="2"/>
              <a:buChar char="Ø"/>
              <a:defRPr/>
            </a:pPr>
            <a:r>
              <a:rPr lang="en-US" sz="2800" b="1" dirty="0"/>
              <a:t>Carrying out the testing activities </a:t>
            </a:r>
            <a:r>
              <a:rPr lang="en-US" sz="2800" dirty="0"/>
              <a:t>for projects has to be practiced with proper planning and must be implemented correctly.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12E6F2-36F8-4854-A3E2-F5998302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50F71-44FC-46CF-B286-412BFDC6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92" y="822325"/>
            <a:ext cx="10758055" cy="701675"/>
          </a:xfrm>
        </p:spPr>
        <p:txBody>
          <a:bodyPr/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  <a:latin typeface="+mn-lt"/>
                <a:ea typeface="+mn-ea"/>
                <a:cs typeface="+mn-cs"/>
                <a:sym typeface="Times New Roman" pitchFamily="18" charset="0"/>
              </a:rPr>
              <a:t>Software Testing - Definition</a:t>
            </a:r>
            <a:endParaRPr lang="en-GB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40" y="1804766"/>
            <a:ext cx="10881360" cy="3763108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>
                <a:solidFill>
                  <a:srgbClr val="5F5F5F"/>
                </a:solidFill>
                <a:sym typeface="Times New Roman" pitchFamily="18" charset="0"/>
              </a:rPr>
              <a:t>Software testing is a </a:t>
            </a:r>
            <a:r>
              <a:rPr lang="en-US" altLang="en-US" sz="3200" b="1" dirty="0">
                <a:solidFill>
                  <a:srgbClr val="CC3300"/>
                </a:solidFill>
                <a:sym typeface="Times New Roman" pitchFamily="18" charset="0"/>
              </a:rPr>
              <a:t>formal</a:t>
            </a:r>
            <a:r>
              <a:rPr lang="en-US" altLang="en-US" sz="3200" dirty="0">
                <a:solidFill>
                  <a:srgbClr val="5F5F5F"/>
                </a:solidFill>
                <a:sym typeface="Times New Roman" pitchFamily="18" charset="0"/>
              </a:rPr>
              <a:t> process carried out by a </a:t>
            </a:r>
            <a:r>
              <a:rPr lang="en-US" altLang="en-US" sz="3200" b="1" dirty="0">
                <a:solidFill>
                  <a:srgbClr val="CC3300"/>
                </a:solidFill>
                <a:sym typeface="Times New Roman" pitchFamily="18" charset="0"/>
              </a:rPr>
              <a:t>specialized testing team</a:t>
            </a:r>
            <a:r>
              <a:rPr lang="en-US" altLang="en-US" sz="3200" dirty="0">
                <a:solidFill>
                  <a:srgbClr val="5F5F5F"/>
                </a:solidFill>
                <a:sym typeface="Times New Roman" pitchFamily="18" charset="0"/>
              </a:rPr>
              <a:t> in which a software unit, several integrated software units or an entire software package are examined by </a:t>
            </a:r>
            <a:r>
              <a:rPr lang="en-US" altLang="en-US" sz="3200" b="1" dirty="0">
                <a:solidFill>
                  <a:srgbClr val="CC3300"/>
                </a:solidFill>
                <a:sym typeface="Times New Roman" pitchFamily="18" charset="0"/>
              </a:rPr>
              <a:t>running the programs on a computer</a:t>
            </a:r>
            <a:r>
              <a:rPr lang="en-US" altLang="en-US" sz="3200" dirty="0">
                <a:solidFill>
                  <a:srgbClr val="5F5F5F"/>
                </a:solidFill>
                <a:sym typeface="Times New Roman" pitchFamily="18" charset="0"/>
              </a:rPr>
              <a:t>. All the associated tests are performed according to </a:t>
            </a:r>
            <a:r>
              <a:rPr lang="en-US" altLang="en-US" sz="3200" b="1" dirty="0">
                <a:solidFill>
                  <a:srgbClr val="CC3300"/>
                </a:solidFill>
                <a:sym typeface="Times New Roman" pitchFamily="18" charset="0"/>
              </a:rPr>
              <a:t>approved test procedures</a:t>
            </a:r>
            <a:r>
              <a:rPr lang="en-US" altLang="en-US" sz="3200" dirty="0">
                <a:solidFill>
                  <a:srgbClr val="5F5F5F"/>
                </a:solidFill>
                <a:sym typeface="Times New Roman" pitchFamily="18" charset="0"/>
              </a:rPr>
              <a:t> on </a:t>
            </a:r>
            <a:r>
              <a:rPr lang="en-US" altLang="en-US" sz="3200" b="1" dirty="0">
                <a:solidFill>
                  <a:srgbClr val="CC3300"/>
                </a:solidFill>
                <a:sym typeface="Times New Roman" pitchFamily="18" charset="0"/>
              </a:rPr>
              <a:t>approved test cases</a:t>
            </a:r>
            <a:r>
              <a:rPr lang="en-US" altLang="en-US" dirty="0">
                <a:solidFill>
                  <a:srgbClr val="5F5F5F"/>
                </a:solidFill>
                <a:sym typeface="Times New Roman" pitchFamily="18" charset="0"/>
              </a:rPr>
              <a:t>. </a:t>
            </a:r>
            <a:endParaRPr lang="en-US" altLang="en-US" dirty="0"/>
          </a:p>
          <a:p>
            <a:pPr marL="114300" algn="just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2D7E3-4844-4F5B-9A71-627E6554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CBDB-E15C-49C9-B270-1FB96201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1511079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8FD7AD-DB04-41D9-BF1B-D94717C12AC4}" type="slidenum">
              <a:rPr lang="ar-SA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FF0000"/>
                </a:solidFill>
              </a:rPr>
              <a:t>What is Software Testing?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6972" y="1253475"/>
            <a:ext cx="10758055" cy="4916199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The process of finding evidence of defects in software systems.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en-US" sz="2800" dirty="0"/>
              <a:t>Establishing confidence that a program does what it is supposed to do.</a:t>
            </a:r>
          </a:p>
        </p:txBody>
      </p:sp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951696" y="3621649"/>
            <a:ext cx="7467600" cy="1447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buFont typeface="Arial" charset="0"/>
              <a:buAutoNum type="arabicPeriod"/>
            </a:pPr>
            <a:r>
              <a:rPr lang="en-US" altLang="en-US" sz="3200" dirty="0">
                <a:latin typeface="Calibri" pitchFamily="34" charset="0"/>
              </a:rPr>
              <a:t>Software testing is not debugging.</a:t>
            </a:r>
          </a:p>
          <a:p>
            <a:pPr algn="just" eaLnBrk="1" hangingPunct="1">
              <a:buFont typeface="Arial" charset="0"/>
              <a:buAutoNum type="arabicPeriod"/>
            </a:pPr>
            <a:r>
              <a:rPr lang="en-US" altLang="en-US" sz="3200" dirty="0">
                <a:latin typeface="Calibri" pitchFamily="34" charset="0"/>
              </a:rPr>
              <a:t>Software testing is not quality assurance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8D29DE9-4BE0-4248-AAF3-2DB9224C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4573" y="317500"/>
            <a:ext cx="8610600" cy="825500"/>
          </a:xfrm>
        </p:spPr>
        <p:txBody>
          <a:bodyPr>
            <a:norm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Testing  Vs  Debugging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0772" y="1088515"/>
            <a:ext cx="11163885" cy="5334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en-US" b="1" dirty="0"/>
              <a:t>Testing  is  focused  </a:t>
            </a:r>
            <a:r>
              <a:rPr lang="en-US" altLang="en-US" dirty="0"/>
              <a:t>on  identifying  the  problems  in  the  product </a:t>
            </a:r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Done by Tester</a:t>
            </a:r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Need not </a:t>
            </a:r>
            <a:r>
              <a:rPr lang="en-US" altLang="en-US" dirty="0"/>
              <a:t>to know the source code</a:t>
            </a:r>
          </a:p>
          <a:p>
            <a:pPr>
              <a:buFont typeface="Arial" charset="0"/>
              <a:buNone/>
            </a:pPr>
            <a:endParaRPr lang="en-US" altLang="en-US" dirty="0"/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Debugging is to make </a:t>
            </a:r>
            <a:r>
              <a:rPr lang="en-US" altLang="en-US" dirty="0"/>
              <a:t>sure that the bugs are removed or fixed </a:t>
            </a:r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Done by Developer</a:t>
            </a:r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Need to know </a:t>
            </a:r>
            <a:r>
              <a:rPr lang="en-US" altLang="en-US" dirty="0"/>
              <a:t>the source Code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C10719-782E-4270-BB31-F48CFDBE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30468-7FA2-491D-9A3F-8D893922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CDF4FB-97D4-4C55-A631-B4BDBCB3215C}" type="slidenum">
              <a:rPr lang="ar-SA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41000" y="379702"/>
            <a:ext cx="10758055" cy="70167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b="1" u="sng" dirty="0">
                <a:solidFill>
                  <a:srgbClr val="FF0000"/>
                </a:solidFill>
              </a:rPr>
              <a:t>Software Testing Vs Quality Assurance 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1000" y="1283571"/>
            <a:ext cx="10758055" cy="491619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3400" b="1" dirty="0"/>
              <a:t>Testing is necessary </a:t>
            </a:r>
            <a:r>
              <a:rPr lang="en-US" altLang="en-US" sz="3400" dirty="0"/>
              <a:t>but not enough for QA process.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3400" b="1" dirty="0"/>
              <a:t>Testing contributes to </a:t>
            </a:r>
            <a:r>
              <a:rPr lang="en-US" altLang="en-US" sz="3400" dirty="0"/>
              <a:t>improve quality by helping to identify problems.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3400" b="1" dirty="0"/>
              <a:t>QA sets standards </a:t>
            </a:r>
            <a:r>
              <a:rPr lang="en-US" altLang="en-US" sz="3400" dirty="0"/>
              <a:t>that project team (including testers) should follow in order to build a better software.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3E237E-7322-4409-AE12-3F1229216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95BE38-FD43-4816-A22C-F87F02CA08D6}" type="slidenum">
              <a:rPr lang="ar-SA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</a:rPr>
              <a:t>What is Software Testing?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745" y="1295401"/>
            <a:ext cx="10758055" cy="46783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Correctness</a:t>
            </a:r>
            <a:r>
              <a:rPr lang="en-US" altLang="en-US" sz="3600" dirty="0"/>
              <a:t> of software with respect to requirements;</a:t>
            </a:r>
          </a:p>
          <a:p>
            <a:pPr eaLnBrk="1" hangingPunct="1"/>
            <a:r>
              <a:rPr lang="en-US" altLang="en-US" sz="3600" b="1" dirty="0"/>
              <a:t>Performance</a:t>
            </a:r>
            <a:r>
              <a:rPr lang="en-US" altLang="en-US" sz="3600" dirty="0"/>
              <a:t> of software under various conditions;</a:t>
            </a:r>
          </a:p>
          <a:p>
            <a:pPr eaLnBrk="1" hangingPunct="1"/>
            <a:r>
              <a:rPr lang="en-US" altLang="en-US" sz="3600" b="1" dirty="0"/>
              <a:t>Robustness of software</a:t>
            </a:r>
            <a:r>
              <a:rPr lang="en-US" altLang="en-US" sz="3600" dirty="0"/>
              <a:t>, its ability to handle erroneous input and unanticipated conditions;</a:t>
            </a:r>
          </a:p>
          <a:p>
            <a:pPr eaLnBrk="1" hangingPunct="1"/>
            <a:r>
              <a:rPr lang="en-US" altLang="en-US" sz="3600" b="1" dirty="0"/>
              <a:t>Installation</a:t>
            </a:r>
            <a:r>
              <a:rPr lang="en-US" altLang="en-US" sz="3600" dirty="0"/>
              <a:t> and other facets of a software release.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E1678D-6183-49E5-83F5-EBEC2E05A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5E0EB2-1E4E-4C71-BDA5-34190D15EECD}" type="slidenum">
              <a:rPr lang="ar-SA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</a:rPr>
              <a:t>Important Considerations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b="1" dirty="0"/>
              <a:t>Detect system failures </a:t>
            </a:r>
            <a:r>
              <a:rPr lang="en-US" altLang="en-US" dirty="0"/>
              <a:t>by choosing test inputs carefully.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 dirty="0"/>
              <a:t>Determine the faults </a:t>
            </a:r>
            <a:r>
              <a:rPr lang="en-US" altLang="en-US" dirty="0"/>
              <a:t>leading to the failures detected.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 dirty="0"/>
              <a:t>Repair the faults </a:t>
            </a:r>
            <a:r>
              <a:rPr lang="en-US" altLang="en-US" dirty="0"/>
              <a:t>leading to the failures 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b="1" dirty="0"/>
              <a:t>Re-test</a:t>
            </a:r>
            <a:r>
              <a:rPr lang="en-US" altLang="en-US" dirty="0"/>
              <a:t> the module/system.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ECB7DD7-BDD2-4F8B-9318-9F12FC3D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</a:rPr>
              <a:t>Basic  Questions  on  Testing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260764"/>
            <a:ext cx="11391899" cy="4916199"/>
          </a:xfrm>
        </p:spPr>
        <p:txBody>
          <a:bodyPr>
            <a:normAutofit/>
          </a:bodyPr>
          <a:lstStyle/>
          <a:p>
            <a:pPr>
              <a:lnSpc>
                <a:spcPct val="73000"/>
              </a:lnSpc>
              <a:buFont typeface="Arial" charset="0"/>
              <a:buNone/>
            </a:pPr>
            <a:r>
              <a:rPr lang="en-US" altLang="en-US" sz="2500" b="1" dirty="0"/>
              <a:t>Why  to  test? </a:t>
            </a:r>
          </a:p>
          <a:p>
            <a:pPr>
              <a:lnSpc>
                <a:spcPct val="73000"/>
              </a:lnSpc>
              <a:buFont typeface="Wingdings" pitchFamily="2" charset="2"/>
              <a:buChar char="Ø"/>
            </a:pPr>
            <a:r>
              <a:rPr lang="en-US" altLang="en-US" sz="2400" dirty="0"/>
              <a:t>testing becomes essential to make sure the software works properly  and  does  the  work  that  it  is  meant  to  perform.</a:t>
            </a:r>
          </a:p>
          <a:p>
            <a:pPr>
              <a:lnSpc>
                <a:spcPct val="73000"/>
              </a:lnSpc>
              <a:buFont typeface="Arial" charset="0"/>
              <a:buNone/>
            </a:pPr>
            <a:endParaRPr lang="en-US" altLang="en-US" sz="2000" dirty="0"/>
          </a:p>
          <a:p>
            <a:pPr>
              <a:lnSpc>
                <a:spcPct val="73000"/>
              </a:lnSpc>
              <a:buFont typeface="Arial" charset="0"/>
              <a:buNone/>
            </a:pPr>
            <a:r>
              <a:rPr lang="en-US" altLang="en-US" sz="2500" b="1" dirty="0"/>
              <a:t>What  to  test? </a:t>
            </a:r>
          </a:p>
          <a:p>
            <a:pPr>
              <a:lnSpc>
                <a:spcPct val="73000"/>
              </a:lnSpc>
              <a:buFont typeface="Wingdings" pitchFamily="2" charset="2"/>
              <a:buChar char="Ø"/>
            </a:pPr>
            <a:r>
              <a:rPr lang="en-US" altLang="en-US" sz="2400" dirty="0"/>
              <a:t>Any  working  product  which  forms  part  of  the  software  application  has to be tested. Both data and programs must be tested.</a:t>
            </a:r>
          </a:p>
          <a:p>
            <a:pPr>
              <a:lnSpc>
                <a:spcPct val="73000"/>
              </a:lnSpc>
              <a:buFont typeface="Arial" charset="0"/>
              <a:buNone/>
            </a:pPr>
            <a:endParaRPr lang="en-US" altLang="en-US" sz="2000" dirty="0"/>
          </a:p>
          <a:p>
            <a:pPr>
              <a:lnSpc>
                <a:spcPct val="73000"/>
              </a:lnSpc>
              <a:buFont typeface="Arial" charset="0"/>
              <a:buNone/>
            </a:pPr>
            <a:r>
              <a:rPr lang="en-US" altLang="en-US" sz="2500" b="1" dirty="0"/>
              <a:t>How  often  to  test? </a:t>
            </a:r>
          </a:p>
          <a:p>
            <a:pPr>
              <a:lnSpc>
                <a:spcPct val="73000"/>
              </a:lnSpc>
              <a:buFont typeface="Wingdings" pitchFamily="2" charset="2"/>
              <a:buChar char="Ø"/>
            </a:pPr>
            <a:r>
              <a:rPr lang="en-US" altLang="en-US" sz="2400" dirty="0"/>
              <a:t>When  a  program  (source  code)  is  modified  or newly developed,  it  has  to  be  tested. </a:t>
            </a:r>
          </a:p>
          <a:p>
            <a:pPr>
              <a:lnSpc>
                <a:spcPct val="73000"/>
              </a:lnSpc>
              <a:buFont typeface="Wingdings" pitchFamily="2" charset="2"/>
              <a:buNone/>
            </a:pPr>
            <a:endParaRPr lang="en-US" altLang="en-US" sz="2500" dirty="0"/>
          </a:p>
          <a:p>
            <a:pPr>
              <a:lnSpc>
                <a:spcPct val="73000"/>
              </a:lnSpc>
              <a:buFont typeface="Arial" charset="0"/>
              <a:buNone/>
            </a:pPr>
            <a:r>
              <a:rPr lang="en-US" altLang="en-US" sz="2500" b="1" dirty="0"/>
              <a:t>Who  tests? </a:t>
            </a:r>
          </a:p>
          <a:p>
            <a:pPr>
              <a:lnSpc>
                <a:spcPct val="83000"/>
              </a:lnSpc>
              <a:buFont typeface="Wingdings" pitchFamily="2" charset="2"/>
              <a:buChar char="Ø"/>
            </a:pPr>
            <a:r>
              <a:rPr lang="en-US" altLang="en-US" sz="2400" dirty="0"/>
              <a:t>Programmer, Tester and Customer (or third party)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3607B-65BA-40F8-8BC0-3C96BD0E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EC1CB-7F83-4DAF-8FED-7D0A0F7D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F0467F-616A-428F-A634-612844188350}" type="slidenum">
              <a:rPr lang="ar-SA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</a:rPr>
              <a:t>Why do Failures Occur?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6724389"/>
              </p:ext>
            </p:extLst>
          </p:nvPr>
        </p:nvGraphicFramePr>
        <p:xfrm>
          <a:off x="1401788" y="1066800"/>
          <a:ext cx="8359775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6857791" imgH="4067048" progId="MSGraph.Chart.8">
                  <p:embed followColorScheme="full"/>
                </p:oleObj>
              </mc:Choice>
              <mc:Fallback>
                <p:oleObj name="Chart" r:id="rId3" imgW="6857791" imgH="4067048" progId="MSGraph.Chart.8">
                  <p:embed followColorScheme="full"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88" y="1066800"/>
                        <a:ext cx="8359775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9331A5-4D48-4983-A88F-4074AA66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u="sng" dirty="0">
                <a:solidFill>
                  <a:srgbClr val="FF0000"/>
                </a:solidFill>
                <a:sym typeface="Arial" pitchFamily="34" charset="0"/>
              </a:rPr>
              <a:t>Software Testing  Objectives</a:t>
            </a:r>
            <a:endParaRPr lang="en-GB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85000"/>
              </a:lnSpc>
            </a:pPr>
            <a:r>
              <a:rPr lang="en-US" altLang="en-US" sz="3200" b="1" u="sng" dirty="0">
                <a:sym typeface="Times New Roman" pitchFamily="18" charset="0"/>
              </a:rPr>
              <a:t>Direct objectives</a:t>
            </a:r>
          </a:p>
          <a:p>
            <a:pPr marL="868680" lvl="1" indent="-457200" algn="just">
              <a:lnSpc>
                <a:spcPct val="85000"/>
              </a:lnSpc>
              <a:buSzPct val="100000"/>
              <a:buFont typeface="+mj-lt"/>
              <a:buAutoNum type="alphaLcParenR"/>
            </a:pPr>
            <a:r>
              <a:rPr lang="en-US" altLang="en-US" sz="3200" dirty="0">
                <a:sym typeface="Times New Roman" pitchFamily="18" charset="0"/>
              </a:rPr>
              <a:t>To identify and reveal </a:t>
            </a:r>
            <a:r>
              <a:rPr lang="en-US" altLang="en-US" sz="3200" dirty="0">
                <a:solidFill>
                  <a:srgbClr val="FF0000"/>
                </a:solidFill>
                <a:sym typeface="Times New Roman" pitchFamily="18" charset="0"/>
              </a:rPr>
              <a:t>as many errors as possible </a:t>
            </a:r>
            <a:r>
              <a:rPr lang="en-US" altLang="en-US" sz="3200" dirty="0">
                <a:sym typeface="Times New Roman" pitchFamily="18" charset="0"/>
              </a:rPr>
              <a:t>in the tested software.</a:t>
            </a:r>
          </a:p>
          <a:p>
            <a:pPr marL="868680" lvl="1" indent="-457200" algn="just">
              <a:lnSpc>
                <a:spcPct val="85000"/>
              </a:lnSpc>
              <a:buSzPct val="100000"/>
              <a:buFont typeface="+mj-lt"/>
              <a:buAutoNum type="alphaLcParenR"/>
            </a:pPr>
            <a:r>
              <a:rPr lang="en-US" altLang="en-US" sz="3200" dirty="0">
                <a:sym typeface="Times New Roman" pitchFamily="18" charset="0"/>
              </a:rPr>
              <a:t>To bring the tested software, after correction of the identified errors and retesting, </a:t>
            </a:r>
            <a:r>
              <a:rPr lang="en-US" altLang="en-US" sz="3200" dirty="0">
                <a:solidFill>
                  <a:srgbClr val="FF0000"/>
                </a:solidFill>
                <a:sym typeface="Times New Roman" pitchFamily="18" charset="0"/>
              </a:rPr>
              <a:t>to an acceptable level of quality</a:t>
            </a:r>
            <a:r>
              <a:rPr lang="en-US" altLang="en-US" sz="3200" dirty="0">
                <a:sym typeface="Times New Roman" pitchFamily="18" charset="0"/>
              </a:rPr>
              <a:t>.</a:t>
            </a:r>
          </a:p>
          <a:p>
            <a:pPr marL="868680" lvl="1" indent="-457200" algn="just">
              <a:lnSpc>
                <a:spcPct val="85000"/>
              </a:lnSpc>
              <a:buSzPct val="100000"/>
              <a:buFont typeface="+mj-lt"/>
              <a:buAutoNum type="alphaLcParenR"/>
            </a:pPr>
            <a:r>
              <a:rPr lang="en-US" altLang="en-US" sz="3200" dirty="0">
                <a:sym typeface="Times New Roman" pitchFamily="18" charset="0"/>
              </a:rPr>
              <a:t>To perform the required tests efficiently and effectively, within the </a:t>
            </a:r>
            <a:r>
              <a:rPr lang="en-US" altLang="en-US" sz="3200" dirty="0">
                <a:solidFill>
                  <a:srgbClr val="FF0000"/>
                </a:solidFill>
                <a:sym typeface="Times New Roman" pitchFamily="18" charset="0"/>
              </a:rPr>
              <a:t>budgetary </a:t>
            </a:r>
            <a:r>
              <a:rPr lang="en-US" altLang="en-US" sz="3200" dirty="0">
                <a:sym typeface="Times New Roman" pitchFamily="18" charset="0"/>
              </a:rPr>
              <a:t>and </a:t>
            </a:r>
            <a:r>
              <a:rPr lang="en-US" altLang="en-US" sz="3200" dirty="0">
                <a:solidFill>
                  <a:srgbClr val="FF0000"/>
                </a:solidFill>
                <a:sym typeface="Times New Roman" pitchFamily="18" charset="0"/>
              </a:rPr>
              <a:t>scheduling limits</a:t>
            </a:r>
            <a:r>
              <a:rPr lang="en-US" altLang="en-US" sz="3200" dirty="0">
                <a:sym typeface="Times New Roman" pitchFamily="18" charset="0"/>
              </a:rPr>
              <a:t>. </a:t>
            </a:r>
          </a:p>
          <a:p>
            <a:pPr marL="411480" lvl="1" algn="just">
              <a:lnSpc>
                <a:spcPct val="85000"/>
              </a:lnSpc>
              <a:buSzPct val="100000"/>
              <a:buNone/>
            </a:pPr>
            <a:endParaRPr lang="en-US" altLang="en-US" sz="900" dirty="0">
              <a:sym typeface="Times New Roman" pitchFamily="18" charset="0"/>
            </a:endParaRPr>
          </a:p>
          <a:p>
            <a:pPr algn="just">
              <a:lnSpc>
                <a:spcPct val="85000"/>
              </a:lnSpc>
              <a:spcBef>
                <a:spcPts val="1600"/>
              </a:spcBef>
            </a:pPr>
            <a:r>
              <a:rPr lang="en-US" altLang="en-US" sz="3200" b="1" u="sng" dirty="0">
                <a:sym typeface="Times New Roman" pitchFamily="18" charset="0"/>
              </a:rPr>
              <a:t>Indirect objectives</a:t>
            </a:r>
          </a:p>
          <a:p>
            <a:pPr marL="868680" lvl="1" indent="-457200" algn="just">
              <a:lnSpc>
                <a:spcPct val="85000"/>
              </a:lnSpc>
              <a:buFont typeface="+mj-lt"/>
              <a:buAutoNum type="alphaLcParenR"/>
            </a:pPr>
            <a:r>
              <a:rPr lang="en-US" altLang="en-US" sz="3200" dirty="0">
                <a:sym typeface="Times New Roman" pitchFamily="18" charset="0"/>
              </a:rPr>
              <a:t>To compile a </a:t>
            </a:r>
            <a:r>
              <a:rPr lang="en-US" altLang="en-US" sz="3200" dirty="0">
                <a:solidFill>
                  <a:srgbClr val="FF0000"/>
                </a:solidFill>
                <a:sym typeface="Times New Roman" pitchFamily="18" charset="0"/>
              </a:rPr>
              <a:t>record of software errors </a:t>
            </a:r>
            <a:r>
              <a:rPr lang="en-US" altLang="en-US" sz="3200" dirty="0">
                <a:sym typeface="Times New Roman" pitchFamily="18" charset="0"/>
              </a:rPr>
              <a:t>for use in error prevention (by corrective and preventive actions).  </a:t>
            </a:r>
            <a:endParaRPr lang="en-US" altLang="en-US" sz="32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49037-3EDB-4953-9624-BA105AF2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3B38E-F0AB-4B52-821B-D96009E0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25338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8BEC-FBD3-4310-8463-1798A70A3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  <a:sym typeface="Arial" pitchFamily="34" charset="0"/>
              </a:rPr>
              <a:t>Software Testing  Styles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62319-A1CE-4D60-AC72-48ACD825A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lang="en-US" altLang="en-US" sz="3200" b="1" dirty="0">
                <a:solidFill>
                  <a:srgbClr val="FF0000"/>
                </a:solidFill>
              </a:rPr>
              <a:t>Incremental testing strategies:</a:t>
            </a:r>
          </a:p>
          <a:p>
            <a:pPr lvl="1">
              <a:spcBef>
                <a:spcPts val="800"/>
              </a:spcBef>
            </a:pPr>
            <a:r>
              <a:rPr lang="en-US" altLang="en-US" sz="3200" dirty="0">
                <a:solidFill>
                  <a:srgbClr val="FF0000"/>
                </a:solidFill>
              </a:rPr>
              <a:t>Test incrementally:  </a:t>
            </a:r>
            <a:r>
              <a:rPr lang="en-US" altLang="en-US" sz="3200" dirty="0"/>
              <a:t>Unit testing;  Integration testing;  System testing</a:t>
            </a:r>
          </a:p>
          <a:p>
            <a:pPr lvl="1">
              <a:spcBef>
                <a:spcPts val="800"/>
              </a:spcBef>
            </a:pPr>
            <a:r>
              <a:rPr lang="en-US" altLang="en-US" sz="3200" b="1" dirty="0">
                <a:solidFill>
                  <a:srgbClr val="FF0000"/>
                </a:solidFill>
              </a:rPr>
              <a:t>Integration Testing</a:t>
            </a:r>
            <a:endParaRPr lang="en-US" altLang="en-US" sz="3200" dirty="0"/>
          </a:p>
          <a:p>
            <a:pPr marL="685800" lvl="3" indent="-50800">
              <a:spcBef>
                <a:spcPts val="800"/>
              </a:spcBef>
            </a:pPr>
            <a:r>
              <a:rPr lang="en-US" altLang="en-US" sz="3000" dirty="0">
                <a:solidFill>
                  <a:srgbClr val="FF0000"/>
                </a:solidFill>
              </a:rPr>
              <a:t>Bottom-up testing</a:t>
            </a:r>
          </a:p>
          <a:p>
            <a:pPr marL="685800" lvl="3" indent="-50800">
              <a:spcBef>
                <a:spcPts val="800"/>
              </a:spcBef>
            </a:pPr>
            <a:r>
              <a:rPr lang="en-US" altLang="en-US" sz="3000" dirty="0">
                <a:solidFill>
                  <a:srgbClr val="FF0000"/>
                </a:solidFill>
              </a:rPr>
              <a:t>Top-down testing</a:t>
            </a:r>
          </a:p>
          <a:p>
            <a:pPr marL="635000" indent="50800">
              <a:spcBef>
                <a:spcPts val="800"/>
              </a:spcBef>
            </a:pPr>
            <a:r>
              <a:rPr lang="en-US" altLang="en-US" sz="3200" b="1" dirty="0"/>
              <a:t>Big bang testing </a:t>
            </a:r>
          </a:p>
          <a:p>
            <a:pPr marL="1714500" lvl="3" indent="-165100">
              <a:spcBef>
                <a:spcPts val="800"/>
              </a:spcBef>
            </a:pPr>
            <a:r>
              <a:rPr lang="en-US" altLang="en-US" sz="3000" dirty="0"/>
              <a:t>Test entire software at one time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715D7-56FB-4ACE-A65B-1CF8FF714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80E0-4BF7-409C-8DBF-1E4A55477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2824663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26ED8826-CF95-4B0F-8C0F-ECF0B816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60A3FD-0920-4B92-B2B1-E861E5F4FA03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BCCCE2CB-A28E-474C-8C35-13D4D6F2BD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700" y="215900"/>
            <a:ext cx="86106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u="sng" dirty="0">
                <a:solidFill>
                  <a:srgbClr val="FF0000"/>
                </a:solidFill>
              </a:rPr>
              <a:t>Bottom-Up Integration Testing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2830A82-A5F2-40F3-BD95-BADC2FAB8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6100" y="1066800"/>
            <a:ext cx="10287000" cy="48895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Lower level components </a:t>
            </a:r>
            <a:r>
              <a:rPr lang="en-US" altLang="en-US" dirty="0">
                <a:cs typeface="Times New Roman" panose="02020603050405020304" pitchFamily="18" charset="0"/>
              </a:rPr>
              <a:t>are combined in clusters that perform a specific software function.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A driver </a:t>
            </a:r>
            <a:r>
              <a:rPr lang="en-US" altLang="en-US" dirty="0">
                <a:cs typeface="Times New Roman" panose="02020603050405020304" pitchFamily="18" charset="0"/>
              </a:rPr>
              <a:t>(control program) is written to coordinate test case input and output.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The cluster is tested.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Drivers are removed </a:t>
            </a:r>
            <a:r>
              <a:rPr lang="en-US" altLang="en-US" dirty="0">
                <a:cs typeface="Times New Roman" panose="02020603050405020304" pitchFamily="18" charset="0"/>
              </a:rPr>
              <a:t>and clusters are combined moving upward in the program structure.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88902D-D157-42D6-B4CA-7B2C22D2C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Bottom-up Testing</a:t>
            </a:r>
            <a:endParaRPr lang="en-GB" b="1" u="sng" dirty="0">
              <a:solidFill>
                <a:srgbClr val="FF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78FC47-EBA9-48B9-920D-C3CC16E1E9EF}"/>
              </a:ext>
            </a:extLst>
          </p:cNvPr>
          <p:cNvGrpSpPr/>
          <p:nvPr/>
        </p:nvGrpSpPr>
        <p:grpSpPr>
          <a:xfrm>
            <a:off x="2209800" y="1219200"/>
            <a:ext cx="7620000" cy="4191000"/>
            <a:chOff x="1524000" y="2133600"/>
            <a:chExt cx="6477000" cy="3902075"/>
          </a:xfrm>
        </p:grpSpPr>
        <p:sp>
          <p:nvSpPr>
            <p:cNvPr id="7" name="AutoShape 2"/>
            <p:cNvSpPr>
              <a:spLocks/>
            </p:cNvSpPr>
            <p:nvPr/>
          </p:nvSpPr>
          <p:spPr bwMode="auto">
            <a:xfrm>
              <a:off x="3429000" y="30480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M9</a:t>
              </a:r>
              <a:endParaRPr lang="en-US" altLang="en-US" dirty="0"/>
            </a:p>
          </p:txBody>
        </p:sp>
        <p:sp>
          <p:nvSpPr>
            <p:cNvPr id="8" name="AutoShape 3"/>
            <p:cNvSpPr>
              <a:spLocks/>
            </p:cNvSpPr>
            <p:nvPr/>
          </p:nvSpPr>
          <p:spPr bwMode="auto">
            <a:xfrm>
              <a:off x="1905000" y="41910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M8</a:t>
              </a:r>
              <a:endParaRPr lang="en-US" altLang="en-US" dirty="0"/>
            </a:p>
          </p:txBody>
        </p:sp>
        <p:sp>
          <p:nvSpPr>
            <p:cNvPr id="9" name="AutoShape 4"/>
            <p:cNvSpPr>
              <a:spLocks/>
            </p:cNvSpPr>
            <p:nvPr/>
          </p:nvSpPr>
          <p:spPr bwMode="auto">
            <a:xfrm>
              <a:off x="15240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</a:t>
              </a:r>
              <a:endParaRPr lang="en-US" altLang="en-US" dirty="0"/>
            </a:p>
          </p:txBody>
        </p:sp>
        <p:sp>
          <p:nvSpPr>
            <p:cNvPr id="10" name="AutoShape 5"/>
            <p:cNvSpPr>
              <a:spLocks/>
            </p:cNvSpPr>
            <p:nvPr/>
          </p:nvSpPr>
          <p:spPr bwMode="auto">
            <a:xfrm>
              <a:off x="22860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M2</a:t>
              </a:r>
              <a:endParaRPr lang="en-US" altLang="en-US" dirty="0"/>
            </a:p>
          </p:txBody>
        </p:sp>
        <p:sp>
          <p:nvSpPr>
            <p:cNvPr id="11" name="AutoShape 6"/>
            <p:cNvSpPr>
              <a:spLocks/>
            </p:cNvSpPr>
            <p:nvPr/>
          </p:nvSpPr>
          <p:spPr bwMode="auto">
            <a:xfrm>
              <a:off x="34290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M3</a:t>
              </a:r>
              <a:endParaRPr lang="en-US" altLang="en-US" dirty="0"/>
            </a:p>
          </p:txBody>
        </p:sp>
        <p:sp>
          <p:nvSpPr>
            <p:cNvPr id="12" name="AutoShape 7"/>
            <p:cNvSpPr>
              <a:spLocks/>
            </p:cNvSpPr>
            <p:nvPr/>
          </p:nvSpPr>
          <p:spPr bwMode="auto">
            <a:xfrm>
              <a:off x="41910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M4</a:t>
              </a:r>
              <a:endParaRPr lang="en-US" altLang="en-US" dirty="0"/>
            </a:p>
          </p:txBody>
        </p:sp>
        <p:sp>
          <p:nvSpPr>
            <p:cNvPr id="13" name="AutoShape 8"/>
            <p:cNvSpPr>
              <a:spLocks/>
            </p:cNvSpPr>
            <p:nvPr/>
          </p:nvSpPr>
          <p:spPr bwMode="auto">
            <a:xfrm>
              <a:off x="49530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M5</a:t>
              </a:r>
              <a:endParaRPr lang="en-US" altLang="en-US" dirty="0"/>
            </a:p>
          </p:txBody>
        </p:sp>
        <p:sp>
          <p:nvSpPr>
            <p:cNvPr id="14" name="AutoShape 9"/>
            <p:cNvSpPr>
              <a:spLocks/>
            </p:cNvSpPr>
            <p:nvPr/>
          </p:nvSpPr>
          <p:spPr bwMode="auto">
            <a:xfrm>
              <a:off x="65532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M6</a:t>
              </a:r>
              <a:endParaRPr lang="en-US" altLang="en-US" dirty="0"/>
            </a:p>
          </p:txBody>
        </p:sp>
        <p:sp>
          <p:nvSpPr>
            <p:cNvPr id="15" name="AutoShape 10"/>
            <p:cNvSpPr>
              <a:spLocks/>
            </p:cNvSpPr>
            <p:nvPr/>
          </p:nvSpPr>
          <p:spPr bwMode="auto">
            <a:xfrm>
              <a:off x="7315200" y="56388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M7</a:t>
              </a:r>
              <a:endParaRPr lang="en-US" altLang="en-US" dirty="0"/>
            </a:p>
          </p:txBody>
        </p:sp>
        <p:sp>
          <p:nvSpPr>
            <p:cNvPr id="16" name="AutoShape 11"/>
            <p:cNvSpPr>
              <a:spLocks/>
            </p:cNvSpPr>
            <p:nvPr/>
          </p:nvSpPr>
          <p:spPr bwMode="auto">
            <a:xfrm>
              <a:off x="6934200" y="3124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M10</a:t>
              </a:r>
              <a:endParaRPr lang="en-US" altLang="en-US" dirty="0"/>
            </a:p>
          </p:txBody>
        </p:sp>
        <p:sp>
          <p:nvSpPr>
            <p:cNvPr id="17" name="AutoShape 12"/>
            <p:cNvSpPr>
              <a:spLocks/>
            </p:cNvSpPr>
            <p:nvPr/>
          </p:nvSpPr>
          <p:spPr bwMode="auto">
            <a:xfrm>
              <a:off x="5029200" y="21336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M11</a:t>
              </a:r>
              <a:endParaRPr lang="en-US" altLang="en-US" dirty="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V="1">
              <a:off x="7391400" y="3505200"/>
              <a:ext cx="0" cy="2133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7162800" y="3505200"/>
              <a:ext cx="0" cy="2133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2057400" y="4572000"/>
              <a:ext cx="0" cy="1066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2438400" y="4572000"/>
              <a:ext cx="0" cy="1066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V="1">
              <a:off x="3733800" y="3429000"/>
              <a:ext cx="0" cy="2209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3505200" y="34290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V="1">
              <a:off x="3886200" y="3429000"/>
              <a:ext cx="0" cy="685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4038600" y="34290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V="1">
              <a:off x="2209800" y="3886200"/>
              <a:ext cx="0" cy="304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209800" y="3886200"/>
              <a:ext cx="1295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4495800" y="4114800"/>
              <a:ext cx="0" cy="15240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5257800" y="3886200"/>
              <a:ext cx="0" cy="1752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>
              <a:off x="4038600" y="3886200"/>
              <a:ext cx="12192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H="1">
              <a:off x="3886200" y="4114800"/>
              <a:ext cx="6096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5562600" y="25146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5181600" y="2514600"/>
              <a:ext cx="0" cy="304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5562600" y="2971800"/>
              <a:ext cx="1676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3733800" y="2819400"/>
              <a:ext cx="14478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3733800" y="2819400"/>
              <a:ext cx="0" cy="228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7239000" y="29718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308A3-9878-4537-8979-8259993D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061D5-9323-4C38-B028-5DF64CAC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249928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EC5893B-523F-47B9-8E14-B83B5F21470D}"/>
              </a:ext>
            </a:extLst>
          </p:cNvPr>
          <p:cNvGrpSpPr/>
          <p:nvPr/>
        </p:nvGrpSpPr>
        <p:grpSpPr>
          <a:xfrm>
            <a:off x="2057400" y="1219200"/>
            <a:ext cx="7924800" cy="4114800"/>
            <a:chOff x="228600" y="1905000"/>
            <a:chExt cx="7924800" cy="4114800"/>
          </a:xfrm>
        </p:grpSpPr>
        <p:sp>
          <p:nvSpPr>
            <p:cNvPr id="7" name="AutoShape 2"/>
            <p:cNvSpPr>
              <a:spLocks/>
            </p:cNvSpPr>
            <p:nvPr/>
          </p:nvSpPr>
          <p:spPr bwMode="auto">
            <a:xfrm>
              <a:off x="3429000" y="2819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M9</a:t>
              </a:r>
              <a:endParaRPr lang="en-US" altLang="en-US" dirty="0"/>
            </a:p>
          </p:txBody>
        </p:sp>
        <p:sp>
          <p:nvSpPr>
            <p:cNvPr id="8" name="AutoShape 3"/>
            <p:cNvSpPr>
              <a:spLocks/>
            </p:cNvSpPr>
            <p:nvPr/>
          </p:nvSpPr>
          <p:spPr bwMode="auto">
            <a:xfrm>
              <a:off x="1905000" y="3962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M8</a:t>
              </a:r>
              <a:endParaRPr lang="en-US" altLang="en-US" dirty="0"/>
            </a:p>
          </p:txBody>
        </p:sp>
        <p:sp>
          <p:nvSpPr>
            <p:cNvPr id="9" name="AutoShape 4"/>
            <p:cNvSpPr>
              <a:spLocks/>
            </p:cNvSpPr>
            <p:nvPr/>
          </p:nvSpPr>
          <p:spPr bwMode="auto">
            <a:xfrm>
              <a:off x="15240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</a:t>
              </a:r>
              <a:endParaRPr lang="en-US" altLang="en-US" dirty="0"/>
            </a:p>
          </p:txBody>
        </p:sp>
        <p:sp>
          <p:nvSpPr>
            <p:cNvPr id="10" name="AutoShape 5"/>
            <p:cNvSpPr>
              <a:spLocks/>
            </p:cNvSpPr>
            <p:nvPr/>
          </p:nvSpPr>
          <p:spPr bwMode="auto">
            <a:xfrm>
              <a:off x="22860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M2</a:t>
              </a:r>
              <a:endParaRPr lang="en-US" altLang="en-US" dirty="0"/>
            </a:p>
          </p:txBody>
        </p:sp>
        <p:sp>
          <p:nvSpPr>
            <p:cNvPr id="11" name="AutoShape 6"/>
            <p:cNvSpPr>
              <a:spLocks/>
            </p:cNvSpPr>
            <p:nvPr/>
          </p:nvSpPr>
          <p:spPr bwMode="auto">
            <a:xfrm>
              <a:off x="34290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M3</a:t>
              </a:r>
              <a:endParaRPr lang="en-US" altLang="en-US" dirty="0"/>
            </a:p>
          </p:txBody>
        </p:sp>
        <p:sp>
          <p:nvSpPr>
            <p:cNvPr id="12" name="AutoShape 7"/>
            <p:cNvSpPr>
              <a:spLocks/>
            </p:cNvSpPr>
            <p:nvPr/>
          </p:nvSpPr>
          <p:spPr bwMode="auto">
            <a:xfrm>
              <a:off x="41910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M4</a:t>
              </a:r>
              <a:endParaRPr lang="en-US" altLang="en-US" dirty="0"/>
            </a:p>
          </p:txBody>
        </p:sp>
        <p:sp>
          <p:nvSpPr>
            <p:cNvPr id="13" name="AutoShape 8"/>
            <p:cNvSpPr>
              <a:spLocks/>
            </p:cNvSpPr>
            <p:nvPr/>
          </p:nvSpPr>
          <p:spPr bwMode="auto">
            <a:xfrm>
              <a:off x="49530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M5</a:t>
              </a:r>
              <a:endParaRPr lang="en-US" altLang="en-US" dirty="0"/>
            </a:p>
          </p:txBody>
        </p:sp>
        <p:sp>
          <p:nvSpPr>
            <p:cNvPr id="14" name="AutoShape 9"/>
            <p:cNvSpPr>
              <a:spLocks/>
            </p:cNvSpPr>
            <p:nvPr/>
          </p:nvSpPr>
          <p:spPr bwMode="auto">
            <a:xfrm>
              <a:off x="65532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M6</a:t>
              </a:r>
              <a:endParaRPr lang="en-US" altLang="en-US" dirty="0"/>
            </a:p>
          </p:txBody>
        </p:sp>
        <p:sp>
          <p:nvSpPr>
            <p:cNvPr id="15" name="AutoShape 10"/>
            <p:cNvSpPr>
              <a:spLocks/>
            </p:cNvSpPr>
            <p:nvPr/>
          </p:nvSpPr>
          <p:spPr bwMode="auto">
            <a:xfrm>
              <a:off x="7315200" y="5410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M7</a:t>
              </a:r>
              <a:endParaRPr lang="en-US" altLang="en-US" dirty="0"/>
            </a:p>
          </p:txBody>
        </p:sp>
        <p:sp>
          <p:nvSpPr>
            <p:cNvPr id="16" name="AutoShape 11"/>
            <p:cNvSpPr>
              <a:spLocks/>
            </p:cNvSpPr>
            <p:nvPr/>
          </p:nvSpPr>
          <p:spPr bwMode="auto">
            <a:xfrm>
              <a:off x="6934200" y="28956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M10</a:t>
              </a:r>
              <a:endParaRPr lang="en-US" altLang="en-US" dirty="0"/>
            </a:p>
          </p:txBody>
        </p:sp>
        <p:sp>
          <p:nvSpPr>
            <p:cNvPr id="17" name="AutoShape 12"/>
            <p:cNvSpPr>
              <a:spLocks/>
            </p:cNvSpPr>
            <p:nvPr/>
          </p:nvSpPr>
          <p:spPr bwMode="auto">
            <a:xfrm>
              <a:off x="5029200" y="19050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M11</a:t>
              </a:r>
              <a:endParaRPr lang="en-US" altLang="en-US" dirty="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V="1">
              <a:off x="7391400" y="3276600"/>
              <a:ext cx="0" cy="2133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7162800" y="3276600"/>
              <a:ext cx="0" cy="2133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2057400" y="4343400"/>
              <a:ext cx="0" cy="1066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2438400" y="4343400"/>
              <a:ext cx="0" cy="1066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0" cy="2209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3505200" y="32004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V="1">
              <a:off x="3886200" y="3200400"/>
              <a:ext cx="0" cy="685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4038600" y="32004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V="1">
              <a:off x="2209800" y="3657600"/>
              <a:ext cx="0" cy="304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209800" y="3657600"/>
              <a:ext cx="1295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4495800" y="3886200"/>
              <a:ext cx="0" cy="15240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5257800" y="3657600"/>
              <a:ext cx="0" cy="1752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>
              <a:off x="4038600" y="3657600"/>
              <a:ext cx="12192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H="1">
              <a:off x="3886200" y="3886200"/>
              <a:ext cx="6096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5562600" y="22860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5181600" y="2286000"/>
              <a:ext cx="0" cy="304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5562600" y="2743200"/>
              <a:ext cx="1676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3733800" y="2590800"/>
              <a:ext cx="14478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3733800" y="2590800"/>
              <a:ext cx="0" cy="228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7239000" y="27432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8" name="AutoShape 33"/>
            <p:cNvSpPr>
              <a:spLocks/>
            </p:cNvSpPr>
            <p:nvPr/>
          </p:nvSpPr>
          <p:spPr bwMode="auto">
            <a:xfrm>
              <a:off x="1371600" y="3352800"/>
              <a:ext cx="1828800" cy="25908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39" name="AutoShape 34"/>
            <p:cNvSpPr>
              <a:spLocks/>
            </p:cNvSpPr>
            <p:nvPr/>
          </p:nvSpPr>
          <p:spPr bwMode="auto">
            <a:xfrm>
              <a:off x="1447800" y="3276600"/>
              <a:ext cx="15240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FF6600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A</a:t>
              </a:r>
              <a:endParaRPr lang="en-US" altLang="en-US" dirty="0"/>
            </a:p>
          </p:txBody>
        </p:sp>
        <p:sp>
          <p:nvSpPr>
            <p:cNvPr id="40" name="AutoShape 35"/>
            <p:cNvSpPr>
              <a:spLocks/>
            </p:cNvSpPr>
            <p:nvPr/>
          </p:nvSpPr>
          <p:spPr bwMode="auto">
            <a:xfrm>
              <a:off x="1219200" y="2438400"/>
              <a:ext cx="4724400" cy="3581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41" name="AutoShape 36"/>
            <p:cNvSpPr>
              <a:spLocks/>
            </p:cNvSpPr>
            <p:nvPr/>
          </p:nvSpPr>
          <p:spPr bwMode="auto">
            <a:xfrm>
              <a:off x="1295400" y="2362200"/>
              <a:ext cx="16002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B</a:t>
              </a:r>
              <a:endParaRPr lang="en-US" altLang="en-US" dirty="0"/>
            </a:p>
          </p:txBody>
        </p:sp>
        <p:sp>
          <p:nvSpPr>
            <p:cNvPr id="42" name="AutoShape 37"/>
            <p:cNvSpPr>
              <a:spLocks/>
            </p:cNvSpPr>
            <p:nvPr/>
          </p:nvSpPr>
          <p:spPr bwMode="auto">
            <a:xfrm>
              <a:off x="6172200" y="2438400"/>
              <a:ext cx="1981200" cy="3581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339966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43" name="AutoShape 38"/>
            <p:cNvSpPr>
              <a:spLocks/>
            </p:cNvSpPr>
            <p:nvPr/>
          </p:nvSpPr>
          <p:spPr bwMode="auto">
            <a:xfrm>
              <a:off x="6553200" y="2362200"/>
              <a:ext cx="16002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339966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c</a:t>
              </a:r>
              <a:endParaRPr lang="en-US" altLang="en-US" dirty="0"/>
            </a:p>
          </p:txBody>
        </p:sp>
        <p:sp>
          <p:nvSpPr>
            <p:cNvPr id="44" name="AutoShape 39"/>
            <p:cNvSpPr>
              <a:spLocks/>
            </p:cNvSpPr>
            <p:nvPr/>
          </p:nvSpPr>
          <p:spPr bwMode="auto">
            <a:xfrm>
              <a:off x="228600" y="3962400"/>
              <a:ext cx="1066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2</a:t>
              </a:r>
              <a:endParaRPr lang="en-US" altLang="en-US" dirty="0"/>
            </a:p>
          </p:txBody>
        </p:sp>
        <p:sp>
          <p:nvSpPr>
            <p:cNvPr id="45" name="AutoShape 40"/>
            <p:cNvSpPr>
              <a:spLocks/>
            </p:cNvSpPr>
            <p:nvPr/>
          </p:nvSpPr>
          <p:spPr bwMode="auto">
            <a:xfrm>
              <a:off x="228600" y="19812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4</a:t>
              </a:r>
              <a:endParaRPr lang="en-US" altLang="en-US" dirty="0"/>
            </a:p>
          </p:txBody>
        </p:sp>
        <p:sp>
          <p:nvSpPr>
            <p:cNvPr id="46" name="AutoShape 41"/>
            <p:cNvSpPr>
              <a:spLocks/>
            </p:cNvSpPr>
            <p:nvPr/>
          </p:nvSpPr>
          <p:spPr bwMode="auto">
            <a:xfrm>
              <a:off x="228600" y="28194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3</a:t>
              </a:r>
              <a:endParaRPr lang="en-US" altLang="en-US" dirty="0"/>
            </a:p>
          </p:txBody>
        </p:sp>
        <p:sp>
          <p:nvSpPr>
            <p:cNvPr id="47" name="AutoShape 42"/>
            <p:cNvSpPr>
              <a:spLocks/>
            </p:cNvSpPr>
            <p:nvPr/>
          </p:nvSpPr>
          <p:spPr bwMode="auto">
            <a:xfrm>
              <a:off x="228600" y="54102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1</a:t>
              </a:r>
              <a:endParaRPr lang="en-US" altLang="en-US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7EB1108-EE82-4910-8FD0-388DDD2DC038}"/>
              </a:ext>
            </a:extLst>
          </p:cNvPr>
          <p:cNvSpPr/>
          <p:nvPr/>
        </p:nvSpPr>
        <p:spPr>
          <a:xfrm>
            <a:off x="838200" y="279400"/>
            <a:ext cx="465274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Bottom-up Testing</a:t>
            </a:r>
            <a:endParaRPr lang="en-GB" sz="4400" b="1" u="sng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0D669-DBE0-4ECE-BF0E-48E199E9E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CB061-2DB3-4D66-8595-25BB8D48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7645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FA88A7B0-FF94-4B0D-954A-B83822535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262D49-69FC-4F74-9719-EA66C372EED9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842720C8-77C9-4EC3-AD07-82A4ED703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44475"/>
            <a:ext cx="7772400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b="1" u="sng" dirty="0">
                <a:solidFill>
                  <a:srgbClr val="FF0000"/>
                </a:solidFill>
              </a:rPr>
              <a:t>Top-Down Integration Testing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03CA6FF-416F-4253-8361-679D2827B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990600"/>
            <a:ext cx="10426700" cy="49403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Main program used </a:t>
            </a:r>
            <a:r>
              <a:rPr lang="en-US" altLang="en-US" dirty="0"/>
              <a:t>as a test driver and </a:t>
            </a:r>
            <a:r>
              <a:rPr lang="en-US" altLang="en-US" dirty="0">
                <a:solidFill>
                  <a:srgbClr val="00B050"/>
                </a:solidFill>
              </a:rPr>
              <a:t>stubs</a:t>
            </a:r>
            <a:r>
              <a:rPr lang="en-US" altLang="en-US" dirty="0"/>
              <a:t> are substituted for components directly subordinate to it.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Subordinate stubs are</a:t>
            </a:r>
            <a:r>
              <a:rPr lang="en-US" altLang="en-US" b="1" dirty="0"/>
              <a:t> </a:t>
            </a:r>
            <a:r>
              <a:rPr lang="en-US" altLang="en-US" dirty="0"/>
              <a:t>replaced one at a time with real components (following the depth-first or breadth-first approach).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Tests are conducted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as each component is integrated.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On completion of each set </a:t>
            </a:r>
            <a:r>
              <a:rPr lang="en-US" altLang="en-US" dirty="0"/>
              <a:t>of tests, stub is replaced with a real component.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b="1" dirty="0">
                <a:solidFill>
                  <a:srgbClr val="FF0000"/>
                </a:solidFill>
              </a:rPr>
              <a:t>Regression testing </a:t>
            </a:r>
            <a:r>
              <a:rPr lang="en-US" altLang="en-US" dirty="0"/>
              <a:t>may be used to ensure that new errors not introduced. 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16A9FB-85F3-4CF0-8F23-B549F3D99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72" y="147639"/>
            <a:ext cx="10758055" cy="701675"/>
          </a:xfrm>
        </p:spPr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Top-down Testing</a:t>
            </a:r>
            <a:endParaRPr lang="en-GB" b="1" u="sng" dirty="0">
              <a:solidFill>
                <a:srgbClr val="FF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275EFF9-8CC2-4C3C-81C7-3B78BABF4809}"/>
              </a:ext>
            </a:extLst>
          </p:cNvPr>
          <p:cNvGrpSpPr/>
          <p:nvPr/>
        </p:nvGrpSpPr>
        <p:grpSpPr>
          <a:xfrm>
            <a:off x="1905000" y="914401"/>
            <a:ext cx="8153400" cy="5121275"/>
            <a:chOff x="228600" y="1447800"/>
            <a:chExt cx="8153400" cy="5121275"/>
          </a:xfrm>
        </p:grpSpPr>
        <p:sp>
          <p:nvSpPr>
            <p:cNvPr id="7" name="AutoShape 2"/>
            <p:cNvSpPr>
              <a:spLocks/>
            </p:cNvSpPr>
            <p:nvPr/>
          </p:nvSpPr>
          <p:spPr bwMode="auto">
            <a:xfrm>
              <a:off x="3429000" y="3124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M9</a:t>
              </a:r>
              <a:endParaRPr lang="en-US" altLang="en-US" dirty="0"/>
            </a:p>
          </p:txBody>
        </p:sp>
        <p:sp>
          <p:nvSpPr>
            <p:cNvPr id="8" name="AutoShape 3"/>
            <p:cNvSpPr>
              <a:spLocks/>
            </p:cNvSpPr>
            <p:nvPr/>
          </p:nvSpPr>
          <p:spPr bwMode="auto">
            <a:xfrm>
              <a:off x="1905000" y="3886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M8</a:t>
              </a:r>
              <a:endParaRPr lang="en-US" altLang="en-US" dirty="0"/>
            </a:p>
          </p:txBody>
        </p:sp>
        <p:sp>
          <p:nvSpPr>
            <p:cNvPr id="9" name="AutoShape 4"/>
            <p:cNvSpPr>
              <a:spLocks/>
            </p:cNvSpPr>
            <p:nvPr/>
          </p:nvSpPr>
          <p:spPr bwMode="auto">
            <a:xfrm>
              <a:off x="1524000" y="5486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</a:t>
              </a:r>
              <a:endParaRPr lang="en-US" altLang="en-US" dirty="0"/>
            </a:p>
          </p:txBody>
        </p:sp>
        <p:sp>
          <p:nvSpPr>
            <p:cNvPr id="10" name="AutoShape 5"/>
            <p:cNvSpPr>
              <a:spLocks/>
            </p:cNvSpPr>
            <p:nvPr/>
          </p:nvSpPr>
          <p:spPr bwMode="auto">
            <a:xfrm>
              <a:off x="2286000" y="5486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M2</a:t>
              </a:r>
              <a:endParaRPr lang="en-US" altLang="en-US" dirty="0"/>
            </a:p>
          </p:txBody>
        </p:sp>
        <p:sp>
          <p:nvSpPr>
            <p:cNvPr id="11" name="AutoShape 6"/>
            <p:cNvSpPr>
              <a:spLocks/>
            </p:cNvSpPr>
            <p:nvPr/>
          </p:nvSpPr>
          <p:spPr bwMode="auto">
            <a:xfrm>
              <a:off x="3429000" y="6172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M3</a:t>
              </a:r>
              <a:endParaRPr lang="en-US" altLang="en-US" dirty="0"/>
            </a:p>
          </p:txBody>
        </p:sp>
        <p:sp>
          <p:nvSpPr>
            <p:cNvPr id="12" name="AutoShape 7"/>
            <p:cNvSpPr>
              <a:spLocks/>
            </p:cNvSpPr>
            <p:nvPr/>
          </p:nvSpPr>
          <p:spPr bwMode="auto">
            <a:xfrm>
              <a:off x="4191000" y="6172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M4</a:t>
              </a:r>
              <a:endParaRPr lang="en-US" altLang="en-US" dirty="0"/>
            </a:p>
          </p:txBody>
        </p:sp>
        <p:sp>
          <p:nvSpPr>
            <p:cNvPr id="13" name="AutoShape 8"/>
            <p:cNvSpPr>
              <a:spLocks/>
            </p:cNvSpPr>
            <p:nvPr/>
          </p:nvSpPr>
          <p:spPr bwMode="auto">
            <a:xfrm>
              <a:off x="4953000" y="6172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M5</a:t>
              </a:r>
              <a:endParaRPr lang="en-US" altLang="en-US" dirty="0"/>
            </a:p>
          </p:txBody>
        </p:sp>
        <p:sp>
          <p:nvSpPr>
            <p:cNvPr id="14" name="AutoShape 9"/>
            <p:cNvSpPr>
              <a:spLocks/>
            </p:cNvSpPr>
            <p:nvPr/>
          </p:nvSpPr>
          <p:spPr bwMode="auto">
            <a:xfrm>
              <a:off x="6553200" y="4724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M6</a:t>
              </a:r>
              <a:endParaRPr lang="en-US" altLang="en-US" dirty="0"/>
            </a:p>
          </p:txBody>
        </p:sp>
        <p:sp>
          <p:nvSpPr>
            <p:cNvPr id="15" name="AutoShape 10"/>
            <p:cNvSpPr>
              <a:spLocks/>
            </p:cNvSpPr>
            <p:nvPr/>
          </p:nvSpPr>
          <p:spPr bwMode="auto">
            <a:xfrm>
              <a:off x="7315200" y="4724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M7</a:t>
              </a:r>
              <a:endParaRPr lang="en-US" altLang="en-US" dirty="0"/>
            </a:p>
          </p:txBody>
        </p:sp>
        <p:sp>
          <p:nvSpPr>
            <p:cNvPr id="16" name="AutoShape 11"/>
            <p:cNvSpPr>
              <a:spLocks/>
            </p:cNvSpPr>
            <p:nvPr/>
          </p:nvSpPr>
          <p:spPr bwMode="auto">
            <a:xfrm>
              <a:off x="6934200" y="31242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M10</a:t>
              </a:r>
              <a:endParaRPr lang="en-US" altLang="en-US" dirty="0"/>
            </a:p>
          </p:txBody>
        </p:sp>
        <p:sp>
          <p:nvSpPr>
            <p:cNvPr id="17" name="AutoShape 12"/>
            <p:cNvSpPr>
              <a:spLocks/>
            </p:cNvSpPr>
            <p:nvPr/>
          </p:nvSpPr>
          <p:spPr bwMode="auto">
            <a:xfrm>
              <a:off x="5029200" y="2438400"/>
              <a:ext cx="685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C0C0C0"/>
            </a:solidFill>
            <a:ln w="2857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 algn="ctr">
                <a:spcBef>
                  <a:spcPts val="1000"/>
                </a:spcBef>
              </a:pPr>
              <a:r>
                <a:rPr lang="en-US" altLang="en-US" sz="18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M11</a:t>
              </a:r>
              <a:endParaRPr lang="en-US" altLang="en-US" dirty="0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 flipV="1">
              <a:off x="7391400" y="3505200"/>
              <a:ext cx="0" cy="1219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 flipV="1">
              <a:off x="7162800" y="3505200"/>
              <a:ext cx="0" cy="1219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 flipV="1">
              <a:off x="2057400" y="4267200"/>
              <a:ext cx="0" cy="1219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 flipV="1">
              <a:off x="2438400" y="4267200"/>
              <a:ext cx="0" cy="1219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 flipV="1">
              <a:off x="3733800" y="3505200"/>
              <a:ext cx="0" cy="26670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 flipV="1">
              <a:off x="3505200" y="3505200"/>
              <a:ext cx="0" cy="228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 flipV="1">
              <a:off x="3886200" y="3505200"/>
              <a:ext cx="0" cy="4572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 flipV="1">
              <a:off x="4038600" y="3505200"/>
              <a:ext cx="0" cy="2286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 flipV="1">
              <a:off x="2209800" y="37338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209800" y="3733800"/>
              <a:ext cx="1295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 flipV="1">
              <a:off x="4495800" y="3962400"/>
              <a:ext cx="0" cy="22098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 flipV="1">
              <a:off x="5257800" y="3733800"/>
              <a:ext cx="0" cy="2438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>
              <a:off x="4038600" y="3733800"/>
              <a:ext cx="12192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H="1">
              <a:off x="3886200" y="3962400"/>
              <a:ext cx="6096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 flipV="1">
              <a:off x="5562600" y="28194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 flipV="1">
              <a:off x="5181600" y="28194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5562600" y="2971800"/>
              <a:ext cx="16764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3733800" y="2971800"/>
              <a:ext cx="1447800" cy="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3733800" y="29718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7239000" y="2971800"/>
              <a:ext cx="0" cy="152400"/>
            </a:xfrm>
            <a:prstGeom prst="line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38" name="AutoShape 33"/>
            <p:cNvSpPr>
              <a:spLocks/>
            </p:cNvSpPr>
            <p:nvPr/>
          </p:nvSpPr>
          <p:spPr bwMode="auto">
            <a:xfrm>
              <a:off x="1511300" y="1790700"/>
              <a:ext cx="6642100" cy="34671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FF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39" name="AutoShape 34"/>
            <p:cNvSpPr>
              <a:spLocks/>
            </p:cNvSpPr>
            <p:nvPr/>
          </p:nvSpPr>
          <p:spPr bwMode="auto">
            <a:xfrm>
              <a:off x="1524000" y="1752600"/>
              <a:ext cx="15240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FF6600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C</a:t>
              </a:r>
              <a:endParaRPr lang="en-US" altLang="en-US" dirty="0"/>
            </a:p>
          </p:txBody>
        </p:sp>
        <p:sp>
          <p:nvSpPr>
            <p:cNvPr id="40" name="AutoShape 35"/>
            <p:cNvSpPr>
              <a:spLocks/>
            </p:cNvSpPr>
            <p:nvPr/>
          </p:nvSpPr>
          <p:spPr bwMode="auto">
            <a:xfrm>
              <a:off x="3276600" y="2286000"/>
              <a:ext cx="4495800" cy="12954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3333CC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41" name="AutoShape 36"/>
            <p:cNvSpPr>
              <a:spLocks/>
            </p:cNvSpPr>
            <p:nvPr/>
          </p:nvSpPr>
          <p:spPr bwMode="auto">
            <a:xfrm>
              <a:off x="3276600" y="2286000"/>
              <a:ext cx="16002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3333CC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A</a:t>
              </a:r>
              <a:endParaRPr lang="en-US" altLang="en-US" dirty="0"/>
            </a:p>
          </p:txBody>
        </p:sp>
        <p:sp>
          <p:nvSpPr>
            <p:cNvPr id="42" name="AutoShape 37"/>
            <p:cNvSpPr>
              <a:spLocks/>
            </p:cNvSpPr>
            <p:nvPr/>
          </p:nvSpPr>
          <p:spPr bwMode="auto">
            <a:xfrm>
              <a:off x="1751013" y="2133600"/>
              <a:ext cx="6173787" cy="23622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339966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43" name="AutoShape 38"/>
            <p:cNvSpPr>
              <a:spLocks/>
            </p:cNvSpPr>
            <p:nvPr/>
          </p:nvSpPr>
          <p:spPr bwMode="auto">
            <a:xfrm>
              <a:off x="1752600" y="2057400"/>
              <a:ext cx="16002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339966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B</a:t>
              </a:r>
              <a:endParaRPr lang="en-US" altLang="en-US" dirty="0"/>
            </a:p>
          </p:txBody>
        </p:sp>
        <p:sp>
          <p:nvSpPr>
            <p:cNvPr id="44" name="AutoShape 39"/>
            <p:cNvSpPr>
              <a:spLocks/>
            </p:cNvSpPr>
            <p:nvPr/>
          </p:nvSpPr>
          <p:spPr bwMode="auto">
            <a:xfrm>
              <a:off x="228600" y="3886200"/>
              <a:ext cx="10668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3</a:t>
              </a:r>
              <a:endParaRPr lang="en-US" altLang="en-US" dirty="0"/>
            </a:p>
          </p:txBody>
        </p:sp>
        <p:sp>
          <p:nvSpPr>
            <p:cNvPr id="45" name="AutoShape 40"/>
            <p:cNvSpPr>
              <a:spLocks/>
            </p:cNvSpPr>
            <p:nvPr/>
          </p:nvSpPr>
          <p:spPr bwMode="auto">
            <a:xfrm>
              <a:off x="228600" y="24384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1</a:t>
              </a:r>
              <a:endParaRPr lang="en-US" altLang="en-US" dirty="0"/>
            </a:p>
          </p:txBody>
        </p:sp>
        <p:sp>
          <p:nvSpPr>
            <p:cNvPr id="46" name="AutoShape 41"/>
            <p:cNvSpPr>
              <a:spLocks/>
            </p:cNvSpPr>
            <p:nvPr/>
          </p:nvSpPr>
          <p:spPr bwMode="auto">
            <a:xfrm>
              <a:off x="228600" y="32004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2</a:t>
              </a:r>
              <a:endParaRPr lang="en-US" altLang="en-US" dirty="0"/>
            </a:p>
          </p:txBody>
        </p:sp>
        <p:sp>
          <p:nvSpPr>
            <p:cNvPr id="47" name="AutoShape 42"/>
            <p:cNvSpPr>
              <a:spLocks/>
            </p:cNvSpPr>
            <p:nvPr/>
          </p:nvSpPr>
          <p:spPr bwMode="auto">
            <a:xfrm>
              <a:off x="228600" y="54864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5</a:t>
              </a:r>
              <a:endParaRPr lang="en-US" altLang="en-US" dirty="0"/>
            </a:p>
          </p:txBody>
        </p:sp>
        <p:sp>
          <p:nvSpPr>
            <p:cNvPr id="48" name="AutoShape 43"/>
            <p:cNvSpPr>
              <a:spLocks/>
            </p:cNvSpPr>
            <p:nvPr/>
          </p:nvSpPr>
          <p:spPr bwMode="auto">
            <a:xfrm>
              <a:off x="1219200" y="1524000"/>
              <a:ext cx="7162800" cy="45339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38100" cap="flat" cmpd="sng">
              <a:solidFill>
                <a:srgbClr val="9966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endParaRPr lang="en-US" altLang="en-US" sz="18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49" name="AutoShape 44"/>
            <p:cNvSpPr>
              <a:spLocks/>
            </p:cNvSpPr>
            <p:nvPr/>
          </p:nvSpPr>
          <p:spPr bwMode="auto">
            <a:xfrm>
              <a:off x="1219200" y="1447800"/>
              <a:ext cx="1524000" cy="3683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000"/>
                </a:spcBef>
              </a:pPr>
              <a:r>
                <a:rPr lang="en-US" altLang="en-US" sz="1800" b="1" dirty="0">
                  <a:solidFill>
                    <a:srgbClr val="996600"/>
                  </a:solidFill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Integration D</a:t>
              </a:r>
              <a:endParaRPr lang="en-US" altLang="en-US" dirty="0"/>
            </a:p>
          </p:txBody>
        </p:sp>
        <p:sp>
          <p:nvSpPr>
            <p:cNvPr id="50" name="AutoShape 45"/>
            <p:cNvSpPr>
              <a:spLocks/>
            </p:cNvSpPr>
            <p:nvPr/>
          </p:nvSpPr>
          <p:spPr bwMode="auto">
            <a:xfrm>
              <a:off x="228600" y="47244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4</a:t>
              </a:r>
              <a:endParaRPr lang="en-US" altLang="en-US" dirty="0"/>
            </a:p>
          </p:txBody>
        </p:sp>
        <p:sp>
          <p:nvSpPr>
            <p:cNvPr id="51" name="AutoShape 46"/>
            <p:cNvSpPr>
              <a:spLocks/>
            </p:cNvSpPr>
            <p:nvPr/>
          </p:nvSpPr>
          <p:spPr bwMode="auto">
            <a:xfrm>
              <a:off x="228600" y="6172200"/>
              <a:ext cx="990600" cy="3968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50800" tIns="50800" rIns="50800" bIns="50800"/>
            <a:lstStyle>
              <a:lvl1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1pPr>
              <a:lvl2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2pPr>
              <a:lvl3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3pPr>
              <a:lvl4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4pPr>
              <a:lvl5pPr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5pPr>
              <a:lvl6pPr marL="13716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6pPr>
              <a:lvl7pPr marL="18288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7pPr>
              <a:lvl8pPr marL="22860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8pPr>
              <a:lvl9pPr marL="274320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rgbClr val="000000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defRPr>
              </a:lvl9pPr>
            </a:lstStyle>
            <a:p>
              <a:pPr>
                <a:spcBef>
                  <a:spcPts val="1200"/>
                </a:spcBef>
              </a:pPr>
              <a:r>
                <a:rPr lang="en-US" altLang="en-US" sz="2000" b="1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Stage 6</a:t>
              </a:r>
              <a:endParaRPr lang="en-US" altLang="en-US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2306-EB92-4FD4-BC91-6EB521EB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AECC-EABC-4315-9212-43A50910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1527712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72" y="147639"/>
            <a:ext cx="10758055" cy="701675"/>
          </a:xfrm>
        </p:spPr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Top-down Testing</a:t>
            </a:r>
            <a:endParaRPr lang="en-GB" b="1" u="sng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2306-EB92-4FD4-BC91-6EB521EB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AECC-EABC-4315-9212-43A50910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42975"/>
            <a:ext cx="8864600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8960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72" y="147639"/>
            <a:ext cx="10758055" cy="701675"/>
          </a:xfrm>
        </p:spPr>
        <p:txBody>
          <a:bodyPr/>
          <a:lstStyle/>
          <a:p>
            <a:r>
              <a:rPr lang="en-US" u="sng" dirty="0"/>
              <a:t>Stubs and Drivers: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2306-EB92-4FD4-BC91-6EB521EB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AECC-EABC-4315-9212-43A50910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549400"/>
            <a:ext cx="10350500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Consider an example of a web application, which consists of 4 modules i.e., Module-A, Module-B, Module-C and Module-D. Each of the following modules is responsible for some specific activity or functionality, as under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Module-A</a:t>
            </a:r>
            <a:r>
              <a:rPr lang="en-US" sz="2400" dirty="0"/>
              <a:t> ? Login page of the web application.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Module-B</a:t>
            </a:r>
            <a:r>
              <a:rPr lang="en-US" sz="2400" dirty="0"/>
              <a:t> → Home page of the web application.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Module-C</a:t>
            </a:r>
            <a:r>
              <a:rPr lang="en-US" sz="2400" dirty="0"/>
              <a:t> → Print Setup.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Module-D</a:t>
            </a:r>
            <a:r>
              <a:rPr lang="en-US" sz="2400" dirty="0"/>
              <a:t> → Log out page.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modules A, B, C &amp; D</a:t>
            </a:r>
            <a:r>
              <a:rPr lang="en-US" sz="2400" dirty="0"/>
              <a:t> involves the interdependencies of each module over other.</a:t>
            </a:r>
          </a:p>
        </p:txBody>
      </p:sp>
    </p:spTree>
    <p:extLst>
      <p:ext uri="{BB962C8B-B14F-4D97-AF65-F5344CB8AC3E}">
        <p14:creationId xmlns:p14="http://schemas.microsoft.com/office/powerpoint/2010/main" val="10472501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72" y="147639"/>
            <a:ext cx="10758055" cy="701675"/>
          </a:xfrm>
        </p:spPr>
        <p:txBody>
          <a:bodyPr/>
          <a:lstStyle/>
          <a:p>
            <a:r>
              <a:rPr lang="en-US" u="sng" dirty="0"/>
              <a:t>Stubs and Drivers: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2306-EB92-4FD4-BC91-6EB521EB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AECC-EABC-4315-9212-43A50910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" y="1066800"/>
            <a:ext cx="114427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It is always preferable, to perform testing, in parallel, to the development process. Thus, it implies that subsequent testing must be carried out, immediately after the development of the each module.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Module-A</a:t>
            </a:r>
            <a:r>
              <a:rPr lang="en-US" sz="2400" dirty="0"/>
              <a:t> will be tested, as soon as, it develops. However, to carry out and validate the testing procedures in respect of module-A, there urges the need of </a:t>
            </a:r>
            <a:r>
              <a:rPr lang="en-US" sz="2400" b="1" dirty="0"/>
              <a:t>Module-B</a:t>
            </a:r>
            <a:r>
              <a:rPr lang="en-US" sz="2400" dirty="0"/>
              <a:t>, which is not yet developed. The expected functionality of the login page </a:t>
            </a:r>
            <a:r>
              <a:rPr lang="en-US" sz="2400" b="1" dirty="0"/>
              <a:t>(module-A)</a:t>
            </a:r>
            <a:r>
              <a:rPr lang="en-US" sz="2400" dirty="0"/>
              <a:t> could be validated, only if it is directed to the home page </a:t>
            </a:r>
            <a:r>
              <a:rPr lang="en-US" sz="2400" b="1" dirty="0"/>
              <a:t>(Module-B)</a:t>
            </a:r>
            <a:r>
              <a:rPr lang="en-US" sz="2400" dirty="0"/>
              <a:t>, based on the valid and correct inputs.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But, on the non-availability of the </a:t>
            </a:r>
            <a:r>
              <a:rPr lang="en-US" sz="2400" b="1" dirty="0"/>
              <a:t>Module-B</a:t>
            </a:r>
            <a:r>
              <a:rPr lang="en-US" sz="2400" dirty="0"/>
              <a:t>, it will not be possible to test </a:t>
            </a:r>
            <a:r>
              <a:rPr lang="en-US" sz="2400" b="1" dirty="0"/>
              <a:t>module-A</a:t>
            </a:r>
            <a:r>
              <a:rPr lang="en-US" sz="2400" dirty="0"/>
              <a:t>. These types of circumstances, introduces the stubs &amp; drivers in the </a:t>
            </a:r>
            <a:r>
              <a:rPr lang="en-US" sz="2400" b="1" u="sng" dirty="0">
                <a:hlinkClick r:id="rId2"/>
              </a:rPr>
              <a:t>process of software testing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06336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372" y="147639"/>
            <a:ext cx="10758055" cy="701675"/>
          </a:xfrm>
        </p:spPr>
        <p:txBody>
          <a:bodyPr/>
          <a:lstStyle/>
          <a:p>
            <a:r>
              <a:rPr lang="en-US" u="sng" dirty="0"/>
              <a:t>Stubs and Drivers: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2306-EB92-4FD4-BC91-6EB521EB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AECC-EABC-4315-9212-43A50910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  <p:sp>
        <p:nvSpPr>
          <p:cNvPr id="3" name="Rectangle 2"/>
          <p:cNvSpPr/>
          <p:nvPr/>
        </p:nvSpPr>
        <p:spPr>
          <a:xfrm>
            <a:off x="647700" y="1549400"/>
            <a:ext cx="108585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A dummy module, representing the basic functionality or feature of the module-B, is being developed, and thereafter, it is being integrated with the module-A, to perform testing, efficiently.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Similarly, </a:t>
            </a:r>
            <a:r>
              <a:rPr lang="en-US" sz="2400" b="1" dirty="0"/>
              <a:t>stubs and drivers</a:t>
            </a:r>
            <a:r>
              <a:rPr lang="en-US" sz="2400" dirty="0"/>
              <a:t>, are used to fulfil the requirements of other modules, such as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Log out page (Module-D), needs to be directed to the login page </a:t>
            </a:r>
            <a:r>
              <a:rPr lang="en-US" sz="2400" b="1" dirty="0"/>
              <a:t>(Module-A)</a:t>
            </a:r>
            <a:r>
              <a:rPr lang="en-US" sz="2400" dirty="0"/>
              <a:t>, after successfully logging out from the application. In the event of unavailability of </a:t>
            </a:r>
            <a:r>
              <a:rPr lang="en-US" sz="2400" b="1" dirty="0"/>
              <a:t>Module-A</a:t>
            </a:r>
            <a:r>
              <a:rPr lang="en-US" sz="2400" dirty="0"/>
              <a:t>, stubs and drivers will work as a substitute for it, in order to carry out the testing of module-D.</a:t>
            </a:r>
          </a:p>
        </p:txBody>
      </p:sp>
    </p:spTree>
    <p:extLst>
      <p:ext uri="{BB962C8B-B14F-4D97-AF65-F5344CB8AC3E}">
        <p14:creationId xmlns:p14="http://schemas.microsoft.com/office/powerpoint/2010/main" val="4204467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8F01CA2D-CA55-4A33-8DB5-D51AEB06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09" y="396875"/>
            <a:ext cx="7772400" cy="533400"/>
          </a:xfrm>
        </p:spPr>
        <p:txBody>
          <a:bodyPr>
            <a:no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Big Bang Integration Testing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9CB60F4E-9CAA-4B3C-B840-EDEE6B9B2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0625"/>
            <a:ext cx="10515600" cy="4575175"/>
          </a:xfrm>
        </p:spPr>
        <p:txBody>
          <a:bodyPr>
            <a:normAutofit/>
          </a:bodyPr>
          <a:lstStyle/>
          <a:p>
            <a:pPr algn="just"/>
            <a:r>
              <a:rPr lang="en-US" altLang="en-US" sz="3200" dirty="0">
                <a:solidFill>
                  <a:srgbClr val="FF0000"/>
                </a:solidFill>
              </a:rPr>
              <a:t>All components or modules </a:t>
            </a:r>
            <a:r>
              <a:rPr lang="en-US" altLang="en-US" sz="3200" dirty="0"/>
              <a:t>are integrated simultaneously, after which everything is tested as a whole.</a:t>
            </a:r>
          </a:p>
          <a:p>
            <a:pPr algn="just"/>
            <a:r>
              <a:rPr lang="en-US" altLang="en-US" sz="3200" dirty="0"/>
              <a:t>Big Bang testing has the </a:t>
            </a:r>
            <a:r>
              <a:rPr lang="en-US" altLang="en-US" sz="3200" b="1" dirty="0">
                <a:solidFill>
                  <a:srgbClr val="FF0000"/>
                </a:solidFill>
              </a:rPr>
              <a:t>advantage</a:t>
            </a:r>
            <a:r>
              <a:rPr lang="en-US" altLang="en-US" sz="3200" dirty="0"/>
              <a:t> that everything is finished before integration testing starts.</a:t>
            </a:r>
          </a:p>
          <a:p>
            <a:pPr algn="just"/>
            <a:r>
              <a:rPr lang="en-US" altLang="en-US" sz="3200" dirty="0"/>
              <a:t>The major </a:t>
            </a:r>
            <a:r>
              <a:rPr lang="en-US" altLang="en-US" sz="3200" b="1" dirty="0">
                <a:solidFill>
                  <a:srgbClr val="FF0000"/>
                </a:solidFill>
              </a:rPr>
              <a:t>disadvantage</a:t>
            </a:r>
            <a:r>
              <a:rPr lang="en-US" altLang="en-US" sz="3200" dirty="0"/>
              <a:t> is that, in general, it is time consuming and difficult to trace the cause of failures because of this late integration.</a:t>
            </a:r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57B90AEF-1B1C-4B30-AF3E-2DA5D732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789F3B-9C40-416E-8556-0A3F24B2CCF6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F10AC4-7FCB-4C0E-A534-26B8BF5B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21099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altLang="en-US" b="1" u="sng" dirty="0">
                <a:solidFill>
                  <a:srgbClr val="FF0000"/>
                </a:solidFill>
              </a:rPr>
              <a:t>System Testing Process </a:t>
            </a:r>
            <a:br>
              <a:rPr lang="en-US" altLang="en-US" b="1" u="sng" dirty="0">
                <a:solidFill>
                  <a:srgbClr val="FF0000"/>
                </a:solidFill>
              </a:rPr>
            </a:br>
            <a:r>
              <a:rPr lang="en-US" altLang="en-US" b="1" u="sng" dirty="0">
                <a:solidFill>
                  <a:srgbClr val="FF0000"/>
                </a:solidFill>
              </a:rPr>
              <a:t>Test Cases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0195A5-0C8A-41B3-9BD2-CC56AA4B5A24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5F43C-9495-4231-9C65-32478771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3820308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5745" y="399546"/>
            <a:ext cx="8382000" cy="8255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System Testing Process 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Plan</a:t>
            </a:r>
          </a:p>
          <a:p>
            <a:pPr marL="914400" lvl="2" indent="-168275"/>
            <a:r>
              <a:rPr lang="en-US" sz="2400" b="1" dirty="0"/>
              <a:t>Create master test plan (MTP)</a:t>
            </a:r>
            <a:r>
              <a:rPr lang="en-US" sz="2400" dirty="0"/>
              <a:t> – done by test manager or test lead</a:t>
            </a:r>
          </a:p>
          <a:p>
            <a:pPr marL="914400" lvl="2" indent="-168275"/>
            <a:r>
              <a:rPr lang="en-US" sz="2400" b="1" dirty="0"/>
              <a:t>Create Detailed Test Plan </a:t>
            </a:r>
            <a:r>
              <a:rPr lang="en-US" sz="2400" dirty="0"/>
              <a:t>(what to test) – by testers – this will contain test scenarios also known as test conditions</a:t>
            </a:r>
          </a:p>
          <a:p>
            <a:pPr marL="914400" lvl="2" indent="-168275"/>
            <a:r>
              <a:rPr lang="en-US" sz="2400" b="1" dirty="0"/>
              <a:t>Create Detailed Test Cases (DTC)</a:t>
            </a:r>
            <a:r>
              <a:rPr lang="en-US" sz="2400" dirty="0"/>
              <a:t> – how to test – by testers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Execute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Regress and Analyze</a:t>
            </a:r>
          </a:p>
          <a:p>
            <a:pPr>
              <a:buFont typeface="Arial" charset="0"/>
              <a:buNone/>
            </a:pPr>
            <a:endParaRPr lang="en-US" dirty="0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4CA7B9-C8C9-4D3C-8A18-C6FA030F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0F36F-750B-4D6C-8F7D-B6A59AA2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1548620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solidFill>
                  <a:srgbClr val="FF0000"/>
                </a:solidFill>
              </a:rPr>
              <a:t>Test Cases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C43DC-7C76-4CFA-8C14-E145B48C9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83F653-5253-410E-827F-7AF71E03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3909375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272" y="92294"/>
            <a:ext cx="10758055" cy="701675"/>
          </a:xfrm>
        </p:spPr>
        <p:txBody>
          <a:bodyPr/>
          <a:lstStyle/>
          <a:p>
            <a:r>
              <a:rPr lang="en-GB" b="1" u="sng" dirty="0">
                <a:solidFill>
                  <a:srgbClr val="FF0000"/>
                </a:solidFill>
              </a:rPr>
              <a:t>Test Case</a:t>
            </a:r>
            <a:r>
              <a:rPr lang="en-GB" sz="3600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272" y="797828"/>
            <a:ext cx="11305522" cy="584752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en-US" sz="1800" dirty="0"/>
              <a:t>A </a:t>
            </a:r>
            <a:r>
              <a:rPr lang="en-US" altLang="en-US" sz="1800" i="1" dirty="0"/>
              <a:t>test case </a:t>
            </a:r>
            <a:r>
              <a:rPr lang="en-US" altLang="en-US" sz="1800" dirty="0"/>
              <a:t>is a description of a </a:t>
            </a:r>
            <a:r>
              <a:rPr lang="en-US" altLang="en-US" sz="1800" dirty="0">
                <a:solidFill>
                  <a:srgbClr val="FF0000"/>
                </a:solidFill>
              </a:rPr>
              <a:t>specific interaction </a:t>
            </a:r>
            <a:r>
              <a:rPr lang="en-US" altLang="en-US" sz="1800" dirty="0"/>
              <a:t>that a tester will have in order to test a single behavior of the software. </a:t>
            </a:r>
          </a:p>
          <a:p>
            <a:pPr>
              <a:lnSpc>
                <a:spcPct val="120000"/>
              </a:lnSpc>
            </a:pPr>
            <a:r>
              <a:rPr lang="en-US" altLang="en-US" sz="1800" dirty="0"/>
              <a:t>Test cases are </a:t>
            </a:r>
            <a:r>
              <a:rPr lang="en-US" altLang="en-US" sz="1800" dirty="0">
                <a:highlight>
                  <a:srgbClr val="FFFF00"/>
                </a:highlight>
              </a:rPr>
              <a:t>very similar to use cases</a:t>
            </a:r>
            <a:r>
              <a:rPr lang="en-US" altLang="en-US" sz="1800" dirty="0"/>
              <a:t>, in that they are step-by-step narratives which define a specific interaction between the user and the software.</a:t>
            </a:r>
          </a:p>
          <a:p>
            <a:pPr>
              <a:lnSpc>
                <a:spcPct val="120000"/>
              </a:lnSpc>
            </a:pPr>
            <a:r>
              <a:rPr lang="en-US" altLang="en-US" sz="1800" dirty="0"/>
              <a:t>A typical test case is laid out in a </a:t>
            </a:r>
            <a:r>
              <a:rPr lang="en-US" altLang="en-US" sz="1800" dirty="0">
                <a:solidFill>
                  <a:srgbClr val="FF0000"/>
                </a:solidFill>
              </a:rPr>
              <a:t>table</a:t>
            </a:r>
            <a:r>
              <a:rPr lang="en-US" altLang="en-US" sz="1800" dirty="0"/>
              <a:t>, and includes:</a:t>
            </a:r>
          </a:p>
          <a:p>
            <a:pPr marL="576263" lvl="2">
              <a:lnSpc>
                <a:spcPct val="120000"/>
              </a:lnSpc>
            </a:pPr>
            <a:r>
              <a:rPr lang="en-US" altLang="en-US" sz="1400" dirty="0"/>
              <a:t>ID: unique identifier of a test case, i.e. a </a:t>
            </a:r>
            <a:r>
              <a:rPr lang="en-US" altLang="en-US" sz="1400" dirty="0">
                <a:solidFill>
                  <a:srgbClr val="FF0000"/>
                </a:solidFill>
              </a:rPr>
              <a:t>unique </a:t>
            </a:r>
            <a:r>
              <a:rPr lang="en-US" altLang="en-US" sz="1400" i="1" dirty="0">
                <a:solidFill>
                  <a:srgbClr val="FF0000"/>
                </a:solidFill>
              </a:rPr>
              <a:t>name </a:t>
            </a:r>
            <a:r>
              <a:rPr lang="en-US" altLang="en-US" sz="1400" dirty="0"/>
              <a:t>and </a:t>
            </a:r>
            <a:r>
              <a:rPr lang="en-US" altLang="en-US" sz="1400" i="1" dirty="0">
                <a:solidFill>
                  <a:srgbClr val="FF0000"/>
                </a:solidFill>
              </a:rPr>
              <a:t>number</a:t>
            </a:r>
            <a:r>
              <a:rPr lang="en-US" altLang="en-US" sz="1400" i="1" dirty="0"/>
              <a:t>.</a:t>
            </a:r>
          </a:p>
          <a:p>
            <a:pPr marL="576263" lvl="2">
              <a:lnSpc>
                <a:spcPct val="120000"/>
              </a:lnSpc>
            </a:pPr>
            <a:r>
              <a:rPr lang="en-US" altLang="en-US" sz="1400" dirty="0"/>
              <a:t>Features to be tested / steps / input values – what you need to do</a:t>
            </a:r>
          </a:p>
          <a:p>
            <a:pPr marL="571500" lvl="2">
              <a:lnSpc>
                <a:spcPct val="120000"/>
              </a:lnSpc>
            </a:pPr>
            <a:r>
              <a:rPr lang="en-US" altLang="en-US" sz="1800" dirty="0"/>
              <a:t>A </a:t>
            </a:r>
            <a:r>
              <a:rPr lang="en-US" altLang="en-US" sz="1800" i="1" dirty="0">
                <a:solidFill>
                  <a:srgbClr val="FF0000"/>
                </a:solidFill>
              </a:rPr>
              <a:t>requirement</a:t>
            </a:r>
            <a:r>
              <a:rPr lang="en-US" altLang="en-US" sz="1800" i="1" dirty="0"/>
              <a:t> </a:t>
            </a:r>
            <a:r>
              <a:rPr lang="en-US" altLang="en-US" sz="1800" dirty="0"/>
              <a:t>which this test case is exercising.</a:t>
            </a:r>
          </a:p>
          <a:p>
            <a:pPr marL="571500" lvl="1">
              <a:lnSpc>
                <a:spcPct val="120000"/>
              </a:lnSpc>
            </a:pPr>
            <a:r>
              <a:rPr lang="en-US" altLang="en-US" sz="1800" i="1" dirty="0"/>
              <a:t>Preconditions </a:t>
            </a:r>
            <a:r>
              <a:rPr lang="en-US" altLang="en-US" sz="1800" dirty="0"/>
              <a:t>which describe the </a:t>
            </a:r>
            <a:r>
              <a:rPr lang="en-US" altLang="en-US" sz="1800" dirty="0">
                <a:solidFill>
                  <a:srgbClr val="FF0000"/>
                </a:solidFill>
              </a:rPr>
              <a:t>state</a:t>
            </a:r>
            <a:r>
              <a:rPr lang="en-US" altLang="en-US" sz="1800" dirty="0"/>
              <a:t> of the software before the test case (which is often a previous test case that must always be run before the current test case)</a:t>
            </a:r>
          </a:p>
          <a:p>
            <a:pPr marL="571500" lvl="1">
              <a:lnSpc>
                <a:spcPct val="120000"/>
              </a:lnSpc>
            </a:pPr>
            <a:r>
              <a:rPr lang="en-US" altLang="en-US" sz="1800" i="1" dirty="0"/>
              <a:t>Steps </a:t>
            </a:r>
            <a:r>
              <a:rPr lang="en-US" altLang="en-US" sz="1800" dirty="0"/>
              <a:t>that describe the </a:t>
            </a:r>
            <a:r>
              <a:rPr lang="en-US" altLang="en-US" sz="1800" dirty="0">
                <a:solidFill>
                  <a:srgbClr val="FF0000"/>
                </a:solidFill>
              </a:rPr>
              <a:t>specific steps </a:t>
            </a:r>
            <a:r>
              <a:rPr lang="en-US" altLang="en-US" sz="1800" dirty="0"/>
              <a:t>which make up the interaction</a:t>
            </a:r>
          </a:p>
          <a:p>
            <a:pPr marL="571500" lvl="1">
              <a:lnSpc>
                <a:spcPct val="120000"/>
              </a:lnSpc>
            </a:pPr>
            <a:r>
              <a:rPr lang="en-US" altLang="en-US" sz="1800" i="1" dirty="0"/>
              <a:t>Expected Results / output values -what you are supposed to get from application</a:t>
            </a:r>
          </a:p>
          <a:p>
            <a:pPr marL="571500" lvl="2">
              <a:lnSpc>
                <a:spcPct val="120000"/>
              </a:lnSpc>
            </a:pPr>
            <a:r>
              <a:rPr lang="en-US" altLang="en-US" sz="1800" dirty="0"/>
              <a:t>which describe the expected state of the software after the test case is executed.</a:t>
            </a:r>
          </a:p>
          <a:p>
            <a:pPr>
              <a:lnSpc>
                <a:spcPct val="120000"/>
              </a:lnSpc>
            </a:pPr>
            <a:r>
              <a:rPr lang="en-US" altLang="en-US" sz="1800" dirty="0"/>
              <a:t>Test cases must be repeatable.</a:t>
            </a:r>
          </a:p>
          <a:p>
            <a:pPr lvl="1">
              <a:lnSpc>
                <a:spcPct val="120000"/>
              </a:lnSpc>
            </a:pPr>
            <a:r>
              <a:rPr lang="en-US" altLang="en-US" sz="1800" dirty="0"/>
              <a:t>Good test cases are data-specific and describe each interaction necessary to repeat the test exactly. </a:t>
            </a:r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3F9AC-4F2A-4AED-B532-B006C34DA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EFB2A-C94E-41E1-BB3F-9D983B9F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310211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Test Cases – Bad Example</a:t>
            </a:r>
            <a:endParaRPr lang="en-GB" b="1" u="sng" dirty="0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544" y="1511300"/>
            <a:ext cx="7681912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67F85-EC82-4164-B6BD-7ADDC4AF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6DFF9-F4EC-4B9D-8578-F32FA000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2862520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Test Cases – Good Example</a:t>
            </a:r>
            <a:endParaRPr lang="en-GB" b="1" u="sng" dirty="0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66800"/>
            <a:ext cx="8267846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3933CE-75F6-4514-8D5F-8FC7E1D5C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5F806-024A-4772-96AE-6D74C127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39064802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40268"/>
            <a:ext cx="8458200" cy="825500"/>
          </a:xfrm>
        </p:spPr>
        <p:txBody>
          <a:bodyPr>
            <a:norm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Detailed  Test  Cases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988536"/>
            <a:ext cx="9791700" cy="4802664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b="1" dirty="0"/>
              <a:t>The  test  cases  will  have  a  generic  format  as</a:t>
            </a:r>
          </a:p>
          <a:p>
            <a:pPr>
              <a:buFont typeface="Arial" charset="0"/>
              <a:buNone/>
            </a:pPr>
            <a:r>
              <a:rPr lang="en-US" altLang="en-US" b="1" dirty="0"/>
              <a:t>below.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Test  Case  ID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Test  Case  Description 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Test  Prerequisite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Test  Inputs 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Test  Steps</a:t>
            </a:r>
          </a:p>
          <a:p>
            <a:pPr>
              <a:buFont typeface="Wingdings" pitchFamily="2" charset="2"/>
              <a:buChar char="Ø"/>
            </a:pPr>
            <a:r>
              <a:rPr lang="en-US" altLang="en-US" dirty="0"/>
              <a:t>Expected  Results 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BC9A7-657D-4440-A3C0-25A4E314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BB3AB-6C1A-49C0-8172-218E41E5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93800" y="164068"/>
            <a:ext cx="8458200" cy="825500"/>
          </a:xfrm>
        </p:spPr>
        <p:txBody>
          <a:bodyPr>
            <a:norm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Detailed  Test  Cases 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pic>
        <p:nvPicPr>
          <p:cNvPr id="69636" name="Picture 4" descr="http://testingfreak.com/wp-content/uploads/2012/10/testca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70568"/>
            <a:ext cx="92456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18034-7D0C-4C33-BBDA-2D380417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0EC50-F4A8-4410-9958-E74A5AFEB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2115657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8100" y="512763"/>
            <a:ext cx="8458200" cy="825500"/>
          </a:xfrm>
        </p:spPr>
        <p:txBody>
          <a:bodyPr>
            <a:norm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</a:rPr>
              <a:t>Detailed  Test  Cases 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pic>
        <p:nvPicPr>
          <p:cNvPr id="83970" name="Picture 2" descr="http://university.utest.com/wp-content/uploads/sites/5/2013/10/SampleTestCas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536700"/>
            <a:ext cx="96647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C1945-228F-4E9A-9C22-72215DB0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1D9A2-9893-4E86-955D-F8E189B4639E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050A3-19F0-4C8D-A955-3B538CD2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SOFTWARE QUALITY ENGINEERING-CSE302 Spring2020</a:t>
            </a:r>
          </a:p>
        </p:txBody>
      </p:sp>
    </p:spTree>
    <p:extLst>
      <p:ext uri="{BB962C8B-B14F-4D97-AF65-F5344CB8AC3E}">
        <p14:creationId xmlns:p14="http://schemas.microsoft.com/office/powerpoint/2010/main" val="35537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40268"/>
            <a:ext cx="9664700" cy="825500"/>
          </a:xfrm>
        </p:spPr>
        <p:txBody>
          <a:bodyPr>
            <a:noAutofit/>
          </a:bodyPr>
          <a:lstStyle/>
          <a:p>
            <a:r>
              <a:rPr lang="en-US" altLang="en-US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 Problem  Report  or Bug Report</a:t>
            </a:r>
          </a:p>
        </p:txBody>
      </p:sp>
      <p:sp>
        <p:nvSpPr>
          <p:cNvPr id="40963" name="Text Box 4"/>
          <p:cNvSpPr txBox="1">
            <a:spLocks noChangeArrowheads="1"/>
          </p:cNvSpPr>
          <p:nvPr/>
        </p:nvSpPr>
        <p:spPr bwMode="auto">
          <a:xfrm>
            <a:off x="4343400" y="62484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dirty="0"/>
          </a:p>
        </p:txBody>
      </p:sp>
      <p:graphicFrame>
        <p:nvGraphicFramePr>
          <p:cNvPr id="54432" name="Group 16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901248"/>
              </p:ext>
            </p:extLst>
          </p:nvPr>
        </p:nvGraphicFramePr>
        <p:xfrm>
          <a:off x="830262" y="1032557"/>
          <a:ext cx="10675937" cy="5281256"/>
        </p:xfrm>
        <a:graphic>
          <a:graphicData uri="http://schemas.openxmlformats.org/drawingml/2006/table">
            <a:tbl>
              <a:tblPr/>
              <a:tblGrid>
                <a:gridCol w="28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4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101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TPR  Id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 unique  identifier  across  the  company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23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TPR  Description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 brief  description  of  the  problem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101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Date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 date  on  which  the  TPR  is  raised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101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Author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 tester  who  raised  the  TPR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101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Test  Case  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 test  case  that  caused  this  TPR  to  be  raised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395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Software  Version/Build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The  version  number  of  the  software  that  was  tested  and found  faulty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Problem  Severity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Show stopper/High/Medium/Low.   This will be agreed by the lead tester and  the  development  project  manager.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395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Priority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High/Medium/Low. How soon to fix?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674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Problem  Detailed Description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  description  of  what  was  tested  and  what  happened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342900" marR="0" lvl="0" indent="-342900" algn="just" defTabSz="457200" rtl="0" eaLnBrk="0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This  will  be  filled  by  the  tester.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8395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Problem  Resolution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After  fixing  the  problem,  the  developer  fills  this  section, with  details  about  the  fix. Developer gives this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823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Assigned  to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To  whom  the  TPR  is  assigned  to  be  fixed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7382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Expected  Closure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When  the  problem  to  be  closed Data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8395"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Actual  closure  data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342900" marR="0" lvl="0" indent="-342900" algn="just" defTabSz="457200" rtl="0" eaLnBrk="0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TPR  status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When  the  problem  is  actually  rectified  and  closed 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342900" marR="0" lvl="0" indent="-342900" algn="just" defTabSz="457200" rtl="0" eaLnBrk="0" fontAlgn="base" latinLnBrk="0" hangingPunct="0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This  is  a  changing  field  to  reflect  the  status  of  the  TPR.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2E06BE-9610-4838-A12E-9FFEE1EB58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ACEED24-8DEB-4E1B-8260-98253776F626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95E9E-4C4F-4355-9570-FD04D4F816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SOFTWARE QUALITY ENGINEERING-CSE302 Spring2020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AE924CB700F442AC59FB458AA48A48" ma:contentTypeVersion="4" ma:contentTypeDescription="Create a new document." ma:contentTypeScope="" ma:versionID="82863b303f0673a80ef21f4c83a1fc43">
  <xsd:schema xmlns:xsd="http://www.w3.org/2001/XMLSchema" xmlns:xs="http://www.w3.org/2001/XMLSchema" xmlns:p="http://schemas.microsoft.com/office/2006/metadata/properties" xmlns:ns2="3997b96b-c35b-4bfb-b36b-d541d4990fef" targetNamespace="http://schemas.microsoft.com/office/2006/metadata/properties" ma:root="true" ma:fieldsID="4a799aa39358cdef41525dde8d869a75" ns2:_="">
    <xsd:import namespace="3997b96b-c35b-4bfb-b36b-d541d4990f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97b96b-c35b-4bfb-b36b-d541d4990f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457892-E6B2-4F32-A507-0DEAEB0A46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97b96b-c35b-4bfb-b36b-d541d4990f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C281A3-1E28-4FB1-BAA3-40EF1C944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21519C-4477-4B0A-BCB4-F5F37B2F5445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3997b96b-c35b-4bfb-b36b-d541d4990fef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1850</Words>
  <Application>Microsoft Office PowerPoint</Application>
  <PresentationFormat>Widescreen</PresentationFormat>
  <Paragraphs>284</Paragraphs>
  <Slides>33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Calibri Light</vt:lpstr>
      <vt:lpstr>Helvetica</vt:lpstr>
      <vt:lpstr>Times New Roman</vt:lpstr>
      <vt:lpstr>Wingdings</vt:lpstr>
      <vt:lpstr>Office Theme</vt:lpstr>
      <vt:lpstr>Chart</vt:lpstr>
      <vt:lpstr>Software Testing</vt:lpstr>
      <vt:lpstr>Quality test cases, quality review and test processes</vt:lpstr>
      <vt:lpstr>Software Testing</vt:lpstr>
      <vt:lpstr>Software Testing - Definition</vt:lpstr>
      <vt:lpstr>What is Software Testing?</vt:lpstr>
      <vt:lpstr>Testing  Vs  Debugging </vt:lpstr>
      <vt:lpstr>Software Testing Vs Quality Assurance </vt:lpstr>
      <vt:lpstr>What is Software Testing?</vt:lpstr>
      <vt:lpstr>Important Considerations</vt:lpstr>
      <vt:lpstr>Basic  Questions  on  Testing </vt:lpstr>
      <vt:lpstr>Why do Failures Occur?</vt:lpstr>
      <vt:lpstr>Software Testing  Objectives</vt:lpstr>
      <vt:lpstr>Software Testing  Styles</vt:lpstr>
      <vt:lpstr>Bottom-Up Integration Testing</vt:lpstr>
      <vt:lpstr>Bottom-up Testing</vt:lpstr>
      <vt:lpstr>PowerPoint Presentation</vt:lpstr>
      <vt:lpstr>Top-Down Integration Testing</vt:lpstr>
      <vt:lpstr>Top-down Testing</vt:lpstr>
      <vt:lpstr>Top-down Testing</vt:lpstr>
      <vt:lpstr>Stubs and Drivers: Example</vt:lpstr>
      <vt:lpstr>Stubs and Drivers: Example</vt:lpstr>
      <vt:lpstr>Stubs and Drivers: Example</vt:lpstr>
      <vt:lpstr>Big Bang Integration Testing</vt:lpstr>
      <vt:lpstr>System Testing Process  Test Cases</vt:lpstr>
      <vt:lpstr>System Testing Process </vt:lpstr>
      <vt:lpstr>Test Cases</vt:lpstr>
      <vt:lpstr>Test Case…</vt:lpstr>
      <vt:lpstr>Test Cases – Bad Example</vt:lpstr>
      <vt:lpstr>Test Cases – Good Example</vt:lpstr>
      <vt:lpstr>Detailed  Test  Cases </vt:lpstr>
      <vt:lpstr>Detailed  Test  Cases </vt:lpstr>
      <vt:lpstr>Detailed  Test  Cases </vt:lpstr>
      <vt:lpstr>Test  Problem  Report  or Bug 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Tehseen Abbasi</dc:creator>
  <cp:lastModifiedBy>Admin</cp:lastModifiedBy>
  <cp:revision>124</cp:revision>
  <dcterms:created xsi:type="dcterms:W3CDTF">2020-07-02T23:03:13Z</dcterms:created>
  <dcterms:modified xsi:type="dcterms:W3CDTF">2024-05-23T05:01:39Z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0x010100A0AE924CB700F442AC59FB458AA48A48</vt:lpwstr>
  </property>
</Properties>
</file>