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  <p:sldId id="365" r:id="rId108"/>
    <p:sldId id="366" r:id="rId109"/>
    <p:sldId id="367" r:id="rId110"/>
    <p:sldId id="368" r:id="rId111"/>
    <p:sldId id="369" r:id="rId112"/>
    <p:sldId id="370" r:id="rId113"/>
    <p:sldId id="371" r:id="rId114"/>
    <p:sldId id="372" r:id="rId115"/>
    <p:sldId id="373" r:id="rId116"/>
    <p:sldId id="374" r:id="rId117"/>
    <p:sldId id="375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83" r:id="rId126"/>
    <p:sldId id="384" r:id="rId127"/>
    <p:sldId id="385" r:id="rId128"/>
    <p:sldId id="386" r:id="rId129"/>
    <p:sldId id="387" r:id="rId130"/>
    <p:sldId id="388" r:id="rId131"/>
    <p:sldId id="389" r:id="rId132"/>
    <p:sldId id="390" r:id="rId133"/>
    <p:sldId id="391" r:id="rId134"/>
    <p:sldId id="392" r:id="rId135"/>
    <p:sldId id="393" r:id="rId136"/>
    <p:sldId id="394" r:id="rId137"/>
    <p:sldId id="395" r:id="rId138"/>
    <p:sldId id="396" r:id="rId139"/>
    <p:sldId id="397" r:id="rId140"/>
    <p:sldId id="398" r:id="rId141"/>
    <p:sldId id="399" r:id="rId142"/>
    <p:sldId id="400" r:id="rId143"/>
    <p:sldId id="401" r:id="rId144"/>
    <p:sldId id="402" r:id="rId14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18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ableStyles" Target="tableStyle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37372" y="284543"/>
            <a:ext cx="9793604" cy="8146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1200" y="1961514"/>
            <a:ext cx="11272520" cy="4601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1302" y="6417665"/>
            <a:ext cx="2315781" cy="2237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29737" y="6417665"/>
            <a:ext cx="3949636" cy="2237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72131" y="370065"/>
            <a:ext cx="7837805" cy="3154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6890" algn="l"/>
              </a:tabLst>
            </a:pP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R="382270" algn="ctr">
              <a:lnSpc>
                <a:spcPct val="100000"/>
              </a:lnSpc>
              <a:spcBef>
                <a:spcPts val="3840"/>
              </a:spcBef>
            </a:pPr>
            <a:r>
              <a:rPr sz="4000" dirty="0">
                <a:latin typeface="Times New Roman"/>
                <a:cs typeface="Times New Roman"/>
              </a:rPr>
              <a:t>Requirements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Engineering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9210" y="267970"/>
            <a:ext cx="7483475" cy="59683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5379">
              <a:lnSpc>
                <a:spcPct val="100000"/>
              </a:lnSpc>
              <a:spcBef>
                <a:spcPts val="100"/>
              </a:spcBef>
              <a:tabLst>
                <a:tab pos="4179570" algn="l"/>
              </a:tabLst>
            </a:pPr>
            <a:r>
              <a:rPr sz="3600" b="1" u="heavy" spc="-1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Objectives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Requirement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(Definition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Introduction)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ts val="30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Requirement</a:t>
            </a:r>
            <a:r>
              <a:rPr sz="2600" b="1" spc="-1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Engineering</a:t>
            </a:r>
            <a:r>
              <a:rPr sz="2600" b="1" spc="-13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Process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995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elicitation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analysis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995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specification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06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software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document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(SRS)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User,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domain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requirements.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ts val="3055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  <a:tab pos="1280795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Types: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b="1" dirty="0">
                <a:latin typeface="Times New Roman"/>
                <a:cs typeface="Times New Roman"/>
              </a:rPr>
              <a:t>Functional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Non-</a:t>
            </a:r>
            <a:r>
              <a:rPr sz="2600" b="1" dirty="0">
                <a:latin typeface="Times New Roman"/>
                <a:cs typeface="Times New Roman"/>
              </a:rPr>
              <a:t>Functional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requirements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055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Requirement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Characteristics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Requirement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Gathering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Techniques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Validation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Management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9154" y="350583"/>
            <a:ext cx="10602595" cy="5427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2095">
              <a:lnSpc>
                <a:spcPct val="100000"/>
              </a:lnSpc>
              <a:spcBef>
                <a:spcPts val="100"/>
              </a:spcBef>
              <a:tabLst>
                <a:tab pos="3296920" algn="l"/>
              </a:tabLst>
            </a:pP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3600" b="1" u="heavy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Requirement?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It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may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range</a:t>
            </a:r>
            <a:r>
              <a:rPr sz="3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3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high-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level</a:t>
            </a:r>
            <a:r>
              <a:rPr sz="3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abstract</a:t>
            </a:r>
            <a:r>
              <a:rPr sz="3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statement</a:t>
            </a:r>
            <a:r>
              <a:rPr sz="3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service</a:t>
            </a:r>
            <a:r>
              <a:rPr sz="3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or </a:t>
            </a:r>
            <a:r>
              <a:rPr sz="3000" spc="7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spc="3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spc="3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3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3000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FF0000"/>
                </a:solidFill>
                <a:latin typeface="Times New Roman"/>
                <a:cs typeface="Times New Roman"/>
              </a:rPr>
              <a:t>constraint</a:t>
            </a:r>
            <a:r>
              <a:rPr sz="3000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000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spc="3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35" dirty="0">
                <a:solidFill>
                  <a:srgbClr val="FF0000"/>
                </a:solidFill>
                <a:latin typeface="Times New Roman"/>
                <a:cs typeface="Times New Roman"/>
              </a:rPr>
              <a:t>detailed</a:t>
            </a:r>
            <a:r>
              <a:rPr sz="3000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FF0000"/>
                </a:solidFill>
                <a:latin typeface="Times New Roman"/>
                <a:cs typeface="Times New Roman"/>
              </a:rPr>
              <a:t>mathematical</a:t>
            </a:r>
            <a:r>
              <a:rPr sz="3000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35" dirty="0">
                <a:solidFill>
                  <a:srgbClr val="FF0000"/>
                </a:solidFill>
                <a:latin typeface="Times New Roman"/>
                <a:cs typeface="Times New Roman"/>
              </a:rPr>
              <a:t>functional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specification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This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is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inevitable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as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requirements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may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serve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dual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function</a:t>
            </a:r>
            <a:endParaRPr sz="3000" dirty="0">
              <a:latin typeface="Times New Roman"/>
              <a:cs typeface="Times New Roman"/>
            </a:endParaRPr>
          </a:p>
          <a:p>
            <a:pPr marL="697865" marR="5080" lvl="1" indent="-228600">
              <a:lnSpc>
                <a:spcPts val="3240"/>
              </a:lnSpc>
              <a:spcBef>
                <a:spcPts val="550"/>
              </a:spcBef>
              <a:buFont typeface="Arial MT"/>
              <a:buChar char="•"/>
              <a:tabLst>
                <a:tab pos="697865" algn="l"/>
              </a:tabLst>
            </a:pPr>
            <a:r>
              <a:rPr sz="3000" b="1" dirty="0">
                <a:latin typeface="Times New Roman"/>
                <a:cs typeface="Times New Roman"/>
              </a:rPr>
              <a:t>May</a:t>
            </a:r>
            <a:r>
              <a:rPr sz="3000" b="1" spc="204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be</a:t>
            </a:r>
            <a:r>
              <a:rPr sz="3000" b="1" spc="20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19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basis</a:t>
            </a:r>
            <a:r>
              <a:rPr sz="3000" b="1" spc="20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for</a:t>
            </a:r>
            <a:r>
              <a:rPr sz="3000" b="1" spc="1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204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bid</a:t>
            </a:r>
            <a:r>
              <a:rPr sz="3000" b="1" spc="204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for</a:t>
            </a:r>
            <a:r>
              <a:rPr sz="3000" b="1" spc="1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204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contract</a:t>
            </a:r>
            <a:r>
              <a:rPr sz="3000" b="1" spc="20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-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therefore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must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be </a:t>
            </a:r>
            <a:r>
              <a:rPr sz="3000" dirty="0">
                <a:latin typeface="Times New Roman"/>
                <a:cs typeface="Times New Roman"/>
              </a:rPr>
              <a:t>open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interpretation;</a:t>
            </a:r>
            <a:endParaRPr sz="3000" dirty="0">
              <a:latin typeface="Times New Roman"/>
              <a:cs typeface="Times New Roman"/>
            </a:endParaRPr>
          </a:p>
          <a:p>
            <a:pPr marL="697865" marR="5080" lvl="1" indent="-228600">
              <a:lnSpc>
                <a:spcPts val="3240"/>
              </a:lnSpc>
              <a:spcBef>
                <a:spcPts val="500"/>
              </a:spcBef>
              <a:buFont typeface="Arial MT"/>
              <a:buChar char="•"/>
              <a:tabLst>
                <a:tab pos="697865" algn="l"/>
              </a:tabLst>
            </a:pPr>
            <a:r>
              <a:rPr sz="3000" b="1" dirty="0">
                <a:latin typeface="Times New Roman"/>
                <a:cs typeface="Times New Roman"/>
              </a:rPr>
              <a:t>May</a:t>
            </a:r>
            <a:r>
              <a:rPr sz="3000" b="1" spc="204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be</a:t>
            </a:r>
            <a:r>
              <a:rPr sz="3000" b="1" spc="204" dirty="0">
                <a:latin typeface="Times New Roman"/>
                <a:cs typeface="Times New Roman"/>
              </a:rPr>
              <a:t> </a:t>
            </a:r>
            <a:r>
              <a:rPr sz="3000" b="1" spc="50" dirty="0">
                <a:latin typeface="Times New Roman"/>
                <a:cs typeface="Times New Roman"/>
              </a:rPr>
              <a:t>the</a:t>
            </a:r>
            <a:r>
              <a:rPr sz="3000" b="1" spc="204" dirty="0">
                <a:latin typeface="Times New Roman"/>
                <a:cs typeface="Times New Roman"/>
              </a:rPr>
              <a:t> </a:t>
            </a:r>
            <a:r>
              <a:rPr sz="3000" b="1" spc="65" dirty="0">
                <a:latin typeface="Times New Roman"/>
                <a:cs typeface="Times New Roman"/>
              </a:rPr>
              <a:t>basis</a:t>
            </a:r>
            <a:r>
              <a:rPr sz="3000" b="1" spc="204" dirty="0">
                <a:latin typeface="Times New Roman"/>
                <a:cs typeface="Times New Roman"/>
              </a:rPr>
              <a:t> </a:t>
            </a:r>
            <a:r>
              <a:rPr sz="3000" b="1" spc="50" dirty="0">
                <a:latin typeface="Times New Roman"/>
                <a:cs typeface="Times New Roman"/>
              </a:rPr>
              <a:t>for</a:t>
            </a:r>
            <a:r>
              <a:rPr sz="3000" b="1" spc="150" dirty="0">
                <a:latin typeface="Times New Roman"/>
                <a:cs typeface="Times New Roman"/>
              </a:rPr>
              <a:t> </a:t>
            </a:r>
            <a:r>
              <a:rPr sz="3000" b="1" spc="50" dirty="0">
                <a:latin typeface="Times New Roman"/>
                <a:cs typeface="Times New Roman"/>
              </a:rPr>
              <a:t>the</a:t>
            </a:r>
            <a:r>
              <a:rPr sz="3000" b="1" spc="204" dirty="0">
                <a:latin typeface="Times New Roman"/>
                <a:cs typeface="Times New Roman"/>
              </a:rPr>
              <a:t> </a:t>
            </a:r>
            <a:r>
              <a:rPr sz="3000" b="1" spc="65" dirty="0">
                <a:latin typeface="Times New Roman"/>
                <a:cs typeface="Times New Roman"/>
              </a:rPr>
              <a:t>contract</a:t>
            </a:r>
            <a:r>
              <a:rPr sz="3000" b="1" spc="210" dirty="0">
                <a:latin typeface="Times New Roman"/>
                <a:cs typeface="Times New Roman"/>
              </a:rPr>
              <a:t> </a:t>
            </a:r>
            <a:r>
              <a:rPr sz="3000" b="1" spc="65" dirty="0">
                <a:latin typeface="Times New Roman"/>
                <a:cs typeface="Times New Roman"/>
              </a:rPr>
              <a:t>itself</a:t>
            </a:r>
            <a:r>
              <a:rPr sz="3000" b="1" spc="20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-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spc="70" dirty="0">
                <a:latin typeface="Times New Roman"/>
                <a:cs typeface="Times New Roman"/>
              </a:rPr>
              <a:t>therefore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must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be </a:t>
            </a:r>
            <a:r>
              <a:rPr sz="3000" dirty="0">
                <a:latin typeface="Times New Roman"/>
                <a:cs typeface="Times New Roman"/>
              </a:rPr>
              <a:t>defined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detail;</a:t>
            </a:r>
            <a:endParaRPr sz="3000" dirty="0">
              <a:latin typeface="Times New Roman"/>
              <a:cs typeface="Times New Roman"/>
            </a:endParaRPr>
          </a:p>
          <a:p>
            <a:pPr marL="697865" lvl="1" indent="-2286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697865" algn="l"/>
              </a:tabLst>
            </a:pPr>
            <a:r>
              <a:rPr sz="3000" b="1" dirty="0">
                <a:latin typeface="Times New Roman"/>
                <a:cs typeface="Times New Roman"/>
              </a:rPr>
              <a:t>Both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these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statements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may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be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called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requirements.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7372" y="350583"/>
            <a:ext cx="9766300" cy="56733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6220">
              <a:lnSpc>
                <a:spcPct val="100000"/>
              </a:lnSpc>
              <a:spcBef>
                <a:spcPts val="100"/>
              </a:spcBef>
              <a:tabLst>
                <a:tab pos="2010410" algn="l"/>
              </a:tabLst>
            </a:pPr>
            <a:r>
              <a:rPr sz="3600" b="1" u="heavy" spc="-2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abstraction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(Davis)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7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spc="85" dirty="0">
                <a:latin typeface="Times New Roman"/>
                <a:cs typeface="Times New Roman"/>
              </a:rPr>
              <a:t>“</a:t>
            </a:r>
            <a:r>
              <a:rPr sz="2800" b="1" spc="85" dirty="0">
                <a:latin typeface="Times New Roman"/>
                <a:cs typeface="Times New Roman"/>
              </a:rPr>
              <a:t>If</a:t>
            </a:r>
            <a:r>
              <a:rPr sz="2800" b="1" spc="2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</a:t>
            </a:r>
            <a:r>
              <a:rPr sz="2800" b="1" spc="275" dirty="0">
                <a:latin typeface="Times New Roman"/>
                <a:cs typeface="Times New Roman"/>
              </a:rPr>
              <a:t> </a:t>
            </a:r>
            <a:r>
              <a:rPr sz="2800" b="1" spc="100" dirty="0">
                <a:latin typeface="Times New Roman"/>
                <a:cs typeface="Times New Roman"/>
              </a:rPr>
              <a:t>company</a:t>
            </a:r>
            <a:r>
              <a:rPr sz="2800" b="1" spc="275" dirty="0">
                <a:latin typeface="Times New Roman"/>
                <a:cs typeface="Times New Roman"/>
              </a:rPr>
              <a:t> </a:t>
            </a:r>
            <a:r>
              <a:rPr sz="2800" b="1" spc="105" dirty="0">
                <a:latin typeface="Times New Roman"/>
                <a:cs typeface="Times New Roman"/>
              </a:rPr>
              <a:t>wishes</a:t>
            </a:r>
            <a:r>
              <a:rPr sz="2800" b="1" spc="275" dirty="0">
                <a:latin typeface="Times New Roman"/>
                <a:cs typeface="Times New Roman"/>
              </a:rPr>
              <a:t> </a:t>
            </a:r>
            <a:r>
              <a:rPr sz="2800" b="1" spc="50" dirty="0">
                <a:latin typeface="Times New Roman"/>
                <a:cs typeface="Times New Roman"/>
              </a:rPr>
              <a:t>to</a:t>
            </a:r>
            <a:r>
              <a:rPr sz="2800" b="1" spc="275" dirty="0">
                <a:latin typeface="Times New Roman"/>
                <a:cs typeface="Times New Roman"/>
              </a:rPr>
              <a:t> </a:t>
            </a:r>
            <a:r>
              <a:rPr sz="2800" b="1" spc="85" dirty="0">
                <a:latin typeface="Times New Roman"/>
                <a:cs typeface="Times New Roman"/>
              </a:rPr>
              <a:t>let</a:t>
            </a:r>
            <a:r>
              <a:rPr sz="2800" b="1" spc="2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</a:t>
            </a:r>
            <a:r>
              <a:rPr sz="2800" b="1" spc="275" dirty="0">
                <a:latin typeface="Times New Roman"/>
                <a:cs typeface="Times New Roman"/>
              </a:rPr>
              <a:t> </a:t>
            </a:r>
            <a:r>
              <a:rPr sz="2800" b="1" spc="105" dirty="0">
                <a:latin typeface="Times New Roman"/>
                <a:cs typeface="Times New Roman"/>
              </a:rPr>
              <a:t>contract</a:t>
            </a:r>
            <a:r>
              <a:rPr sz="2800" b="1" spc="270" dirty="0">
                <a:latin typeface="Times New Roman"/>
                <a:cs typeface="Times New Roman"/>
              </a:rPr>
              <a:t> </a:t>
            </a:r>
            <a:r>
              <a:rPr sz="2800" b="1" spc="80" dirty="0">
                <a:latin typeface="Times New Roman"/>
                <a:cs typeface="Times New Roman"/>
              </a:rPr>
              <a:t>for</a:t>
            </a:r>
            <a:r>
              <a:rPr sz="2800" b="1" spc="2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</a:t>
            </a:r>
            <a:r>
              <a:rPr sz="2800" b="1" spc="275" dirty="0">
                <a:latin typeface="Times New Roman"/>
                <a:cs typeface="Times New Roman"/>
              </a:rPr>
              <a:t> </a:t>
            </a:r>
            <a:r>
              <a:rPr sz="2800" b="1" spc="100" dirty="0">
                <a:latin typeface="Times New Roman"/>
                <a:cs typeface="Times New Roman"/>
              </a:rPr>
              <a:t>large</a:t>
            </a:r>
            <a:r>
              <a:rPr sz="2800" b="1" spc="270" dirty="0">
                <a:latin typeface="Times New Roman"/>
                <a:cs typeface="Times New Roman"/>
              </a:rPr>
              <a:t> </a:t>
            </a:r>
            <a:r>
              <a:rPr sz="2800" b="1" spc="90" dirty="0">
                <a:latin typeface="Times New Roman"/>
                <a:cs typeface="Times New Roman"/>
              </a:rPr>
              <a:t>software </a:t>
            </a:r>
            <a:r>
              <a:rPr sz="2800" b="1" spc="85" dirty="0">
                <a:latin typeface="Times New Roman"/>
                <a:cs typeface="Times New Roman"/>
              </a:rPr>
              <a:t>development</a:t>
            </a:r>
            <a:r>
              <a:rPr sz="2800" b="1" spc="229" dirty="0">
                <a:latin typeface="Times New Roman"/>
                <a:cs typeface="Times New Roman"/>
              </a:rPr>
              <a:t> </a:t>
            </a:r>
            <a:r>
              <a:rPr sz="2800" b="1" spc="75" dirty="0">
                <a:latin typeface="Times New Roman"/>
                <a:cs typeface="Times New Roman"/>
              </a:rPr>
              <a:t>project,</a:t>
            </a:r>
            <a:r>
              <a:rPr sz="2800" b="1" spc="2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it</a:t>
            </a:r>
            <a:r>
              <a:rPr sz="2800" b="1" spc="235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must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spc="80" dirty="0">
                <a:latin typeface="Times New Roman"/>
                <a:cs typeface="Times New Roman"/>
              </a:rPr>
              <a:t>define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its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spc="80" dirty="0">
                <a:latin typeface="Times New Roman"/>
                <a:cs typeface="Times New Roman"/>
              </a:rPr>
              <a:t>needs</a:t>
            </a:r>
            <a:r>
              <a:rPr sz="2800" spc="2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245" dirty="0">
                <a:latin typeface="Times New Roman"/>
                <a:cs typeface="Times New Roman"/>
              </a:rPr>
              <a:t> </a:t>
            </a:r>
            <a:r>
              <a:rPr sz="2800" spc="80" dirty="0">
                <a:latin typeface="Times New Roman"/>
                <a:cs typeface="Times New Roman"/>
              </a:rPr>
              <a:t>sufficiently </a:t>
            </a:r>
            <a:r>
              <a:rPr sz="2800" spc="55" dirty="0">
                <a:latin typeface="Times New Roman"/>
                <a:cs typeface="Times New Roman"/>
              </a:rPr>
              <a:t>abstract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way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spc="50" dirty="0">
                <a:latin typeface="Times New Roman"/>
                <a:cs typeface="Times New Roman"/>
              </a:rPr>
              <a:t>solution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spc="55" dirty="0">
                <a:latin typeface="Times New Roman"/>
                <a:cs typeface="Times New Roman"/>
              </a:rPr>
              <a:t>pre-</a:t>
            </a:r>
            <a:r>
              <a:rPr sz="2800" spc="50" dirty="0">
                <a:latin typeface="Times New Roman"/>
                <a:cs typeface="Times New Roman"/>
              </a:rPr>
              <a:t>defined.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29" dirty="0">
                <a:latin typeface="Times New Roman"/>
                <a:cs typeface="Times New Roman"/>
              </a:rPr>
              <a:t> </a:t>
            </a:r>
            <a:r>
              <a:rPr sz="2800" spc="50" dirty="0">
                <a:latin typeface="Times New Roman"/>
                <a:cs typeface="Times New Roman"/>
              </a:rPr>
              <a:t>requirements </a:t>
            </a:r>
            <a:r>
              <a:rPr sz="2800" dirty="0">
                <a:latin typeface="Times New Roman"/>
                <a:cs typeface="Times New Roman"/>
              </a:rPr>
              <a:t>must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written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several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contractors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bid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contract, </a:t>
            </a:r>
            <a:r>
              <a:rPr sz="2800" spc="250" dirty="0">
                <a:latin typeface="Times New Roman"/>
                <a:cs typeface="Times New Roman"/>
              </a:rPr>
              <a:t>offering,</a:t>
            </a:r>
            <a:r>
              <a:rPr sz="2800" spc="610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perhaps,</a:t>
            </a:r>
            <a:r>
              <a:rPr sz="2800" spc="610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different</a:t>
            </a:r>
            <a:r>
              <a:rPr sz="2800" spc="62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ways</a:t>
            </a:r>
            <a:r>
              <a:rPr sz="2800" spc="620" dirty="0">
                <a:latin typeface="Times New Roman"/>
                <a:cs typeface="Times New Roman"/>
              </a:rPr>
              <a:t> </a:t>
            </a:r>
            <a:r>
              <a:rPr sz="2800" spc="140" dirty="0">
                <a:latin typeface="Times New Roman"/>
                <a:cs typeface="Times New Roman"/>
              </a:rPr>
              <a:t>of</a:t>
            </a:r>
            <a:r>
              <a:rPr sz="2800" spc="615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meeting</a:t>
            </a:r>
            <a:r>
              <a:rPr sz="2800" spc="620" dirty="0">
                <a:latin typeface="Times New Roman"/>
                <a:cs typeface="Times New Roman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the</a:t>
            </a:r>
            <a:r>
              <a:rPr sz="2800" spc="62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client </a:t>
            </a:r>
            <a:r>
              <a:rPr sz="2800" spc="125" dirty="0">
                <a:latin typeface="Times New Roman"/>
                <a:cs typeface="Times New Roman"/>
              </a:rPr>
              <a:t>organization’s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spc="125" dirty="0">
                <a:latin typeface="Times New Roman"/>
                <a:cs typeface="Times New Roman"/>
              </a:rPr>
              <a:t>needs.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spc="110" dirty="0">
                <a:latin typeface="Times New Roman"/>
                <a:cs typeface="Times New Roman"/>
              </a:rPr>
              <a:t>Once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spc="130" dirty="0">
                <a:latin typeface="Times New Roman"/>
                <a:cs typeface="Times New Roman"/>
              </a:rPr>
              <a:t>contract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spc="105" dirty="0">
                <a:latin typeface="Times New Roman"/>
                <a:cs typeface="Times New Roman"/>
              </a:rPr>
              <a:t>has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spc="114" dirty="0">
                <a:latin typeface="Times New Roman"/>
                <a:cs typeface="Times New Roman"/>
              </a:rPr>
              <a:t>been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spc="135" dirty="0">
                <a:latin typeface="Times New Roman"/>
                <a:cs typeface="Times New Roman"/>
              </a:rPr>
              <a:t>awarded,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spc="80" dirty="0">
                <a:latin typeface="Times New Roman"/>
                <a:cs typeface="Times New Roman"/>
              </a:rPr>
              <a:t>the contractor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spc="65" dirty="0">
                <a:latin typeface="Times New Roman"/>
                <a:cs typeface="Times New Roman"/>
              </a:rPr>
              <a:t>must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write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spc="75" dirty="0">
                <a:latin typeface="Times New Roman"/>
                <a:cs typeface="Times New Roman"/>
              </a:rPr>
              <a:t>system</a:t>
            </a:r>
            <a:r>
              <a:rPr sz="2800" spc="229" dirty="0">
                <a:latin typeface="Times New Roman"/>
                <a:cs typeface="Times New Roman"/>
              </a:rPr>
              <a:t> </a:t>
            </a:r>
            <a:r>
              <a:rPr sz="2800" spc="80" dirty="0">
                <a:latin typeface="Times New Roman"/>
                <a:cs typeface="Times New Roman"/>
              </a:rPr>
              <a:t>definition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spc="50" dirty="0">
                <a:latin typeface="Times New Roman"/>
                <a:cs typeface="Times New Roman"/>
              </a:rPr>
              <a:t>for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spc="60" dirty="0">
                <a:latin typeface="Times New Roman"/>
                <a:cs typeface="Times New Roman"/>
              </a:rPr>
              <a:t>the</a:t>
            </a:r>
            <a:r>
              <a:rPr sz="2800" spc="225" dirty="0">
                <a:latin typeface="Times New Roman"/>
                <a:cs typeface="Times New Roman"/>
              </a:rPr>
              <a:t> </a:t>
            </a:r>
            <a:r>
              <a:rPr sz="2800" spc="85" dirty="0">
                <a:latin typeface="Times New Roman"/>
                <a:cs typeface="Times New Roman"/>
              </a:rPr>
              <a:t>client</a:t>
            </a:r>
            <a:r>
              <a:rPr sz="2800" spc="22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229" dirty="0">
                <a:latin typeface="Times New Roman"/>
                <a:cs typeface="Times New Roman"/>
              </a:rPr>
              <a:t> </a:t>
            </a:r>
            <a:r>
              <a:rPr sz="2800" spc="45" dirty="0">
                <a:latin typeface="Times New Roman"/>
                <a:cs typeface="Times New Roman"/>
              </a:rPr>
              <a:t>more </a:t>
            </a:r>
            <a:r>
              <a:rPr sz="2800" spc="105" dirty="0">
                <a:latin typeface="Times New Roman"/>
                <a:cs typeface="Times New Roman"/>
              </a:rPr>
              <a:t>detail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spc="55" dirty="0">
                <a:latin typeface="Times New Roman"/>
                <a:cs typeface="Times New Roman"/>
              </a:rPr>
              <a:t>so</a:t>
            </a:r>
            <a:r>
              <a:rPr sz="2800" spc="270" dirty="0">
                <a:latin typeface="Times New Roman"/>
                <a:cs typeface="Times New Roman"/>
              </a:rPr>
              <a:t> </a:t>
            </a:r>
            <a:r>
              <a:rPr sz="2800" spc="90" dirty="0">
                <a:latin typeface="Times New Roman"/>
                <a:cs typeface="Times New Roman"/>
              </a:rPr>
              <a:t>that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spc="80" dirty="0">
                <a:latin typeface="Times New Roman"/>
                <a:cs typeface="Times New Roman"/>
              </a:rPr>
              <a:t>the</a:t>
            </a:r>
            <a:r>
              <a:rPr sz="2800" spc="270" dirty="0">
                <a:latin typeface="Times New Roman"/>
                <a:cs typeface="Times New Roman"/>
              </a:rPr>
              <a:t> </a:t>
            </a:r>
            <a:r>
              <a:rPr sz="2800" spc="105" dirty="0">
                <a:latin typeface="Times New Roman"/>
                <a:cs typeface="Times New Roman"/>
              </a:rPr>
              <a:t>client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spc="110" dirty="0">
                <a:latin typeface="Times New Roman"/>
                <a:cs typeface="Times New Roman"/>
              </a:rPr>
              <a:t>understands</a:t>
            </a:r>
            <a:r>
              <a:rPr sz="2800" spc="270" dirty="0">
                <a:latin typeface="Times New Roman"/>
                <a:cs typeface="Times New Roman"/>
              </a:rPr>
              <a:t> </a:t>
            </a:r>
            <a:r>
              <a:rPr sz="2800" spc="75" dirty="0">
                <a:latin typeface="Times New Roman"/>
                <a:cs typeface="Times New Roman"/>
              </a:rPr>
              <a:t>and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spc="80" dirty="0">
                <a:latin typeface="Times New Roman"/>
                <a:cs typeface="Times New Roman"/>
              </a:rPr>
              <a:t>can</a:t>
            </a:r>
            <a:r>
              <a:rPr sz="2800" spc="270" dirty="0">
                <a:latin typeface="Times New Roman"/>
                <a:cs typeface="Times New Roman"/>
              </a:rPr>
              <a:t> </a:t>
            </a:r>
            <a:r>
              <a:rPr sz="2800" spc="110" dirty="0">
                <a:latin typeface="Times New Roman"/>
                <a:cs typeface="Times New Roman"/>
              </a:rPr>
              <a:t>validate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spc="85" dirty="0">
                <a:latin typeface="Times New Roman"/>
                <a:cs typeface="Times New Roman"/>
              </a:rPr>
              <a:t>what</a:t>
            </a:r>
            <a:r>
              <a:rPr sz="2800" spc="270" dirty="0">
                <a:latin typeface="Times New Roman"/>
                <a:cs typeface="Times New Roman"/>
              </a:rPr>
              <a:t> </a:t>
            </a:r>
            <a:r>
              <a:rPr sz="2800" spc="55" dirty="0">
                <a:latin typeface="Times New Roman"/>
                <a:cs typeface="Times New Roman"/>
              </a:rPr>
              <a:t>the </a:t>
            </a:r>
            <a:r>
              <a:rPr sz="2800" spc="85" dirty="0">
                <a:latin typeface="Times New Roman"/>
                <a:cs typeface="Times New Roman"/>
              </a:rPr>
              <a:t>software</a:t>
            </a:r>
            <a:r>
              <a:rPr sz="2800" spc="245" dirty="0">
                <a:latin typeface="Times New Roman"/>
                <a:cs typeface="Times New Roman"/>
              </a:rPr>
              <a:t> </a:t>
            </a:r>
            <a:r>
              <a:rPr sz="2800" spc="75" dirty="0">
                <a:latin typeface="Times New Roman"/>
                <a:cs typeface="Times New Roman"/>
              </a:rPr>
              <a:t>will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spc="60" dirty="0">
                <a:latin typeface="Times New Roman"/>
                <a:cs typeface="Times New Roman"/>
              </a:rPr>
              <a:t>do.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b="1" spc="70" dirty="0">
                <a:latin typeface="Times New Roman"/>
                <a:cs typeface="Times New Roman"/>
              </a:rPr>
              <a:t>Both</a:t>
            </a:r>
            <a:r>
              <a:rPr sz="2800" b="1" spc="2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245" dirty="0">
                <a:latin typeface="Times New Roman"/>
                <a:cs typeface="Times New Roman"/>
              </a:rPr>
              <a:t> </a:t>
            </a:r>
            <a:r>
              <a:rPr sz="2800" b="1" spc="80" dirty="0">
                <a:latin typeface="Times New Roman"/>
                <a:cs typeface="Times New Roman"/>
              </a:rPr>
              <a:t>these</a:t>
            </a:r>
            <a:r>
              <a:rPr sz="2800" b="1" spc="250" dirty="0">
                <a:latin typeface="Times New Roman"/>
                <a:cs typeface="Times New Roman"/>
              </a:rPr>
              <a:t> </a:t>
            </a:r>
            <a:r>
              <a:rPr sz="2800" b="1" spc="85" dirty="0">
                <a:latin typeface="Times New Roman"/>
                <a:cs typeface="Times New Roman"/>
              </a:rPr>
              <a:t>documents</a:t>
            </a:r>
            <a:r>
              <a:rPr sz="2800" b="1" spc="260" dirty="0">
                <a:latin typeface="Times New Roman"/>
                <a:cs typeface="Times New Roman"/>
              </a:rPr>
              <a:t> </a:t>
            </a:r>
            <a:r>
              <a:rPr sz="2800" b="1" spc="55" dirty="0">
                <a:latin typeface="Times New Roman"/>
                <a:cs typeface="Times New Roman"/>
              </a:rPr>
              <a:t>may</a:t>
            </a:r>
            <a:r>
              <a:rPr sz="2800" b="1" spc="254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be</a:t>
            </a:r>
            <a:r>
              <a:rPr sz="2800" b="1" spc="260" dirty="0">
                <a:latin typeface="Times New Roman"/>
                <a:cs typeface="Times New Roman"/>
              </a:rPr>
              <a:t> </a:t>
            </a:r>
            <a:r>
              <a:rPr sz="2800" b="1" spc="90" dirty="0">
                <a:latin typeface="Times New Roman"/>
                <a:cs typeface="Times New Roman"/>
              </a:rPr>
              <a:t>called</a:t>
            </a:r>
            <a:r>
              <a:rPr sz="2800" b="1" spc="260" dirty="0">
                <a:latin typeface="Times New Roman"/>
                <a:cs typeface="Times New Roman"/>
              </a:rPr>
              <a:t> </a:t>
            </a:r>
            <a:r>
              <a:rPr sz="2800" b="1" spc="40" dirty="0">
                <a:latin typeface="Times New Roman"/>
                <a:cs typeface="Times New Roman"/>
              </a:rPr>
              <a:t>the </a:t>
            </a:r>
            <a:r>
              <a:rPr sz="2800" b="1" spc="-10" dirty="0">
                <a:latin typeface="Times New Roman"/>
                <a:cs typeface="Times New Roman"/>
              </a:rPr>
              <a:t>requirements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document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for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system</a:t>
            </a:r>
            <a:r>
              <a:rPr sz="2800" spc="-10" dirty="0">
                <a:latin typeface="Times New Roman"/>
                <a:cs typeface="Times New Roman"/>
              </a:rPr>
              <a:t>.”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7833" y="350583"/>
            <a:ext cx="10403205" cy="491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4339">
              <a:lnSpc>
                <a:spcPct val="100000"/>
              </a:lnSpc>
              <a:spcBef>
                <a:spcPts val="100"/>
              </a:spcBef>
              <a:tabLst>
                <a:tab pos="2209165" algn="l"/>
              </a:tabLst>
            </a:pPr>
            <a:r>
              <a:rPr sz="3600" b="1" u="heavy" spc="-10" dirty="0" smtClean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Agile</a:t>
            </a:r>
            <a:r>
              <a:rPr sz="3600" b="1" u="heavy" dirty="0" smtClean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Methods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665" marR="5080" indent="-228600" algn="just">
              <a:lnSpc>
                <a:spcPts val="3240"/>
              </a:lnSpc>
              <a:buFont typeface="Arial MT"/>
              <a:buChar char="•"/>
              <a:tabLst>
                <a:tab pos="240665" algn="l"/>
              </a:tabLst>
            </a:pPr>
            <a:r>
              <a:rPr sz="3000" b="1" spc="130" dirty="0">
                <a:latin typeface="Times New Roman"/>
                <a:cs typeface="Times New Roman"/>
              </a:rPr>
              <a:t>Many</a:t>
            </a:r>
            <a:r>
              <a:rPr sz="3000" b="1" spc="390" dirty="0">
                <a:latin typeface="Times New Roman"/>
                <a:cs typeface="Times New Roman"/>
              </a:rPr>
              <a:t> </a:t>
            </a:r>
            <a:r>
              <a:rPr sz="3000" b="1" spc="145" dirty="0">
                <a:latin typeface="Times New Roman"/>
                <a:cs typeface="Times New Roman"/>
              </a:rPr>
              <a:t>agile</a:t>
            </a:r>
            <a:r>
              <a:rPr sz="3000" b="1" spc="385" dirty="0">
                <a:latin typeface="Times New Roman"/>
                <a:cs typeface="Times New Roman"/>
              </a:rPr>
              <a:t> </a:t>
            </a:r>
            <a:r>
              <a:rPr sz="3000" b="1" spc="155" dirty="0">
                <a:latin typeface="Times New Roman"/>
                <a:cs typeface="Times New Roman"/>
              </a:rPr>
              <a:t>methods</a:t>
            </a:r>
            <a:r>
              <a:rPr sz="3000" b="1" spc="385" dirty="0">
                <a:latin typeface="Times New Roman"/>
                <a:cs typeface="Times New Roman"/>
              </a:rPr>
              <a:t> </a:t>
            </a:r>
            <a:r>
              <a:rPr sz="3000" spc="130" dirty="0">
                <a:latin typeface="Times New Roman"/>
                <a:cs typeface="Times New Roman"/>
              </a:rPr>
              <a:t>argue</a:t>
            </a:r>
            <a:r>
              <a:rPr sz="3000" spc="385" dirty="0">
                <a:latin typeface="Times New Roman"/>
                <a:cs typeface="Times New Roman"/>
              </a:rPr>
              <a:t> </a:t>
            </a:r>
            <a:r>
              <a:rPr sz="3000" spc="130" dirty="0">
                <a:latin typeface="Times New Roman"/>
                <a:cs typeface="Times New Roman"/>
              </a:rPr>
              <a:t>that</a:t>
            </a:r>
            <a:r>
              <a:rPr sz="3000" spc="390" dirty="0">
                <a:latin typeface="Times New Roman"/>
                <a:cs typeface="Times New Roman"/>
              </a:rPr>
              <a:t> </a:t>
            </a:r>
            <a:r>
              <a:rPr sz="3000" spc="160" dirty="0">
                <a:latin typeface="Times New Roman"/>
                <a:cs typeface="Times New Roman"/>
              </a:rPr>
              <a:t>producing</a:t>
            </a:r>
            <a:r>
              <a:rPr sz="3000" spc="3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385" dirty="0">
                <a:latin typeface="Times New Roman"/>
                <a:cs typeface="Times New Roman"/>
              </a:rPr>
              <a:t> </a:t>
            </a:r>
            <a:r>
              <a:rPr sz="3000" spc="150" dirty="0">
                <a:latin typeface="Times New Roman"/>
                <a:cs typeface="Times New Roman"/>
              </a:rPr>
              <a:t>requirements </a:t>
            </a:r>
            <a:r>
              <a:rPr sz="3000" dirty="0">
                <a:latin typeface="Times New Roman"/>
                <a:cs typeface="Times New Roman"/>
              </a:rPr>
              <a:t>document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waste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time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change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quickly.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document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therefore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always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out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date.</a:t>
            </a:r>
            <a:endParaRPr sz="3000" dirty="0">
              <a:latin typeface="Times New Roman"/>
              <a:cs typeface="Times New Roman"/>
            </a:endParaRPr>
          </a:p>
          <a:p>
            <a:pPr marL="240665" marR="5080" indent="-228600" algn="just">
              <a:lnSpc>
                <a:spcPts val="3240"/>
              </a:lnSpc>
              <a:spcBef>
                <a:spcPts val="1050"/>
              </a:spcBef>
              <a:buFont typeface="Arial MT"/>
              <a:buChar char="•"/>
              <a:tabLst>
                <a:tab pos="240665" algn="l"/>
              </a:tabLst>
            </a:pPr>
            <a:r>
              <a:rPr sz="3000" b="1" dirty="0">
                <a:latin typeface="Times New Roman"/>
                <a:cs typeface="Times New Roman"/>
              </a:rPr>
              <a:t>Methods</a:t>
            </a:r>
            <a:r>
              <a:rPr sz="3000" b="1" spc="29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such</a:t>
            </a:r>
            <a:r>
              <a:rPr sz="3000" b="1" spc="30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as</a:t>
            </a:r>
            <a:r>
              <a:rPr sz="3000" b="1" spc="29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XP</a:t>
            </a:r>
            <a:r>
              <a:rPr sz="3000" b="1" spc="9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use</a:t>
            </a:r>
            <a:r>
              <a:rPr sz="3000" b="1" spc="3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incremental</a:t>
            </a:r>
            <a:r>
              <a:rPr sz="3000" spc="3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3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engineering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express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‘user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stories’</a:t>
            </a:r>
            <a:endParaRPr sz="3000" dirty="0">
              <a:latin typeface="Times New Roman"/>
              <a:cs typeface="Times New Roman"/>
            </a:endParaRPr>
          </a:p>
          <a:p>
            <a:pPr marL="240665" marR="5080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sz="3000" b="1" spc="110" dirty="0">
                <a:latin typeface="Times New Roman"/>
                <a:cs typeface="Times New Roman"/>
              </a:rPr>
              <a:t>This</a:t>
            </a:r>
            <a:r>
              <a:rPr sz="3000" b="1" spc="315" dirty="0">
                <a:latin typeface="Times New Roman"/>
                <a:cs typeface="Times New Roman"/>
              </a:rPr>
              <a:t> </a:t>
            </a:r>
            <a:r>
              <a:rPr sz="3000" b="1" spc="70" dirty="0">
                <a:latin typeface="Times New Roman"/>
                <a:cs typeface="Times New Roman"/>
              </a:rPr>
              <a:t>is</a:t>
            </a:r>
            <a:r>
              <a:rPr sz="3000" b="1" spc="320" dirty="0">
                <a:latin typeface="Times New Roman"/>
                <a:cs typeface="Times New Roman"/>
              </a:rPr>
              <a:t> </a:t>
            </a:r>
            <a:r>
              <a:rPr sz="3000" b="1" spc="125" dirty="0">
                <a:latin typeface="Times New Roman"/>
                <a:cs typeface="Times New Roman"/>
              </a:rPr>
              <a:t>practical</a:t>
            </a:r>
            <a:r>
              <a:rPr sz="3000" b="1" spc="320" dirty="0">
                <a:latin typeface="Times New Roman"/>
                <a:cs typeface="Times New Roman"/>
              </a:rPr>
              <a:t> </a:t>
            </a:r>
            <a:r>
              <a:rPr sz="3000" b="1" spc="95" dirty="0">
                <a:latin typeface="Times New Roman"/>
                <a:cs typeface="Times New Roman"/>
              </a:rPr>
              <a:t>for</a:t>
            </a:r>
            <a:r>
              <a:rPr sz="3000" b="1" spc="260" dirty="0">
                <a:latin typeface="Times New Roman"/>
                <a:cs typeface="Times New Roman"/>
              </a:rPr>
              <a:t> </a:t>
            </a:r>
            <a:r>
              <a:rPr sz="3000" b="1" spc="130" dirty="0">
                <a:latin typeface="Times New Roman"/>
                <a:cs typeface="Times New Roman"/>
              </a:rPr>
              <a:t>business</a:t>
            </a:r>
            <a:r>
              <a:rPr sz="3000" b="1" spc="330" dirty="0">
                <a:latin typeface="Times New Roman"/>
                <a:cs typeface="Times New Roman"/>
              </a:rPr>
              <a:t> </a:t>
            </a:r>
            <a:r>
              <a:rPr sz="3000" b="1" spc="125" dirty="0">
                <a:latin typeface="Times New Roman"/>
                <a:cs typeface="Times New Roman"/>
              </a:rPr>
              <a:t>systems</a:t>
            </a:r>
            <a:r>
              <a:rPr sz="3000" b="1" spc="330" dirty="0">
                <a:latin typeface="Times New Roman"/>
                <a:cs typeface="Times New Roman"/>
              </a:rPr>
              <a:t> </a:t>
            </a:r>
            <a:r>
              <a:rPr sz="3000" spc="100" dirty="0">
                <a:latin typeface="Times New Roman"/>
                <a:cs typeface="Times New Roman"/>
              </a:rPr>
              <a:t>but</a:t>
            </a:r>
            <a:r>
              <a:rPr sz="3000" spc="330" dirty="0">
                <a:latin typeface="Times New Roman"/>
                <a:cs typeface="Times New Roman"/>
              </a:rPr>
              <a:t> </a:t>
            </a:r>
            <a:r>
              <a:rPr sz="3000" spc="135" dirty="0">
                <a:latin typeface="Times New Roman"/>
                <a:cs typeface="Times New Roman"/>
              </a:rPr>
              <a:t>problematic</a:t>
            </a:r>
            <a:r>
              <a:rPr sz="3000" spc="330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for </a:t>
            </a:r>
            <a:r>
              <a:rPr sz="3000" spc="60" dirty="0">
                <a:latin typeface="Times New Roman"/>
                <a:cs typeface="Times New Roman"/>
              </a:rPr>
              <a:t>systems</a:t>
            </a:r>
            <a:r>
              <a:rPr sz="3000" spc="180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that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require</a:t>
            </a:r>
            <a:r>
              <a:rPr sz="3000" spc="1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185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lot</a:t>
            </a:r>
            <a:r>
              <a:rPr sz="3000" spc="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pre-</a:t>
            </a:r>
            <a:r>
              <a:rPr sz="3000" spc="70" dirty="0">
                <a:latin typeface="Times New Roman"/>
                <a:cs typeface="Times New Roman"/>
              </a:rPr>
              <a:t>delivery</a:t>
            </a:r>
            <a:r>
              <a:rPr sz="3000" spc="195" dirty="0">
                <a:latin typeface="Times New Roman"/>
                <a:cs typeface="Times New Roman"/>
              </a:rPr>
              <a:t> </a:t>
            </a:r>
            <a:r>
              <a:rPr sz="3000" spc="70" dirty="0">
                <a:latin typeface="Times New Roman"/>
                <a:cs typeface="Times New Roman"/>
              </a:rPr>
              <a:t>analysis</a:t>
            </a:r>
            <a:r>
              <a:rPr sz="3000" spc="195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(e.g.</a:t>
            </a:r>
            <a:r>
              <a:rPr sz="3000" spc="200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critical </a:t>
            </a:r>
            <a:r>
              <a:rPr sz="3000" dirty="0">
                <a:latin typeface="Times New Roman"/>
                <a:cs typeface="Times New Roman"/>
              </a:rPr>
              <a:t>systems)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developed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several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teams.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70884" y="2218054"/>
            <a:ext cx="5588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dirty="0">
                <a:latin typeface="Microsoft Sans Serif"/>
                <a:cs typeface="Microsoft Sans Serif"/>
              </a:rPr>
              <a:t>	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6591" y="350583"/>
            <a:ext cx="10300335" cy="483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3155">
              <a:lnSpc>
                <a:spcPct val="100000"/>
              </a:lnSpc>
              <a:spcBef>
                <a:spcPts val="100"/>
              </a:spcBef>
              <a:tabLst>
                <a:tab pos="2887980" algn="l"/>
              </a:tabLst>
            </a:pPr>
            <a:r>
              <a:rPr sz="3600" b="1" u="heavy" spc="-2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spc="45" dirty="0">
                <a:latin typeface="Times New Roman"/>
                <a:cs typeface="Times New Roman"/>
              </a:rPr>
              <a:t>descriptions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3000" b="1" u="heavy" spc="2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000" b="1" spc="-25" dirty="0">
                <a:latin typeface="Times New Roman"/>
                <a:cs typeface="Times New Roman"/>
              </a:rPr>
              <a:t> </a:t>
            </a:r>
            <a:r>
              <a:rPr sz="30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r>
              <a:rPr sz="30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should</a:t>
            </a:r>
            <a:r>
              <a:rPr sz="30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</a:t>
            </a:r>
            <a:endParaRPr sz="30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spc="100" dirty="0">
                <a:latin typeface="Times New Roman"/>
                <a:cs typeface="Times New Roman"/>
              </a:rPr>
              <a:t>The</a:t>
            </a:r>
            <a:r>
              <a:rPr sz="3000" spc="345" dirty="0">
                <a:latin typeface="Times New Roman"/>
                <a:cs typeface="Times New Roman"/>
              </a:rPr>
              <a:t> </a:t>
            </a:r>
            <a:r>
              <a:rPr sz="3000" spc="135" dirty="0">
                <a:latin typeface="Times New Roman"/>
                <a:cs typeface="Times New Roman"/>
              </a:rPr>
              <a:t>process</a:t>
            </a:r>
            <a:r>
              <a:rPr sz="3000" spc="350" dirty="0">
                <a:latin typeface="Times New Roman"/>
                <a:cs typeface="Times New Roman"/>
              </a:rPr>
              <a:t> </a:t>
            </a:r>
            <a:r>
              <a:rPr sz="3000" spc="80" dirty="0">
                <a:latin typeface="Times New Roman"/>
                <a:cs typeface="Times New Roman"/>
              </a:rPr>
              <a:t>of</a:t>
            </a:r>
            <a:r>
              <a:rPr sz="3000" spc="355" dirty="0">
                <a:latin typeface="Times New Roman"/>
                <a:cs typeface="Times New Roman"/>
              </a:rPr>
              <a:t> </a:t>
            </a:r>
            <a:r>
              <a:rPr sz="3000" spc="145" dirty="0">
                <a:latin typeface="Times New Roman"/>
                <a:cs typeface="Times New Roman"/>
              </a:rPr>
              <a:t>establishing</a:t>
            </a:r>
            <a:r>
              <a:rPr sz="3000" spc="355" dirty="0">
                <a:latin typeface="Times New Roman"/>
                <a:cs typeface="Times New Roman"/>
              </a:rPr>
              <a:t> </a:t>
            </a:r>
            <a:r>
              <a:rPr sz="3000" spc="105" dirty="0">
                <a:latin typeface="Times New Roman"/>
                <a:cs typeface="Times New Roman"/>
              </a:rPr>
              <a:t>the</a:t>
            </a:r>
            <a:r>
              <a:rPr sz="3000" spc="350" dirty="0">
                <a:latin typeface="Times New Roman"/>
                <a:cs typeface="Times New Roman"/>
              </a:rPr>
              <a:t> </a:t>
            </a:r>
            <a:r>
              <a:rPr sz="3000" b="1" u="heavy" spc="1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services</a:t>
            </a:r>
            <a:r>
              <a:rPr sz="3000" b="1" spc="360" dirty="0">
                <a:latin typeface="Times New Roman"/>
                <a:cs typeface="Times New Roman"/>
              </a:rPr>
              <a:t> </a:t>
            </a:r>
            <a:r>
              <a:rPr sz="3000" spc="120" dirty="0">
                <a:latin typeface="Times New Roman"/>
                <a:cs typeface="Times New Roman"/>
              </a:rPr>
              <a:t>that</a:t>
            </a:r>
            <a:r>
              <a:rPr sz="3000" spc="365" dirty="0">
                <a:latin typeface="Times New Roman"/>
                <a:cs typeface="Times New Roman"/>
              </a:rPr>
              <a:t> </a:t>
            </a:r>
            <a:r>
              <a:rPr sz="3000" spc="105" dirty="0">
                <a:latin typeface="Times New Roman"/>
                <a:cs typeface="Times New Roman"/>
              </a:rPr>
              <a:t>the</a:t>
            </a:r>
            <a:r>
              <a:rPr sz="3000" spc="360" dirty="0">
                <a:latin typeface="Times New Roman"/>
                <a:cs typeface="Times New Roman"/>
              </a:rPr>
              <a:t> </a:t>
            </a:r>
            <a:r>
              <a:rPr sz="3000" spc="130" dirty="0">
                <a:latin typeface="Times New Roman"/>
                <a:cs typeface="Times New Roman"/>
              </a:rPr>
              <a:t>customer requires</a:t>
            </a:r>
            <a:r>
              <a:rPr sz="3000" spc="335" dirty="0">
                <a:latin typeface="Times New Roman"/>
                <a:cs typeface="Times New Roman"/>
              </a:rPr>
              <a:t> </a:t>
            </a:r>
            <a:r>
              <a:rPr sz="3000" spc="110" dirty="0">
                <a:latin typeface="Times New Roman"/>
                <a:cs typeface="Times New Roman"/>
              </a:rPr>
              <a:t>from</a:t>
            </a:r>
            <a:r>
              <a:rPr sz="3000" spc="3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335" dirty="0">
                <a:latin typeface="Times New Roman"/>
                <a:cs typeface="Times New Roman"/>
              </a:rPr>
              <a:t> </a:t>
            </a:r>
            <a:r>
              <a:rPr sz="3000" spc="125" dirty="0">
                <a:latin typeface="Times New Roman"/>
                <a:cs typeface="Times New Roman"/>
              </a:rPr>
              <a:t>system</a:t>
            </a:r>
            <a:r>
              <a:rPr sz="3000" spc="340" dirty="0">
                <a:latin typeface="Times New Roman"/>
                <a:cs typeface="Times New Roman"/>
              </a:rPr>
              <a:t> </a:t>
            </a:r>
            <a:r>
              <a:rPr sz="3000" spc="100" dirty="0">
                <a:latin typeface="Times New Roman"/>
                <a:cs typeface="Times New Roman"/>
              </a:rPr>
              <a:t>and</a:t>
            </a:r>
            <a:r>
              <a:rPr sz="3000" spc="340" dirty="0">
                <a:latin typeface="Times New Roman"/>
                <a:cs typeface="Times New Roman"/>
              </a:rPr>
              <a:t> </a:t>
            </a:r>
            <a:r>
              <a:rPr sz="3000" spc="100" dirty="0">
                <a:latin typeface="Times New Roman"/>
                <a:cs typeface="Times New Roman"/>
              </a:rPr>
              <a:t>the</a:t>
            </a:r>
            <a:r>
              <a:rPr sz="3000" spc="340" dirty="0">
                <a:latin typeface="Times New Roman"/>
                <a:cs typeface="Times New Roman"/>
              </a:rPr>
              <a:t> </a:t>
            </a:r>
            <a:r>
              <a:rPr sz="3000" b="1" u="heavy" spc="1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constraints</a:t>
            </a:r>
            <a:r>
              <a:rPr sz="3000" b="1" spc="335" dirty="0">
                <a:latin typeface="Times New Roman"/>
                <a:cs typeface="Times New Roman"/>
              </a:rPr>
              <a:t> </a:t>
            </a:r>
            <a:r>
              <a:rPr sz="3000" spc="125" dirty="0">
                <a:latin typeface="Times New Roman"/>
                <a:cs typeface="Times New Roman"/>
              </a:rPr>
              <a:t>under</a:t>
            </a:r>
            <a:r>
              <a:rPr sz="3000" spc="340" dirty="0">
                <a:latin typeface="Times New Roman"/>
                <a:cs typeface="Times New Roman"/>
              </a:rPr>
              <a:t> </a:t>
            </a:r>
            <a:r>
              <a:rPr sz="3000" spc="125" dirty="0">
                <a:latin typeface="Times New Roman"/>
                <a:cs typeface="Times New Roman"/>
              </a:rPr>
              <a:t>which</a:t>
            </a:r>
            <a:r>
              <a:rPr sz="3000" spc="340" dirty="0">
                <a:latin typeface="Times New Roman"/>
                <a:cs typeface="Times New Roman"/>
              </a:rPr>
              <a:t> </a:t>
            </a:r>
            <a:r>
              <a:rPr sz="3000" spc="45" dirty="0">
                <a:latin typeface="Times New Roman"/>
                <a:cs typeface="Times New Roman"/>
              </a:rPr>
              <a:t>it </a:t>
            </a:r>
            <a:r>
              <a:rPr sz="3000" dirty="0">
                <a:latin typeface="Times New Roman"/>
                <a:cs typeface="Times New Roman"/>
              </a:rPr>
              <a:t>operates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developed.</a:t>
            </a:r>
            <a:endParaRPr sz="30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finding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out,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analyzing,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documenting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checking </a:t>
            </a:r>
            <a:r>
              <a:rPr sz="3000" spc="220" dirty="0">
                <a:solidFill>
                  <a:srgbClr val="FF0000"/>
                </a:solidFill>
                <a:latin typeface="Times New Roman"/>
                <a:cs typeface="Times New Roman"/>
              </a:rPr>
              <a:t>these</a:t>
            </a:r>
            <a:r>
              <a:rPr sz="3000" spc="5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240" dirty="0">
                <a:solidFill>
                  <a:srgbClr val="FF0000"/>
                </a:solidFill>
                <a:latin typeface="Times New Roman"/>
                <a:cs typeface="Times New Roman"/>
              </a:rPr>
              <a:t>services</a:t>
            </a:r>
            <a:r>
              <a:rPr sz="3000" spc="5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8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spc="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260" dirty="0">
                <a:solidFill>
                  <a:srgbClr val="FF0000"/>
                </a:solidFill>
                <a:latin typeface="Times New Roman"/>
                <a:cs typeface="Times New Roman"/>
              </a:rPr>
              <a:t>constraints</a:t>
            </a:r>
            <a:r>
              <a:rPr sz="3000" spc="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spc="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229" dirty="0">
                <a:solidFill>
                  <a:srgbClr val="FF0000"/>
                </a:solidFill>
                <a:latin typeface="Times New Roman"/>
                <a:cs typeface="Times New Roman"/>
              </a:rPr>
              <a:t>called</a:t>
            </a:r>
            <a:r>
              <a:rPr sz="3000" spc="6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240" dirty="0">
                <a:solidFill>
                  <a:srgbClr val="FF0000"/>
                </a:solidFill>
                <a:latin typeface="Times New Roman"/>
                <a:cs typeface="Times New Roman"/>
              </a:rPr>
              <a:t>requirements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r>
              <a:rPr sz="30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(RE)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0" y="1618640"/>
            <a:ext cx="9976485" cy="4883150"/>
            <a:chOff x="1559052" y="1531619"/>
            <a:chExt cx="9976485" cy="4883150"/>
          </a:xfrm>
        </p:grpSpPr>
        <p:sp>
          <p:nvSpPr>
            <p:cNvPr id="3" name="object 3"/>
            <p:cNvSpPr/>
            <p:nvPr/>
          </p:nvSpPr>
          <p:spPr>
            <a:xfrm>
              <a:off x="1559052" y="1531619"/>
              <a:ext cx="9976485" cy="4883150"/>
            </a:xfrm>
            <a:custGeom>
              <a:avLst/>
              <a:gdLst/>
              <a:ahLst/>
              <a:cxnLst/>
              <a:rect l="l" t="t" r="r" b="b"/>
              <a:pathLst>
                <a:path w="9976485" h="4883150">
                  <a:moveTo>
                    <a:pt x="9976104" y="4882896"/>
                  </a:moveTo>
                  <a:lnTo>
                    <a:pt x="0" y="4882896"/>
                  </a:lnTo>
                  <a:lnTo>
                    <a:pt x="0" y="0"/>
                  </a:lnTo>
                  <a:lnTo>
                    <a:pt x="9976104" y="0"/>
                  </a:lnTo>
                  <a:lnTo>
                    <a:pt x="9976104" y="4882896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4496" y="1952243"/>
              <a:ext cx="7391400" cy="412851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570187" y="350583"/>
            <a:ext cx="8221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heavy" spc="-1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600" b="1" u="heavy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8" name="Flowchart: Document 7"/>
          <p:cNvSpPr/>
          <p:nvPr/>
        </p:nvSpPr>
        <p:spPr>
          <a:xfrm>
            <a:off x="2028444" y="1618640"/>
            <a:ext cx="8334756" cy="402016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Example user requirement:</a:t>
            </a:r>
            <a:endParaRPr lang="en-US" sz="28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  <a:p>
            <a:r>
              <a:rPr lang="en-US" sz="28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"The system should allow users to easily search for products by category and price range</a:t>
            </a:r>
            <a:r>
              <a:rPr lang="en-US" sz="2800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28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Example system requirement:</a:t>
            </a:r>
            <a:endParaRPr lang="en-US" sz="28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  <a:p>
            <a:r>
              <a:rPr lang="en-US" sz="28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"The database must be able to handle 10,000 concurrent queries with a response time under 2 seconds</a:t>
            </a:r>
          </a:p>
          <a:p>
            <a:endParaRPr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6591" y="350583"/>
            <a:ext cx="10300335" cy="54809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3850">
              <a:lnSpc>
                <a:spcPct val="100000"/>
              </a:lnSpc>
              <a:spcBef>
                <a:spcPts val="100"/>
              </a:spcBef>
              <a:tabLst>
                <a:tab pos="2098675" algn="l"/>
              </a:tabLst>
            </a:pPr>
            <a:r>
              <a:rPr sz="3600" b="1" u="heavy" spc="-20" dirty="0" smtClean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 smtClean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Process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288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spc="80" dirty="0">
                <a:latin typeface="Times New Roman"/>
                <a:cs typeface="Times New Roman"/>
              </a:rPr>
              <a:t>The</a:t>
            </a:r>
            <a:r>
              <a:rPr sz="3000" b="1" spc="260" dirty="0">
                <a:latin typeface="Times New Roman"/>
                <a:cs typeface="Times New Roman"/>
              </a:rPr>
              <a:t> </a:t>
            </a:r>
            <a:r>
              <a:rPr sz="3000" b="1" spc="100" dirty="0">
                <a:latin typeface="Times New Roman"/>
                <a:cs typeface="Times New Roman"/>
              </a:rPr>
              <a:t>processes</a:t>
            </a:r>
            <a:r>
              <a:rPr sz="3000" b="1" spc="260" dirty="0">
                <a:latin typeface="Times New Roman"/>
                <a:cs typeface="Times New Roman"/>
              </a:rPr>
              <a:t> </a:t>
            </a:r>
            <a:r>
              <a:rPr sz="3000" b="1" spc="90" dirty="0">
                <a:latin typeface="Times New Roman"/>
                <a:cs typeface="Times New Roman"/>
              </a:rPr>
              <a:t>used</a:t>
            </a:r>
            <a:r>
              <a:rPr sz="3000" b="1" spc="265" dirty="0">
                <a:latin typeface="Times New Roman"/>
                <a:cs typeface="Times New Roman"/>
              </a:rPr>
              <a:t> </a:t>
            </a:r>
            <a:r>
              <a:rPr sz="3000" b="1" spc="75" dirty="0">
                <a:latin typeface="Times New Roman"/>
                <a:cs typeface="Times New Roman"/>
              </a:rPr>
              <a:t>for</a:t>
            </a:r>
            <a:r>
              <a:rPr sz="3000" b="1" spc="204" dirty="0">
                <a:latin typeface="Times New Roman"/>
                <a:cs typeface="Times New Roman"/>
              </a:rPr>
              <a:t> </a:t>
            </a:r>
            <a:r>
              <a:rPr sz="3000" b="1" spc="60" dirty="0">
                <a:latin typeface="Times New Roman"/>
                <a:cs typeface="Times New Roman"/>
              </a:rPr>
              <a:t>RE</a:t>
            </a:r>
            <a:r>
              <a:rPr sz="3000" b="1" spc="260" dirty="0">
                <a:latin typeface="Times New Roman"/>
                <a:cs typeface="Times New Roman"/>
              </a:rPr>
              <a:t> </a:t>
            </a:r>
            <a:r>
              <a:rPr sz="3000" b="1" spc="90" dirty="0">
                <a:latin typeface="Times New Roman"/>
                <a:cs typeface="Times New Roman"/>
              </a:rPr>
              <a:t>vary</a:t>
            </a:r>
            <a:r>
              <a:rPr sz="3000" b="1" spc="265" dirty="0">
                <a:latin typeface="Times New Roman"/>
                <a:cs typeface="Times New Roman"/>
              </a:rPr>
              <a:t> </a:t>
            </a:r>
            <a:r>
              <a:rPr sz="3000" b="1" spc="100" dirty="0">
                <a:latin typeface="Times New Roman"/>
                <a:cs typeface="Times New Roman"/>
              </a:rPr>
              <a:t>widely</a:t>
            </a:r>
            <a:r>
              <a:rPr sz="3000" b="1" spc="270" dirty="0">
                <a:latin typeface="Times New Roman"/>
                <a:cs typeface="Times New Roman"/>
              </a:rPr>
              <a:t> </a:t>
            </a:r>
            <a:r>
              <a:rPr sz="3000" b="1" spc="114" dirty="0">
                <a:latin typeface="Times New Roman"/>
                <a:cs typeface="Times New Roman"/>
              </a:rPr>
              <a:t>depending</a:t>
            </a:r>
            <a:r>
              <a:rPr sz="3000" b="1" spc="275" dirty="0">
                <a:latin typeface="Times New Roman"/>
                <a:cs typeface="Times New Roman"/>
              </a:rPr>
              <a:t> </a:t>
            </a:r>
            <a:r>
              <a:rPr sz="3000" b="1" spc="65" dirty="0">
                <a:latin typeface="Times New Roman"/>
                <a:cs typeface="Times New Roman"/>
              </a:rPr>
              <a:t>on</a:t>
            </a:r>
            <a:r>
              <a:rPr sz="3000" b="1" spc="275" dirty="0">
                <a:latin typeface="Times New Roman"/>
                <a:cs typeface="Times New Roman"/>
              </a:rPr>
              <a:t> </a:t>
            </a:r>
            <a:r>
              <a:rPr sz="3000" b="1" spc="55" dirty="0">
                <a:latin typeface="Times New Roman"/>
                <a:cs typeface="Times New Roman"/>
              </a:rPr>
              <a:t>the </a:t>
            </a:r>
            <a:r>
              <a:rPr sz="3000" b="1" spc="50" dirty="0">
                <a:latin typeface="Times New Roman"/>
                <a:cs typeface="Times New Roman"/>
              </a:rPr>
              <a:t>application</a:t>
            </a:r>
            <a:r>
              <a:rPr sz="3000" b="1" spc="225" dirty="0">
                <a:latin typeface="Times New Roman"/>
                <a:cs typeface="Times New Roman"/>
              </a:rPr>
              <a:t> </a:t>
            </a:r>
            <a:r>
              <a:rPr sz="3000" b="1" spc="50" dirty="0">
                <a:latin typeface="Times New Roman"/>
                <a:cs typeface="Times New Roman"/>
              </a:rPr>
              <a:t>domain</a:t>
            </a:r>
            <a:r>
              <a:rPr sz="3000" spc="50" dirty="0">
                <a:latin typeface="Times New Roman"/>
                <a:cs typeface="Times New Roman"/>
              </a:rPr>
              <a:t>,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people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involved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2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spc="40" dirty="0">
                <a:latin typeface="Times New Roman"/>
                <a:cs typeface="Times New Roman"/>
              </a:rPr>
              <a:t>organization </a:t>
            </a:r>
            <a:r>
              <a:rPr sz="3000" dirty="0">
                <a:latin typeface="Times New Roman"/>
                <a:cs typeface="Times New Roman"/>
              </a:rPr>
              <a:t>developing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requirements.</a:t>
            </a:r>
            <a:endParaRPr sz="30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288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However,</a:t>
            </a:r>
            <a:r>
              <a:rPr sz="3000" spc="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there</a:t>
            </a:r>
            <a:r>
              <a:rPr sz="3000" spc="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number</a:t>
            </a:r>
            <a:r>
              <a:rPr sz="3000" spc="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generic</a:t>
            </a:r>
            <a:r>
              <a:rPr sz="3000" spc="114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activities</a:t>
            </a:r>
            <a:r>
              <a:rPr sz="300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common</a:t>
            </a:r>
            <a:r>
              <a:rPr sz="3000" spc="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000" spc="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all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processes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295"/>
              </a:lnSpc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000" spc="-10" dirty="0" smtClean="0">
                <a:solidFill>
                  <a:srgbClr val="FF0000"/>
                </a:solidFill>
                <a:latin typeface="Times New Roman"/>
                <a:cs typeface="Times New Roman"/>
              </a:rPr>
              <a:t>licitation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379"/>
              </a:lnSpc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spc="-10" dirty="0" smtClean="0">
                <a:solidFill>
                  <a:srgbClr val="FF0000"/>
                </a:solidFill>
                <a:latin typeface="Times New Roman"/>
                <a:cs typeface="Times New Roman"/>
              </a:rPr>
              <a:t>nalysis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379"/>
              </a:lnSpc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Specification;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379"/>
              </a:lnSpc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3000" spc="-10" dirty="0" smtClean="0">
                <a:solidFill>
                  <a:srgbClr val="FF0000"/>
                </a:solidFill>
                <a:latin typeface="Times New Roman"/>
                <a:cs typeface="Times New Roman"/>
              </a:rPr>
              <a:t>alidation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490"/>
              </a:lnSpc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3000" spc="-10" dirty="0" smtClean="0">
                <a:solidFill>
                  <a:srgbClr val="FF0000"/>
                </a:solidFill>
                <a:latin typeface="Times New Roman"/>
                <a:cs typeface="Times New Roman"/>
              </a:rPr>
              <a:t>anagement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3197" y="497154"/>
            <a:ext cx="10050780" cy="4741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0">
              <a:lnSpc>
                <a:spcPct val="100000"/>
              </a:lnSpc>
              <a:spcBef>
                <a:spcPts val="100"/>
              </a:spcBef>
              <a:tabLst>
                <a:tab pos="2059939" algn="l"/>
              </a:tabLst>
            </a:pPr>
            <a:r>
              <a:rPr sz="3600" b="1" u="heavy" spc="-1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Steps</a:t>
            </a: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Phase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3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44450" marR="5080" indent="-31750">
              <a:lnSpc>
                <a:spcPts val="3240"/>
              </a:lnSpc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00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requirements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part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project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divided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into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several </a:t>
            </a:r>
            <a:r>
              <a:rPr sz="3000" spc="-10" dirty="0">
                <a:latin typeface="Times New Roman"/>
                <a:cs typeface="Times New Roman"/>
              </a:rPr>
              <a:t>stages:</a:t>
            </a:r>
            <a:endParaRPr sz="3000" dirty="0">
              <a:latin typeface="Times New Roman"/>
              <a:cs typeface="Times New Roman"/>
            </a:endParaRPr>
          </a:p>
          <a:p>
            <a:pPr marL="44450" marR="16510" indent="-36195">
              <a:lnSpc>
                <a:spcPts val="3240"/>
              </a:lnSpc>
              <a:spcBef>
                <a:spcPts val="1000"/>
              </a:spcBef>
              <a:buSzPct val="41666"/>
              <a:buFont typeface="Wingdings"/>
              <a:buChar char=""/>
              <a:tabLst>
                <a:tab pos="44450" algn="l"/>
                <a:tab pos="140335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Analysis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establish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system's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services,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constraints,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goals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consultation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client,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customers,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users.</a:t>
            </a:r>
            <a:endParaRPr sz="3000" dirty="0">
              <a:latin typeface="Times New Roman"/>
              <a:cs typeface="Times New Roman"/>
            </a:endParaRPr>
          </a:p>
          <a:p>
            <a:pPr marL="44450" marR="5080" indent="-36195">
              <a:lnSpc>
                <a:spcPts val="3240"/>
              </a:lnSpc>
              <a:spcBef>
                <a:spcPts val="1000"/>
              </a:spcBef>
              <a:buSzPct val="41666"/>
              <a:buFont typeface="Wingdings"/>
              <a:buChar char=""/>
              <a:tabLst>
                <a:tab pos="44450" algn="l"/>
                <a:tab pos="140335" algn="l"/>
              </a:tabLst>
            </a:pPr>
            <a:r>
              <a:rPr sz="3000" spc="100" dirty="0">
                <a:solidFill>
                  <a:srgbClr val="FF0000"/>
                </a:solidFill>
                <a:latin typeface="Times New Roman"/>
                <a:cs typeface="Times New Roman"/>
              </a:rPr>
              <a:t>	Modelling</a:t>
            </a:r>
            <a:r>
              <a:rPr sz="30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to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spc="85" dirty="0">
                <a:latin typeface="Times New Roman"/>
                <a:cs typeface="Times New Roman"/>
              </a:rPr>
              <a:t>organize</a:t>
            </a:r>
            <a:r>
              <a:rPr sz="3000" spc="245" dirty="0">
                <a:latin typeface="Times New Roman"/>
                <a:cs typeface="Times New Roman"/>
              </a:rPr>
              <a:t> </a:t>
            </a:r>
            <a:r>
              <a:rPr sz="3000" spc="70" dirty="0">
                <a:latin typeface="Times New Roman"/>
                <a:cs typeface="Times New Roman"/>
              </a:rPr>
              <a:t>the</a:t>
            </a:r>
            <a:r>
              <a:rPr sz="3000" spc="245" dirty="0">
                <a:latin typeface="Times New Roman"/>
                <a:cs typeface="Times New Roman"/>
              </a:rPr>
              <a:t> </a:t>
            </a:r>
            <a:r>
              <a:rPr sz="3000" spc="100" dirty="0">
                <a:latin typeface="Times New Roman"/>
                <a:cs typeface="Times New Roman"/>
              </a:rPr>
              <a:t>requirements</a:t>
            </a:r>
            <a:r>
              <a:rPr sz="3000" spc="245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in</a:t>
            </a:r>
            <a:r>
              <a:rPr sz="3000" spc="2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245" dirty="0">
                <a:latin typeface="Times New Roman"/>
                <a:cs typeface="Times New Roman"/>
              </a:rPr>
              <a:t> </a:t>
            </a:r>
            <a:r>
              <a:rPr sz="3000" spc="95" dirty="0">
                <a:latin typeface="Times New Roman"/>
                <a:cs typeface="Times New Roman"/>
              </a:rPr>
              <a:t>systematic</a:t>
            </a:r>
            <a:r>
              <a:rPr sz="3000" spc="245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comprehensible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manner.</a:t>
            </a:r>
            <a:endParaRPr sz="3000" dirty="0">
              <a:latin typeface="Times New Roman"/>
              <a:cs typeface="Times New Roman"/>
            </a:endParaRPr>
          </a:p>
          <a:p>
            <a:pPr marL="140335" indent="-132080">
              <a:lnSpc>
                <a:spcPct val="100000"/>
              </a:lnSpc>
              <a:spcBef>
                <a:spcPts val="595"/>
              </a:spcBef>
              <a:buSzPct val="41666"/>
              <a:buFont typeface="Wingdings"/>
              <a:buChar char=""/>
              <a:tabLst>
                <a:tab pos="140335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Define,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record,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communicate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</a:t>
            </a:r>
            <a:r>
              <a:rPr sz="2500" spc="-10" dirty="0">
                <a:latin typeface="Times New Roman"/>
                <a:cs typeface="Times New Roman"/>
              </a:rPr>
              <a:t>.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8645" y="350583"/>
            <a:ext cx="10346055" cy="5121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3640">
              <a:lnSpc>
                <a:spcPct val="100000"/>
              </a:lnSpc>
              <a:spcBef>
                <a:spcPts val="100"/>
              </a:spcBef>
              <a:tabLst>
                <a:tab pos="1688464" algn="l"/>
              </a:tabLst>
            </a:pPr>
            <a:r>
              <a:rPr sz="3600" b="1" u="heavy" spc="-2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Elicitation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029" marR="100965" indent="-227329" algn="just">
              <a:lnSpc>
                <a:spcPts val="346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Times New Roman"/>
                <a:cs typeface="Times New Roman"/>
              </a:rPr>
              <a:t>Sometimes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called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2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elicitation</a:t>
            </a:r>
            <a:r>
              <a:rPr sz="32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3200" b="1" spc="-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requirements 	discovery.</a:t>
            </a:r>
            <a:endParaRPr sz="3200" dirty="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ts val="346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Involves</a:t>
            </a:r>
            <a:r>
              <a:rPr sz="3200" b="1" spc="3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technical</a:t>
            </a:r>
            <a:r>
              <a:rPr sz="3200" spc="3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staff</a:t>
            </a:r>
            <a:r>
              <a:rPr sz="3200" spc="315" dirty="0">
                <a:latin typeface="Times New Roman"/>
                <a:cs typeface="Times New Roman"/>
              </a:rPr>
              <a:t> </a:t>
            </a:r>
            <a:r>
              <a:rPr sz="3200" spc="45" dirty="0">
                <a:latin typeface="Times New Roman"/>
                <a:cs typeface="Times New Roman"/>
              </a:rPr>
              <a:t>working</a:t>
            </a:r>
            <a:r>
              <a:rPr sz="3200" spc="3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3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customers</a:t>
            </a:r>
            <a:r>
              <a:rPr sz="3200" spc="3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3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find</a:t>
            </a:r>
            <a:r>
              <a:rPr sz="3200" spc="31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out 	</a:t>
            </a:r>
            <a:r>
              <a:rPr sz="3200" spc="65" dirty="0">
                <a:latin typeface="Times New Roman"/>
                <a:cs typeface="Times New Roman"/>
              </a:rPr>
              <a:t>about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spc="55" dirty="0">
                <a:latin typeface="Times New Roman"/>
                <a:cs typeface="Times New Roman"/>
              </a:rPr>
              <a:t>the</a:t>
            </a:r>
            <a:r>
              <a:rPr sz="3200" spc="204" dirty="0">
                <a:latin typeface="Times New Roman"/>
                <a:cs typeface="Times New Roman"/>
              </a:rPr>
              <a:t> </a:t>
            </a:r>
            <a:r>
              <a:rPr sz="3200" spc="75" dirty="0">
                <a:latin typeface="Times New Roman"/>
                <a:cs typeface="Times New Roman"/>
              </a:rPr>
              <a:t>application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spc="75" dirty="0">
                <a:latin typeface="Times New Roman"/>
                <a:cs typeface="Times New Roman"/>
              </a:rPr>
              <a:t>domain,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spc="55" dirty="0">
                <a:latin typeface="Times New Roman"/>
                <a:cs typeface="Times New Roman"/>
              </a:rPr>
              <a:t>the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spc="70" dirty="0">
                <a:latin typeface="Times New Roman"/>
                <a:cs typeface="Times New Roman"/>
              </a:rPr>
              <a:t>services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spc="65" dirty="0">
                <a:latin typeface="Times New Roman"/>
                <a:cs typeface="Times New Roman"/>
              </a:rPr>
              <a:t>that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spc="55" dirty="0">
                <a:latin typeface="Times New Roman"/>
                <a:cs typeface="Times New Roman"/>
              </a:rPr>
              <a:t>the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spc="60" dirty="0">
                <a:latin typeface="Times New Roman"/>
                <a:cs typeface="Times New Roman"/>
              </a:rPr>
              <a:t>system 	</a:t>
            </a:r>
            <a:r>
              <a:rPr sz="3200" dirty="0">
                <a:latin typeface="Times New Roman"/>
                <a:cs typeface="Times New Roman"/>
              </a:rPr>
              <a:t>should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system’s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operational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constraints.</a:t>
            </a:r>
            <a:endParaRPr sz="3200" dirty="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ts val="345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b="1" spc="75" dirty="0">
                <a:solidFill>
                  <a:srgbClr val="FF0000"/>
                </a:solidFill>
                <a:latin typeface="Times New Roman"/>
                <a:cs typeface="Times New Roman"/>
              </a:rPr>
              <a:t>May</a:t>
            </a:r>
            <a:r>
              <a:rPr sz="3200" b="1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involve</a:t>
            </a:r>
            <a:r>
              <a:rPr sz="3200" b="1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114" dirty="0">
                <a:latin typeface="Times New Roman"/>
                <a:cs typeface="Times New Roman"/>
              </a:rPr>
              <a:t>end-</a:t>
            </a:r>
            <a:r>
              <a:rPr sz="3200" spc="90" dirty="0">
                <a:latin typeface="Times New Roman"/>
                <a:cs typeface="Times New Roman"/>
              </a:rPr>
              <a:t>users,</a:t>
            </a:r>
            <a:r>
              <a:rPr sz="3200" spc="260" dirty="0">
                <a:latin typeface="Times New Roman"/>
                <a:cs typeface="Times New Roman"/>
              </a:rPr>
              <a:t> </a:t>
            </a:r>
            <a:r>
              <a:rPr sz="3200" spc="100" dirty="0">
                <a:latin typeface="Times New Roman"/>
                <a:cs typeface="Times New Roman"/>
              </a:rPr>
              <a:t>managers,</a:t>
            </a:r>
            <a:r>
              <a:rPr sz="3200" spc="260" dirty="0">
                <a:latin typeface="Times New Roman"/>
                <a:cs typeface="Times New Roman"/>
              </a:rPr>
              <a:t> </a:t>
            </a:r>
            <a:r>
              <a:rPr sz="3200" spc="100" dirty="0">
                <a:latin typeface="Times New Roman"/>
                <a:cs typeface="Times New Roman"/>
              </a:rPr>
              <a:t>engineers</a:t>
            </a:r>
            <a:r>
              <a:rPr sz="3200" spc="260" dirty="0">
                <a:latin typeface="Times New Roman"/>
                <a:cs typeface="Times New Roman"/>
              </a:rPr>
              <a:t> </a:t>
            </a:r>
            <a:r>
              <a:rPr sz="3200" spc="100" dirty="0">
                <a:latin typeface="Times New Roman"/>
                <a:cs typeface="Times New Roman"/>
              </a:rPr>
              <a:t>involved</a:t>
            </a:r>
            <a:r>
              <a:rPr sz="3200" spc="260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Times New Roman"/>
                <a:cs typeface="Times New Roman"/>
              </a:rPr>
              <a:t>in 	</a:t>
            </a:r>
            <a:r>
              <a:rPr sz="3200" spc="75" dirty="0">
                <a:latin typeface="Times New Roman"/>
                <a:cs typeface="Times New Roman"/>
              </a:rPr>
              <a:t>maintenance,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spc="70" dirty="0">
                <a:latin typeface="Times New Roman"/>
                <a:cs typeface="Times New Roman"/>
              </a:rPr>
              <a:t>domain</a:t>
            </a:r>
            <a:r>
              <a:rPr sz="3200" spc="210" dirty="0">
                <a:latin typeface="Times New Roman"/>
                <a:cs typeface="Times New Roman"/>
              </a:rPr>
              <a:t> </a:t>
            </a:r>
            <a:r>
              <a:rPr sz="3200" spc="75" dirty="0">
                <a:latin typeface="Times New Roman"/>
                <a:cs typeface="Times New Roman"/>
              </a:rPr>
              <a:t>experts,</a:t>
            </a:r>
            <a:r>
              <a:rPr sz="3200" spc="210" dirty="0">
                <a:latin typeface="Times New Roman"/>
                <a:cs typeface="Times New Roman"/>
              </a:rPr>
              <a:t> </a:t>
            </a:r>
            <a:r>
              <a:rPr sz="3200" spc="70" dirty="0">
                <a:latin typeface="Times New Roman"/>
                <a:cs typeface="Times New Roman"/>
              </a:rPr>
              <a:t>trade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spc="75" dirty="0">
                <a:latin typeface="Times New Roman"/>
                <a:cs typeface="Times New Roman"/>
              </a:rPr>
              <a:t>unions,</a:t>
            </a:r>
            <a:r>
              <a:rPr sz="3200" spc="210" dirty="0">
                <a:latin typeface="Times New Roman"/>
                <a:cs typeface="Times New Roman"/>
              </a:rPr>
              <a:t> </a:t>
            </a:r>
            <a:r>
              <a:rPr sz="3200" spc="60" dirty="0">
                <a:latin typeface="Times New Roman"/>
                <a:cs typeface="Times New Roman"/>
              </a:rPr>
              <a:t>etc.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spc="65" dirty="0">
                <a:latin typeface="Times New Roman"/>
                <a:cs typeface="Times New Roman"/>
              </a:rPr>
              <a:t>These</a:t>
            </a:r>
            <a:r>
              <a:rPr sz="3200" spc="210" dirty="0">
                <a:latin typeface="Times New Roman"/>
                <a:cs typeface="Times New Roman"/>
              </a:rPr>
              <a:t> </a:t>
            </a:r>
            <a:r>
              <a:rPr sz="3200" spc="25" dirty="0">
                <a:latin typeface="Times New Roman"/>
                <a:cs typeface="Times New Roman"/>
              </a:rPr>
              <a:t>are 	</a:t>
            </a:r>
            <a:r>
              <a:rPr sz="3200" dirty="0">
                <a:latin typeface="Times New Roman"/>
                <a:cs typeface="Times New Roman"/>
              </a:rPr>
              <a:t>called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stakeholders</a:t>
            </a:r>
            <a:r>
              <a:rPr sz="3200" b="1" i="1" spc="-1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10337165" cy="532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8090" algn="just">
              <a:lnSpc>
                <a:spcPct val="100000"/>
              </a:lnSpc>
              <a:spcBef>
                <a:spcPts val="100"/>
              </a:spcBef>
              <a:tabLst>
                <a:tab pos="1732914" algn="l"/>
              </a:tabLst>
            </a:pPr>
            <a:r>
              <a:rPr sz="3600" b="1" u="heavy" spc="-2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Elicitation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3600" b="1" u="heavy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</a:t>
            </a: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</a:t>
            </a:r>
            <a:r>
              <a:rPr sz="3600" b="1" u="heavy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endParaRPr sz="36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17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engineers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work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range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stakeholders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to </a:t>
            </a:r>
            <a:r>
              <a:rPr sz="3000" dirty="0">
                <a:latin typeface="Times New Roman"/>
                <a:cs typeface="Times New Roman"/>
              </a:rPr>
              <a:t>find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out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about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domain,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services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provide,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performance,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hardware </a:t>
            </a:r>
            <a:r>
              <a:rPr sz="3000" dirty="0">
                <a:latin typeface="Times New Roman"/>
                <a:cs typeface="Times New Roman"/>
              </a:rPr>
              <a:t>constraints,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other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systems,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etc.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Stages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include: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b="1" spc="-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discovery,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classification</a:t>
            </a:r>
            <a:r>
              <a:rPr sz="30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organization,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prioritization</a:t>
            </a:r>
            <a:r>
              <a:rPr sz="30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negotiation,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b="1" spc="-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specification.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3767" y="386778"/>
            <a:ext cx="93548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16890" algn="l"/>
              </a:tabLst>
            </a:pPr>
            <a:r>
              <a:rPr sz="3200" b="1" u="heavy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200" b="1" u="heavy" spc="-12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200" b="1" u="heavy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Elicitation</a:t>
            </a:r>
            <a:r>
              <a:rPr sz="3200" b="1" u="heavy" spc="-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3200" b="1" u="heavy" spc="-2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Analysis</a:t>
            </a:r>
            <a:r>
              <a:rPr sz="3200" b="1" u="heavy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8027" y="1592580"/>
            <a:ext cx="9703308" cy="4762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125" y="350583"/>
            <a:ext cx="10988040" cy="579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7375">
              <a:lnSpc>
                <a:spcPct val="100000"/>
              </a:lnSpc>
              <a:spcBef>
                <a:spcPts val="100"/>
              </a:spcBef>
              <a:tabLst>
                <a:tab pos="2362200" algn="l"/>
              </a:tabLst>
            </a:pPr>
            <a:r>
              <a:rPr sz="3600" b="1" u="heavy" spc="-2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Elicitation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3600" b="1" u="heavy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</a:t>
            </a: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</a:t>
            </a:r>
            <a:r>
              <a:rPr sz="3600" b="1" u="heavy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349250" marR="5080" indent="-336550" algn="just">
              <a:lnSpc>
                <a:spcPts val="2590"/>
              </a:lnSpc>
              <a:buFont typeface="Arial MT"/>
              <a:buChar char="•"/>
              <a:tabLst>
                <a:tab pos="35179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400" b="1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discovery:</a:t>
            </a:r>
            <a:r>
              <a:rPr sz="2400" b="1" spc="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This</a:t>
            </a:r>
            <a:r>
              <a:rPr sz="2400" b="1" spc="2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is</a:t>
            </a:r>
            <a:r>
              <a:rPr sz="2400" b="1" spc="2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sz="2400" b="1" spc="254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process</a:t>
            </a:r>
            <a:r>
              <a:rPr sz="2400" b="1" spc="2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sz="2400" b="1" spc="2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interacting</a:t>
            </a:r>
            <a:r>
              <a:rPr sz="2400" b="1" spc="2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with</a:t>
            </a:r>
            <a:r>
              <a:rPr sz="2400" b="1" spc="2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stakeholders</a:t>
            </a:r>
            <a:r>
              <a:rPr sz="2400" b="1" spc="2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of 	</a:t>
            </a:r>
            <a:r>
              <a:rPr sz="2400" b="1" spc="75" dirty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sz="2400" b="1" spc="254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95" dirty="0">
                <a:solidFill>
                  <a:srgbClr val="0D0D0D"/>
                </a:solidFill>
                <a:latin typeface="Times New Roman"/>
                <a:cs typeface="Times New Roman"/>
              </a:rPr>
              <a:t>system</a:t>
            </a:r>
            <a:r>
              <a:rPr sz="2400" b="1" spc="2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55" dirty="0">
                <a:solidFill>
                  <a:srgbClr val="0D0D0D"/>
                </a:solidFill>
                <a:latin typeface="Times New Roman"/>
                <a:cs typeface="Times New Roman"/>
              </a:rPr>
              <a:t>to</a:t>
            </a:r>
            <a:r>
              <a:rPr sz="2400" b="1" spc="2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100" dirty="0">
                <a:solidFill>
                  <a:srgbClr val="0D0D0D"/>
                </a:solidFill>
                <a:latin typeface="Times New Roman"/>
                <a:cs typeface="Times New Roman"/>
              </a:rPr>
              <a:t>discover</a:t>
            </a:r>
            <a:r>
              <a:rPr sz="2400" b="1" spc="21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90" dirty="0">
                <a:solidFill>
                  <a:srgbClr val="0D0D0D"/>
                </a:solidFill>
                <a:latin typeface="Times New Roman"/>
                <a:cs typeface="Times New Roman"/>
              </a:rPr>
              <a:t>their</a:t>
            </a:r>
            <a:r>
              <a:rPr sz="2400" b="1" spc="21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100" dirty="0">
                <a:solidFill>
                  <a:srgbClr val="0D0D0D"/>
                </a:solidFill>
                <a:latin typeface="Times New Roman"/>
                <a:cs typeface="Times New Roman"/>
              </a:rPr>
              <a:t>requirements.</a:t>
            </a:r>
            <a:r>
              <a:rPr sz="2400" b="1" spc="2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95" dirty="0">
                <a:solidFill>
                  <a:srgbClr val="0D0D0D"/>
                </a:solidFill>
                <a:latin typeface="Times New Roman"/>
                <a:cs typeface="Times New Roman"/>
              </a:rPr>
              <a:t>(Using</a:t>
            </a:r>
            <a:r>
              <a:rPr sz="2400" b="1" spc="2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95" dirty="0">
                <a:solidFill>
                  <a:srgbClr val="0D0D0D"/>
                </a:solidFill>
                <a:latin typeface="Times New Roman"/>
                <a:cs typeface="Times New Roman"/>
              </a:rPr>
              <a:t>requirements</a:t>
            </a:r>
            <a:r>
              <a:rPr sz="2400" b="1" spc="2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100" dirty="0">
                <a:solidFill>
                  <a:srgbClr val="0D0D0D"/>
                </a:solidFill>
                <a:latin typeface="Times New Roman"/>
                <a:cs typeface="Times New Roman"/>
              </a:rPr>
              <a:t>gathering 	</a:t>
            </a:r>
            <a:r>
              <a:rPr sz="24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techniques)</a:t>
            </a:r>
            <a:endParaRPr sz="2400" dirty="0">
              <a:latin typeface="Times New Roman"/>
              <a:cs typeface="Times New Roman"/>
            </a:endParaRPr>
          </a:p>
          <a:p>
            <a:pPr marL="349250" marR="5080" indent="-336550" algn="just">
              <a:lnSpc>
                <a:spcPts val="2590"/>
              </a:lnSpc>
              <a:spcBef>
                <a:spcPts val="500"/>
              </a:spcBef>
              <a:buFont typeface="Arial MT"/>
              <a:buChar char="•"/>
              <a:tabLst>
                <a:tab pos="351790" algn="l"/>
              </a:tabLst>
            </a:pPr>
            <a:r>
              <a:rPr sz="2400" b="1" spc="165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400" b="1" spc="4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80" dirty="0">
                <a:solidFill>
                  <a:srgbClr val="FF0000"/>
                </a:solidFill>
                <a:latin typeface="Times New Roman"/>
                <a:cs typeface="Times New Roman"/>
              </a:rPr>
              <a:t>classification</a:t>
            </a:r>
            <a:r>
              <a:rPr sz="2400" b="1" spc="4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2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4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75" dirty="0">
                <a:solidFill>
                  <a:srgbClr val="FF0000"/>
                </a:solidFill>
                <a:latin typeface="Times New Roman"/>
                <a:cs typeface="Times New Roman"/>
              </a:rPr>
              <a:t>organization:</a:t>
            </a:r>
            <a:r>
              <a:rPr sz="2400" b="1" spc="3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40" dirty="0">
                <a:solidFill>
                  <a:srgbClr val="0D0D0D"/>
                </a:solidFill>
                <a:latin typeface="Times New Roman"/>
                <a:cs typeface="Times New Roman"/>
              </a:rPr>
              <a:t>This</a:t>
            </a:r>
            <a:r>
              <a:rPr sz="2400" b="1" spc="4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170" dirty="0">
                <a:solidFill>
                  <a:srgbClr val="0D0D0D"/>
                </a:solidFill>
                <a:latin typeface="Times New Roman"/>
                <a:cs typeface="Times New Roman"/>
              </a:rPr>
              <a:t>activity</a:t>
            </a:r>
            <a:r>
              <a:rPr sz="2400" b="1" spc="434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155" dirty="0">
                <a:solidFill>
                  <a:srgbClr val="0D0D0D"/>
                </a:solidFill>
                <a:latin typeface="Times New Roman"/>
                <a:cs typeface="Times New Roman"/>
              </a:rPr>
              <a:t>takes</a:t>
            </a:r>
            <a:r>
              <a:rPr sz="2400" b="1" spc="434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100" dirty="0">
                <a:solidFill>
                  <a:srgbClr val="0D0D0D"/>
                </a:solidFill>
                <a:latin typeface="Times New Roman"/>
                <a:cs typeface="Times New Roman"/>
              </a:rPr>
              <a:t>the 	</a:t>
            </a:r>
            <a:r>
              <a:rPr sz="2400" b="1" spc="80" dirty="0">
                <a:solidFill>
                  <a:srgbClr val="0D0D0D"/>
                </a:solidFill>
                <a:latin typeface="Times New Roman"/>
                <a:cs typeface="Times New Roman"/>
              </a:rPr>
              <a:t>unstructured</a:t>
            </a:r>
            <a:r>
              <a:rPr sz="2400" b="1" spc="2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85" dirty="0">
                <a:solidFill>
                  <a:srgbClr val="0D0D0D"/>
                </a:solidFill>
                <a:latin typeface="Times New Roman"/>
                <a:cs typeface="Times New Roman"/>
              </a:rPr>
              <a:t>collection</a:t>
            </a:r>
            <a:r>
              <a:rPr sz="2400" b="1" spc="2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sz="2400" b="1" spc="2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85" dirty="0">
                <a:solidFill>
                  <a:srgbClr val="0D0D0D"/>
                </a:solidFill>
                <a:latin typeface="Times New Roman"/>
                <a:cs typeface="Times New Roman"/>
              </a:rPr>
              <a:t>requirements,</a:t>
            </a:r>
            <a:r>
              <a:rPr sz="2400" b="1" spc="2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75" dirty="0">
                <a:solidFill>
                  <a:srgbClr val="0D0D0D"/>
                </a:solidFill>
                <a:latin typeface="Times New Roman"/>
                <a:cs typeface="Times New Roman"/>
              </a:rPr>
              <a:t>groups</a:t>
            </a:r>
            <a:r>
              <a:rPr sz="2400" b="1" spc="254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80" dirty="0">
                <a:solidFill>
                  <a:srgbClr val="0D0D0D"/>
                </a:solidFill>
                <a:latin typeface="Times New Roman"/>
                <a:cs typeface="Times New Roman"/>
              </a:rPr>
              <a:t>related</a:t>
            </a:r>
            <a:r>
              <a:rPr sz="2400" b="1" spc="2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85" dirty="0">
                <a:solidFill>
                  <a:srgbClr val="0D0D0D"/>
                </a:solidFill>
                <a:latin typeface="Times New Roman"/>
                <a:cs typeface="Times New Roman"/>
              </a:rPr>
              <a:t>requirements,</a:t>
            </a:r>
            <a:r>
              <a:rPr sz="2400" b="1" spc="254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35" dirty="0">
                <a:solidFill>
                  <a:srgbClr val="0D0D0D"/>
                </a:solidFill>
                <a:latin typeface="Times New Roman"/>
                <a:cs typeface="Times New Roman"/>
              </a:rPr>
              <a:t>and 	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organizes</a:t>
            </a:r>
            <a:r>
              <a:rPr sz="24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them</a:t>
            </a:r>
            <a:r>
              <a:rPr sz="24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into</a:t>
            </a:r>
            <a:r>
              <a:rPr sz="24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coherent</a:t>
            </a:r>
            <a:r>
              <a:rPr sz="24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clusters.</a:t>
            </a:r>
            <a:endParaRPr sz="2400" dirty="0">
              <a:latin typeface="Times New Roman"/>
              <a:cs typeface="Times New Roman"/>
            </a:endParaRPr>
          </a:p>
          <a:p>
            <a:pPr marL="349250" marR="5080" indent="-336550" algn="just">
              <a:lnSpc>
                <a:spcPct val="89900"/>
              </a:lnSpc>
              <a:spcBef>
                <a:spcPts val="465"/>
              </a:spcBef>
              <a:buFont typeface="Arial MT"/>
              <a:buChar char="•"/>
              <a:tabLst>
                <a:tab pos="351790" algn="l"/>
              </a:tabLst>
            </a:pPr>
            <a:r>
              <a:rPr sz="2400" b="1" spc="125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400" b="1" spc="3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40" dirty="0">
                <a:solidFill>
                  <a:srgbClr val="FF0000"/>
                </a:solidFill>
                <a:latin typeface="Times New Roman"/>
                <a:cs typeface="Times New Roman"/>
              </a:rPr>
              <a:t>prioritization</a:t>
            </a:r>
            <a:r>
              <a:rPr sz="2400" b="1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3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40" dirty="0">
                <a:solidFill>
                  <a:srgbClr val="FF0000"/>
                </a:solidFill>
                <a:latin typeface="Times New Roman"/>
                <a:cs typeface="Times New Roman"/>
              </a:rPr>
              <a:t>negotiation:</a:t>
            </a:r>
            <a:r>
              <a:rPr sz="2400" b="1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25" dirty="0">
                <a:solidFill>
                  <a:srgbClr val="0D0D0D"/>
                </a:solidFill>
                <a:latin typeface="Times New Roman"/>
                <a:cs typeface="Times New Roman"/>
              </a:rPr>
              <a:t>Inevitably,</a:t>
            </a:r>
            <a:r>
              <a:rPr sz="2400" b="1" spc="3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105" dirty="0">
                <a:solidFill>
                  <a:srgbClr val="0D0D0D"/>
                </a:solidFill>
                <a:latin typeface="Times New Roman"/>
                <a:cs typeface="Times New Roman"/>
              </a:rPr>
              <a:t>when</a:t>
            </a:r>
            <a:r>
              <a:rPr sz="2400" b="1" spc="3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120" dirty="0">
                <a:solidFill>
                  <a:srgbClr val="0D0D0D"/>
                </a:solidFill>
                <a:latin typeface="Times New Roman"/>
                <a:cs typeface="Times New Roman"/>
              </a:rPr>
              <a:t>multiple 	</a:t>
            </a:r>
            <a:r>
              <a:rPr sz="2400" b="1" dirty="0" smtClean="0">
                <a:solidFill>
                  <a:srgbClr val="0D0D0D"/>
                </a:solidFill>
                <a:latin typeface="Times New Roman"/>
                <a:cs typeface="Times New Roman"/>
              </a:rPr>
              <a:t>stakeholders</a:t>
            </a:r>
            <a:r>
              <a:rPr sz="2400" b="1" spc="-25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are</a:t>
            </a:r>
            <a:r>
              <a:rPr sz="2400" b="1" spc="-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involved,</a:t>
            </a:r>
            <a:r>
              <a:rPr sz="2400" b="1" spc="-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requirements</a:t>
            </a:r>
            <a:r>
              <a:rPr sz="2400" b="1" spc="-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will</a:t>
            </a:r>
            <a:r>
              <a:rPr sz="2400" b="1" spc="-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conflict.</a:t>
            </a:r>
            <a:r>
              <a:rPr sz="2400" b="1" spc="-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This</a:t>
            </a:r>
            <a:r>
              <a:rPr sz="2400" b="1" spc="-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activity</a:t>
            </a:r>
            <a:r>
              <a:rPr sz="2400" b="1" spc="-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is</a:t>
            </a:r>
            <a:r>
              <a:rPr sz="2400" b="1" spc="-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concerned 	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with</a:t>
            </a:r>
            <a:r>
              <a:rPr sz="2400" b="1" spc="1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prioritizing</a:t>
            </a:r>
            <a:r>
              <a:rPr sz="2400" b="1" spc="1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requirements</a:t>
            </a:r>
            <a:r>
              <a:rPr sz="2400" b="1" spc="1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2400" b="1" spc="1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finding</a:t>
            </a:r>
            <a:r>
              <a:rPr sz="2400" b="1" spc="1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2400" b="1" spc="1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resolving</a:t>
            </a:r>
            <a:r>
              <a:rPr sz="2400" b="1" spc="1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requirements</a:t>
            </a:r>
            <a:r>
              <a:rPr sz="2400" b="1" spc="1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conflicts 	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through</a:t>
            </a:r>
            <a:r>
              <a:rPr sz="2400" b="1" spc="-10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negotiation.</a:t>
            </a:r>
            <a:endParaRPr sz="2400" dirty="0">
              <a:latin typeface="Times New Roman"/>
              <a:cs typeface="Times New Roman"/>
            </a:endParaRPr>
          </a:p>
          <a:p>
            <a:pPr marL="349250" marR="5080" indent="-336550" algn="just">
              <a:lnSpc>
                <a:spcPts val="2590"/>
              </a:lnSpc>
              <a:spcBef>
                <a:spcPts val="535"/>
              </a:spcBef>
              <a:buFont typeface="Arial MT"/>
              <a:buChar char="•"/>
              <a:tabLst>
                <a:tab pos="351790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specification.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sz="24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requirements</a:t>
            </a:r>
            <a:r>
              <a:rPr sz="24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are</a:t>
            </a:r>
            <a:r>
              <a:rPr sz="24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documented</a:t>
            </a:r>
            <a:r>
              <a:rPr sz="24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2400" b="1" spc="-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input</a:t>
            </a:r>
            <a:r>
              <a:rPr sz="24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into</a:t>
            </a:r>
            <a:r>
              <a:rPr sz="24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the 	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next</a:t>
            </a:r>
            <a:r>
              <a:rPr sz="2400" b="1" spc="2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round</a:t>
            </a:r>
            <a:r>
              <a:rPr sz="2400" b="1" spc="2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sz="2400" b="1" spc="2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sz="2400" b="1" spc="2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45" dirty="0">
                <a:solidFill>
                  <a:srgbClr val="0D0D0D"/>
                </a:solidFill>
                <a:latin typeface="Times New Roman"/>
                <a:cs typeface="Times New Roman"/>
              </a:rPr>
              <a:t>spiral.</a:t>
            </a:r>
            <a:r>
              <a:rPr sz="2400" b="1" spc="2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Formal</a:t>
            </a:r>
            <a:r>
              <a:rPr sz="2400" b="1" spc="2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or</a:t>
            </a:r>
            <a:r>
              <a:rPr sz="2400" b="1" spc="19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45" dirty="0">
                <a:solidFill>
                  <a:srgbClr val="0D0D0D"/>
                </a:solidFill>
                <a:latin typeface="Times New Roman"/>
                <a:cs typeface="Times New Roman"/>
              </a:rPr>
              <a:t>informal</a:t>
            </a:r>
            <a:r>
              <a:rPr sz="2400" b="1" spc="2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requirements</a:t>
            </a:r>
            <a:r>
              <a:rPr sz="2400" b="1" spc="2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45" dirty="0">
                <a:solidFill>
                  <a:srgbClr val="0D0D0D"/>
                </a:solidFill>
                <a:latin typeface="Times New Roman"/>
                <a:cs typeface="Times New Roman"/>
              </a:rPr>
              <a:t>documents</a:t>
            </a:r>
            <a:r>
              <a:rPr sz="2400" b="1" spc="2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may</a:t>
            </a:r>
            <a:r>
              <a:rPr sz="2400" b="1" spc="2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be 	</a:t>
            </a:r>
            <a:r>
              <a:rPr sz="24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produced.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0502" y="473709"/>
            <a:ext cx="10346055" cy="53681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1705">
              <a:lnSpc>
                <a:spcPct val="100000"/>
              </a:lnSpc>
              <a:spcBef>
                <a:spcPts val="100"/>
              </a:spcBef>
              <a:tabLst>
                <a:tab pos="1446530" algn="l"/>
              </a:tabLst>
            </a:pPr>
            <a:r>
              <a:rPr sz="2450" dirty="0">
                <a:latin typeface="Microsoft Sans Serif"/>
                <a:cs typeface="Microsoft Sans Serif"/>
              </a:rPr>
              <a:t>	</a:t>
            </a:r>
            <a:r>
              <a:rPr sz="36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Problems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3200" b="1" dirty="0">
                <a:latin typeface="Times New Roman"/>
                <a:cs typeface="Times New Roman"/>
              </a:rPr>
              <a:t>Stakeholders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don’t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know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what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they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really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want.</a:t>
            </a:r>
            <a:endParaRPr sz="32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0029" algn="l"/>
              </a:tabLst>
            </a:pPr>
            <a:r>
              <a:rPr sz="3200" b="1" dirty="0">
                <a:latin typeface="Times New Roman"/>
                <a:cs typeface="Times New Roman"/>
              </a:rPr>
              <a:t>Stakeholders</a:t>
            </a:r>
            <a:r>
              <a:rPr sz="3200" b="1" spc="-8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express</a:t>
            </a:r>
            <a:r>
              <a:rPr sz="3200" b="1" spc="-8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requirements</a:t>
            </a:r>
            <a:r>
              <a:rPr sz="3200" b="1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their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own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terms.</a:t>
            </a:r>
            <a:endParaRPr sz="32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0029" algn="l"/>
              </a:tabLst>
            </a:pPr>
            <a:r>
              <a:rPr sz="3200" b="1" dirty="0">
                <a:latin typeface="Times New Roman"/>
                <a:cs typeface="Times New Roman"/>
              </a:rPr>
              <a:t>Different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stakeholders</a:t>
            </a:r>
            <a:r>
              <a:rPr sz="3200" b="1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may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conflicting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requirements.</a:t>
            </a:r>
            <a:endParaRPr sz="3200" dirty="0">
              <a:latin typeface="Times New Roman"/>
              <a:cs typeface="Times New Roman"/>
            </a:endParaRPr>
          </a:p>
          <a:p>
            <a:pPr marL="239395" marR="5080" indent="-227329" algn="just">
              <a:lnSpc>
                <a:spcPts val="3460"/>
              </a:lnSpc>
              <a:spcBef>
                <a:spcPts val="1045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b="1" spc="114" dirty="0">
                <a:latin typeface="Times New Roman"/>
                <a:cs typeface="Times New Roman"/>
              </a:rPr>
              <a:t>Organisational</a:t>
            </a:r>
            <a:r>
              <a:rPr sz="3200" b="1" spc="285" dirty="0">
                <a:latin typeface="Times New Roman"/>
                <a:cs typeface="Times New Roman"/>
              </a:rPr>
              <a:t> </a:t>
            </a:r>
            <a:r>
              <a:rPr sz="3200" b="1" spc="85" dirty="0">
                <a:latin typeface="Times New Roman"/>
                <a:cs typeface="Times New Roman"/>
              </a:rPr>
              <a:t>and</a:t>
            </a:r>
            <a:r>
              <a:rPr sz="3200" b="1" spc="285" dirty="0">
                <a:latin typeface="Times New Roman"/>
                <a:cs typeface="Times New Roman"/>
              </a:rPr>
              <a:t> </a:t>
            </a:r>
            <a:r>
              <a:rPr sz="3200" b="1" spc="110" dirty="0">
                <a:latin typeface="Times New Roman"/>
                <a:cs typeface="Times New Roman"/>
              </a:rPr>
              <a:t>political</a:t>
            </a:r>
            <a:r>
              <a:rPr sz="3200" b="1" spc="300" dirty="0">
                <a:latin typeface="Times New Roman"/>
                <a:cs typeface="Times New Roman"/>
              </a:rPr>
              <a:t> </a:t>
            </a:r>
            <a:r>
              <a:rPr sz="3200" b="1" spc="105" dirty="0">
                <a:latin typeface="Times New Roman"/>
                <a:cs typeface="Times New Roman"/>
              </a:rPr>
              <a:t>factors</a:t>
            </a:r>
            <a:r>
              <a:rPr sz="3200" b="1" spc="295" dirty="0">
                <a:latin typeface="Times New Roman"/>
                <a:cs typeface="Times New Roman"/>
              </a:rPr>
              <a:t> </a:t>
            </a:r>
            <a:r>
              <a:rPr sz="3200" spc="85" dirty="0">
                <a:latin typeface="Times New Roman"/>
                <a:cs typeface="Times New Roman"/>
              </a:rPr>
              <a:t>may</a:t>
            </a:r>
            <a:r>
              <a:rPr sz="3200" spc="295" dirty="0">
                <a:latin typeface="Times New Roman"/>
                <a:cs typeface="Times New Roman"/>
              </a:rPr>
              <a:t> </a:t>
            </a:r>
            <a:r>
              <a:rPr sz="3200" spc="114" dirty="0">
                <a:latin typeface="Times New Roman"/>
                <a:cs typeface="Times New Roman"/>
              </a:rPr>
              <a:t>influence</a:t>
            </a:r>
            <a:r>
              <a:rPr sz="3200" spc="300" dirty="0">
                <a:latin typeface="Times New Roman"/>
                <a:cs typeface="Times New Roman"/>
              </a:rPr>
              <a:t> </a:t>
            </a:r>
            <a:r>
              <a:rPr sz="3200" spc="60" dirty="0">
                <a:latin typeface="Times New Roman"/>
                <a:cs typeface="Times New Roman"/>
              </a:rPr>
              <a:t>the 	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requirements.</a:t>
            </a:r>
            <a:endParaRPr sz="3200" dirty="0">
              <a:latin typeface="Times New Roman"/>
              <a:cs typeface="Times New Roman"/>
            </a:endParaRPr>
          </a:p>
          <a:p>
            <a:pPr marL="239395" marR="5080" indent="-227329" algn="just">
              <a:lnSpc>
                <a:spcPts val="345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b="1" spc="70" dirty="0">
                <a:latin typeface="Times New Roman"/>
                <a:cs typeface="Times New Roman"/>
              </a:rPr>
              <a:t>The</a:t>
            </a:r>
            <a:r>
              <a:rPr sz="3200" b="1" spc="245" dirty="0">
                <a:latin typeface="Times New Roman"/>
                <a:cs typeface="Times New Roman"/>
              </a:rPr>
              <a:t> </a:t>
            </a:r>
            <a:r>
              <a:rPr sz="3200" b="1" spc="85" dirty="0">
                <a:latin typeface="Times New Roman"/>
                <a:cs typeface="Times New Roman"/>
              </a:rPr>
              <a:t>requirements</a:t>
            </a:r>
            <a:r>
              <a:rPr sz="3200" b="1" spc="260" dirty="0">
                <a:latin typeface="Times New Roman"/>
                <a:cs typeface="Times New Roman"/>
              </a:rPr>
              <a:t> </a:t>
            </a:r>
            <a:r>
              <a:rPr sz="3200" b="1" spc="95" dirty="0">
                <a:latin typeface="Times New Roman"/>
                <a:cs typeface="Times New Roman"/>
              </a:rPr>
              <a:t>change</a:t>
            </a:r>
            <a:r>
              <a:rPr sz="3200" b="1" spc="260" dirty="0">
                <a:latin typeface="Times New Roman"/>
                <a:cs typeface="Times New Roman"/>
              </a:rPr>
              <a:t> </a:t>
            </a:r>
            <a:r>
              <a:rPr sz="3200" b="1" spc="95" dirty="0">
                <a:latin typeface="Times New Roman"/>
                <a:cs typeface="Times New Roman"/>
              </a:rPr>
              <a:t>during</a:t>
            </a:r>
            <a:r>
              <a:rPr sz="3200" b="1" spc="260" dirty="0">
                <a:latin typeface="Times New Roman"/>
                <a:cs typeface="Times New Roman"/>
              </a:rPr>
              <a:t> </a:t>
            </a:r>
            <a:r>
              <a:rPr sz="3200" b="1" spc="75" dirty="0">
                <a:latin typeface="Times New Roman"/>
                <a:cs typeface="Times New Roman"/>
              </a:rPr>
              <a:t>the</a:t>
            </a:r>
            <a:r>
              <a:rPr sz="3200" b="1" spc="260" dirty="0">
                <a:latin typeface="Times New Roman"/>
                <a:cs typeface="Times New Roman"/>
              </a:rPr>
              <a:t> </a:t>
            </a:r>
            <a:r>
              <a:rPr sz="3200" b="1" spc="100" dirty="0">
                <a:latin typeface="Times New Roman"/>
                <a:cs typeface="Times New Roman"/>
              </a:rPr>
              <a:t>analysis</a:t>
            </a:r>
            <a:r>
              <a:rPr sz="3200" b="1" spc="260" dirty="0">
                <a:latin typeface="Times New Roman"/>
                <a:cs typeface="Times New Roman"/>
              </a:rPr>
              <a:t> </a:t>
            </a:r>
            <a:r>
              <a:rPr sz="3200" b="1" spc="75" dirty="0">
                <a:latin typeface="Times New Roman"/>
                <a:cs typeface="Times New Roman"/>
              </a:rPr>
              <a:t>process</a:t>
            </a:r>
            <a:r>
              <a:rPr sz="3200" spc="75" dirty="0">
                <a:latin typeface="Times New Roman"/>
                <a:cs typeface="Times New Roman"/>
              </a:rPr>
              <a:t>. 	</a:t>
            </a:r>
            <a:r>
              <a:rPr sz="3200" dirty="0">
                <a:latin typeface="Times New Roman"/>
                <a:cs typeface="Times New Roman"/>
              </a:rPr>
              <a:t>New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stakeholders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may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emerge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business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environment 	change.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71392" y="473709"/>
            <a:ext cx="5449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heavy" spc="-1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600" b="1" u="heavy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Spiral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32916" y="1412747"/>
            <a:ext cx="9726295" cy="5445760"/>
            <a:chOff x="1232916" y="1412747"/>
            <a:chExt cx="9726295" cy="5445760"/>
          </a:xfrm>
        </p:grpSpPr>
        <p:sp>
          <p:nvSpPr>
            <p:cNvPr id="4" name="object 4"/>
            <p:cNvSpPr/>
            <p:nvPr/>
          </p:nvSpPr>
          <p:spPr>
            <a:xfrm>
              <a:off x="1232916" y="1412747"/>
              <a:ext cx="9726295" cy="4971415"/>
            </a:xfrm>
            <a:custGeom>
              <a:avLst/>
              <a:gdLst/>
              <a:ahLst/>
              <a:cxnLst/>
              <a:rect l="l" t="t" r="r" b="b"/>
              <a:pathLst>
                <a:path w="9726295" h="4971415">
                  <a:moveTo>
                    <a:pt x="9726168" y="4971288"/>
                  </a:moveTo>
                  <a:lnTo>
                    <a:pt x="0" y="4971288"/>
                  </a:lnTo>
                  <a:lnTo>
                    <a:pt x="0" y="0"/>
                  </a:lnTo>
                  <a:lnTo>
                    <a:pt x="9726168" y="0"/>
                  </a:lnTo>
                  <a:lnTo>
                    <a:pt x="9726168" y="4971288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8343" y="1572259"/>
              <a:ext cx="7251001" cy="528574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82787" y="386778"/>
            <a:ext cx="97967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16890" algn="l"/>
              </a:tabLst>
            </a:pP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200" b="1" u="heavy" spc="-2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spiral</a:t>
            </a:r>
            <a:r>
              <a:rPr sz="3200" b="1" u="heavy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view</a:t>
            </a:r>
            <a:r>
              <a:rPr sz="3200" b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2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200" b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2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3200" b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631" y="1495044"/>
            <a:ext cx="11320272" cy="48615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65948" y="350583"/>
            <a:ext cx="10333355" cy="54219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9315">
              <a:lnSpc>
                <a:spcPct val="100000"/>
              </a:lnSpc>
              <a:spcBef>
                <a:spcPts val="100"/>
              </a:spcBef>
              <a:tabLst>
                <a:tab pos="3914140" algn="l"/>
              </a:tabLst>
            </a:pPr>
            <a:r>
              <a:rPr sz="3600" b="1" u="heavy" spc="-2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activities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2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Requirements</a:t>
            </a:r>
            <a:r>
              <a:rPr sz="2600" b="1" spc="-16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discovery</a:t>
            </a:r>
            <a:endParaRPr sz="2600" dirty="0">
              <a:latin typeface="Times New Roman"/>
              <a:cs typeface="Times New Roman"/>
            </a:endParaRPr>
          </a:p>
          <a:p>
            <a:pPr marL="698500" marR="534035" lvl="1" indent="-228600">
              <a:lnSpc>
                <a:spcPts val="280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Interacting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stakeholders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discover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their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requirements.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Domain </a:t>
            </a: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also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discovered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stage.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Requirements</a:t>
            </a:r>
            <a:r>
              <a:rPr sz="2600" b="1" spc="-1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classification</a:t>
            </a:r>
            <a:r>
              <a:rPr sz="2600" b="1" spc="-10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and</a:t>
            </a:r>
            <a:r>
              <a:rPr sz="2600" b="1" spc="-10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organization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Groups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related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organises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them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coherent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clusters.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Prioritization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and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negotiation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Prioritizing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resolving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conflicts.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Requirements</a:t>
            </a:r>
            <a:r>
              <a:rPr sz="2600" b="1" spc="-16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specification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documented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input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into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next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round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spira</a:t>
            </a:r>
            <a:r>
              <a:rPr sz="2000" spc="-10" dirty="0">
                <a:latin typeface="Times New Roman"/>
                <a:cs typeface="Times New Roman"/>
              </a:rPr>
              <a:t>l.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876" y="350583"/>
            <a:ext cx="10327005" cy="21467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0315">
              <a:lnSpc>
                <a:spcPct val="100000"/>
              </a:lnSpc>
              <a:spcBef>
                <a:spcPts val="100"/>
              </a:spcBef>
              <a:tabLst>
                <a:tab pos="3025140" algn="l"/>
              </a:tabLst>
            </a:pPr>
            <a:r>
              <a:rPr sz="3600" b="1" u="heavy" spc="-2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Design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6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665" marR="5080" indent="-228600">
              <a:lnSpc>
                <a:spcPts val="3240"/>
              </a:lnSpc>
              <a:buFont typeface="Arial MT"/>
              <a:buChar char="•"/>
              <a:tabLst>
                <a:tab pos="240665" algn="l"/>
              </a:tabLst>
            </a:pPr>
            <a:r>
              <a:rPr sz="3000" b="1" dirty="0">
                <a:latin typeface="Times New Roman"/>
                <a:cs typeface="Times New Roman"/>
              </a:rPr>
              <a:t>In</a:t>
            </a:r>
            <a:r>
              <a:rPr sz="3000" b="1" spc="31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principle</a:t>
            </a:r>
            <a:r>
              <a:rPr sz="3000" dirty="0">
                <a:latin typeface="Times New Roman"/>
                <a:cs typeface="Times New Roman"/>
              </a:rPr>
              <a:t>,</a:t>
            </a:r>
            <a:r>
              <a:rPr sz="3000" spc="3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3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3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state</a:t>
            </a:r>
            <a:r>
              <a:rPr sz="3000" spc="320" dirty="0">
                <a:latin typeface="Times New Roman"/>
                <a:cs typeface="Times New Roman"/>
              </a:rPr>
              <a:t> </a:t>
            </a:r>
            <a:r>
              <a:rPr sz="3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3000" u="heavy" spc="3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000" u="heavy" spc="3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system</a:t>
            </a:r>
            <a:r>
              <a:rPr sz="3000" u="heavy" spc="3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should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design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describe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how</a:t>
            </a:r>
            <a:r>
              <a:rPr sz="3000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it</a:t>
            </a:r>
            <a:r>
              <a:rPr sz="3000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does</a:t>
            </a:r>
            <a:r>
              <a:rPr sz="3000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876" y="2522220"/>
            <a:ext cx="159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29651" y="2586354"/>
            <a:ext cx="7943850" cy="4210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3195"/>
              </a:lnSpc>
            </a:pP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practice,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design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inseparable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5076" y="2997200"/>
            <a:ext cx="9870440" cy="26670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41300" marR="5080" indent="-228600">
              <a:lnSpc>
                <a:spcPts val="324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  <a:tab pos="1959610" algn="l"/>
                <a:tab pos="4166235" algn="l"/>
                <a:tab pos="5013960" algn="l"/>
                <a:tab pos="5541010" algn="l"/>
                <a:tab pos="7207250" algn="l"/>
                <a:tab pos="7671434" algn="l"/>
                <a:tab pos="9341485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195" dirty="0">
                <a:latin typeface="Times New Roman"/>
                <a:cs typeface="Times New Roman"/>
              </a:rPr>
              <a:t> </a:t>
            </a:r>
            <a:r>
              <a:rPr sz="3000" spc="135" dirty="0">
                <a:latin typeface="Times New Roman"/>
                <a:cs typeface="Times New Roman"/>
              </a:rPr>
              <a:t>system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150" dirty="0">
                <a:latin typeface="Times New Roman"/>
                <a:cs typeface="Times New Roman"/>
              </a:rPr>
              <a:t>architecture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85" dirty="0">
                <a:latin typeface="Times New Roman"/>
                <a:cs typeface="Times New Roman"/>
              </a:rPr>
              <a:t>may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60" dirty="0">
                <a:latin typeface="Times New Roman"/>
                <a:cs typeface="Times New Roman"/>
              </a:rPr>
              <a:t>be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150" dirty="0">
                <a:latin typeface="Times New Roman"/>
                <a:cs typeface="Times New Roman"/>
              </a:rPr>
              <a:t>designed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6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150" dirty="0">
                <a:latin typeface="Times New Roman"/>
                <a:cs typeface="Times New Roman"/>
              </a:rPr>
              <a:t>structure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95" dirty="0">
                <a:latin typeface="Times New Roman"/>
                <a:cs typeface="Times New Roman"/>
              </a:rPr>
              <a:t>the </a:t>
            </a:r>
            <a:r>
              <a:rPr sz="3000" spc="-10" dirty="0">
                <a:latin typeface="Times New Roman"/>
                <a:cs typeface="Times New Roman"/>
              </a:rPr>
              <a:t>requirements;</a:t>
            </a:r>
            <a:endParaRPr sz="3000">
              <a:latin typeface="Times New Roman"/>
              <a:cs typeface="Times New Roman"/>
            </a:endParaRPr>
          </a:p>
          <a:p>
            <a:pPr marL="241300" marR="87630" indent="-228600">
              <a:lnSpc>
                <a:spcPts val="324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imes New Roman"/>
                <a:cs typeface="Times New Roman"/>
              </a:rPr>
              <a:t>inter-</a:t>
            </a:r>
            <a:r>
              <a:rPr sz="3000" dirty="0">
                <a:latin typeface="Times New Roman"/>
                <a:cs typeface="Times New Roman"/>
              </a:rPr>
              <a:t>operate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other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generate </a:t>
            </a:r>
            <a:r>
              <a:rPr sz="3000" dirty="0">
                <a:latin typeface="Times New Roman"/>
                <a:cs typeface="Times New Roman"/>
              </a:rPr>
              <a:t>design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requirements;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spc="55" dirty="0">
                <a:latin typeface="Times New Roman"/>
                <a:cs typeface="Times New Roman"/>
              </a:rPr>
              <a:t>The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use</a:t>
            </a:r>
            <a:r>
              <a:rPr sz="3000" spc="2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specific</a:t>
            </a:r>
            <a:r>
              <a:rPr sz="3000" spc="225" dirty="0">
                <a:latin typeface="Times New Roman"/>
                <a:cs typeface="Times New Roman"/>
              </a:rPr>
              <a:t> </a:t>
            </a:r>
            <a:r>
              <a:rPr sz="3000" spc="80" dirty="0">
                <a:latin typeface="Times New Roman"/>
                <a:cs typeface="Times New Roman"/>
              </a:rPr>
              <a:t>architecture</a:t>
            </a:r>
            <a:r>
              <a:rPr sz="3000" spc="2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satisfy</a:t>
            </a:r>
            <a:r>
              <a:rPr sz="3000" spc="225" dirty="0">
                <a:latin typeface="Times New Roman"/>
                <a:cs typeface="Times New Roman"/>
              </a:rPr>
              <a:t> </a:t>
            </a:r>
            <a:r>
              <a:rPr sz="3000" spc="95" dirty="0">
                <a:latin typeface="Times New Roman"/>
                <a:cs typeface="Times New Roman"/>
              </a:rPr>
              <a:t>non-</a:t>
            </a:r>
            <a:r>
              <a:rPr sz="3000" spc="70" dirty="0">
                <a:latin typeface="Times New Roman"/>
                <a:cs typeface="Times New Roman"/>
              </a:rPr>
              <a:t>functional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domain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080" y="2340609"/>
            <a:ext cx="5894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dirty="0">
                <a:latin typeface="Microsoft Sans Serif"/>
                <a:cs typeface="Microsoft Sans Serif"/>
              </a:rPr>
              <a:t>	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Specification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4143" y="350583"/>
            <a:ext cx="5894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heavy" spc="-2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Specification</a:t>
            </a: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9052" y="1661160"/>
            <a:ext cx="10058400" cy="47396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1255" y="511809"/>
            <a:ext cx="10537190" cy="5527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5075">
              <a:lnSpc>
                <a:spcPct val="100000"/>
              </a:lnSpc>
              <a:spcBef>
                <a:spcPts val="100"/>
              </a:spcBef>
              <a:tabLst>
                <a:tab pos="1739264" algn="l"/>
              </a:tabLst>
            </a:pPr>
            <a:r>
              <a:rPr sz="2450" spc="2005" dirty="0" smtClean="0">
                <a:latin typeface="Microsoft Sans Serif"/>
                <a:cs typeface="Microsoft Sans Serif"/>
              </a:rPr>
              <a:t>🞂</a:t>
            </a:r>
            <a:r>
              <a:rPr sz="3600" b="1" u="heavy" spc="-2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3600" b="1" u="heavy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Specification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7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259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400" b="1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specification</a:t>
            </a:r>
            <a:r>
              <a:rPr sz="2400" b="1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400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specification</a:t>
            </a:r>
            <a:r>
              <a:rPr sz="24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400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2400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spc="2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writing 	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down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user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document.</a:t>
            </a:r>
            <a:endParaRPr sz="24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75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400" spc="2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8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400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Times New Roman"/>
                <a:cs typeface="Times New Roman"/>
              </a:rPr>
              <a:t>specification</a:t>
            </a:r>
            <a:r>
              <a:rPr sz="2400" spc="2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70" dirty="0">
                <a:solidFill>
                  <a:srgbClr val="FF0000"/>
                </a:solidFill>
                <a:latin typeface="Times New Roman"/>
                <a:cs typeface="Times New Roman"/>
              </a:rPr>
              <a:t>(SRS)</a:t>
            </a:r>
            <a:r>
              <a:rPr sz="2400" spc="2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complete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spc="85" dirty="0">
                <a:latin typeface="Times New Roman"/>
                <a:cs typeface="Times New Roman"/>
              </a:rPr>
              <a:t>description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behavior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developed</a:t>
            </a:r>
            <a:endParaRPr sz="24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document</a:t>
            </a:r>
            <a:r>
              <a:rPr sz="2400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24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clearly</a:t>
            </a:r>
            <a:r>
              <a:rPr sz="2400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precisely</a:t>
            </a:r>
            <a:r>
              <a:rPr sz="2400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describes,</a:t>
            </a:r>
            <a:r>
              <a:rPr sz="2400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each</a:t>
            </a:r>
            <a:r>
              <a:rPr sz="2400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essential</a:t>
            </a:r>
            <a:r>
              <a:rPr sz="2400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requirements 	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external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interfaces.</a:t>
            </a:r>
            <a:endParaRPr sz="24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17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(functions,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performance,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constraint,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quality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attributes)</a:t>
            </a:r>
            <a:endParaRPr sz="24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365"/>
              </a:spcBef>
              <a:buFont typeface="Arial MT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ts val="259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requirement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defined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way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achievement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capable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being 	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objectively</a:t>
            </a:r>
            <a:r>
              <a:rPr sz="2400" i="1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verified</a:t>
            </a:r>
            <a:r>
              <a:rPr sz="240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4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prescribed</a:t>
            </a:r>
            <a:r>
              <a:rPr sz="24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method;</a:t>
            </a:r>
            <a:r>
              <a:rPr sz="240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inspection,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demonstration, 	</a:t>
            </a:r>
            <a:r>
              <a:rPr sz="2400" dirty="0">
                <a:latin typeface="Times New Roman"/>
                <a:cs typeface="Times New Roman"/>
              </a:rPr>
              <a:t>analysis,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test.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8645" y="350583"/>
            <a:ext cx="10346055" cy="3967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4585">
              <a:lnSpc>
                <a:spcPct val="100000"/>
              </a:lnSpc>
              <a:spcBef>
                <a:spcPts val="100"/>
              </a:spcBef>
              <a:tabLst>
                <a:tab pos="162941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Document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2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document</a:t>
            </a:r>
            <a:r>
              <a:rPr sz="3000" spc="2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2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6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official</a:t>
            </a:r>
            <a:r>
              <a:rPr sz="30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statement</a:t>
            </a:r>
            <a:r>
              <a:rPr sz="30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what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required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developers.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spc="114" dirty="0">
                <a:latin typeface="Times New Roman"/>
                <a:cs typeface="Times New Roman"/>
              </a:rPr>
              <a:t>Should</a:t>
            </a:r>
            <a:r>
              <a:rPr sz="3000" spc="290" dirty="0">
                <a:latin typeface="Times New Roman"/>
                <a:cs typeface="Times New Roman"/>
              </a:rPr>
              <a:t> </a:t>
            </a:r>
            <a:r>
              <a:rPr sz="3000" spc="110" dirty="0">
                <a:latin typeface="Times New Roman"/>
                <a:cs typeface="Times New Roman"/>
              </a:rPr>
              <a:t>include</a:t>
            </a:r>
            <a:r>
              <a:rPr sz="3000" spc="290" dirty="0">
                <a:latin typeface="Times New Roman"/>
                <a:cs typeface="Times New Roman"/>
              </a:rPr>
              <a:t> </a:t>
            </a:r>
            <a:r>
              <a:rPr sz="3000" spc="100" dirty="0">
                <a:latin typeface="Times New Roman"/>
                <a:cs typeface="Times New Roman"/>
              </a:rPr>
              <a:t>both</a:t>
            </a:r>
            <a:r>
              <a:rPr sz="3000" spc="2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290" dirty="0">
                <a:latin typeface="Times New Roman"/>
                <a:cs typeface="Times New Roman"/>
              </a:rPr>
              <a:t> </a:t>
            </a:r>
            <a:r>
              <a:rPr sz="3000" spc="114" dirty="0">
                <a:latin typeface="Times New Roman"/>
                <a:cs typeface="Times New Roman"/>
              </a:rPr>
              <a:t>definition</a:t>
            </a:r>
            <a:r>
              <a:rPr sz="3000" spc="295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of</a:t>
            </a:r>
            <a:r>
              <a:rPr sz="3000" spc="290" dirty="0">
                <a:latin typeface="Times New Roman"/>
                <a:cs typeface="Times New Roman"/>
              </a:rPr>
              <a:t> </a:t>
            </a:r>
            <a:r>
              <a:rPr sz="3000" spc="95" dirty="0">
                <a:latin typeface="Times New Roman"/>
                <a:cs typeface="Times New Roman"/>
              </a:rPr>
              <a:t>user</a:t>
            </a:r>
            <a:r>
              <a:rPr sz="3000" spc="305" dirty="0">
                <a:latin typeface="Times New Roman"/>
                <a:cs typeface="Times New Roman"/>
              </a:rPr>
              <a:t> </a:t>
            </a:r>
            <a:r>
              <a:rPr sz="3000" spc="120" dirty="0">
                <a:latin typeface="Times New Roman"/>
                <a:cs typeface="Times New Roman"/>
              </a:rPr>
              <a:t>requirements</a:t>
            </a:r>
            <a:r>
              <a:rPr sz="3000" spc="300" dirty="0">
                <a:latin typeface="Times New Roman"/>
                <a:cs typeface="Times New Roman"/>
              </a:rPr>
              <a:t> </a:t>
            </a:r>
            <a:r>
              <a:rPr sz="3000" spc="90" dirty="0">
                <a:latin typeface="Times New Roman"/>
                <a:cs typeface="Times New Roman"/>
              </a:rPr>
              <a:t>and</a:t>
            </a:r>
            <a:r>
              <a:rPr sz="3000" spc="30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imes New Roman"/>
                <a:cs typeface="Times New Roman"/>
              </a:rPr>
              <a:t>a </a:t>
            </a:r>
            <a:r>
              <a:rPr sz="3000" dirty="0">
                <a:latin typeface="Times New Roman"/>
                <a:cs typeface="Times New Roman"/>
              </a:rPr>
              <a:t>specification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It</a:t>
            </a:r>
            <a:r>
              <a:rPr sz="3000" spc="1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spc="1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300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spc="1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r>
              <a:rPr sz="3000" spc="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document.</a:t>
            </a:r>
            <a:r>
              <a:rPr sz="3000" spc="1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1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far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possible,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set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of </a:t>
            </a:r>
            <a:r>
              <a:rPr sz="3000" spc="-90" dirty="0">
                <a:latin typeface="Times New Roman"/>
                <a:cs typeface="Times New Roman"/>
              </a:rPr>
              <a:t>WHAT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rather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than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HOW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</a:t>
            </a:r>
            <a:r>
              <a:rPr sz="3000" spc="-25" dirty="0">
                <a:latin typeface="Times New Roman"/>
                <a:cs typeface="Times New Roman"/>
              </a:rPr>
              <a:t> it.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65792" y="350583"/>
            <a:ext cx="74301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Users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Document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1767" y="1493519"/>
            <a:ext cx="9809988" cy="462229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10358755" cy="4586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100"/>
              </a:spcBef>
              <a:tabLst>
                <a:tab pos="190500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Document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Variability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2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spc="90" dirty="0">
                <a:latin typeface="Times New Roman"/>
                <a:cs typeface="Times New Roman"/>
              </a:rPr>
              <a:t>Information</a:t>
            </a:r>
            <a:r>
              <a:rPr sz="3000" b="1" spc="229" dirty="0">
                <a:latin typeface="Times New Roman"/>
                <a:cs typeface="Times New Roman"/>
              </a:rPr>
              <a:t> </a:t>
            </a:r>
            <a:r>
              <a:rPr sz="3000" b="1" spc="50" dirty="0">
                <a:latin typeface="Times New Roman"/>
                <a:cs typeface="Times New Roman"/>
              </a:rPr>
              <a:t>in</a:t>
            </a:r>
            <a:r>
              <a:rPr sz="3000" b="1" spc="229" dirty="0">
                <a:latin typeface="Times New Roman"/>
                <a:cs typeface="Times New Roman"/>
              </a:rPr>
              <a:t> </a:t>
            </a:r>
            <a:r>
              <a:rPr sz="3000" b="1" spc="80" dirty="0">
                <a:latin typeface="Times New Roman"/>
                <a:cs typeface="Times New Roman"/>
              </a:rPr>
              <a:t>requirements</a:t>
            </a:r>
            <a:r>
              <a:rPr sz="3000" b="1" spc="225" dirty="0">
                <a:latin typeface="Times New Roman"/>
                <a:cs typeface="Times New Roman"/>
              </a:rPr>
              <a:t> </a:t>
            </a:r>
            <a:r>
              <a:rPr sz="3000" b="1" spc="85" dirty="0">
                <a:latin typeface="Times New Roman"/>
                <a:cs typeface="Times New Roman"/>
              </a:rPr>
              <a:t>document</a:t>
            </a:r>
            <a:r>
              <a:rPr sz="3000" b="1" spc="235" dirty="0">
                <a:latin typeface="Times New Roman"/>
                <a:cs typeface="Times New Roman"/>
              </a:rPr>
              <a:t> </a:t>
            </a:r>
            <a:r>
              <a:rPr sz="3000" spc="85" dirty="0">
                <a:latin typeface="Times New Roman"/>
                <a:cs typeface="Times New Roman"/>
              </a:rPr>
              <a:t>depends</a:t>
            </a:r>
            <a:r>
              <a:rPr sz="3000" spc="225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on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type</a:t>
            </a:r>
            <a:r>
              <a:rPr sz="3000" spc="225" dirty="0">
                <a:latin typeface="Times New Roman"/>
                <a:cs typeface="Times New Roman"/>
              </a:rPr>
              <a:t> </a:t>
            </a:r>
            <a:r>
              <a:rPr sz="3000" spc="25" dirty="0">
                <a:latin typeface="Times New Roman"/>
                <a:cs typeface="Times New Roman"/>
              </a:rPr>
              <a:t>of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approach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development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used.</a:t>
            </a:r>
            <a:endParaRPr sz="3000">
              <a:latin typeface="Times New Roman"/>
              <a:cs typeface="Times New Roman"/>
            </a:endParaRPr>
          </a:p>
          <a:p>
            <a:pPr marL="241300" marR="35560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Systems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developed</a:t>
            </a:r>
            <a:r>
              <a:rPr sz="3000" b="1" spc="-6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incrementally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will</a:t>
            </a:r>
            <a:r>
              <a:rPr sz="3000" dirty="0">
                <a:latin typeface="Times New Roman"/>
                <a:cs typeface="Times New Roman"/>
              </a:rPr>
              <a:t>,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typically,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have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less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detail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document.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Requirements</a:t>
            </a:r>
            <a:r>
              <a:rPr sz="3000" b="1" spc="28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documents</a:t>
            </a:r>
            <a:r>
              <a:rPr sz="3000" b="1" spc="290" dirty="0">
                <a:latin typeface="Times New Roman"/>
                <a:cs typeface="Times New Roman"/>
              </a:rPr>
              <a:t> </a:t>
            </a:r>
            <a:r>
              <a:rPr sz="3000" b="1" spc="45" dirty="0">
                <a:latin typeface="Times New Roman"/>
                <a:cs typeface="Times New Roman"/>
              </a:rPr>
              <a:t>standards</a:t>
            </a:r>
            <a:r>
              <a:rPr sz="3000" b="1" spc="28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have</a:t>
            </a:r>
            <a:r>
              <a:rPr sz="3000" b="1" spc="29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been</a:t>
            </a:r>
            <a:r>
              <a:rPr sz="3000" b="1" spc="305" dirty="0">
                <a:latin typeface="Times New Roman"/>
                <a:cs typeface="Times New Roman"/>
              </a:rPr>
              <a:t> </a:t>
            </a:r>
            <a:r>
              <a:rPr sz="3000" b="1" spc="45" dirty="0">
                <a:latin typeface="Times New Roman"/>
                <a:cs typeface="Times New Roman"/>
              </a:rPr>
              <a:t>designed</a:t>
            </a:r>
            <a:r>
              <a:rPr sz="3000" b="1" spc="305" dirty="0">
                <a:latin typeface="Times New Roman"/>
                <a:cs typeface="Times New Roman"/>
              </a:rPr>
              <a:t> </a:t>
            </a:r>
            <a:r>
              <a:rPr sz="3000" b="1" spc="-20" dirty="0">
                <a:latin typeface="Times New Roman"/>
                <a:cs typeface="Times New Roman"/>
              </a:rPr>
              <a:t>e.g. </a:t>
            </a:r>
            <a:r>
              <a:rPr sz="3000" b="1" dirty="0">
                <a:latin typeface="Times New Roman"/>
                <a:cs typeface="Times New Roman"/>
              </a:rPr>
              <a:t>IEEE</a:t>
            </a:r>
            <a:r>
              <a:rPr sz="3000" b="1" spc="8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standard</a:t>
            </a:r>
            <a:r>
              <a:rPr sz="3000" dirty="0">
                <a:latin typeface="Times New Roman"/>
                <a:cs typeface="Times New Roman"/>
              </a:rPr>
              <a:t>.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These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mostly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applicable</a:t>
            </a:r>
            <a:r>
              <a:rPr sz="3000" spc="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large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engineering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projects.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2295" y="5531523"/>
            <a:ext cx="159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4070" y="5595658"/>
            <a:ext cx="5078095" cy="4210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3195"/>
              </a:lnSpc>
            </a:pPr>
            <a:r>
              <a:rPr sz="3000" dirty="0">
                <a:latin typeface="Times New Roman"/>
                <a:cs typeface="Times New Roman"/>
              </a:rPr>
              <a:t>Discuss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SRS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document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Template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10358755" cy="3427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3895">
              <a:lnSpc>
                <a:spcPct val="100000"/>
              </a:lnSpc>
              <a:spcBef>
                <a:spcPts val="100"/>
              </a:spcBef>
              <a:tabLst>
                <a:tab pos="245872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Natural language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specification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 algn="just">
              <a:lnSpc>
                <a:spcPts val="342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spc="120" dirty="0">
                <a:latin typeface="Times New Roman"/>
                <a:cs typeface="Times New Roman"/>
              </a:rPr>
              <a:t>Requirements</a:t>
            </a:r>
            <a:r>
              <a:rPr sz="3000" b="1" spc="310" dirty="0">
                <a:latin typeface="Times New Roman"/>
                <a:cs typeface="Times New Roman"/>
              </a:rPr>
              <a:t> </a:t>
            </a:r>
            <a:r>
              <a:rPr sz="3000" b="1" spc="70" dirty="0">
                <a:latin typeface="Times New Roman"/>
                <a:cs typeface="Times New Roman"/>
              </a:rPr>
              <a:t>are</a:t>
            </a:r>
            <a:r>
              <a:rPr sz="3000" b="1" spc="310" dirty="0">
                <a:latin typeface="Times New Roman"/>
                <a:cs typeface="Times New Roman"/>
              </a:rPr>
              <a:t> </a:t>
            </a:r>
            <a:r>
              <a:rPr sz="3000" b="1" spc="114" dirty="0">
                <a:latin typeface="Times New Roman"/>
                <a:cs typeface="Times New Roman"/>
              </a:rPr>
              <a:t>written</a:t>
            </a:r>
            <a:r>
              <a:rPr sz="3000" b="1" spc="315" dirty="0">
                <a:latin typeface="Times New Roman"/>
                <a:cs typeface="Times New Roman"/>
              </a:rPr>
              <a:t> </a:t>
            </a:r>
            <a:r>
              <a:rPr sz="3000" b="1" spc="75" dirty="0">
                <a:latin typeface="Times New Roman"/>
                <a:cs typeface="Times New Roman"/>
              </a:rPr>
              <a:t>as</a:t>
            </a:r>
            <a:r>
              <a:rPr sz="3000" b="1" spc="310" dirty="0">
                <a:latin typeface="Times New Roman"/>
                <a:cs typeface="Times New Roman"/>
              </a:rPr>
              <a:t> </a:t>
            </a:r>
            <a:r>
              <a:rPr sz="3000" b="1" spc="120" dirty="0">
                <a:latin typeface="Times New Roman"/>
                <a:cs typeface="Times New Roman"/>
              </a:rPr>
              <a:t>natural</a:t>
            </a:r>
            <a:r>
              <a:rPr sz="3000" b="1" spc="315" dirty="0">
                <a:latin typeface="Times New Roman"/>
                <a:cs typeface="Times New Roman"/>
              </a:rPr>
              <a:t> </a:t>
            </a:r>
            <a:r>
              <a:rPr sz="3000" b="1" spc="130" dirty="0">
                <a:latin typeface="Times New Roman"/>
                <a:cs typeface="Times New Roman"/>
              </a:rPr>
              <a:t>language</a:t>
            </a:r>
            <a:r>
              <a:rPr sz="3000" b="1" spc="320" dirty="0">
                <a:latin typeface="Times New Roman"/>
                <a:cs typeface="Times New Roman"/>
              </a:rPr>
              <a:t> </a:t>
            </a:r>
            <a:r>
              <a:rPr sz="3000" b="1" spc="114" dirty="0">
                <a:latin typeface="Times New Roman"/>
                <a:cs typeface="Times New Roman"/>
              </a:rPr>
              <a:t>sentences</a:t>
            </a:r>
            <a:endParaRPr sz="3000">
              <a:latin typeface="Times New Roman"/>
              <a:cs typeface="Times New Roman"/>
            </a:endParaRPr>
          </a:p>
          <a:p>
            <a:pPr marL="241300" algn="just">
              <a:lnSpc>
                <a:spcPts val="3420"/>
              </a:lnSpc>
            </a:pPr>
            <a:r>
              <a:rPr sz="3000" dirty="0">
                <a:latin typeface="Times New Roman"/>
                <a:cs typeface="Times New Roman"/>
              </a:rPr>
              <a:t>supplemented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diagrams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tables.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Used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for</a:t>
            </a:r>
            <a:r>
              <a:rPr sz="3000" b="1" spc="-10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writing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requirements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because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expressive,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intuitive </a:t>
            </a:r>
            <a:r>
              <a:rPr sz="3000" spc="150" dirty="0">
                <a:latin typeface="Times New Roman"/>
                <a:cs typeface="Times New Roman"/>
              </a:rPr>
              <a:t>and</a:t>
            </a:r>
            <a:r>
              <a:rPr sz="3000" spc="490" dirty="0">
                <a:latin typeface="Times New Roman"/>
                <a:cs typeface="Times New Roman"/>
              </a:rPr>
              <a:t> </a:t>
            </a:r>
            <a:r>
              <a:rPr sz="3000" spc="204" dirty="0">
                <a:latin typeface="Times New Roman"/>
                <a:cs typeface="Times New Roman"/>
              </a:rPr>
              <a:t>universal.</a:t>
            </a:r>
            <a:r>
              <a:rPr sz="3000" spc="434" dirty="0">
                <a:latin typeface="Times New Roman"/>
                <a:cs typeface="Times New Roman"/>
              </a:rPr>
              <a:t> </a:t>
            </a:r>
            <a:r>
              <a:rPr sz="3000" spc="170" dirty="0">
                <a:latin typeface="Times New Roman"/>
                <a:cs typeface="Times New Roman"/>
              </a:rPr>
              <a:t>This</a:t>
            </a:r>
            <a:r>
              <a:rPr sz="3000" spc="484" dirty="0">
                <a:latin typeface="Times New Roman"/>
                <a:cs typeface="Times New Roman"/>
              </a:rPr>
              <a:t> </a:t>
            </a:r>
            <a:r>
              <a:rPr sz="3000" spc="180" dirty="0">
                <a:latin typeface="Times New Roman"/>
                <a:cs typeface="Times New Roman"/>
              </a:rPr>
              <a:t>means</a:t>
            </a:r>
            <a:r>
              <a:rPr sz="3000" spc="484" dirty="0">
                <a:latin typeface="Times New Roman"/>
                <a:cs typeface="Times New Roman"/>
              </a:rPr>
              <a:t> </a:t>
            </a:r>
            <a:r>
              <a:rPr sz="3000" spc="170" dirty="0">
                <a:latin typeface="Times New Roman"/>
                <a:cs typeface="Times New Roman"/>
              </a:rPr>
              <a:t>that</a:t>
            </a:r>
            <a:r>
              <a:rPr sz="3000" spc="495" dirty="0">
                <a:latin typeface="Times New Roman"/>
                <a:cs typeface="Times New Roman"/>
              </a:rPr>
              <a:t> </a:t>
            </a:r>
            <a:r>
              <a:rPr sz="3000" spc="150" dirty="0">
                <a:latin typeface="Times New Roman"/>
                <a:cs typeface="Times New Roman"/>
              </a:rPr>
              <a:t>the</a:t>
            </a:r>
            <a:r>
              <a:rPr sz="3000" spc="484" dirty="0">
                <a:latin typeface="Times New Roman"/>
                <a:cs typeface="Times New Roman"/>
              </a:rPr>
              <a:t> </a:t>
            </a:r>
            <a:r>
              <a:rPr sz="3000" spc="210" dirty="0">
                <a:latin typeface="Times New Roman"/>
                <a:cs typeface="Times New Roman"/>
              </a:rPr>
              <a:t>requirements</a:t>
            </a:r>
            <a:r>
              <a:rPr sz="3000" spc="365" dirty="0">
                <a:latin typeface="Times New Roman"/>
                <a:cs typeface="Times New Roman"/>
              </a:rPr>
              <a:t>  </a:t>
            </a:r>
            <a:r>
              <a:rPr sz="3000" spc="145" dirty="0">
                <a:latin typeface="Times New Roman"/>
                <a:cs typeface="Times New Roman"/>
              </a:rPr>
              <a:t>can</a:t>
            </a:r>
            <a:r>
              <a:rPr sz="3000" spc="505" dirty="0">
                <a:latin typeface="Times New Roman"/>
                <a:cs typeface="Times New Roman"/>
              </a:rPr>
              <a:t> </a:t>
            </a:r>
            <a:r>
              <a:rPr sz="3000" spc="90" dirty="0">
                <a:latin typeface="Times New Roman"/>
                <a:cs typeface="Times New Roman"/>
              </a:rPr>
              <a:t>be </a:t>
            </a:r>
            <a:r>
              <a:rPr sz="3000" dirty="0">
                <a:latin typeface="Times New Roman"/>
                <a:cs typeface="Times New Roman"/>
              </a:rPr>
              <a:t>understood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customers.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10358755" cy="4631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4780">
              <a:lnSpc>
                <a:spcPct val="100000"/>
              </a:lnSpc>
              <a:spcBef>
                <a:spcPts val="100"/>
              </a:spcBef>
              <a:tabLst>
                <a:tab pos="191960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Guidelines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3600" b="1" u="heavy" spc="-7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writing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Invent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-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standard</a:t>
            </a:r>
            <a:r>
              <a:rPr sz="3000" b="1" spc="-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format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65" dirty="0">
                <a:latin typeface="Times New Roman"/>
                <a:cs typeface="Times New Roman"/>
              </a:rPr>
              <a:t>Use</a:t>
            </a:r>
            <a:r>
              <a:rPr sz="3000" b="1" spc="229" dirty="0">
                <a:latin typeface="Times New Roman"/>
                <a:cs typeface="Times New Roman"/>
              </a:rPr>
              <a:t> </a:t>
            </a:r>
            <a:r>
              <a:rPr sz="3000" b="1" spc="95" dirty="0">
                <a:latin typeface="Times New Roman"/>
                <a:cs typeface="Times New Roman"/>
              </a:rPr>
              <a:t>language</a:t>
            </a:r>
            <a:r>
              <a:rPr sz="3000" b="1" spc="235" dirty="0">
                <a:latin typeface="Times New Roman"/>
                <a:cs typeface="Times New Roman"/>
              </a:rPr>
              <a:t> </a:t>
            </a:r>
            <a:r>
              <a:rPr sz="3000" b="1" spc="50" dirty="0">
                <a:latin typeface="Times New Roman"/>
                <a:cs typeface="Times New Roman"/>
              </a:rPr>
              <a:t>in</a:t>
            </a:r>
            <a:r>
              <a:rPr sz="3000" b="1" spc="2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240" dirty="0">
                <a:latin typeface="Times New Roman"/>
                <a:cs typeface="Times New Roman"/>
              </a:rPr>
              <a:t> </a:t>
            </a:r>
            <a:r>
              <a:rPr sz="3000" b="1" spc="95" dirty="0">
                <a:latin typeface="Times New Roman"/>
                <a:cs typeface="Times New Roman"/>
              </a:rPr>
              <a:t>consistent</a:t>
            </a:r>
            <a:r>
              <a:rPr sz="3000" b="1" spc="240" dirty="0">
                <a:latin typeface="Times New Roman"/>
                <a:cs typeface="Times New Roman"/>
              </a:rPr>
              <a:t> </a:t>
            </a:r>
            <a:r>
              <a:rPr sz="3000" b="1" spc="85" dirty="0">
                <a:latin typeface="Times New Roman"/>
                <a:cs typeface="Times New Roman"/>
              </a:rPr>
              <a:t>way</a:t>
            </a:r>
            <a:r>
              <a:rPr sz="3000" spc="85" dirty="0">
                <a:latin typeface="Times New Roman"/>
                <a:cs typeface="Times New Roman"/>
              </a:rPr>
              <a:t>.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Use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b="1" u="heavy" spc="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should</a:t>
            </a:r>
            <a:r>
              <a:rPr sz="3000" b="1" spc="240" dirty="0">
                <a:latin typeface="Times New Roman"/>
                <a:cs typeface="Times New Roman"/>
              </a:rPr>
              <a:t> </a:t>
            </a:r>
            <a:r>
              <a:rPr sz="3000" spc="70" dirty="0">
                <a:latin typeface="Times New Roman"/>
                <a:cs typeface="Times New Roman"/>
              </a:rPr>
              <a:t>for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spc="80" dirty="0">
                <a:latin typeface="Times New Roman"/>
                <a:cs typeface="Times New Roman"/>
              </a:rPr>
              <a:t>desirable </a:t>
            </a:r>
            <a:r>
              <a:rPr sz="3000" spc="-10" dirty="0">
                <a:latin typeface="Times New Roman"/>
                <a:cs typeface="Times New Roman"/>
              </a:rPr>
              <a:t>requirements.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Use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text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highlighting</a:t>
            </a:r>
            <a:r>
              <a:rPr sz="3000" b="1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identify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key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parts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-20" dirty="0">
                <a:latin typeface="Times New Roman"/>
                <a:cs typeface="Times New Roman"/>
              </a:rPr>
              <a:t>Avoid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use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computer</a:t>
            </a:r>
            <a:r>
              <a:rPr sz="3000" b="1" spc="-114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jargon.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105" dirty="0">
                <a:latin typeface="Times New Roman"/>
                <a:cs typeface="Times New Roman"/>
              </a:rPr>
              <a:t>Include</a:t>
            </a:r>
            <a:r>
              <a:rPr sz="3000" b="1" spc="280" dirty="0">
                <a:latin typeface="Times New Roman"/>
                <a:cs typeface="Times New Roman"/>
              </a:rPr>
              <a:t> </a:t>
            </a:r>
            <a:r>
              <a:rPr sz="3000" b="1" spc="65" dirty="0">
                <a:latin typeface="Times New Roman"/>
                <a:cs typeface="Times New Roman"/>
              </a:rPr>
              <a:t>an</a:t>
            </a:r>
            <a:r>
              <a:rPr sz="3000" b="1" spc="290" dirty="0">
                <a:latin typeface="Times New Roman"/>
                <a:cs typeface="Times New Roman"/>
              </a:rPr>
              <a:t> </a:t>
            </a:r>
            <a:r>
              <a:rPr sz="3000" b="1" spc="114" dirty="0">
                <a:latin typeface="Times New Roman"/>
                <a:cs typeface="Times New Roman"/>
              </a:rPr>
              <a:t>explanation</a:t>
            </a:r>
            <a:r>
              <a:rPr sz="3000" b="1" spc="285" dirty="0">
                <a:latin typeface="Times New Roman"/>
                <a:cs typeface="Times New Roman"/>
              </a:rPr>
              <a:t> </a:t>
            </a:r>
            <a:r>
              <a:rPr sz="3000" spc="110" dirty="0">
                <a:latin typeface="Times New Roman"/>
                <a:cs typeface="Times New Roman"/>
              </a:rPr>
              <a:t>(rationale)</a:t>
            </a:r>
            <a:r>
              <a:rPr sz="3000" spc="290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of</a:t>
            </a:r>
            <a:r>
              <a:rPr sz="3000" spc="290" dirty="0">
                <a:latin typeface="Times New Roman"/>
                <a:cs typeface="Times New Roman"/>
              </a:rPr>
              <a:t> </a:t>
            </a:r>
            <a:r>
              <a:rPr sz="3000" spc="85" dirty="0">
                <a:latin typeface="Times New Roman"/>
                <a:cs typeface="Times New Roman"/>
              </a:rPr>
              <a:t>why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spc="110" dirty="0">
                <a:latin typeface="Times New Roman"/>
                <a:cs typeface="Times New Roman"/>
              </a:rPr>
              <a:t>requirement</a:t>
            </a:r>
            <a:r>
              <a:rPr sz="3000" spc="300" dirty="0">
                <a:latin typeface="Times New Roman"/>
                <a:cs typeface="Times New Roman"/>
              </a:rPr>
              <a:t> </a:t>
            </a:r>
            <a:r>
              <a:rPr sz="3000" spc="40" dirty="0">
                <a:latin typeface="Times New Roman"/>
                <a:cs typeface="Times New Roman"/>
              </a:rPr>
              <a:t>is </a:t>
            </a:r>
            <a:r>
              <a:rPr sz="3000" spc="-10" dirty="0">
                <a:latin typeface="Times New Roman"/>
                <a:cs typeface="Times New Roman"/>
              </a:rPr>
              <a:t>necessary.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10181590" cy="497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9589">
              <a:lnSpc>
                <a:spcPct val="100000"/>
              </a:lnSpc>
              <a:spcBef>
                <a:spcPts val="100"/>
              </a:spcBef>
              <a:tabLst>
                <a:tab pos="230441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Problems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with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natural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language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Lack</a:t>
            </a:r>
            <a:r>
              <a:rPr sz="3000" b="1" spc="-2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-1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clarity</a:t>
            </a:r>
            <a:endParaRPr sz="3000">
              <a:latin typeface="Times New Roman"/>
              <a:cs typeface="Times New Roman"/>
            </a:endParaRPr>
          </a:p>
          <a:p>
            <a:pPr marL="698500" marR="26670" lvl="1" indent="-228600">
              <a:lnSpc>
                <a:spcPts val="324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Precision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difficult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without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making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document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difficult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to </a:t>
            </a:r>
            <a:r>
              <a:rPr sz="3000" spc="-10" dirty="0">
                <a:latin typeface="Times New Roman"/>
                <a:cs typeface="Times New Roman"/>
              </a:rPr>
              <a:t>read.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Requirements</a:t>
            </a:r>
            <a:r>
              <a:rPr sz="3000" b="1" spc="-18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confusion</a:t>
            </a:r>
            <a:endParaRPr sz="30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324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Functional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non-</a:t>
            </a:r>
            <a:r>
              <a:rPr sz="3000" dirty="0">
                <a:latin typeface="Times New Roman"/>
                <a:cs typeface="Times New Roman"/>
              </a:rPr>
              <a:t>functional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mixed- </a:t>
            </a:r>
            <a:r>
              <a:rPr sz="3000" spc="-25" dirty="0">
                <a:latin typeface="Times New Roman"/>
                <a:cs typeface="Times New Roman"/>
              </a:rPr>
              <a:t>up.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Requirements</a:t>
            </a:r>
            <a:r>
              <a:rPr sz="3000" b="1" spc="-18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amalgamation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Several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different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expressed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together.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21003" y="1898650"/>
            <a:ext cx="10233025" cy="3761740"/>
            <a:chOff x="1321003" y="1898650"/>
            <a:chExt cx="10233025" cy="3761740"/>
          </a:xfrm>
        </p:grpSpPr>
        <p:sp>
          <p:nvSpPr>
            <p:cNvPr id="3" name="object 3"/>
            <p:cNvSpPr/>
            <p:nvPr/>
          </p:nvSpPr>
          <p:spPr>
            <a:xfrm>
              <a:off x="1327403" y="1905000"/>
              <a:ext cx="10220325" cy="3749040"/>
            </a:xfrm>
            <a:custGeom>
              <a:avLst/>
              <a:gdLst/>
              <a:ahLst/>
              <a:cxnLst/>
              <a:rect l="l" t="t" r="r" b="b"/>
              <a:pathLst>
                <a:path w="10220325" h="3749040">
                  <a:moveTo>
                    <a:pt x="10219944" y="3749040"/>
                  </a:moveTo>
                  <a:lnTo>
                    <a:pt x="0" y="3749040"/>
                  </a:lnTo>
                  <a:lnTo>
                    <a:pt x="0" y="0"/>
                  </a:lnTo>
                  <a:lnTo>
                    <a:pt x="10219944" y="0"/>
                  </a:lnTo>
                  <a:lnTo>
                    <a:pt x="10219944" y="3749040"/>
                  </a:lnTo>
                  <a:close/>
                </a:path>
              </a:pathLst>
            </a:custGeom>
            <a:solidFill>
              <a:srgbClr val="E9E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21003" y="1898649"/>
              <a:ext cx="10233025" cy="3761740"/>
            </a:xfrm>
            <a:custGeom>
              <a:avLst/>
              <a:gdLst/>
              <a:ahLst/>
              <a:cxnLst/>
              <a:rect l="l" t="t" r="r" b="b"/>
              <a:pathLst>
                <a:path w="10233025" h="3761740">
                  <a:moveTo>
                    <a:pt x="10233025" y="6350"/>
                  </a:moveTo>
                  <a:lnTo>
                    <a:pt x="10226675" y="6350"/>
                  </a:lnTo>
                  <a:lnTo>
                    <a:pt x="10226675" y="0"/>
                  </a:lnTo>
                  <a:lnTo>
                    <a:pt x="10220325" y="0"/>
                  </a:lnTo>
                  <a:lnTo>
                    <a:pt x="10220325" y="12700"/>
                  </a:lnTo>
                  <a:lnTo>
                    <a:pt x="10220325" y="3749040"/>
                  </a:lnTo>
                  <a:lnTo>
                    <a:pt x="12700" y="3749040"/>
                  </a:lnTo>
                  <a:lnTo>
                    <a:pt x="12700" y="12700"/>
                  </a:lnTo>
                  <a:lnTo>
                    <a:pt x="10220325" y="12700"/>
                  </a:lnTo>
                  <a:lnTo>
                    <a:pt x="10220325" y="0"/>
                  </a:lnTo>
                  <a:lnTo>
                    <a:pt x="6350" y="0"/>
                  </a:lnTo>
                  <a:lnTo>
                    <a:pt x="6350" y="6350"/>
                  </a:lnTo>
                  <a:lnTo>
                    <a:pt x="0" y="6350"/>
                  </a:lnTo>
                  <a:lnTo>
                    <a:pt x="0" y="3755390"/>
                  </a:lnTo>
                  <a:lnTo>
                    <a:pt x="6350" y="3755390"/>
                  </a:lnTo>
                  <a:lnTo>
                    <a:pt x="6350" y="3761740"/>
                  </a:lnTo>
                  <a:lnTo>
                    <a:pt x="10226675" y="3761740"/>
                  </a:lnTo>
                  <a:lnTo>
                    <a:pt x="10226675" y="3755390"/>
                  </a:lnTo>
                  <a:lnTo>
                    <a:pt x="10233025" y="3755390"/>
                  </a:lnTo>
                  <a:lnTo>
                    <a:pt x="10233025" y="63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406093" y="167055"/>
            <a:ext cx="10063480" cy="5069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635">
              <a:lnSpc>
                <a:spcPts val="3645"/>
              </a:lnSpc>
              <a:spcBef>
                <a:spcPts val="105"/>
              </a:spcBef>
              <a:tabLst>
                <a:tab pos="1648460" algn="l"/>
              </a:tabLst>
            </a:pPr>
            <a:r>
              <a:rPr sz="2200" spc="1664" dirty="0">
                <a:latin typeface="Microsoft Sans Serif"/>
                <a:cs typeface="Microsoft Sans Serif"/>
              </a:rPr>
              <a:t>🞂</a:t>
            </a:r>
            <a:r>
              <a:rPr sz="2200" dirty="0">
                <a:latin typeface="Microsoft Sans Serif"/>
                <a:cs typeface="Microsoft Sans Serif"/>
              </a:rPr>
              <a:t>​	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3200" b="1" u="heavy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200" b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3200" b="1" u="heavy" spc="-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200" b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insulin</a:t>
            </a:r>
            <a:r>
              <a:rPr sz="3200" b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pump</a:t>
            </a:r>
            <a:endParaRPr sz="3200">
              <a:latin typeface="Times New Roman"/>
              <a:cs typeface="Times New Roman"/>
            </a:endParaRPr>
          </a:p>
          <a:p>
            <a:pPr marL="4069079">
              <a:lnSpc>
                <a:spcPts val="3645"/>
              </a:lnSpc>
            </a:pP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3200" b="1" u="heavy" spc="-1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1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400" spc="50" dirty="0">
                <a:latin typeface="Times New Roman"/>
                <a:cs typeface="Times New Roman"/>
              </a:rPr>
              <a:t>3.2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The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system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measure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the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blood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sugar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and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deliver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Times New Roman"/>
                <a:cs typeface="Times New Roman"/>
              </a:rPr>
              <a:t>insulin,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required, </a:t>
            </a:r>
            <a:r>
              <a:rPr sz="2400" dirty="0">
                <a:latin typeface="Times New Roman"/>
                <a:cs typeface="Times New Roman"/>
              </a:rPr>
              <a:t>every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minutes.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(Changes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in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blood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sugar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are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relatively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slow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so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more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frequent </a:t>
            </a:r>
            <a:r>
              <a:rPr sz="2400" i="1" spc="140" dirty="0">
                <a:latin typeface="Times New Roman"/>
                <a:cs typeface="Times New Roman"/>
              </a:rPr>
              <a:t>measurement</a:t>
            </a:r>
            <a:r>
              <a:rPr sz="2400" i="1" spc="365" dirty="0">
                <a:latin typeface="Times New Roman"/>
                <a:cs typeface="Times New Roman"/>
              </a:rPr>
              <a:t> </a:t>
            </a:r>
            <a:r>
              <a:rPr sz="2400" i="1" spc="80" dirty="0">
                <a:latin typeface="Times New Roman"/>
                <a:cs typeface="Times New Roman"/>
              </a:rPr>
              <a:t>is</a:t>
            </a:r>
            <a:r>
              <a:rPr sz="2400" i="1" spc="370" dirty="0">
                <a:latin typeface="Times New Roman"/>
                <a:cs typeface="Times New Roman"/>
              </a:rPr>
              <a:t> </a:t>
            </a:r>
            <a:r>
              <a:rPr sz="2400" i="1" spc="155" dirty="0">
                <a:latin typeface="Times New Roman"/>
                <a:cs typeface="Times New Roman"/>
              </a:rPr>
              <a:t>unnecessary;</a:t>
            </a:r>
            <a:r>
              <a:rPr sz="2400" i="1" spc="370" dirty="0">
                <a:latin typeface="Times New Roman"/>
                <a:cs typeface="Times New Roman"/>
              </a:rPr>
              <a:t> </a:t>
            </a:r>
            <a:r>
              <a:rPr sz="2400" i="1" spc="120" dirty="0">
                <a:latin typeface="Times New Roman"/>
                <a:cs typeface="Times New Roman"/>
              </a:rPr>
              <a:t>less</a:t>
            </a:r>
            <a:r>
              <a:rPr sz="2400" i="1" spc="375" dirty="0">
                <a:latin typeface="Times New Roman"/>
                <a:cs typeface="Times New Roman"/>
              </a:rPr>
              <a:t> </a:t>
            </a:r>
            <a:r>
              <a:rPr sz="2400" i="1" spc="140" dirty="0">
                <a:latin typeface="Times New Roman"/>
                <a:cs typeface="Times New Roman"/>
              </a:rPr>
              <a:t>frequent</a:t>
            </a:r>
            <a:r>
              <a:rPr sz="2400" i="1" spc="380" dirty="0">
                <a:latin typeface="Times New Roman"/>
                <a:cs typeface="Times New Roman"/>
              </a:rPr>
              <a:t> </a:t>
            </a:r>
            <a:r>
              <a:rPr sz="2400" i="1" spc="145" dirty="0">
                <a:latin typeface="Times New Roman"/>
                <a:cs typeface="Times New Roman"/>
              </a:rPr>
              <a:t>measurement</a:t>
            </a:r>
            <a:r>
              <a:rPr sz="2400" i="1" spc="375" dirty="0">
                <a:latin typeface="Times New Roman"/>
                <a:cs typeface="Times New Roman"/>
              </a:rPr>
              <a:t> </a:t>
            </a:r>
            <a:r>
              <a:rPr sz="2400" i="1" spc="140" dirty="0">
                <a:latin typeface="Times New Roman"/>
                <a:cs typeface="Times New Roman"/>
              </a:rPr>
              <a:t>could</a:t>
            </a:r>
            <a:r>
              <a:rPr sz="2400" i="1" spc="380" dirty="0">
                <a:latin typeface="Times New Roman"/>
                <a:cs typeface="Times New Roman"/>
              </a:rPr>
              <a:t> </a:t>
            </a:r>
            <a:r>
              <a:rPr sz="2400" i="1" spc="130" dirty="0">
                <a:latin typeface="Times New Roman"/>
                <a:cs typeface="Times New Roman"/>
              </a:rPr>
              <a:t>lead</a:t>
            </a:r>
            <a:r>
              <a:rPr sz="2400" i="1" spc="380" dirty="0">
                <a:latin typeface="Times New Roman"/>
                <a:cs typeface="Times New Roman"/>
              </a:rPr>
              <a:t> </a:t>
            </a:r>
            <a:r>
              <a:rPr sz="2400" i="1" spc="60" dirty="0">
                <a:latin typeface="Times New Roman"/>
                <a:cs typeface="Times New Roman"/>
              </a:rPr>
              <a:t>to </a:t>
            </a:r>
            <a:r>
              <a:rPr sz="2400" i="1" dirty="0">
                <a:latin typeface="Times New Roman"/>
                <a:cs typeface="Times New Roman"/>
              </a:rPr>
              <a:t>unnecessarily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high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sugar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levels.)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3.6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self-test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every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minute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conditions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be </a:t>
            </a:r>
            <a:r>
              <a:rPr sz="2400" spc="70" dirty="0">
                <a:latin typeface="Times New Roman"/>
                <a:cs typeface="Times New Roman"/>
              </a:rPr>
              <a:t>tested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and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the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Times New Roman"/>
                <a:cs typeface="Times New Roman"/>
              </a:rPr>
              <a:t>associated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actions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defined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1.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(A</a:t>
            </a:r>
            <a:r>
              <a:rPr sz="2400" i="1" spc="175" dirty="0">
                <a:latin typeface="Times New Roman"/>
                <a:cs typeface="Times New Roman"/>
              </a:rPr>
              <a:t> </a:t>
            </a:r>
            <a:r>
              <a:rPr sz="2400" i="1" spc="85" dirty="0">
                <a:latin typeface="Times New Roman"/>
                <a:cs typeface="Times New Roman"/>
              </a:rPr>
              <a:t>self-</a:t>
            </a:r>
            <a:r>
              <a:rPr sz="2400" i="1" spc="65" dirty="0">
                <a:latin typeface="Times New Roman"/>
                <a:cs typeface="Times New Roman"/>
              </a:rPr>
              <a:t>test</a:t>
            </a:r>
            <a:r>
              <a:rPr sz="2400" i="1" spc="225" dirty="0">
                <a:latin typeface="Times New Roman"/>
                <a:cs typeface="Times New Roman"/>
              </a:rPr>
              <a:t> </a:t>
            </a:r>
            <a:r>
              <a:rPr sz="2400" i="1" spc="65" dirty="0">
                <a:latin typeface="Times New Roman"/>
                <a:cs typeface="Times New Roman"/>
              </a:rPr>
              <a:t>routine</a:t>
            </a:r>
            <a:r>
              <a:rPr sz="2400" i="1" spc="229" dirty="0">
                <a:latin typeface="Times New Roman"/>
                <a:cs typeface="Times New Roman"/>
              </a:rPr>
              <a:t> </a:t>
            </a:r>
            <a:r>
              <a:rPr sz="2400" i="1" spc="35" dirty="0">
                <a:latin typeface="Times New Roman"/>
                <a:cs typeface="Times New Roman"/>
              </a:rPr>
              <a:t>can </a:t>
            </a:r>
            <a:r>
              <a:rPr sz="2400" i="1" spc="80" dirty="0">
                <a:latin typeface="Times New Roman"/>
                <a:cs typeface="Times New Roman"/>
              </a:rPr>
              <a:t>discover</a:t>
            </a:r>
            <a:r>
              <a:rPr sz="2400" i="1" spc="204" dirty="0">
                <a:latin typeface="Times New Roman"/>
                <a:cs typeface="Times New Roman"/>
              </a:rPr>
              <a:t> </a:t>
            </a:r>
            <a:r>
              <a:rPr sz="2400" i="1" spc="60" dirty="0">
                <a:latin typeface="Times New Roman"/>
                <a:cs typeface="Times New Roman"/>
              </a:rPr>
              <a:t>hardware</a:t>
            </a:r>
            <a:r>
              <a:rPr sz="2400" i="1" spc="204" dirty="0">
                <a:latin typeface="Times New Roman"/>
                <a:cs typeface="Times New Roman"/>
              </a:rPr>
              <a:t> </a:t>
            </a:r>
            <a:r>
              <a:rPr sz="2400" i="1" spc="65" dirty="0">
                <a:latin typeface="Times New Roman"/>
                <a:cs typeface="Times New Roman"/>
              </a:rPr>
              <a:t>and</a:t>
            </a:r>
            <a:r>
              <a:rPr sz="2400" i="1" spc="210" dirty="0">
                <a:latin typeface="Times New Roman"/>
                <a:cs typeface="Times New Roman"/>
              </a:rPr>
              <a:t> </a:t>
            </a:r>
            <a:r>
              <a:rPr sz="2400" i="1" spc="70" dirty="0">
                <a:latin typeface="Times New Roman"/>
                <a:cs typeface="Times New Roman"/>
              </a:rPr>
              <a:t>software</a:t>
            </a:r>
            <a:r>
              <a:rPr sz="2400" i="1" spc="204" dirty="0">
                <a:latin typeface="Times New Roman"/>
                <a:cs typeface="Times New Roman"/>
              </a:rPr>
              <a:t> </a:t>
            </a:r>
            <a:r>
              <a:rPr sz="2400" i="1" spc="70" dirty="0">
                <a:latin typeface="Times New Roman"/>
                <a:cs typeface="Times New Roman"/>
              </a:rPr>
              <a:t>problems</a:t>
            </a:r>
            <a:r>
              <a:rPr sz="2400" i="1" spc="210" dirty="0">
                <a:latin typeface="Times New Roman"/>
                <a:cs typeface="Times New Roman"/>
              </a:rPr>
              <a:t> </a:t>
            </a:r>
            <a:r>
              <a:rPr sz="2400" i="1" spc="65" dirty="0">
                <a:latin typeface="Times New Roman"/>
                <a:cs typeface="Times New Roman"/>
              </a:rPr>
              <a:t>and</a:t>
            </a:r>
            <a:r>
              <a:rPr sz="2400" i="1" spc="204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alert</a:t>
            </a:r>
            <a:r>
              <a:rPr sz="2400" i="1" spc="204" dirty="0">
                <a:latin typeface="Times New Roman"/>
                <a:cs typeface="Times New Roman"/>
              </a:rPr>
              <a:t> </a:t>
            </a:r>
            <a:r>
              <a:rPr sz="2400" i="1" spc="65" dirty="0">
                <a:latin typeface="Times New Roman"/>
                <a:cs typeface="Times New Roman"/>
              </a:rPr>
              <a:t>the</a:t>
            </a:r>
            <a:r>
              <a:rPr sz="2400" i="1" spc="215" dirty="0">
                <a:latin typeface="Times New Roman"/>
                <a:cs typeface="Times New Roman"/>
              </a:rPr>
              <a:t> </a:t>
            </a:r>
            <a:r>
              <a:rPr sz="2400" i="1" spc="70" dirty="0">
                <a:latin typeface="Times New Roman"/>
                <a:cs typeface="Times New Roman"/>
              </a:rPr>
              <a:t>user</a:t>
            </a:r>
            <a:r>
              <a:rPr sz="2400" i="1" spc="220" dirty="0">
                <a:latin typeface="Times New Roman"/>
                <a:cs typeface="Times New Roman"/>
              </a:rPr>
              <a:t> </a:t>
            </a:r>
            <a:r>
              <a:rPr sz="2400" i="1" spc="50" dirty="0">
                <a:latin typeface="Times New Roman"/>
                <a:cs typeface="Times New Roman"/>
              </a:rPr>
              <a:t>to</a:t>
            </a:r>
            <a:r>
              <a:rPr sz="2400" i="1" spc="220" dirty="0">
                <a:latin typeface="Times New Roman"/>
                <a:cs typeface="Times New Roman"/>
              </a:rPr>
              <a:t> </a:t>
            </a:r>
            <a:r>
              <a:rPr sz="2400" i="1" spc="65" dirty="0">
                <a:latin typeface="Times New Roman"/>
                <a:cs typeface="Times New Roman"/>
              </a:rPr>
              <a:t>the</a:t>
            </a:r>
            <a:r>
              <a:rPr sz="2400" i="1" spc="215" dirty="0">
                <a:latin typeface="Times New Roman"/>
                <a:cs typeface="Times New Roman"/>
              </a:rPr>
              <a:t> </a:t>
            </a:r>
            <a:r>
              <a:rPr sz="2400" i="1" spc="75" dirty="0">
                <a:latin typeface="Times New Roman"/>
                <a:cs typeface="Times New Roman"/>
              </a:rPr>
              <a:t>fact</a:t>
            </a:r>
            <a:r>
              <a:rPr sz="2400" i="1" spc="210" dirty="0">
                <a:latin typeface="Times New Roman"/>
                <a:cs typeface="Times New Roman"/>
              </a:rPr>
              <a:t> </a:t>
            </a:r>
            <a:r>
              <a:rPr sz="2400" i="1" spc="40" dirty="0">
                <a:latin typeface="Times New Roman"/>
                <a:cs typeface="Times New Roman"/>
              </a:rPr>
              <a:t>the </a:t>
            </a:r>
            <a:r>
              <a:rPr sz="2400" i="1" dirty="0">
                <a:latin typeface="Times New Roman"/>
                <a:cs typeface="Times New Roman"/>
              </a:rPr>
              <a:t>normal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operation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may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be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impossible.)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1025" y="350583"/>
            <a:ext cx="9745980" cy="5295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0615">
              <a:lnSpc>
                <a:spcPct val="100000"/>
              </a:lnSpc>
              <a:spcBef>
                <a:spcPts val="100"/>
              </a:spcBef>
              <a:tabLst>
                <a:tab pos="288544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Form-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based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specifications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Definition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function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entity.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Description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inputs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where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they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from.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Description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outputs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where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they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go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to.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Information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about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information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needed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computation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other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entities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used.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Description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action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taken.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Pre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post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conditions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(if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appropriate).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side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effects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(if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any)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function.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9634" y="2708567"/>
            <a:ext cx="190500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100" dirty="0">
                <a:latin typeface="Microsoft Sans Serif"/>
                <a:cs typeface="Microsoft Sans Serif"/>
              </a:rPr>
              <a:t>🞂</a:t>
            </a:r>
            <a:endParaRPr sz="24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87634" y="2639352"/>
            <a:ext cx="4559935" cy="5029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3815"/>
              </a:lnSpc>
            </a:pPr>
            <a:r>
              <a:rPr spc="-10" dirty="0"/>
              <a:t>Requirements</a:t>
            </a:r>
            <a:r>
              <a:rPr spc="-110" dirty="0"/>
              <a:t> </a:t>
            </a:r>
            <a:r>
              <a:rPr spc="-10" dirty="0"/>
              <a:t>Context: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12504" y="3055911"/>
            <a:ext cx="7920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System,</a:t>
            </a:r>
            <a:r>
              <a:rPr sz="3600" b="1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User</a:t>
            </a:r>
            <a:r>
              <a:rPr sz="3600" b="1" u="heavy" spc="-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36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Domain</a:t>
            </a:r>
            <a:r>
              <a:rPr sz="36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1025" y="350583"/>
            <a:ext cx="8579485" cy="1652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2605">
              <a:lnSpc>
                <a:spcPct val="100000"/>
              </a:lnSpc>
              <a:spcBef>
                <a:spcPts val="100"/>
              </a:spcBef>
              <a:tabLst>
                <a:tab pos="229743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Types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(Context)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User</a:t>
            </a:r>
            <a:r>
              <a:rPr sz="3000" b="1" spc="-10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Requirements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58225" y="1995525"/>
            <a:ext cx="159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0000" y="2059660"/>
            <a:ext cx="9401175" cy="4210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3195"/>
              </a:lnSpc>
            </a:pPr>
            <a:r>
              <a:rPr sz="3000" dirty="0">
                <a:latin typeface="Times New Roman"/>
                <a:cs typeface="Times New Roman"/>
              </a:rPr>
              <a:t>Statements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natural</a:t>
            </a:r>
            <a:r>
              <a:rPr sz="3000" spc="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language</a:t>
            </a:r>
            <a:r>
              <a:rPr sz="3000" spc="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plus</a:t>
            </a:r>
            <a:r>
              <a:rPr sz="3000" spc="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diagrams</a:t>
            </a:r>
            <a:r>
              <a:rPr sz="3000" spc="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10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services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90000" y="2480665"/>
            <a:ext cx="8202295" cy="4114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3120"/>
              </a:lnSpc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2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provides</a:t>
            </a:r>
            <a:r>
              <a:rPr sz="3000" spc="2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2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its</a:t>
            </a:r>
            <a:r>
              <a:rPr sz="3000" spc="2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operational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constraints.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79595" y="2407005"/>
            <a:ext cx="1211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Times New Roman"/>
                <a:cs typeface="Times New Roman"/>
              </a:rPr>
              <a:t>Written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1025" y="2737205"/>
            <a:ext cx="3792220" cy="110236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740"/>
              </a:spcBef>
            </a:pP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customers.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System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Requirements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90000" y="3896080"/>
            <a:ext cx="9383395" cy="832485"/>
          </a:xfrm>
          <a:custGeom>
            <a:avLst/>
            <a:gdLst/>
            <a:ahLst/>
            <a:cxnLst/>
            <a:rect l="l" t="t" r="r" b="b"/>
            <a:pathLst>
              <a:path w="9383395" h="832485">
                <a:moveTo>
                  <a:pt x="9383395" y="0"/>
                </a:moveTo>
                <a:lnTo>
                  <a:pt x="0" y="0"/>
                </a:lnTo>
                <a:lnTo>
                  <a:pt x="0" y="411480"/>
                </a:lnTo>
                <a:lnTo>
                  <a:pt x="0" y="421005"/>
                </a:lnTo>
                <a:lnTo>
                  <a:pt x="0" y="832485"/>
                </a:lnTo>
                <a:lnTo>
                  <a:pt x="9293225" y="832485"/>
                </a:lnTo>
                <a:lnTo>
                  <a:pt x="9293225" y="421005"/>
                </a:lnTo>
                <a:lnTo>
                  <a:pt x="9383395" y="421005"/>
                </a:lnTo>
                <a:lnTo>
                  <a:pt x="938339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58225" y="3831945"/>
            <a:ext cx="9633585" cy="171703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41300" marR="5080" indent="-228600" algn="just">
              <a:lnSpc>
                <a:spcPts val="324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structured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document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setting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out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detailed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descriptions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the </a:t>
            </a:r>
            <a:r>
              <a:rPr sz="3000" spc="70" dirty="0">
                <a:latin typeface="Times New Roman"/>
                <a:cs typeface="Times New Roman"/>
              </a:rPr>
              <a:t>system’s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spc="95" dirty="0">
                <a:latin typeface="Times New Roman"/>
                <a:cs typeface="Times New Roman"/>
              </a:rPr>
              <a:t>functions,</a:t>
            </a:r>
            <a:r>
              <a:rPr sz="3000" spc="254" dirty="0">
                <a:latin typeface="Times New Roman"/>
                <a:cs typeface="Times New Roman"/>
              </a:rPr>
              <a:t> </a:t>
            </a:r>
            <a:r>
              <a:rPr sz="3000" spc="95" dirty="0">
                <a:latin typeface="Times New Roman"/>
                <a:cs typeface="Times New Roman"/>
              </a:rPr>
              <a:t>services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spc="70" dirty="0">
                <a:latin typeface="Times New Roman"/>
                <a:cs typeface="Times New Roman"/>
              </a:rPr>
              <a:t>and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spc="100" dirty="0">
                <a:latin typeface="Times New Roman"/>
                <a:cs typeface="Times New Roman"/>
              </a:rPr>
              <a:t>operational</a:t>
            </a:r>
            <a:r>
              <a:rPr sz="3000" spc="254" dirty="0">
                <a:latin typeface="Times New Roman"/>
                <a:cs typeface="Times New Roman"/>
              </a:rPr>
              <a:t> </a:t>
            </a:r>
            <a:r>
              <a:rPr sz="3000" spc="90" dirty="0">
                <a:latin typeface="Times New Roman"/>
                <a:cs typeface="Times New Roman"/>
              </a:rPr>
              <a:t>constraints. </a:t>
            </a:r>
            <a:r>
              <a:rPr sz="3000" spc="75" dirty="0">
                <a:latin typeface="Times New Roman"/>
                <a:cs typeface="Times New Roman"/>
              </a:rPr>
              <a:t>Defines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spc="70" dirty="0">
                <a:latin typeface="Times New Roman"/>
                <a:cs typeface="Times New Roman"/>
              </a:rPr>
              <a:t>what</a:t>
            </a:r>
            <a:r>
              <a:rPr sz="3000" spc="245" dirty="0">
                <a:latin typeface="Times New Roman"/>
                <a:cs typeface="Times New Roman"/>
              </a:rPr>
              <a:t> </a:t>
            </a:r>
            <a:r>
              <a:rPr sz="3000" spc="85" dirty="0">
                <a:latin typeface="Times New Roman"/>
                <a:cs typeface="Times New Roman"/>
              </a:rPr>
              <a:t>should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spc="80" dirty="0">
                <a:latin typeface="Times New Roman"/>
                <a:cs typeface="Times New Roman"/>
              </a:rPr>
              <a:t>implemented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so</a:t>
            </a:r>
            <a:r>
              <a:rPr sz="3000" spc="245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may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part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24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imes New Roman"/>
                <a:cs typeface="Times New Roman"/>
              </a:rPr>
              <a:t>a </a:t>
            </a:r>
            <a:r>
              <a:rPr sz="3000" dirty="0">
                <a:latin typeface="Times New Roman"/>
                <a:cs typeface="Times New Roman"/>
              </a:rPr>
              <a:t>contract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between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client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contractor.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7588" y="350583"/>
            <a:ext cx="6647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User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295" y="1533144"/>
            <a:ext cx="11487912" cy="43845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0357" y="168338"/>
            <a:ext cx="8042275" cy="953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5"/>
              </a:spcBef>
              <a:tabLst>
                <a:tab pos="516890" algn="l"/>
              </a:tabLst>
            </a:pPr>
            <a:r>
              <a:rPr sz="2200" spc="1664" dirty="0">
                <a:latin typeface="Microsoft Sans Serif"/>
                <a:cs typeface="Microsoft Sans Serif"/>
              </a:rPr>
              <a:t>🞂</a:t>
            </a:r>
            <a:r>
              <a:rPr sz="2200" dirty="0">
                <a:latin typeface="Microsoft Sans Serif"/>
                <a:cs typeface="Microsoft Sans Serif"/>
              </a:rPr>
              <a:t>​	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Readers</a:t>
            </a:r>
            <a:r>
              <a:rPr sz="3200" b="1" u="heavy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200" b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Different</a:t>
            </a:r>
            <a:r>
              <a:rPr sz="3200" b="1" u="heavy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types</a:t>
            </a:r>
            <a:r>
              <a:rPr sz="3200" b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200" b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200">
              <a:latin typeface="Times New Roman"/>
              <a:cs typeface="Times New Roman"/>
            </a:endParaRPr>
          </a:p>
          <a:p>
            <a:pPr marL="3155315">
              <a:lnSpc>
                <a:spcPts val="3650"/>
              </a:lnSpc>
            </a:pP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Specification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2016" y="1406652"/>
            <a:ext cx="9325356" cy="49499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67218" y="350583"/>
            <a:ext cx="10358755" cy="530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1945">
              <a:lnSpc>
                <a:spcPct val="100000"/>
              </a:lnSpc>
              <a:spcBef>
                <a:spcPts val="100"/>
              </a:spcBef>
              <a:tabLst>
                <a:tab pos="336677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Domain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50" dirty="0">
                <a:latin typeface="Times New Roman"/>
                <a:cs typeface="Times New Roman"/>
              </a:rPr>
              <a:t>The</a:t>
            </a:r>
            <a:r>
              <a:rPr sz="3000" b="1" spc="180" dirty="0">
                <a:latin typeface="Times New Roman"/>
                <a:cs typeface="Times New Roman"/>
              </a:rPr>
              <a:t> </a:t>
            </a:r>
            <a:r>
              <a:rPr sz="3000" b="1" spc="50" dirty="0">
                <a:latin typeface="Times New Roman"/>
                <a:cs typeface="Times New Roman"/>
              </a:rPr>
              <a:t>system’s</a:t>
            </a:r>
            <a:r>
              <a:rPr sz="3000" b="1" spc="180" dirty="0">
                <a:latin typeface="Times New Roman"/>
                <a:cs typeface="Times New Roman"/>
              </a:rPr>
              <a:t> </a:t>
            </a:r>
            <a:r>
              <a:rPr sz="3000" b="1" spc="70" dirty="0">
                <a:latin typeface="Times New Roman"/>
                <a:cs typeface="Times New Roman"/>
              </a:rPr>
              <a:t>operational</a:t>
            </a:r>
            <a:r>
              <a:rPr sz="3000" b="1" spc="190" dirty="0">
                <a:latin typeface="Times New Roman"/>
                <a:cs typeface="Times New Roman"/>
              </a:rPr>
              <a:t> </a:t>
            </a:r>
            <a:r>
              <a:rPr sz="3000" b="1" spc="65" dirty="0">
                <a:latin typeface="Times New Roman"/>
                <a:cs typeface="Times New Roman"/>
              </a:rPr>
              <a:t>domain</a:t>
            </a:r>
            <a:r>
              <a:rPr sz="3000" b="1" spc="185" dirty="0">
                <a:latin typeface="Times New Roman"/>
                <a:cs typeface="Times New Roman"/>
              </a:rPr>
              <a:t> </a:t>
            </a:r>
            <a:r>
              <a:rPr sz="3000" b="1" spc="60" dirty="0">
                <a:latin typeface="Times New Roman"/>
                <a:cs typeface="Times New Roman"/>
              </a:rPr>
              <a:t>imposes</a:t>
            </a:r>
            <a:r>
              <a:rPr sz="3000" b="1" spc="185" dirty="0">
                <a:latin typeface="Times New Roman"/>
                <a:cs typeface="Times New Roman"/>
              </a:rPr>
              <a:t> </a:t>
            </a:r>
            <a:r>
              <a:rPr sz="3000" b="1" spc="55" dirty="0">
                <a:latin typeface="Times New Roman"/>
                <a:cs typeface="Times New Roman"/>
              </a:rPr>
              <a:t>requirements</a:t>
            </a:r>
            <a:r>
              <a:rPr sz="3000" b="1" spc="190" dirty="0">
                <a:latin typeface="Times New Roman"/>
                <a:cs typeface="Times New Roman"/>
              </a:rPr>
              <a:t> </a:t>
            </a:r>
            <a:r>
              <a:rPr sz="3000" b="1" spc="-25" dirty="0">
                <a:latin typeface="Times New Roman"/>
                <a:cs typeface="Times New Roman"/>
              </a:rPr>
              <a:t>on </a:t>
            </a: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system.</a:t>
            </a:r>
            <a:endParaRPr sz="300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ts val="324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latin typeface="Times New Roman"/>
                <a:cs typeface="Times New Roman"/>
              </a:rPr>
              <a:t>For</a:t>
            </a:r>
            <a:r>
              <a:rPr sz="3000" b="1" spc="16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example</a:t>
            </a:r>
            <a:r>
              <a:rPr sz="3000" dirty="0">
                <a:latin typeface="Times New Roman"/>
                <a:cs typeface="Times New Roman"/>
              </a:rPr>
              <a:t>,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train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spc="45" dirty="0">
                <a:latin typeface="Times New Roman"/>
                <a:cs typeface="Times New Roman"/>
              </a:rPr>
              <a:t>control</a:t>
            </a:r>
            <a:r>
              <a:rPr sz="3000" spc="2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has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take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into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account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braking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characteristics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different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weather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conditions.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150" dirty="0">
                <a:latin typeface="Times New Roman"/>
                <a:cs typeface="Times New Roman"/>
              </a:rPr>
              <a:t>Domain</a:t>
            </a:r>
            <a:r>
              <a:rPr sz="3000" b="1" spc="390" dirty="0">
                <a:latin typeface="Times New Roman"/>
                <a:cs typeface="Times New Roman"/>
              </a:rPr>
              <a:t> </a:t>
            </a:r>
            <a:r>
              <a:rPr sz="3000" b="1" spc="150" dirty="0">
                <a:latin typeface="Times New Roman"/>
                <a:cs typeface="Times New Roman"/>
              </a:rPr>
              <a:t>requirements</a:t>
            </a:r>
            <a:r>
              <a:rPr sz="3000" b="1" spc="390" dirty="0">
                <a:latin typeface="Times New Roman"/>
                <a:cs typeface="Times New Roman"/>
              </a:rPr>
              <a:t> </a:t>
            </a:r>
            <a:r>
              <a:rPr sz="3000" b="1" spc="85" dirty="0">
                <a:latin typeface="Times New Roman"/>
                <a:cs typeface="Times New Roman"/>
              </a:rPr>
              <a:t>be</a:t>
            </a:r>
            <a:r>
              <a:rPr sz="3000" b="1" spc="385" dirty="0">
                <a:latin typeface="Times New Roman"/>
                <a:cs typeface="Times New Roman"/>
              </a:rPr>
              <a:t> </a:t>
            </a:r>
            <a:r>
              <a:rPr sz="3000" b="1" spc="120" dirty="0">
                <a:latin typeface="Times New Roman"/>
                <a:cs typeface="Times New Roman"/>
              </a:rPr>
              <a:t>new</a:t>
            </a:r>
            <a:r>
              <a:rPr sz="3000" b="1" spc="390" dirty="0">
                <a:latin typeface="Times New Roman"/>
                <a:cs typeface="Times New Roman"/>
              </a:rPr>
              <a:t> </a:t>
            </a:r>
            <a:r>
              <a:rPr sz="3000" b="1" spc="170" dirty="0">
                <a:latin typeface="Times New Roman"/>
                <a:cs typeface="Times New Roman"/>
              </a:rPr>
              <a:t>functional</a:t>
            </a:r>
            <a:r>
              <a:rPr sz="3000" b="1" spc="400" dirty="0">
                <a:latin typeface="Times New Roman"/>
                <a:cs typeface="Times New Roman"/>
              </a:rPr>
              <a:t> </a:t>
            </a:r>
            <a:r>
              <a:rPr sz="3000" b="1" spc="150" dirty="0">
                <a:latin typeface="Times New Roman"/>
                <a:cs typeface="Times New Roman"/>
              </a:rPr>
              <a:t>requirements</a:t>
            </a:r>
            <a:r>
              <a:rPr sz="3000" spc="150" dirty="0">
                <a:latin typeface="Times New Roman"/>
                <a:cs typeface="Times New Roman"/>
              </a:rPr>
              <a:t>, </a:t>
            </a:r>
            <a:r>
              <a:rPr sz="3000" spc="235" dirty="0">
                <a:latin typeface="Times New Roman"/>
                <a:cs typeface="Times New Roman"/>
              </a:rPr>
              <a:t>constraints</a:t>
            </a:r>
            <a:r>
              <a:rPr sz="3000" spc="545" dirty="0">
                <a:latin typeface="Times New Roman"/>
                <a:cs typeface="Times New Roman"/>
              </a:rPr>
              <a:t> </a:t>
            </a:r>
            <a:r>
              <a:rPr sz="3000" spc="135" dirty="0">
                <a:latin typeface="Times New Roman"/>
                <a:cs typeface="Times New Roman"/>
              </a:rPr>
              <a:t>on</a:t>
            </a:r>
            <a:r>
              <a:rPr sz="3000" spc="555" dirty="0">
                <a:latin typeface="Times New Roman"/>
                <a:cs typeface="Times New Roman"/>
              </a:rPr>
              <a:t> </a:t>
            </a:r>
            <a:r>
              <a:rPr sz="3000" spc="229" dirty="0">
                <a:latin typeface="Times New Roman"/>
                <a:cs typeface="Times New Roman"/>
              </a:rPr>
              <a:t>existing</a:t>
            </a:r>
            <a:r>
              <a:rPr sz="3000" spc="555" dirty="0">
                <a:latin typeface="Times New Roman"/>
                <a:cs typeface="Times New Roman"/>
              </a:rPr>
              <a:t> </a:t>
            </a:r>
            <a:r>
              <a:rPr sz="3000" spc="235" dirty="0">
                <a:latin typeface="Times New Roman"/>
                <a:cs typeface="Times New Roman"/>
              </a:rPr>
              <a:t>requirements</a:t>
            </a:r>
            <a:r>
              <a:rPr sz="3000" spc="550" dirty="0">
                <a:latin typeface="Times New Roman"/>
                <a:cs typeface="Times New Roman"/>
              </a:rPr>
              <a:t> </a:t>
            </a:r>
            <a:r>
              <a:rPr sz="3000" spc="130" dirty="0">
                <a:latin typeface="Times New Roman"/>
                <a:cs typeface="Times New Roman"/>
              </a:rPr>
              <a:t>or</a:t>
            </a:r>
            <a:r>
              <a:rPr sz="3000" spc="555" dirty="0">
                <a:latin typeface="Times New Roman"/>
                <a:cs typeface="Times New Roman"/>
              </a:rPr>
              <a:t> </a:t>
            </a:r>
            <a:r>
              <a:rPr sz="3000" spc="215" dirty="0">
                <a:latin typeface="Times New Roman"/>
                <a:cs typeface="Times New Roman"/>
              </a:rPr>
              <a:t>define</a:t>
            </a:r>
            <a:r>
              <a:rPr sz="3000" spc="545" dirty="0">
                <a:latin typeface="Times New Roman"/>
                <a:cs typeface="Times New Roman"/>
              </a:rPr>
              <a:t> </a:t>
            </a:r>
            <a:r>
              <a:rPr sz="3000" spc="215" dirty="0">
                <a:latin typeface="Times New Roman"/>
                <a:cs typeface="Times New Roman"/>
              </a:rPr>
              <a:t>specific </a:t>
            </a:r>
            <a:r>
              <a:rPr sz="3000" spc="-10" dirty="0">
                <a:latin typeface="Times New Roman"/>
                <a:cs typeface="Times New Roman"/>
              </a:rPr>
              <a:t>computations.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spc="55" dirty="0">
                <a:latin typeface="Times New Roman"/>
                <a:cs typeface="Times New Roman"/>
              </a:rPr>
              <a:t>If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spc="100" dirty="0">
                <a:latin typeface="Times New Roman"/>
                <a:cs typeface="Times New Roman"/>
              </a:rPr>
              <a:t>domain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spc="110" dirty="0">
                <a:latin typeface="Times New Roman"/>
                <a:cs typeface="Times New Roman"/>
              </a:rPr>
              <a:t>requirements</a:t>
            </a:r>
            <a:r>
              <a:rPr sz="3000" spc="280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are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spc="85" dirty="0">
                <a:latin typeface="Times New Roman"/>
                <a:cs typeface="Times New Roman"/>
              </a:rPr>
              <a:t>not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spc="110" dirty="0">
                <a:latin typeface="Times New Roman"/>
                <a:cs typeface="Times New Roman"/>
              </a:rPr>
              <a:t>satisfied,</a:t>
            </a:r>
            <a:r>
              <a:rPr sz="3000" spc="295" dirty="0">
                <a:latin typeface="Times New Roman"/>
                <a:cs typeface="Times New Roman"/>
              </a:rPr>
              <a:t> </a:t>
            </a:r>
            <a:r>
              <a:rPr sz="3000" spc="85" dirty="0">
                <a:latin typeface="Times New Roman"/>
                <a:cs typeface="Times New Roman"/>
              </a:rPr>
              <a:t>the</a:t>
            </a:r>
            <a:r>
              <a:rPr sz="3000" spc="295" dirty="0">
                <a:latin typeface="Times New Roman"/>
                <a:cs typeface="Times New Roman"/>
              </a:rPr>
              <a:t> </a:t>
            </a:r>
            <a:r>
              <a:rPr sz="3000" spc="105" dirty="0">
                <a:latin typeface="Times New Roman"/>
                <a:cs typeface="Times New Roman"/>
              </a:rPr>
              <a:t>system</a:t>
            </a:r>
            <a:r>
              <a:rPr sz="3000" spc="295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may</a:t>
            </a:r>
            <a:r>
              <a:rPr sz="3000" spc="295" dirty="0">
                <a:latin typeface="Times New Roman"/>
                <a:cs typeface="Times New Roman"/>
              </a:rPr>
              <a:t> </a:t>
            </a:r>
            <a:r>
              <a:rPr sz="3000" spc="35" dirty="0">
                <a:latin typeface="Times New Roman"/>
                <a:cs typeface="Times New Roman"/>
              </a:rPr>
              <a:t>be </a:t>
            </a:r>
            <a:r>
              <a:rPr sz="3000" spc="-10" dirty="0">
                <a:latin typeface="Times New Roman"/>
                <a:cs typeface="Times New Roman"/>
              </a:rPr>
              <a:t>unworkable.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10365740" cy="5353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0485">
              <a:lnSpc>
                <a:spcPct val="100000"/>
              </a:lnSpc>
              <a:spcBef>
                <a:spcPts val="100"/>
              </a:spcBef>
              <a:tabLst>
                <a:tab pos="311531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Train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protection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domain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requirement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train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protection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system: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ts val="3490"/>
              </a:lnSpc>
              <a:spcBef>
                <a:spcPts val="28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deceleration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train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computed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as: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490"/>
              </a:lnSpc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Dtrain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=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Dcontrol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+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Dgradient</a:t>
            </a:r>
            <a:endParaRPr sz="3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30"/>
              </a:spcBef>
              <a:buFont typeface="Arial MT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698500" marR="12065" lvl="1" indent="-228600" algn="just">
              <a:lnSpc>
                <a:spcPct val="80000"/>
              </a:lnSpc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where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Dgradient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9.81ms2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*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compensated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gradient/alpha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spc="55" dirty="0">
                <a:latin typeface="Times New Roman"/>
                <a:cs typeface="Times New Roman"/>
              </a:rPr>
              <a:t>where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values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9.81ms2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/alpha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known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for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different </a:t>
            </a:r>
            <a:r>
              <a:rPr sz="3000" dirty="0">
                <a:latin typeface="Times New Roman"/>
                <a:cs typeface="Times New Roman"/>
              </a:rPr>
              <a:t>types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train.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288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135" dirty="0">
                <a:latin typeface="Times New Roman"/>
                <a:cs typeface="Times New Roman"/>
              </a:rPr>
              <a:t>It</a:t>
            </a:r>
            <a:r>
              <a:rPr sz="3000" b="1" spc="570" dirty="0">
                <a:latin typeface="Times New Roman"/>
                <a:cs typeface="Times New Roman"/>
              </a:rPr>
              <a:t> </a:t>
            </a:r>
            <a:r>
              <a:rPr sz="3000" b="1" spc="135" dirty="0">
                <a:latin typeface="Times New Roman"/>
                <a:cs typeface="Times New Roman"/>
              </a:rPr>
              <a:t>is</a:t>
            </a:r>
            <a:r>
              <a:rPr sz="3000" b="1" spc="565" dirty="0">
                <a:latin typeface="Times New Roman"/>
                <a:cs typeface="Times New Roman"/>
              </a:rPr>
              <a:t> </a:t>
            </a:r>
            <a:r>
              <a:rPr sz="3000" b="1" spc="245" dirty="0">
                <a:latin typeface="Times New Roman"/>
                <a:cs typeface="Times New Roman"/>
              </a:rPr>
              <a:t>difficult</a:t>
            </a:r>
            <a:r>
              <a:rPr sz="3000" b="1" spc="570" dirty="0">
                <a:latin typeface="Times New Roman"/>
                <a:cs typeface="Times New Roman"/>
              </a:rPr>
              <a:t> </a:t>
            </a:r>
            <a:r>
              <a:rPr sz="3000" b="1" spc="180" dirty="0">
                <a:latin typeface="Times New Roman"/>
                <a:cs typeface="Times New Roman"/>
              </a:rPr>
              <a:t>for</a:t>
            </a:r>
            <a:r>
              <a:rPr sz="3000" b="1" spc="509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575" dirty="0">
                <a:latin typeface="Times New Roman"/>
                <a:cs typeface="Times New Roman"/>
              </a:rPr>
              <a:t> </a:t>
            </a:r>
            <a:r>
              <a:rPr sz="3000" b="1" spc="215" dirty="0">
                <a:latin typeface="Times New Roman"/>
                <a:cs typeface="Times New Roman"/>
              </a:rPr>
              <a:t>non-</a:t>
            </a:r>
            <a:r>
              <a:rPr sz="3000" b="1" spc="-459" dirty="0">
                <a:latin typeface="Times New Roman"/>
                <a:cs typeface="Times New Roman"/>
              </a:rPr>
              <a:t> </a:t>
            </a:r>
            <a:r>
              <a:rPr sz="3000" b="1" spc="250" dirty="0">
                <a:latin typeface="Times New Roman"/>
                <a:cs typeface="Times New Roman"/>
              </a:rPr>
              <a:t>specialist</a:t>
            </a:r>
            <a:r>
              <a:rPr sz="3000" b="1" spc="580" dirty="0">
                <a:latin typeface="Times New Roman"/>
                <a:cs typeface="Times New Roman"/>
              </a:rPr>
              <a:t> </a:t>
            </a:r>
            <a:r>
              <a:rPr sz="3000" b="1" spc="140" dirty="0">
                <a:latin typeface="Times New Roman"/>
                <a:cs typeface="Times New Roman"/>
              </a:rPr>
              <a:t>to</a:t>
            </a:r>
            <a:r>
              <a:rPr sz="3000" b="1" spc="580" dirty="0">
                <a:latin typeface="Times New Roman"/>
                <a:cs typeface="Times New Roman"/>
              </a:rPr>
              <a:t> </a:t>
            </a:r>
            <a:r>
              <a:rPr sz="3000" b="1" spc="254" dirty="0">
                <a:latin typeface="Times New Roman"/>
                <a:cs typeface="Times New Roman"/>
              </a:rPr>
              <a:t>understand</a:t>
            </a:r>
            <a:r>
              <a:rPr sz="3000" b="1" spc="580" dirty="0">
                <a:latin typeface="Times New Roman"/>
                <a:cs typeface="Times New Roman"/>
              </a:rPr>
              <a:t> </a:t>
            </a:r>
            <a:r>
              <a:rPr sz="3000" b="1" spc="185" dirty="0">
                <a:latin typeface="Times New Roman"/>
                <a:cs typeface="Times New Roman"/>
              </a:rPr>
              <a:t>the</a:t>
            </a:r>
            <a:r>
              <a:rPr sz="3000" b="1" spc="-10" dirty="0">
                <a:latin typeface="Times New Roman"/>
                <a:cs typeface="Times New Roman"/>
              </a:rPr>
              <a:t> </a:t>
            </a:r>
            <a:r>
              <a:rPr sz="3000" b="1" spc="260" dirty="0">
                <a:latin typeface="Times New Roman"/>
                <a:cs typeface="Times New Roman"/>
              </a:rPr>
              <a:t>implications</a:t>
            </a:r>
            <a:r>
              <a:rPr sz="3000" b="1" spc="585" dirty="0">
                <a:latin typeface="Times New Roman"/>
                <a:cs typeface="Times New Roman"/>
              </a:rPr>
              <a:t> </a:t>
            </a:r>
            <a:r>
              <a:rPr sz="3000" b="1" spc="140" dirty="0">
                <a:latin typeface="Times New Roman"/>
                <a:cs typeface="Times New Roman"/>
              </a:rPr>
              <a:t>of</a:t>
            </a:r>
            <a:r>
              <a:rPr sz="3000" b="1" spc="590" dirty="0">
                <a:latin typeface="Times New Roman"/>
                <a:cs typeface="Times New Roman"/>
              </a:rPr>
              <a:t> </a:t>
            </a:r>
            <a:r>
              <a:rPr sz="3000" b="1" spc="215" dirty="0">
                <a:latin typeface="Times New Roman"/>
                <a:cs typeface="Times New Roman"/>
              </a:rPr>
              <a:t>this</a:t>
            </a:r>
            <a:r>
              <a:rPr sz="3000" b="1" spc="585" dirty="0">
                <a:latin typeface="Times New Roman"/>
                <a:cs typeface="Times New Roman"/>
              </a:rPr>
              <a:t> </a:t>
            </a:r>
            <a:r>
              <a:rPr sz="3000" b="1" spc="295" dirty="0">
                <a:latin typeface="Times New Roman"/>
                <a:cs typeface="Times New Roman"/>
              </a:rPr>
              <a:t>an</a:t>
            </a:r>
            <a:r>
              <a:rPr sz="3000" b="1" dirty="0">
                <a:latin typeface="Times New Roman"/>
                <a:cs typeface="Times New Roman"/>
              </a:rPr>
              <a:t>d</a:t>
            </a:r>
            <a:r>
              <a:rPr sz="3000" b="1" spc="590" dirty="0">
                <a:latin typeface="Times New Roman"/>
                <a:cs typeface="Times New Roman"/>
              </a:rPr>
              <a:t> </a:t>
            </a:r>
            <a:r>
              <a:rPr sz="3000" b="1" spc="295" dirty="0">
                <a:latin typeface="Times New Roman"/>
                <a:cs typeface="Times New Roman"/>
              </a:rPr>
              <a:t>ho</a:t>
            </a:r>
            <a:r>
              <a:rPr sz="3000" b="1" dirty="0">
                <a:latin typeface="Times New Roman"/>
                <a:cs typeface="Times New Roman"/>
              </a:rPr>
              <a:t>w</a:t>
            </a:r>
            <a:r>
              <a:rPr sz="3000" b="1" spc="58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i</a:t>
            </a:r>
            <a:r>
              <a:rPr sz="3000" b="1" spc="-45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t</a:t>
            </a:r>
            <a:r>
              <a:rPr sz="3000" b="1" spc="590" dirty="0">
                <a:latin typeface="Times New Roman"/>
                <a:cs typeface="Times New Roman"/>
              </a:rPr>
              <a:t> </a:t>
            </a:r>
            <a:r>
              <a:rPr sz="3000" b="1" spc="250" dirty="0">
                <a:latin typeface="Times New Roman"/>
                <a:cs typeface="Times New Roman"/>
              </a:rPr>
              <a:t>interacts</a:t>
            </a:r>
            <a:r>
              <a:rPr sz="3000" b="1" spc="595" dirty="0">
                <a:latin typeface="Times New Roman"/>
                <a:cs typeface="Times New Roman"/>
              </a:rPr>
              <a:t> </a:t>
            </a:r>
            <a:r>
              <a:rPr sz="3000" b="1" spc="215" dirty="0">
                <a:latin typeface="Times New Roman"/>
                <a:cs typeface="Times New Roman"/>
              </a:rPr>
              <a:t>with</a:t>
            </a:r>
            <a:r>
              <a:rPr sz="3000" b="1" spc="600" dirty="0">
                <a:latin typeface="Times New Roman"/>
                <a:cs typeface="Times New Roman"/>
              </a:rPr>
              <a:t> </a:t>
            </a:r>
            <a:r>
              <a:rPr sz="3000" b="1" spc="229" dirty="0">
                <a:latin typeface="Times New Roman"/>
                <a:cs typeface="Times New Roman"/>
              </a:rPr>
              <a:t>other</a:t>
            </a:r>
            <a:r>
              <a:rPr sz="3000" b="1" spc="-10" dirty="0">
                <a:latin typeface="Times New Roman"/>
                <a:cs typeface="Times New Roman"/>
              </a:rPr>
              <a:t> </a:t>
            </a:r>
            <a:r>
              <a:rPr sz="3000" b="1" spc="-20" dirty="0">
                <a:latin typeface="Times New Roman"/>
                <a:cs typeface="Times New Roman"/>
              </a:rPr>
              <a:t>requirements.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1747" y="2061057"/>
            <a:ext cx="190500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100" dirty="0">
                <a:latin typeface="Microsoft Sans Serif"/>
                <a:cs typeface="Microsoft Sans Serif"/>
              </a:rPr>
              <a:t>🞂</a:t>
            </a:r>
            <a:endParaRPr sz="24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29747" y="1991855"/>
            <a:ext cx="4639945" cy="5029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3815"/>
              </a:lnSpc>
            </a:pPr>
            <a:r>
              <a:rPr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Types</a:t>
            </a:r>
            <a:r>
              <a:rPr u="heavy" spc="-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of</a:t>
            </a:r>
            <a:r>
              <a:rPr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Requirements: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12527" y="2408415"/>
            <a:ext cx="5883910" cy="156083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463550" marR="455295" algn="ctr">
              <a:lnSpc>
                <a:spcPts val="3879"/>
              </a:lnSpc>
              <a:spcBef>
                <a:spcPts val="595"/>
              </a:spcBef>
            </a:pP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600" b="1" u="heavy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spc="-10" dirty="0">
                <a:latin typeface="Times New Roman"/>
                <a:cs typeface="Times New Roman"/>
              </a:rPr>
              <a:t> </a:t>
            </a:r>
            <a:r>
              <a:rPr sz="36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ts val="3835"/>
              </a:lnSpc>
            </a:pPr>
            <a:r>
              <a:rPr sz="3600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Non-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600" b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7372" y="168338"/>
            <a:ext cx="10093960" cy="611060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97305" marR="790575" indent="1436370">
              <a:lnSpc>
                <a:spcPts val="3460"/>
              </a:lnSpc>
              <a:spcBef>
                <a:spcPts val="535"/>
              </a:spcBef>
              <a:tabLst>
                <a:tab pos="3237865" algn="l"/>
              </a:tabLst>
            </a:pPr>
            <a:r>
              <a:rPr sz="2200" spc="1664" dirty="0">
                <a:latin typeface="Microsoft Sans Serif"/>
                <a:cs typeface="Microsoft Sans Serif"/>
              </a:rPr>
              <a:t>🞂</a:t>
            </a:r>
            <a:r>
              <a:rPr sz="2200" dirty="0">
                <a:latin typeface="Microsoft Sans Serif"/>
                <a:cs typeface="Microsoft Sans Serif"/>
              </a:rPr>
              <a:t>​	</a:t>
            </a:r>
            <a:r>
              <a:rPr sz="3200" b="1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Types</a:t>
            </a:r>
            <a:r>
              <a:rPr sz="3200" b="1"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200" b="1"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Requirements:</a:t>
            </a:r>
            <a:r>
              <a:rPr sz="3200" b="1" spc="8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200" b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3200" b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Non-</a:t>
            </a:r>
            <a:r>
              <a:rPr sz="32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200" b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669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Functional</a:t>
            </a:r>
            <a:r>
              <a:rPr sz="30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endParaRPr sz="3000">
              <a:latin typeface="Times New Roman"/>
              <a:cs typeface="Times New Roman"/>
            </a:endParaRPr>
          </a:p>
          <a:p>
            <a:pPr marL="697230" marR="10795" lvl="1" indent="-227329" algn="just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Statements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services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provide,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should 	</a:t>
            </a:r>
            <a:r>
              <a:rPr sz="2400" dirty="0">
                <a:latin typeface="Times New Roman"/>
                <a:cs typeface="Times New Roman"/>
              </a:rPr>
              <a:t>react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particular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inputs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behave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Times New Roman"/>
                <a:cs typeface="Times New Roman"/>
              </a:rPr>
              <a:t>particular 	</a:t>
            </a:r>
            <a:r>
              <a:rPr sz="2400" spc="-10" dirty="0">
                <a:latin typeface="Times New Roman"/>
                <a:cs typeface="Times New Roman"/>
              </a:rPr>
              <a:t>situations.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 algn="just">
              <a:lnSpc>
                <a:spcPct val="100000"/>
              </a:lnSpc>
              <a:spcBef>
                <a:spcPts val="17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dirty="0">
                <a:latin typeface="Times New Roman"/>
                <a:cs typeface="Times New Roman"/>
              </a:rPr>
              <a:t>May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state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what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system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should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do.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Non-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Functional</a:t>
            </a:r>
            <a:r>
              <a:rPr sz="3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endParaRPr sz="3000">
              <a:latin typeface="Times New Roman"/>
              <a:cs typeface="Times New Roman"/>
            </a:endParaRPr>
          </a:p>
          <a:p>
            <a:pPr marL="697230" marR="32384" lvl="1" indent="-227329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Constraints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services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offered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timing 	</a:t>
            </a:r>
            <a:r>
              <a:rPr sz="2400" dirty="0">
                <a:latin typeface="Times New Roman"/>
                <a:cs typeface="Times New Roman"/>
              </a:rPr>
              <a:t>constraints,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constraints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b="1" dirty="0">
                <a:latin typeface="Times New Roman"/>
                <a:cs typeface="Times New Roman"/>
              </a:rPr>
              <a:t>Often</a:t>
            </a:r>
            <a:r>
              <a:rPr sz="2400" b="1" spc="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apply</a:t>
            </a:r>
            <a:r>
              <a:rPr sz="2400" b="1" spc="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system</a:t>
            </a:r>
            <a:r>
              <a:rPr sz="2400" b="1" spc="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as</a:t>
            </a:r>
            <a:r>
              <a:rPr sz="2400" b="1" spc="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whole</a:t>
            </a:r>
            <a:r>
              <a:rPr sz="2400" b="1" spc="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rather</a:t>
            </a:r>
            <a:r>
              <a:rPr sz="2400" b="1" spc="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than</a:t>
            </a:r>
            <a:r>
              <a:rPr sz="2400" b="1" spc="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individual</a:t>
            </a:r>
            <a:r>
              <a:rPr sz="2400" b="1" spc="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features</a:t>
            </a:r>
            <a:r>
              <a:rPr sz="2400" b="1" spc="10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or 	</a:t>
            </a:r>
            <a:r>
              <a:rPr sz="2400" b="1" spc="-10" dirty="0">
                <a:latin typeface="Times New Roman"/>
                <a:cs typeface="Times New Roman"/>
              </a:rPr>
              <a:t>services.</a:t>
            </a:r>
            <a:endParaRPr sz="2400">
              <a:latin typeface="Times New Roman"/>
              <a:cs typeface="Times New Roman"/>
            </a:endParaRPr>
          </a:p>
          <a:p>
            <a:pPr marL="697230" marR="10160" lvl="1" indent="-227329">
              <a:lnSpc>
                <a:spcPts val="3090"/>
              </a:lnSpc>
              <a:spcBef>
                <a:spcPts val="10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2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other</a:t>
            </a:r>
            <a:r>
              <a:rPr sz="2400" b="1" spc="1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words,</a:t>
            </a:r>
            <a:r>
              <a:rPr sz="2400" b="1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non-functional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requirement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describe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 	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behave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limits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functionality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7667" y="350583"/>
            <a:ext cx="10087610" cy="517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2375">
              <a:lnSpc>
                <a:spcPct val="100000"/>
              </a:lnSpc>
              <a:spcBef>
                <a:spcPts val="100"/>
              </a:spcBef>
              <a:tabLst>
                <a:tab pos="299656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2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What</a:t>
            </a:r>
            <a:r>
              <a:rPr sz="3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3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should</a:t>
            </a:r>
            <a:r>
              <a:rPr sz="3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do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Describe</a:t>
            </a:r>
            <a:r>
              <a:rPr sz="3000" b="1" spc="-6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functionality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services.</a:t>
            </a:r>
            <a:endParaRPr sz="3000">
              <a:latin typeface="Times New Roman"/>
              <a:cs typeface="Times New Roman"/>
            </a:endParaRPr>
          </a:p>
          <a:p>
            <a:pPr marL="240665" marR="6350" indent="-228600">
              <a:lnSpc>
                <a:spcPts val="3240"/>
              </a:lnSpc>
              <a:spcBef>
                <a:spcPts val="1045"/>
              </a:spcBef>
              <a:buFont typeface="Arial MT"/>
              <a:buChar char="•"/>
              <a:tabLst>
                <a:tab pos="240665" algn="l"/>
              </a:tabLst>
            </a:pPr>
            <a:r>
              <a:rPr sz="3000" b="1" dirty="0">
                <a:latin typeface="Times New Roman"/>
                <a:cs typeface="Times New Roman"/>
              </a:rPr>
              <a:t>Depend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on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type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software</a:t>
            </a:r>
            <a:r>
              <a:rPr sz="3000" dirty="0">
                <a:latin typeface="Times New Roman"/>
                <a:cs typeface="Times New Roman"/>
              </a:rPr>
              <a:t>,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expected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type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of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where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used.</a:t>
            </a:r>
            <a:endParaRPr sz="3000">
              <a:latin typeface="Times New Roman"/>
              <a:cs typeface="Times New Roman"/>
            </a:endParaRPr>
          </a:p>
          <a:p>
            <a:pPr marL="240665" marR="71120" indent="-228600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sz="30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000" b="1" u="heavy" spc="-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user</a:t>
            </a:r>
            <a:r>
              <a:rPr sz="3000" b="1" u="heavy" spc="-11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0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high-</a:t>
            </a:r>
            <a:r>
              <a:rPr sz="3000" dirty="0">
                <a:latin typeface="Times New Roman"/>
                <a:cs typeface="Times New Roman"/>
              </a:rPr>
              <a:t>level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statements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of </a:t>
            </a: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do.</a:t>
            </a:r>
            <a:endParaRPr sz="3000">
              <a:latin typeface="Times New Roman"/>
              <a:cs typeface="Times New Roman"/>
            </a:endParaRPr>
          </a:p>
          <a:p>
            <a:pPr marL="240665" marR="5080" indent="-228600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sz="3000" b="1" u="heavy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000" b="1" u="heavy" spc="3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system</a:t>
            </a:r>
            <a:r>
              <a:rPr sz="3000" b="1" u="heavy" spc="3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</a:t>
            </a:r>
            <a:r>
              <a:rPr sz="30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3000" b="1" spc="3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3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describe</a:t>
            </a:r>
            <a:r>
              <a:rPr sz="3000" spc="3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3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 </a:t>
            </a:r>
            <a:r>
              <a:rPr sz="3000" dirty="0">
                <a:latin typeface="Times New Roman"/>
                <a:cs typeface="Times New Roman"/>
              </a:rPr>
              <a:t>services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detail.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67218" y="350583"/>
            <a:ext cx="10358120" cy="356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1040">
              <a:lnSpc>
                <a:spcPct val="100000"/>
              </a:lnSpc>
              <a:spcBef>
                <a:spcPts val="100"/>
              </a:spcBef>
              <a:tabLst>
                <a:tab pos="120586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MHC-PMS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70"/>
              </a:spcBef>
            </a:pPr>
            <a:endParaRPr sz="36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user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will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be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able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search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appointments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clinics.</a:t>
            </a:r>
            <a:endParaRPr sz="280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1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system</a:t>
            </a:r>
            <a:r>
              <a:rPr sz="2800" b="1" spc="1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will</a:t>
            </a:r>
            <a:r>
              <a:rPr sz="2800" b="1" spc="1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generate</a:t>
            </a:r>
            <a:r>
              <a:rPr sz="2800" b="1" spc="1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each</a:t>
            </a:r>
            <a:r>
              <a:rPr sz="2800" b="1" spc="1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day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clinic,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patients 	</a:t>
            </a:r>
            <a:r>
              <a:rPr sz="2800" dirty="0">
                <a:latin typeface="Times New Roman"/>
                <a:cs typeface="Times New Roman"/>
              </a:rPr>
              <a:t>who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expected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attend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appointments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day.</a:t>
            </a:r>
            <a:endParaRPr sz="280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302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Each</a:t>
            </a:r>
            <a:r>
              <a:rPr sz="2800" b="1" spc="2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staff</a:t>
            </a:r>
            <a:r>
              <a:rPr sz="2800" b="1" spc="2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member</a:t>
            </a:r>
            <a:r>
              <a:rPr sz="2800" b="1" spc="20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2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2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2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uniquely</a:t>
            </a:r>
            <a:r>
              <a:rPr sz="2800" spc="285" dirty="0">
                <a:latin typeface="Times New Roman"/>
                <a:cs typeface="Times New Roman"/>
              </a:rPr>
              <a:t> </a:t>
            </a:r>
            <a:r>
              <a:rPr sz="2800" spc="45" dirty="0">
                <a:latin typeface="Times New Roman"/>
                <a:cs typeface="Times New Roman"/>
              </a:rPr>
              <a:t>identified</a:t>
            </a:r>
            <a:r>
              <a:rPr sz="2800" spc="2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by 	</a:t>
            </a:r>
            <a:r>
              <a:rPr sz="2800" dirty="0">
                <a:latin typeface="Times New Roman"/>
                <a:cs typeface="Times New Roman"/>
              </a:rPr>
              <a:t>his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8-</a:t>
            </a:r>
            <a:r>
              <a:rPr sz="2800" dirty="0">
                <a:latin typeface="Times New Roman"/>
                <a:cs typeface="Times New Roman"/>
              </a:rPr>
              <a:t>digit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employee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number.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1694" y="350583"/>
            <a:ext cx="8573135" cy="3794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800">
              <a:lnSpc>
                <a:spcPct val="100000"/>
              </a:lnSpc>
              <a:spcBef>
                <a:spcPts val="100"/>
              </a:spcBef>
              <a:tabLst>
                <a:tab pos="284162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Non-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3600">
              <a:latin typeface="Times New Roman"/>
              <a:cs typeface="Times New Roman"/>
            </a:endParaRPr>
          </a:p>
          <a:p>
            <a:pPr marL="240029" indent="-227329">
              <a:lnSpc>
                <a:spcPts val="327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Times New Roman"/>
                <a:cs typeface="Times New Roman"/>
              </a:rPr>
              <a:t>These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define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system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properties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constraints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3270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Times New Roman"/>
                <a:cs typeface="Times New Roman"/>
              </a:rPr>
              <a:t>e.g.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reliability,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response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storage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requirements.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ts val="3275"/>
              </a:lnSpc>
              <a:spcBef>
                <a:spcPts val="32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Times New Roman"/>
                <a:cs typeface="Times New Roman"/>
              </a:rPr>
              <a:t>Constraints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system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implementation</a:t>
            </a:r>
            <a:endParaRPr sz="2800">
              <a:latin typeface="Times New Roman"/>
              <a:cs typeface="Times New Roman"/>
            </a:endParaRPr>
          </a:p>
          <a:p>
            <a:pPr marL="786765" lvl="1" indent="-316865">
              <a:lnSpc>
                <a:spcPts val="3275"/>
              </a:lnSpc>
              <a:buFont typeface="Arial MT"/>
              <a:buChar char="•"/>
              <a:tabLst>
                <a:tab pos="786765" algn="l"/>
              </a:tabLst>
            </a:pPr>
            <a:r>
              <a:rPr sz="2800" dirty="0">
                <a:latin typeface="Times New Roman"/>
                <a:cs typeface="Times New Roman"/>
              </a:rPr>
              <a:t>e.g.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I/O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device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capability,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representations,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etc.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ts val="3270"/>
              </a:lnSpc>
              <a:spcBef>
                <a:spcPts val="32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Times New Roman"/>
                <a:cs typeface="Times New Roman"/>
              </a:rPr>
              <a:t>Constrain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characteristics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whole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3270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performance,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security,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availability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694" y="4161116"/>
            <a:ext cx="14986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3469" y="4255731"/>
            <a:ext cx="10220325" cy="3505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710"/>
              </a:lnSpc>
            </a:pPr>
            <a:r>
              <a:rPr sz="2800" b="1" dirty="0">
                <a:latin typeface="Times New Roman"/>
                <a:cs typeface="Times New Roman"/>
              </a:rPr>
              <a:t>Non-</a:t>
            </a:r>
            <a:r>
              <a:rPr sz="2800" b="1" spc="45" dirty="0">
                <a:latin typeface="Times New Roman"/>
                <a:cs typeface="Times New Roman"/>
              </a:rPr>
              <a:t>functional</a:t>
            </a:r>
            <a:r>
              <a:rPr sz="2800" b="1" spc="254" dirty="0">
                <a:latin typeface="Times New Roman"/>
                <a:cs typeface="Times New Roman"/>
              </a:rPr>
              <a:t> </a:t>
            </a:r>
            <a:r>
              <a:rPr sz="2800" b="1" spc="45" dirty="0">
                <a:latin typeface="Times New Roman"/>
                <a:cs typeface="Times New Roman"/>
              </a:rPr>
              <a:t>requirements</a:t>
            </a:r>
            <a:r>
              <a:rPr sz="2800" b="1" spc="2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more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spc="55" dirty="0">
                <a:latin typeface="Times New Roman"/>
                <a:cs typeface="Times New Roman"/>
              </a:rPr>
              <a:t>critical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than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spc="45" dirty="0">
                <a:latin typeface="Times New Roman"/>
                <a:cs typeface="Times New Roman"/>
              </a:rPr>
              <a:t>functional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3469" y="4606251"/>
            <a:ext cx="8705215" cy="34099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635"/>
              </a:lnSpc>
            </a:pPr>
            <a:r>
              <a:rPr sz="2800" dirty="0">
                <a:latin typeface="Times New Roman"/>
                <a:cs typeface="Times New Roman"/>
              </a:rPr>
              <a:t>requirements.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these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useless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85984" y="4502112"/>
            <a:ext cx="1143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8894" y="4906606"/>
            <a:ext cx="10007600" cy="15379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marR="5080" indent="-227329">
              <a:lnSpc>
                <a:spcPct val="799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55" dirty="0">
                <a:latin typeface="Times New Roman"/>
                <a:cs typeface="Times New Roman"/>
              </a:rPr>
              <a:t>For</a:t>
            </a:r>
            <a:r>
              <a:rPr sz="2800" b="1" spc="170" dirty="0">
                <a:latin typeface="Times New Roman"/>
                <a:cs typeface="Times New Roman"/>
              </a:rPr>
              <a:t> </a:t>
            </a:r>
            <a:r>
              <a:rPr sz="2800" b="1" spc="85" dirty="0">
                <a:latin typeface="Times New Roman"/>
                <a:cs typeface="Times New Roman"/>
              </a:rPr>
              <a:t>example</a:t>
            </a:r>
            <a:r>
              <a:rPr sz="2800" spc="85" dirty="0">
                <a:latin typeface="Times New Roman"/>
                <a:cs typeface="Times New Roman"/>
              </a:rPr>
              <a:t>,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spc="50" dirty="0">
                <a:latin typeface="Times New Roman"/>
                <a:cs typeface="Times New Roman"/>
              </a:rPr>
              <a:t>if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spc="90" dirty="0">
                <a:latin typeface="Times New Roman"/>
                <a:cs typeface="Times New Roman"/>
              </a:rPr>
              <a:t>aircraft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spc="85" dirty="0">
                <a:latin typeface="Times New Roman"/>
                <a:cs typeface="Times New Roman"/>
              </a:rPr>
              <a:t>system</a:t>
            </a:r>
            <a:r>
              <a:rPr sz="2800" spc="245" dirty="0">
                <a:latin typeface="Times New Roman"/>
                <a:cs typeface="Times New Roman"/>
              </a:rPr>
              <a:t> </a:t>
            </a:r>
            <a:r>
              <a:rPr sz="2800" spc="75" dirty="0">
                <a:latin typeface="Times New Roman"/>
                <a:cs typeface="Times New Roman"/>
              </a:rPr>
              <a:t>does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spc="60" dirty="0">
                <a:latin typeface="Times New Roman"/>
                <a:cs typeface="Times New Roman"/>
              </a:rPr>
              <a:t>not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spc="75" dirty="0">
                <a:latin typeface="Times New Roman"/>
                <a:cs typeface="Times New Roman"/>
              </a:rPr>
              <a:t>meet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its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spc="85" dirty="0">
                <a:latin typeface="Times New Roman"/>
                <a:cs typeface="Times New Roman"/>
              </a:rPr>
              <a:t>reliability 	</a:t>
            </a:r>
            <a:r>
              <a:rPr sz="2800" dirty="0">
                <a:latin typeface="Times New Roman"/>
                <a:cs typeface="Times New Roman"/>
              </a:rPr>
              <a:t>requirements,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certified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safe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operation</a:t>
            </a:r>
            <a:endParaRPr sz="2800">
              <a:latin typeface="Times New Roman"/>
              <a:cs typeface="Times New Roman"/>
            </a:endParaRPr>
          </a:p>
          <a:p>
            <a:pPr marL="240029" marR="5080" indent="-227329">
              <a:lnSpc>
                <a:spcPct val="7990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75" dirty="0">
                <a:latin typeface="Times New Roman"/>
                <a:cs typeface="Times New Roman"/>
              </a:rPr>
              <a:t>if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spc="75" dirty="0">
                <a:latin typeface="Times New Roman"/>
                <a:cs typeface="Times New Roman"/>
              </a:rPr>
              <a:t>an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spc="135" dirty="0">
                <a:latin typeface="Times New Roman"/>
                <a:cs typeface="Times New Roman"/>
              </a:rPr>
              <a:t>embedded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spc="130" dirty="0">
                <a:latin typeface="Times New Roman"/>
                <a:cs typeface="Times New Roman"/>
              </a:rPr>
              <a:t>control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spc="130" dirty="0">
                <a:latin typeface="Times New Roman"/>
                <a:cs typeface="Times New Roman"/>
              </a:rPr>
              <a:t>system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spc="125" dirty="0">
                <a:latin typeface="Times New Roman"/>
                <a:cs typeface="Times New Roman"/>
              </a:rPr>
              <a:t>fails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spc="75" dirty="0">
                <a:latin typeface="Times New Roman"/>
                <a:cs typeface="Times New Roman"/>
              </a:rPr>
              <a:t>to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spc="120" dirty="0">
                <a:latin typeface="Times New Roman"/>
                <a:cs typeface="Times New Roman"/>
              </a:rPr>
              <a:t>meet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spc="110" dirty="0">
                <a:latin typeface="Times New Roman"/>
                <a:cs typeface="Times New Roman"/>
              </a:rPr>
              <a:t>its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spc="135" dirty="0">
                <a:latin typeface="Times New Roman"/>
                <a:cs typeface="Times New Roman"/>
              </a:rPr>
              <a:t>performance 	</a:t>
            </a:r>
            <a:r>
              <a:rPr sz="2800" dirty="0">
                <a:latin typeface="Times New Roman"/>
                <a:cs typeface="Times New Roman"/>
              </a:rPr>
              <a:t>requirements,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functions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operate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correctly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2862" y="350583"/>
            <a:ext cx="10447655" cy="561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1820" algn="just">
              <a:lnSpc>
                <a:spcPct val="100000"/>
              </a:lnSpc>
              <a:spcBef>
                <a:spcPts val="100"/>
              </a:spcBef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</a:t>
            </a:r>
            <a:r>
              <a:rPr sz="2450" spc="1889" dirty="0">
                <a:latin typeface="Microsoft Sans Serif"/>
                <a:cs typeface="Microsoft Sans Serif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Non-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600" b="1" u="heavy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implementation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60325" indent="-228600" algn="just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Non-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functional</a:t>
            </a:r>
            <a:r>
              <a:rPr sz="30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may</a:t>
            </a:r>
            <a:r>
              <a:rPr sz="30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affect</a:t>
            </a:r>
            <a:r>
              <a:rPr sz="30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overall</a:t>
            </a:r>
            <a:r>
              <a:rPr sz="30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architecture</a:t>
            </a:r>
            <a:r>
              <a:rPr sz="30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rather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than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individual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components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ts val="324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spc="-15" dirty="0">
                <a:latin typeface="Times New Roman"/>
                <a:cs typeface="Times New Roman"/>
              </a:rPr>
              <a:t>For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example</a:t>
            </a:r>
            <a:r>
              <a:rPr sz="3000" spc="-10" dirty="0">
                <a:latin typeface="Times New Roman"/>
                <a:cs typeface="Times New Roman"/>
              </a:rPr>
              <a:t>,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ensure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that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15" dirty="0">
                <a:latin typeface="Times New Roman"/>
                <a:cs typeface="Times New Roman"/>
              </a:rPr>
              <a:t>performance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15" dirty="0">
                <a:latin typeface="Times New Roman"/>
                <a:cs typeface="Times New Roman"/>
              </a:rPr>
              <a:t>are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15" dirty="0">
                <a:latin typeface="Times New Roman"/>
                <a:cs typeface="Times New Roman"/>
              </a:rPr>
              <a:t>met,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370" dirty="0">
                <a:latin typeface="Times New Roman"/>
                <a:cs typeface="Times New Roman"/>
              </a:rPr>
              <a:t>yo</a:t>
            </a:r>
            <a:r>
              <a:rPr sz="3000" dirty="0">
                <a:latin typeface="Times New Roman"/>
                <a:cs typeface="Times New Roman"/>
              </a:rPr>
              <a:t>u</a:t>
            </a:r>
            <a:r>
              <a:rPr sz="3000" spc="740" dirty="0">
                <a:latin typeface="Times New Roman"/>
                <a:cs typeface="Times New Roman"/>
              </a:rPr>
              <a:t> </a:t>
            </a:r>
            <a:r>
              <a:rPr sz="3000" spc="229" dirty="0">
                <a:latin typeface="Times New Roman"/>
                <a:cs typeface="Times New Roman"/>
              </a:rPr>
              <a:t>may</a:t>
            </a:r>
            <a:r>
              <a:rPr sz="3000" spc="740" dirty="0">
                <a:latin typeface="Times New Roman"/>
                <a:cs typeface="Times New Roman"/>
              </a:rPr>
              <a:t> </a:t>
            </a:r>
            <a:r>
              <a:rPr sz="3000" spc="265" dirty="0">
                <a:latin typeface="Times New Roman"/>
                <a:cs typeface="Times New Roman"/>
              </a:rPr>
              <a:t>have</a:t>
            </a:r>
            <a:r>
              <a:rPr sz="3000" spc="7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</a:t>
            </a:r>
            <a:r>
              <a:rPr sz="3000" spc="-3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</a:t>
            </a:r>
            <a:r>
              <a:rPr sz="3000" spc="740" dirty="0">
                <a:latin typeface="Times New Roman"/>
                <a:cs typeface="Times New Roman"/>
              </a:rPr>
              <a:t> </a:t>
            </a:r>
            <a:r>
              <a:rPr sz="3000" spc="305" dirty="0">
                <a:latin typeface="Times New Roman"/>
                <a:cs typeface="Times New Roman"/>
              </a:rPr>
              <a:t>organize</a:t>
            </a:r>
            <a:r>
              <a:rPr sz="3000" spc="7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</a:t>
            </a:r>
            <a:r>
              <a:rPr sz="3000" spc="-380" dirty="0">
                <a:latin typeface="Times New Roman"/>
                <a:cs typeface="Times New Roman"/>
              </a:rPr>
              <a:t> </a:t>
            </a:r>
            <a:r>
              <a:rPr sz="3000" spc="175" dirty="0">
                <a:latin typeface="Times New Roman"/>
                <a:cs typeface="Times New Roman"/>
              </a:rPr>
              <a:t>he</a:t>
            </a:r>
            <a:r>
              <a:rPr sz="3000" spc="735" dirty="0">
                <a:latin typeface="Times New Roman"/>
                <a:cs typeface="Times New Roman"/>
              </a:rPr>
              <a:t> </a:t>
            </a:r>
            <a:r>
              <a:rPr sz="3000" spc="295" dirty="0">
                <a:latin typeface="Times New Roman"/>
                <a:cs typeface="Times New Roman"/>
              </a:rPr>
              <a:t>system</a:t>
            </a:r>
            <a:r>
              <a:rPr sz="3000" spc="7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</a:t>
            </a:r>
            <a:r>
              <a:rPr sz="3000" spc="-3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  </a:t>
            </a:r>
            <a:r>
              <a:rPr sz="3000" spc="-25" dirty="0">
                <a:latin typeface="Times New Roman"/>
                <a:cs typeface="Times New Roman"/>
              </a:rPr>
              <a:t>m</a:t>
            </a:r>
            <a:r>
              <a:rPr sz="3000" spc="-3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</a:t>
            </a:r>
            <a:r>
              <a:rPr sz="3000" spc="-3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</a:t>
            </a:r>
            <a:r>
              <a:rPr sz="3000" spc="-3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</a:t>
            </a:r>
            <a:r>
              <a:rPr sz="3000" spc="-37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m</a:t>
            </a:r>
            <a:r>
              <a:rPr sz="3000" spc="-3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</a:t>
            </a:r>
            <a:r>
              <a:rPr sz="3000" spc="-375" dirty="0">
                <a:latin typeface="Times New Roman"/>
                <a:cs typeface="Times New Roman"/>
              </a:rPr>
              <a:t> </a:t>
            </a:r>
            <a:r>
              <a:rPr sz="3000" spc="170" dirty="0">
                <a:latin typeface="Times New Roman"/>
                <a:cs typeface="Times New Roman"/>
              </a:rPr>
              <a:t>ze</a:t>
            </a:r>
            <a:r>
              <a:rPr sz="3000" spc="-10" dirty="0">
                <a:latin typeface="Times New Roman"/>
                <a:cs typeface="Times New Roman"/>
              </a:rPr>
              <a:t> communications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between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components.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210" dirty="0">
                <a:solidFill>
                  <a:srgbClr val="FF0000"/>
                </a:solidFill>
                <a:latin typeface="Times New Roman"/>
                <a:cs typeface="Times New Roman"/>
              </a:rPr>
              <a:t>single</a:t>
            </a:r>
            <a:r>
              <a:rPr sz="3000" spc="5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FF0000"/>
                </a:solidFill>
                <a:latin typeface="Times New Roman"/>
                <a:cs typeface="Times New Roman"/>
              </a:rPr>
              <a:t>non-</a:t>
            </a:r>
            <a:r>
              <a:rPr sz="3000" spc="-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225" dirty="0">
                <a:solidFill>
                  <a:srgbClr val="FF0000"/>
                </a:solidFill>
                <a:latin typeface="Times New Roman"/>
                <a:cs typeface="Times New Roman"/>
              </a:rPr>
              <a:t>functional</a:t>
            </a:r>
            <a:r>
              <a:rPr sz="3000" spc="5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225" dirty="0">
                <a:solidFill>
                  <a:srgbClr val="FF0000"/>
                </a:solidFill>
                <a:latin typeface="Times New Roman"/>
                <a:cs typeface="Times New Roman"/>
              </a:rPr>
              <a:t>requirement,</a:t>
            </a:r>
            <a:r>
              <a:rPr sz="3000" spc="5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90" dirty="0">
                <a:solidFill>
                  <a:srgbClr val="FF0000"/>
                </a:solidFill>
                <a:latin typeface="Times New Roman"/>
                <a:cs typeface="Times New Roman"/>
              </a:rPr>
              <a:t>such</a:t>
            </a:r>
            <a:r>
              <a:rPr sz="3000" spc="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20" dirty="0">
                <a:solidFill>
                  <a:srgbClr val="FF0000"/>
                </a:solidFill>
                <a:latin typeface="Times New Roman"/>
                <a:cs typeface="Times New Roman"/>
              </a:rPr>
              <a:t>as</a:t>
            </a:r>
            <a:r>
              <a:rPr sz="3000" spc="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spc="5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210" dirty="0">
                <a:solidFill>
                  <a:srgbClr val="FF0000"/>
                </a:solidFill>
                <a:latin typeface="Times New Roman"/>
                <a:cs typeface="Times New Roman"/>
              </a:rPr>
              <a:t>security </a:t>
            </a:r>
            <a:r>
              <a:rPr sz="3000" spc="170" dirty="0">
                <a:solidFill>
                  <a:srgbClr val="FF0000"/>
                </a:solidFill>
                <a:latin typeface="Times New Roman"/>
                <a:cs typeface="Times New Roman"/>
              </a:rPr>
              <a:t>requirement,</a:t>
            </a:r>
            <a:r>
              <a:rPr sz="3000" spc="4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14" dirty="0">
                <a:solidFill>
                  <a:srgbClr val="FF0000"/>
                </a:solidFill>
                <a:latin typeface="Times New Roman"/>
                <a:cs typeface="Times New Roman"/>
              </a:rPr>
              <a:t>may</a:t>
            </a:r>
            <a:r>
              <a:rPr sz="3000" spc="4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60" dirty="0">
                <a:solidFill>
                  <a:srgbClr val="FF0000"/>
                </a:solidFill>
                <a:latin typeface="Times New Roman"/>
                <a:cs typeface="Times New Roman"/>
              </a:rPr>
              <a:t>generate</a:t>
            </a:r>
            <a:r>
              <a:rPr sz="3000" spc="40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spc="40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60" dirty="0">
                <a:solidFill>
                  <a:srgbClr val="FF0000"/>
                </a:solidFill>
                <a:latin typeface="Times New Roman"/>
                <a:cs typeface="Times New Roman"/>
              </a:rPr>
              <a:t>number</a:t>
            </a:r>
            <a:r>
              <a:rPr sz="3000" spc="4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spc="4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60" dirty="0">
                <a:solidFill>
                  <a:srgbClr val="FF0000"/>
                </a:solidFill>
                <a:latin typeface="Times New Roman"/>
                <a:cs typeface="Times New Roman"/>
              </a:rPr>
              <a:t>related</a:t>
            </a:r>
            <a:r>
              <a:rPr sz="3000" spc="4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65" dirty="0">
                <a:solidFill>
                  <a:srgbClr val="FF0000"/>
                </a:solidFill>
                <a:latin typeface="Times New Roman"/>
                <a:cs typeface="Times New Roman"/>
              </a:rPr>
              <a:t>functional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define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services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required.</a:t>
            </a:r>
            <a:endParaRPr sz="300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ts val="324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spc="90" dirty="0">
                <a:latin typeface="Times New Roman"/>
                <a:cs typeface="Times New Roman"/>
              </a:rPr>
              <a:t>It</a:t>
            </a:r>
            <a:r>
              <a:rPr sz="3000" spc="425" dirty="0">
                <a:latin typeface="Times New Roman"/>
                <a:cs typeface="Times New Roman"/>
              </a:rPr>
              <a:t> </a:t>
            </a:r>
            <a:r>
              <a:rPr sz="3000" spc="120" dirty="0">
                <a:latin typeface="Times New Roman"/>
                <a:cs typeface="Times New Roman"/>
              </a:rPr>
              <a:t>may</a:t>
            </a:r>
            <a:r>
              <a:rPr sz="3000" spc="425" dirty="0">
                <a:latin typeface="Times New Roman"/>
                <a:cs typeface="Times New Roman"/>
              </a:rPr>
              <a:t> </a:t>
            </a:r>
            <a:r>
              <a:rPr sz="3000" spc="145" dirty="0">
                <a:latin typeface="Times New Roman"/>
                <a:cs typeface="Times New Roman"/>
              </a:rPr>
              <a:t>also</a:t>
            </a:r>
            <a:r>
              <a:rPr sz="3000" spc="425" dirty="0">
                <a:latin typeface="Times New Roman"/>
                <a:cs typeface="Times New Roman"/>
              </a:rPr>
              <a:t> </a:t>
            </a:r>
            <a:r>
              <a:rPr sz="3000" spc="165" dirty="0">
                <a:latin typeface="Times New Roman"/>
                <a:cs typeface="Times New Roman"/>
              </a:rPr>
              <a:t>generate</a:t>
            </a:r>
            <a:r>
              <a:rPr sz="3000" spc="420" dirty="0">
                <a:latin typeface="Times New Roman"/>
                <a:cs typeface="Times New Roman"/>
              </a:rPr>
              <a:t> </a:t>
            </a:r>
            <a:r>
              <a:rPr sz="3000" spc="180" dirty="0">
                <a:latin typeface="Times New Roman"/>
                <a:cs typeface="Times New Roman"/>
              </a:rPr>
              <a:t>requirements</a:t>
            </a:r>
            <a:r>
              <a:rPr sz="3000" spc="430" dirty="0">
                <a:latin typeface="Times New Roman"/>
                <a:cs typeface="Times New Roman"/>
              </a:rPr>
              <a:t> </a:t>
            </a:r>
            <a:r>
              <a:rPr sz="3000" spc="145" dirty="0">
                <a:latin typeface="Times New Roman"/>
                <a:cs typeface="Times New Roman"/>
              </a:rPr>
              <a:t>that</a:t>
            </a:r>
            <a:r>
              <a:rPr sz="3000" spc="434" dirty="0">
                <a:latin typeface="Times New Roman"/>
                <a:cs typeface="Times New Roman"/>
              </a:rPr>
              <a:t> </a:t>
            </a:r>
            <a:r>
              <a:rPr sz="3000" spc="170" dirty="0">
                <a:latin typeface="Times New Roman"/>
                <a:cs typeface="Times New Roman"/>
              </a:rPr>
              <a:t>restrict</a:t>
            </a:r>
            <a:r>
              <a:rPr sz="3000" spc="434" dirty="0">
                <a:latin typeface="Times New Roman"/>
                <a:cs typeface="Times New Roman"/>
              </a:rPr>
              <a:t> </a:t>
            </a:r>
            <a:r>
              <a:rPr sz="3000" spc="165" dirty="0">
                <a:latin typeface="Times New Roman"/>
                <a:cs typeface="Times New Roman"/>
              </a:rPr>
              <a:t>existing </a:t>
            </a:r>
            <a:r>
              <a:rPr sz="3000" spc="-10" dirty="0">
                <a:latin typeface="Times New Roman"/>
                <a:cs typeface="Times New Roman"/>
              </a:rPr>
              <a:t>requirements.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8243" y="350583"/>
            <a:ext cx="6325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Non-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7527" y="1603247"/>
            <a:ext cx="9428988" cy="49560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8243" y="350583"/>
            <a:ext cx="6325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Non-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99412" y="2109063"/>
            <a:ext cx="8482965" cy="3667125"/>
          </a:xfrm>
          <a:custGeom>
            <a:avLst/>
            <a:gdLst/>
            <a:ahLst/>
            <a:cxnLst/>
            <a:rect l="l" t="t" r="r" b="b"/>
            <a:pathLst>
              <a:path w="8482965" h="3667125">
                <a:moveTo>
                  <a:pt x="8482965" y="0"/>
                </a:moveTo>
                <a:lnTo>
                  <a:pt x="0" y="0"/>
                </a:lnTo>
                <a:lnTo>
                  <a:pt x="0" y="304800"/>
                </a:lnTo>
                <a:lnTo>
                  <a:pt x="0" y="314325"/>
                </a:lnTo>
                <a:lnTo>
                  <a:pt x="0" y="3667125"/>
                </a:lnTo>
                <a:lnTo>
                  <a:pt x="1518920" y="3667125"/>
                </a:lnTo>
                <a:lnTo>
                  <a:pt x="1518920" y="3352800"/>
                </a:lnTo>
                <a:lnTo>
                  <a:pt x="1477645" y="3352800"/>
                </a:lnTo>
                <a:lnTo>
                  <a:pt x="1477645" y="3048000"/>
                </a:lnTo>
                <a:lnTo>
                  <a:pt x="1138555" y="3048000"/>
                </a:lnTo>
                <a:lnTo>
                  <a:pt x="1138555" y="2743200"/>
                </a:lnTo>
                <a:lnTo>
                  <a:pt x="855980" y="2743200"/>
                </a:lnTo>
                <a:lnTo>
                  <a:pt x="855980" y="2447925"/>
                </a:lnTo>
                <a:lnTo>
                  <a:pt x="1420495" y="2447925"/>
                </a:lnTo>
                <a:lnTo>
                  <a:pt x="1420495" y="2143125"/>
                </a:lnTo>
                <a:lnTo>
                  <a:pt x="1576070" y="2143125"/>
                </a:lnTo>
                <a:lnTo>
                  <a:pt x="1576070" y="1828800"/>
                </a:lnTo>
                <a:lnTo>
                  <a:pt x="1505572" y="1828800"/>
                </a:lnTo>
                <a:lnTo>
                  <a:pt x="1505572" y="1524000"/>
                </a:lnTo>
                <a:lnTo>
                  <a:pt x="1082040" y="1524000"/>
                </a:lnTo>
                <a:lnTo>
                  <a:pt x="1082040" y="1228725"/>
                </a:lnTo>
                <a:lnTo>
                  <a:pt x="1203947" y="1228725"/>
                </a:lnTo>
                <a:lnTo>
                  <a:pt x="1203947" y="914400"/>
                </a:lnTo>
                <a:lnTo>
                  <a:pt x="913130" y="914400"/>
                </a:lnTo>
                <a:lnTo>
                  <a:pt x="913130" y="619125"/>
                </a:lnTo>
                <a:lnTo>
                  <a:pt x="1095997" y="619125"/>
                </a:lnTo>
                <a:lnTo>
                  <a:pt x="1095997" y="314325"/>
                </a:lnTo>
                <a:lnTo>
                  <a:pt x="8482965" y="314325"/>
                </a:lnTo>
                <a:lnTo>
                  <a:pt x="848296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07337" y="1480413"/>
            <a:ext cx="9862820" cy="429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FURPS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Functionality,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Usability,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Reliability,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Performance,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Supportability)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Typical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non-</a:t>
            </a:r>
            <a:r>
              <a:rPr sz="2000" dirty="0">
                <a:latin typeface="Times New Roman"/>
                <a:cs typeface="Times New Roman"/>
              </a:rPr>
              <a:t>functional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requirements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include: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Times New Roman"/>
                <a:cs typeface="Times New Roman"/>
              </a:rPr>
              <a:t>Performance–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example: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response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throughput,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utilization,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static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volumetric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spc="-10" dirty="0">
                <a:latin typeface="Times New Roman"/>
                <a:cs typeface="Times New Roman"/>
              </a:rPr>
              <a:t>Scalability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spc="-10" dirty="0">
                <a:latin typeface="Times New Roman"/>
                <a:cs typeface="Times New Roman"/>
              </a:rPr>
              <a:t>Capacity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spc="-10" dirty="0">
                <a:latin typeface="Times New Roman"/>
                <a:cs typeface="Times New Roman"/>
              </a:rPr>
              <a:t>Availability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spc="-10" dirty="0">
                <a:latin typeface="Times New Roman"/>
                <a:cs typeface="Times New Roman"/>
              </a:rPr>
              <a:t>Reliability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spc="-10" dirty="0">
                <a:latin typeface="Times New Roman"/>
                <a:cs typeface="Times New Roman"/>
              </a:rPr>
              <a:t>Recoverability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spc="-10" dirty="0">
                <a:latin typeface="Times New Roman"/>
                <a:cs typeface="Times New Roman"/>
              </a:rPr>
              <a:t>Maintainability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spc="-10" dirty="0">
                <a:latin typeface="Times New Roman"/>
                <a:cs typeface="Times New Roman"/>
              </a:rPr>
              <a:t>Serviceability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spc="-10" dirty="0">
                <a:latin typeface="Times New Roman"/>
                <a:cs typeface="Times New Roman"/>
              </a:rPr>
              <a:t>Security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spc="-10" dirty="0">
                <a:latin typeface="Times New Roman"/>
                <a:cs typeface="Times New Roman"/>
              </a:rPr>
              <a:t>Regulatory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spc="-10" dirty="0">
                <a:latin typeface="Times New Roman"/>
                <a:cs typeface="Times New Roman"/>
              </a:rPr>
              <a:t>Manageability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spc="-10" dirty="0">
                <a:latin typeface="Times New Roman"/>
                <a:cs typeface="Times New Roman"/>
              </a:rPr>
              <a:t>Environmental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99412" y="5766663"/>
            <a:ext cx="1427480" cy="314325"/>
          </a:xfrm>
          <a:custGeom>
            <a:avLst/>
            <a:gdLst/>
            <a:ahLst/>
            <a:cxnLst/>
            <a:rect l="l" t="t" r="r" b="b"/>
            <a:pathLst>
              <a:path w="1427480" h="314325">
                <a:moveTo>
                  <a:pt x="1427480" y="314325"/>
                </a:moveTo>
                <a:lnTo>
                  <a:pt x="0" y="314325"/>
                </a:lnTo>
                <a:lnTo>
                  <a:pt x="0" y="0"/>
                </a:lnTo>
                <a:lnTo>
                  <a:pt x="1427480" y="0"/>
                </a:lnTo>
                <a:lnTo>
                  <a:pt x="1427480" y="31432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07337" y="5747613"/>
            <a:ext cx="15328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965" indent="-97155">
              <a:lnSpc>
                <a:spcPct val="100000"/>
              </a:lnSpc>
              <a:spcBef>
                <a:spcPts val="105"/>
              </a:spcBef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Integrity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99412" y="6071463"/>
            <a:ext cx="941069" cy="314325"/>
          </a:xfrm>
          <a:custGeom>
            <a:avLst/>
            <a:gdLst/>
            <a:ahLst/>
            <a:cxnLst/>
            <a:rect l="l" t="t" r="r" b="b"/>
            <a:pathLst>
              <a:path w="941069" h="314325">
                <a:moveTo>
                  <a:pt x="941069" y="314325"/>
                </a:moveTo>
                <a:lnTo>
                  <a:pt x="0" y="314325"/>
                </a:lnTo>
                <a:lnTo>
                  <a:pt x="0" y="0"/>
                </a:lnTo>
                <a:lnTo>
                  <a:pt x="941069" y="0"/>
                </a:lnTo>
                <a:lnTo>
                  <a:pt x="941069" y="31432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07337" y="6052413"/>
            <a:ext cx="10464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965" indent="-97155">
              <a:lnSpc>
                <a:spcPct val="100000"/>
              </a:lnSpc>
              <a:spcBef>
                <a:spcPts val="105"/>
              </a:spcBef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spc="-10" dirty="0">
                <a:latin typeface="Times New Roman"/>
                <a:cs typeface="Times New Roman"/>
              </a:rPr>
              <a:t>Usability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99412" y="6376263"/>
            <a:ext cx="1589405" cy="314325"/>
          </a:xfrm>
          <a:custGeom>
            <a:avLst/>
            <a:gdLst/>
            <a:ahLst/>
            <a:cxnLst/>
            <a:rect l="l" t="t" r="r" b="b"/>
            <a:pathLst>
              <a:path w="1589405" h="314325">
                <a:moveTo>
                  <a:pt x="1589405" y="314325"/>
                </a:moveTo>
                <a:lnTo>
                  <a:pt x="0" y="314325"/>
                </a:lnTo>
                <a:lnTo>
                  <a:pt x="0" y="0"/>
                </a:lnTo>
                <a:lnTo>
                  <a:pt x="1589405" y="0"/>
                </a:lnTo>
                <a:lnTo>
                  <a:pt x="1589405" y="31432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07337" y="6357213"/>
            <a:ext cx="169481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965" indent="-97155">
              <a:lnSpc>
                <a:spcPct val="100000"/>
              </a:lnSpc>
              <a:spcBef>
                <a:spcPts val="105"/>
              </a:spcBef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spc="-10" dirty="0">
                <a:latin typeface="Times New Roman"/>
                <a:cs typeface="Times New Roman"/>
              </a:rPr>
              <a:t>Interoperability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36759" y="5940805"/>
            <a:ext cx="7707630" cy="69342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571500">
              <a:lnSpc>
                <a:spcPct val="100000"/>
              </a:lnSpc>
              <a:spcBef>
                <a:spcPts val="1095"/>
              </a:spcBef>
            </a:pPr>
            <a:r>
              <a:rPr sz="1800" b="1" dirty="0">
                <a:latin typeface="Calibri"/>
                <a:cs typeface="Calibri"/>
              </a:rPr>
              <a:t>Visit:</a:t>
            </a:r>
            <a:r>
              <a:rPr sz="1800" b="1" spc="39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https://requirementsquest.com/nonfunctional-requirement-</a:t>
            </a:r>
            <a:r>
              <a:rPr sz="1800" spc="-10" dirty="0">
                <a:latin typeface="Calibri"/>
                <a:cs typeface="Calibri"/>
              </a:rPr>
              <a:t>examples/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  <a:tabLst>
                <a:tab pos="3643629" algn="l"/>
              </a:tabLst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	</a:t>
            </a: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1787" y="350583"/>
            <a:ext cx="8018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Types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Non-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4816" y="1569719"/>
            <a:ext cx="10160508" cy="47868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6708" y="350583"/>
            <a:ext cx="10360660" cy="5188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2644">
              <a:lnSpc>
                <a:spcPct val="100000"/>
              </a:lnSpc>
              <a:spcBef>
                <a:spcPts val="100"/>
              </a:spcBef>
              <a:tabLst>
                <a:tab pos="134747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Non-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Classifications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360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Times New Roman"/>
                <a:cs typeface="Times New Roman"/>
              </a:rPr>
              <a:t>Product</a:t>
            </a:r>
            <a:r>
              <a:rPr sz="2800" b="1" spc="-13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requirements</a:t>
            </a:r>
            <a:endParaRPr sz="2800">
              <a:latin typeface="Times New Roman"/>
              <a:cs typeface="Times New Roman"/>
            </a:endParaRPr>
          </a:p>
          <a:p>
            <a:pPr marL="697230" marR="5080" lvl="1" indent="-227329" algn="just">
              <a:lnSpc>
                <a:spcPts val="259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80" dirty="0">
                <a:latin typeface="Times New Roman"/>
                <a:cs typeface="Times New Roman"/>
              </a:rPr>
              <a:t>Requirements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which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Times New Roman"/>
                <a:cs typeface="Times New Roman"/>
              </a:rPr>
              <a:t>specify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Times New Roman"/>
                <a:cs typeface="Times New Roman"/>
              </a:rPr>
              <a:t>that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the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delivered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product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must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behave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in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	</a:t>
            </a:r>
            <a:r>
              <a:rPr sz="2400" dirty="0">
                <a:latin typeface="Times New Roman"/>
                <a:cs typeface="Times New Roman"/>
              </a:rPr>
              <a:t>particular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e.g.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speed,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reliability,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Times New Roman"/>
                <a:cs typeface="Times New Roman"/>
              </a:rPr>
              <a:t>Organizational</a:t>
            </a:r>
            <a:r>
              <a:rPr sz="2800" b="1" spc="-13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requirements</a:t>
            </a:r>
            <a:endParaRPr sz="2800">
              <a:latin typeface="Times New Roman"/>
              <a:cs typeface="Times New Roman"/>
            </a:endParaRPr>
          </a:p>
          <a:p>
            <a:pPr marL="697230" marR="5080" lvl="1" indent="-227329" algn="just">
              <a:lnSpc>
                <a:spcPts val="259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114" dirty="0">
                <a:latin typeface="Times New Roman"/>
                <a:cs typeface="Times New Roman"/>
              </a:rPr>
              <a:t>Requirements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100" dirty="0">
                <a:latin typeface="Times New Roman"/>
                <a:cs typeface="Times New Roman"/>
              </a:rPr>
              <a:t>which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spc="85" dirty="0">
                <a:latin typeface="Times New Roman"/>
                <a:cs typeface="Times New Roman"/>
              </a:rPr>
              <a:t>are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Times New Roman"/>
                <a:cs typeface="Times New Roman"/>
              </a:rPr>
              <a:t>consequence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Times New Roman"/>
                <a:cs typeface="Times New Roman"/>
              </a:rPr>
              <a:t>of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Times New Roman"/>
                <a:cs typeface="Times New Roman"/>
              </a:rPr>
              <a:t>organizational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spc="114" dirty="0">
                <a:latin typeface="Times New Roman"/>
                <a:cs typeface="Times New Roman"/>
              </a:rPr>
              <a:t>policies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Times New Roman"/>
                <a:cs typeface="Times New Roman"/>
              </a:rPr>
              <a:t>and 	</a:t>
            </a:r>
            <a:r>
              <a:rPr sz="2400" dirty="0">
                <a:latin typeface="Times New Roman"/>
                <a:cs typeface="Times New Roman"/>
              </a:rPr>
              <a:t>procedures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e.g.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implementation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requirements,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Times New Roman"/>
                <a:cs typeface="Times New Roman"/>
              </a:rPr>
              <a:t>External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requirements</a:t>
            </a:r>
            <a:endParaRPr sz="2800">
              <a:latin typeface="Times New Roman"/>
              <a:cs typeface="Times New Roman"/>
            </a:endParaRPr>
          </a:p>
          <a:p>
            <a:pPr marL="697230" marR="5080" lvl="1" indent="-227329" algn="just">
              <a:lnSpc>
                <a:spcPts val="259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Requirements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arise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factors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external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its 	</a:t>
            </a:r>
            <a:r>
              <a:rPr sz="2400" spc="160" dirty="0">
                <a:latin typeface="Times New Roman"/>
                <a:cs typeface="Times New Roman"/>
              </a:rPr>
              <a:t>development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spc="150" dirty="0">
                <a:latin typeface="Times New Roman"/>
                <a:cs typeface="Times New Roman"/>
              </a:rPr>
              <a:t>process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spc="135" dirty="0">
                <a:latin typeface="Times New Roman"/>
                <a:cs typeface="Times New Roman"/>
              </a:rPr>
              <a:t>e.g.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spc="165" dirty="0">
                <a:latin typeface="Times New Roman"/>
                <a:cs typeface="Times New Roman"/>
              </a:rPr>
              <a:t>interoperability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spc="165" dirty="0">
                <a:latin typeface="Times New Roman"/>
                <a:cs typeface="Times New Roman"/>
              </a:rPr>
              <a:t>requirements,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spc="150" dirty="0">
                <a:latin typeface="Times New Roman"/>
                <a:cs typeface="Times New Roman"/>
              </a:rPr>
              <a:t>legislative 	</a:t>
            </a:r>
            <a:r>
              <a:rPr sz="2400" dirty="0">
                <a:latin typeface="Times New Roman"/>
                <a:cs typeface="Times New Roman"/>
              </a:rPr>
              <a:t>requirements,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1878" y="1673796"/>
            <a:ext cx="9902190" cy="4767580"/>
            <a:chOff x="1571878" y="1673796"/>
            <a:chExt cx="9902190" cy="4767580"/>
          </a:xfrm>
        </p:grpSpPr>
        <p:sp>
          <p:nvSpPr>
            <p:cNvPr id="3" name="object 3"/>
            <p:cNvSpPr/>
            <p:nvPr/>
          </p:nvSpPr>
          <p:spPr>
            <a:xfrm>
              <a:off x="1578863" y="1679447"/>
              <a:ext cx="9889490" cy="4754880"/>
            </a:xfrm>
            <a:custGeom>
              <a:avLst/>
              <a:gdLst/>
              <a:ahLst/>
              <a:cxnLst/>
              <a:rect l="l" t="t" r="r" b="b"/>
              <a:pathLst>
                <a:path w="9889490" h="4754880">
                  <a:moveTo>
                    <a:pt x="9889236" y="4754880"/>
                  </a:moveTo>
                  <a:lnTo>
                    <a:pt x="0" y="4754880"/>
                  </a:lnTo>
                  <a:lnTo>
                    <a:pt x="0" y="0"/>
                  </a:lnTo>
                  <a:lnTo>
                    <a:pt x="9889236" y="0"/>
                  </a:lnTo>
                  <a:lnTo>
                    <a:pt x="9889236" y="4754880"/>
                  </a:lnTo>
                  <a:close/>
                </a:path>
              </a:pathLst>
            </a:custGeom>
            <a:solidFill>
              <a:srgbClr val="E9E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71879" y="1673796"/>
              <a:ext cx="9902190" cy="4767580"/>
            </a:xfrm>
            <a:custGeom>
              <a:avLst/>
              <a:gdLst/>
              <a:ahLst/>
              <a:cxnLst/>
              <a:rect l="l" t="t" r="r" b="b"/>
              <a:pathLst>
                <a:path w="9902190" h="4767580">
                  <a:moveTo>
                    <a:pt x="9902190" y="6350"/>
                  </a:moveTo>
                  <a:lnTo>
                    <a:pt x="9895840" y="6350"/>
                  </a:lnTo>
                  <a:lnTo>
                    <a:pt x="9895840" y="0"/>
                  </a:lnTo>
                  <a:lnTo>
                    <a:pt x="9889490" y="0"/>
                  </a:lnTo>
                  <a:lnTo>
                    <a:pt x="9889490" y="12700"/>
                  </a:lnTo>
                  <a:lnTo>
                    <a:pt x="9889490" y="4754880"/>
                  </a:lnTo>
                  <a:lnTo>
                    <a:pt x="12700" y="4754880"/>
                  </a:lnTo>
                  <a:lnTo>
                    <a:pt x="12700" y="12700"/>
                  </a:lnTo>
                  <a:lnTo>
                    <a:pt x="9889490" y="12700"/>
                  </a:lnTo>
                  <a:lnTo>
                    <a:pt x="9889490" y="0"/>
                  </a:lnTo>
                  <a:lnTo>
                    <a:pt x="6350" y="0"/>
                  </a:lnTo>
                  <a:lnTo>
                    <a:pt x="6350" y="6350"/>
                  </a:lnTo>
                  <a:lnTo>
                    <a:pt x="0" y="6350"/>
                  </a:lnTo>
                  <a:lnTo>
                    <a:pt x="0" y="4761230"/>
                  </a:lnTo>
                  <a:lnTo>
                    <a:pt x="6350" y="4761230"/>
                  </a:lnTo>
                  <a:lnTo>
                    <a:pt x="6350" y="4767580"/>
                  </a:lnTo>
                  <a:lnTo>
                    <a:pt x="9895840" y="4767580"/>
                  </a:lnTo>
                  <a:lnTo>
                    <a:pt x="9895840" y="4761230"/>
                  </a:lnTo>
                  <a:lnTo>
                    <a:pt x="9902190" y="4761230"/>
                  </a:lnTo>
                  <a:lnTo>
                    <a:pt x="9902190" y="63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656969" y="167055"/>
            <a:ext cx="9622790" cy="5942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50545">
              <a:lnSpc>
                <a:spcPts val="3645"/>
              </a:lnSpc>
              <a:spcBef>
                <a:spcPts val="105"/>
              </a:spcBef>
              <a:tabLst>
                <a:tab pos="1055370" algn="l"/>
              </a:tabLst>
            </a:pPr>
            <a:r>
              <a:rPr sz="2200" spc="1664" dirty="0">
                <a:latin typeface="Microsoft Sans Serif"/>
                <a:cs typeface="Microsoft Sans Serif"/>
              </a:rPr>
              <a:t>🞂</a:t>
            </a:r>
            <a:r>
              <a:rPr sz="2200" dirty="0">
                <a:latin typeface="Microsoft Sans Serif"/>
                <a:cs typeface="Microsoft Sans Serif"/>
              </a:rPr>
              <a:t>​	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Examples</a:t>
            </a:r>
            <a:r>
              <a:rPr sz="32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2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non-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2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2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32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endParaRPr sz="3200">
              <a:latin typeface="Times New Roman"/>
              <a:cs typeface="Times New Roman"/>
            </a:endParaRPr>
          </a:p>
          <a:p>
            <a:pPr marL="771525" algn="ctr">
              <a:lnSpc>
                <a:spcPts val="3645"/>
              </a:lnSpc>
            </a:pP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MHC-</a:t>
            </a:r>
            <a:r>
              <a:rPr sz="32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PMS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Product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requirement</a:t>
            </a:r>
            <a:endParaRPr sz="2400">
              <a:latin typeface="Times New Roman"/>
              <a:cs typeface="Times New Roman"/>
            </a:endParaRPr>
          </a:p>
          <a:p>
            <a:pPr marL="12700" marR="3352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MHC-</a:t>
            </a:r>
            <a:r>
              <a:rPr sz="2400" dirty="0">
                <a:latin typeface="Times New Roman"/>
                <a:cs typeface="Times New Roman"/>
              </a:rPr>
              <a:t>PMS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available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clinics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during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normal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hours </a:t>
            </a:r>
            <a:r>
              <a:rPr sz="2400" dirty="0">
                <a:latin typeface="Times New Roman"/>
                <a:cs typeface="Times New Roman"/>
              </a:rPr>
              <a:t>(Mon–Fri,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0830–17.30).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Downtime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normal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hours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not </a:t>
            </a:r>
            <a:r>
              <a:rPr sz="2400" dirty="0">
                <a:latin typeface="Times New Roman"/>
                <a:cs typeface="Times New Roman"/>
              </a:rPr>
              <a:t>exceed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seconds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20" dirty="0">
                <a:latin typeface="Times New Roman"/>
                <a:cs typeface="Times New Roman"/>
              </a:rPr>
              <a:t> day.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Organizational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requirement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MHC-</a:t>
            </a:r>
            <a:r>
              <a:rPr sz="2400" dirty="0">
                <a:latin typeface="Times New Roman"/>
                <a:cs typeface="Times New Roman"/>
              </a:rPr>
              <a:t>PMS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authenticate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themselves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health </a:t>
            </a:r>
            <a:r>
              <a:rPr sz="2400" dirty="0">
                <a:latin typeface="Times New Roman"/>
                <a:cs typeface="Times New Roman"/>
              </a:rPr>
              <a:t>authority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card.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External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requirement</a:t>
            </a:r>
            <a:endParaRPr sz="2400">
              <a:latin typeface="Times New Roman"/>
              <a:cs typeface="Times New Roman"/>
            </a:endParaRPr>
          </a:p>
          <a:p>
            <a:pPr marL="12700" marR="16700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implement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patient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privacy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provisions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HStan-</a:t>
            </a:r>
            <a:r>
              <a:rPr sz="2400" spc="-25" dirty="0">
                <a:latin typeface="Times New Roman"/>
                <a:cs typeface="Times New Roman"/>
              </a:rPr>
              <a:t>03- </a:t>
            </a:r>
            <a:r>
              <a:rPr sz="2400" spc="-10" dirty="0">
                <a:latin typeface="Times New Roman"/>
                <a:cs typeface="Times New Roman"/>
              </a:rPr>
              <a:t>2006-</a:t>
            </a:r>
            <a:r>
              <a:rPr sz="2400" spc="-20" dirty="0">
                <a:latin typeface="Times New Roman"/>
                <a:cs typeface="Times New Roman"/>
              </a:rPr>
              <a:t>priv.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876" y="350583"/>
            <a:ext cx="10087610" cy="565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8664">
              <a:lnSpc>
                <a:spcPct val="100000"/>
              </a:lnSpc>
              <a:spcBef>
                <a:spcPts val="100"/>
              </a:spcBef>
              <a:tabLst>
                <a:tab pos="25234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NFR-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G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oa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3600">
              <a:latin typeface="Times New Roman"/>
              <a:cs typeface="Times New Roman"/>
            </a:endParaRPr>
          </a:p>
          <a:p>
            <a:pPr marL="239395" marR="5080" indent="-227329">
              <a:lnSpc>
                <a:spcPts val="302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Times New Roman"/>
                <a:cs typeface="Times New Roman"/>
              </a:rPr>
              <a:t>A</a:t>
            </a:r>
            <a:r>
              <a:rPr sz="2800" b="1" spc="45" dirty="0">
                <a:latin typeface="Times New Roman"/>
                <a:cs typeface="Times New Roman"/>
              </a:rPr>
              <a:t> </a:t>
            </a:r>
            <a:r>
              <a:rPr sz="2800" b="1" spc="60" dirty="0">
                <a:latin typeface="Times New Roman"/>
                <a:cs typeface="Times New Roman"/>
              </a:rPr>
              <a:t>common</a:t>
            </a:r>
            <a:r>
              <a:rPr sz="2800" b="1" spc="200" dirty="0">
                <a:latin typeface="Times New Roman"/>
                <a:cs typeface="Times New Roman"/>
              </a:rPr>
              <a:t> </a:t>
            </a:r>
            <a:r>
              <a:rPr sz="2800" b="1" spc="60" dirty="0">
                <a:latin typeface="Times New Roman"/>
                <a:cs typeface="Times New Roman"/>
              </a:rPr>
              <a:t>problem</a:t>
            </a:r>
            <a:r>
              <a:rPr sz="2800" b="1" spc="204" dirty="0">
                <a:latin typeface="Times New Roman"/>
                <a:cs typeface="Times New Roman"/>
              </a:rPr>
              <a:t> </a:t>
            </a:r>
            <a:r>
              <a:rPr sz="2800" b="1" spc="60" dirty="0">
                <a:latin typeface="Times New Roman"/>
                <a:cs typeface="Times New Roman"/>
              </a:rPr>
              <a:t>with</a:t>
            </a:r>
            <a:r>
              <a:rPr sz="2800" b="1" spc="210" dirty="0">
                <a:latin typeface="Times New Roman"/>
                <a:cs typeface="Times New Roman"/>
              </a:rPr>
              <a:t> </a:t>
            </a:r>
            <a:r>
              <a:rPr sz="2800" b="1" spc="85" dirty="0">
                <a:latin typeface="Times New Roman"/>
                <a:cs typeface="Times New Roman"/>
              </a:rPr>
              <a:t>non-</a:t>
            </a:r>
            <a:r>
              <a:rPr sz="2800" b="1" spc="75" dirty="0">
                <a:latin typeface="Times New Roman"/>
                <a:cs typeface="Times New Roman"/>
              </a:rPr>
              <a:t>functional</a:t>
            </a:r>
            <a:r>
              <a:rPr sz="2800" b="1" spc="215" dirty="0">
                <a:latin typeface="Times New Roman"/>
                <a:cs typeface="Times New Roman"/>
              </a:rPr>
              <a:t> </a:t>
            </a:r>
            <a:r>
              <a:rPr sz="2800" b="1" spc="75" dirty="0">
                <a:latin typeface="Times New Roman"/>
                <a:cs typeface="Times New Roman"/>
              </a:rPr>
              <a:t>requirements</a:t>
            </a:r>
            <a:r>
              <a:rPr sz="2800" b="1" spc="210" dirty="0">
                <a:latin typeface="Times New Roman"/>
                <a:cs typeface="Times New Roman"/>
              </a:rPr>
              <a:t> </a:t>
            </a:r>
            <a:r>
              <a:rPr sz="2800" spc="50" dirty="0">
                <a:latin typeface="Times New Roman"/>
                <a:cs typeface="Times New Roman"/>
              </a:rPr>
              <a:t>is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spc="50" dirty="0">
                <a:latin typeface="Times New Roman"/>
                <a:cs typeface="Times New Roman"/>
              </a:rPr>
              <a:t>that 	</a:t>
            </a:r>
            <a:r>
              <a:rPr sz="2800" dirty="0">
                <a:latin typeface="Times New Roman"/>
                <a:cs typeface="Times New Roman"/>
              </a:rPr>
              <a:t>users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often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propose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these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requirements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goals</a:t>
            </a:r>
            <a:endParaRPr sz="2800">
              <a:latin typeface="Times New Roman"/>
              <a:cs typeface="Times New Roman"/>
            </a:endParaRPr>
          </a:p>
          <a:p>
            <a:pPr marL="239395" marR="5080" indent="-227329">
              <a:lnSpc>
                <a:spcPts val="302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  <a:tab pos="5335905" algn="l"/>
                <a:tab pos="6126480" algn="l"/>
                <a:tab pos="6617970" algn="l"/>
                <a:tab pos="7449820" algn="l"/>
                <a:tab pos="8900160" algn="l"/>
                <a:tab pos="9332595" algn="l"/>
              </a:tabLst>
            </a:pPr>
            <a:r>
              <a:rPr sz="2800" b="1" spc="150" dirty="0">
                <a:latin typeface="Times New Roman"/>
                <a:cs typeface="Times New Roman"/>
              </a:rPr>
              <a:t>Non-</a:t>
            </a:r>
            <a:r>
              <a:rPr sz="2800" b="1" spc="140" dirty="0">
                <a:latin typeface="Times New Roman"/>
                <a:cs typeface="Times New Roman"/>
              </a:rPr>
              <a:t>functional</a:t>
            </a:r>
            <a:r>
              <a:rPr sz="2800" b="1" spc="380" dirty="0">
                <a:latin typeface="Times New Roman"/>
                <a:cs typeface="Times New Roman"/>
              </a:rPr>
              <a:t> </a:t>
            </a:r>
            <a:r>
              <a:rPr sz="2800" b="1" spc="130" dirty="0">
                <a:latin typeface="Times New Roman"/>
                <a:cs typeface="Times New Roman"/>
              </a:rPr>
              <a:t>requirements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spc="80" dirty="0">
                <a:latin typeface="Times New Roman"/>
                <a:cs typeface="Times New Roman"/>
              </a:rPr>
              <a:t>may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55" dirty="0">
                <a:latin typeface="Times New Roman"/>
                <a:cs typeface="Times New Roman"/>
              </a:rPr>
              <a:t>be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100" dirty="0">
                <a:latin typeface="Times New Roman"/>
                <a:cs typeface="Times New Roman"/>
              </a:rPr>
              <a:t>very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130" dirty="0">
                <a:latin typeface="Times New Roman"/>
                <a:cs typeface="Times New Roman"/>
              </a:rPr>
              <a:t>difficult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5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130" dirty="0">
                <a:latin typeface="Times New Roman"/>
                <a:cs typeface="Times New Roman"/>
              </a:rPr>
              <a:t>state 	</a:t>
            </a:r>
            <a:r>
              <a:rPr sz="2800" dirty="0">
                <a:latin typeface="Times New Roman"/>
                <a:cs typeface="Times New Roman"/>
              </a:rPr>
              <a:t>precisely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imprecise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requirements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difficult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verify.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20" dirty="0">
                <a:latin typeface="Times New Roman"/>
                <a:cs typeface="Times New Roman"/>
              </a:rPr>
              <a:t>Goal</a:t>
            </a:r>
            <a:endParaRPr sz="2800">
              <a:latin typeface="Times New Roman"/>
              <a:cs typeface="Times New Roman"/>
            </a:endParaRPr>
          </a:p>
          <a:p>
            <a:pPr marL="696595" lvl="1" indent="-227329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696595" algn="l"/>
              </a:tabLst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intention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use.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20" dirty="0">
                <a:latin typeface="Times New Roman"/>
                <a:cs typeface="Times New Roman"/>
              </a:rPr>
              <a:t>Verifiable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non-</a:t>
            </a:r>
            <a:r>
              <a:rPr sz="2800" b="1" dirty="0">
                <a:latin typeface="Times New Roman"/>
                <a:cs typeface="Times New Roman"/>
              </a:rPr>
              <a:t>functional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requirement</a:t>
            </a:r>
            <a:endParaRPr sz="2800">
              <a:latin typeface="Times New Roman"/>
              <a:cs typeface="Times New Roman"/>
            </a:endParaRPr>
          </a:p>
          <a:p>
            <a:pPr marL="696595" lvl="1" indent="-227329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696595" algn="l"/>
              </a:tabLst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statement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objectively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tested.</a:t>
            </a:r>
            <a:endParaRPr sz="2400">
              <a:latin typeface="Times New Roman"/>
              <a:cs typeface="Times New Roman"/>
            </a:endParaRPr>
          </a:p>
          <a:p>
            <a:pPr marL="239395" marR="5080" indent="-227329">
              <a:lnSpc>
                <a:spcPts val="3020"/>
              </a:lnSpc>
              <a:spcBef>
                <a:spcPts val="103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Times New Roman"/>
                <a:cs typeface="Times New Roman"/>
              </a:rPr>
              <a:t>Goals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helpful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developers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they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convey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intentions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users.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7934" y="350583"/>
            <a:ext cx="10245725" cy="559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7345">
              <a:lnSpc>
                <a:spcPct val="100000"/>
              </a:lnSpc>
              <a:spcBef>
                <a:spcPts val="100"/>
              </a:spcBef>
              <a:tabLst>
                <a:tab pos="339217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Usability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How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manager</a:t>
            </a:r>
            <a:r>
              <a:rPr sz="2600" b="1" spc="-9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might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express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usability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requirements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as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latin typeface="Times New Roman"/>
                <a:cs typeface="Times New Roman"/>
              </a:rPr>
              <a:t>GOAL</a:t>
            </a:r>
            <a:endParaRPr sz="260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ts val="281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spc="80" dirty="0">
                <a:latin typeface="Times New Roman"/>
                <a:cs typeface="Times New Roman"/>
              </a:rPr>
              <a:t>The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95" dirty="0">
                <a:latin typeface="Times New Roman"/>
                <a:cs typeface="Times New Roman"/>
              </a:rPr>
              <a:t>system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Times New Roman"/>
                <a:cs typeface="Times New Roman"/>
              </a:rPr>
              <a:t>should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be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600" spc="90" dirty="0">
                <a:latin typeface="Times New Roman"/>
                <a:cs typeface="Times New Roman"/>
              </a:rPr>
              <a:t>easy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to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600" spc="80" dirty="0">
                <a:latin typeface="Times New Roman"/>
                <a:cs typeface="Times New Roman"/>
              </a:rPr>
              <a:t>use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by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Times New Roman"/>
                <a:cs typeface="Times New Roman"/>
              </a:rPr>
              <a:t>medical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600" spc="85" dirty="0">
                <a:latin typeface="Times New Roman"/>
                <a:cs typeface="Times New Roman"/>
              </a:rPr>
              <a:t>staff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600" spc="80" dirty="0">
                <a:latin typeface="Times New Roman"/>
                <a:cs typeface="Times New Roman"/>
              </a:rPr>
              <a:t>and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Times New Roman"/>
                <a:cs typeface="Times New Roman"/>
              </a:rPr>
              <a:t>should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Times New Roman"/>
                <a:cs typeface="Times New Roman"/>
              </a:rPr>
              <a:t>be </a:t>
            </a:r>
            <a:r>
              <a:rPr sz="2600" dirty="0">
                <a:latin typeface="Times New Roman"/>
                <a:cs typeface="Times New Roman"/>
              </a:rPr>
              <a:t>organized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such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way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errors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minimized.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(Goal)</a:t>
            </a:r>
            <a:endParaRPr sz="2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305"/>
              </a:spcBef>
              <a:buFont typeface="Arial MT"/>
              <a:buChar char="•"/>
            </a:pPr>
            <a:endParaRPr sz="26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281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spc="114" dirty="0">
                <a:latin typeface="Times New Roman"/>
                <a:cs typeface="Times New Roman"/>
              </a:rPr>
              <a:t>How</a:t>
            </a:r>
            <a:r>
              <a:rPr sz="2600" b="1" spc="360" dirty="0">
                <a:latin typeface="Times New Roman"/>
                <a:cs typeface="Times New Roman"/>
              </a:rPr>
              <a:t> </a:t>
            </a:r>
            <a:r>
              <a:rPr sz="2600" b="1" spc="110" dirty="0">
                <a:latin typeface="Times New Roman"/>
                <a:cs typeface="Times New Roman"/>
              </a:rPr>
              <a:t>the</a:t>
            </a:r>
            <a:r>
              <a:rPr sz="2600" b="1" spc="365" dirty="0">
                <a:latin typeface="Times New Roman"/>
                <a:cs typeface="Times New Roman"/>
              </a:rPr>
              <a:t> </a:t>
            </a:r>
            <a:r>
              <a:rPr sz="2600" b="1" spc="125" dirty="0">
                <a:latin typeface="Times New Roman"/>
                <a:cs typeface="Times New Roman"/>
              </a:rPr>
              <a:t>goal</a:t>
            </a:r>
            <a:r>
              <a:rPr sz="2600" b="1" spc="365" dirty="0">
                <a:latin typeface="Times New Roman"/>
                <a:cs typeface="Times New Roman"/>
              </a:rPr>
              <a:t> </a:t>
            </a:r>
            <a:r>
              <a:rPr sz="2600" b="1" spc="130" dirty="0">
                <a:latin typeface="Times New Roman"/>
                <a:cs typeface="Times New Roman"/>
              </a:rPr>
              <a:t>could</a:t>
            </a:r>
            <a:r>
              <a:rPr sz="2600" b="1" spc="365" dirty="0">
                <a:latin typeface="Times New Roman"/>
                <a:cs typeface="Times New Roman"/>
              </a:rPr>
              <a:t> </a:t>
            </a:r>
            <a:r>
              <a:rPr sz="2600" b="1" spc="80" dirty="0">
                <a:latin typeface="Times New Roman"/>
                <a:cs typeface="Times New Roman"/>
              </a:rPr>
              <a:t>be</a:t>
            </a:r>
            <a:r>
              <a:rPr sz="2600" b="1" spc="365" dirty="0">
                <a:latin typeface="Times New Roman"/>
                <a:cs typeface="Times New Roman"/>
              </a:rPr>
              <a:t> </a:t>
            </a:r>
            <a:r>
              <a:rPr sz="2600" b="1" spc="150" dirty="0">
                <a:latin typeface="Times New Roman"/>
                <a:cs typeface="Times New Roman"/>
              </a:rPr>
              <a:t>expressed</a:t>
            </a:r>
            <a:r>
              <a:rPr sz="2600" b="1" spc="375" dirty="0">
                <a:latin typeface="Times New Roman"/>
                <a:cs typeface="Times New Roman"/>
              </a:rPr>
              <a:t> </a:t>
            </a:r>
            <a:r>
              <a:rPr sz="2600" b="1" spc="90" dirty="0">
                <a:latin typeface="Times New Roman"/>
                <a:cs typeface="Times New Roman"/>
              </a:rPr>
              <a:t>as</a:t>
            </a:r>
            <a:r>
              <a:rPr sz="2600" b="1" spc="37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</a:t>
            </a:r>
            <a:r>
              <a:rPr sz="2600" b="1" spc="375" dirty="0">
                <a:latin typeface="Times New Roman"/>
                <a:cs typeface="Times New Roman"/>
              </a:rPr>
              <a:t> </a:t>
            </a:r>
            <a:r>
              <a:rPr sz="2600" b="1" spc="155" dirty="0">
                <a:latin typeface="Times New Roman"/>
                <a:cs typeface="Times New Roman"/>
              </a:rPr>
              <a:t>‘testable’</a:t>
            </a:r>
            <a:r>
              <a:rPr sz="2600" b="1" spc="180" dirty="0">
                <a:latin typeface="Times New Roman"/>
                <a:cs typeface="Times New Roman"/>
              </a:rPr>
              <a:t> </a:t>
            </a:r>
            <a:r>
              <a:rPr sz="2600" b="1" spc="145" dirty="0">
                <a:latin typeface="Times New Roman"/>
                <a:cs typeface="Times New Roman"/>
              </a:rPr>
              <a:t>nonfunctional </a:t>
            </a:r>
            <a:r>
              <a:rPr sz="2600" b="1" spc="-10" dirty="0">
                <a:latin typeface="Times New Roman"/>
                <a:cs typeface="Times New Roman"/>
              </a:rPr>
              <a:t>requirement</a:t>
            </a:r>
            <a:endParaRPr sz="260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ts val="2810"/>
              </a:lnSpc>
              <a:spcBef>
                <a:spcPts val="490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spc="70" dirty="0">
                <a:latin typeface="Times New Roman"/>
                <a:cs typeface="Times New Roman"/>
              </a:rPr>
              <a:t>Medical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staff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will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able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use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all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the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spc="65" dirty="0">
                <a:latin typeface="Times New Roman"/>
                <a:cs typeface="Times New Roman"/>
              </a:rPr>
              <a:t>system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spc="70" dirty="0">
                <a:latin typeface="Times New Roman"/>
                <a:cs typeface="Times New Roman"/>
              </a:rPr>
              <a:t>functions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spc="65" dirty="0">
                <a:latin typeface="Times New Roman"/>
                <a:cs typeface="Times New Roman"/>
              </a:rPr>
              <a:t>after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spc="45" dirty="0">
                <a:latin typeface="Times New Roman"/>
                <a:cs typeface="Times New Roman"/>
              </a:rPr>
              <a:t>four </a:t>
            </a:r>
            <a:r>
              <a:rPr sz="2600" dirty="0">
                <a:latin typeface="Times New Roman"/>
                <a:cs typeface="Times New Roman"/>
              </a:rPr>
              <a:t>hours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training.</a:t>
            </a:r>
            <a:endParaRPr sz="260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ts val="280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After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1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training,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average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number</a:t>
            </a:r>
            <a:r>
              <a:rPr sz="2600" spc="1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errors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made</a:t>
            </a:r>
            <a:r>
              <a:rPr sz="2600" spc="1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experienced </a:t>
            </a:r>
            <a:r>
              <a:rPr sz="2600" spc="100" dirty="0">
                <a:latin typeface="Times New Roman"/>
                <a:cs typeface="Times New Roman"/>
              </a:rPr>
              <a:t>users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600" spc="85" dirty="0">
                <a:latin typeface="Times New Roman"/>
                <a:cs typeface="Times New Roman"/>
              </a:rPr>
              <a:t>will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600" spc="80" dirty="0">
                <a:latin typeface="Times New Roman"/>
                <a:cs typeface="Times New Roman"/>
              </a:rPr>
              <a:t>not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Times New Roman"/>
                <a:cs typeface="Times New Roman"/>
              </a:rPr>
              <a:t>exceed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600" spc="80" dirty="0">
                <a:latin typeface="Times New Roman"/>
                <a:cs typeface="Times New Roman"/>
              </a:rPr>
              <a:t>two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600" spc="80" dirty="0">
                <a:latin typeface="Times New Roman"/>
                <a:cs typeface="Times New Roman"/>
              </a:rPr>
              <a:t>per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600" spc="90" dirty="0">
                <a:latin typeface="Times New Roman"/>
                <a:cs typeface="Times New Roman"/>
              </a:rPr>
              <a:t>hour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of</a:t>
            </a:r>
            <a:r>
              <a:rPr sz="2600" spc="265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Times New Roman"/>
                <a:cs typeface="Times New Roman"/>
              </a:rPr>
              <a:t>system</a:t>
            </a:r>
            <a:r>
              <a:rPr sz="2600" spc="260" dirty="0">
                <a:latin typeface="Times New Roman"/>
                <a:cs typeface="Times New Roman"/>
              </a:rPr>
              <a:t> </a:t>
            </a:r>
            <a:r>
              <a:rPr sz="2600" spc="95" dirty="0">
                <a:latin typeface="Times New Roman"/>
                <a:cs typeface="Times New Roman"/>
              </a:rPr>
              <a:t>use.</a:t>
            </a:r>
            <a:r>
              <a:rPr sz="2600" spc="280" dirty="0">
                <a:latin typeface="Times New Roman"/>
                <a:cs typeface="Times New Roman"/>
              </a:rPr>
              <a:t> </a:t>
            </a:r>
            <a:r>
              <a:rPr sz="2600" spc="90" dirty="0">
                <a:latin typeface="Times New Roman"/>
                <a:cs typeface="Times New Roman"/>
              </a:rPr>
              <a:t>(Testable</a:t>
            </a:r>
            <a:r>
              <a:rPr sz="2600" spc="275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non- </a:t>
            </a:r>
            <a:r>
              <a:rPr sz="2600" dirty="0">
                <a:latin typeface="Times New Roman"/>
                <a:cs typeface="Times New Roman"/>
              </a:rPr>
              <a:t>functional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requirement)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9067" y="103555"/>
            <a:ext cx="8053070" cy="1067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Metrics</a:t>
            </a:r>
            <a:r>
              <a:rPr sz="3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Specifying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Non-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Functional</a:t>
            </a:r>
            <a:endParaRPr sz="3600">
              <a:latin typeface="Times New Roman"/>
              <a:cs typeface="Times New Roman"/>
            </a:endParaRPr>
          </a:p>
          <a:p>
            <a:pPr marL="2911475">
              <a:lnSpc>
                <a:spcPts val="4105"/>
              </a:lnSpc>
            </a:pP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81772" y="1552181"/>
          <a:ext cx="9457690" cy="4874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7404"/>
                <a:gridCol w="6001385"/>
              </a:tblGrid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600" b="1" spc="-10" dirty="0">
                          <a:latin typeface="Tahoma"/>
                          <a:cs typeface="Tahoma"/>
                        </a:rPr>
                        <a:t>Property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600" b="1" spc="-10" dirty="0">
                          <a:latin typeface="Tahoma"/>
                          <a:cs typeface="Tahoma"/>
                        </a:rPr>
                        <a:t>Measure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Speed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82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Processed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transactions/second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3025" marR="386524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User/event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response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Screen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refresh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Size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825"/>
                        </a:lnSpc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Mbytes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ROM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chips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Ease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use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825"/>
                        </a:lnSpc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help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frames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Reliability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82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Mean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failure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3025" marR="36283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Probability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unavailability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failure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occurrence Availability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Robustness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82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restart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failure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3025" marR="267398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Percentage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events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causing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failure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Probability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corruption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failure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Portability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82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Percentage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target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dependent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statements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target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systems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8042" y="496633"/>
            <a:ext cx="190500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100" dirty="0">
                <a:latin typeface="Microsoft Sans Serif"/>
                <a:cs typeface="Microsoft Sans Serif"/>
              </a:rPr>
              <a:t>🞂</a:t>
            </a:r>
            <a:endParaRPr sz="24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26042" y="427418"/>
            <a:ext cx="9017635" cy="5029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3815"/>
              </a:lnSpc>
            </a:pPr>
            <a:r>
              <a:rPr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Functional</a:t>
            </a:r>
            <a:r>
              <a:rPr u="heavy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and</a:t>
            </a:r>
            <a:r>
              <a:rPr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Non-</a:t>
            </a:r>
            <a:r>
              <a:rPr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Functional</a:t>
            </a:r>
            <a:r>
              <a:rPr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Requirements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06805" y="1499997"/>
            <a:ext cx="10433050" cy="4958715"/>
            <a:chOff x="1106805" y="1499997"/>
            <a:chExt cx="10433050" cy="49587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5380" y="1528572"/>
              <a:ext cx="10375392" cy="490118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06805" y="1499997"/>
              <a:ext cx="10433050" cy="4958715"/>
            </a:xfrm>
            <a:custGeom>
              <a:avLst/>
              <a:gdLst/>
              <a:ahLst/>
              <a:cxnLst/>
              <a:rect l="l" t="t" r="r" b="b"/>
              <a:pathLst>
                <a:path w="10433050" h="4958715">
                  <a:moveTo>
                    <a:pt x="10418254" y="4958333"/>
                  </a:moveTo>
                  <a:lnTo>
                    <a:pt x="14287" y="4958333"/>
                  </a:lnTo>
                  <a:lnTo>
                    <a:pt x="11506" y="4958054"/>
                  </a:lnTo>
                  <a:lnTo>
                    <a:pt x="0" y="4944046"/>
                  </a:lnTo>
                  <a:lnTo>
                    <a:pt x="0" y="14287"/>
                  </a:lnTo>
                  <a:lnTo>
                    <a:pt x="14287" y="0"/>
                  </a:lnTo>
                  <a:lnTo>
                    <a:pt x="10418254" y="0"/>
                  </a:lnTo>
                  <a:lnTo>
                    <a:pt x="10432542" y="14287"/>
                  </a:lnTo>
                  <a:lnTo>
                    <a:pt x="28575" y="14287"/>
                  </a:lnTo>
                  <a:lnTo>
                    <a:pt x="14287" y="28574"/>
                  </a:lnTo>
                  <a:lnTo>
                    <a:pt x="28575" y="28574"/>
                  </a:lnTo>
                  <a:lnTo>
                    <a:pt x="28575" y="4929758"/>
                  </a:lnTo>
                  <a:lnTo>
                    <a:pt x="14287" y="4929758"/>
                  </a:lnTo>
                  <a:lnTo>
                    <a:pt x="28575" y="4944046"/>
                  </a:lnTo>
                  <a:lnTo>
                    <a:pt x="10432542" y="4944046"/>
                  </a:lnTo>
                  <a:lnTo>
                    <a:pt x="10432262" y="4946827"/>
                  </a:lnTo>
                  <a:lnTo>
                    <a:pt x="10421035" y="4958054"/>
                  </a:lnTo>
                  <a:lnTo>
                    <a:pt x="10418254" y="4958333"/>
                  </a:lnTo>
                  <a:close/>
                </a:path>
                <a:path w="10433050" h="4958715">
                  <a:moveTo>
                    <a:pt x="28575" y="28574"/>
                  </a:moveTo>
                  <a:lnTo>
                    <a:pt x="14287" y="28574"/>
                  </a:lnTo>
                  <a:lnTo>
                    <a:pt x="28575" y="14287"/>
                  </a:lnTo>
                  <a:lnTo>
                    <a:pt x="28575" y="28574"/>
                  </a:lnTo>
                  <a:close/>
                </a:path>
                <a:path w="10433050" h="4958715">
                  <a:moveTo>
                    <a:pt x="10403967" y="28574"/>
                  </a:moveTo>
                  <a:lnTo>
                    <a:pt x="28575" y="28574"/>
                  </a:lnTo>
                  <a:lnTo>
                    <a:pt x="28575" y="14287"/>
                  </a:lnTo>
                  <a:lnTo>
                    <a:pt x="10403967" y="14287"/>
                  </a:lnTo>
                  <a:lnTo>
                    <a:pt x="10403967" y="28574"/>
                  </a:lnTo>
                  <a:close/>
                </a:path>
                <a:path w="10433050" h="4958715">
                  <a:moveTo>
                    <a:pt x="10403967" y="4944046"/>
                  </a:moveTo>
                  <a:lnTo>
                    <a:pt x="10403967" y="14287"/>
                  </a:lnTo>
                  <a:lnTo>
                    <a:pt x="10418254" y="28574"/>
                  </a:lnTo>
                  <a:lnTo>
                    <a:pt x="10432542" y="28574"/>
                  </a:lnTo>
                  <a:lnTo>
                    <a:pt x="10432542" y="4929758"/>
                  </a:lnTo>
                  <a:lnTo>
                    <a:pt x="10418254" y="4929758"/>
                  </a:lnTo>
                  <a:lnTo>
                    <a:pt x="10403967" y="4944046"/>
                  </a:lnTo>
                  <a:close/>
                </a:path>
                <a:path w="10433050" h="4958715">
                  <a:moveTo>
                    <a:pt x="10432542" y="28574"/>
                  </a:moveTo>
                  <a:lnTo>
                    <a:pt x="10418254" y="28574"/>
                  </a:lnTo>
                  <a:lnTo>
                    <a:pt x="10403967" y="14287"/>
                  </a:lnTo>
                  <a:lnTo>
                    <a:pt x="10432542" y="14287"/>
                  </a:lnTo>
                  <a:lnTo>
                    <a:pt x="10432542" y="28574"/>
                  </a:lnTo>
                  <a:close/>
                </a:path>
                <a:path w="10433050" h="4958715">
                  <a:moveTo>
                    <a:pt x="28575" y="4944046"/>
                  </a:moveTo>
                  <a:lnTo>
                    <a:pt x="14287" y="4929758"/>
                  </a:lnTo>
                  <a:lnTo>
                    <a:pt x="28575" y="4929758"/>
                  </a:lnTo>
                  <a:lnTo>
                    <a:pt x="28575" y="4944046"/>
                  </a:lnTo>
                  <a:close/>
                </a:path>
                <a:path w="10433050" h="4958715">
                  <a:moveTo>
                    <a:pt x="10403967" y="4944046"/>
                  </a:moveTo>
                  <a:lnTo>
                    <a:pt x="28575" y="4944046"/>
                  </a:lnTo>
                  <a:lnTo>
                    <a:pt x="28575" y="4929758"/>
                  </a:lnTo>
                  <a:lnTo>
                    <a:pt x="10403967" y="4929758"/>
                  </a:lnTo>
                  <a:lnTo>
                    <a:pt x="10403967" y="4944046"/>
                  </a:lnTo>
                  <a:close/>
                </a:path>
                <a:path w="10433050" h="4958715">
                  <a:moveTo>
                    <a:pt x="10432542" y="4944046"/>
                  </a:moveTo>
                  <a:lnTo>
                    <a:pt x="10403967" y="4944046"/>
                  </a:lnTo>
                  <a:lnTo>
                    <a:pt x="10418254" y="4929758"/>
                  </a:lnTo>
                  <a:lnTo>
                    <a:pt x="10432542" y="4929758"/>
                  </a:lnTo>
                  <a:lnTo>
                    <a:pt x="10432542" y="4944046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12652" y="2407780"/>
            <a:ext cx="3441065" cy="106743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455295" marR="5080" indent="-443230">
              <a:lnSpc>
                <a:spcPts val="3879"/>
              </a:lnSpc>
              <a:spcBef>
                <a:spcPts val="595"/>
              </a:spcBef>
              <a:tabLst>
                <a:tab pos="455295" algn="l"/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	</a:t>
            </a:r>
            <a:r>
              <a:rPr sz="3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dirty="0"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Characteristics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9957435" cy="491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7435">
              <a:lnSpc>
                <a:spcPct val="100000"/>
              </a:lnSpc>
              <a:spcBef>
                <a:spcPts val="100"/>
              </a:spcBef>
              <a:tabLst>
                <a:tab pos="284226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Imprecision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Problems</a:t>
            </a:r>
            <a:r>
              <a:rPr sz="3000" b="1" spc="-7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arise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precisely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stated.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Ambiguous</a:t>
            </a:r>
            <a:r>
              <a:rPr sz="3000" b="1" spc="-7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requireme</a:t>
            </a:r>
            <a:r>
              <a:rPr sz="3000" spc="-10" dirty="0">
                <a:latin typeface="Times New Roman"/>
                <a:cs typeface="Times New Roman"/>
              </a:rPr>
              <a:t>nts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interpreted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different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ways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developers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users.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Consider</a:t>
            </a:r>
            <a:r>
              <a:rPr sz="3000" b="1" spc="-1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term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spc="-25" dirty="0">
                <a:latin typeface="Times New Roman"/>
                <a:cs typeface="Times New Roman"/>
              </a:rPr>
              <a:t>‘search’</a:t>
            </a:r>
            <a:r>
              <a:rPr sz="3000" b="1" spc="-2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in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requirement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spc="-5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  <a:p>
            <a:pPr marL="698500" marR="1207770" lvl="1" indent="-228600">
              <a:lnSpc>
                <a:spcPts val="324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latin typeface="Times New Roman"/>
                <a:cs typeface="Times New Roman"/>
              </a:rPr>
              <a:t>User</a:t>
            </a:r>
            <a:r>
              <a:rPr sz="3000" b="1" spc="-10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intention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–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search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patient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name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across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all </a:t>
            </a:r>
            <a:r>
              <a:rPr sz="3000" dirty="0">
                <a:latin typeface="Times New Roman"/>
                <a:cs typeface="Times New Roman"/>
              </a:rPr>
              <a:t>appointments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clinics;</a:t>
            </a:r>
            <a:endParaRPr sz="3000">
              <a:latin typeface="Times New Roman"/>
              <a:cs typeface="Times New Roman"/>
            </a:endParaRPr>
          </a:p>
          <a:p>
            <a:pPr marL="698500" marR="177800" lvl="1" indent="-228600">
              <a:lnSpc>
                <a:spcPts val="324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latin typeface="Times New Roman"/>
                <a:cs typeface="Times New Roman"/>
              </a:rPr>
              <a:t>Developer</a:t>
            </a:r>
            <a:r>
              <a:rPr sz="3000" b="1" spc="-114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interpretation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–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search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patient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name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 </a:t>
            </a:r>
            <a:r>
              <a:rPr sz="3000" dirty="0">
                <a:latin typeface="Times New Roman"/>
                <a:cs typeface="Times New Roman"/>
              </a:rPr>
              <a:t>individual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clinic.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chooses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clinic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search.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67218" y="350583"/>
            <a:ext cx="10389870" cy="5011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9445">
              <a:lnSpc>
                <a:spcPct val="100000"/>
              </a:lnSpc>
              <a:spcBef>
                <a:spcPts val="100"/>
              </a:spcBef>
              <a:tabLst>
                <a:tab pos="114427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Completeness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Consistency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2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principle,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both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complete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consistent.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-10" dirty="0">
                <a:latin typeface="Times New Roman"/>
                <a:cs typeface="Times New Roman"/>
              </a:rPr>
              <a:t>Complete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They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should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include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descriptions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all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facilities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required.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-10" dirty="0">
                <a:latin typeface="Times New Roman"/>
                <a:cs typeface="Times New Roman"/>
              </a:rPr>
              <a:t>Consistent</a:t>
            </a:r>
            <a:endParaRPr sz="3000">
              <a:latin typeface="Times New Roman"/>
              <a:cs typeface="Times New Roman"/>
            </a:endParaRPr>
          </a:p>
          <a:p>
            <a:pPr marL="698500" marR="36195" lvl="1" indent="-228600">
              <a:lnSpc>
                <a:spcPts val="2810"/>
              </a:lnSpc>
              <a:spcBef>
                <a:spcPts val="555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There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should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conflicts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contradictions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descriptions</a:t>
            </a:r>
            <a:r>
              <a:rPr sz="2600" spc="1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facilities.</a:t>
            </a:r>
            <a:endParaRPr sz="2600">
              <a:latin typeface="Times New Roman"/>
              <a:cs typeface="Times New Roman"/>
            </a:endParaRPr>
          </a:p>
          <a:p>
            <a:pPr marL="241300" marR="36830" indent="-228600">
              <a:lnSpc>
                <a:spcPts val="324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1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practice,</a:t>
            </a:r>
            <a:r>
              <a:rPr sz="3000" spc="1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1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impossible</a:t>
            </a:r>
            <a:r>
              <a:rPr sz="3000" spc="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1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produce</a:t>
            </a:r>
            <a:r>
              <a:rPr sz="3000" spc="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complete</a:t>
            </a:r>
            <a:r>
              <a:rPr sz="3000" spc="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1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consistent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document.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67218" y="350583"/>
            <a:ext cx="8896350" cy="562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9645">
              <a:lnSpc>
                <a:spcPct val="100000"/>
              </a:lnSpc>
              <a:spcBef>
                <a:spcPts val="100"/>
              </a:spcBef>
              <a:tabLst>
                <a:tab pos="274447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Characteristic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Good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requirements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should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have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the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following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characteristics: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Unambiguous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0" dirty="0">
                <a:solidFill>
                  <a:srgbClr val="FF0000"/>
                </a:solidFill>
                <a:latin typeface="Times New Roman"/>
                <a:cs typeface="Times New Roman"/>
              </a:rPr>
              <a:t>Testable</a:t>
            </a:r>
            <a:r>
              <a:rPr sz="26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(verifiable)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Clear</a:t>
            </a:r>
            <a:r>
              <a:rPr sz="2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(concise,</a:t>
            </a:r>
            <a:r>
              <a:rPr sz="2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terse,</a:t>
            </a:r>
            <a:r>
              <a:rPr sz="2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simple,</a:t>
            </a:r>
            <a:r>
              <a:rPr sz="2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precise)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Correct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Understandable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Feasible</a:t>
            </a:r>
            <a:r>
              <a:rPr sz="26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(realistic,</a:t>
            </a:r>
            <a:r>
              <a:rPr sz="26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possible)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Independent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Atomic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Necessary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Implementation-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free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(abstract)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10119995" cy="402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1689">
              <a:lnSpc>
                <a:spcPct val="100000"/>
              </a:lnSpc>
              <a:spcBef>
                <a:spcPts val="100"/>
              </a:spcBef>
              <a:tabLst>
                <a:tab pos="259651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G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ood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B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ad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R1: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Only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authorized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persons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allowed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enter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building.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R2</a:t>
            </a:r>
            <a:r>
              <a:rPr sz="3000" dirty="0">
                <a:latin typeface="Times New Roman"/>
                <a:cs typeface="Times New Roman"/>
              </a:rPr>
              <a:t>: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doorbell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button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blue,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round,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diameter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20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mm.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R1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goal,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R2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detailed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specification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R2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fact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three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different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10158095" cy="396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6140">
              <a:lnSpc>
                <a:spcPct val="100000"/>
              </a:lnSpc>
              <a:spcBef>
                <a:spcPts val="100"/>
              </a:spcBef>
              <a:tabLst>
                <a:tab pos="137096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G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ood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B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ad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2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685800" indent="-228600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R4</a:t>
            </a:r>
            <a:r>
              <a:rPr sz="3000" dirty="0">
                <a:latin typeface="Times New Roman"/>
                <a:cs typeface="Times New Roman"/>
              </a:rPr>
              <a:t>: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play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sound</a:t>
            </a:r>
            <a:r>
              <a:rPr sz="3000" spc="-20" dirty="0">
                <a:latin typeface="Times New Roman"/>
                <a:cs typeface="Times New Roman"/>
              </a:rPr>
              <a:t> ’alarm’</a:t>
            </a:r>
            <a:r>
              <a:rPr sz="3000" spc="-2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door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is </a:t>
            </a:r>
            <a:r>
              <a:rPr sz="3000" spc="-10" dirty="0">
                <a:latin typeface="Times New Roman"/>
                <a:cs typeface="Times New Roman"/>
              </a:rPr>
              <a:t>opened.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89"/>
              </a:spcBef>
              <a:buFont typeface="Arial MT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R4:</a:t>
            </a:r>
            <a:r>
              <a:rPr sz="3000" b="1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play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sound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’C:\alarm.wav’</a:t>
            </a:r>
            <a:r>
              <a:rPr sz="3000" spc="-2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once,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the </a:t>
            </a:r>
            <a:r>
              <a:rPr sz="3000" dirty="0">
                <a:latin typeface="Times New Roman"/>
                <a:cs typeface="Times New Roman"/>
              </a:rPr>
              <a:t>highest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volume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setting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main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speaker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building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when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door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opens.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692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95"/>
              </a:spcBef>
            </a:pPr>
            <a:r>
              <a:rPr sz="4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Good</a:t>
            </a:r>
            <a:r>
              <a:rPr sz="4000"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4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and</a:t>
            </a:r>
            <a:r>
              <a:rPr sz="4000"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4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Bad</a:t>
            </a:r>
            <a:r>
              <a:rPr sz="4000" u="heavy" spc="-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4000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Requirements</a:t>
            </a:r>
            <a:r>
              <a:rPr sz="4000"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4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-</a:t>
            </a:r>
            <a:r>
              <a:rPr sz="4000"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4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Example</a:t>
            </a:r>
            <a:r>
              <a:rPr sz="4000"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4000" u="heavy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3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2295" y="1676565"/>
            <a:ext cx="10233025" cy="2382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R5: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respond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quickly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interaction.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5"/>
              </a:spcBef>
              <a:buFont typeface="Arial MT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R5: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respond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interaction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within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maximum </a:t>
            </a:r>
            <a:r>
              <a:rPr sz="3000" dirty="0">
                <a:latin typeface="Times New Roman"/>
                <a:cs typeface="Times New Roman"/>
              </a:rPr>
              <a:t>2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seconds,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minimum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0.2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seconds,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average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1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second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(with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CPU </a:t>
            </a:r>
            <a:r>
              <a:rPr sz="3000" dirty="0">
                <a:latin typeface="Times New Roman"/>
                <a:cs typeface="Times New Roman"/>
              </a:rPr>
              <a:t>load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0.5).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Good</a:t>
            </a:r>
            <a:r>
              <a:rPr sz="4000"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4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and</a:t>
            </a:r>
            <a:r>
              <a:rPr sz="4000"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4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Bad</a:t>
            </a:r>
            <a:r>
              <a:rPr sz="4000" u="heavy" spc="-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4000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Requirements</a:t>
            </a:r>
            <a:r>
              <a:rPr sz="4000"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4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-</a:t>
            </a:r>
            <a:r>
              <a:rPr sz="4000"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4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Example</a:t>
            </a:r>
            <a:r>
              <a:rPr sz="4000"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4000" u="heavy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4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2295" y="1521815"/>
            <a:ext cx="10347325" cy="42824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41300" marR="732155" indent="-228600">
              <a:lnSpc>
                <a:spcPts val="324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R6: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There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four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classes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system: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Maintainer, Administrator,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Normal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User,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Guest.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R7: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Guest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able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enter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areas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X1,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X2,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25" dirty="0">
                <a:latin typeface="Times New Roman"/>
                <a:cs typeface="Times New Roman"/>
              </a:rPr>
              <a:t> X3.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R8: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Normal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able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enter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areas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building.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R9: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Administrator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Normal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who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also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have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right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to </a:t>
            </a:r>
            <a:r>
              <a:rPr sz="3000" dirty="0">
                <a:latin typeface="Times New Roman"/>
                <a:cs typeface="Times New Roman"/>
              </a:rPr>
              <a:t>add/modify/delete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system.</a:t>
            </a:r>
            <a:endParaRPr sz="3000">
              <a:latin typeface="Times New Roman"/>
              <a:cs typeface="Times New Roman"/>
            </a:endParaRPr>
          </a:p>
          <a:p>
            <a:pPr marL="241300" marR="335915" indent="-228600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R10: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Maintainer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Guest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who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also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able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enter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area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X99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perform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backups,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view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logs,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add/modify/delete users.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974850" y="2279650"/>
          <a:ext cx="8318500" cy="2040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/>
                <a:gridCol w="609600"/>
                <a:gridCol w="1316989"/>
                <a:gridCol w="664210"/>
                <a:gridCol w="1687195"/>
                <a:gridCol w="1176020"/>
                <a:gridCol w="1175384"/>
              </a:tblGrid>
              <a:tr h="560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4130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User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Class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b="1" spc="-20" dirty="0">
                          <a:latin typeface="Arial"/>
                          <a:cs typeface="Arial"/>
                        </a:rPr>
                        <a:t>Area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1924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X1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559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………..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b="1" spc="-20" dirty="0">
                          <a:latin typeface="Arial"/>
                          <a:cs typeface="Arial"/>
                        </a:rPr>
                        <a:t>Area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X99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Add/modify/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622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delete</a:t>
                      </a:r>
                      <a:r>
                        <a:rPr sz="16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users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Backups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2255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View</a:t>
                      </a:r>
                      <a:r>
                        <a:rPr sz="16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Logs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Guest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Normal</a:t>
                      </a:r>
                      <a:r>
                        <a:rPr sz="16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user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Administrator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Maintainer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39" y="350583"/>
            <a:ext cx="7342505" cy="1584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3965">
              <a:lnSpc>
                <a:spcPct val="100000"/>
              </a:lnSpc>
              <a:spcBef>
                <a:spcPts val="100"/>
              </a:spcBef>
              <a:tabLst>
                <a:tab pos="30187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4 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cont…..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36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5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R6: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Users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rights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listed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Table</a:t>
            </a:r>
            <a:r>
              <a:rPr sz="2400" spc="-50" dirty="0">
                <a:latin typeface="Arial MT"/>
                <a:cs typeface="Arial MT"/>
              </a:rPr>
              <a:t> 1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9956165" cy="3554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6140">
              <a:lnSpc>
                <a:spcPct val="100000"/>
              </a:lnSpc>
              <a:spcBef>
                <a:spcPts val="100"/>
              </a:spcBef>
              <a:tabLst>
                <a:tab pos="137096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G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ood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B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ad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5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R11: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enters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correct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code,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door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open.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9"/>
              </a:spcBef>
              <a:buFont typeface="Arial MT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R11: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enters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code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associated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him/her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on </a:t>
            </a:r>
            <a:r>
              <a:rPr sz="3000" dirty="0">
                <a:latin typeface="Times New Roman"/>
                <a:cs typeface="Times New Roman"/>
              </a:rPr>
              <a:t>keypad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K2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door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D2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unlock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remain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unlocked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25" dirty="0">
                <a:latin typeface="Times New Roman"/>
                <a:cs typeface="Times New Roman"/>
              </a:rPr>
              <a:t> 30 </a:t>
            </a:r>
            <a:r>
              <a:rPr sz="3000" spc="-10" dirty="0">
                <a:latin typeface="Times New Roman"/>
                <a:cs typeface="Times New Roman"/>
              </a:rPr>
              <a:t>seconds.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10241915" cy="5302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6140">
              <a:lnSpc>
                <a:spcPct val="100000"/>
              </a:lnSpc>
              <a:spcBef>
                <a:spcPts val="100"/>
              </a:spcBef>
              <a:tabLst>
                <a:tab pos="137096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G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ood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B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ad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6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3600">
              <a:latin typeface="Times New Roman"/>
              <a:cs typeface="Times New Roman"/>
            </a:endParaRPr>
          </a:p>
          <a:p>
            <a:pPr marL="240029" marR="280670" indent="-227329">
              <a:lnSpc>
                <a:spcPct val="699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R12: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entered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building,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registered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in 	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entry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user’s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booted.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30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240029" marR="280670" indent="-227329">
              <a:lnSpc>
                <a:spcPct val="699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R12: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entered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building,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registered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in 	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entry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log.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30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240029" marR="278765" indent="-227329">
              <a:lnSpc>
                <a:spcPct val="699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R13: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entered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building,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user’s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will 	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booted.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30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240029" marR="5080" indent="-227329">
              <a:lnSpc>
                <a:spcPct val="699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R12: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register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entry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entered 	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building.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89768" y="2407780"/>
            <a:ext cx="4330700" cy="106743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 indent="222885">
              <a:lnSpc>
                <a:spcPts val="3879"/>
              </a:lnSpc>
              <a:spcBef>
                <a:spcPts val="595"/>
              </a:spcBef>
              <a:tabLst>
                <a:tab pos="73977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dirty="0"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Gathering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Techniques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8900" y="350583"/>
            <a:ext cx="10238740" cy="4898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3200">
              <a:lnSpc>
                <a:spcPct val="100000"/>
              </a:lnSpc>
              <a:spcBef>
                <a:spcPts val="100"/>
              </a:spcBef>
              <a:tabLst>
                <a:tab pos="197802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Discovery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Elicitation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b="1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3000" b="1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b="1" spc="2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gathering</a:t>
            </a:r>
            <a:r>
              <a:rPr sz="3000" b="1" spc="2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45" dirty="0">
                <a:solidFill>
                  <a:srgbClr val="FF0000"/>
                </a:solidFill>
                <a:latin typeface="Times New Roman"/>
                <a:cs typeface="Times New Roman"/>
              </a:rPr>
              <a:t>information</a:t>
            </a:r>
            <a:r>
              <a:rPr sz="3000" b="1" spc="3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about</a:t>
            </a:r>
            <a:r>
              <a:rPr sz="3000" spc="3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2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required</a:t>
            </a:r>
            <a:r>
              <a:rPr sz="3000" spc="3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existing</a:t>
            </a:r>
            <a:r>
              <a:rPr sz="3000" spc="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systems</a:t>
            </a:r>
            <a:r>
              <a:rPr sz="3000" spc="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spc="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distilling</a:t>
            </a:r>
            <a:r>
              <a:rPr sz="3000" spc="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user</a:t>
            </a:r>
            <a:r>
              <a:rPr sz="3000" spc="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spc="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3000" spc="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requirements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this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information.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105" dirty="0">
                <a:latin typeface="Times New Roman"/>
                <a:cs typeface="Times New Roman"/>
              </a:rPr>
              <a:t>Interaction</a:t>
            </a:r>
            <a:r>
              <a:rPr sz="3000" b="1" spc="265" dirty="0">
                <a:latin typeface="Times New Roman"/>
                <a:cs typeface="Times New Roman"/>
              </a:rPr>
              <a:t> </a:t>
            </a:r>
            <a:r>
              <a:rPr sz="3000" b="1" spc="55" dirty="0">
                <a:latin typeface="Times New Roman"/>
                <a:cs typeface="Times New Roman"/>
              </a:rPr>
              <a:t>is</a:t>
            </a:r>
            <a:r>
              <a:rPr sz="3000" b="1" spc="260" dirty="0">
                <a:latin typeface="Times New Roman"/>
                <a:cs typeface="Times New Roman"/>
              </a:rPr>
              <a:t> </a:t>
            </a:r>
            <a:r>
              <a:rPr sz="3000" b="1" spc="85" dirty="0">
                <a:latin typeface="Times New Roman"/>
                <a:cs typeface="Times New Roman"/>
              </a:rPr>
              <a:t>with</a:t>
            </a:r>
            <a:r>
              <a:rPr sz="3000" b="1" spc="270" dirty="0">
                <a:latin typeface="Times New Roman"/>
                <a:cs typeface="Times New Roman"/>
              </a:rPr>
              <a:t> </a:t>
            </a:r>
            <a:r>
              <a:rPr sz="3000" b="1" spc="90" dirty="0">
                <a:latin typeface="Times New Roman"/>
                <a:cs typeface="Times New Roman"/>
              </a:rPr>
              <a:t>system</a:t>
            </a:r>
            <a:r>
              <a:rPr sz="3000" b="1" spc="265" dirty="0">
                <a:latin typeface="Times New Roman"/>
                <a:cs typeface="Times New Roman"/>
              </a:rPr>
              <a:t> </a:t>
            </a:r>
            <a:r>
              <a:rPr sz="3000" b="1" spc="105" dirty="0">
                <a:latin typeface="Times New Roman"/>
                <a:cs typeface="Times New Roman"/>
              </a:rPr>
              <a:t>stakeholders</a:t>
            </a:r>
            <a:r>
              <a:rPr sz="3000" b="1" spc="265" dirty="0">
                <a:latin typeface="Times New Roman"/>
                <a:cs typeface="Times New Roman"/>
              </a:rPr>
              <a:t> </a:t>
            </a:r>
            <a:r>
              <a:rPr sz="3000" spc="80" dirty="0">
                <a:latin typeface="Times New Roman"/>
                <a:cs typeface="Times New Roman"/>
              </a:rPr>
              <a:t>from</a:t>
            </a:r>
            <a:r>
              <a:rPr sz="3000" spc="265" dirty="0">
                <a:latin typeface="Times New Roman"/>
                <a:cs typeface="Times New Roman"/>
              </a:rPr>
              <a:t> </a:t>
            </a:r>
            <a:r>
              <a:rPr sz="3000" spc="95" dirty="0">
                <a:latin typeface="Times New Roman"/>
                <a:cs typeface="Times New Roman"/>
              </a:rPr>
              <a:t>managers</a:t>
            </a:r>
            <a:r>
              <a:rPr sz="3000" spc="265" dirty="0">
                <a:latin typeface="Times New Roman"/>
                <a:cs typeface="Times New Roman"/>
              </a:rPr>
              <a:t> </a:t>
            </a:r>
            <a:r>
              <a:rPr sz="3000" spc="35" dirty="0">
                <a:latin typeface="Times New Roman"/>
                <a:cs typeface="Times New Roman"/>
              </a:rPr>
              <a:t>to </a:t>
            </a:r>
            <a:r>
              <a:rPr sz="3000" dirty="0">
                <a:latin typeface="Times New Roman"/>
                <a:cs typeface="Times New Roman"/>
              </a:rPr>
              <a:t>external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regulators.</a:t>
            </a:r>
            <a:endParaRPr sz="300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ts val="324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Sources</a:t>
            </a:r>
            <a:r>
              <a:rPr sz="3000" spc="2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204" dirty="0">
                <a:latin typeface="Times New Roman"/>
                <a:cs typeface="Times New Roman"/>
              </a:rPr>
              <a:t> </a:t>
            </a:r>
            <a:r>
              <a:rPr sz="3000" spc="45" dirty="0">
                <a:latin typeface="Times New Roman"/>
                <a:cs typeface="Times New Roman"/>
              </a:rPr>
              <a:t>information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spc="45" dirty="0">
                <a:latin typeface="Times New Roman"/>
                <a:cs typeface="Times New Roman"/>
              </a:rPr>
              <a:t>include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documentation,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 </a:t>
            </a:r>
            <a:r>
              <a:rPr sz="3000" dirty="0">
                <a:latin typeface="Times New Roman"/>
                <a:cs typeface="Times New Roman"/>
              </a:rPr>
              <a:t>stakeholders,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specifications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similar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systems</a:t>
            </a:r>
            <a:endParaRPr sz="3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Systems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normally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have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range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stakeholders.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9995535" cy="484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1345">
              <a:lnSpc>
                <a:spcPct val="100000"/>
              </a:lnSpc>
              <a:spcBef>
                <a:spcPts val="100"/>
              </a:spcBef>
              <a:tabLst>
                <a:tab pos="237617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Stakeholders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MHC-PMS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2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Patients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whose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information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recorded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Doctors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who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responsible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assessing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treating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patients.</a:t>
            </a:r>
            <a:endParaRPr sz="3000">
              <a:latin typeface="Times New Roman"/>
              <a:cs typeface="Times New Roman"/>
            </a:endParaRPr>
          </a:p>
          <a:p>
            <a:pPr marL="241300" marR="871219" indent="-228600">
              <a:lnSpc>
                <a:spcPts val="324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Nurses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coordinate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consultations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doctors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administer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some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treatments.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Medical</a:t>
            </a:r>
            <a:r>
              <a:rPr sz="3000" b="1" spc="-12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receptionists</a:t>
            </a:r>
            <a:r>
              <a:rPr sz="3000" b="1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who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patients’</a:t>
            </a:r>
            <a:r>
              <a:rPr sz="3000" spc="-2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appointments.</a:t>
            </a:r>
            <a:endParaRPr sz="3000">
              <a:latin typeface="Times New Roman"/>
              <a:cs typeface="Times New Roman"/>
            </a:endParaRPr>
          </a:p>
          <a:p>
            <a:pPr marL="241300" marR="219710" indent="-228600">
              <a:lnSpc>
                <a:spcPts val="324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IT</a:t>
            </a:r>
            <a:r>
              <a:rPr sz="3000" b="1" spc="-10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staff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responsible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installing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maintaining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the </a:t>
            </a:r>
            <a:r>
              <a:rPr sz="3000" spc="-10" dirty="0">
                <a:latin typeface="Times New Roman"/>
                <a:cs typeface="Times New Roman"/>
              </a:rPr>
              <a:t>system.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3960">
              <a:lnSpc>
                <a:spcPct val="100000"/>
              </a:lnSpc>
              <a:spcBef>
                <a:spcPts val="95"/>
              </a:spcBef>
            </a:pPr>
            <a:r>
              <a:rPr sz="4000" b="0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Techniques</a:t>
            </a:r>
            <a:r>
              <a:rPr sz="4000" b="0" u="heavy" spc="-11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4000" b="0" u="heavy" spc="-11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Eliciting</a:t>
            </a:r>
            <a:r>
              <a:rPr sz="4000" b="0" u="heavy" spc="-11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0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838" y="1649361"/>
            <a:ext cx="10182225" cy="4166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300" dirty="0">
                <a:latin typeface="Times New Roman"/>
                <a:cs typeface="Times New Roman"/>
              </a:rPr>
              <a:t>Analysts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employ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several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techniques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elicit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requirements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from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customer.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595"/>
              </a:lnSpc>
              <a:spcBef>
                <a:spcPts val="2100"/>
              </a:spcBef>
              <a:buFont typeface="Wingdings"/>
              <a:buChar char=""/>
              <a:tabLst>
                <a:tab pos="697865" algn="l"/>
              </a:tabLst>
            </a:pPr>
            <a:r>
              <a:rPr sz="23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Survey/Questionnaire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430"/>
              </a:lnSpc>
              <a:buFont typeface="Wingdings"/>
              <a:buChar char=""/>
              <a:tabLst>
                <a:tab pos="697865" algn="l"/>
              </a:tabLst>
            </a:pPr>
            <a:r>
              <a:rPr sz="2300" b="1" dirty="0">
                <a:solidFill>
                  <a:srgbClr val="FF0000"/>
                </a:solidFill>
                <a:latin typeface="Times New Roman"/>
                <a:cs typeface="Times New Roman"/>
              </a:rPr>
              <a:t>Focus</a:t>
            </a:r>
            <a:r>
              <a:rPr sz="23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FF0000"/>
                </a:solidFill>
                <a:latin typeface="Times New Roman"/>
                <a:cs typeface="Times New Roman"/>
              </a:rPr>
              <a:t>groups</a:t>
            </a:r>
            <a:r>
              <a:rPr sz="23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(requirements</a:t>
            </a:r>
            <a:r>
              <a:rPr sz="2300" spc="-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workshops)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creating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requirements</a:t>
            </a:r>
            <a:r>
              <a:rPr sz="2300" spc="-7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lists.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415"/>
              </a:lnSpc>
              <a:buFont typeface="Wingdings"/>
              <a:buChar char=""/>
              <a:tabLst>
                <a:tab pos="697865" algn="l"/>
              </a:tabLst>
            </a:pPr>
            <a:r>
              <a:rPr sz="2300" b="1" dirty="0">
                <a:solidFill>
                  <a:srgbClr val="FF0000"/>
                </a:solidFill>
                <a:latin typeface="Times New Roman"/>
                <a:cs typeface="Times New Roman"/>
              </a:rPr>
              <a:t>Naturalistic</a:t>
            </a:r>
            <a:r>
              <a:rPr sz="23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observation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530"/>
              </a:lnSpc>
              <a:buFont typeface="Wingdings"/>
              <a:buChar char=""/>
              <a:tabLst>
                <a:tab pos="697865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Document</a:t>
            </a:r>
            <a:r>
              <a:rPr sz="2400" b="1" spc="-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Analysis</a:t>
            </a:r>
            <a:endParaRPr sz="24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430"/>
              </a:lnSpc>
              <a:buFont typeface="Wingdings"/>
              <a:buChar char=""/>
              <a:tabLst>
                <a:tab pos="697865" algn="l"/>
              </a:tabLst>
            </a:pPr>
            <a:r>
              <a:rPr sz="23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Interviews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430"/>
              </a:lnSpc>
              <a:buFont typeface="Wingdings"/>
              <a:buChar char=""/>
              <a:tabLst>
                <a:tab pos="697865" algn="l"/>
              </a:tabLst>
            </a:pPr>
            <a:r>
              <a:rPr sz="23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Ethnography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415"/>
              </a:lnSpc>
              <a:buFont typeface="Wingdings"/>
              <a:buChar char=""/>
              <a:tabLst>
                <a:tab pos="697865" algn="l"/>
              </a:tabLst>
            </a:pPr>
            <a:r>
              <a:rPr sz="23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Prototyping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495"/>
              </a:lnSpc>
              <a:buFont typeface="Wingdings"/>
              <a:buChar char=""/>
              <a:tabLst>
                <a:tab pos="697865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Brainstorming</a:t>
            </a:r>
            <a:endParaRPr sz="24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600"/>
              </a:lnSpc>
              <a:buFont typeface="Wingdings"/>
              <a:buChar char=""/>
              <a:tabLst>
                <a:tab pos="697865" algn="l"/>
              </a:tabLst>
            </a:pPr>
            <a:r>
              <a:rPr sz="25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Scenarios</a:t>
            </a:r>
            <a:endParaRPr sz="25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600"/>
              </a:lnSpc>
              <a:buFont typeface="Wingdings"/>
              <a:buChar char=""/>
              <a:tabLst>
                <a:tab pos="697865" algn="l"/>
              </a:tabLst>
            </a:pPr>
            <a:r>
              <a:rPr sz="2500" b="1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r>
              <a:rPr sz="25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cases</a:t>
            </a:r>
            <a:endParaRPr sz="2500">
              <a:latin typeface="Times New Roman"/>
              <a:cs typeface="Times New Roman"/>
            </a:endParaRPr>
          </a:p>
          <a:p>
            <a:pPr marL="1155065" lvl="2" indent="-227965">
              <a:lnSpc>
                <a:spcPts val="2800"/>
              </a:lnSpc>
              <a:buFont typeface="Wingdings"/>
              <a:buChar char=""/>
              <a:tabLst>
                <a:tab pos="1155065" algn="l"/>
              </a:tabLst>
            </a:pPr>
            <a:r>
              <a:rPr sz="2500" dirty="0">
                <a:latin typeface="Times New Roman"/>
                <a:cs typeface="Times New Roman"/>
              </a:rPr>
              <a:t>Combination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these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methods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will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good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choice.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0228" y="350583"/>
            <a:ext cx="10455275" cy="500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9350">
              <a:lnSpc>
                <a:spcPct val="100000"/>
              </a:lnSpc>
              <a:spcBef>
                <a:spcPts val="100"/>
              </a:spcBef>
              <a:tabLst>
                <a:tab pos="419417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Questionnaires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ts val="265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Questionnaires:</a:t>
            </a:r>
            <a:r>
              <a:rPr sz="2600" b="1" spc="1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Series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questions</a:t>
            </a:r>
            <a:r>
              <a:rPr sz="2600" spc="20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designed</a:t>
            </a:r>
            <a:r>
              <a:rPr sz="2600" spc="20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elicit</a:t>
            </a:r>
            <a:r>
              <a:rPr sz="2600" spc="20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specific</a:t>
            </a:r>
            <a:r>
              <a:rPr sz="2600" spc="204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information</a:t>
            </a:r>
            <a:endParaRPr sz="2600">
              <a:latin typeface="Times New Roman"/>
              <a:cs typeface="Times New Roman"/>
            </a:endParaRPr>
          </a:p>
          <a:p>
            <a:pPr marL="241300" marR="5080">
              <a:lnSpc>
                <a:spcPct val="69900"/>
              </a:lnSpc>
              <a:spcBef>
                <a:spcPts val="465"/>
              </a:spcBef>
            </a:pPr>
            <a:r>
              <a:rPr sz="2600" dirty="0">
                <a:latin typeface="Times New Roman"/>
                <a:cs typeface="Times New Roman"/>
              </a:rPr>
              <a:t>from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us.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questions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may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require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different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kinds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answers: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some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require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simple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Yes/No,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others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ask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choose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from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pre-</a:t>
            </a:r>
            <a:r>
              <a:rPr sz="2600" dirty="0">
                <a:latin typeface="Times New Roman"/>
                <a:cs typeface="Times New Roman"/>
              </a:rPr>
              <a:t>supplied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answers.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29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SurveyMonkey</a:t>
            </a:r>
            <a:endParaRPr sz="26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68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Popular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solution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let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you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design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distribute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questionnaires</a:t>
            </a:r>
            <a:endParaRPr sz="26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90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Runs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‘in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cloud’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29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Lime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Survey</a:t>
            </a:r>
            <a:endParaRPr sz="26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43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free</a:t>
            </a:r>
            <a:r>
              <a:rPr sz="2600" spc="180" dirty="0">
                <a:latin typeface="Times New Roman"/>
                <a:cs typeface="Times New Roman"/>
              </a:rPr>
              <a:t> </a:t>
            </a:r>
            <a:r>
              <a:rPr sz="2600" spc="65" dirty="0">
                <a:latin typeface="Times New Roman"/>
                <a:cs typeface="Times New Roman"/>
              </a:rPr>
              <a:t>online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tool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that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can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spc="70" dirty="0">
                <a:latin typeface="Times New Roman"/>
                <a:cs typeface="Times New Roman"/>
              </a:rPr>
              <a:t>installed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spc="70" dirty="0">
                <a:latin typeface="Times New Roman"/>
                <a:cs typeface="Times New Roman"/>
              </a:rPr>
              <a:t>directly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onto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the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researcher’s</a:t>
            </a:r>
            <a:endParaRPr sz="2600">
              <a:latin typeface="Times New Roman"/>
              <a:cs typeface="Times New Roman"/>
            </a:endParaRPr>
          </a:p>
          <a:p>
            <a:pPr marL="698500" marR="5080">
              <a:lnSpc>
                <a:spcPct val="69900"/>
              </a:lnSpc>
              <a:spcBef>
                <a:spcPts val="470"/>
              </a:spcBef>
            </a:pPr>
            <a:r>
              <a:rPr sz="2600" spc="75" dirty="0">
                <a:latin typeface="Times New Roman"/>
                <a:cs typeface="Times New Roman"/>
              </a:rPr>
              <a:t>system,</a:t>
            </a:r>
            <a:r>
              <a:rPr sz="2600" spc="215" dirty="0">
                <a:latin typeface="Times New Roman"/>
                <a:cs typeface="Times New Roman"/>
              </a:rPr>
              <a:t> </a:t>
            </a:r>
            <a:r>
              <a:rPr sz="2600" spc="65" dirty="0">
                <a:latin typeface="Times New Roman"/>
                <a:cs typeface="Times New Roman"/>
              </a:rPr>
              <a:t>thus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spc="80" dirty="0">
                <a:latin typeface="Times New Roman"/>
                <a:cs typeface="Times New Roman"/>
              </a:rPr>
              <a:t>avoiding</a:t>
            </a:r>
            <a:r>
              <a:rPr sz="2600" spc="215" dirty="0">
                <a:latin typeface="Times New Roman"/>
                <a:cs typeface="Times New Roman"/>
              </a:rPr>
              <a:t> </a:t>
            </a:r>
            <a:r>
              <a:rPr sz="2600" spc="80" dirty="0">
                <a:latin typeface="Times New Roman"/>
                <a:cs typeface="Times New Roman"/>
              </a:rPr>
              <a:t>storage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of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spc="70" dirty="0">
                <a:latin typeface="Times New Roman"/>
                <a:cs typeface="Times New Roman"/>
              </a:rPr>
              <a:t>data</a:t>
            </a:r>
            <a:r>
              <a:rPr sz="2600" spc="2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the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cloud</a:t>
            </a:r>
            <a:r>
              <a:rPr sz="2600" spc="225" dirty="0">
                <a:latin typeface="Times New Roman"/>
                <a:cs typeface="Times New Roman"/>
              </a:rPr>
              <a:t> </a:t>
            </a:r>
            <a:r>
              <a:rPr sz="2600" spc="80" dirty="0">
                <a:latin typeface="Times New Roman"/>
                <a:cs typeface="Times New Roman"/>
              </a:rPr>
              <a:t>(better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spc="80" dirty="0">
                <a:latin typeface="Times New Roman"/>
                <a:cs typeface="Times New Roman"/>
              </a:rPr>
              <a:t>control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spc="25" dirty="0">
                <a:latin typeface="Times New Roman"/>
                <a:cs typeface="Times New Roman"/>
              </a:rPr>
              <a:t>of </a:t>
            </a:r>
            <a:r>
              <a:rPr sz="2600" dirty="0">
                <a:latin typeface="Times New Roman"/>
                <a:cs typeface="Times New Roman"/>
              </a:rPr>
              <a:t>confidential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data)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10358755" cy="520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1689">
              <a:lnSpc>
                <a:spcPct val="100000"/>
              </a:lnSpc>
              <a:spcBef>
                <a:spcPts val="100"/>
              </a:spcBef>
              <a:tabLst>
                <a:tab pos="259651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Focus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groups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workshops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2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ts val="265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Focus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groups</a:t>
            </a:r>
            <a:r>
              <a:rPr sz="2600" b="1" spc="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and</a:t>
            </a:r>
            <a:r>
              <a:rPr sz="2600" b="1" spc="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workshops:</a:t>
            </a:r>
            <a:r>
              <a:rPr sz="2600" b="1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Interviews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tend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one,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elicit</a:t>
            </a:r>
            <a:endParaRPr sz="2600">
              <a:latin typeface="Times New Roman"/>
              <a:cs typeface="Times New Roman"/>
            </a:endParaRPr>
          </a:p>
          <a:p>
            <a:pPr marL="241300" marR="5080">
              <a:lnSpc>
                <a:spcPct val="69900"/>
              </a:lnSpc>
              <a:spcBef>
                <a:spcPts val="470"/>
              </a:spcBef>
            </a:pPr>
            <a:r>
              <a:rPr sz="2600" dirty="0">
                <a:latin typeface="Times New Roman"/>
                <a:cs typeface="Times New Roman"/>
              </a:rPr>
              <a:t>only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one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person’s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perspective.</a:t>
            </a:r>
            <a:r>
              <a:rPr sz="2600" spc="2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can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225" dirty="0">
                <a:latin typeface="Times New Roman"/>
                <a:cs typeface="Times New Roman"/>
              </a:rPr>
              <a:t> </a:t>
            </a:r>
            <a:r>
              <a:rPr sz="2600" spc="45" dirty="0">
                <a:latin typeface="Times New Roman"/>
                <a:cs typeface="Times New Roman"/>
              </a:rPr>
              <a:t>very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revealing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2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get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group</a:t>
            </a:r>
            <a:r>
              <a:rPr sz="2600" spc="23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of </a:t>
            </a:r>
            <a:r>
              <a:rPr sz="2600" dirty="0">
                <a:latin typeface="Times New Roman"/>
                <a:cs typeface="Times New Roman"/>
              </a:rPr>
              <a:t>stakeholders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together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discuss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issues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requirements.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600">
              <a:latin typeface="Times New Roman"/>
              <a:cs typeface="Times New Roman"/>
            </a:endParaRPr>
          </a:p>
          <a:p>
            <a:pPr marL="240029" indent="-227329">
              <a:lnSpc>
                <a:spcPts val="2855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Times New Roman"/>
                <a:cs typeface="Times New Roman"/>
              </a:rPr>
              <a:t>Focus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Group: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For</a:t>
            </a:r>
            <a:r>
              <a:rPr sz="2800" b="1" spc="-114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focus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group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following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are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key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things</a:t>
            </a:r>
            <a:r>
              <a:rPr sz="2800" spc="-1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596265" lvl="1" indent="-354965">
              <a:lnSpc>
                <a:spcPts val="2350"/>
              </a:lnSpc>
              <a:buAutoNum type="arabicPeriod"/>
              <a:tabLst>
                <a:tab pos="596265" algn="l"/>
              </a:tabLst>
            </a:pPr>
            <a:r>
              <a:rPr sz="2800" dirty="0">
                <a:latin typeface="Times New Roman"/>
                <a:cs typeface="Times New Roman"/>
              </a:rPr>
              <a:t>Discussion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focused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around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topic.</a:t>
            </a:r>
            <a:endParaRPr sz="2800">
              <a:latin typeface="Times New Roman"/>
              <a:cs typeface="Times New Roman"/>
            </a:endParaRPr>
          </a:p>
          <a:p>
            <a:pPr marL="596265" lvl="1" indent="-354965">
              <a:lnSpc>
                <a:spcPts val="2350"/>
              </a:lnSpc>
              <a:buAutoNum type="arabicPeriod"/>
              <a:tabLst>
                <a:tab pos="596265" algn="l"/>
              </a:tabLst>
            </a:pPr>
            <a:r>
              <a:rPr sz="2800" dirty="0">
                <a:latin typeface="Times New Roman"/>
                <a:cs typeface="Times New Roman"/>
              </a:rPr>
              <a:t>Facilitator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already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knows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what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wanted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ask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each</a:t>
            </a:r>
            <a:endParaRPr sz="2800">
              <a:latin typeface="Times New Roman"/>
              <a:cs typeface="Times New Roman"/>
            </a:endParaRPr>
          </a:p>
          <a:p>
            <a:pPr marL="241300">
              <a:lnSpc>
                <a:spcPts val="2350"/>
              </a:lnSpc>
            </a:pPr>
            <a:r>
              <a:rPr sz="2800" dirty="0">
                <a:latin typeface="Times New Roman"/>
                <a:cs typeface="Times New Roman"/>
              </a:rPr>
              <a:t>participants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discussion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guide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accordingly.</a:t>
            </a:r>
            <a:endParaRPr sz="2800">
              <a:latin typeface="Times New Roman"/>
              <a:cs typeface="Times New Roman"/>
            </a:endParaRPr>
          </a:p>
          <a:p>
            <a:pPr marL="596265" lvl="1" indent="-354965">
              <a:lnSpc>
                <a:spcPts val="2350"/>
              </a:lnSpc>
              <a:buAutoNum type="arabicPeriod" startAt="3"/>
              <a:tabLst>
                <a:tab pos="596265" algn="l"/>
              </a:tabLst>
            </a:pPr>
            <a:r>
              <a:rPr sz="2800" dirty="0">
                <a:latin typeface="Times New Roman"/>
                <a:cs typeface="Times New Roman"/>
              </a:rPr>
              <a:t>Facilitator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discussion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guide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experience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each</a:t>
            </a:r>
            <a:endParaRPr sz="2800">
              <a:latin typeface="Times New Roman"/>
              <a:cs typeface="Times New Roman"/>
            </a:endParaRPr>
          </a:p>
          <a:p>
            <a:pPr marL="241300">
              <a:lnSpc>
                <a:spcPts val="2350"/>
              </a:lnSpc>
            </a:pPr>
            <a:r>
              <a:rPr sz="2800" dirty="0">
                <a:latin typeface="Times New Roman"/>
                <a:cs typeface="Times New Roman"/>
              </a:rPr>
              <a:t>participants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product.</a:t>
            </a:r>
            <a:endParaRPr sz="2800">
              <a:latin typeface="Times New Roman"/>
              <a:cs typeface="Times New Roman"/>
            </a:endParaRPr>
          </a:p>
          <a:p>
            <a:pPr marL="241300" marR="1739900" lvl="1" indent="354965">
              <a:lnSpc>
                <a:spcPct val="69900"/>
              </a:lnSpc>
              <a:spcBef>
                <a:spcPts val="505"/>
              </a:spcBef>
              <a:buAutoNum type="arabicPeriod" startAt="4"/>
              <a:tabLst>
                <a:tab pos="596265" algn="l"/>
              </a:tabLst>
            </a:pP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discussion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guided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discussion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guide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product </a:t>
            </a:r>
            <a:r>
              <a:rPr sz="2800" dirty="0">
                <a:latin typeface="Times New Roman"/>
                <a:cs typeface="Times New Roman"/>
              </a:rPr>
              <a:t>requirements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identified.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4417" y="350583"/>
            <a:ext cx="10466070" cy="560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4160">
              <a:lnSpc>
                <a:spcPct val="100000"/>
              </a:lnSpc>
              <a:spcBef>
                <a:spcPts val="100"/>
              </a:spcBef>
              <a:tabLst>
                <a:tab pos="330898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Naturalistic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Observation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69900"/>
              </a:lnSpc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Times New Roman"/>
                <a:cs typeface="Times New Roman"/>
              </a:rPr>
              <a:t>Naturalistic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Observation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difficult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humans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explain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even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describe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accurately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how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achieve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task.</a:t>
            </a:r>
            <a:endParaRPr sz="22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200"/>
              </a:lnSpc>
              <a:buFont typeface="Arial MT"/>
              <a:buChar char="•"/>
              <a:tabLst>
                <a:tab pos="697865" algn="l"/>
                <a:tab pos="9323705" algn="l"/>
              </a:tabLst>
            </a:pPr>
            <a:r>
              <a:rPr sz="2200" dirty="0">
                <a:latin typeface="Times New Roman"/>
                <a:cs typeface="Times New Roman"/>
              </a:rPr>
              <a:t>Spend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stakeholders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day-to-</a:t>
            </a:r>
            <a:r>
              <a:rPr sz="2200" dirty="0">
                <a:latin typeface="Times New Roman"/>
                <a:cs typeface="Times New Roman"/>
              </a:rPr>
              <a:t>day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tasks,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observing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happens</a:t>
            </a:r>
            <a:endParaRPr sz="22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34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Times New Roman"/>
                <a:cs typeface="Times New Roman"/>
              </a:rPr>
              <a:t>Gain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insights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stakeholders’</a:t>
            </a:r>
            <a:r>
              <a:rPr sz="2200" spc="-1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tasks</a:t>
            </a:r>
            <a:endParaRPr sz="2200">
              <a:latin typeface="Times New Roman"/>
              <a:cs typeface="Times New Roman"/>
            </a:endParaRPr>
          </a:p>
          <a:p>
            <a:pPr marL="697865" marR="5438775" lvl="1" indent="-227965">
              <a:lnSpc>
                <a:spcPct val="70500"/>
              </a:lnSpc>
              <a:spcBef>
                <a:spcPts val="635"/>
              </a:spcBef>
              <a:buFont typeface="Arial MT"/>
              <a:buChar char="•"/>
              <a:tabLst>
                <a:tab pos="927100" algn="l"/>
              </a:tabLst>
            </a:pPr>
            <a:r>
              <a:rPr sz="2200" dirty="0">
                <a:latin typeface="Times New Roman"/>
                <a:cs typeface="Times New Roman"/>
              </a:rPr>
              <a:t>Good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understanding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nature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 	</a:t>
            </a:r>
            <a:r>
              <a:rPr sz="2200" dirty="0">
                <a:latin typeface="Times New Roman"/>
                <a:cs typeface="Times New Roman"/>
              </a:rPr>
              <a:t>context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tasks</a:t>
            </a:r>
            <a:endParaRPr sz="22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1939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commitment</a:t>
            </a:r>
            <a:endParaRPr sz="2200">
              <a:latin typeface="Times New Roman"/>
              <a:cs typeface="Times New Roman"/>
            </a:endParaRPr>
          </a:p>
          <a:p>
            <a:pPr marL="927100" marR="5141595">
              <a:lnSpc>
                <a:spcPct val="69900"/>
              </a:lnSpc>
              <a:spcBef>
                <a:spcPts val="405"/>
              </a:spcBef>
            </a:pP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member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design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team,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result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huge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amount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data</a:t>
            </a:r>
            <a:endParaRPr sz="22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330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b="1" dirty="0">
                <a:latin typeface="Times New Roman"/>
                <a:cs typeface="Times New Roman"/>
              </a:rPr>
              <a:t>Ethnography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is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one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form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entire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devoted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this.</a:t>
            </a: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ts val="2495"/>
              </a:lnSpc>
              <a:spcBef>
                <a:spcPts val="204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Times New Roman"/>
                <a:cs typeface="Times New Roman"/>
              </a:rPr>
              <a:t>Directly</a:t>
            </a:r>
            <a:r>
              <a:rPr sz="2200" b="1" spc="-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Observing</a:t>
            </a:r>
            <a:r>
              <a:rPr sz="2200" b="1" spc="-10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Users</a:t>
            </a:r>
            <a:endParaRPr sz="22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34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Times New Roman"/>
                <a:cs typeface="Times New Roman"/>
              </a:rPr>
              <a:t>Serves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good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method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supplement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interviews</a:t>
            </a:r>
            <a:endParaRPr sz="22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34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Times New Roman"/>
                <a:cs typeface="Times New Roman"/>
              </a:rPr>
              <a:t>Often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difficult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obtain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unbiased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data</a:t>
            </a:r>
            <a:endParaRPr sz="22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34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Times New Roman"/>
                <a:cs typeface="Times New Roman"/>
              </a:rPr>
              <a:t>People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often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differently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observed</a:t>
            </a:r>
            <a:endParaRPr sz="2200">
              <a:latin typeface="Times New Roman"/>
              <a:cs typeface="Times New Roman"/>
            </a:endParaRPr>
          </a:p>
          <a:p>
            <a:pPr marL="698500" marR="204470" lvl="1" indent="-228600">
              <a:lnSpc>
                <a:spcPct val="69900"/>
              </a:lnSpc>
              <a:spcBef>
                <a:spcPts val="645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cognizant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normal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abnormal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conditions,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e.g.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entering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order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vs.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 </a:t>
            </a:r>
            <a:r>
              <a:rPr sz="2200" dirty="0">
                <a:latin typeface="Times New Roman"/>
                <a:cs typeface="Times New Roman"/>
              </a:rPr>
              <a:t>quarter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sales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report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67218" y="350583"/>
            <a:ext cx="10302875" cy="6152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0">
              <a:lnSpc>
                <a:spcPct val="100000"/>
              </a:lnSpc>
              <a:spcBef>
                <a:spcPts val="100"/>
              </a:spcBef>
              <a:tabLst>
                <a:tab pos="369252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Document</a:t>
            </a:r>
            <a:r>
              <a:rPr sz="3600" b="1" u="heavy" spc="-2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ts val="265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Studying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documentation: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Procedures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rules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often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written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down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50" dirty="0">
                <a:latin typeface="Times New Roman"/>
                <a:cs typeface="Times New Roman"/>
              </a:rPr>
              <a:t> a</a:t>
            </a:r>
            <a:endParaRPr sz="2600">
              <a:latin typeface="Times New Roman"/>
              <a:cs typeface="Times New Roman"/>
            </a:endParaRPr>
          </a:p>
          <a:p>
            <a:pPr marL="241300" marR="353695">
              <a:lnSpc>
                <a:spcPct val="69900"/>
              </a:lnSpc>
              <a:spcBef>
                <a:spcPts val="470"/>
              </a:spcBef>
            </a:pPr>
            <a:r>
              <a:rPr sz="2600" dirty="0">
                <a:latin typeface="Times New Roman"/>
                <a:cs typeface="Times New Roman"/>
              </a:rPr>
              <a:t>manual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these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good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source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about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steps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involved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an </a:t>
            </a:r>
            <a:r>
              <a:rPr sz="2600" dirty="0">
                <a:latin typeface="Times New Roman"/>
                <a:cs typeface="Times New Roman"/>
              </a:rPr>
              <a:t>activity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any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regulations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governing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task.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29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Four</a:t>
            </a:r>
            <a:r>
              <a:rPr sz="26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types</a:t>
            </a:r>
            <a:r>
              <a:rPr sz="26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6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useful</a:t>
            </a:r>
            <a:r>
              <a:rPr sz="26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documents</a:t>
            </a:r>
            <a:endParaRPr sz="26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68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latin typeface="Times New Roman"/>
                <a:cs typeface="Times New Roman"/>
              </a:rPr>
              <a:t>Written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work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procedures</a:t>
            </a:r>
            <a:endParaRPr sz="2600">
              <a:latin typeface="Times New Roman"/>
              <a:cs typeface="Times New Roman"/>
            </a:endParaRPr>
          </a:p>
          <a:p>
            <a:pPr marL="1155700" lvl="2" indent="-228600">
              <a:lnSpc>
                <a:spcPts val="2680"/>
              </a:lnSpc>
              <a:buFont typeface="Arial MT"/>
              <a:buChar char="•"/>
              <a:tabLst>
                <a:tab pos="1155700" algn="l"/>
              </a:tabLst>
            </a:pPr>
            <a:r>
              <a:rPr sz="2600" dirty="0">
                <a:latin typeface="Times New Roman"/>
                <a:cs typeface="Times New Roman"/>
              </a:rPr>
              <a:t>Describes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how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job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performed</a:t>
            </a:r>
            <a:endParaRPr sz="2600">
              <a:latin typeface="Times New Roman"/>
              <a:cs typeface="Times New Roman"/>
            </a:endParaRPr>
          </a:p>
          <a:p>
            <a:pPr marL="1155700" marR="650240" lvl="2" indent="-228600">
              <a:lnSpc>
                <a:spcPct val="69900"/>
              </a:lnSpc>
              <a:spcBef>
                <a:spcPts val="720"/>
              </a:spcBef>
              <a:buFont typeface="Arial MT"/>
              <a:buChar char="•"/>
              <a:tabLst>
                <a:tab pos="1155700" algn="l"/>
              </a:tabLst>
            </a:pPr>
            <a:r>
              <a:rPr sz="2600" dirty="0">
                <a:latin typeface="Times New Roman"/>
                <a:cs typeface="Times New Roman"/>
              </a:rPr>
              <a:t>Includes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information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created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of </a:t>
            </a:r>
            <a:r>
              <a:rPr sz="2600" dirty="0">
                <a:latin typeface="Times New Roman"/>
                <a:cs typeface="Times New Roman"/>
              </a:rPr>
              <a:t>performing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job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task</a:t>
            </a:r>
            <a:endParaRPr sz="26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46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latin typeface="Times New Roman"/>
                <a:cs typeface="Times New Roman"/>
              </a:rPr>
              <a:t>Business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latin typeface="Times New Roman"/>
                <a:cs typeface="Times New Roman"/>
              </a:rPr>
              <a:t>form</a:t>
            </a:r>
            <a:endParaRPr sz="2600">
              <a:latin typeface="Times New Roman"/>
              <a:cs typeface="Times New Roman"/>
            </a:endParaRPr>
          </a:p>
          <a:p>
            <a:pPr marL="1155700" lvl="2" indent="-228600">
              <a:lnSpc>
                <a:spcPts val="2680"/>
              </a:lnSpc>
              <a:buFont typeface="Arial MT"/>
              <a:buChar char="•"/>
              <a:tabLst>
                <a:tab pos="1155700" algn="l"/>
              </a:tabLst>
            </a:pPr>
            <a:r>
              <a:rPr sz="2600" dirty="0">
                <a:latin typeface="Times New Roman"/>
                <a:cs typeface="Times New Roman"/>
              </a:rPr>
              <a:t>Explicitly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indicate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data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flow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out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</a:t>
            </a:r>
            <a:endParaRPr sz="26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68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Report</a:t>
            </a:r>
            <a:endParaRPr sz="2600">
              <a:latin typeface="Times New Roman"/>
              <a:cs typeface="Times New Roman"/>
            </a:endParaRPr>
          </a:p>
          <a:p>
            <a:pPr marL="1155700" marR="458470" lvl="2" indent="-228600">
              <a:lnSpc>
                <a:spcPct val="69900"/>
              </a:lnSpc>
              <a:spcBef>
                <a:spcPts val="720"/>
              </a:spcBef>
              <a:buFont typeface="Arial MT"/>
              <a:buChar char="•"/>
              <a:tabLst>
                <a:tab pos="1155700" algn="l"/>
              </a:tabLst>
            </a:pPr>
            <a:r>
              <a:rPr sz="2600" dirty="0">
                <a:latin typeface="Times New Roman"/>
                <a:cs typeface="Times New Roman"/>
              </a:rPr>
              <a:t>Enables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analyst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work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backwards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from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report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data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generated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it</a:t>
            </a:r>
            <a:endParaRPr sz="26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68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latin typeface="Times New Roman"/>
                <a:cs typeface="Times New Roman"/>
              </a:rPr>
              <a:t>Description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of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current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information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system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2385" y="350583"/>
            <a:ext cx="10422890" cy="1869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81120">
              <a:lnSpc>
                <a:spcPct val="100000"/>
              </a:lnSpc>
              <a:spcBef>
                <a:spcPts val="100"/>
              </a:spcBef>
              <a:tabLst>
                <a:tab pos="438594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Interviewing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6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260"/>
              </a:lnSpc>
              <a:buChar char="•"/>
              <a:tabLst>
                <a:tab pos="241300" algn="l"/>
                <a:tab pos="307340" algn="l"/>
              </a:tabLst>
            </a:pPr>
            <a:r>
              <a:rPr sz="2100" dirty="0">
                <a:latin typeface="Arial MT"/>
                <a:cs typeface="Arial MT"/>
              </a:rPr>
              <a:t>	</a:t>
            </a:r>
            <a:r>
              <a:rPr sz="2100" b="1" dirty="0">
                <a:latin typeface="Times New Roman"/>
                <a:cs typeface="Times New Roman"/>
              </a:rPr>
              <a:t>Interviews:</a:t>
            </a:r>
            <a:r>
              <a:rPr sz="2100" b="1" spc="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Interviews</a:t>
            </a:r>
            <a:r>
              <a:rPr sz="2100" spc="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involve</a:t>
            </a:r>
            <a:r>
              <a:rPr sz="2100" spc="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asking</a:t>
            </a:r>
            <a:r>
              <a:rPr sz="2100" spc="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someone</a:t>
            </a:r>
            <a:r>
              <a:rPr sz="2100" spc="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set</a:t>
            </a:r>
            <a:r>
              <a:rPr sz="2100" spc="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questions.</a:t>
            </a:r>
            <a:r>
              <a:rPr sz="2100" spc="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Often</a:t>
            </a:r>
            <a:r>
              <a:rPr sz="2100" spc="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interviews</a:t>
            </a:r>
            <a:r>
              <a:rPr sz="2100" spc="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are</a:t>
            </a:r>
            <a:r>
              <a:rPr sz="2100" spc="6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face- to-</a:t>
            </a:r>
            <a:r>
              <a:rPr sz="2100" dirty="0">
                <a:latin typeface="Times New Roman"/>
                <a:cs typeface="Times New Roman"/>
              </a:rPr>
              <a:t>face,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but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they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don’t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have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to.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2385" y="2289175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4160" y="2334895"/>
            <a:ext cx="10191115" cy="2971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260"/>
              </a:lnSpc>
            </a:pPr>
            <a:r>
              <a:rPr sz="2100" dirty="0">
                <a:latin typeface="Times New Roman"/>
                <a:cs typeface="Times New Roman"/>
              </a:rPr>
              <a:t>Interviews</a:t>
            </a:r>
            <a:r>
              <a:rPr sz="2100" spc="2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are</a:t>
            </a:r>
            <a:r>
              <a:rPr sz="2100" spc="2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good</a:t>
            </a:r>
            <a:r>
              <a:rPr sz="2100" spc="2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getting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</a:t>
            </a:r>
            <a:r>
              <a:rPr sz="2100" spc="229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overall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understanding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229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what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stakeholders</a:t>
            </a:r>
            <a:r>
              <a:rPr sz="2100" spc="2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do,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how</a:t>
            </a:r>
            <a:r>
              <a:rPr sz="2100" spc="229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they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4160" y="2632075"/>
            <a:ext cx="9732645" cy="2876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185"/>
              </a:lnSpc>
            </a:pPr>
            <a:r>
              <a:rPr sz="2100" dirty="0">
                <a:latin typeface="Times New Roman"/>
                <a:cs typeface="Times New Roman"/>
              </a:rPr>
              <a:t>might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interact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new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system,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difficulties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that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they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face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current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systems.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2385" y="2896869"/>
            <a:ext cx="10423525" cy="324929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dirty="0">
                <a:latin typeface="Times New Roman"/>
                <a:cs typeface="Times New Roman"/>
              </a:rPr>
              <a:t>Formal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or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informal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interviews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stakeholders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are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part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most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processes.</a:t>
            </a:r>
            <a:endParaRPr sz="2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b="1" spc="-20" dirty="0">
                <a:latin typeface="Times New Roman"/>
                <a:cs typeface="Times New Roman"/>
              </a:rPr>
              <a:t>Types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of</a:t>
            </a:r>
            <a:r>
              <a:rPr sz="2100" b="1" spc="-45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interview</a:t>
            </a:r>
            <a:endParaRPr sz="21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865" algn="l"/>
              </a:tabLst>
            </a:pPr>
            <a:r>
              <a:rPr sz="2100" b="1" dirty="0">
                <a:solidFill>
                  <a:srgbClr val="FF0000"/>
                </a:solidFill>
                <a:latin typeface="Times New Roman"/>
                <a:cs typeface="Times New Roman"/>
              </a:rPr>
              <a:t>Closed</a:t>
            </a:r>
            <a:r>
              <a:rPr sz="21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FF0000"/>
                </a:solidFill>
                <a:latin typeface="Times New Roman"/>
                <a:cs typeface="Times New Roman"/>
              </a:rPr>
              <a:t>interviews</a:t>
            </a:r>
            <a:r>
              <a:rPr sz="21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based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on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pre-</a:t>
            </a:r>
            <a:r>
              <a:rPr sz="2100" dirty="0">
                <a:latin typeface="Times New Roman"/>
                <a:cs typeface="Times New Roman"/>
              </a:rPr>
              <a:t>determined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list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questions</a:t>
            </a:r>
            <a:endParaRPr sz="21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865" algn="l"/>
              </a:tabLst>
            </a:pPr>
            <a:r>
              <a:rPr sz="2100" b="1" dirty="0">
                <a:solidFill>
                  <a:srgbClr val="FF0000"/>
                </a:solidFill>
                <a:latin typeface="Times New Roman"/>
                <a:cs typeface="Times New Roman"/>
              </a:rPr>
              <a:t>Open</a:t>
            </a:r>
            <a:r>
              <a:rPr sz="21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FF0000"/>
                </a:solidFill>
                <a:latin typeface="Times New Roman"/>
                <a:cs typeface="Times New Roman"/>
              </a:rPr>
              <a:t>interviews</a:t>
            </a:r>
            <a:r>
              <a:rPr sz="21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where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various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issues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are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explored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stakeholders.</a:t>
            </a:r>
            <a:endParaRPr sz="2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b="1" dirty="0">
                <a:latin typeface="Times New Roman"/>
                <a:cs typeface="Times New Roman"/>
              </a:rPr>
              <a:t>Effective</a:t>
            </a:r>
            <a:r>
              <a:rPr sz="2100" b="1" spc="-75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interviewing</a:t>
            </a:r>
            <a:endParaRPr sz="21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226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2100" b="1" dirty="0">
                <a:latin typeface="Times New Roman"/>
                <a:cs typeface="Times New Roman"/>
              </a:rPr>
              <a:t>Be</a:t>
            </a:r>
            <a:r>
              <a:rPr sz="2100" b="1" spc="29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open-minded</a:t>
            </a:r>
            <a:r>
              <a:rPr sz="2100" dirty="0">
                <a:latin typeface="Times New Roman"/>
                <a:cs typeface="Times New Roman"/>
              </a:rPr>
              <a:t>,</a:t>
            </a:r>
            <a:r>
              <a:rPr sz="2100" spc="30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avoid</a:t>
            </a:r>
            <a:r>
              <a:rPr sz="2100" spc="30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pre-conceived</a:t>
            </a:r>
            <a:r>
              <a:rPr sz="2100" spc="30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ideas</a:t>
            </a:r>
            <a:r>
              <a:rPr sz="2100" spc="29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about</a:t>
            </a:r>
            <a:r>
              <a:rPr sz="2100" spc="30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29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requirements</a:t>
            </a:r>
            <a:r>
              <a:rPr sz="2100" spc="3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3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are</a:t>
            </a:r>
            <a:r>
              <a:rPr sz="2100" spc="3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willing</a:t>
            </a:r>
            <a:r>
              <a:rPr sz="2100" spc="31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to </a:t>
            </a:r>
            <a:r>
              <a:rPr sz="2100" dirty="0">
                <a:latin typeface="Times New Roman"/>
                <a:cs typeface="Times New Roman"/>
              </a:rPr>
              <a:t>listen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stakeholders.</a:t>
            </a:r>
            <a:endParaRPr sz="21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2270"/>
              </a:lnSpc>
              <a:spcBef>
                <a:spcPts val="505"/>
              </a:spcBef>
              <a:buFont typeface="Arial MT"/>
              <a:buChar char="•"/>
              <a:tabLst>
                <a:tab pos="698500" algn="l"/>
              </a:tabLst>
            </a:pPr>
            <a:r>
              <a:rPr sz="2100" b="1" spc="65" dirty="0">
                <a:latin typeface="Times New Roman"/>
                <a:cs typeface="Times New Roman"/>
              </a:rPr>
              <a:t>Prompt</a:t>
            </a:r>
            <a:r>
              <a:rPr sz="2100" b="1" spc="229" dirty="0">
                <a:latin typeface="Times New Roman"/>
                <a:cs typeface="Times New Roman"/>
              </a:rPr>
              <a:t> </a:t>
            </a:r>
            <a:r>
              <a:rPr sz="2100" b="1" spc="60" dirty="0">
                <a:latin typeface="Times New Roman"/>
                <a:cs typeface="Times New Roman"/>
              </a:rPr>
              <a:t>the</a:t>
            </a:r>
            <a:r>
              <a:rPr sz="2100" b="1" spc="229" dirty="0">
                <a:latin typeface="Times New Roman"/>
                <a:cs typeface="Times New Roman"/>
              </a:rPr>
              <a:t> </a:t>
            </a:r>
            <a:r>
              <a:rPr sz="2100" b="1" spc="85" dirty="0">
                <a:latin typeface="Times New Roman"/>
                <a:cs typeface="Times New Roman"/>
              </a:rPr>
              <a:t>interviewee</a:t>
            </a:r>
            <a:r>
              <a:rPr sz="2100" b="1" spc="229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get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discussions</a:t>
            </a:r>
            <a:r>
              <a:rPr sz="2100" spc="229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going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using</a:t>
            </a:r>
            <a:r>
              <a:rPr sz="2100" spc="229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229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springboard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spc="85" dirty="0">
                <a:latin typeface="Times New Roman"/>
                <a:cs typeface="Times New Roman"/>
              </a:rPr>
              <a:t>question,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Times New Roman"/>
                <a:cs typeface="Times New Roman"/>
              </a:rPr>
              <a:t>a </a:t>
            </a:r>
            <a:r>
              <a:rPr sz="2100" dirty="0">
                <a:latin typeface="Times New Roman"/>
                <a:cs typeface="Times New Roman"/>
              </a:rPr>
              <a:t>requirements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proposal,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or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by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working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together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prototype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system.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4847" y="350583"/>
            <a:ext cx="4772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Interviews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practice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7375" y="1572920"/>
            <a:ext cx="14986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9150" y="1632610"/>
            <a:ext cx="7972425" cy="3930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985"/>
              </a:lnSpc>
            </a:pPr>
            <a:r>
              <a:rPr sz="2800" dirty="0">
                <a:latin typeface="Times New Roman"/>
                <a:cs typeface="Times New Roman"/>
              </a:rPr>
              <a:t>Normally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mix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closed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open-</a:t>
            </a:r>
            <a:r>
              <a:rPr sz="2800" dirty="0">
                <a:latin typeface="Times New Roman"/>
                <a:cs typeface="Times New Roman"/>
              </a:rPr>
              <a:t>ended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interviewing.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7375" y="2083460"/>
            <a:ext cx="10179050" cy="24612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39395" marR="582295" indent="-227329">
              <a:lnSpc>
                <a:spcPts val="3020"/>
              </a:lnSpc>
              <a:spcBef>
                <a:spcPts val="47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Times New Roman"/>
                <a:cs typeface="Times New Roman"/>
              </a:rPr>
              <a:t>Interviews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are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good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getting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overall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understanding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what 	</a:t>
            </a:r>
            <a:r>
              <a:rPr sz="2800" dirty="0">
                <a:latin typeface="Times New Roman"/>
                <a:cs typeface="Times New Roman"/>
              </a:rPr>
              <a:t>stakeholders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might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interact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system.</a:t>
            </a:r>
            <a:endParaRPr sz="2800">
              <a:latin typeface="Times New Roman"/>
              <a:cs typeface="Times New Roman"/>
            </a:endParaRPr>
          </a:p>
          <a:p>
            <a:pPr marL="227329" marR="641985" indent="-227329" algn="r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27329" algn="l"/>
              </a:tabLst>
            </a:pPr>
            <a:r>
              <a:rPr sz="2800" b="1" dirty="0">
                <a:latin typeface="Times New Roman"/>
                <a:cs typeface="Times New Roman"/>
              </a:rPr>
              <a:t>Interviews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are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not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good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understanding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domain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requirements</a:t>
            </a:r>
            <a:endParaRPr sz="2800">
              <a:latin typeface="Times New Roman"/>
              <a:cs typeface="Times New Roman"/>
            </a:endParaRPr>
          </a:p>
          <a:p>
            <a:pPr marL="227329" marR="570865" lvl="1" indent="-227329" algn="r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227329" algn="l"/>
              </a:tabLst>
            </a:pPr>
            <a:r>
              <a:rPr sz="2400" dirty="0">
                <a:latin typeface="Times New Roman"/>
                <a:cs typeface="Times New Roman"/>
              </a:rPr>
              <a:t>Requirements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engineers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cannot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domain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terminology;</a:t>
            </a:r>
            <a:endParaRPr sz="2400">
              <a:latin typeface="Times New Roman"/>
              <a:cs typeface="Times New Roman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35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Times New Roman"/>
                <a:cs typeface="Times New Roman"/>
              </a:rPr>
              <a:t>Some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domain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knowledge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familiar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people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hard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articulate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 	</a:t>
            </a:r>
            <a:r>
              <a:rPr sz="2400" dirty="0">
                <a:latin typeface="Times New Roman"/>
                <a:cs typeface="Times New Roman"/>
              </a:rPr>
              <a:t>think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isn’t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articulating.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33442" y="499745"/>
            <a:ext cx="3121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195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Ethnography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98472" y="1644967"/>
          <a:ext cx="10031095" cy="18370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165"/>
                <a:gridCol w="8769350"/>
                <a:gridCol w="373379"/>
              </a:tblGrid>
              <a:tr h="365760">
                <a:tc gridSpan="3">
                  <a:txBody>
                    <a:bodyPr/>
                    <a:lstStyle/>
                    <a:p>
                      <a:pPr>
                        <a:lnSpc>
                          <a:spcPts val="2780"/>
                        </a:lnSpc>
                      </a:pPr>
                      <a:r>
                        <a:rPr sz="3000" spc="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Ethnography</a:t>
                      </a:r>
                      <a:r>
                        <a:rPr sz="3000" spc="2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3000" spc="2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3000" spc="2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spc="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observational</a:t>
                      </a:r>
                      <a:r>
                        <a:rPr sz="3000" spc="2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spc="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technique</a:t>
                      </a:r>
                      <a:r>
                        <a:rPr sz="3000" spc="2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3000" spc="2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3000" spc="2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3000" spc="2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3000" spc="2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740410">
                <a:tc gridSpan="3">
                  <a:txBody>
                    <a:bodyPr/>
                    <a:lstStyle/>
                    <a:p>
                      <a:pPr marL="9525" marR="3175">
                        <a:lnSpc>
                          <a:spcPct val="80000"/>
                        </a:lnSpc>
                      </a:pPr>
                      <a:r>
                        <a:rPr sz="300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understand</a:t>
                      </a:r>
                      <a:r>
                        <a:rPr sz="3000" spc="3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operational</a:t>
                      </a:r>
                      <a:r>
                        <a:rPr sz="3000" spc="36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processes</a:t>
                      </a:r>
                      <a:r>
                        <a:rPr sz="3000" spc="36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spc="1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3000" spc="3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spc="12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help</a:t>
                      </a:r>
                      <a:r>
                        <a:rPr sz="3000" spc="36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spc="13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derive</a:t>
                      </a:r>
                      <a:r>
                        <a:rPr sz="3000" spc="36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spc="13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support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3000" spc="29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3000" spc="30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these</a:t>
                      </a:r>
                      <a:r>
                        <a:rPr sz="3000" spc="3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processes.</a:t>
                      </a:r>
                      <a:r>
                        <a:rPr sz="3000" spc="10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3000" spc="3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analyst</a:t>
                      </a:r>
                      <a:r>
                        <a:rPr sz="3000" spc="32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immerses</a:t>
                      </a:r>
                      <a:r>
                        <a:rPr sz="3000" spc="3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himself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65760">
                <a:tc gridSpan="2">
                  <a:txBody>
                    <a:bodyPr/>
                    <a:lstStyle/>
                    <a:p>
                      <a:pPr marL="9525">
                        <a:lnSpc>
                          <a:spcPts val="2780"/>
                        </a:lnSpc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3000" spc="1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herself</a:t>
                      </a:r>
                      <a:r>
                        <a:rPr sz="3000" spc="1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3000" spc="1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3000" spc="1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working</a:t>
                      </a:r>
                      <a:r>
                        <a:rPr sz="3000" spc="16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environment</a:t>
                      </a:r>
                      <a:r>
                        <a:rPr sz="3000" spc="1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where</a:t>
                      </a:r>
                      <a:r>
                        <a:rPr sz="3000" spc="16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3000" spc="16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3000" spc="1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spc="-2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will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780"/>
                        </a:lnSpc>
                      </a:pPr>
                      <a:r>
                        <a:rPr sz="3000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be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525">
                        <a:lnSpc>
                          <a:spcPts val="2780"/>
                        </a:lnSpc>
                      </a:pPr>
                      <a:r>
                        <a:rPr sz="3000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used.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571167" y="3499167"/>
            <a:ext cx="9976485" cy="1945639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6830" marR="5080" indent="-24130" algn="just">
              <a:lnSpc>
                <a:spcPts val="2880"/>
              </a:lnSpc>
              <a:spcBef>
                <a:spcPts val="795"/>
              </a:spcBef>
            </a:pPr>
            <a:r>
              <a:rPr sz="3000" spc="50" dirty="0">
                <a:solidFill>
                  <a:srgbClr val="FF0000"/>
                </a:solidFill>
                <a:latin typeface="Times New Roman"/>
                <a:cs typeface="Times New Roman"/>
              </a:rPr>
              <a:t>Ethnography</a:t>
            </a:r>
            <a:r>
              <a:rPr sz="3000" spc="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spc="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3000" spc="2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FF0000"/>
                </a:solidFill>
                <a:latin typeface="Times New Roman"/>
                <a:cs typeface="Times New Roman"/>
              </a:rPr>
              <a:t>observational</a:t>
            </a:r>
            <a:r>
              <a:rPr sz="3000" spc="2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FF0000"/>
                </a:solidFill>
                <a:latin typeface="Times New Roman"/>
                <a:cs typeface="Times New Roman"/>
              </a:rPr>
              <a:t>technique</a:t>
            </a:r>
            <a:r>
              <a:rPr sz="3000" spc="2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that</a:t>
            </a:r>
            <a:r>
              <a:rPr sz="3000" spc="2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can</a:t>
            </a:r>
            <a:r>
              <a:rPr sz="3000" spc="2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be</a:t>
            </a:r>
            <a:r>
              <a:rPr sz="3000" spc="21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used</a:t>
            </a:r>
            <a:r>
              <a:rPr sz="3000" spc="2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0D0D0D"/>
                </a:solidFill>
                <a:latin typeface="Times New Roman"/>
                <a:cs typeface="Times New Roman"/>
              </a:rPr>
              <a:t>to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understand</a:t>
            </a:r>
            <a:r>
              <a:rPr sz="3000" spc="3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operational</a:t>
            </a:r>
            <a:r>
              <a:rPr sz="3000" spc="3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processes</a:t>
            </a:r>
            <a:r>
              <a:rPr sz="3000" spc="3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3000" spc="3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help</a:t>
            </a:r>
            <a:r>
              <a:rPr sz="3000" spc="3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derive</a:t>
            </a:r>
            <a:r>
              <a:rPr sz="3000" spc="3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0D0D0D"/>
                </a:solidFill>
                <a:latin typeface="Times New Roman"/>
                <a:cs typeface="Times New Roman"/>
              </a:rPr>
              <a:t>requirements </a:t>
            </a:r>
            <a:r>
              <a:rPr sz="3000" spc="114" dirty="0">
                <a:solidFill>
                  <a:srgbClr val="0D0D0D"/>
                </a:solidFill>
                <a:latin typeface="Times New Roman"/>
                <a:cs typeface="Times New Roman"/>
              </a:rPr>
              <a:t>for</a:t>
            </a:r>
            <a:r>
              <a:rPr sz="3000" spc="38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spc="135" dirty="0">
                <a:solidFill>
                  <a:srgbClr val="0D0D0D"/>
                </a:solidFill>
                <a:latin typeface="Times New Roman"/>
                <a:cs typeface="Times New Roman"/>
              </a:rPr>
              <a:t>these</a:t>
            </a:r>
            <a:r>
              <a:rPr sz="3000" spc="38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spc="155" dirty="0">
                <a:solidFill>
                  <a:srgbClr val="0D0D0D"/>
                </a:solidFill>
                <a:latin typeface="Times New Roman"/>
                <a:cs typeface="Times New Roman"/>
              </a:rPr>
              <a:t>processes.</a:t>
            </a:r>
            <a:r>
              <a:rPr sz="3000" spc="3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0D0D0D"/>
                </a:solidFill>
                <a:latin typeface="Times New Roman"/>
                <a:cs typeface="Times New Roman"/>
              </a:rPr>
              <a:t>It</a:t>
            </a:r>
            <a:r>
              <a:rPr sz="3000" spc="3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0D0D0D"/>
                </a:solidFill>
                <a:latin typeface="Times New Roman"/>
                <a:cs typeface="Times New Roman"/>
              </a:rPr>
              <a:t>helps</a:t>
            </a:r>
            <a:r>
              <a:rPr sz="3000" spc="38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0D0D0D"/>
                </a:solidFill>
                <a:latin typeface="Times New Roman"/>
                <a:cs typeface="Times New Roman"/>
              </a:rPr>
              <a:t>discover</a:t>
            </a:r>
            <a:r>
              <a:rPr sz="3000" spc="3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spc="114" dirty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sz="3000" spc="3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0D0D0D"/>
                </a:solidFill>
                <a:latin typeface="Times New Roman"/>
                <a:cs typeface="Times New Roman"/>
              </a:rPr>
              <a:t>implicit</a:t>
            </a:r>
            <a:r>
              <a:rPr sz="3000" spc="40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spc="135" dirty="0">
                <a:solidFill>
                  <a:srgbClr val="0D0D0D"/>
                </a:solidFill>
                <a:latin typeface="Times New Roman"/>
                <a:cs typeface="Times New Roman"/>
              </a:rPr>
              <a:t>system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requirements</a:t>
            </a:r>
            <a:r>
              <a:rPr sz="3000" spc="1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that</a:t>
            </a:r>
            <a:r>
              <a:rPr sz="3000" spc="1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reflect</a:t>
            </a:r>
            <a:r>
              <a:rPr sz="3000" spc="1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sz="3000" spc="1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actual</a:t>
            </a:r>
            <a:r>
              <a:rPr sz="3000" spc="1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way</a:t>
            </a:r>
            <a:r>
              <a:rPr sz="3000" spc="1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that</a:t>
            </a:r>
            <a:r>
              <a:rPr sz="3000" spc="1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people</a:t>
            </a:r>
            <a:r>
              <a:rPr sz="3000" spc="1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work</a:t>
            </a:r>
            <a:r>
              <a:rPr sz="3000" spc="1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0D0D0D"/>
                </a:solidFill>
                <a:latin typeface="Times New Roman"/>
                <a:cs typeface="Times New Roman"/>
              </a:rPr>
              <a:t>rather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than</a:t>
            </a:r>
            <a:r>
              <a:rPr sz="3000" spc="-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formal</a:t>
            </a:r>
            <a:r>
              <a:rPr sz="3000" spc="-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processes</a:t>
            </a:r>
            <a:r>
              <a:rPr sz="3000" spc="-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defined</a:t>
            </a:r>
            <a:r>
              <a:rPr sz="3000" spc="-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by</a:t>
            </a:r>
            <a:r>
              <a:rPr sz="3000" spc="-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sz="3000" spc="-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0D0D0D"/>
                </a:solidFill>
                <a:latin typeface="Times New Roman"/>
                <a:cs typeface="Times New Roman"/>
              </a:rPr>
              <a:t>organization.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76850" y="443090"/>
            <a:ext cx="3121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195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Ethnography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6298" y="1609344"/>
            <a:ext cx="10051415" cy="401192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9050" algn="just">
              <a:lnSpc>
                <a:spcPct val="100000"/>
              </a:lnSpc>
              <a:spcBef>
                <a:spcPts val="900"/>
              </a:spcBef>
            </a:pPr>
            <a:r>
              <a:rPr sz="1850" dirty="0">
                <a:latin typeface="Times New Roman"/>
                <a:cs typeface="Times New Roman"/>
              </a:rPr>
              <a:t>Particularly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useful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discovering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following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two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types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requirements:</a:t>
            </a:r>
            <a:endParaRPr sz="1850">
              <a:latin typeface="Times New Roman"/>
              <a:cs typeface="Times New Roman"/>
            </a:endParaRPr>
          </a:p>
          <a:p>
            <a:pPr marL="12700" marR="29845" indent="6350" algn="just">
              <a:lnSpc>
                <a:spcPts val="2030"/>
              </a:lnSpc>
              <a:spcBef>
                <a:spcPts val="1035"/>
              </a:spcBef>
            </a:pP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18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18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185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derived</a:t>
            </a:r>
            <a:r>
              <a:rPr sz="185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185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85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way</a:t>
            </a:r>
            <a:r>
              <a:rPr sz="185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which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people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actually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work,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rather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than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way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which </a:t>
            </a:r>
            <a:r>
              <a:rPr sz="1850" dirty="0">
                <a:latin typeface="Times New Roman"/>
                <a:cs typeface="Times New Roman"/>
              </a:rPr>
              <a:t>process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definitions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say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they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ought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work.</a:t>
            </a:r>
            <a:endParaRPr sz="1850">
              <a:latin typeface="Times New Roman"/>
              <a:cs typeface="Times New Roman"/>
            </a:endParaRPr>
          </a:p>
          <a:p>
            <a:pPr marL="12700" marR="5080" indent="6350" algn="just">
              <a:lnSpc>
                <a:spcPts val="2030"/>
              </a:lnSpc>
              <a:spcBef>
                <a:spcPts val="1000"/>
              </a:spcBef>
            </a:pPr>
            <a:r>
              <a:rPr sz="1850" b="1" dirty="0">
                <a:latin typeface="Times New Roman"/>
                <a:cs typeface="Times New Roman"/>
              </a:rPr>
              <a:t>For</a:t>
            </a:r>
            <a:r>
              <a:rPr sz="1850" b="1" spc="175" dirty="0">
                <a:latin typeface="Times New Roman"/>
                <a:cs typeface="Times New Roman"/>
              </a:rPr>
              <a:t> </a:t>
            </a:r>
            <a:r>
              <a:rPr sz="1850" b="1" spc="50" dirty="0">
                <a:latin typeface="Times New Roman"/>
                <a:cs typeface="Times New Roman"/>
              </a:rPr>
              <a:t>example</a:t>
            </a:r>
            <a:r>
              <a:rPr sz="1850" spc="50" dirty="0">
                <a:latin typeface="Times New Roman"/>
                <a:cs typeface="Times New Roman"/>
              </a:rPr>
              <a:t>,</a:t>
            </a:r>
            <a:r>
              <a:rPr sz="1850" spc="229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air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traffic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spc="50" dirty="0">
                <a:latin typeface="Times New Roman"/>
                <a:cs typeface="Times New Roman"/>
              </a:rPr>
              <a:t>controllers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may</a:t>
            </a:r>
            <a:r>
              <a:rPr sz="1850" spc="229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switch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off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229" dirty="0">
                <a:latin typeface="Times New Roman"/>
                <a:cs typeface="Times New Roman"/>
              </a:rPr>
              <a:t> </a:t>
            </a:r>
            <a:r>
              <a:rPr sz="1850" spc="45" dirty="0">
                <a:latin typeface="Times New Roman"/>
                <a:cs typeface="Times New Roman"/>
              </a:rPr>
              <a:t>conflict</a:t>
            </a:r>
            <a:r>
              <a:rPr sz="1850" spc="2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alert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system</a:t>
            </a:r>
            <a:r>
              <a:rPr sz="1850" spc="2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spc="45" dirty="0">
                <a:latin typeface="Times New Roman"/>
                <a:cs typeface="Times New Roman"/>
              </a:rPr>
              <a:t>detects</a:t>
            </a:r>
            <a:r>
              <a:rPr sz="1850" spc="220" dirty="0">
                <a:latin typeface="Times New Roman"/>
                <a:cs typeface="Times New Roman"/>
              </a:rPr>
              <a:t> </a:t>
            </a:r>
            <a:r>
              <a:rPr sz="1850" spc="45" dirty="0">
                <a:latin typeface="Times New Roman"/>
                <a:cs typeface="Times New Roman"/>
              </a:rPr>
              <a:t>aircraft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with </a:t>
            </a:r>
            <a:r>
              <a:rPr sz="1850" dirty="0">
                <a:latin typeface="Times New Roman"/>
                <a:cs typeface="Times New Roman"/>
              </a:rPr>
              <a:t>intersecting</a:t>
            </a:r>
            <a:r>
              <a:rPr sz="1850" spc="2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flight</a:t>
            </a:r>
            <a:r>
              <a:rPr sz="1850" spc="2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paths,</a:t>
            </a:r>
            <a:r>
              <a:rPr sz="1850" spc="2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even</a:t>
            </a:r>
            <a:r>
              <a:rPr sz="1850" spc="2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though</a:t>
            </a:r>
            <a:r>
              <a:rPr sz="1850" spc="2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normal</a:t>
            </a:r>
            <a:r>
              <a:rPr sz="1850" spc="2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control</a:t>
            </a:r>
            <a:r>
              <a:rPr sz="1850" spc="2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procedures</a:t>
            </a:r>
            <a:r>
              <a:rPr sz="1850" spc="2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specify</a:t>
            </a:r>
            <a:r>
              <a:rPr sz="1850" spc="2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2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it</a:t>
            </a:r>
            <a:r>
              <a:rPr sz="1850" spc="2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should</a:t>
            </a:r>
            <a:r>
              <a:rPr sz="1850" spc="2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3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used.</a:t>
            </a:r>
            <a:r>
              <a:rPr sz="1850" spc="24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They </a:t>
            </a:r>
            <a:r>
              <a:rPr sz="1850" spc="45" dirty="0">
                <a:latin typeface="Times New Roman"/>
                <a:cs typeface="Times New Roman"/>
              </a:rPr>
              <a:t>deliberately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put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spc="45" dirty="0">
                <a:latin typeface="Times New Roman"/>
                <a:cs typeface="Times New Roman"/>
              </a:rPr>
              <a:t>aircraft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spc="45" dirty="0">
                <a:latin typeface="Times New Roman"/>
                <a:cs typeface="Times New Roman"/>
              </a:rPr>
              <a:t>conflicting</a:t>
            </a:r>
            <a:r>
              <a:rPr sz="1850" spc="2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paths</a:t>
            </a:r>
            <a:r>
              <a:rPr sz="1850" spc="2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2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2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short</a:t>
            </a:r>
            <a:r>
              <a:rPr sz="1850" spc="2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time</a:t>
            </a:r>
            <a:r>
              <a:rPr sz="1850" spc="2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2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help</a:t>
            </a:r>
            <a:r>
              <a:rPr sz="1850" spc="2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manage</a:t>
            </a:r>
            <a:r>
              <a:rPr sz="1850" spc="2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2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airspace.</a:t>
            </a:r>
            <a:r>
              <a:rPr sz="1850" spc="19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Their </a:t>
            </a:r>
            <a:r>
              <a:rPr sz="1850" dirty="0">
                <a:latin typeface="Times New Roman"/>
                <a:cs typeface="Times New Roman"/>
              </a:rPr>
              <a:t>control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strategy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designed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ensure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these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aircraft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are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moved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apart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before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problems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occur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they </a:t>
            </a:r>
            <a:r>
              <a:rPr sz="1850" dirty="0">
                <a:latin typeface="Times New Roman"/>
                <a:cs typeface="Times New Roman"/>
              </a:rPr>
              <a:t>find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conflict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alert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alarm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distracts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them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from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their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work.</a:t>
            </a:r>
            <a:endParaRPr sz="1850">
              <a:latin typeface="Times New Roman"/>
              <a:cs typeface="Times New Roman"/>
            </a:endParaRPr>
          </a:p>
          <a:p>
            <a:pPr marL="19050" algn="just">
              <a:lnSpc>
                <a:spcPct val="100000"/>
              </a:lnSpc>
              <a:spcBef>
                <a:spcPts val="775"/>
              </a:spcBef>
            </a:pP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18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18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185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derived</a:t>
            </a:r>
            <a:r>
              <a:rPr sz="185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18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cooperation</a:t>
            </a:r>
            <a:r>
              <a:rPr sz="185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awareness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other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people’s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activities.</a:t>
            </a:r>
            <a:endParaRPr sz="1850">
              <a:latin typeface="Times New Roman"/>
              <a:cs typeface="Times New Roman"/>
            </a:endParaRPr>
          </a:p>
          <a:p>
            <a:pPr marL="12700" marR="5080" indent="6350" algn="just">
              <a:lnSpc>
                <a:spcPts val="2030"/>
              </a:lnSpc>
              <a:spcBef>
                <a:spcPts val="1035"/>
              </a:spcBef>
            </a:pPr>
            <a:r>
              <a:rPr sz="1850" b="1" dirty="0">
                <a:latin typeface="Times New Roman"/>
                <a:cs typeface="Times New Roman"/>
              </a:rPr>
              <a:t>For</a:t>
            </a:r>
            <a:r>
              <a:rPr sz="1850" b="1" spc="155" dirty="0">
                <a:latin typeface="Times New Roman"/>
                <a:cs typeface="Times New Roman"/>
              </a:rPr>
              <a:t> </a:t>
            </a:r>
            <a:r>
              <a:rPr sz="1850" b="1" spc="50" dirty="0">
                <a:latin typeface="Times New Roman"/>
                <a:cs typeface="Times New Roman"/>
              </a:rPr>
              <a:t>example</a:t>
            </a:r>
            <a:r>
              <a:rPr sz="1850" spc="50" dirty="0">
                <a:latin typeface="Times New Roman"/>
                <a:cs typeface="Times New Roman"/>
              </a:rPr>
              <a:t>,</a:t>
            </a:r>
            <a:r>
              <a:rPr sz="1850" spc="2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air</a:t>
            </a:r>
            <a:r>
              <a:rPr sz="1850" spc="20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traffic</a:t>
            </a:r>
            <a:r>
              <a:rPr sz="1850" spc="210" dirty="0">
                <a:latin typeface="Times New Roman"/>
                <a:cs typeface="Times New Roman"/>
              </a:rPr>
              <a:t> </a:t>
            </a:r>
            <a:r>
              <a:rPr sz="1850" spc="50" dirty="0">
                <a:latin typeface="Times New Roman"/>
                <a:cs typeface="Times New Roman"/>
              </a:rPr>
              <a:t>controllers</a:t>
            </a:r>
            <a:r>
              <a:rPr sz="1850" spc="2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may</a:t>
            </a:r>
            <a:r>
              <a:rPr sz="1850" spc="2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</a:t>
            </a:r>
            <a:r>
              <a:rPr sz="1850" spc="2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spc="50" dirty="0">
                <a:latin typeface="Times New Roman"/>
                <a:cs typeface="Times New Roman"/>
              </a:rPr>
              <a:t>awareness</a:t>
            </a:r>
            <a:r>
              <a:rPr sz="1850" spc="2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2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other</a:t>
            </a:r>
            <a:r>
              <a:rPr sz="1850" spc="21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controllers’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work</a:t>
            </a:r>
            <a:r>
              <a:rPr sz="1850" spc="2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220" dirty="0">
                <a:latin typeface="Times New Roman"/>
                <a:cs typeface="Times New Roman"/>
              </a:rPr>
              <a:t> </a:t>
            </a:r>
            <a:r>
              <a:rPr sz="1850" spc="50" dirty="0">
                <a:latin typeface="Times New Roman"/>
                <a:cs typeface="Times New Roman"/>
              </a:rPr>
              <a:t>predict</a:t>
            </a:r>
            <a:r>
              <a:rPr sz="1850" spc="2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the </a:t>
            </a:r>
            <a:r>
              <a:rPr sz="1850" dirty="0">
                <a:latin typeface="Times New Roman"/>
                <a:cs typeface="Times New Roman"/>
              </a:rPr>
              <a:t>number</a:t>
            </a:r>
            <a:r>
              <a:rPr sz="1850" spc="1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1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aircrafts</a:t>
            </a:r>
            <a:r>
              <a:rPr sz="1850" spc="1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1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will</a:t>
            </a:r>
            <a:r>
              <a:rPr sz="1850" spc="1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2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entering</a:t>
            </a:r>
            <a:r>
              <a:rPr sz="1850" spc="1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their</a:t>
            </a:r>
            <a:r>
              <a:rPr sz="1850" spc="1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control</a:t>
            </a:r>
            <a:r>
              <a:rPr sz="1850" spc="1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sector.</a:t>
            </a:r>
            <a:r>
              <a:rPr sz="1850" spc="1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They</a:t>
            </a:r>
            <a:r>
              <a:rPr sz="1850" spc="20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then</a:t>
            </a:r>
            <a:r>
              <a:rPr sz="1850" spc="2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modify</a:t>
            </a:r>
            <a:r>
              <a:rPr sz="1850" spc="2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their</a:t>
            </a:r>
            <a:r>
              <a:rPr sz="1850" spc="2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control</a:t>
            </a:r>
            <a:r>
              <a:rPr sz="1850" spc="20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strategies </a:t>
            </a:r>
            <a:r>
              <a:rPr sz="1850" dirty="0">
                <a:latin typeface="Times New Roman"/>
                <a:cs typeface="Times New Roman"/>
              </a:rPr>
              <a:t>depending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predicted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workload.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Therefore,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automated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ATC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system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should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allow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controllers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in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sector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have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some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visibility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work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adjacent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sectors.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8645" y="350583"/>
            <a:ext cx="10346055" cy="3888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23945">
              <a:lnSpc>
                <a:spcPct val="100000"/>
              </a:lnSpc>
              <a:spcBef>
                <a:spcPts val="100"/>
              </a:spcBef>
              <a:tabLst>
                <a:tab pos="412877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Ethnography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84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A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b="1" spc="55" dirty="0">
                <a:latin typeface="Times New Roman"/>
                <a:cs typeface="Times New Roman"/>
              </a:rPr>
              <a:t>social</a:t>
            </a:r>
            <a:r>
              <a:rPr sz="2600" b="1" spc="165" dirty="0">
                <a:latin typeface="Times New Roman"/>
                <a:cs typeface="Times New Roman"/>
              </a:rPr>
              <a:t> </a:t>
            </a:r>
            <a:r>
              <a:rPr sz="2600" b="1" spc="55" dirty="0">
                <a:latin typeface="Times New Roman"/>
                <a:cs typeface="Times New Roman"/>
              </a:rPr>
              <a:t>scientists</a:t>
            </a:r>
            <a:r>
              <a:rPr sz="2600" b="1" spc="165" dirty="0">
                <a:latin typeface="Times New Roman"/>
                <a:cs typeface="Times New Roman"/>
              </a:rPr>
              <a:t> </a:t>
            </a:r>
            <a:r>
              <a:rPr sz="2600" b="1" spc="50" dirty="0">
                <a:latin typeface="Times New Roman"/>
                <a:cs typeface="Times New Roman"/>
              </a:rPr>
              <a:t>spends</a:t>
            </a:r>
            <a:r>
              <a:rPr sz="2600" b="1" spc="17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</a:t>
            </a:r>
            <a:r>
              <a:rPr sz="2600" b="1" spc="170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considerable</a:t>
            </a:r>
            <a:r>
              <a:rPr sz="2600" spc="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observing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and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analyzing </a:t>
            </a:r>
            <a:r>
              <a:rPr sz="2600" dirty="0">
                <a:latin typeface="Times New Roman"/>
                <a:cs typeface="Times New Roman"/>
              </a:rPr>
              <a:t>how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people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actually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work.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People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do</a:t>
            </a:r>
            <a:r>
              <a:rPr sz="2600" b="1" spc="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not</a:t>
            </a:r>
            <a:r>
              <a:rPr sz="2600" b="1" spc="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have</a:t>
            </a:r>
            <a:r>
              <a:rPr sz="2600" b="1" spc="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to</a:t>
            </a:r>
            <a:r>
              <a:rPr sz="2600" b="1" spc="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explain</a:t>
            </a:r>
            <a:r>
              <a:rPr sz="2600" b="1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articulate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their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work.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Social</a:t>
            </a:r>
            <a:r>
              <a:rPr sz="2600" b="1" spc="4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and</a:t>
            </a:r>
            <a:r>
              <a:rPr sz="2600" b="1" spc="5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organizational</a:t>
            </a:r>
            <a:r>
              <a:rPr sz="2600" b="1" spc="5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factors</a:t>
            </a:r>
            <a:r>
              <a:rPr sz="2600" b="1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importance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may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observed.</a:t>
            </a:r>
            <a:endParaRPr sz="26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84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Ethnographic</a:t>
            </a:r>
            <a:r>
              <a:rPr sz="2600" b="1" spc="2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studies</a:t>
            </a:r>
            <a:r>
              <a:rPr sz="2600" b="1" spc="2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have</a:t>
            </a:r>
            <a:r>
              <a:rPr sz="2600" b="1" spc="2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shown</a:t>
            </a:r>
            <a:r>
              <a:rPr sz="2600" b="1" spc="24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that</a:t>
            </a:r>
            <a:r>
              <a:rPr sz="2600" b="1" spc="2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work</a:t>
            </a:r>
            <a:r>
              <a:rPr sz="2600" b="1" spc="2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usually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richer</a:t>
            </a:r>
            <a:r>
              <a:rPr sz="2600" spc="2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more </a:t>
            </a:r>
            <a:r>
              <a:rPr sz="2600" dirty="0">
                <a:latin typeface="Times New Roman"/>
                <a:cs typeface="Times New Roman"/>
              </a:rPr>
              <a:t>complex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than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suggested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simple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models.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8645" y="350583"/>
            <a:ext cx="10345420" cy="450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6695">
              <a:lnSpc>
                <a:spcPct val="100000"/>
              </a:lnSpc>
              <a:spcBef>
                <a:spcPts val="100"/>
              </a:spcBef>
              <a:tabLst>
                <a:tab pos="327152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Focused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Ethnography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Developed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in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project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studying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air</a:t>
            </a:r>
            <a:r>
              <a:rPr sz="3000" b="1" spc="-10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traffic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control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process</a:t>
            </a:r>
            <a:endParaRPr sz="3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Combines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ethnography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with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prototyping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Prototype</a:t>
            </a:r>
            <a:r>
              <a:rPr sz="3000" b="1" spc="254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development</a:t>
            </a:r>
            <a:r>
              <a:rPr sz="3000" b="1" spc="27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results</a:t>
            </a:r>
            <a:r>
              <a:rPr sz="3000" b="1" spc="2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2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unanswered</a:t>
            </a:r>
            <a:r>
              <a:rPr sz="3000" spc="2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questions</a:t>
            </a:r>
            <a:r>
              <a:rPr sz="3000" spc="2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which </a:t>
            </a:r>
            <a:r>
              <a:rPr sz="3000" dirty="0">
                <a:latin typeface="Times New Roman"/>
                <a:cs typeface="Times New Roman"/>
              </a:rPr>
              <a:t>focus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ethnographic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analysis.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110" dirty="0">
                <a:latin typeface="Times New Roman"/>
                <a:cs typeface="Times New Roman"/>
              </a:rPr>
              <a:t>The</a:t>
            </a:r>
            <a:r>
              <a:rPr sz="3000" b="1" spc="360" dirty="0">
                <a:latin typeface="Times New Roman"/>
                <a:cs typeface="Times New Roman"/>
              </a:rPr>
              <a:t> </a:t>
            </a:r>
            <a:r>
              <a:rPr sz="3000" b="1" spc="130" dirty="0">
                <a:latin typeface="Times New Roman"/>
                <a:cs typeface="Times New Roman"/>
              </a:rPr>
              <a:t>problem</a:t>
            </a:r>
            <a:r>
              <a:rPr sz="3000" b="1" spc="365" dirty="0">
                <a:latin typeface="Times New Roman"/>
                <a:cs typeface="Times New Roman"/>
              </a:rPr>
              <a:t> </a:t>
            </a:r>
            <a:r>
              <a:rPr sz="3000" b="1" spc="125" dirty="0">
                <a:latin typeface="Times New Roman"/>
                <a:cs typeface="Times New Roman"/>
              </a:rPr>
              <a:t>with</a:t>
            </a:r>
            <a:r>
              <a:rPr sz="3000" b="1" spc="365" dirty="0">
                <a:latin typeface="Times New Roman"/>
                <a:cs typeface="Times New Roman"/>
              </a:rPr>
              <a:t> </a:t>
            </a:r>
            <a:r>
              <a:rPr sz="3000" b="1" spc="150" dirty="0">
                <a:latin typeface="Times New Roman"/>
                <a:cs typeface="Times New Roman"/>
              </a:rPr>
              <a:t>ethnography</a:t>
            </a:r>
            <a:r>
              <a:rPr sz="3000" b="1" spc="365" dirty="0">
                <a:latin typeface="Times New Roman"/>
                <a:cs typeface="Times New Roman"/>
              </a:rPr>
              <a:t> </a:t>
            </a:r>
            <a:r>
              <a:rPr sz="3000" spc="80" dirty="0">
                <a:latin typeface="Times New Roman"/>
                <a:cs typeface="Times New Roman"/>
              </a:rPr>
              <a:t>is</a:t>
            </a:r>
            <a:r>
              <a:rPr sz="3000" spc="360" dirty="0">
                <a:latin typeface="Times New Roman"/>
                <a:cs typeface="Times New Roman"/>
              </a:rPr>
              <a:t> </a:t>
            </a:r>
            <a:r>
              <a:rPr sz="3000" spc="120" dirty="0">
                <a:latin typeface="Times New Roman"/>
                <a:cs typeface="Times New Roman"/>
              </a:rPr>
              <a:t>that</a:t>
            </a:r>
            <a:r>
              <a:rPr sz="3000" spc="365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it</a:t>
            </a:r>
            <a:r>
              <a:rPr sz="3000" spc="370" dirty="0">
                <a:latin typeface="Times New Roman"/>
                <a:cs typeface="Times New Roman"/>
              </a:rPr>
              <a:t> </a:t>
            </a:r>
            <a:r>
              <a:rPr sz="3000" spc="140" dirty="0">
                <a:latin typeface="Times New Roman"/>
                <a:cs typeface="Times New Roman"/>
              </a:rPr>
              <a:t>studies</a:t>
            </a:r>
            <a:r>
              <a:rPr sz="3000" spc="370" dirty="0">
                <a:latin typeface="Times New Roman"/>
                <a:cs typeface="Times New Roman"/>
              </a:rPr>
              <a:t> </a:t>
            </a:r>
            <a:r>
              <a:rPr sz="3000" spc="140" dirty="0">
                <a:latin typeface="Times New Roman"/>
                <a:cs typeface="Times New Roman"/>
              </a:rPr>
              <a:t>existing </a:t>
            </a:r>
            <a:r>
              <a:rPr sz="3000" spc="110" dirty="0">
                <a:latin typeface="Times New Roman"/>
                <a:cs typeface="Times New Roman"/>
              </a:rPr>
              <a:t>practices</a:t>
            </a:r>
            <a:r>
              <a:rPr sz="3000" spc="290" dirty="0">
                <a:latin typeface="Times New Roman"/>
                <a:cs typeface="Times New Roman"/>
              </a:rPr>
              <a:t> </a:t>
            </a:r>
            <a:r>
              <a:rPr sz="3000" spc="105" dirty="0">
                <a:latin typeface="Times New Roman"/>
                <a:cs typeface="Times New Roman"/>
              </a:rPr>
              <a:t>which</a:t>
            </a:r>
            <a:r>
              <a:rPr sz="3000" spc="300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may</a:t>
            </a:r>
            <a:r>
              <a:rPr sz="3000" spc="295" dirty="0">
                <a:latin typeface="Times New Roman"/>
                <a:cs typeface="Times New Roman"/>
              </a:rPr>
              <a:t> </a:t>
            </a:r>
            <a:r>
              <a:rPr sz="3000" spc="95" dirty="0">
                <a:latin typeface="Times New Roman"/>
                <a:cs typeface="Times New Roman"/>
              </a:rPr>
              <a:t>have</a:t>
            </a:r>
            <a:r>
              <a:rPr sz="3000" spc="295" dirty="0">
                <a:latin typeface="Times New Roman"/>
                <a:cs typeface="Times New Roman"/>
              </a:rPr>
              <a:t> </a:t>
            </a:r>
            <a:r>
              <a:rPr sz="3000" spc="90" dirty="0">
                <a:latin typeface="Times New Roman"/>
                <a:cs typeface="Times New Roman"/>
              </a:rPr>
              <a:t>some</a:t>
            </a:r>
            <a:r>
              <a:rPr sz="3000" spc="290" dirty="0">
                <a:latin typeface="Times New Roman"/>
                <a:cs typeface="Times New Roman"/>
              </a:rPr>
              <a:t> </a:t>
            </a:r>
            <a:r>
              <a:rPr sz="3000" spc="114" dirty="0">
                <a:latin typeface="Times New Roman"/>
                <a:cs typeface="Times New Roman"/>
              </a:rPr>
              <a:t>historical</a:t>
            </a:r>
            <a:r>
              <a:rPr sz="3000" spc="310" dirty="0">
                <a:latin typeface="Times New Roman"/>
                <a:cs typeface="Times New Roman"/>
              </a:rPr>
              <a:t> </a:t>
            </a:r>
            <a:r>
              <a:rPr sz="3000" spc="105" dirty="0">
                <a:latin typeface="Times New Roman"/>
                <a:cs typeface="Times New Roman"/>
              </a:rPr>
              <a:t>basis</a:t>
            </a:r>
            <a:r>
              <a:rPr sz="3000" spc="300" dirty="0">
                <a:latin typeface="Times New Roman"/>
                <a:cs typeface="Times New Roman"/>
              </a:rPr>
              <a:t> </a:t>
            </a:r>
            <a:r>
              <a:rPr sz="3000" spc="105" dirty="0">
                <a:latin typeface="Times New Roman"/>
                <a:cs typeface="Times New Roman"/>
              </a:rPr>
              <a:t>which</a:t>
            </a:r>
            <a:r>
              <a:rPr sz="3000" spc="310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is</a:t>
            </a:r>
            <a:r>
              <a:rPr sz="3000" spc="305" dirty="0">
                <a:latin typeface="Times New Roman"/>
                <a:cs typeface="Times New Roman"/>
              </a:rPr>
              <a:t> </a:t>
            </a:r>
            <a:r>
              <a:rPr sz="3000" spc="45" dirty="0">
                <a:latin typeface="Times New Roman"/>
                <a:cs typeface="Times New Roman"/>
              </a:rPr>
              <a:t>no </a:t>
            </a:r>
            <a:r>
              <a:rPr sz="3000" dirty="0">
                <a:latin typeface="Times New Roman"/>
                <a:cs typeface="Times New Roman"/>
              </a:rPr>
              <a:t>longer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relevant.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3793" y="350583"/>
            <a:ext cx="6414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Ethnography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Prototyping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59052" y="1958339"/>
            <a:ext cx="9911080" cy="4255135"/>
            <a:chOff x="1559052" y="1958339"/>
            <a:chExt cx="9911080" cy="4255135"/>
          </a:xfrm>
        </p:grpSpPr>
        <p:sp>
          <p:nvSpPr>
            <p:cNvPr id="4" name="object 4"/>
            <p:cNvSpPr/>
            <p:nvPr/>
          </p:nvSpPr>
          <p:spPr>
            <a:xfrm>
              <a:off x="1559052" y="1958339"/>
              <a:ext cx="9911080" cy="4255135"/>
            </a:xfrm>
            <a:custGeom>
              <a:avLst/>
              <a:gdLst/>
              <a:ahLst/>
              <a:cxnLst/>
              <a:rect l="l" t="t" r="r" b="b"/>
              <a:pathLst>
                <a:path w="9911080" h="4255135">
                  <a:moveTo>
                    <a:pt x="9910572" y="4255008"/>
                  </a:moveTo>
                  <a:lnTo>
                    <a:pt x="0" y="4255008"/>
                  </a:lnTo>
                  <a:lnTo>
                    <a:pt x="0" y="0"/>
                  </a:lnTo>
                  <a:lnTo>
                    <a:pt x="9910572" y="0"/>
                  </a:lnTo>
                  <a:lnTo>
                    <a:pt x="9910572" y="4255008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0780" y="2726435"/>
              <a:ext cx="8310372" cy="26380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838" y="350583"/>
            <a:ext cx="10343515" cy="3597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1630">
              <a:lnSpc>
                <a:spcPct val="100000"/>
              </a:lnSpc>
              <a:spcBef>
                <a:spcPts val="100"/>
              </a:spcBef>
              <a:tabLst>
                <a:tab pos="3386454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Scope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Ethnography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150" dirty="0">
                <a:latin typeface="Times New Roman"/>
                <a:cs typeface="Times New Roman"/>
              </a:rPr>
              <a:t>Requirements</a:t>
            </a:r>
            <a:r>
              <a:rPr sz="3000" b="1" spc="360" dirty="0">
                <a:latin typeface="Times New Roman"/>
                <a:cs typeface="Times New Roman"/>
              </a:rPr>
              <a:t> </a:t>
            </a:r>
            <a:r>
              <a:rPr sz="3000" b="1" spc="130" dirty="0">
                <a:latin typeface="Times New Roman"/>
                <a:cs typeface="Times New Roman"/>
              </a:rPr>
              <a:t>that</a:t>
            </a:r>
            <a:r>
              <a:rPr sz="3000" b="1" spc="365" dirty="0">
                <a:latin typeface="Times New Roman"/>
                <a:cs typeface="Times New Roman"/>
              </a:rPr>
              <a:t> </a:t>
            </a:r>
            <a:r>
              <a:rPr sz="3000" b="1" spc="90" dirty="0">
                <a:latin typeface="Times New Roman"/>
                <a:cs typeface="Times New Roman"/>
              </a:rPr>
              <a:t>are</a:t>
            </a:r>
            <a:r>
              <a:rPr sz="3000" b="1" spc="360" dirty="0">
                <a:latin typeface="Times New Roman"/>
                <a:cs typeface="Times New Roman"/>
              </a:rPr>
              <a:t> </a:t>
            </a:r>
            <a:r>
              <a:rPr sz="3000" b="1" spc="145" dirty="0">
                <a:latin typeface="Times New Roman"/>
                <a:cs typeface="Times New Roman"/>
              </a:rPr>
              <a:t>derived</a:t>
            </a:r>
            <a:r>
              <a:rPr sz="3000" b="1" spc="365" dirty="0">
                <a:latin typeface="Times New Roman"/>
                <a:cs typeface="Times New Roman"/>
              </a:rPr>
              <a:t> </a:t>
            </a:r>
            <a:r>
              <a:rPr sz="3000" spc="120" dirty="0">
                <a:latin typeface="Times New Roman"/>
                <a:cs typeface="Times New Roman"/>
              </a:rPr>
              <a:t>from</a:t>
            </a:r>
            <a:r>
              <a:rPr sz="3000" spc="365" dirty="0">
                <a:latin typeface="Times New Roman"/>
                <a:cs typeface="Times New Roman"/>
              </a:rPr>
              <a:t> </a:t>
            </a:r>
            <a:r>
              <a:rPr sz="3000" spc="110" dirty="0">
                <a:latin typeface="Times New Roman"/>
                <a:cs typeface="Times New Roman"/>
              </a:rPr>
              <a:t>the</a:t>
            </a:r>
            <a:r>
              <a:rPr sz="3000" spc="360" dirty="0">
                <a:latin typeface="Times New Roman"/>
                <a:cs typeface="Times New Roman"/>
              </a:rPr>
              <a:t> </a:t>
            </a:r>
            <a:r>
              <a:rPr sz="3000" spc="110" dirty="0">
                <a:latin typeface="Times New Roman"/>
                <a:cs typeface="Times New Roman"/>
              </a:rPr>
              <a:t>way</a:t>
            </a:r>
            <a:r>
              <a:rPr sz="3000" spc="365" dirty="0">
                <a:latin typeface="Times New Roman"/>
                <a:cs typeface="Times New Roman"/>
              </a:rPr>
              <a:t> </a:t>
            </a:r>
            <a:r>
              <a:rPr sz="3000" spc="125" dirty="0">
                <a:latin typeface="Times New Roman"/>
                <a:cs typeface="Times New Roman"/>
              </a:rPr>
              <a:t>that</a:t>
            </a:r>
            <a:r>
              <a:rPr sz="3000" spc="370" dirty="0">
                <a:latin typeface="Times New Roman"/>
                <a:cs typeface="Times New Roman"/>
              </a:rPr>
              <a:t> </a:t>
            </a:r>
            <a:r>
              <a:rPr sz="3000" spc="135" dirty="0">
                <a:latin typeface="Times New Roman"/>
                <a:cs typeface="Times New Roman"/>
              </a:rPr>
              <a:t>people </a:t>
            </a:r>
            <a:r>
              <a:rPr sz="3000" spc="75" dirty="0">
                <a:latin typeface="Times New Roman"/>
                <a:cs typeface="Times New Roman"/>
              </a:rPr>
              <a:t>actually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spc="70" dirty="0">
                <a:latin typeface="Times New Roman"/>
                <a:cs typeface="Times New Roman"/>
              </a:rPr>
              <a:t>work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spc="70" dirty="0">
                <a:latin typeface="Times New Roman"/>
                <a:cs typeface="Times New Roman"/>
              </a:rPr>
              <a:t>rather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than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the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way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spc="70" dirty="0">
                <a:latin typeface="Times New Roman"/>
                <a:cs typeface="Times New Roman"/>
              </a:rPr>
              <a:t>which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process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definitions </a:t>
            </a:r>
            <a:r>
              <a:rPr sz="3000" dirty="0">
                <a:latin typeface="Times New Roman"/>
                <a:cs typeface="Times New Roman"/>
              </a:rPr>
              <a:t>suggest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they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ought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work.</a:t>
            </a:r>
            <a:endParaRPr sz="3000">
              <a:latin typeface="Times New Roman"/>
              <a:cs typeface="Times New Roman"/>
            </a:endParaRPr>
          </a:p>
          <a:p>
            <a:pPr marL="241300" marR="90805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Requirements</a:t>
            </a:r>
            <a:r>
              <a:rPr sz="3000" b="1" spc="-7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that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are</a:t>
            </a:r>
            <a:r>
              <a:rPr sz="3000" b="1" spc="-7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derived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from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cooperation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awareness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other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people’s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activities.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838" y="350583"/>
            <a:ext cx="9979660" cy="5820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89375">
              <a:lnSpc>
                <a:spcPct val="100000"/>
              </a:lnSpc>
              <a:spcBef>
                <a:spcPts val="100"/>
              </a:spcBef>
              <a:tabLst>
                <a:tab pos="439420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Prototyping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3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Repetitive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process</a:t>
            </a: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Elementary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version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built</a:t>
            </a: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Replaces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augments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SDLC</a:t>
            </a: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Times New Roman"/>
                <a:cs typeface="Times New Roman"/>
              </a:rPr>
              <a:t>Goal: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concrete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specifications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ultimate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</a:t>
            </a: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Quickly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converts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requirements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version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</a:t>
            </a:r>
            <a:endParaRPr sz="22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799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Once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requirements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converted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ask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modifications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will </a:t>
            </a:r>
            <a:r>
              <a:rPr sz="2200" dirty="0">
                <a:latin typeface="Times New Roman"/>
                <a:cs typeface="Times New Roman"/>
              </a:rPr>
              <a:t>generate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additional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requests</a:t>
            </a: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ts val="2625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Times New Roman"/>
                <a:cs typeface="Times New Roman"/>
              </a:rPr>
              <a:t>Is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prototyping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useful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any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these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cases?</a:t>
            </a:r>
            <a:endParaRPr sz="22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610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requests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clear</a:t>
            </a:r>
            <a:endParaRPr sz="22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610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Times New Roman"/>
                <a:cs typeface="Times New Roman"/>
              </a:rPr>
              <a:t>Few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involved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</a:t>
            </a:r>
            <a:endParaRPr sz="22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610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Times New Roman"/>
                <a:cs typeface="Times New Roman"/>
              </a:rPr>
              <a:t>Designs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complex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concrete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form</a:t>
            </a:r>
            <a:endParaRPr sz="22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610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Times New Roman"/>
                <a:cs typeface="Times New Roman"/>
              </a:rPr>
              <a:t>History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communication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problems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analysts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users</a:t>
            </a:r>
            <a:endParaRPr sz="22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62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spc="-20" dirty="0">
                <a:latin typeface="Times New Roman"/>
                <a:cs typeface="Times New Roman"/>
              </a:rPr>
              <a:t>Tools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readily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available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build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prototype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838" y="350583"/>
            <a:ext cx="10343515" cy="4792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8229">
              <a:lnSpc>
                <a:spcPct val="100000"/>
              </a:lnSpc>
              <a:spcBef>
                <a:spcPts val="100"/>
              </a:spcBef>
              <a:tabLst>
                <a:tab pos="4123054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Brainstorming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spc="90" dirty="0">
                <a:latin typeface="Times New Roman"/>
                <a:cs typeface="Times New Roman"/>
              </a:rPr>
              <a:t>Brainstorming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is</a:t>
            </a:r>
            <a:r>
              <a:rPr sz="3000" spc="2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225" dirty="0">
                <a:latin typeface="Times New Roman"/>
                <a:cs typeface="Times New Roman"/>
              </a:rPr>
              <a:t> </a:t>
            </a:r>
            <a:r>
              <a:rPr sz="3000" spc="90" dirty="0">
                <a:latin typeface="Times New Roman"/>
                <a:cs typeface="Times New Roman"/>
              </a:rPr>
              <a:t>situation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where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spc="90" dirty="0">
                <a:latin typeface="Times New Roman"/>
                <a:cs typeface="Times New Roman"/>
              </a:rPr>
              <a:t>group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of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spc="85" dirty="0">
                <a:latin typeface="Times New Roman"/>
                <a:cs typeface="Times New Roman"/>
              </a:rPr>
              <a:t>people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meet</a:t>
            </a:r>
            <a:r>
              <a:rPr sz="3000" spc="245" dirty="0">
                <a:latin typeface="Times New Roman"/>
                <a:cs typeface="Times New Roman"/>
              </a:rPr>
              <a:t> </a:t>
            </a:r>
            <a:r>
              <a:rPr sz="3000" spc="25" dirty="0">
                <a:latin typeface="Times New Roman"/>
                <a:cs typeface="Times New Roman"/>
              </a:rPr>
              <a:t>to </a:t>
            </a:r>
            <a:r>
              <a:rPr sz="3000" spc="70" dirty="0">
                <a:latin typeface="Times New Roman"/>
                <a:cs typeface="Times New Roman"/>
              </a:rPr>
              <a:t>generate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new</a:t>
            </a:r>
            <a:r>
              <a:rPr sz="3000" spc="195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ideas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and</a:t>
            </a:r>
            <a:r>
              <a:rPr sz="3000" spc="200" dirty="0">
                <a:latin typeface="Times New Roman"/>
                <a:cs typeface="Times New Roman"/>
              </a:rPr>
              <a:t> </a:t>
            </a:r>
            <a:r>
              <a:rPr sz="3000" spc="80" dirty="0">
                <a:latin typeface="Times New Roman"/>
                <a:cs typeface="Times New Roman"/>
              </a:rPr>
              <a:t>solutions</a:t>
            </a:r>
            <a:r>
              <a:rPr sz="3000" spc="195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around</a:t>
            </a:r>
            <a:r>
              <a:rPr sz="3000" spc="20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204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specific</a:t>
            </a:r>
            <a:r>
              <a:rPr sz="3000" spc="200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domain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of </a:t>
            </a:r>
            <a:r>
              <a:rPr sz="3000" spc="45" dirty="0">
                <a:latin typeface="Times New Roman"/>
                <a:cs typeface="Times New Roman"/>
              </a:rPr>
              <a:t>interest</a:t>
            </a:r>
            <a:r>
              <a:rPr sz="3000" spc="1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180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removing</a:t>
            </a:r>
            <a:r>
              <a:rPr sz="3000" spc="195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inhibitions.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People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able</a:t>
            </a:r>
            <a:r>
              <a:rPr sz="3000" spc="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195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think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more </a:t>
            </a:r>
            <a:r>
              <a:rPr sz="3000" spc="100" dirty="0">
                <a:latin typeface="Times New Roman"/>
                <a:cs typeface="Times New Roman"/>
              </a:rPr>
              <a:t>freely,</a:t>
            </a:r>
            <a:r>
              <a:rPr sz="3000" spc="325" dirty="0">
                <a:latin typeface="Times New Roman"/>
                <a:cs typeface="Times New Roman"/>
              </a:rPr>
              <a:t> </a:t>
            </a:r>
            <a:r>
              <a:rPr sz="3000" spc="100" dirty="0">
                <a:latin typeface="Times New Roman"/>
                <a:cs typeface="Times New Roman"/>
              </a:rPr>
              <a:t>and</a:t>
            </a:r>
            <a:r>
              <a:rPr sz="3000" spc="330" dirty="0">
                <a:latin typeface="Times New Roman"/>
                <a:cs typeface="Times New Roman"/>
              </a:rPr>
              <a:t> </a:t>
            </a:r>
            <a:r>
              <a:rPr sz="3000" spc="110" dirty="0">
                <a:latin typeface="Times New Roman"/>
                <a:cs typeface="Times New Roman"/>
              </a:rPr>
              <a:t>they</a:t>
            </a:r>
            <a:r>
              <a:rPr sz="3000" spc="330" dirty="0">
                <a:latin typeface="Times New Roman"/>
                <a:cs typeface="Times New Roman"/>
              </a:rPr>
              <a:t> </a:t>
            </a:r>
            <a:r>
              <a:rPr sz="3000" spc="130" dirty="0">
                <a:latin typeface="Times New Roman"/>
                <a:cs typeface="Times New Roman"/>
              </a:rPr>
              <a:t>suggest</a:t>
            </a:r>
            <a:r>
              <a:rPr sz="3000" spc="330" dirty="0">
                <a:latin typeface="Times New Roman"/>
                <a:cs typeface="Times New Roman"/>
              </a:rPr>
              <a:t> </a:t>
            </a:r>
            <a:r>
              <a:rPr sz="3000" spc="70" dirty="0">
                <a:latin typeface="Times New Roman"/>
                <a:cs typeface="Times New Roman"/>
              </a:rPr>
              <a:t>as</a:t>
            </a:r>
            <a:r>
              <a:rPr sz="3000" spc="325" dirty="0">
                <a:latin typeface="Times New Roman"/>
                <a:cs typeface="Times New Roman"/>
              </a:rPr>
              <a:t> </a:t>
            </a:r>
            <a:r>
              <a:rPr sz="3000" spc="105" dirty="0">
                <a:latin typeface="Times New Roman"/>
                <a:cs typeface="Times New Roman"/>
              </a:rPr>
              <a:t>many</a:t>
            </a:r>
            <a:r>
              <a:rPr sz="3000" spc="330" dirty="0">
                <a:latin typeface="Times New Roman"/>
                <a:cs typeface="Times New Roman"/>
              </a:rPr>
              <a:t> </a:t>
            </a:r>
            <a:r>
              <a:rPr sz="3000" spc="140" dirty="0">
                <a:latin typeface="Times New Roman"/>
                <a:cs typeface="Times New Roman"/>
              </a:rPr>
              <a:t>spontaneous</a:t>
            </a:r>
            <a:r>
              <a:rPr sz="3000" spc="325" dirty="0">
                <a:latin typeface="Times New Roman"/>
                <a:cs typeface="Times New Roman"/>
              </a:rPr>
              <a:t> </a:t>
            </a:r>
            <a:r>
              <a:rPr sz="3000" spc="100" dirty="0">
                <a:latin typeface="Times New Roman"/>
                <a:cs typeface="Times New Roman"/>
              </a:rPr>
              <a:t>new</a:t>
            </a:r>
            <a:r>
              <a:rPr sz="3000" spc="330" dirty="0">
                <a:latin typeface="Times New Roman"/>
                <a:cs typeface="Times New Roman"/>
              </a:rPr>
              <a:t> </a:t>
            </a:r>
            <a:r>
              <a:rPr sz="3000" spc="120" dirty="0">
                <a:latin typeface="Times New Roman"/>
                <a:cs typeface="Times New Roman"/>
              </a:rPr>
              <a:t>ideas</a:t>
            </a:r>
            <a:r>
              <a:rPr sz="3000" spc="335" dirty="0">
                <a:latin typeface="Times New Roman"/>
                <a:cs typeface="Times New Roman"/>
              </a:rPr>
              <a:t> </a:t>
            </a:r>
            <a:r>
              <a:rPr sz="3000" spc="45" dirty="0">
                <a:latin typeface="Times New Roman"/>
                <a:cs typeface="Times New Roman"/>
              </a:rPr>
              <a:t>as </a:t>
            </a:r>
            <a:r>
              <a:rPr sz="3000" dirty="0">
                <a:latin typeface="Times New Roman"/>
                <a:cs typeface="Times New Roman"/>
              </a:rPr>
              <a:t>possible.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ideas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noted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down</a:t>
            </a:r>
            <a:r>
              <a:rPr sz="3000" spc="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without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criticism</a:t>
            </a:r>
            <a:r>
              <a:rPr sz="3000" spc="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10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after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brainstorming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session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ideas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evaluated</a:t>
            </a:r>
            <a:endParaRPr sz="3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Individual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Brainstorming</a:t>
            </a:r>
            <a:endParaRPr sz="3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Group</a:t>
            </a:r>
            <a:r>
              <a:rPr sz="3000" b="1" spc="-10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Brainstorming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6484" y="350583"/>
            <a:ext cx="9759950" cy="5681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2475">
              <a:lnSpc>
                <a:spcPct val="100000"/>
              </a:lnSpc>
              <a:spcBef>
                <a:spcPts val="100"/>
              </a:spcBef>
              <a:tabLst>
                <a:tab pos="379730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3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descriptions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3600">
              <a:latin typeface="Times New Roman"/>
              <a:cs typeface="Times New Roman"/>
            </a:endParaRPr>
          </a:p>
          <a:p>
            <a:pPr marL="240665" indent="-227965">
              <a:lnSpc>
                <a:spcPts val="3165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</a:tabLst>
            </a:pPr>
            <a:r>
              <a:rPr sz="2700" b="1" spc="-10" dirty="0">
                <a:latin typeface="Times New Roman"/>
                <a:cs typeface="Times New Roman"/>
              </a:rPr>
              <a:t>Scenarios</a:t>
            </a:r>
            <a:endParaRPr sz="27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3090"/>
              </a:lnSpc>
              <a:buFont typeface="Arial MT"/>
              <a:buChar char="•"/>
              <a:tabLst>
                <a:tab pos="697865" algn="l"/>
              </a:tabLst>
            </a:pPr>
            <a:r>
              <a:rPr sz="2700" dirty="0">
                <a:latin typeface="Times New Roman"/>
                <a:cs typeface="Times New Roman"/>
              </a:rPr>
              <a:t>An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informal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narrative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story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users</a:t>
            </a:r>
            <a:endParaRPr sz="27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3090"/>
              </a:lnSpc>
              <a:buFont typeface="Arial MT"/>
              <a:buChar char="•"/>
              <a:tabLst>
                <a:tab pos="697865" algn="l"/>
              </a:tabLst>
            </a:pPr>
            <a:r>
              <a:rPr sz="2700" dirty="0">
                <a:latin typeface="Times New Roman"/>
                <a:cs typeface="Times New Roman"/>
              </a:rPr>
              <a:t>Natural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way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explain</a:t>
            </a:r>
            <a:endParaRPr sz="27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ct val="79900"/>
              </a:lnSpc>
              <a:spcBef>
                <a:spcPts val="575"/>
              </a:spcBef>
              <a:buFont typeface="Arial MT"/>
              <a:buChar char="•"/>
              <a:tabLst>
                <a:tab pos="698500" algn="l"/>
                <a:tab pos="2660015" algn="l"/>
              </a:tabLst>
            </a:pPr>
            <a:r>
              <a:rPr sz="2700" dirty="0">
                <a:latin typeface="Times New Roman"/>
                <a:cs typeface="Times New Roman"/>
              </a:rPr>
              <a:t>Scenarios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can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particularly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useful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for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adding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detail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outline requirements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-10" dirty="0">
                <a:latin typeface="Times New Roman"/>
                <a:cs typeface="Times New Roman"/>
              </a:rPr>
              <a:t>description.</a:t>
            </a:r>
            <a:endParaRPr sz="2700">
              <a:latin typeface="Times New Roman"/>
              <a:cs typeface="Times New Roman"/>
            </a:endParaRPr>
          </a:p>
          <a:p>
            <a:pPr marL="240665" indent="-227965">
              <a:lnSpc>
                <a:spcPts val="3165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sz="2700" b="1" dirty="0">
                <a:latin typeface="Times New Roman"/>
                <a:cs typeface="Times New Roman"/>
              </a:rPr>
              <a:t>Use</a:t>
            </a:r>
            <a:r>
              <a:rPr sz="2700" b="1" spc="-20" dirty="0">
                <a:latin typeface="Times New Roman"/>
                <a:cs typeface="Times New Roman"/>
              </a:rPr>
              <a:t> cases</a:t>
            </a:r>
            <a:endParaRPr sz="27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3090"/>
              </a:lnSpc>
              <a:buFont typeface="Arial MT"/>
              <a:buChar char="•"/>
              <a:tabLst>
                <a:tab pos="697865" algn="l"/>
              </a:tabLst>
            </a:pPr>
            <a:r>
              <a:rPr sz="2700" dirty="0">
                <a:latin typeface="Times New Roman"/>
                <a:cs typeface="Times New Roman"/>
              </a:rPr>
              <a:t>Show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interaction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with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system</a:t>
            </a:r>
            <a:endParaRPr sz="27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3165"/>
              </a:lnSpc>
              <a:buFont typeface="Arial MT"/>
              <a:buChar char="•"/>
              <a:tabLst>
                <a:tab pos="697865" algn="l"/>
              </a:tabLst>
            </a:pPr>
            <a:r>
              <a:rPr sz="2700" dirty="0">
                <a:latin typeface="Times New Roman"/>
                <a:cs typeface="Times New Roman"/>
              </a:rPr>
              <a:t>Show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detailed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understanding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interaction</a:t>
            </a:r>
            <a:endParaRPr sz="2700">
              <a:latin typeface="Times New Roman"/>
              <a:cs typeface="Times New Roman"/>
            </a:endParaRPr>
          </a:p>
          <a:p>
            <a:pPr marL="240665" indent="-227965">
              <a:lnSpc>
                <a:spcPts val="3165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sz="2700" b="1" dirty="0">
                <a:latin typeface="Times New Roman"/>
                <a:cs typeface="Times New Roman"/>
              </a:rPr>
              <a:t>Essential</a:t>
            </a:r>
            <a:r>
              <a:rPr sz="2700" b="1" spc="-4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use</a:t>
            </a:r>
            <a:r>
              <a:rPr sz="2700" b="1" spc="-35" dirty="0">
                <a:latin typeface="Times New Roman"/>
                <a:cs typeface="Times New Roman"/>
              </a:rPr>
              <a:t> </a:t>
            </a:r>
            <a:r>
              <a:rPr sz="2700" b="1" spc="-20" dirty="0">
                <a:latin typeface="Times New Roman"/>
                <a:cs typeface="Times New Roman"/>
              </a:rPr>
              <a:t>cases</a:t>
            </a:r>
            <a:endParaRPr sz="27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3165"/>
              </a:lnSpc>
              <a:buFont typeface="Arial MT"/>
              <a:buChar char="•"/>
              <a:tabLst>
                <a:tab pos="697865" algn="l"/>
                <a:tab pos="3088640" algn="l"/>
              </a:tabLst>
            </a:pPr>
            <a:r>
              <a:rPr sz="2700" dirty="0">
                <a:latin typeface="Times New Roman"/>
                <a:cs typeface="Times New Roman"/>
              </a:rPr>
              <a:t>Improvement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of</a:t>
            </a:r>
            <a:r>
              <a:rPr sz="2700" dirty="0">
                <a:latin typeface="Times New Roman"/>
                <a:cs typeface="Times New Roman"/>
              </a:rPr>
              <a:t>	use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cases</a:t>
            </a:r>
            <a:endParaRPr sz="27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sz="2700" dirty="0">
                <a:solidFill>
                  <a:srgbClr val="0D0D0D"/>
                </a:solidFill>
                <a:latin typeface="Times New Roman"/>
                <a:cs typeface="Times New Roman"/>
              </a:rPr>
              <a:t>Often</a:t>
            </a:r>
            <a:r>
              <a:rPr sz="2700" spc="-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D0D0D"/>
                </a:solidFill>
                <a:latin typeface="Times New Roman"/>
                <a:cs typeface="Times New Roman"/>
              </a:rPr>
              <a:t>used</a:t>
            </a:r>
            <a:r>
              <a:rPr sz="2700" spc="-1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D0D0D"/>
                </a:solidFill>
                <a:latin typeface="Times New Roman"/>
                <a:cs typeface="Times New Roman"/>
              </a:rPr>
              <a:t>in</a:t>
            </a:r>
            <a:r>
              <a:rPr sz="2700" spc="-1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0D0D0D"/>
                </a:solidFill>
                <a:latin typeface="Times New Roman"/>
                <a:cs typeface="Times New Roman"/>
              </a:rPr>
              <a:t>combination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8697" y="2728531"/>
            <a:ext cx="5394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Scenarios</a:t>
            </a:r>
            <a:r>
              <a:rPr sz="3600" b="1" u="heavy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947" y="350583"/>
            <a:ext cx="241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195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Scenarios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2295" y="1521815"/>
            <a:ext cx="159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4070" y="1585950"/>
            <a:ext cx="9900920" cy="4210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3195"/>
              </a:lnSpc>
            </a:pPr>
            <a:r>
              <a:rPr sz="3000" b="1" dirty="0">
                <a:latin typeface="Times New Roman"/>
                <a:cs typeface="Times New Roman"/>
              </a:rPr>
              <a:t>Scenarios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are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spc="-30" dirty="0">
                <a:latin typeface="Times New Roman"/>
                <a:cs typeface="Times New Roman"/>
              </a:rPr>
              <a:t>real-</a:t>
            </a:r>
            <a:r>
              <a:rPr sz="3000" b="1" dirty="0">
                <a:latin typeface="Times New Roman"/>
                <a:cs typeface="Times New Roman"/>
              </a:rPr>
              <a:t>life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examples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how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system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can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be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used.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2295" y="2060295"/>
            <a:ext cx="8739505" cy="2857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They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include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description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starting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situation;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description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normal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flow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events;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description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go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wrong;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Information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about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other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concurrent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activities;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description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state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scenario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finishes.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5967" y="386778"/>
            <a:ext cx="97110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16890" algn="l"/>
              </a:tabLst>
            </a:pPr>
            <a:r>
              <a:rPr sz="2200" spc="1664" dirty="0">
                <a:latin typeface="Microsoft Sans Serif"/>
                <a:cs typeface="Microsoft Sans Serif"/>
              </a:rPr>
              <a:t>🞂</a:t>
            </a:r>
            <a:r>
              <a:rPr sz="2200" dirty="0">
                <a:latin typeface="Microsoft Sans Serif"/>
                <a:cs typeface="Microsoft Sans Serif"/>
              </a:rPr>
              <a:t>​	</a:t>
            </a:r>
            <a:r>
              <a:rPr sz="32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Scenario</a:t>
            </a:r>
            <a:r>
              <a:rPr sz="3200" b="1" u="heavy" spc="-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3200" b="1" u="heavy" spc="-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collecting</a:t>
            </a:r>
            <a:r>
              <a:rPr sz="32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medical</a:t>
            </a:r>
            <a:r>
              <a:rPr sz="32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history</a:t>
            </a:r>
            <a:r>
              <a:rPr sz="32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3200" b="1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MHC-</a:t>
            </a:r>
            <a:r>
              <a:rPr sz="32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PMS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1423416"/>
            <a:ext cx="11059668" cy="523036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9197" y="2728531"/>
            <a:ext cx="2473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07697" y="350583"/>
            <a:ext cx="2346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4838" y="1698028"/>
            <a:ext cx="159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FF0000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6613" y="1799627"/>
            <a:ext cx="10011410" cy="375285"/>
          </a:xfrm>
          <a:custGeom>
            <a:avLst/>
            <a:gdLst/>
            <a:ahLst/>
            <a:cxnLst/>
            <a:rect l="l" t="t" r="r" b="b"/>
            <a:pathLst>
              <a:path w="10011410" h="375285">
                <a:moveTo>
                  <a:pt x="10011410" y="0"/>
                </a:moveTo>
                <a:lnTo>
                  <a:pt x="10011410" y="0"/>
                </a:lnTo>
                <a:lnTo>
                  <a:pt x="0" y="0"/>
                </a:lnTo>
                <a:lnTo>
                  <a:pt x="0" y="375285"/>
                </a:lnTo>
                <a:lnTo>
                  <a:pt x="10011410" y="375285"/>
                </a:lnTo>
                <a:lnTo>
                  <a:pt x="1001141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06613" y="1799628"/>
            <a:ext cx="10011410" cy="375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75">
              <a:lnSpc>
                <a:spcPts val="2900"/>
              </a:lnSpc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r>
              <a:rPr sz="3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case</a:t>
            </a:r>
            <a:r>
              <a:rPr sz="3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identifies</a:t>
            </a:r>
            <a:r>
              <a:rPr sz="3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actors</a:t>
            </a:r>
            <a:r>
              <a:rPr sz="3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involved</a:t>
            </a:r>
            <a:r>
              <a:rPr sz="3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3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3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interaction</a:t>
            </a:r>
            <a:r>
              <a:rPr sz="3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06613" y="2174913"/>
            <a:ext cx="10109835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825"/>
              </a:lnSpc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names</a:t>
            </a:r>
            <a:r>
              <a:rPr sz="3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type</a:t>
            </a:r>
            <a:r>
              <a:rPr sz="3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interaction.</a:t>
            </a:r>
            <a:r>
              <a:rPr sz="3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r>
              <a:rPr sz="3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cases</a:t>
            </a:r>
            <a:r>
              <a:rPr sz="3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3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documented</a:t>
            </a:r>
            <a:r>
              <a:rPr sz="3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6613" y="2540673"/>
            <a:ext cx="4858385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825"/>
              </a:lnSpc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high-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level</a:t>
            </a:r>
            <a:r>
              <a:rPr sz="3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r>
              <a:rPr sz="3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case</a:t>
            </a:r>
            <a:r>
              <a:rPr sz="3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diagram.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4838" y="2922308"/>
            <a:ext cx="10343515" cy="293116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marR="5080" indent="-228600" algn="just">
              <a:lnSpc>
                <a:spcPts val="2880"/>
              </a:lnSpc>
              <a:spcBef>
                <a:spcPts val="79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Use-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cases</a:t>
            </a:r>
            <a:r>
              <a:rPr sz="3000" b="1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3000" b="1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b="1" spc="2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scenario</a:t>
            </a:r>
            <a:r>
              <a:rPr sz="3000" b="1" spc="2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based</a:t>
            </a:r>
            <a:r>
              <a:rPr sz="3000" b="1" spc="2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technique</a:t>
            </a:r>
            <a:r>
              <a:rPr sz="3000" b="1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3000" b="1" spc="3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b="1" spc="2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UML</a:t>
            </a:r>
            <a:r>
              <a:rPr sz="3000" b="1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which </a:t>
            </a:r>
            <a:r>
              <a:rPr sz="30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identify</a:t>
            </a:r>
            <a:r>
              <a:rPr sz="3000" b="1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b="1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actors</a:t>
            </a:r>
            <a:r>
              <a:rPr sz="3000" b="1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3000" b="1" spc="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3000" b="1" spc="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interaction</a:t>
            </a:r>
            <a:r>
              <a:rPr sz="3000" b="1" spc="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4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b="1" spc="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which</a:t>
            </a:r>
            <a:r>
              <a:rPr sz="3000" b="1" spc="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describe</a:t>
            </a:r>
            <a:r>
              <a:rPr sz="3000" b="1" spc="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interaction</a:t>
            </a:r>
            <a:r>
              <a:rPr sz="30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itself.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8000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set</a:t>
            </a:r>
            <a:r>
              <a:rPr sz="3000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spc="2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r>
              <a:rPr sz="3000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cases</a:t>
            </a:r>
            <a:r>
              <a:rPr sz="30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should</a:t>
            </a:r>
            <a:r>
              <a:rPr sz="3000" spc="2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describe</a:t>
            </a:r>
            <a:r>
              <a:rPr sz="30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3000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45" dirty="0">
                <a:solidFill>
                  <a:srgbClr val="FF0000"/>
                </a:solidFill>
                <a:latin typeface="Times New Roman"/>
                <a:cs typeface="Times New Roman"/>
              </a:rPr>
              <a:t>possible</a:t>
            </a:r>
            <a:r>
              <a:rPr sz="3000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interactions</a:t>
            </a:r>
            <a:r>
              <a:rPr sz="3000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with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288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spc="75" dirty="0">
                <a:solidFill>
                  <a:srgbClr val="FF0000"/>
                </a:solidFill>
                <a:latin typeface="Times New Roman"/>
                <a:cs typeface="Times New Roman"/>
              </a:rPr>
              <a:t>Sequence</a:t>
            </a:r>
            <a:r>
              <a:rPr sz="3000" spc="2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FF0000"/>
                </a:solidFill>
                <a:latin typeface="Times New Roman"/>
                <a:cs typeface="Times New Roman"/>
              </a:rPr>
              <a:t>diagrams</a:t>
            </a:r>
            <a:r>
              <a:rPr sz="3000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FF0000"/>
                </a:solidFill>
                <a:latin typeface="Times New Roman"/>
                <a:cs typeface="Times New Roman"/>
              </a:rPr>
              <a:t>may</a:t>
            </a:r>
            <a:r>
              <a:rPr sz="30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30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FF0000"/>
                </a:solidFill>
                <a:latin typeface="Times New Roman"/>
                <a:cs typeface="Times New Roman"/>
              </a:rPr>
              <a:t>used</a:t>
            </a:r>
            <a:r>
              <a:rPr sz="3000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000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FF0000"/>
                </a:solidFill>
                <a:latin typeface="Times New Roman"/>
                <a:cs typeface="Times New Roman"/>
              </a:rPr>
              <a:t>add</a:t>
            </a:r>
            <a:r>
              <a:rPr sz="3000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FF0000"/>
                </a:solidFill>
                <a:latin typeface="Times New Roman"/>
                <a:cs typeface="Times New Roman"/>
              </a:rPr>
              <a:t>detail</a:t>
            </a:r>
            <a:r>
              <a:rPr sz="3000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000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FF0000"/>
                </a:solidFill>
                <a:latin typeface="Times New Roman"/>
                <a:cs typeface="Times New Roman"/>
              </a:rPr>
              <a:t>use-</a:t>
            </a:r>
            <a:r>
              <a:rPr sz="3000" spc="70" dirty="0">
                <a:solidFill>
                  <a:srgbClr val="FF0000"/>
                </a:solidFill>
                <a:latin typeface="Times New Roman"/>
                <a:cs typeface="Times New Roman"/>
              </a:rPr>
              <a:t>cases</a:t>
            </a:r>
            <a:r>
              <a:rPr sz="30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25" dirty="0">
                <a:latin typeface="Times New Roman"/>
                <a:cs typeface="Times New Roman"/>
              </a:rPr>
              <a:t>by </a:t>
            </a:r>
            <a:r>
              <a:rPr sz="3000" dirty="0">
                <a:latin typeface="Times New Roman"/>
                <a:cs typeface="Times New Roman"/>
              </a:rPr>
              <a:t>showing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sequence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processing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4022" y="494665"/>
            <a:ext cx="10276205" cy="5855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16604">
              <a:lnSpc>
                <a:spcPct val="100000"/>
              </a:lnSpc>
              <a:spcBef>
                <a:spcPts val="100"/>
              </a:spcBef>
              <a:tabLst>
                <a:tab pos="382079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3600">
              <a:latin typeface="Times New Roman"/>
              <a:cs typeface="Times New Roman"/>
            </a:endParaRPr>
          </a:p>
          <a:p>
            <a:pPr marL="330835" marR="5080" indent="-318770" algn="just">
              <a:lnSpc>
                <a:spcPts val="3020"/>
              </a:lnSpc>
              <a:buSzPct val="44642"/>
              <a:buFont typeface="Wingdings"/>
              <a:buChar char=""/>
              <a:tabLst>
                <a:tab pos="330835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80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r>
              <a:rPr sz="28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95" dirty="0">
                <a:solidFill>
                  <a:srgbClr val="FF0000"/>
                </a:solidFill>
                <a:latin typeface="Times New Roman"/>
                <a:cs typeface="Times New Roman"/>
              </a:rPr>
              <a:t>case</a:t>
            </a:r>
            <a:r>
              <a:rPr sz="2800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65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8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10" dirty="0">
                <a:solidFill>
                  <a:srgbClr val="FF0000"/>
                </a:solidFill>
                <a:latin typeface="Times New Roman"/>
                <a:cs typeface="Times New Roman"/>
              </a:rPr>
              <a:t>collection</a:t>
            </a:r>
            <a:r>
              <a:rPr sz="28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5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8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05" dirty="0">
                <a:solidFill>
                  <a:srgbClr val="FF0000"/>
                </a:solidFill>
                <a:latin typeface="Times New Roman"/>
                <a:cs typeface="Times New Roman"/>
              </a:rPr>
              <a:t>possible</a:t>
            </a:r>
            <a:r>
              <a:rPr sz="2800" spc="2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14" dirty="0">
                <a:solidFill>
                  <a:srgbClr val="FF0000"/>
                </a:solidFill>
                <a:latin typeface="Times New Roman"/>
                <a:cs typeface="Times New Roman"/>
              </a:rPr>
              <a:t>sequences</a:t>
            </a:r>
            <a:r>
              <a:rPr sz="2800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5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800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05" dirty="0">
                <a:solidFill>
                  <a:srgbClr val="FF0000"/>
                </a:solidFill>
                <a:latin typeface="Times New Roman"/>
                <a:cs typeface="Times New Roman"/>
              </a:rPr>
              <a:t>interactions </a:t>
            </a:r>
            <a:r>
              <a:rPr sz="2800" spc="100" dirty="0">
                <a:solidFill>
                  <a:srgbClr val="FF0000"/>
                </a:solidFill>
                <a:latin typeface="Times New Roman"/>
                <a:cs typeface="Times New Roman"/>
              </a:rPr>
              <a:t>between</a:t>
            </a:r>
            <a:r>
              <a:rPr sz="2800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8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800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90" dirty="0">
                <a:solidFill>
                  <a:srgbClr val="FF0000"/>
                </a:solidFill>
                <a:latin typeface="Times New Roman"/>
                <a:cs typeface="Times New Roman"/>
              </a:rPr>
              <a:t>under</a:t>
            </a:r>
            <a:r>
              <a:rPr sz="28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10" dirty="0">
                <a:solidFill>
                  <a:srgbClr val="FF0000"/>
                </a:solidFill>
                <a:latin typeface="Times New Roman"/>
                <a:cs typeface="Times New Roman"/>
              </a:rPr>
              <a:t>discussion</a:t>
            </a:r>
            <a:r>
              <a:rPr sz="2800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7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800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90" dirty="0">
                <a:solidFill>
                  <a:srgbClr val="FF0000"/>
                </a:solidFill>
                <a:latin typeface="Times New Roman"/>
                <a:cs typeface="Times New Roman"/>
              </a:rPr>
              <a:t>its</a:t>
            </a:r>
            <a:r>
              <a:rPr sz="2800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00" dirty="0">
                <a:solidFill>
                  <a:srgbClr val="FF0000"/>
                </a:solidFill>
                <a:latin typeface="Times New Roman"/>
                <a:cs typeface="Times New Roman"/>
              </a:rPr>
              <a:t>Users</a:t>
            </a:r>
            <a:r>
              <a:rPr sz="2800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75" dirty="0">
                <a:solidFill>
                  <a:srgbClr val="FF0000"/>
                </a:solidFill>
                <a:latin typeface="Times New Roman"/>
                <a:cs typeface="Times New Roman"/>
              </a:rPr>
              <a:t>(or</a:t>
            </a:r>
            <a:r>
              <a:rPr sz="2800" spc="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95" dirty="0">
                <a:solidFill>
                  <a:srgbClr val="FF0000"/>
                </a:solidFill>
                <a:latin typeface="Times New Roman"/>
                <a:cs typeface="Times New Roman"/>
              </a:rPr>
              <a:t>Actors), </a:t>
            </a:r>
            <a:r>
              <a:rPr sz="2800" spc="85" dirty="0">
                <a:solidFill>
                  <a:srgbClr val="FF0000"/>
                </a:solidFill>
                <a:latin typeface="Times New Roman"/>
                <a:cs typeface="Times New Roman"/>
              </a:rPr>
              <a:t>relating</a:t>
            </a:r>
            <a:r>
              <a:rPr sz="2800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800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85" dirty="0">
                <a:solidFill>
                  <a:srgbClr val="FF0000"/>
                </a:solidFill>
                <a:latin typeface="Times New Roman"/>
                <a:cs typeface="Times New Roman"/>
              </a:rPr>
              <a:t>particular</a:t>
            </a:r>
            <a:r>
              <a:rPr sz="2800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75" dirty="0">
                <a:solidFill>
                  <a:srgbClr val="FF0000"/>
                </a:solidFill>
                <a:latin typeface="Times New Roman"/>
                <a:cs typeface="Times New Roman"/>
              </a:rPr>
              <a:t>goal</a:t>
            </a:r>
            <a:r>
              <a:rPr sz="2800" spc="75" dirty="0">
                <a:solidFill>
                  <a:srgbClr val="EC7C30"/>
                </a:solidFill>
                <a:latin typeface="Times New Roman"/>
                <a:cs typeface="Times New Roman"/>
              </a:rPr>
              <a:t>.</a:t>
            </a:r>
            <a:r>
              <a:rPr sz="2800" spc="240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800" spc="55" dirty="0">
                <a:latin typeface="Times New Roman"/>
                <a:cs typeface="Times New Roman"/>
              </a:rPr>
              <a:t>The</a:t>
            </a:r>
            <a:r>
              <a:rPr sz="2800" spc="245" dirty="0">
                <a:latin typeface="Times New Roman"/>
                <a:cs typeface="Times New Roman"/>
              </a:rPr>
              <a:t> </a:t>
            </a:r>
            <a:r>
              <a:rPr sz="2800" spc="90" dirty="0">
                <a:latin typeface="Times New Roman"/>
                <a:cs typeface="Times New Roman"/>
              </a:rPr>
              <a:t>collection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spc="65" dirty="0">
                <a:latin typeface="Times New Roman"/>
                <a:cs typeface="Times New Roman"/>
              </a:rPr>
              <a:t>Use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spc="85" dirty="0">
                <a:latin typeface="Times New Roman"/>
                <a:cs typeface="Times New Roman"/>
              </a:rPr>
              <a:t>Cases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should </a:t>
            </a:r>
            <a:r>
              <a:rPr sz="2800" dirty="0">
                <a:latin typeface="Times New Roman"/>
                <a:cs typeface="Times New Roman"/>
              </a:rPr>
              <a:t>define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behaviour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relevant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actors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assure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them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that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goals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carried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properly.</a:t>
            </a:r>
            <a:endParaRPr sz="2800">
              <a:latin typeface="Times New Roman"/>
              <a:cs typeface="Times New Roman"/>
            </a:endParaRPr>
          </a:p>
          <a:p>
            <a:pPr marL="330835" marR="5080" indent="-318770" algn="just">
              <a:lnSpc>
                <a:spcPts val="3020"/>
              </a:lnSpc>
              <a:spcBef>
                <a:spcPts val="1000"/>
              </a:spcBef>
              <a:buSzPct val="44642"/>
              <a:buFont typeface="Wingdings"/>
              <a:buChar char=""/>
              <a:tabLst>
                <a:tab pos="330835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There</a:t>
            </a:r>
            <a:r>
              <a:rPr sz="2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many</a:t>
            </a:r>
            <a:r>
              <a:rPr sz="2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methods</a:t>
            </a:r>
            <a:r>
              <a:rPr sz="2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defining</a:t>
            </a:r>
            <a:r>
              <a:rPr sz="2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how</a:t>
            </a:r>
            <a:r>
              <a:rPr sz="2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pick</a:t>
            </a:r>
            <a:r>
              <a:rPr sz="2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create</a:t>
            </a:r>
            <a:r>
              <a:rPr sz="2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r>
              <a:rPr sz="2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case. </a:t>
            </a:r>
            <a:r>
              <a:rPr sz="2800" spc="10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800" spc="3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45" dirty="0">
                <a:solidFill>
                  <a:srgbClr val="FF0000"/>
                </a:solidFill>
                <a:latin typeface="Times New Roman"/>
                <a:cs typeface="Times New Roman"/>
              </a:rPr>
              <a:t>example,</a:t>
            </a:r>
            <a:r>
              <a:rPr sz="2800" spc="3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35" dirty="0">
                <a:latin typeface="Times New Roman"/>
                <a:cs typeface="Times New Roman"/>
              </a:rPr>
              <a:t>using</a:t>
            </a:r>
            <a:r>
              <a:rPr sz="2800" spc="3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375" dirty="0">
                <a:latin typeface="Times New Roman"/>
                <a:cs typeface="Times New Roman"/>
              </a:rPr>
              <a:t> </a:t>
            </a:r>
            <a:r>
              <a:rPr sz="2800" spc="125" dirty="0">
                <a:latin typeface="Times New Roman"/>
                <a:cs typeface="Times New Roman"/>
              </a:rPr>
              <a:t>goal</a:t>
            </a:r>
            <a:r>
              <a:rPr sz="2800" spc="370" dirty="0">
                <a:latin typeface="Times New Roman"/>
                <a:cs typeface="Times New Roman"/>
              </a:rPr>
              <a:t> </a:t>
            </a:r>
            <a:r>
              <a:rPr sz="2800" spc="150" dirty="0">
                <a:latin typeface="Times New Roman"/>
                <a:cs typeface="Times New Roman"/>
              </a:rPr>
              <a:t>oriented</a:t>
            </a:r>
            <a:r>
              <a:rPr sz="2800" spc="375" dirty="0">
                <a:latin typeface="Times New Roman"/>
                <a:cs typeface="Times New Roman"/>
              </a:rPr>
              <a:t> </a:t>
            </a:r>
            <a:r>
              <a:rPr sz="2800" spc="150" dirty="0">
                <a:latin typeface="Times New Roman"/>
                <a:cs typeface="Times New Roman"/>
              </a:rPr>
              <a:t>Structuring</a:t>
            </a:r>
            <a:r>
              <a:rPr sz="2800" spc="375" dirty="0">
                <a:latin typeface="Times New Roman"/>
                <a:cs typeface="Times New Roman"/>
              </a:rPr>
              <a:t> </a:t>
            </a:r>
            <a:r>
              <a:rPr sz="2800" spc="140" dirty="0">
                <a:latin typeface="Times New Roman"/>
                <a:cs typeface="Times New Roman"/>
              </a:rPr>
              <a:t>Methodology </a:t>
            </a:r>
            <a:r>
              <a:rPr sz="2800" spc="170" dirty="0">
                <a:latin typeface="Times New Roman"/>
                <a:cs typeface="Times New Roman"/>
              </a:rPr>
              <a:t>presented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spc="85" dirty="0">
                <a:latin typeface="Times New Roman"/>
                <a:cs typeface="Times New Roman"/>
              </a:rPr>
              <a:t>by</a:t>
            </a:r>
            <a:r>
              <a:rPr sz="2800" spc="24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Alistair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Times New Roman"/>
                <a:cs typeface="Times New Roman"/>
              </a:rPr>
              <a:t>Cockburn</a:t>
            </a:r>
            <a:r>
              <a:rPr sz="2800" spc="409" dirty="0">
                <a:latin typeface="Times New Roman"/>
                <a:cs typeface="Times New Roman"/>
              </a:rPr>
              <a:t> </a:t>
            </a:r>
            <a:r>
              <a:rPr sz="2800" spc="90" dirty="0">
                <a:latin typeface="Times New Roman"/>
                <a:cs typeface="Times New Roman"/>
              </a:rPr>
              <a:t>of</a:t>
            </a:r>
            <a:r>
              <a:rPr sz="2800" spc="415" dirty="0">
                <a:latin typeface="Times New Roman"/>
                <a:cs typeface="Times New Roman"/>
              </a:rPr>
              <a:t> </a:t>
            </a:r>
            <a:r>
              <a:rPr sz="2800" spc="160" dirty="0">
                <a:latin typeface="Times New Roman"/>
                <a:cs typeface="Times New Roman"/>
              </a:rPr>
              <a:t>Humans</a:t>
            </a:r>
            <a:r>
              <a:rPr sz="2800" spc="415" dirty="0">
                <a:latin typeface="Times New Roman"/>
                <a:cs typeface="Times New Roman"/>
              </a:rPr>
              <a:t> </a:t>
            </a:r>
            <a:r>
              <a:rPr sz="2800" spc="125" dirty="0">
                <a:latin typeface="Times New Roman"/>
                <a:cs typeface="Times New Roman"/>
              </a:rPr>
              <a:t>and</a:t>
            </a:r>
            <a:r>
              <a:rPr sz="2800" spc="360" dirty="0">
                <a:latin typeface="Times New Roman"/>
                <a:cs typeface="Times New Roman"/>
              </a:rPr>
              <a:t> </a:t>
            </a:r>
            <a:r>
              <a:rPr sz="2800" spc="130" dirty="0">
                <a:latin typeface="Times New Roman"/>
                <a:cs typeface="Times New Roman"/>
              </a:rPr>
              <a:t>Technology. </a:t>
            </a:r>
            <a:r>
              <a:rPr sz="2800" dirty="0">
                <a:latin typeface="Times New Roman"/>
                <a:cs typeface="Times New Roman"/>
              </a:rPr>
              <a:t>Examining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Actor’s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goals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spc="50" dirty="0">
                <a:latin typeface="Times New Roman"/>
                <a:cs typeface="Times New Roman"/>
              </a:rPr>
              <a:t>satisfies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yields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spc="130" dirty="0">
                <a:latin typeface="Times New Roman"/>
                <a:cs typeface="Times New Roman"/>
              </a:rPr>
              <a:t>functional</a:t>
            </a:r>
            <a:r>
              <a:rPr sz="2800" spc="325" dirty="0">
                <a:latin typeface="Times New Roman"/>
                <a:cs typeface="Times New Roman"/>
              </a:rPr>
              <a:t> </a:t>
            </a:r>
            <a:r>
              <a:rPr sz="2800" spc="135" dirty="0">
                <a:latin typeface="Times New Roman"/>
                <a:cs typeface="Times New Roman"/>
              </a:rPr>
              <a:t>requirements.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spc="120" dirty="0">
                <a:latin typeface="Times New Roman"/>
                <a:cs typeface="Times New Roman"/>
              </a:rPr>
              <a:t>Goals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spc="135" dirty="0">
                <a:latin typeface="Times New Roman"/>
                <a:cs typeface="Times New Roman"/>
              </a:rPr>
              <a:t>summarize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spc="125" dirty="0">
                <a:latin typeface="Times New Roman"/>
                <a:cs typeface="Times New Roman"/>
              </a:rPr>
              <a:t>system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spc="130" dirty="0">
                <a:latin typeface="Times New Roman"/>
                <a:cs typeface="Times New Roman"/>
              </a:rPr>
              <a:t>function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spc="45" dirty="0">
                <a:latin typeface="Times New Roman"/>
                <a:cs typeface="Times New Roman"/>
              </a:rPr>
              <a:t>in </a:t>
            </a:r>
            <a:r>
              <a:rPr sz="2800" spc="80" dirty="0">
                <a:latin typeface="Times New Roman"/>
                <a:cs typeface="Times New Roman"/>
              </a:rPr>
              <a:t>understandable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spc="75" dirty="0">
                <a:latin typeface="Times New Roman"/>
                <a:cs typeface="Times New Roman"/>
              </a:rPr>
              <a:t>verifiable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spc="65" dirty="0">
                <a:latin typeface="Times New Roman"/>
                <a:cs typeface="Times New Roman"/>
              </a:rPr>
              <a:t>terms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spc="55" dirty="0">
                <a:latin typeface="Times New Roman"/>
                <a:cs typeface="Times New Roman"/>
              </a:rPr>
              <a:t>use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spc="65" dirty="0">
                <a:latin typeface="Times New Roman"/>
                <a:cs typeface="Times New Roman"/>
              </a:rPr>
              <a:t>that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users,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spc="80" dirty="0">
                <a:latin typeface="Times New Roman"/>
                <a:cs typeface="Times New Roman"/>
              </a:rPr>
              <a:t>executives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spc="30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developers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appreciate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leave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little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interpretation.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8627" y="494665"/>
            <a:ext cx="3971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Cases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(Cont.)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9288" y="1369885"/>
            <a:ext cx="10440670" cy="508952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Cases:</a:t>
            </a:r>
            <a:endParaRPr sz="2200">
              <a:latin typeface="Times New Roman"/>
              <a:cs typeface="Times New Roman"/>
            </a:endParaRPr>
          </a:p>
          <a:p>
            <a:pPr marL="328930" indent="-316230">
              <a:lnSpc>
                <a:spcPct val="100000"/>
              </a:lnSpc>
              <a:spcBef>
                <a:spcPts val="735"/>
              </a:spcBef>
              <a:buSzPct val="45454"/>
              <a:buFont typeface="Wingdings"/>
              <a:buChar char=""/>
              <a:tabLst>
                <a:tab pos="328930" algn="l"/>
              </a:tabLst>
            </a:pPr>
            <a:r>
              <a:rPr sz="2200" dirty="0">
                <a:latin typeface="Times New Roman"/>
                <a:cs typeface="Times New Roman"/>
              </a:rPr>
              <a:t>Hold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Functional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Requirements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easy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read,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easy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track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text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format.</a:t>
            </a:r>
            <a:endParaRPr sz="2200">
              <a:latin typeface="Times New Roman"/>
              <a:cs typeface="Times New Roman"/>
            </a:endParaRPr>
          </a:p>
          <a:p>
            <a:pPr marL="329565" marR="5080" indent="-316865">
              <a:lnSpc>
                <a:spcPts val="2380"/>
              </a:lnSpc>
              <a:spcBef>
                <a:spcPts val="1030"/>
              </a:spcBef>
              <a:buSzPct val="45454"/>
              <a:buFont typeface="Wingdings"/>
              <a:buChar char=""/>
              <a:tabLst>
                <a:tab pos="329565" algn="l"/>
              </a:tabLst>
            </a:pPr>
            <a:r>
              <a:rPr sz="2200" dirty="0">
                <a:latin typeface="Times New Roman"/>
                <a:cs typeface="Times New Roman"/>
              </a:rPr>
              <a:t>Represents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goal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interaction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system.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goal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represents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meaningful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measurable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objective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actor.</a:t>
            </a:r>
            <a:endParaRPr sz="2200">
              <a:latin typeface="Times New Roman"/>
              <a:cs typeface="Times New Roman"/>
            </a:endParaRPr>
          </a:p>
          <a:p>
            <a:pPr marL="329565" marR="300990" indent="-316865">
              <a:lnSpc>
                <a:spcPts val="2380"/>
              </a:lnSpc>
              <a:spcBef>
                <a:spcPts val="990"/>
              </a:spcBef>
              <a:buSzPct val="45454"/>
              <a:buFont typeface="Wingdings"/>
              <a:buChar char=""/>
              <a:tabLst>
                <a:tab pos="329565" algn="l"/>
              </a:tabLst>
            </a:pPr>
            <a:r>
              <a:rPr sz="2200" dirty="0">
                <a:latin typeface="Times New Roman"/>
                <a:cs typeface="Times New Roman"/>
              </a:rPr>
              <a:t>Records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paths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(scenarios)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traverse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trigger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event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(start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use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case)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(success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scenarios).</a:t>
            </a:r>
            <a:endParaRPr sz="2200">
              <a:latin typeface="Times New Roman"/>
              <a:cs typeface="Times New Roman"/>
            </a:endParaRPr>
          </a:p>
          <a:p>
            <a:pPr marL="329565" marR="44450" indent="-316865">
              <a:lnSpc>
                <a:spcPts val="2380"/>
              </a:lnSpc>
              <a:spcBef>
                <a:spcPts val="990"/>
              </a:spcBef>
              <a:buSzPct val="45454"/>
              <a:buFont typeface="Wingdings"/>
              <a:buChar char=""/>
              <a:tabLst>
                <a:tab pos="329565" algn="l"/>
              </a:tabLst>
            </a:pPr>
            <a:r>
              <a:rPr sz="2200" dirty="0">
                <a:latin typeface="Times New Roman"/>
                <a:cs typeface="Times New Roman"/>
              </a:rPr>
              <a:t>Records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scenarios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traverse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trigger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event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toward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fall </a:t>
            </a:r>
            <a:r>
              <a:rPr sz="2200" dirty="0">
                <a:latin typeface="Times New Roman"/>
                <a:cs typeface="Times New Roman"/>
              </a:rPr>
              <a:t>short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(failure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scenarios).</a:t>
            </a:r>
            <a:endParaRPr sz="2200">
              <a:latin typeface="Times New Roman"/>
              <a:cs typeface="Times New Roman"/>
            </a:endParaRPr>
          </a:p>
          <a:p>
            <a:pPr marL="12700" marR="2016760" indent="316230">
              <a:lnSpc>
                <a:spcPts val="3379"/>
              </a:lnSpc>
              <a:spcBef>
                <a:spcPts val="190"/>
              </a:spcBef>
              <a:buSzPct val="45454"/>
              <a:buFont typeface="Wingdings"/>
              <a:buChar char=""/>
              <a:tabLst>
                <a:tab pos="328930" algn="l"/>
              </a:tabLst>
            </a:pP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multi-</a:t>
            </a:r>
            <a:r>
              <a:rPr sz="2200" dirty="0">
                <a:latin typeface="Times New Roman"/>
                <a:cs typeface="Times New Roman"/>
              </a:rPr>
              <a:t>level: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case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use/extent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functionality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another.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Cases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Do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Not…</a:t>
            </a:r>
            <a:endParaRPr sz="2200">
              <a:latin typeface="Times New Roman"/>
              <a:cs typeface="Times New Roman"/>
            </a:endParaRPr>
          </a:p>
          <a:p>
            <a:pPr marL="328930" indent="-316230">
              <a:lnSpc>
                <a:spcPct val="100000"/>
              </a:lnSpc>
              <a:spcBef>
                <a:spcPts val="495"/>
              </a:spcBef>
              <a:buSzPct val="45454"/>
              <a:buFont typeface="Wingdings"/>
              <a:buChar char=""/>
              <a:tabLst>
                <a:tab pos="328930" algn="l"/>
              </a:tabLst>
            </a:pPr>
            <a:r>
              <a:rPr sz="2200" dirty="0">
                <a:latin typeface="Times New Roman"/>
                <a:cs typeface="Times New Roman"/>
              </a:rPr>
              <a:t>Specify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interface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design.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specify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intent,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Detail</a:t>
            </a:r>
            <a:endParaRPr sz="2200">
              <a:latin typeface="Times New Roman"/>
              <a:cs typeface="Times New Roman"/>
            </a:endParaRPr>
          </a:p>
          <a:p>
            <a:pPr marL="329565" marR="682625" indent="-316865">
              <a:lnSpc>
                <a:spcPts val="2380"/>
              </a:lnSpc>
              <a:spcBef>
                <a:spcPts val="1030"/>
              </a:spcBef>
              <a:buSzPct val="45454"/>
              <a:buFont typeface="Wingdings"/>
              <a:buChar char=""/>
              <a:tabLst>
                <a:tab pos="329565" algn="l"/>
              </a:tabLst>
            </a:pPr>
            <a:r>
              <a:rPr sz="2200" dirty="0">
                <a:latin typeface="Times New Roman"/>
                <a:cs typeface="Times New Roman"/>
              </a:rPr>
              <a:t>Specify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implementation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detail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(unless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particular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importance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be </a:t>
            </a:r>
            <a:r>
              <a:rPr sz="2200" dirty="0">
                <a:latin typeface="Times New Roman"/>
                <a:cs typeface="Times New Roman"/>
              </a:rPr>
              <a:t>assured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properly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met)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1802" y="494665"/>
            <a:ext cx="10289540" cy="463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3775">
              <a:lnSpc>
                <a:spcPct val="100000"/>
              </a:lnSpc>
              <a:spcBef>
                <a:spcPts val="100"/>
              </a:spcBef>
              <a:tabLst>
                <a:tab pos="149796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Modelling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Scenarios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600">
              <a:latin typeface="Times New Roman"/>
              <a:cs typeface="Times New Roman"/>
            </a:endParaRPr>
          </a:p>
          <a:p>
            <a:pPr marL="440690" indent="-427990" algn="just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40690" algn="l"/>
              </a:tabLst>
            </a:pP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Models</a:t>
            </a:r>
            <a:endParaRPr sz="2600">
              <a:latin typeface="Times New Roman"/>
              <a:cs typeface="Times New Roman"/>
            </a:endParaRPr>
          </a:p>
          <a:p>
            <a:pPr marL="325120" marR="5080" algn="just">
              <a:lnSpc>
                <a:spcPts val="2810"/>
              </a:lnSpc>
              <a:spcBef>
                <a:spcPts val="1035"/>
              </a:spcBef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Scenarios</a:t>
            </a:r>
            <a:r>
              <a:rPr sz="2600" b="1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are</a:t>
            </a:r>
            <a:r>
              <a:rPr sz="2600" b="1" spc="2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useful</a:t>
            </a:r>
            <a:r>
              <a:rPr sz="2600" b="1" spc="2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in</a:t>
            </a:r>
            <a:r>
              <a:rPr sz="2600" b="1" spc="2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discussing</a:t>
            </a:r>
            <a:r>
              <a:rPr sz="2600" b="1" spc="2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</a:t>
            </a:r>
            <a:r>
              <a:rPr sz="2600" b="1" spc="2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proposed</a:t>
            </a:r>
            <a:r>
              <a:rPr sz="2600" b="1" spc="2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system</a:t>
            </a:r>
            <a:r>
              <a:rPr sz="2600" b="1" spc="254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with</a:t>
            </a:r>
            <a:r>
              <a:rPr sz="2600" b="1" spc="25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client,</a:t>
            </a:r>
            <a:r>
              <a:rPr sz="2600" b="1" spc="250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latin typeface="Times New Roman"/>
                <a:cs typeface="Times New Roman"/>
              </a:rPr>
              <a:t>but </a:t>
            </a:r>
            <a:r>
              <a:rPr sz="2600" b="1" dirty="0">
                <a:latin typeface="Times New Roman"/>
                <a:cs typeface="Times New Roman"/>
              </a:rPr>
              <a:t>requirements</a:t>
            </a:r>
            <a:r>
              <a:rPr sz="2600" b="1" spc="27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need</a:t>
            </a:r>
            <a:r>
              <a:rPr sz="2600" b="1" spc="27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to</a:t>
            </a:r>
            <a:r>
              <a:rPr sz="2600" b="1" spc="27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be</a:t>
            </a:r>
            <a:r>
              <a:rPr sz="2600" b="1" spc="28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made</a:t>
            </a:r>
            <a:r>
              <a:rPr sz="2600" b="1" spc="27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more</a:t>
            </a:r>
            <a:r>
              <a:rPr sz="2600" b="1" spc="27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precise</a:t>
            </a:r>
            <a:r>
              <a:rPr sz="2600" b="1" spc="27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before</a:t>
            </a:r>
            <a:r>
              <a:rPr sz="2600" b="1" spc="29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</a:t>
            </a:r>
            <a:r>
              <a:rPr sz="2600" b="1" spc="290" dirty="0">
                <a:latin typeface="Times New Roman"/>
                <a:cs typeface="Times New Roman"/>
              </a:rPr>
              <a:t> </a:t>
            </a:r>
            <a:r>
              <a:rPr sz="2600" b="1" spc="50" dirty="0">
                <a:latin typeface="Times New Roman"/>
                <a:cs typeface="Times New Roman"/>
              </a:rPr>
              <a:t>system</a:t>
            </a:r>
            <a:r>
              <a:rPr sz="2600" b="1" spc="28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is</a:t>
            </a:r>
            <a:r>
              <a:rPr sz="2600" b="1" spc="29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fully understood.</a:t>
            </a:r>
            <a:endParaRPr sz="2600">
              <a:latin typeface="Times New Roman"/>
              <a:cs typeface="Times New Roman"/>
            </a:endParaRPr>
          </a:p>
          <a:p>
            <a:pPr marL="440690" indent="-427990" algn="just">
              <a:lnSpc>
                <a:spcPct val="100000"/>
              </a:lnSpc>
              <a:spcBef>
                <a:spcPts val="635"/>
              </a:spcBef>
              <a:buFont typeface="Wingdings"/>
              <a:buChar char=""/>
              <a:tabLst>
                <a:tab pos="440690" algn="l"/>
              </a:tabLst>
            </a:pPr>
            <a:r>
              <a:rPr sz="2600" b="1" dirty="0">
                <a:latin typeface="Times New Roman"/>
                <a:cs typeface="Times New Roman"/>
              </a:rPr>
              <a:t>This</a:t>
            </a:r>
            <a:r>
              <a:rPr sz="2600" b="1" spc="-4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is</a:t>
            </a:r>
            <a:r>
              <a:rPr sz="2600" b="1" spc="-4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the</a:t>
            </a:r>
            <a:r>
              <a:rPr sz="2600" b="1" spc="-4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purpose</a:t>
            </a:r>
            <a:r>
              <a:rPr sz="2600" b="1" spc="-4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of</a:t>
            </a:r>
            <a:r>
              <a:rPr sz="2600" b="1" spc="-4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requirements</a:t>
            </a:r>
            <a:r>
              <a:rPr sz="2600" b="1" spc="-4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modelling.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95"/>
              </a:spcBef>
              <a:buFont typeface="Wingdings"/>
              <a:buChar char=""/>
            </a:pPr>
            <a:endParaRPr sz="2600">
              <a:latin typeface="Times New Roman"/>
              <a:cs typeface="Times New Roman"/>
            </a:endParaRPr>
          </a:p>
          <a:p>
            <a:pPr marL="504825" indent="-492125" algn="just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504825" algn="l"/>
              </a:tabLst>
            </a:pPr>
            <a:r>
              <a:rPr sz="2600" b="1" dirty="0">
                <a:latin typeface="Times New Roman"/>
                <a:cs typeface="Times New Roman"/>
              </a:rPr>
              <a:t>A</a:t>
            </a:r>
            <a:r>
              <a:rPr sz="2600" b="1" spc="-165" dirty="0"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r>
              <a:rPr sz="26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case</a:t>
            </a:r>
            <a:r>
              <a:rPr sz="26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provides</a:t>
            </a:r>
            <a:r>
              <a:rPr sz="2600" b="1" spc="-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such</a:t>
            </a:r>
            <a:r>
              <a:rPr sz="2600" b="1" spc="-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</a:t>
            </a:r>
            <a:r>
              <a:rPr sz="2600" b="1" spc="-4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model.</a:t>
            </a:r>
            <a:endParaRPr sz="2600">
              <a:latin typeface="Times New Roman"/>
              <a:cs typeface="Times New Roman"/>
            </a:endParaRPr>
          </a:p>
          <a:p>
            <a:pPr marL="440690" indent="-427990">
              <a:lnSpc>
                <a:spcPct val="100000"/>
              </a:lnSpc>
              <a:spcBef>
                <a:spcPts val="685"/>
              </a:spcBef>
              <a:buFont typeface="Wingdings"/>
              <a:buChar char=""/>
              <a:tabLst>
                <a:tab pos="440690" algn="l"/>
              </a:tabLst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r>
              <a:rPr sz="26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case</a:t>
            </a:r>
            <a:r>
              <a:rPr sz="26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describes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"who"</a:t>
            </a:r>
            <a:r>
              <a:rPr sz="2600" b="1" spc="-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can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do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"what"</a:t>
            </a:r>
            <a:r>
              <a:rPr sz="2600" b="1" spc="-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with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the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system</a:t>
            </a:r>
            <a:r>
              <a:rPr sz="2600" b="1" spc="-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in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question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37177" y="665479"/>
            <a:ext cx="190500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100" dirty="0">
                <a:latin typeface="Microsoft Sans Serif"/>
                <a:cs typeface="Microsoft Sans Serif"/>
              </a:rPr>
              <a:t>🞂</a:t>
            </a:r>
            <a:endParaRPr sz="24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177" y="596265"/>
            <a:ext cx="3806825" cy="5029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3815"/>
              </a:lnSpc>
            </a:pPr>
            <a:r>
              <a:rPr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Use</a:t>
            </a:r>
            <a:r>
              <a:rPr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Case</a:t>
            </a:r>
            <a:r>
              <a:rPr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Diagrams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2307" y="1682495"/>
            <a:ext cx="9200388" cy="45262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87520" y="6372859"/>
            <a:ext cx="31426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2136775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19084" y="6372859"/>
            <a:ext cx="10579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06877" y="357504"/>
            <a:ext cx="65760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Actors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Diagrams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044" y="1575816"/>
            <a:ext cx="10171176" cy="48051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87520" y="6372859"/>
            <a:ext cx="31426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2136775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9084" y="6372859"/>
            <a:ext cx="10579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50" y="357504"/>
            <a:ext cx="47091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Cases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Actors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8175" y="1586483"/>
            <a:ext cx="10312908" cy="43357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87520" y="6372859"/>
            <a:ext cx="31426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2136775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9084" y="6372859"/>
            <a:ext cx="10579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3367" y="519429"/>
            <a:ext cx="6863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Example: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Two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Simple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Cases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832" y="1586483"/>
            <a:ext cx="10468356" cy="44089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87520" y="6372859"/>
            <a:ext cx="31426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2136775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9084" y="6372859"/>
            <a:ext cx="10579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28822" y="519429"/>
            <a:ext cx="59315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Cases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203" y="1586483"/>
            <a:ext cx="10511028" cy="45735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87520" y="6372859"/>
            <a:ext cx="31426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2136775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9084" y="6372859"/>
            <a:ext cx="10579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77919" y="429983"/>
            <a:ext cx="4860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Describing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a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Case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1516" y="1545336"/>
            <a:ext cx="9930384" cy="485089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87520" y="6372859"/>
            <a:ext cx="31426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2136775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9084" y="6372859"/>
            <a:ext cx="10579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67558" y="431850"/>
            <a:ext cx="6689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Outline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600" b="1" u="heavy" spc="-7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Take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Exam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Case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8175" y="1603247"/>
            <a:ext cx="10396728" cy="47350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87520" y="6372859"/>
            <a:ext cx="31426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2136775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9084" y="6372859"/>
            <a:ext cx="10579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1527" y="341629"/>
            <a:ext cx="7882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Outline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Take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Cont.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891" y="1662683"/>
            <a:ext cx="10120884" cy="47533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87520" y="6372859"/>
            <a:ext cx="31426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2136775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9084" y="6372859"/>
            <a:ext cx="10579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0276" rIns="0" bIns="0" rtlCol="0">
            <a:spAutoFit/>
          </a:bodyPr>
          <a:lstStyle/>
          <a:p>
            <a:pPr marL="212725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Take</a:t>
            </a:r>
            <a:r>
              <a:rPr spc="-60" dirty="0"/>
              <a:t> </a:t>
            </a:r>
            <a:r>
              <a:rPr dirty="0"/>
              <a:t>Exam</a:t>
            </a:r>
            <a:r>
              <a:rPr spc="-60" dirty="0"/>
              <a:t> </a:t>
            </a:r>
            <a:r>
              <a:rPr dirty="0"/>
              <a:t>Use</a:t>
            </a:r>
            <a:r>
              <a:rPr spc="-60" dirty="0"/>
              <a:t> </a:t>
            </a:r>
            <a:r>
              <a:rPr dirty="0"/>
              <a:t>Case</a:t>
            </a:r>
            <a:r>
              <a:rPr spc="-60" dirty="0"/>
              <a:t> </a:t>
            </a:r>
            <a:r>
              <a:rPr spc="-10" dirty="0"/>
              <a:t>Cont.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7152" y="1708404"/>
            <a:ext cx="9675876" cy="47625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87520" y="6372859"/>
            <a:ext cx="31426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2136775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9084" y="6372859"/>
            <a:ext cx="10579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12821" y="263740"/>
            <a:ext cx="6969125" cy="1067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Relationship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Between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Cases:</a:t>
            </a:r>
            <a:endParaRPr sz="3600">
              <a:latin typeface="Times New Roman"/>
              <a:cs typeface="Times New Roman"/>
            </a:endParaRPr>
          </a:p>
          <a:p>
            <a:pPr marL="2415540">
              <a:lnSpc>
                <a:spcPts val="4105"/>
              </a:lnSpc>
            </a:pP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&lt;&lt;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includes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&gt;&gt;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7027" y="1531619"/>
            <a:ext cx="10535412" cy="47015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87520" y="6372859"/>
            <a:ext cx="31426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2136775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9084" y="6372859"/>
            <a:ext cx="10579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996" y="273050"/>
            <a:ext cx="6969125" cy="1067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Relationship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Between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Cases:</a:t>
            </a:r>
            <a:endParaRPr sz="3600">
              <a:latin typeface="Times New Roman"/>
              <a:cs typeface="Times New Roman"/>
            </a:endParaRPr>
          </a:p>
          <a:p>
            <a:pPr marL="2479675">
              <a:lnSpc>
                <a:spcPts val="4105"/>
              </a:lnSpc>
            </a:pP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&lt;&lt;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extends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&gt;&gt;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2120" y="1708404"/>
            <a:ext cx="9389364" cy="46863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87520" y="6372859"/>
            <a:ext cx="31426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2136775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9084" y="6372859"/>
            <a:ext cx="10579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6193" y="350583"/>
            <a:ext cx="6109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MHC-PMS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36759" y="6425565"/>
            <a:ext cx="31426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68324" y="6425565"/>
            <a:ext cx="1508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944" y="1694688"/>
            <a:ext cx="10658856" cy="447294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3217" y="190500"/>
            <a:ext cx="8493125" cy="1067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Scenarios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Cases 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Development</a:t>
            </a:r>
            <a:endParaRPr sz="3600">
              <a:latin typeface="Times New Roman"/>
              <a:cs typeface="Times New Roman"/>
            </a:endParaRPr>
          </a:p>
          <a:p>
            <a:pPr marL="3952875">
              <a:lnSpc>
                <a:spcPts val="4105"/>
              </a:lnSpc>
            </a:pP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Cycle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9219" y="1528572"/>
            <a:ext cx="10576560" cy="47061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87520" y="6372859"/>
            <a:ext cx="31426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2136775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9084" y="6372859"/>
            <a:ext cx="10579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1726" y="349389"/>
            <a:ext cx="622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with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Several</a:t>
            </a:r>
            <a:r>
              <a:rPr sz="3600" b="1" u="heavy" spc="-20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Actors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1391" y="1633727"/>
            <a:ext cx="10046208" cy="44577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87520" y="6372859"/>
            <a:ext cx="31426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2136775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9084" y="6372859"/>
            <a:ext cx="10579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876" y="350583"/>
            <a:ext cx="9992995" cy="244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1515">
              <a:lnSpc>
                <a:spcPct val="100000"/>
              </a:lnSpc>
              <a:spcBef>
                <a:spcPts val="100"/>
              </a:spcBef>
              <a:tabLst>
                <a:tab pos="373634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approach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3600">
              <a:latin typeface="Times New Roman"/>
              <a:cs typeface="Times New Roman"/>
            </a:endParaRPr>
          </a:p>
          <a:p>
            <a:pPr marL="239395" marR="5080" indent="-227329" algn="just">
              <a:lnSpc>
                <a:spcPts val="302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25" dirty="0">
                <a:latin typeface="Times New Roman"/>
                <a:cs typeface="Times New Roman"/>
              </a:rPr>
              <a:t>A</a:t>
            </a:r>
            <a:r>
              <a:rPr sz="2800" b="1" spc="-1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use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case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describes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a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sequence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of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interactions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between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a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system 	</a:t>
            </a:r>
            <a:r>
              <a:rPr sz="2800" b="1" spc="-20" dirty="0">
                <a:latin typeface="Times New Roman"/>
                <a:cs typeface="Times New Roman"/>
              </a:rPr>
              <a:t>and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an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external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actor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that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results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in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some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outcome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that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provides</a:t>
            </a:r>
            <a:r>
              <a:rPr sz="2800" b="1" dirty="0">
                <a:latin typeface="Times New Roman"/>
                <a:cs typeface="Times New Roman"/>
              </a:rPr>
              <a:t> 	</a:t>
            </a:r>
            <a:r>
              <a:rPr sz="2800" b="1" spc="-10" dirty="0">
                <a:latin typeface="Times New Roman"/>
                <a:cs typeface="Times New Roman"/>
              </a:rPr>
              <a:t>value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to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the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5" dirty="0">
                <a:latin typeface="Times New Roman"/>
                <a:cs typeface="Times New Roman"/>
              </a:rPr>
              <a:t>actor.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97876" y="2850540"/>
            <a:ext cx="14986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29638" y="2910230"/>
            <a:ext cx="9187180" cy="393065"/>
          </a:xfrm>
          <a:custGeom>
            <a:avLst/>
            <a:gdLst/>
            <a:ahLst/>
            <a:cxnLst/>
            <a:rect l="l" t="t" r="r" b="b"/>
            <a:pathLst>
              <a:path w="9187180" h="393064">
                <a:moveTo>
                  <a:pt x="9187180" y="0"/>
                </a:moveTo>
                <a:lnTo>
                  <a:pt x="9187180" y="0"/>
                </a:lnTo>
                <a:lnTo>
                  <a:pt x="0" y="0"/>
                </a:lnTo>
                <a:lnTo>
                  <a:pt x="0" y="393065"/>
                </a:lnTo>
                <a:lnTo>
                  <a:pt x="9187180" y="393065"/>
                </a:lnTo>
                <a:lnTo>
                  <a:pt x="918718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29651" y="2910230"/>
            <a:ext cx="9187180" cy="393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985"/>
              </a:lnSpc>
            </a:pP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actor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person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sometimes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another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29651" y="3303295"/>
            <a:ext cx="9909175" cy="383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910"/>
              </a:lnSpc>
            </a:pPr>
            <a:r>
              <a:rPr sz="2800" dirty="0">
                <a:latin typeface="Times New Roman"/>
                <a:cs typeface="Times New Roman"/>
              </a:rPr>
              <a:t>hardware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device)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interacts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perform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case.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55076" y="3681120"/>
            <a:ext cx="9565640" cy="249618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983615" indent="-227329">
              <a:lnSpc>
                <a:spcPts val="302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For</a:t>
            </a:r>
            <a:r>
              <a:rPr sz="2800" b="1" spc="-1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example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Chemical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Tracking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System’s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“Request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	</a:t>
            </a:r>
            <a:r>
              <a:rPr sz="2800" dirty="0">
                <a:latin typeface="Times New Roman"/>
                <a:cs typeface="Times New Roman"/>
              </a:rPr>
              <a:t>Chemical”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involves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Requester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There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Requester.</a:t>
            </a:r>
            <a:endParaRPr sz="280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3020"/>
              </a:lnSpc>
              <a:spcBef>
                <a:spcPts val="5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Both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chemists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members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chemical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stockroom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staff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may 	</a:t>
            </a:r>
            <a:r>
              <a:rPr sz="2800" dirty="0">
                <a:latin typeface="Times New Roman"/>
                <a:cs typeface="Times New Roman"/>
              </a:rPr>
              <a:t>request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chemicals,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members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either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perform 	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Requester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role.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96882" y="181038"/>
            <a:ext cx="8263890" cy="996315"/>
            <a:chOff x="2796882" y="181038"/>
            <a:chExt cx="8263890" cy="996315"/>
          </a:xfrm>
        </p:grpSpPr>
        <p:sp>
          <p:nvSpPr>
            <p:cNvPr id="3" name="object 3"/>
            <p:cNvSpPr/>
            <p:nvPr/>
          </p:nvSpPr>
          <p:spPr>
            <a:xfrm>
              <a:off x="2796882" y="181038"/>
              <a:ext cx="8263890" cy="502920"/>
            </a:xfrm>
            <a:custGeom>
              <a:avLst/>
              <a:gdLst/>
              <a:ahLst/>
              <a:cxnLst/>
              <a:rect l="l" t="t" r="r" b="b"/>
              <a:pathLst>
                <a:path w="8263890" h="502920">
                  <a:moveTo>
                    <a:pt x="8263890" y="502920"/>
                  </a:moveTo>
                  <a:lnTo>
                    <a:pt x="0" y="502920"/>
                  </a:lnTo>
                  <a:lnTo>
                    <a:pt x="0" y="0"/>
                  </a:lnTo>
                  <a:lnTo>
                    <a:pt x="8263890" y="0"/>
                  </a:lnTo>
                  <a:lnTo>
                    <a:pt x="8263890" y="50292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276048" y="674433"/>
              <a:ext cx="1304925" cy="502920"/>
            </a:xfrm>
            <a:custGeom>
              <a:avLst/>
              <a:gdLst/>
              <a:ahLst/>
              <a:cxnLst/>
              <a:rect l="l" t="t" r="r" b="b"/>
              <a:pathLst>
                <a:path w="1304925" h="502919">
                  <a:moveTo>
                    <a:pt x="1304925" y="502919"/>
                  </a:moveTo>
                  <a:lnTo>
                    <a:pt x="0" y="502919"/>
                  </a:lnTo>
                  <a:lnTo>
                    <a:pt x="0" y="0"/>
                  </a:lnTo>
                  <a:lnTo>
                    <a:pt x="1304925" y="0"/>
                  </a:lnTo>
                  <a:lnTo>
                    <a:pt x="1304925" y="502919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288882" y="104203"/>
            <a:ext cx="8784590" cy="1067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Tabular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guideline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endParaRPr sz="3600">
              <a:latin typeface="Times New Roman"/>
              <a:cs typeface="Times New Roman"/>
            </a:endParaRPr>
          </a:p>
          <a:p>
            <a:pPr marL="3996690">
              <a:lnSpc>
                <a:spcPts val="4105"/>
              </a:lnSpc>
            </a:pP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case(s)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77632" y="1532724"/>
          <a:ext cx="10775315" cy="4815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5840"/>
                <a:gridCol w="8410575"/>
              </a:tblGrid>
              <a:tr h="43180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ID: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05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Enter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unique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numeric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identifier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Case.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e.g.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UC-1.2.1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Name: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05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Enter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short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verb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phrase.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e.g.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Withdraw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Cash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897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Actors: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05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[An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actor</a:t>
                      </a:r>
                      <a:r>
                        <a:rPr sz="18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person</a:t>
                      </a:r>
                      <a:r>
                        <a:rPr sz="18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entity</a:t>
                      </a:r>
                      <a:r>
                        <a:rPr sz="18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external</a:t>
                      </a:r>
                      <a:r>
                        <a:rPr sz="18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8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being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specified</a:t>
                      </a:r>
                      <a:r>
                        <a:rPr sz="18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who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interacts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performs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accomplish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tasks.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7310" marR="5969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sz="1800" b="1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actors</a:t>
                      </a:r>
                      <a:r>
                        <a:rPr sz="1800" b="1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often</a:t>
                      </a:r>
                      <a:r>
                        <a:rPr sz="1800" b="1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correspond</a:t>
                      </a:r>
                      <a:r>
                        <a:rPr sz="1800" b="1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b="1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sz="1800" b="1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800" b="1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classes,</a:t>
                      </a:r>
                      <a:r>
                        <a:rPr sz="1800" b="1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b="1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roles,</a:t>
                      </a:r>
                      <a:r>
                        <a:rPr sz="1800" b="1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identified</a:t>
                      </a:r>
                      <a:r>
                        <a:rPr sz="1800" b="1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community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7310" marR="6731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actor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initiating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(primary)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actors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who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will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participate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completing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(secondary).]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Description: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05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[Provide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brief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description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reason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outcome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case.]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Level: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Enter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Goal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here: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High/Medium/Low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5948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Trigger: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05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[Identify</a:t>
                      </a:r>
                      <a:r>
                        <a:rPr sz="1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event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initiates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case.</a:t>
                      </a:r>
                      <a:r>
                        <a:rPr sz="18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8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could</a:t>
                      </a:r>
                      <a:r>
                        <a:rPr sz="18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external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sz="18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event</a:t>
                      </a:r>
                      <a:r>
                        <a:rPr sz="18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7310" marR="5905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event</a:t>
                      </a:r>
                      <a:r>
                        <a:rPr sz="18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causes</a:t>
                      </a:r>
                      <a:r>
                        <a:rPr sz="18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8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begin,</a:t>
                      </a:r>
                      <a:r>
                        <a:rPr sz="18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could</a:t>
                      </a:r>
                      <a:r>
                        <a:rPr sz="18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8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sz="18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step</a:t>
                      </a:r>
                      <a:r>
                        <a:rPr sz="18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normal flow.]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68272" y="1559217"/>
          <a:ext cx="10673715" cy="4017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4250"/>
                <a:gridCol w="8330565"/>
              </a:tblGrid>
              <a:tr h="178752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Preconditions: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[List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8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activities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must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take</a:t>
                      </a:r>
                      <a:r>
                        <a:rPr sz="18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place,</a:t>
                      </a:r>
                      <a:r>
                        <a:rPr sz="18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8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conditions</a:t>
                      </a:r>
                      <a:r>
                        <a:rPr sz="18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must</a:t>
                      </a:r>
                      <a:r>
                        <a:rPr sz="18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8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true,</a:t>
                      </a:r>
                      <a:r>
                        <a:rPr sz="18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1800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started.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pre-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condition.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e.g.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10845" indent="-342265">
                        <a:lnSpc>
                          <a:spcPct val="100000"/>
                        </a:lnSpc>
                        <a:buAutoNum type="arabicPeriod"/>
                        <a:tabLst>
                          <a:tab pos="410845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deposit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account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ATM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privileges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10845" indent="-342265">
                        <a:lnSpc>
                          <a:spcPct val="100000"/>
                        </a:lnSpc>
                        <a:buAutoNum type="arabicPeriod"/>
                        <a:tabLst>
                          <a:tab pos="410845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activated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ATM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card.]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29485">
                <a:tc>
                  <a:txBody>
                    <a:bodyPr/>
                    <a:lstStyle/>
                    <a:p>
                      <a:pPr marL="67945">
                        <a:lnSpc>
                          <a:spcPts val="2055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Includes: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just">
                        <a:lnSpc>
                          <a:spcPts val="2055"/>
                        </a:lnSpc>
                      </a:pPr>
                      <a:r>
                        <a:rPr sz="1800" spc="70" dirty="0">
                          <a:latin typeface="Times New Roman"/>
                          <a:cs typeface="Times New Roman"/>
                        </a:rPr>
                        <a:t>[List</a:t>
                      </a:r>
                      <a:r>
                        <a:rPr sz="18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6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7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8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55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70" dirty="0">
                          <a:latin typeface="Times New Roman"/>
                          <a:cs typeface="Times New Roman"/>
                        </a:rPr>
                        <a:t>cases</a:t>
                      </a:r>
                      <a:r>
                        <a:rPr sz="18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65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55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included</a:t>
                      </a:r>
                      <a:r>
                        <a:rPr sz="18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(“called”)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45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7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80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6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70" dirty="0">
                          <a:latin typeface="Times New Roman"/>
                          <a:cs typeface="Times New Roman"/>
                        </a:rPr>
                        <a:t>case.</a:t>
                      </a:r>
                      <a:r>
                        <a:rPr sz="180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70" dirty="0">
                          <a:latin typeface="Times New Roman"/>
                          <a:cs typeface="Times New Roman"/>
                        </a:rPr>
                        <a:t>Common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8580" marR="60960" algn="just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functionality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appears</a:t>
                      </a:r>
                      <a:r>
                        <a:rPr sz="18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cases</a:t>
                      </a:r>
                      <a:r>
                        <a:rPr sz="18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split</a:t>
                      </a:r>
                      <a:r>
                        <a:rPr sz="18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out</a:t>
                      </a:r>
                      <a:r>
                        <a:rPr sz="18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separate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case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included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ones</a:t>
                      </a:r>
                      <a:r>
                        <a:rPr sz="18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common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functionality.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e.g.</a:t>
                      </a:r>
                      <a:r>
                        <a:rPr sz="18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steps</a:t>
                      </a:r>
                      <a:r>
                        <a:rPr sz="180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1-4</a:t>
                      </a:r>
                      <a:r>
                        <a:rPr sz="180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normal</a:t>
                      </a:r>
                      <a:r>
                        <a:rPr sz="18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flow</a:t>
                      </a:r>
                      <a:r>
                        <a:rPr sz="18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would</a:t>
                      </a:r>
                      <a:r>
                        <a:rPr sz="18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8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required</a:t>
                      </a:r>
                      <a:r>
                        <a:rPr sz="18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8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sz="18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ATM</a:t>
                      </a:r>
                      <a:r>
                        <a:rPr sz="18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transactions-</a:t>
                      </a:r>
                      <a:r>
                        <a:rPr sz="18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8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could</a:t>
                      </a:r>
                      <a:r>
                        <a:rPr sz="18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be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written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these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steps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“included”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ATM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Cases.]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4947" y="160896"/>
            <a:ext cx="10194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Tabular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guideline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case(s)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5826" y="1639570"/>
            <a:ext cx="10454005" cy="12700"/>
          </a:xfrm>
          <a:custGeom>
            <a:avLst/>
            <a:gdLst/>
            <a:ahLst/>
            <a:cxnLst/>
            <a:rect l="l" t="t" r="r" b="b"/>
            <a:pathLst>
              <a:path w="10454005" h="12700">
                <a:moveTo>
                  <a:pt x="10454005" y="12699"/>
                </a:moveTo>
                <a:lnTo>
                  <a:pt x="0" y="12699"/>
                </a:lnTo>
                <a:lnTo>
                  <a:pt x="0" y="0"/>
                </a:lnTo>
                <a:lnTo>
                  <a:pt x="10454005" y="0"/>
                </a:lnTo>
                <a:lnTo>
                  <a:pt x="10454005" y="1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99476" y="1645919"/>
            <a:ext cx="10466705" cy="3572510"/>
          </a:xfrm>
          <a:custGeom>
            <a:avLst/>
            <a:gdLst/>
            <a:ahLst/>
            <a:cxnLst/>
            <a:rect l="l" t="t" r="r" b="b"/>
            <a:pathLst>
              <a:path w="10466705" h="3572510">
                <a:moveTo>
                  <a:pt x="10466705" y="0"/>
                </a:moveTo>
                <a:lnTo>
                  <a:pt x="10454005" y="0"/>
                </a:lnTo>
                <a:lnTo>
                  <a:pt x="10454005" y="3559810"/>
                </a:lnTo>
                <a:lnTo>
                  <a:pt x="2045335" y="3559810"/>
                </a:lnTo>
                <a:lnTo>
                  <a:pt x="2045335" y="0"/>
                </a:lnTo>
                <a:lnTo>
                  <a:pt x="2032635" y="0"/>
                </a:lnTo>
                <a:lnTo>
                  <a:pt x="2032635" y="3559810"/>
                </a:lnTo>
                <a:lnTo>
                  <a:pt x="12700" y="3559810"/>
                </a:lnTo>
                <a:lnTo>
                  <a:pt x="12700" y="0"/>
                </a:lnTo>
                <a:lnTo>
                  <a:pt x="0" y="0"/>
                </a:lnTo>
                <a:lnTo>
                  <a:pt x="0" y="3566160"/>
                </a:lnTo>
                <a:lnTo>
                  <a:pt x="6350" y="3566160"/>
                </a:lnTo>
                <a:lnTo>
                  <a:pt x="6350" y="3572510"/>
                </a:lnTo>
                <a:lnTo>
                  <a:pt x="10460355" y="3572510"/>
                </a:lnTo>
                <a:lnTo>
                  <a:pt x="10460355" y="3566160"/>
                </a:lnTo>
                <a:lnTo>
                  <a:pt x="10466705" y="3566160"/>
                </a:lnTo>
                <a:lnTo>
                  <a:pt x="104667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61706" y="1670684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Normal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Flow: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25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25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94341" y="1619884"/>
            <a:ext cx="830960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[Provide</a:t>
            </a:r>
            <a:r>
              <a:rPr sz="1800" spc="2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detailed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description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actions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responses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take </a:t>
            </a:r>
            <a:r>
              <a:rPr sz="1800" dirty="0">
                <a:latin typeface="Times New Roman"/>
                <a:cs typeface="Times New Roman"/>
              </a:rPr>
              <a:t>place</a:t>
            </a:r>
            <a:r>
              <a:rPr sz="1800" spc="2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during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execution</a:t>
            </a:r>
            <a:r>
              <a:rPr sz="1800" spc="2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</a:t>
            </a:r>
            <a:r>
              <a:rPr sz="1800" spc="2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under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normal,</a:t>
            </a:r>
            <a:r>
              <a:rPr sz="1800" spc="2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expected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conditions.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dialog </a:t>
            </a:r>
            <a:r>
              <a:rPr sz="1800" dirty="0">
                <a:latin typeface="Times New Roman"/>
                <a:cs typeface="Times New Roman"/>
              </a:rPr>
              <a:t>sequence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ultimately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lead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accomplishing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goal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stated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name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spc="-10" dirty="0">
                <a:latin typeface="Times New Roman"/>
                <a:cs typeface="Times New Roman"/>
              </a:rPr>
              <a:t>description.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94341" y="2717165"/>
            <a:ext cx="7372350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inserts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ATM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card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enters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PIN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prompts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enter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language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performance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English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Spanish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validates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bank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network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prompts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select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transaction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type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selects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Withdrawal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Checking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prompts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enter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withdrawal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amount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50" dirty="0">
                <a:latin typeface="Times New Roman"/>
                <a:cs typeface="Times New Roman"/>
              </a:rPr>
              <a:t>…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ejects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ATM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card]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5366" y="324446"/>
            <a:ext cx="10194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Tabular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guideline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case(s)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74622" y="1707527"/>
            <a:ext cx="10454005" cy="12700"/>
          </a:xfrm>
          <a:custGeom>
            <a:avLst/>
            <a:gdLst/>
            <a:ahLst/>
            <a:cxnLst/>
            <a:rect l="l" t="t" r="r" b="b"/>
            <a:pathLst>
              <a:path w="10454005" h="12700">
                <a:moveTo>
                  <a:pt x="10454005" y="12699"/>
                </a:moveTo>
                <a:lnTo>
                  <a:pt x="0" y="12699"/>
                </a:lnTo>
                <a:lnTo>
                  <a:pt x="0" y="0"/>
                </a:lnTo>
                <a:lnTo>
                  <a:pt x="10454005" y="0"/>
                </a:lnTo>
                <a:lnTo>
                  <a:pt x="10454005" y="1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68272" y="1713877"/>
            <a:ext cx="10466705" cy="3846829"/>
          </a:xfrm>
          <a:custGeom>
            <a:avLst/>
            <a:gdLst/>
            <a:ahLst/>
            <a:cxnLst/>
            <a:rect l="l" t="t" r="r" b="b"/>
            <a:pathLst>
              <a:path w="10466705" h="3846829">
                <a:moveTo>
                  <a:pt x="10466705" y="0"/>
                </a:moveTo>
                <a:lnTo>
                  <a:pt x="10454005" y="0"/>
                </a:lnTo>
                <a:lnTo>
                  <a:pt x="10454005" y="3834130"/>
                </a:lnTo>
                <a:lnTo>
                  <a:pt x="1948815" y="3834130"/>
                </a:lnTo>
                <a:lnTo>
                  <a:pt x="1948815" y="0"/>
                </a:lnTo>
                <a:lnTo>
                  <a:pt x="1936115" y="0"/>
                </a:lnTo>
                <a:lnTo>
                  <a:pt x="1936115" y="3834130"/>
                </a:lnTo>
                <a:lnTo>
                  <a:pt x="12700" y="3834130"/>
                </a:lnTo>
                <a:lnTo>
                  <a:pt x="12700" y="0"/>
                </a:lnTo>
                <a:lnTo>
                  <a:pt x="0" y="0"/>
                </a:lnTo>
                <a:lnTo>
                  <a:pt x="0" y="3840480"/>
                </a:lnTo>
                <a:lnTo>
                  <a:pt x="6350" y="3840480"/>
                </a:lnTo>
                <a:lnTo>
                  <a:pt x="6350" y="3846830"/>
                </a:lnTo>
                <a:lnTo>
                  <a:pt x="10460355" y="3846830"/>
                </a:lnTo>
                <a:lnTo>
                  <a:pt x="10460355" y="3840480"/>
                </a:lnTo>
                <a:lnTo>
                  <a:pt x="10466705" y="3840480"/>
                </a:lnTo>
                <a:lnTo>
                  <a:pt x="104667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30502" y="1971687"/>
            <a:ext cx="1824355" cy="3606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340"/>
              </a:spcBef>
            </a:pPr>
            <a:r>
              <a:rPr sz="1200" b="1" spc="10" dirty="0">
                <a:solidFill>
                  <a:srgbClr val="BEBEBE"/>
                </a:solidFill>
                <a:latin typeface="Times New Roman"/>
                <a:cs typeface="Times New Roman"/>
              </a:rPr>
              <a:t>[Alternative</a:t>
            </a:r>
            <a:r>
              <a:rPr sz="1200" b="1" spc="20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b="1" spc="10" dirty="0">
                <a:solidFill>
                  <a:srgbClr val="BEBEBE"/>
                </a:solidFill>
                <a:latin typeface="Times New Roman"/>
                <a:cs typeface="Times New Roman"/>
              </a:rPr>
              <a:t>Flow</a:t>
            </a:r>
            <a:r>
              <a:rPr sz="1200" b="1" spc="20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b="1" spc="10" dirty="0">
                <a:solidFill>
                  <a:srgbClr val="BEBEBE"/>
                </a:solidFill>
                <a:latin typeface="Times New Roman"/>
                <a:cs typeface="Times New Roman"/>
              </a:rPr>
              <a:t>1</a:t>
            </a:r>
            <a:r>
              <a:rPr sz="1200" b="1" spc="204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b="1" spc="10" dirty="0">
                <a:solidFill>
                  <a:srgbClr val="BEBEBE"/>
                </a:solidFill>
                <a:latin typeface="Times New Roman"/>
                <a:cs typeface="Times New Roman"/>
              </a:rPr>
              <a:t>–</a:t>
            </a:r>
            <a:r>
              <a:rPr sz="1200" b="1" spc="20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BEBEBE"/>
                </a:solidFill>
                <a:latin typeface="Times New Roman"/>
                <a:cs typeface="Times New Roman"/>
              </a:rPr>
              <a:t>Not </a:t>
            </a:r>
            <a:r>
              <a:rPr sz="1200" b="1" dirty="0">
                <a:solidFill>
                  <a:srgbClr val="BEBEBE"/>
                </a:solidFill>
                <a:latin typeface="Times New Roman"/>
                <a:cs typeface="Times New Roman"/>
              </a:rPr>
              <a:t>in</a:t>
            </a:r>
            <a:r>
              <a:rPr sz="1200" b="1" spc="-1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BEBEBE"/>
                </a:solidFill>
                <a:latin typeface="Times New Roman"/>
                <a:cs typeface="Times New Roman"/>
              </a:rPr>
              <a:t>Network]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87520" y="6372859"/>
            <a:ext cx="31426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2136775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19084" y="6372859"/>
            <a:ext cx="10579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5102" y="1687842"/>
            <a:ext cx="10393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973580" algn="l"/>
              </a:tabLst>
            </a:pPr>
            <a:r>
              <a:rPr sz="2700" b="1" baseline="-12345" dirty="0">
                <a:latin typeface="Times New Roman"/>
                <a:cs typeface="Times New Roman"/>
              </a:rPr>
              <a:t>Alternative</a:t>
            </a:r>
            <a:r>
              <a:rPr sz="2700" b="1" spc="-97" baseline="-12345" dirty="0">
                <a:latin typeface="Times New Roman"/>
                <a:cs typeface="Times New Roman"/>
              </a:rPr>
              <a:t> </a:t>
            </a:r>
            <a:r>
              <a:rPr sz="2700" b="1" spc="-15" baseline="-12345" dirty="0">
                <a:latin typeface="Times New Roman"/>
                <a:cs typeface="Times New Roman"/>
              </a:rPr>
              <a:t>Flows</a:t>
            </a:r>
            <a:r>
              <a:rPr sz="2700" spc="-15" baseline="-12345" dirty="0">
                <a:latin typeface="Times New Roman"/>
                <a:cs typeface="Times New Roman"/>
              </a:rPr>
              <a:t>:</a:t>
            </a:r>
            <a:r>
              <a:rPr sz="2700" baseline="-12345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[Document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legitimate</a:t>
            </a:r>
            <a:r>
              <a:rPr sz="1800" spc="3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branches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main</a:t>
            </a:r>
            <a:r>
              <a:rPr sz="1800" spc="3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</a:t>
            </a:r>
            <a:r>
              <a:rPr sz="1800" spc="3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3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handle</a:t>
            </a:r>
            <a:r>
              <a:rPr sz="1800" spc="3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special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spc="45" dirty="0">
                <a:latin typeface="Times New Roman"/>
                <a:cs typeface="Times New Roman"/>
              </a:rPr>
              <a:t>conditions</a:t>
            </a:r>
            <a:r>
              <a:rPr sz="1800" spc="3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(also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6617" y="1962162"/>
            <a:ext cx="84518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known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extensions).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each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alternative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reference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branching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step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number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normal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condition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must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true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order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extension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10" dirty="0">
                <a:latin typeface="Times New Roman"/>
                <a:cs typeface="Times New Roman"/>
              </a:rPr>
              <a:t> executed.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e.g.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Alternative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Withdraw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transaction: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4a.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step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normal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flow,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bank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network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66617" y="3059442"/>
            <a:ext cx="6830059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prompt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accept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25" dirty="0">
                <a:latin typeface="Times New Roman"/>
                <a:cs typeface="Times New Roman"/>
              </a:rPr>
              <a:t> fee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accepts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resumes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step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4b.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step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normal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flow,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bank</a:t>
            </a:r>
            <a:r>
              <a:rPr sz="1800" spc="-10" dirty="0">
                <a:latin typeface="Times New Roman"/>
                <a:cs typeface="Times New Roman"/>
              </a:rPr>
              <a:t> network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prompt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accept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25" dirty="0">
                <a:latin typeface="Times New Roman"/>
                <a:cs typeface="Times New Roman"/>
              </a:rPr>
              <a:t> fee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Customer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declines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10" dirty="0">
                <a:latin typeface="Times New Roman"/>
                <a:cs typeface="Times New Roman"/>
              </a:rPr>
              <a:t>Transaction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terminated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resumes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step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9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normal</a:t>
            </a:r>
            <a:r>
              <a:rPr sz="1800" spc="-20" dirty="0">
                <a:latin typeface="Times New Roman"/>
                <a:cs typeface="Times New Roman"/>
              </a:rPr>
              <a:t> flow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Note:</a:t>
            </a:r>
            <a:r>
              <a:rPr sz="1800" spc="3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Insert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new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row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each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distinctive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alternative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flow.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9366" y="368020"/>
            <a:ext cx="10194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Tabular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guideline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case(s)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68272" y="1514881"/>
          <a:ext cx="10542905" cy="438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285"/>
                <a:gridCol w="8808720"/>
              </a:tblGrid>
              <a:tr h="2468880">
                <a:tc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Exceptions: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[Describe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anticipated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error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conditions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could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occur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execution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case,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define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respond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those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conditions.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e.g.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Exceptions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Withdraw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tabLst>
                          <a:tab pos="512445" algn="l"/>
                        </a:tabLst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2a.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In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step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normal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flow,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enters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invalid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PIN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10845" indent="-342265">
                        <a:lnSpc>
                          <a:spcPct val="100000"/>
                        </a:lnSpc>
                        <a:buAutoNum type="arabicPeriod"/>
                        <a:tabLst>
                          <a:tab pos="410845" algn="l"/>
                        </a:tabLst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Transaction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disapproved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10845" indent="-342265">
                        <a:lnSpc>
                          <a:spcPct val="100000"/>
                        </a:lnSpc>
                        <a:buAutoNum type="arabicPeriod"/>
                        <a:tabLst>
                          <a:tab pos="410845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Message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enter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PIN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10845" indent="-342265">
                        <a:lnSpc>
                          <a:spcPct val="100000"/>
                        </a:lnSpc>
                        <a:buAutoNum type="arabicPeriod"/>
                        <a:tabLst>
                          <a:tab pos="410845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enters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correct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PIN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10845" indent="-342265">
                        <a:lnSpc>
                          <a:spcPct val="100000"/>
                        </a:lnSpc>
                        <a:buAutoNum type="arabicPeriod"/>
                        <a:tabLst>
                          <a:tab pos="410845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resumes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step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normal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flow]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39">
                <a:tc>
                  <a:txBody>
                    <a:bodyPr/>
                    <a:lstStyle/>
                    <a:p>
                      <a:pPr marL="67945">
                        <a:lnSpc>
                          <a:spcPts val="2055"/>
                        </a:lnSpc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Post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conditions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6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[Describe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state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case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execution.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include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both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8580" marR="521334">
                        <a:lnSpc>
                          <a:spcPct val="100000"/>
                        </a:lnSpc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minimal</a:t>
                      </a:r>
                      <a:r>
                        <a:rPr sz="1800" i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guarantees</a:t>
                      </a:r>
                      <a:r>
                        <a:rPr sz="1800" i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(what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must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happen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even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actor’s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goal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achieved)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success</a:t>
                      </a:r>
                      <a:r>
                        <a:rPr sz="1800" i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guarantees</a:t>
                      </a:r>
                      <a:r>
                        <a:rPr sz="1800" i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(what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happens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when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actor’s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goal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achieved.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post-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condition.</a:t>
                      </a:r>
                      <a:r>
                        <a:rPr sz="18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e.g.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92735" indent="-224154">
                        <a:lnSpc>
                          <a:spcPct val="100000"/>
                        </a:lnSpc>
                        <a:buAutoNum type="arabicPeriod"/>
                        <a:tabLst>
                          <a:tab pos="29273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Customer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receives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cash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Customer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account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balance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reduced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amount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withdrawal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transaction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fees]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287520" y="6372859"/>
            <a:ext cx="31426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  <a:p>
            <a:pPr marL="2136775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9084" y="6372859"/>
            <a:ext cx="10579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Mr.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26971" y="312610"/>
            <a:ext cx="10194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Tabular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guideline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case(s)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487665" y="1602587"/>
          <a:ext cx="9987280" cy="3717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9640"/>
                <a:gridCol w="7698740"/>
              </a:tblGrid>
              <a:tr h="975360">
                <a:tc>
                  <a:txBody>
                    <a:bodyPr/>
                    <a:lstStyle/>
                    <a:p>
                      <a:pPr marL="68580" marR="6159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b="1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b="1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b="1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b="1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800" b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b="1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b="1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Requirements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(other</a:t>
                      </a:r>
                      <a:r>
                        <a:rPr sz="18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information):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05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[Identify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additional</a:t>
                      </a:r>
                      <a:r>
                        <a:rPr sz="1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requirements,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nonfunctional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requirements,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7945" marR="609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800" spc="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800" spc="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sz="1800" spc="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800" spc="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addressed</a:t>
                      </a:r>
                      <a:r>
                        <a:rPr sz="1800" spc="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sz="1800" spc="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1800" spc="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implementation.</a:t>
                      </a:r>
                      <a:r>
                        <a:rPr sz="18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These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include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attributes.]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9664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Assumptions: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05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[List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assumptions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sz="1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made</a:t>
                      </a:r>
                      <a:r>
                        <a:rPr sz="1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sz="1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led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accepting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use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description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writing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description.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7945" marR="120014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spc="4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spc="-2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4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2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4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65" dirty="0">
                          <a:latin typeface="Times New Roman"/>
                          <a:cs typeface="Times New Roman"/>
                        </a:rPr>
                        <a:t>Wi</a:t>
                      </a:r>
                      <a:r>
                        <a:rPr sz="1800" spc="-2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2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spc="4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spc="-2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2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spc="4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4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spc="4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spc="4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spc="4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: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Bank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understands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either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English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Spanish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language.]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459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Rule: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just">
                        <a:lnSpc>
                          <a:spcPts val="205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Some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rules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constrain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sz="18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roles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parts</a:t>
                      </a:r>
                      <a:r>
                        <a:rPr sz="18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case.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7945" marR="60325" algn="just">
                        <a:lnSpc>
                          <a:spcPct val="100000"/>
                        </a:lnSpc>
                      </a:pPr>
                      <a:r>
                        <a:rPr sz="1800" spc="70" dirty="0">
                          <a:latin typeface="Times New Roman"/>
                          <a:cs typeface="Times New Roman"/>
                        </a:rPr>
                        <a:t>Perhaps</a:t>
                      </a:r>
                      <a:r>
                        <a:rPr sz="1800" spc="1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65" dirty="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8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65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18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60" dirty="0">
                          <a:latin typeface="Times New Roman"/>
                          <a:cs typeface="Times New Roman"/>
                        </a:rPr>
                        <a:t>who</a:t>
                      </a:r>
                      <a:r>
                        <a:rPr sz="18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60" dirty="0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sz="18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70" dirty="0">
                          <a:latin typeface="Times New Roman"/>
                          <a:cs typeface="Times New Roman"/>
                        </a:rPr>
                        <a:t>certain</a:t>
                      </a:r>
                      <a:r>
                        <a:rPr sz="18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privilege</a:t>
                      </a:r>
                      <a:r>
                        <a:rPr sz="18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70" dirty="0">
                          <a:latin typeface="Times New Roman"/>
                          <a:cs typeface="Times New Roman"/>
                        </a:rPr>
                        <a:t>levels</a:t>
                      </a:r>
                      <a:r>
                        <a:rPr sz="18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5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8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18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65" dirty="0">
                          <a:latin typeface="Times New Roman"/>
                          <a:cs typeface="Times New Roman"/>
                        </a:rPr>
                        <a:t>specific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alternative</a:t>
                      </a:r>
                      <a:r>
                        <a:rPr sz="1800" spc="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flows.</a:t>
                      </a:r>
                      <a:r>
                        <a:rPr sz="1800" spc="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is,</a:t>
                      </a:r>
                      <a:r>
                        <a:rPr sz="1800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rule</a:t>
                      </a:r>
                      <a:r>
                        <a:rPr sz="1800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might</a:t>
                      </a:r>
                      <a:r>
                        <a:rPr sz="1800" spc="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impose</a:t>
                      </a:r>
                      <a:r>
                        <a:rPr sz="1800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preconditions</a:t>
                      </a:r>
                      <a:r>
                        <a:rPr sz="1800" spc="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must</a:t>
                      </a:r>
                      <a:r>
                        <a:rPr sz="18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8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1800" spc="2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letting</a:t>
                      </a:r>
                      <a:r>
                        <a:rPr sz="1800" spc="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2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800" spc="2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proceed.</a:t>
                      </a:r>
                      <a:r>
                        <a:rPr sz="1800" spc="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sz="1800" spc="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rules</a:t>
                      </a:r>
                      <a:r>
                        <a:rPr sz="1800" spc="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800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influence</a:t>
                      </a:r>
                      <a:r>
                        <a:rPr sz="1800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specific </a:t>
                      </a:r>
                      <a:r>
                        <a:rPr sz="1800" spc="80" dirty="0">
                          <a:latin typeface="Times New Roman"/>
                          <a:cs typeface="Times New Roman"/>
                        </a:rPr>
                        <a:t>steps</a:t>
                      </a:r>
                      <a:r>
                        <a:rPr sz="18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5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6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85" dirty="0">
                          <a:latin typeface="Times New Roman"/>
                          <a:cs typeface="Times New Roman"/>
                        </a:rPr>
                        <a:t>normal</a:t>
                      </a:r>
                      <a:r>
                        <a:rPr sz="1800" spc="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flow</a:t>
                      </a:r>
                      <a:r>
                        <a:rPr sz="1800" spc="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55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800" spc="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defining</a:t>
                      </a:r>
                      <a:r>
                        <a:rPr sz="18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80" dirty="0">
                          <a:latin typeface="Times New Roman"/>
                          <a:cs typeface="Times New Roman"/>
                        </a:rPr>
                        <a:t>valid</a:t>
                      </a:r>
                      <a:r>
                        <a:rPr sz="1800" spc="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85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8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90" dirty="0">
                          <a:latin typeface="Times New Roman"/>
                          <a:cs typeface="Times New Roman"/>
                        </a:rPr>
                        <a:t>values</a:t>
                      </a:r>
                      <a:r>
                        <a:rPr sz="1800" spc="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5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95" dirty="0">
                          <a:latin typeface="Times New Roman"/>
                          <a:cs typeface="Times New Roman"/>
                        </a:rPr>
                        <a:t>dictating</a:t>
                      </a:r>
                      <a:r>
                        <a:rPr sz="1800" spc="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50" dirty="0">
                          <a:latin typeface="Times New Roman"/>
                          <a:cs typeface="Times New Roman"/>
                        </a:rPr>
                        <a:t>how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computations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performed.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52070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52070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26971" y="312610"/>
            <a:ext cx="10194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Tabular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guideline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write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case(s)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07046" y="1617751"/>
          <a:ext cx="10665460" cy="4693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3360"/>
                <a:gridCol w="7823200"/>
              </a:tblGrid>
              <a:tr h="197485">
                <a:tc>
                  <a:txBody>
                    <a:bodyPr/>
                    <a:lstStyle/>
                    <a:p>
                      <a:pPr marL="171450">
                        <a:lnSpc>
                          <a:spcPts val="1175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Case</a:t>
                      </a:r>
                      <a:r>
                        <a:rPr sz="12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UC-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1.1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67945">
                        <a:lnSpc>
                          <a:spcPts val="1175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Case</a:t>
                      </a:r>
                      <a:r>
                        <a:rPr sz="12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Displaying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Side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Menu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97485">
                <a:tc>
                  <a:txBody>
                    <a:bodyPr/>
                    <a:lstStyle/>
                    <a:p>
                      <a:pPr marL="67945">
                        <a:lnSpc>
                          <a:spcPts val="117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Actors: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Dumb/deaf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marL="67945">
                        <a:lnSpc>
                          <a:spcPts val="117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case,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side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menu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displayed.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marL="67945">
                        <a:lnSpc>
                          <a:spcPts val="117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Trigger: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Clicking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side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menu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button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initiate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process.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67945">
                        <a:lnSpc>
                          <a:spcPts val="117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Preconditions: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Side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menu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button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pressed.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67945">
                        <a:lnSpc>
                          <a:spcPts val="1175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</a:t>
                      </a:r>
                      <a:r>
                        <a:rPr sz="12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conditions: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Side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menu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displayed.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marL="67945">
                        <a:lnSpc>
                          <a:spcPts val="1175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Normal</a:t>
                      </a:r>
                      <a:r>
                        <a:rPr sz="12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Flow: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410845" indent="-342265">
                        <a:lnSpc>
                          <a:spcPts val="1055"/>
                        </a:lnSpc>
                        <a:buAutoNum type="arabicPeriod"/>
                        <a:tabLst>
                          <a:tab pos="41084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Opening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application.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410845" indent="-342265">
                        <a:lnSpc>
                          <a:spcPts val="1200"/>
                        </a:lnSpc>
                        <a:buAutoNum type="arabicPeriod"/>
                        <a:tabLst>
                          <a:tab pos="41084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Clicking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side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menu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button.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445134" indent="-376555">
                        <a:lnSpc>
                          <a:spcPts val="1320"/>
                        </a:lnSpc>
                        <a:buAutoNum type="arabicPeriod"/>
                        <a:tabLst>
                          <a:tab pos="445134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Side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menu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display.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591820">
                <a:tc>
                  <a:txBody>
                    <a:bodyPr/>
                    <a:lstStyle/>
                    <a:p>
                      <a:pPr marL="67945">
                        <a:lnSpc>
                          <a:spcPts val="117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Alternative</a:t>
                      </a:r>
                      <a:r>
                        <a:rPr sz="1200" b="1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Flows: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410845" indent="-342265">
                        <a:lnSpc>
                          <a:spcPts val="1055"/>
                        </a:lnSpc>
                        <a:buAutoNum type="arabicPeriod"/>
                        <a:tabLst>
                          <a:tab pos="41084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Opening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application.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410845" indent="-342265">
                        <a:lnSpc>
                          <a:spcPts val="1200"/>
                        </a:lnSpc>
                        <a:buAutoNum type="arabicPeriod"/>
                        <a:tabLst>
                          <a:tab pos="41084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Swipe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left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right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screen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410845" indent="-342265">
                        <a:lnSpc>
                          <a:spcPts val="1320"/>
                        </a:lnSpc>
                        <a:buAutoNum type="arabicPeriod"/>
                        <a:tabLst>
                          <a:tab pos="41084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Side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menu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display.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382395">
                <a:tc>
                  <a:txBody>
                    <a:bodyPr/>
                    <a:lstStyle/>
                    <a:p>
                      <a:pPr marL="67945">
                        <a:lnSpc>
                          <a:spcPts val="117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Exceptions: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step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normal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flow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click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right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side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screen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410845" indent="-342265">
                        <a:lnSpc>
                          <a:spcPct val="100000"/>
                        </a:lnSpc>
                        <a:spcBef>
                          <a:spcPts val="30"/>
                        </a:spcBef>
                        <a:buAutoNum type="arabicPeriod"/>
                        <a:tabLst>
                          <a:tab pos="41084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Side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menu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disappear.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410845" indent="-342265">
                        <a:lnSpc>
                          <a:spcPts val="1350"/>
                        </a:lnSpc>
                        <a:spcBef>
                          <a:spcPts val="85"/>
                        </a:spcBef>
                        <a:buAutoNum type="arabicPeriod"/>
                        <a:tabLst>
                          <a:tab pos="41084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Main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appear.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ts val="135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step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normal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flow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swipe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right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left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410845" indent="-342265">
                        <a:lnSpc>
                          <a:spcPct val="100000"/>
                        </a:lnSpc>
                        <a:spcBef>
                          <a:spcPts val="30"/>
                        </a:spcBef>
                        <a:buAutoNum type="arabicPeriod"/>
                        <a:tabLst>
                          <a:tab pos="41084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Side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menu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disappear.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410845" indent="-342265">
                        <a:lnSpc>
                          <a:spcPct val="100000"/>
                        </a:lnSpc>
                        <a:spcBef>
                          <a:spcPts val="85"/>
                        </a:spcBef>
                        <a:buAutoNum type="arabicPeriod"/>
                        <a:tabLst>
                          <a:tab pos="41084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Main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appear.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67945">
                        <a:lnSpc>
                          <a:spcPts val="117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Includes: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214629">
                <a:tc>
                  <a:txBody>
                    <a:bodyPr/>
                    <a:lstStyle/>
                    <a:p>
                      <a:pPr marL="67945">
                        <a:lnSpc>
                          <a:spcPts val="117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Assumptions: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Application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installed.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marL="67945">
                        <a:lnSpc>
                          <a:spcPts val="1175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Notes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Issues: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68257" y="495846"/>
            <a:ext cx="6295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  <a:tab pos="4173854" algn="l"/>
              </a:tabLst>
            </a:pPr>
            <a:r>
              <a:rPr sz="2450" spc="195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Tabular</a:t>
            </a:r>
            <a:r>
              <a:rPr sz="3600" b="1" u="heavy" spc="-1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7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spc="9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Example-</a:t>
            </a:r>
            <a:r>
              <a:rPr sz="3600" b="1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812" y="1551711"/>
            <a:ext cx="10135870" cy="495848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468257" y="495846"/>
            <a:ext cx="6295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  <a:tab pos="4173854" algn="l"/>
              </a:tabLst>
            </a:pPr>
            <a:r>
              <a:rPr sz="2450" spc="195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Tabular</a:t>
            </a:r>
            <a:r>
              <a:rPr sz="3600" b="1" u="heavy" spc="-1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7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3600" b="1" u="heavy" spc="9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Example-</a:t>
            </a:r>
            <a:r>
              <a:rPr sz="3600" b="1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0782" y="496633"/>
            <a:ext cx="190500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100" dirty="0">
                <a:latin typeface="Microsoft Sans Serif"/>
                <a:cs typeface="Microsoft Sans Serif"/>
              </a:rPr>
              <a:t>🞂</a:t>
            </a:r>
            <a:endParaRPr sz="24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58782" y="427418"/>
            <a:ext cx="8340090" cy="5029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3815"/>
              </a:lnSpc>
            </a:pPr>
            <a:r>
              <a:rPr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Template</a:t>
            </a:r>
            <a:r>
              <a:rPr u="heavy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to</a:t>
            </a:r>
            <a:r>
              <a:rPr u="heavy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write</a:t>
            </a:r>
            <a:r>
              <a:rPr u="heavy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Functional</a:t>
            </a:r>
            <a:r>
              <a:rPr u="heavy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Requirement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72653" y="1768652"/>
          <a:ext cx="9937115" cy="4041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9405"/>
                <a:gridCol w="6988809"/>
              </a:tblGrid>
              <a:tr h="50482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Identifier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50545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requirement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Requirement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Description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requirement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50545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Source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Where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come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(who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elicitate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it)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50545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Rationale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Motivation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behind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requirement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50545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Restrictions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Risk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restriction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must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fulfilled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Dependencies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dependent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requirement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50545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Priority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High/Medium/Low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3542" y="350583"/>
            <a:ext cx="78746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–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Example-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1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18564" y="1746250"/>
          <a:ext cx="10118725" cy="423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2110"/>
                <a:gridCol w="7117715"/>
              </a:tblGrid>
              <a:tr h="325120">
                <a:tc>
                  <a:txBody>
                    <a:bodyPr/>
                    <a:lstStyle/>
                    <a:p>
                      <a:pPr marL="67945">
                        <a:lnSpc>
                          <a:spcPts val="2290"/>
                        </a:lnSpc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Identifier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1.2.1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67945">
                        <a:lnSpc>
                          <a:spcPts val="2290"/>
                        </a:lnSpc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29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Edit</a:t>
                      </a:r>
                      <a:r>
                        <a:rPr sz="20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Application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03020">
                <a:tc>
                  <a:txBody>
                    <a:bodyPr/>
                    <a:lstStyle/>
                    <a:p>
                      <a:pPr marL="67945">
                        <a:lnSpc>
                          <a:spcPts val="2290"/>
                        </a:lnSpc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Requirement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7945" algn="just">
                        <a:lnSpc>
                          <a:spcPts val="229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students</a:t>
                      </a:r>
                      <a:r>
                        <a:rPr sz="2000" spc="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must</a:t>
                      </a:r>
                      <a:r>
                        <a:rPr sz="2000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000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able</a:t>
                      </a:r>
                      <a:r>
                        <a:rPr sz="2000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000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2000" spc="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main</a:t>
                      </a:r>
                      <a:r>
                        <a:rPr sz="2000" spc="22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sz="2000" spc="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tab</a:t>
                      </a:r>
                      <a:r>
                        <a:rPr sz="2000" spc="22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so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7945" marR="60325" algn="just">
                        <a:lnSpc>
                          <a:spcPct val="100000"/>
                        </a:lnSpc>
                      </a:pPr>
                      <a:r>
                        <a:rPr sz="2000" spc="114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2000" spc="3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14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2000" spc="3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000" spc="3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20" dirty="0">
                          <a:latin typeface="Calibri"/>
                          <a:cs typeface="Calibri"/>
                        </a:rPr>
                        <a:t>edit</a:t>
                      </a:r>
                      <a:r>
                        <a:rPr sz="2000" spc="3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3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2000" spc="3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45" dirty="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sz="2000" spc="3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1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3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35" dirty="0">
                          <a:latin typeface="Calibri"/>
                          <a:cs typeface="Calibri"/>
                        </a:rPr>
                        <a:t>complete</a:t>
                      </a:r>
                      <a:r>
                        <a:rPr sz="2000" spc="3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1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2000" spc="3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8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requirements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apply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universities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intends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to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67945">
                        <a:lnSpc>
                          <a:spcPts val="2290"/>
                        </a:lnSpc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Source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290"/>
                        </a:lnSpc>
                      </a:pPr>
                      <a:r>
                        <a:rPr sz="2000" spc="-45" dirty="0">
                          <a:latin typeface="Calibri"/>
                          <a:cs typeface="Calibri"/>
                        </a:rPr>
                        <a:t>Team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Member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2145">
                <a:tc>
                  <a:txBody>
                    <a:bodyPr/>
                    <a:lstStyle/>
                    <a:p>
                      <a:pPr marL="67945">
                        <a:lnSpc>
                          <a:spcPts val="2290"/>
                        </a:lnSpc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Rationale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29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000" spc="20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70" dirty="0">
                          <a:latin typeface="Calibri"/>
                          <a:cs typeface="Calibri"/>
                        </a:rPr>
                        <a:t>ensure</a:t>
                      </a:r>
                      <a:r>
                        <a:rPr sz="200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6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200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6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70" dirty="0">
                          <a:latin typeface="Calibri"/>
                          <a:cs typeface="Calibri"/>
                        </a:rPr>
                        <a:t>student</a:t>
                      </a:r>
                      <a:r>
                        <a:rPr sz="200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75" dirty="0">
                          <a:latin typeface="Calibri"/>
                          <a:cs typeface="Calibri"/>
                        </a:rPr>
                        <a:t>provides</a:t>
                      </a:r>
                      <a:r>
                        <a:rPr sz="2000" spc="20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6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2000" spc="20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6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85" dirty="0">
                          <a:latin typeface="Calibri"/>
                          <a:cs typeface="Calibri"/>
                        </a:rPr>
                        <a:t>necessary</a:t>
                      </a:r>
                      <a:r>
                        <a:rPr sz="2000" spc="2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65" dirty="0">
                          <a:latin typeface="Calibri"/>
                          <a:cs typeface="Calibri"/>
                        </a:rPr>
                        <a:t>details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required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marL="67945">
                        <a:lnSpc>
                          <a:spcPts val="2290"/>
                        </a:lnSpc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Restrictions</a:t>
                      </a:r>
                      <a:r>
                        <a:rPr sz="20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Risk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290"/>
                        </a:lnSpc>
                        <a:tabLst>
                          <a:tab pos="5876925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2000" spc="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fields</a:t>
                      </a:r>
                      <a:r>
                        <a:rPr sz="2000" spc="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sz="2000" spc="2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2000" spc="2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000" spc="2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000" spc="2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full</a:t>
                      </a:r>
                      <a:r>
                        <a:rPr sz="2000" spc="2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filled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	in</a:t>
                      </a:r>
                      <a:r>
                        <a:rPr sz="2000" spc="2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2000" spc="2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to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submit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application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67945">
                        <a:lnSpc>
                          <a:spcPts val="2290"/>
                        </a:lnSpc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Dependencies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1.1.1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67945">
                        <a:lnSpc>
                          <a:spcPts val="2290"/>
                        </a:lnSpc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Priority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290"/>
                        </a:lnSpc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High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3542" y="350583"/>
            <a:ext cx="78746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–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Example-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2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92860" y="1893570"/>
          <a:ext cx="10593705" cy="4554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1435"/>
                <a:gridCol w="7913370"/>
              </a:tblGrid>
              <a:tr h="514984">
                <a:tc>
                  <a:txBody>
                    <a:bodyPr/>
                    <a:lstStyle/>
                    <a:p>
                      <a:pPr marL="68580">
                        <a:lnSpc>
                          <a:spcPts val="2735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Identifier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35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FR1.1.8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BDBD"/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marL="68580">
                        <a:lnSpc>
                          <a:spcPts val="2735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35"/>
                        </a:lnSpc>
                      </a:pP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Validate</a:t>
                      </a:r>
                      <a:r>
                        <a:rPr sz="2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Email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0885">
                <a:tc>
                  <a:txBody>
                    <a:bodyPr/>
                    <a:lstStyle/>
                    <a:p>
                      <a:pPr marL="68580">
                        <a:lnSpc>
                          <a:spcPts val="2735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Requirement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3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able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validate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email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address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entered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user.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marL="68580">
                        <a:lnSpc>
                          <a:spcPts val="2735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Source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35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Supervisor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marL="68580">
                        <a:lnSpc>
                          <a:spcPts val="2735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Rationale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35"/>
                        </a:lnSpc>
                      </a:pP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inform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he/she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enters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invalid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email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0885">
                <a:tc>
                  <a:txBody>
                    <a:bodyPr/>
                    <a:lstStyle/>
                    <a:p>
                      <a:pPr marL="68580">
                        <a:lnSpc>
                          <a:spcPts val="2735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sz="24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Rule</a:t>
                      </a:r>
                      <a:r>
                        <a:rPr sz="24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25" dirty="0">
                          <a:latin typeface="Times New Roman"/>
                          <a:cs typeface="Times New Roman"/>
                        </a:rPr>
                        <a:t>(if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required)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3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must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enter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valid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email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address.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marL="68580">
                        <a:lnSpc>
                          <a:spcPts val="2735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Dependencies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35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FR1.1.2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4984">
                <a:tc>
                  <a:txBody>
                    <a:bodyPr/>
                    <a:lstStyle/>
                    <a:p>
                      <a:pPr marL="68580">
                        <a:lnSpc>
                          <a:spcPts val="2735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Priority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35"/>
                        </a:lnSpc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370070" y="1529715"/>
            <a:ext cx="3069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0" dirty="0">
                <a:latin typeface="Times New Roman"/>
                <a:cs typeface="Times New Roman"/>
              </a:rPr>
              <a:t>Table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8: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Validate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Email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Functional</a:t>
            </a:r>
            <a:r>
              <a:rPr spc="-95" dirty="0"/>
              <a:t> </a:t>
            </a:r>
            <a:r>
              <a:rPr dirty="0"/>
              <a:t>Requirement</a:t>
            </a:r>
            <a:r>
              <a:rPr spc="-85" dirty="0"/>
              <a:t> </a:t>
            </a:r>
            <a:r>
              <a:rPr dirty="0"/>
              <a:t>–</a:t>
            </a:r>
            <a:r>
              <a:rPr spc="-85" dirty="0"/>
              <a:t> </a:t>
            </a:r>
            <a:r>
              <a:rPr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Example-</a:t>
            </a:r>
            <a:r>
              <a:rPr u="heavy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3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9300" y="1961514"/>
          <a:ext cx="11272520" cy="460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9075"/>
                <a:gridCol w="8424545"/>
              </a:tblGrid>
              <a:tr h="516255"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Identifier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280"/>
                        </a:lnSpc>
                      </a:pP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FR-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2.1.4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BDBD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marL="68580">
                        <a:lnSpc>
                          <a:spcPts val="2735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35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2400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Animation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0885">
                <a:tc>
                  <a:txBody>
                    <a:bodyPr/>
                    <a:lstStyle/>
                    <a:p>
                      <a:pPr marL="68580">
                        <a:lnSpc>
                          <a:spcPts val="2735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Requirement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3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Baby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selected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animation,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be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train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parents.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marL="68580">
                        <a:lnSpc>
                          <a:spcPts val="2735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Source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35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Supervisor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marL="68580">
                        <a:lnSpc>
                          <a:spcPts val="2735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Rationale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35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Baby’s</a:t>
                      </a:r>
                      <a:r>
                        <a:rPr sz="2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2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must</a:t>
                      </a:r>
                      <a:r>
                        <a:rPr sz="2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2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selected</a:t>
                      </a:r>
                      <a:r>
                        <a:rPr sz="2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animation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68580">
                        <a:lnSpc>
                          <a:spcPts val="2735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sz="24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Rule</a:t>
                      </a:r>
                      <a:r>
                        <a:rPr sz="24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25" dirty="0">
                          <a:latin typeface="Times New Roman"/>
                          <a:cs typeface="Times New Roman"/>
                        </a:rPr>
                        <a:t>(if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required)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35"/>
                        </a:lnSpc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N/A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marL="68580">
                        <a:lnSpc>
                          <a:spcPts val="2735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Dependencies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35"/>
                        </a:lnSpc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N/A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9435">
                <a:tc>
                  <a:txBody>
                    <a:bodyPr/>
                    <a:lstStyle/>
                    <a:p>
                      <a:pPr marL="68580">
                        <a:lnSpc>
                          <a:spcPts val="2735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Priority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35"/>
                        </a:lnSpc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34620">
                        <a:lnSpc>
                          <a:spcPts val="955"/>
                        </a:lnSpc>
                        <a:spcBef>
                          <a:spcPts val="615"/>
                        </a:spcBef>
                        <a:tabLst>
                          <a:tab pos="3766185" algn="l"/>
                        </a:tabLst>
                      </a:pPr>
                      <a:r>
                        <a:rPr sz="1200" spc="-1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200" spc="3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Engineering</a:t>
                      </a:r>
                      <a:r>
                        <a:rPr sz="1200" spc="3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Concepts-CSC291-</a:t>
                      </a:r>
                      <a:r>
                        <a:rPr sz="1200" spc="-2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FALL-</a:t>
                      </a:r>
                      <a:r>
                        <a:rPr sz="1200" spc="-2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r>
                        <a:rPr sz="120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200" spc="-3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Mr.</a:t>
                      </a:r>
                      <a:r>
                        <a:rPr sz="1200" spc="-2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Tehseen</a:t>
                      </a:r>
                      <a:r>
                        <a:rPr sz="1200" spc="-2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Riaz</a:t>
                      </a:r>
                      <a:r>
                        <a:rPr sz="1200" spc="-2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Abbasi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333875" y="1518284"/>
            <a:ext cx="3757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imes New Roman"/>
                <a:cs typeface="Times New Roman"/>
              </a:rPr>
              <a:t>Table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2: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Perform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Animation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on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Model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753184" y="1803971"/>
          <a:ext cx="9371330" cy="4265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7615"/>
                <a:gridCol w="6774815"/>
              </a:tblGrid>
              <a:tr h="387985"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Identifier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1.1.1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Login/Register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5970"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Requirement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able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register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log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7985"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Source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Teacher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5335"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Rationale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login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registration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cannot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5335"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Restrictions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Risk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must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remember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credentials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keep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safe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7985"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Dependencies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1.1.2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7985"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Priority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280"/>
                        </a:lnSpc>
                      </a:pP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2821" y="442074"/>
            <a:ext cx="78746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Functional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– </a:t>
            </a:r>
            <a:r>
              <a:rPr sz="3600" b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Example-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4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6935" y="2303780"/>
            <a:ext cx="541909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Requirements</a:t>
            </a:r>
            <a:r>
              <a:rPr sz="4000" spc="-160" dirty="0"/>
              <a:t> </a:t>
            </a:r>
            <a:r>
              <a:rPr sz="4000" spc="-20" dirty="0"/>
              <a:t>Validation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13543" y="350583"/>
            <a:ext cx="5335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validation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2800" y="1584680"/>
            <a:ext cx="3805554" cy="37973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880"/>
              </a:lnSpc>
            </a:pPr>
            <a:r>
              <a:rPr sz="2700" b="1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700" b="1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validation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1025" y="1526260"/>
            <a:ext cx="1036129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6695" indent="-402399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Arial MT"/>
              <a:buChar char="•"/>
              <a:tabLst>
                <a:tab pos="4036695" algn="l"/>
                <a:tab pos="7984490" algn="l"/>
              </a:tabLst>
            </a:pPr>
            <a:r>
              <a:rPr sz="2700" dirty="0">
                <a:latin typeface="Times New Roman"/>
                <a:cs typeface="Times New Roman"/>
              </a:rPr>
              <a:t>examines</a:t>
            </a:r>
            <a:r>
              <a:rPr sz="2700" spc="20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1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specification</a:t>
            </a:r>
            <a:r>
              <a:rPr sz="2700" dirty="0">
                <a:latin typeface="Times New Roman"/>
                <a:cs typeface="Times New Roman"/>
              </a:rPr>
              <a:t>	to</a:t>
            </a:r>
            <a:r>
              <a:rPr sz="2700" spc="1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ensure</a:t>
            </a:r>
            <a:r>
              <a:rPr sz="2700" spc="1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17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all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1025" y="1896465"/>
            <a:ext cx="10361295" cy="37160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41300" marR="5080" algn="just">
              <a:lnSpc>
                <a:spcPts val="2920"/>
              </a:lnSpc>
              <a:spcBef>
                <a:spcPts val="459"/>
              </a:spcBef>
            </a:pPr>
            <a:r>
              <a:rPr sz="2700" spc="204" dirty="0">
                <a:latin typeface="Times New Roman"/>
                <a:cs typeface="Times New Roman"/>
              </a:rPr>
              <a:t>software</a:t>
            </a:r>
            <a:r>
              <a:rPr sz="2700" spc="505" dirty="0">
                <a:latin typeface="Times New Roman"/>
                <a:cs typeface="Times New Roman"/>
              </a:rPr>
              <a:t> </a:t>
            </a:r>
            <a:r>
              <a:rPr sz="2700" spc="220" dirty="0">
                <a:latin typeface="Times New Roman"/>
                <a:cs typeface="Times New Roman"/>
              </a:rPr>
              <a:t>requirements</a:t>
            </a:r>
            <a:r>
              <a:rPr sz="2700" spc="515" dirty="0">
                <a:latin typeface="Times New Roman"/>
                <a:cs typeface="Times New Roman"/>
              </a:rPr>
              <a:t> </a:t>
            </a:r>
            <a:r>
              <a:rPr sz="2700" spc="180" dirty="0">
                <a:latin typeface="Times New Roman"/>
                <a:cs typeface="Times New Roman"/>
              </a:rPr>
              <a:t>have</a:t>
            </a:r>
            <a:r>
              <a:rPr sz="2700" spc="520" dirty="0">
                <a:latin typeface="Times New Roman"/>
                <a:cs typeface="Times New Roman"/>
              </a:rPr>
              <a:t> </a:t>
            </a:r>
            <a:r>
              <a:rPr sz="2700" spc="180" dirty="0">
                <a:latin typeface="Times New Roman"/>
                <a:cs typeface="Times New Roman"/>
              </a:rPr>
              <a:t>been</a:t>
            </a:r>
            <a:r>
              <a:rPr sz="2700" spc="515" dirty="0">
                <a:latin typeface="Times New Roman"/>
                <a:cs typeface="Times New Roman"/>
              </a:rPr>
              <a:t> </a:t>
            </a:r>
            <a:r>
              <a:rPr sz="2700" spc="200" dirty="0">
                <a:latin typeface="Times New Roman"/>
                <a:cs typeface="Times New Roman"/>
              </a:rPr>
              <a:t>stated</a:t>
            </a:r>
            <a:r>
              <a:rPr sz="2700" spc="520" dirty="0">
                <a:latin typeface="Times New Roman"/>
                <a:cs typeface="Times New Roman"/>
              </a:rPr>
              <a:t> </a:t>
            </a:r>
            <a:r>
              <a:rPr sz="2700" spc="225" dirty="0">
                <a:latin typeface="Times New Roman"/>
                <a:cs typeface="Times New Roman"/>
              </a:rPr>
              <a:t>unambiguously;</a:t>
            </a:r>
            <a:r>
              <a:rPr sz="2700" spc="515" dirty="0">
                <a:latin typeface="Times New Roman"/>
                <a:cs typeface="Times New Roman"/>
              </a:rPr>
              <a:t> </a:t>
            </a:r>
            <a:r>
              <a:rPr sz="2700" spc="160" dirty="0">
                <a:latin typeface="Times New Roman"/>
                <a:cs typeface="Times New Roman"/>
              </a:rPr>
              <a:t>that </a:t>
            </a:r>
            <a:r>
              <a:rPr sz="2700" dirty="0">
                <a:latin typeface="Times New Roman"/>
                <a:cs typeface="Times New Roman"/>
              </a:rPr>
              <a:t>inconsistencies,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omissions,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errors</a:t>
            </a:r>
            <a:r>
              <a:rPr sz="2700" spc="1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have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been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detected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corrected;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2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2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work</a:t>
            </a:r>
            <a:r>
              <a:rPr sz="2700" spc="2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products</a:t>
            </a:r>
            <a:r>
              <a:rPr sz="2700" spc="2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conform</a:t>
            </a:r>
            <a:r>
              <a:rPr sz="2700" spc="2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2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standards</a:t>
            </a:r>
            <a:r>
              <a:rPr sz="2700" spc="2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established</a:t>
            </a:r>
            <a:r>
              <a:rPr sz="2700" spc="2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for</a:t>
            </a:r>
            <a:r>
              <a:rPr sz="2700" spc="24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the </a:t>
            </a:r>
            <a:r>
              <a:rPr sz="2700" dirty="0">
                <a:latin typeface="Times New Roman"/>
                <a:cs typeface="Times New Roman"/>
              </a:rPr>
              <a:t>process,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project,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product.</a:t>
            </a:r>
            <a:endParaRPr sz="2700">
              <a:latin typeface="Times New Roman"/>
              <a:cs typeface="Times New Roman"/>
            </a:endParaRPr>
          </a:p>
          <a:p>
            <a:pPr marL="241300" marR="856615" indent="-228600">
              <a:lnSpc>
                <a:spcPts val="292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700" b="1" dirty="0">
                <a:latin typeface="Times New Roman"/>
                <a:cs typeface="Times New Roman"/>
              </a:rPr>
              <a:t>Concerned</a:t>
            </a:r>
            <a:r>
              <a:rPr sz="2700" b="1" spc="-5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with</a:t>
            </a:r>
            <a:r>
              <a:rPr sz="2700" b="1" spc="-5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demonstrating</a:t>
            </a:r>
            <a:r>
              <a:rPr sz="2700" b="1" spc="-5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that</a:t>
            </a:r>
            <a:r>
              <a:rPr sz="2700" b="1" spc="-4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the</a:t>
            </a:r>
            <a:r>
              <a:rPr sz="2700" b="1" spc="-50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requirements</a:t>
            </a:r>
            <a:r>
              <a:rPr sz="2700" b="1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define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the </a:t>
            </a:r>
            <a:r>
              <a:rPr sz="2700" dirty="0">
                <a:latin typeface="Times New Roman"/>
                <a:cs typeface="Times New Roman"/>
              </a:rPr>
              <a:t>system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customer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really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wants.</a:t>
            </a:r>
            <a:endParaRPr sz="27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665" algn="l"/>
              </a:tabLst>
            </a:pPr>
            <a:r>
              <a:rPr sz="2700" b="1" dirty="0">
                <a:latin typeface="Times New Roman"/>
                <a:cs typeface="Times New Roman"/>
              </a:rPr>
              <a:t>Requirements</a:t>
            </a:r>
            <a:r>
              <a:rPr sz="2700" b="1" spc="-5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error</a:t>
            </a:r>
            <a:r>
              <a:rPr sz="2700" b="1" spc="-9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costs</a:t>
            </a:r>
            <a:r>
              <a:rPr sz="2700" b="1" spc="-5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are</a:t>
            </a:r>
            <a:r>
              <a:rPr sz="2700" b="1" spc="-4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high</a:t>
            </a:r>
            <a:r>
              <a:rPr sz="2700" b="1" spc="-5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so</a:t>
            </a:r>
            <a:r>
              <a:rPr sz="2700" b="1" spc="-4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validation</a:t>
            </a:r>
            <a:r>
              <a:rPr sz="2700" b="1" spc="-5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is</a:t>
            </a:r>
            <a:r>
              <a:rPr sz="2700" b="1" spc="-5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very</a:t>
            </a:r>
            <a:r>
              <a:rPr sz="2700" b="1" spc="-50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important</a:t>
            </a:r>
            <a:endParaRPr sz="2700">
              <a:latin typeface="Times New Roman"/>
              <a:cs typeface="Times New Roman"/>
            </a:endParaRPr>
          </a:p>
          <a:p>
            <a:pPr marL="698500" marR="443230" lvl="1" indent="-228600">
              <a:lnSpc>
                <a:spcPts val="291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r>
              <a:rPr sz="2700" dirty="0">
                <a:latin typeface="Times New Roman"/>
                <a:cs typeface="Times New Roman"/>
              </a:rPr>
              <a:t>Fixing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requirements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error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after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delivery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may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cost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up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100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times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cost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fixing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implementation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error.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65948" y="350583"/>
            <a:ext cx="10267950" cy="422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4315">
              <a:lnSpc>
                <a:spcPct val="100000"/>
              </a:lnSpc>
              <a:spcBef>
                <a:spcPts val="100"/>
              </a:spcBef>
              <a:tabLst>
                <a:tab pos="327914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checking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80"/>
              </a:spcBef>
            </a:pPr>
            <a:endParaRPr sz="360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259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Validity</a:t>
            </a:r>
            <a:r>
              <a:rPr sz="2400" spc="-25" dirty="0">
                <a:latin typeface="Times New Roman"/>
                <a:cs typeface="Times New Roman"/>
              </a:rPr>
              <a:t>. </a:t>
            </a:r>
            <a:r>
              <a:rPr sz="2400" dirty="0">
                <a:latin typeface="Times New Roman"/>
                <a:cs typeface="Times New Roman"/>
              </a:rPr>
              <a:t>Does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customer’s 	needs?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Consistency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requirements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conflicts?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Completeness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included?</a:t>
            </a:r>
            <a:endParaRPr sz="2400">
              <a:latin typeface="Times New Roman"/>
              <a:cs typeface="Times New Roman"/>
            </a:endParaRPr>
          </a:p>
          <a:p>
            <a:pPr marL="240029" marR="881380" indent="-227329">
              <a:lnSpc>
                <a:spcPts val="259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Realism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requirements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implemented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available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budget</a:t>
            </a:r>
            <a:r>
              <a:rPr sz="2400" spc="-25" dirty="0">
                <a:latin typeface="Times New Roman"/>
                <a:cs typeface="Times New Roman"/>
              </a:rPr>
              <a:t> and 	</a:t>
            </a:r>
            <a:r>
              <a:rPr sz="2400" spc="-10" dirty="0">
                <a:latin typeface="Times New Roman"/>
                <a:cs typeface="Times New Roman"/>
              </a:rPr>
              <a:t>technology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Verifiability</a:t>
            </a:r>
            <a:r>
              <a:rPr sz="2400" spc="-20" dirty="0">
                <a:latin typeface="Times New Roman"/>
                <a:cs typeface="Times New Roman"/>
              </a:rPr>
              <a:t>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requirements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checked?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9020175" cy="456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9375">
              <a:lnSpc>
                <a:spcPct val="100000"/>
              </a:lnSpc>
              <a:spcBef>
                <a:spcPts val="100"/>
              </a:spcBef>
              <a:tabLst>
                <a:tab pos="185420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Validation</a:t>
            </a:r>
            <a:r>
              <a:rPr sz="3600" b="1" u="heavy" spc="-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Techniques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b="1" spc="-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reviews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Systematic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manual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analysis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Prototyping</a:t>
            </a:r>
            <a:endParaRPr sz="3000">
              <a:latin typeface="Times New Roman"/>
              <a:cs typeface="Times New Roman"/>
            </a:endParaRPr>
          </a:p>
          <a:p>
            <a:pPr marL="698500" marR="676275" lvl="1" indent="-228600">
              <a:lnSpc>
                <a:spcPts val="324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Using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executable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model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check requirements.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Test-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case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generation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Developing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tests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check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testability.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343" y="350583"/>
            <a:ext cx="4979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Reviews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8889" y="153289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10664" y="1584960"/>
          <a:ext cx="10433685" cy="1652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93280"/>
                <a:gridCol w="3164204"/>
              </a:tblGrid>
              <a:tr h="327025">
                <a:tc gridSpan="2">
                  <a:txBody>
                    <a:bodyPr/>
                    <a:lstStyle/>
                    <a:p>
                      <a:pPr marL="9525" marR="3175">
                        <a:lnSpc>
                          <a:spcPts val="2475"/>
                        </a:lnSpc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b="1" spc="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2400" b="1" spc="2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review</a:t>
                      </a:r>
                      <a:r>
                        <a:rPr sz="2400" b="1" spc="2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400" b="1" spc="2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b="1" spc="22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sz="2400" b="1" spc="2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where</a:t>
                      </a:r>
                      <a:r>
                        <a:rPr sz="2400" b="1" spc="22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b="1" spc="229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group</a:t>
                      </a:r>
                      <a:r>
                        <a:rPr sz="2400" b="1" spc="2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400" b="1" spc="2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people</a:t>
                      </a:r>
                      <a:r>
                        <a:rPr sz="2400" b="1" spc="2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2400" b="1" spc="2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b="1" spc="22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28930">
                <a:tc gridSpan="2">
                  <a:txBody>
                    <a:bodyPr/>
                    <a:lstStyle/>
                    <a:p>
                      <a:pPr marL="9525">
                        <a:lnSpc>
                          <a:spcPts val="2490"/>
                        </a:lnSpc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2400" b="1" spc="12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400" b="1" spc="18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b="1" spc="18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2400" b="1" spc="18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developer</a:t>
                      </a:r>
                      <a:r>
                        <a:rPr sz="2400" b="1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read</a:t>
                      </a:r>
                      <a:r>
                        <a:rPr sz="2400" b="1" spc="18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b="1" spc="18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2400" b="1" spc="18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document</a:t>
                      </a:r>
                      <a:r>
                        <a:rPr sz="2400" b="1" spc="19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400" b="1" spc="19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detail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28295">
                <a:tc gridSpan="2">
                  <a:txBody>
                    <a:bodyPr/>
                    <a:lstStyle/>
                    <a:p>
                      <a:pPr marL="9525" marR="3175">
                        <a:lnSpc>
                          <a:spcPts val="2490"/>
                        </a:lnSpc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400" b="1" spc="26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sz="2400" b="1" spc="27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400" b="1" spc="2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errors,</a:t>
                      </a:r>
                      <a:r>
                        <a:rPr sz="2400" b="1" spc="27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anomalies,</a:t>
                      </a:r>
                      <a:r>
                        <a:rPr sz="2400" b="1" spc="2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400" b="1" spc="27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inconsistencies.</a:t>
                      </a:r>
                      <a:r>
                        <a:rPr sz="2400" b="1" spc="27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Once</a:t>
                      </a:r>
                      <a:r>
                        <a:rPr sz="2400" b="1" spc="2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these</a:t>
                      </a:r>
                      <a:r>
                        <a:rPr sz="2400" b="1" spc="26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sz="2400" b="1" spc="2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been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28930">
                <a:tc gridSpan="2">
                  <a:txBody>
                    <a:bodyPr/>
                    <a:lstStyle/>
                    <a:p>
                      <a:pPr marL="9525">
                        <a:lnSpc>
                          <a:spcPts val="2490"/>
                        </a:lnSpc>
                      </a:pPr>
                      <a:r>
                        <a:rPr sz="2400" b="1" spc="7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detected</a:t>
                      </a:r>
                      <a:r>
                        <a:rPr sz="2400" b="1" spc="2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400" b="1" spc="2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7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recorded,</a:t>
                      </a:r>
                      <a:r>
                        <a:rPr sz="2400" b="1" spc="25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400" b="1" spc="2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400" b="1" spc="25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6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2400" b="1" spc="2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2400" b="1" spc="25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400" b="1" spc="2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6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b="1" spc="2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8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2400" b="1" spc="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6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400" b="1" spc="2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6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b="1" spc="2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8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developer</a:t>
                      </a:r>
                      <a:r>
                        <a:rPr sz="2400" b="1" spc="19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9725">
                <a:tc>
                  <a:txBody>
                    <a:bodyPr/>
                    <a:lstStyle/>
                    <a:p>
                      <a:pPr marL="9525">
                        <a:lnSpc>
                          <a:spcPts val="2580"/>
                        </a:lnSpc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negotiate</a:t>
                      </a:r>
                      <a:r>
                        <a:rPr sz="2400" b="1" spc="-6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24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b="1" spc="-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identified</a:t>
                      </a:r>
                      <a:r>
                        <a:rPr sz="24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problems</a:t>
                      </a:r>
                      <a:r>
                        <a:rPr sz="24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sz="2400" b="1" spc="-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2400" b="1" spc="-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solved.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78889" y="3304540"/>
            <a:ext cx="10325100" cy="22898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96456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Times New Roman"/>
                <a:cs typeface="Times New Roman"/>
              </a:rPr>
              <a:t>Regular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reviews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requirements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definition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being 	formulated.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Both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client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contractor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staff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should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involved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revie</a:t>
            </a:r>
            <a:r>
              <a:rPr sz="2400" spc="-10" dirty="0">
                <a:latin typeface="Times New Roman"/>
                <a:cs typeface="Times New Roman"/>
              </a:rPr>
              <a:t>ws.</a:t>
            </a:r>
            <a:endParaRPr sz="240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Times New Roman"/>
                <a:cs typeface="Times New Roman"/>
              </a:rPr>
              <a:t>Reviews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may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formal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(with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documents)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informal.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Good 	</a:t>
            </a:r>
            <a:r>
              <a:rPr sz="2400" dirty="0">
                <a:latin typeface="Times New Roman"/>
                <a:cs typeface="Times New Roman"/>
              </a:rPr>
              <a:t>communications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developers,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resolve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at 	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early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stage.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1025" y="350583"/>
            <a:ext cx="9622155" cy="517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0915">
              <a:lnSpc>
                <a:spcPct val="100000"/>
              </a:lnSpc>
              <a:spcBef>
                <a:spcPts val="100"/>
              </a:spcBef>
              <a:tabLst>
                <a:tab pos="401574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Review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checks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ts val="349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Verifiability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490"/>
              </a:lnSpc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realistically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testable?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ts val="3490"/>
              </a:lnSpc>
              <a:spcBef>
                <a:spcPts val="28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Comprehensibility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490"/>
              </a:lnSpc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properly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understood?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ts val="3490"/>
              </a:lnSpc>
              <a:spcBef>
                <a:spcPts val="28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Traceability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490"/>
              </a:lnSpc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origin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clearly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stated?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ts val="3490"/>
              </a:lnSpc>
              <a:spcBef>
                <a:spcPts val="28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Adaptability</a:t>
            </a:r>
            <a:endParaRPr sz="30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61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changed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without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large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impact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on </a:t>
            </a:r>
            <a:r>
              <a:rPr sz="3000" dirty="0">
                <a:latin typeface="Times New Roman"/>
                <a:cs typeface="Times New Roman"/>
              </a:rPr>
              <a:t>other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requirements?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7055" y="2303780"/>
            <a:ext cx="603948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Requirements</a:t>
            </a:r>
            <a:r>
              <a:rPr sz="4000" spc="-204" dirty="0"/>
              <a:t> </a:t>
            </a:r>
            <a:r>
              <a:rPr sz="4000" spc="-10" dirty="0"/>
              <a:t>Management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6484" y="350583"/>
            <a:ext cx="10423525" cy="561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4730">
              <a:lnSpc>
                <a:spcPct val="100000"/>
              </a:lnSpc>
              <a:spcBef>
                <a:spcPts val="100"/>
              </a:spcBef>
              <a:tabLst>
                <a:tab pos="278955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Management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spc="18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b="1" spc="43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180" dirty="0">
                <a:solidFill>
                  <a:srgbClr val="FF0000"/>
                </a:solidFill>
                <a:latin typeface="Times New Roman"/>
                <a:cs typeface="Times New Roman"/>
              </a:rPr>
              <a:t>management</a:t>
            </a:r>
            <a:r>
              <a:rPr sz="3000" b="1" spc="4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1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b="1" spc="4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13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b="1" spc="4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165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3000" b="1" spc="4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1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b="1" spc="4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170" dirty="0">
                <a:solidFill>
                  <a:srgbClr val="FF0000"/>
                </a:solidFill>
                <a:latin typeface="Times New Roman"/>
                <a:cs typeface="Times New Roman"/>
              </a:rPr>
              <a:t>managing </a:t>
            </a:r>
            <a:r>
              <a:rPr sz="3000" b="1" spc="110" dirty="0">
                <a:solidFill>
                  <a:srgbClr val="FF0000"/>
                </a:solidFill>
                <a:latin typeface="Times New Roman"/>
                <a:cs typeface="Times New Roman"/>
              </a:rPr>
              <a:t>changing</a:t>
            </a:r>
            <a:r>
              <a:rPr sz="3000" b="1" spc="3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3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05" dirty="0">
                <a:solidFill>
                  <a:srgbClr val="FF0000"/>
                </a:solidFill>
                <a:latin typeface="Times New Roman"/>
                <a:cs typeface="Times New Roman"/>
              </a:rPr>
              <a:t>during</a:t>
            </a:r>
            <a:r>
              <a:rPr sz="3000" spc="3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2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14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3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05" dirty="0">
                <a:solidFill>
                  <a:srgbClr val="FF0000"/>
                </a:solidFill>
                <a:latin typeface="Times New Roman"/>
                <a:cs typeface="Times New Roman"/>
              </a:rPr>
              <a:t>engineering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New</a:t>
            </a:r>
            <a:r>
              <a:rPr sz="3000" b="1" spc="27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requirements</a:t>
            </a:r>
            <a:r>
              <a:rPr sz="3000" b="1" spc="27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emerge</a:t>
            </a:r>
            <a:r>
              <a:rPr sz="3000" b="1" spc="27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as</a:t>
            </a:r>
            <a:r>
              <a:rPr sz="3000" b="1" spc="27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28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system</a:t>
            </a:r>
            <a:r>
              <a:rPr sz="3000" b="1" spc="2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2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being</a:t>
            </a:r>
            <a:r>
              <a:rPr sz="3000" spc="2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developed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after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gone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into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use.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You</a:t>
            </a:r>
            <a:r>
              <a:rPr sz="3000" b="1" spc="405" dirty="0">
                <a:latin typeface="Times New Roman"/>
                <a:cs typeface="Times New Roman"/>
              </a:rPr>
              <a:t> </a:t>
            </a:r>
            <a:r>
              <a:rPr sz="3000" b="1" spc="135" dirty="0">
                <a:latin typeface="Times New Roman"/>
                <a:cs typeface="Times New Roman"/>
              </a:rPr>
              <a:t>need</a:t>
            </a:r>
            <a:r>
              <a:rPr sz="3000" b="1" spc="405" dirty="0">
                <a:latin typeface="Times New Roman"/>
                <a:cs typeface="Times New Roman"/>
              </a:rPr>
              <a:t> </a:t>
            </a:r>
            <a:r>
              <a:rPr sz="3000" b="1" spc="90" dirty="0">
                <a:latin typeface="Times New Roman"/>
                <a:cs typeface="Times New Roman"/>
              </a:rPr>
              <a:t>to</a:t>
            </a:r>
            <a:r>
              <a:rPr sz="3000" b="1" spc="409" dirty="0">
                <a:latin typeface="Times New Roman"/>
                <a:cs typeface="Times New Roman"/>
              </a:rPr>
              <a:t> </a:t>
            </a:r>
            <a:r>
              <a:rPr sz="3000" b="1" spc="135" dirty="0">
                <a:latin typeface="Times New Roman"/>
                <a:cs typeface="Times New Roman"/>
              </a:rPr>
              <a:t>keep</a:t>
            </a:r>
            <a:r>
              <a:rPr sz="3000" b="1" spc="415" dirty="0">
                <a:latin typeface="Times New Roman"/>
                <a:cs typeface="Times New Roman"/>
              </a:rPr>
              <a:t> </a:t>
            </a:r>
            <a:r>
              <a:rPr sz="3000" b="1" spc="150" dirty="0">
                <a:latin typeface="Times New Roman"/>
                <a:cs typeface="Times New Roman"/>
              </a:rPr>
              <a:t>track</a:t>
            </a:r>
            <a:r>
              <a:rPr sz="3000" b="1" spc="415" dirty="0">
                <a:latin typeface="Times New Roman"/>
                <a:cs typeface="Times New Roman"/>
              </a:rPr>
              <a:t> </a:t>
            </a:r>
            <a:r>
              <a:rPr sz="3000" b="1" spc="95" dirty="0">
                <a:latin typeface="Times New Roman"/>
                <a:cs typeface="Times New Roman"/>
              </a:rPr>
              <a:t>of</a:t>
            </a:r>
            <a:r>
              <a:rPr sz="3000" b="1" spc="420" dirty="0">
                <a:latin typeface="Times New Roman"/>
                <a:cs typeface="Times New Roman"/>
              </a:rPr>
              <a:t> </a:t>
            </a:r>
            <a:r>
              <a:rPr sz="3000" b="1" spc="175" dirty="0">
                <a:latin typeface="Times New Roman"/>
                <a:cs typeface="Times New Roman"/>
              </a:rPr>
              <a:t>individual</a:t>
            </a:r>
            <a:r>
              <a:rPr sz="3000" b="1" spc="415" dirty="0">
                <a:latin typeface="Times New Roman"/>
                <a:cs typeface="Times New Roman"/>
              </a:rPr>
              <a:t> </a:t>
            </a:r>
            <a:r>
              <a:rPr sz="3000" b="1" spc="160" dirty="0">
                <a:latin typeface="Times New Roman"/>
                <a:cs typeface="Times New Roman"/>
              </a:rPr>
              <a:t>requirements</a:t>
            </a:r>
            <a:r>
              <a:rPr sz="3000" b="1" spc="415" dirty="0">
                <a:latin typeface="Times New Roman"/>
                <a:cs typeface="Times New Roman"/>
              </a:rPr>
              <a:t> </a:t>
            </a:r>
            <a:r>
              <a:rPr sz="3000" b="1" spc="105" dirty="0">
                <a:latin typeface="Times New Roman"/>
                <a:cs typeface="Times New Roman"/>
              </a:rPr>
              <a:t>and </a:t>
            </a:r>
            <a:r>
              <a:rPr sz="3000" b="1" spc="50" dirty="0">
                <a:latin typeface="Times New Roman"/>
                <a:cs typeface="Times New Roman"/>
              </a:rPr>
              <a:t>maintain</a:t>
            </a:r>
            <a:r>
              <a:rPr sz="3000" b="1" spc="27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links</a:t>
            </a:r>
            <a:r>
              <a:rPr sz="3000" b="1" spc="270" dirty="0">
                <a:latin typeface="Times New Roman"/>
                <a:cs typeface="Times New Roman"/>
              </a:rPr>
              <a:t> </a:t>
            </a:r>
            <a:r>
              <a:rPr sz="3000" b="1" spc="45" dirty="0">
                <a:latin typeface="Times New Roman"/>
                <a:cs typeface="Times New Roman"/>
              </a:rPr>
              <a:t>between</a:t>
            </a:r>
            <a:r>
              <a:rPr sz="3000" b="1" spc="275" dirty="0">
                <a:latin typeface="Times New Roman"/>
                <a:cs typeface="Times New Roman"/>
              </a:rPr>
              <a:t> </a:t>
            </a:r>
            <a:r>
              <a:rPr sz="3000" b="1" spc="50" dirty="0">
                <a:latin typeface="Times New Roman"/>
                <a:cs typeface="Times New Roman"/>
              </a:rPr>
              <a:t>dependent</a:t>
            </a:r>
            <a:r>
              <a:rPr sz="3000" b="1" spc="28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requirements</a:t>
            </a:r>
            <a:r>
              <a:rPr sz="3000" b="1" spc="28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so</a:t>
            </a:r>
            <a:r>
              <a:rPr sz="3000" b="1" spc="29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that</a:t>
            </a:r>
            <a:r>
              <a:rPr sz="3000" b="1" spc="290" dirty="0">
                <a:latin typeface="Times New Roman"/>
                <a:cs typeface="Times New Roman"/>
              </a:rPr>
              <a:t> </a:t>
            </a:r>
            <a:r>
              <a:rPr sz="3000" b="1" spc="20" dirty="0">
                <a:latin typeface="Times New Roman"/>
                <a:cs typeface="Times New Roman"/>
              </a:rPr>
              <a:t>you </a:t>
            </a:r>
            <a:r>
              <a:rPr sz="3000" b="1" spc="50" dirty="0">
                <a:latin typeface="Times New Roman"/>
                <a:cs typeface="Times New Roman"/>
              </a:rPr>
              <a:t>can</a:t>
            </a:r>
            <a:r>
              <a:rPr sz="3000" b="1" spc="185" dirty="0">
                <a:latin typeface="Times New Roman"/>
                <a:cs typeface="Times New Roman"/>
              </a:rPr>
              <a:t> </a:t>
            </a:r>
            <a:r>
              <a:rPr sz="3000" b="1" spc="65" dirty="0">
                <a:latin typeface="Times New Roman"/>
                <a:cs typeface="Times New Roman"/>
              </a:rPr>
              <a:t>assess</a:t>
            </a:r>
            <a:r>
              <a:rPr sz="3000" b="1" spc="185" dirty="0">
                <a:latin typeface="Times New Roman"/>
                <a:cs typeface="Times New Roman"/>
              </a:rPr>
              <a:t> </a:t>
            </a:r>
            <a:r>
              <a:rPr sz="3000" b="1" spc="50" dirty="0">
                <a:latin typeface="Times New Roman"/>
                <a:cs typeface="Times New Roman"/>
              </a:rPr>
              <a:t>the</a:t>
            </a:r>
            <a:r>
              <a:rPr sz="3000" b="1" spc="185" dirty="0">
                <a:latin typeface="Times New Roman"/>
                <a:cs typeface="Times New Roman"/>
              </a:rPr>
              <a:t> </a:t>
            </a:r>
            <a:r>
              <a:rPr sz="3000" b="1" spc="60" dirty="0">
                <a:latin typeface="Times New Roman"/>
                <a:cs typeface="Times New Roman"/>
              </a:rPr>
              <a:t>impact</a:t>
            </a:r>
            <a:r>
              <a:rPr sz="3000" b="1" spc="19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195" dirty="0">
                <a:latin typeface="Times New Roman"/>
                <a:cs typeface="Times New Roman"/>
              </a:rPr>
              <a:t> </a:t>
            </a:r>
            <a:r>
              <a:rPr sz="3000" b="1" spc="65" dirty="0">
                <a:latin typeface="Times New Roman"/>
                <a:cs typeface="Times New Roman"/>
              </a:rPr>
              <a:t>requirements</a:t>
            </a:r>
            <a:r>
              <a:rPr sz="3000" b="1" spc="195" dirty="0">
                <a:latin typeface="Times New Roman"/>
                <a:cs typeface="Times New Roman"/>
              </a:rPr>
              <a:t> </a:t>
            </a:r>
            <a:r>
              <a:rPr sz="3000" b="1" spc="75" dirty="0">
                <a:latin typeface="Times New Roman"/>
                <a:cs typeface="Times New Roman"/>
              </a:rPr>
              <a:t>changes</a:t>
            </a:r>
            <a:r>
              <a:rPr sz="3000" spc="75" dirty="0">
                <a:latin typeface="Times New Roman"/>
                <a:cs typeface="Times New Roman"/>
              </a:rPr>
              <a:t>.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You</a:t>
            </a:r>
            <a:r>
              <a:rPr sz="3000" spc="195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need</a:t>
            </a:r>
            <a:r>
              <a:rPr sz="3000" spc="20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to </a:t>
            </a:r>
            <a:r>
              <a:rPr sz="3000" spc="120" dirty="0">
                <a:latin typeface="Times New Roman"/>
                <a:cs typeface="Times New Roman"/>
              </a:rPr>
              <a:t>establish</a:t>
            </a:r>
            <a:r>
              <a:rPr sz="3000" spc="3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300" dirty="0">
                <a:latin typeface="Times New Roman"/>
                <a:cs typeface="Times New Roman"/>
              </a:rPr>
              <a:t> </a:t>
            </a:r>
            <a:r>
              <a:rPr sz="3000" spc="105" dirty="0">
                <a:latin typeface="Times New Roman"/>
                <a:cs typeface="Times New Roman"/>
              </a:rPr>
              <a:t>formal</a:t>
            </a:r>
            <a:r>
              <a:rPr sz="3000" spc="305" dirty="0">
                <a:latin typeface="Times New Roman"/>
                <a:cs typeface="Times New Roman"/>
              </a:rPr>
              <a:t> </a:t>
            </a:r>
            <a:r>
              <a:rPr sz="3000" spc="114" dirty="0">
                <a:latin typeface="Times New Roman"/>
                <a:cs typeface="Times New Roman"/>
              </a:rPr>
              <a:t>process</a:t>
            </a:r>
            <a:r>
              <a:rPr sz="3000" spc="310" dirty="0">
                <a:latin typeface="Times New Roman"/>
                <a:cs typeface="Times New Roman"/>
              </a:rPr>
              <a:t> </a:t>
            </a:r>
            <a:r>
              <a:rPr sz="3000" spc="90" dirty="0">
                <a:latin typeface="Times New Roman"/>
                <a:cs typeface="Times New Roman"/>
              </a:rPr>
              <a:t>for</a:t>
            </a:r>
            <a:r>
              <a:rPr sz="3000" spc="315" dirty="0">
                <a:latin typeface="Times New Roman"/>
                <a:cs typeface="Times New Roman"/>
              </a:rPr>
              <a:t> </a:t>
            </a:r>
            <a:r>
              <a:rPr sz="3000" spc="114" dirty="0">
                <a:latin typeface="Times New Roman"/>
                <a:cs typeface="Times New Roman"/>
              </a:rPr>
              <a:t>making</a:t>
            </a:r>
            <a:r>
              <a:rPr sz="3000" spc="315" dirty="0">
                <a:latin typeface="Times New Roman"/>
                <a:cs typeface="Times New Roman"/>
              </a:rPr>
              <a:t> </a:t>
            </a:r>
            <a:r>
              <a:rPr sz="3000" spc="114" dirty="0">
                <a:latin typeface="Times New Roman"/>
                <a:cs typeface="Times New Roman"/>
              </a:rPr>
              <a:t>change</a:t>
            </a:r>
            <a:r>
              <a:rPr sz="3000" spc="310" dirty="0">
                <a:latin typeface="Times New Roman"/>
                <a:cs typeface="Times New Roman"/>
              </a:rPr>
              <a:t> </a:t>
            </a:r>
            <a:r>
              <a:rPr sz="3000" spc="125" dirty="0">
                <a:latin typeface="Times New Roman"/>
                <a:cs typeface="Times New Roman"/>
              </a:rPr>
              <a:t>proposals</a:t>
            </a:r>
            <a:r>
              <a:rPr sz="3000" spc="310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linking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these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9915" y="350583"/>
            <a:ext cx="10343515" cy="3969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4470">
              <a:lnSpc>
                <a:spcPct val="100000"/>
              </a:lnSpc>
              <a:spcBef>
                <a:spcPts val="100"/>
              </a:spcBef>
              <a:tabLst>
                <a:tab pos="324929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Change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3600">
              <a:latin typeface="Times New Roman"/>
              <a:cs typeface="Times New Roman"/>
            </a:endParaRPr>
          </a:p>
          <a:p>
            <a:pPr marL="240665" marR="5080" indent="-228600">
              <a:lnSpc>
                <a:spcPts val="3240"/>
              </a:lnSpc>
              <a:buFont typeface="Arial MT"/>
              <a:buChar char="•"/>
              <a:tabLst>
                <a:tab pos="240665" algn="l"/>
              </a:tabLst>
            </a:pPr>
            <a:r>
              <a:rPr sz="3000" b="1" spc="110" dirty="0">
                <a:latin typeface="Times New Roman"/>
                <a:cs typeface="Times New Roman"/>
              </a:rPr>
              <a:t>The</a:t>
            </a:r>
            <a:r>
              <a:rPr sz="3000" b="1" spc="355" dirty="0">
                <a:latin typeface="Times New Roman"/>
                <a:cs typeface="Times New Roman"/>
              </a:rPr>
              <a:t> </a:t>
            </a:r>
            <a:r>
              <a:rPr sz="3000" b="1" spc="145" dirty="0">
                <a:latin typeface="Times New Roman"/>
                <a:cs typeface="Times New Roman"/>
              </a:rPr>
              <a:t>priority</a:t>
            </a:r>
            <a:r>
              <a:rPr sz="3000" b="1" spc="360" dirty="0">
                <a:latin typeface="Times New Roman"/>
                <a:cs typeface="Times New Roman"/>
              </a:rPr>
              <a:t> </a:t>
            </a:r>
            <a:r>
              <a:rPr sz="3000" b="1" spc="80" dirty="0">
                <a:latin typeface="Times New Roman"/>
                <a:cs typeface="Times New Roman"/>
              </a:rPr>
              <a:t>of</a:t>
            </a:r>
            <a:r>
              <a:rPr sz="3000" b="1" spc="360" dirty="0">
                <a:latin typeface="Times New Roman"/>
                <a:cs typeface="Times New Roman"/>
              </a:rPr>
              <a:t> </a:t>
            </a:r>
            <a:r>
              <a:rPr sz="3000" b="1" spc="140" dirty="0">
                <a:latin typeface="Times New Roman"/>
                <a:cs typeface="Times New Roman"/>
              </a:rPr>
              <a:t>requirements</a:t>
            </a:r>
            <a:r>
              <a:rPr sz="3000" b="1" spc="355" dirty="0">
                <a:latin typeface="Times New Roman"/>
                <a:cs typeface="Times New Roman"/>
              </a:rPr>
              <a:t> </a:t>
            </a:r>
            <a:r>
              <a:rPr sz="3000" b="1" spc="100" dirty="0">
                <a:latin typeface="Times New Roman"/>
                <a:cs typeface="Times New Roman"/>
              </a:rPr>
              <a:t>from</a:t>
            </a:r>
            <a:r>
              <a:rPr sz="3000" b="1" spc="360" dirty="0">
                <a:latin typeface="Times New Roman"/>
                <a:cs typeface="Times New Roman"/>
              </a:rPr>
              <a:t> </a:t>
            </a:r>
            <a:r>
              <a:rPr sz="3000" b="1" spc="135" dirty="0">
                <a:latin typeface="Times New Roman"/>
                <a:cs typeface="Times New Roman"/>
              </a:rPr>
              <a:t>different</a:t>
            </a:r>
            <a:r>
              <a:rPr sz="3000" b="1" spc="375" dirty="0">
                <a:latin typeface="Times New Roman"/>
                <a:cs typeface="Times New Roman"/>
              </a:rPr>
              <a:t> </a:t>
            </a:r>
            <a:r>
              <a:rPr sz="3000" b="1" spc="145" dirty="0">
                <a:latin typeface="Times New Roman"/>
                <a:cs typeface="Times New Roman"/>
              </a:rPr>
              <a:t>viewpoints </a:t>
            </a:r>
            <a:r>
              <a:rPr sz="3000" b="1" dirty="0">
                <a:latin typeface="Times New Roman"/>
                <a:cs typeface="Times New Roman"/>
              </a:rPr>
              <a:t>changes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during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development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process.</a:t>
            </a:r>
            <a:endParaRPr sz="3000">
              <a:latin typeface="Times New Roman"/>
              <a:cs typeface="Times New Roman"/>
            </a:endParaRPr>
          </a:p>
          <a:p>
            <a:pPr marL="240665" marR="5080" indent="-228600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sz="3000" b="1" dirty="0">
                <a:latin typeface="Times New Roman"/>
                <a:cs typeface="Times New Roman"/>
              </a:rPr>
              <a:t>System</a:t>
            </a:r>
            <a:r>
              <a:rPr sz="3000" b="1" spc="3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customers</a:t>
            </a:r>
            <a:r>
              <a:rPr sz="3000" b="1" spc="3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may</a:t>
            </a:r>
            <a:r>
              <a:rPr sz="3000" b="1" spc="3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specify</a:t>
            </a:r>
            <a:r>
              <a:rPr sz="3000" b="1" spc="3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requirements</a:t>
            </a:r>
            <a:r>
              <a:rPr sz="3000" b="1" spc="3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from</a:t>
            </a:r>
            <a:r>
              <a:rPr sz="3000" spc="3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330" dirty="0">
                <a:latin typeface="Times New Roman"/>
                <a:cs typeface="Times New Roman"/>
              </a:rPr>
              <a:t> </a:t>
            </a:r>
            <a:r>
              <a:rPr sz="3000" spc="35" dirty="0">
                <a:latin typeface="Times New Roman"/>
                <a:cs typeface="Times New Roman"/>
              </a:rPr>
              <a:t>business </a:t>
            </a:r>
            <a:r>
              <a:rPr sz="3000" dirty="0">
                <a:latin typeface="Times New Roman"/>
                <a:cs typeface="Times New Roman"/>
              </a:rPr>
              <a:t>perspective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conflict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end-</a:t>
            </a:r>
            <a:r>
              <a:rPr sz="3000" dirty="0">
                <a:latin typeface="Times New Roman"/>
                <a:cs typeface="Times New Roman"/>
              </a:rPr>
              <a:t>user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requirements.</a:t>
            </a:r>
            <a:endParaRPr sz="3000">
              <a:latin typeface="Times New Roman"/>
              <a:cs typeface="Times New Roman"/>
            </a:endParaRPr>
          </a:p>
          <a:p>
            <a:pPr marL="240665" marR="5080" indent="-228600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business</a:t>
            </a:r>
            <a:r>
              <a:rPr sz="3000" b="1" spc="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and</a:t>
            </a:r>
            <a:r>
              <a:rPr sz="3000" b="1" spc="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technical</a:t>
            </a:r>
            <a:r>
              <a:rPr sz="3000" b="1" spc="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environment</a:t>
            </a:r>
            <a:r>
              <a:rPr sz="3000" b="1" spc="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changes </a:t>
            </a:r>
            <a:r>
              <a:rPr sz="3000" dirty="0">
                <a:latin typeface="Times New Roman"/>
                <a:cs typeface="Times New Roman"/>
              </a:rPr>
              <a:t>during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development.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5651" y="350583"/>
            <a:ext cx="10408285" cy="5391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25420">
              <a:lnSpc>
                <a:spcPct val="100000"/>
              </a:lnSpc>
              <a:spcBef>
                <a:spcPts val="100"/>
              </a:spcBef>
              <a:tabLst>
                <a:tab pos="323024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g</a:t>
            </a:r>
            <a:r>
              <a:rPr sz="3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36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g </a:t>
            </a:r>
            <a:r>
              <a:rPr sz="36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3600">
              <a:latin typeface="Times New Roman"/>
              <a:cs typeface="Times New Roman"/>
            </a:endParaRPr>
          </a:p>
          <a:p>
            <a:pPr marL="240029" marR="901065" indent="-227329">
              <a:lnSpc>
                <a:spcPct val="699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business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technical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environment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system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always 	</a:t>
            </a:r>
            <a:r>
              <a:rPr sz="2800" b="1" dirty="0">
                <a:latin typeface="Times New Roman"/>
                <a:cs typeface="Times New Roman"/>
              </a:rPr>
              <a:t>changes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after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installation.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345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Times New Roman"/>
                <a:cs typeface="Times New Roman"/>
              </a:rPr>
              <a:t>New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hardware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introduced,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necessary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interface</a:t>
            </a:r>
            <a:endParaRPr sz="2800">
              <a:latin typeface="Times New Roman"/>
              <a:cs typeface="Times New Roman"/>
            </a:endParaRPr>
          </a:p>
          <a:p>
            <a:pPr marL="698500">
              <a:lnSpc>
                <a:spcPts val="2350"/>
              </a:lnSpc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systems,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business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priorities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change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(with</a:t>
            </a:r>
            <a:endParaRPr sz="2800">
              <a:latin typeface="Times New Roman"/>
              <a:cs typeface="Times New Roman"/>
            </a:endParaRPr>
          </a:p>
          <a:p>
            <a:pPr marL="698500">
              <a:lnSpc>
                <a:spcPts val="2350"/>
              </a:lnSpc>
            </a:pPr>
            <a:r>
              <a:rPr sz="2800" dirty="0">
                <a:latin typeface="Times New Roman"/>
                <a:cs typeface="Times New Roman"/>
              </a:rPr>
              <a:t>consequent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changes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support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required),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new</a:t>
            </a:r>
            <a:endParaRPr sz="2800">
              <a:latin typeface="Times New Roman"/>
              <a:cs typeface="Times New Roman"/>
            </a:endParaRPr>
          </a:p>
          <a:p>
            <a:pPr marL="698500" marR="203835">
              <a:lnSpc>
                <a:spcPct val="69900"/>
              </a:lnSpc>
              <a:spcBef>
                <a:spcPts val="505"/>
              </a:spcBef>
            </a:pPr>
            <a:r>
              <a:rPr sz="2800" dirty="0">
                <a:latin typeface="Times New Roman"/>
                <a:cs typeface="Times New Roman"/>
              </a:rPr>
              <a:t>legislation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regulations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introduced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must </a:t>
            </a:r>
            <a:r>
              <a:rPr sz="2800" dirty="0">
                <a:latin typeface="Times New Roman"/>
                <a:cs typeface="Times New Roman"/>
              </a:rPr>
              <a:t>necessarily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abide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by.</a:t>
            </a:r>
            <a:endParaRPr sz="2800">
              <a:latin typeface="Times New Roman"/>
              <a:cs typeface="Times New Roman"/>
            </a:endParaRPr>
          </a:p>
          <a:p>
            <a:pPr marL="240029" marR="327660" indent="-227329">
              <a:lnSpc>
                <a:spcPct val="699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people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who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pay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for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system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users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that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system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are 	</a:t>
            </a:r>
            <a:r>
              <a:rPr sz="2800" b="1" dirty="0">
                <a:latin typeface="Times New Roman"/>
                <a:cs typeface="Times New Roman"/>
              </a:rPr>
              <a:t>rarely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same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people.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345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impose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requirements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because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organizational</a:t>
            </a:r>
            <a:endParaRPr sz="2800">
              <a:latin typeface="Times New Roman"/>
              <a:cs typeface="Times New Roman"/>
            </a:endParaRPr>
          </a:p>
          <a:p>
            <a:pPr marL="698500">
              <a:lnSpc>
                <a:spcPts val="2350"/>
              </a:lnSpc>
            </a:pP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budgetary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constraints.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These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conflict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end-user</a:t>
            </a:r>
            <a:endParaRPr sz="2800">
              <a:latin typeface="Times New Roman"/>
              <a:cs typeface="Times New Roman"/>
            </a:endParaRPr>
          </a:p>
          <a:p>
            <a:pPr marL="698500" marR="5080">
              <a:lnSpc>
                <a:spcPct val="69900"/>
              </a:lnSpc>
              <a:spcBef>
                <a:spcPts val="505"/>
              </a:spcBef>
            </a:pPr>
            <a:r>
              <a:rPr sz="2800" dirty="0">
                <a:latin typeface="Times New Roman"/>
                <a:cs typeface="Times New Roman"/>
              </a:rPr>
              <a:t>requirements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delivery,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new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features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have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added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support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meet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goals.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10136505" cy="4186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20290">
              <a:lnSpc>
                <a:spcPct val="100000"/>
              </a:lnSpc>
              <a:spcBef>
                <a:spcPts val="100"/>
              </a:spcBef>
              <a:tabLst>
                <a:tab pos="282511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Requirements…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12065" indent="-228600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Large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systems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usually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have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diverse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user</a:t>
            </a:r>
            <a:r>
              <a:rPr sz="3000" b="1" spc="-10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community,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spc="-20" dirty="0">
                <a:latin typeface="Times New Roman"/>
                <a:cs typeface="Times New Roman"/>
              </a:rPr>
              <a:t>with </a:t>
            </a:r>
            <a:r>
              <a:rPr sz="3000" b="1" dirty="0">
                <a:latin typeface="Times New Roman"/>
                <a:cs typeface="Times New Roman"/>
              </a:rPr>
              <a:t>many</a:t>
            </a:r>
            <a:r>
              <a:rPr sz="3000" b="1" spc="-6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users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having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different</a:t>
            </a:r>
            <a:r>
              <a:rPr sz="3000" b="1" spc="-6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requirements</a:t>
            </a:r>
            <a:r>
              <a:rPr sz="3000" b="1" spc="-6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and</a:t>
            </a:r>
            <a:r>
              <a:rPr sz="3000" b="1" spc="-6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priorities</a:t>
            </a:r>
            <a:r>
              <a:rPr sz="3000" b="1" spc="-65" dirty="0">
                <a:latin typeface="Times New Roman"/>
                <a:cs typeface="Times New Roman"/>
              </a:rPr>
              <a:t> </a:t>
            </a:r>
            <a:r>
              <a:rPr sz="3000" b="1" spc="-20" dirty="0">
                <a:latin typeface="Times New Roman"/>
                <a:cs typeface="Times New Roman"/>
              </a:rPr>
              <a:t>that </a:t>
            </a:r>
            <a:r>
              <a:rPr sz="3000" b="1" dirty="0">
                <a:latin typeface="Times New Roman"/>
                <a:cs typeface="Times New Roman"/>
              </a:rPr>
              <a:t>may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be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conflicting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or</a:t>
            </a:r>
            <a:r>
              <a:rPr sz="3000" b="1" spc="-9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contradictory.</a:t>
            </a:r>
            <a:endParaRPr sz="30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324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final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inevitably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compromise </a:t>
            </a:r>
            <a:r>
              <a:rPr sz="3000" dirty="0">
                <a:latin typeface="Times New Roman"/>
                <a:cs typeface="Times New Roman"/>
              </a:rPr>
              <a:t>between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them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and,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experience,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often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discovered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that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balance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support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given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different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be </a:t>
            </a:r>
            <a:r>
              <a:rPr sz="3000" spc="-10" dirty="0">
                <a:latin typeface="Times New Roman"/>
                <a:cs typeface="Times New Roman"/>
              </a:rPr>
              <a:t>changed.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10482" y="349300"/>
            <a:ext cx="5182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evolution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0135" y="1805939"/>
            <a:ext cx="9363456" cy="41087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0436" y="2011400"/>
            <a:ext cx="5749925" cy="307975"/>
          </a:xfrm>
          <a:custGeom>
            <a:avLst/>
            <a:gdLst/>
            <a:ahLst/>
            <a:cxnLst/>
            <a:rect l="l" t="t" r="r" b="b"/>
            <a:pathLst>
              <a:path w="5749925" h="307975">
                <a:moveTo>
                  <a:pt x="5749925" y="307975"/>
                </a:moveTo>
                <a:lnTo>
                  <a:pt x="0" y="307975"/>
                </a:lnTo>
                <a:lnTo>
                  <a:pt x="0" y="0"/>
                </a:lnTo>
                <a:lnTo>
                  <a:pt x="5749925" y="0"/>
                </a:lnTo>
                <a:lnTo>
                  <a:pt x="5749925" y="3079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8661" y="350583"/>
            <a:ext cx="10631170" cy="5518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8925">
              <a:lnSpc>
                <a:spcPct val="100000"/>
              </a:lnSpc>
              <a:spcBef>
                <a:spcPts val="100"/>
              </a:spcBef>
              <a:tabLst>
                <a:tab pos="206375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Management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Planning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3600">
              <a:latin typeface="Times New Roman"/>
              <a:cs typeface="Times New Roman"/>
            </a:endParaRPr>
          </a:p>
          <a:p>
            <a:pPr marL="240029" indent="-227329">
              <a:lnSpc>
                <a:spcPts val="3354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Establishes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level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requirements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management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required.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ts val="31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800" b="1" spc="-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management</a:t>
            </a:r>
            <a:r>
              <a:rPr sz="2800" b="1" spc="-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decisions:</a:t>
            </a:r>
            <a:endParaRPr sz="2800">
              <a:latin typeface="Times New Roman"/>
              <a:cs typeface="Times New Roman"/>
            </a:endParaRPr>
          </a:p>
          <a:p>
            <a:pPr marL="697230" marR="5080" lvl="1" indent="-227329">
              <a:lnSpc>
                <a:spcPct val="69900"/>
              </a:lnSpc>
              <a:spcBef>
                <a:spcPts val="760"/>
              </a:spcBef>
              <a:buFont typeface="Arial MT"/>
              <a:buChar char="•"/>
              <a:tabLst>
                <a:tab pos="698500" algn="l"/>
              </a:tabLst>
            </a:pPr>
            <a:r>
              <a:rPr sz="2800" spc="9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800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90" dirty="0">
                <a:solidFill>
                  <a:srgbClr val="FF0000"/>
                </a:solidFill>
                <a:latin typeface="Times New Roman"/>
                <a:cs typeface="Times New Roman"/>
              </a:rPr>
              <a:t>identification</a:t>
            </a:r>
            <a:r>
              <a:rPr sz="2800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Each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spc="85" dirty="0">
                <a:latin typeface="Times New Roman"/>
                <a:cs typeface="Times New Roman"/>
              </a:rPr>
              <a:t>requirement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must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spc="75" dirty="0">
                <a:latin typeface="Times New Roman"/>
                <a:cs typeface="Times New Roman"/>
              </a:rPr>
              <a:t>uniquely 	</a:t>
            </a:r>
            <a:r>
              <a:rPr sz="2800" dirty="0">
                <a:latin typeface="Times New Roman"/>
                <a:cs typeface="Times New Roman"/>
              </a:rPr>
              <a:t>identified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cross-</a:t>
            </a:r>
            <a:r>
              <a:rPr sz="2800" dirty="0">
                <a:latin typeface="Times New Roman"/>
                <a:cs typeface="Times New Roman"/>
              </a:rPr>
              <a:t>referenced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requirements.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345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change</a:t>
            </a:r>
            <a:r>
              <a:rPr sz="28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management</a:t>
            </a:r>
            <a:r>
              <a:rPr sz="28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28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activities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assess</a:t>
            </a:r>
            <a:endParaRPr sz="2800">
              <a:latin typeface="Times New Roman"/>
              <a:cs typeface="Times New Roman"/>
            </a:endParaRPr>
          </a:p>
          <a:p>
            <a:pPr marL="698500" marR="5080">
              <a:lnSpc>
                <a:spcPct val="69900"/>
              </a:lnSpc>
              <a:spcBef>
                <a:spcPts val="505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impact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cost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changes.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discuss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more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detail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section.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345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Traceability</a:t>
            </a:r>
            <a:r>
              <a:rPr sz="2800" spc="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policies</a:t>
            </a:r>
            <a:r>
              <a:rPr sz="2800" spc="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These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policies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define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relationships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between</a:t>
            </a:r>
            <a:endParaRPr sz="2800">
              <a:latin typeface="Times New Roman"/>
              <a:cs typeface="Times New Roman"/>
            </a:endParaRPr>
          </a:p>
          <a:p>
            <a:pPr marL="698500" marR="5080">
              <a:lnSpc>
                <a:spcPct val="69900"/>
              </a:lnSpc>
              <a:spcBef>
                <a:spcPts val="505"/>
              </a:spcBef>
            </a:pPr>
            <a:r>
              <a:rPr sz="2800" spc="85" dirty="0">
                <a:latin typeface="Times New Roman"/>
                <a:cs typeface="Times New Roman"/>
              </a:rPr>
              <a:t>each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spc="100" dirty="0">
                <a:latin typeface="Times New Roman"/>
                <a:cs typeface="Times New Roman"/>
              </a:rPr>
              <a:t>requirement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and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spc="95" dirty="0">
                <a:latin typeface="Times New Roman"/>
                <a:cs typeface="Times New Roman"/>
              </a:rPr>
              <a:t>between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spc="75" dirty="0">
                <a:latin typeface="Times New Roman"/>
                <a:cs typeface="Times New Roman"/>
              </a:rPr>
              <a:t>the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spc="100" dirty="0">
                <a:latin typeface="Times New Roman"/>
                <a:cs typeface="Times New Roman"/>
              </a:rPr>
              <a:t>requirements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and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spc="75" dirty="0">
                <a:latin typeface="Times New Roman"/>
                <a:cs typeface="Times New Roman"/>
              </a:rPr>
              <a:t>the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spc="85" dirty="0">
                <a:latin typeface="Times New Roman"/>
                <a:cs typeface="Times New Roman"/>
              </a:rPr>
              <a:t>system </a:t>
            </a:r>
            <a:r>
              <a:rPr sz="2800" dirty="0">
                <a:latin typeface="Times New Roman"/>
                <a:cs typeface="Times New Roman"/>
              </a:rPr>
              <a:t>design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should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recorded.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345"/>
              </a:lnSpc>
              <a:buFont typeface="Arial MT"/>
              <a:buChar char="•"/>
              <a:tabLst>
                <a:tab pos="697230" algn="l"/>
                <a:tab pos="1582420" algn="l"/>
                <a:tab pos="2976880" algn="l"/>
                <a:tab pos="4029710" algn="l"/>
                <a:tab pos="4801870" algn="l"/>
                <a:tab pos="5622925" algn="l"/>
                <a:tab pos="6137275" algn="l"/>
                <a:tab pos="7027545" algn="l"/>
                <a:tab pos="8086090" algn="l"/>
                <a:tab pos="9018270" algn="l"/>
              </a:tabLst>
            </a:pPr>
            <a:r>
              <a:rPr sz="2800" spc="95" dirty="0">
                <a:solidFill>
                  <a:srgbClr val="FF0000"/>
                </a:solidFill>
                <a:latin typeface="Times New Roman"/>
                <a:cs typeface="Times New Roman"/>
              </a:rPr>
              <a:t>Tool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spc="180" dirty="0">
                <a:solidFill>
                  <a:srgbClr val="FF0000"/>
                </a:solidFill>
                <a:latin typeface="Times New Roman"/>
                <a:cs typeface="Times New Roman"/>
              </a:rPr>
              <a:t>support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spc="114" dirty="0">
                <a:latin typeface="Times New Roman"/>
                <a:cs typeface="Times New Roman"/>
              </a:rPr>
              <a:t>Tools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150" dirty="0">
                <a:latin typeface="Times New Roman"/>
                <a:cs typeface="Times New Roman"/>
              </a:rPr>
              <a:t>that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120" dirty="0">
                <a:latin typeface="Times New Roman"/>
                <a:cs typeface="Times New Roman"/>
              </a:rPr>
              <a:t>may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85" dirty="0">
                <a:latin typeface="Times New Roman"/>
                <a:cs typeface="Times New Roman"/>
              </a:rPr>
              <a:t>be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145" dirty="0">
                <a:latin typeface="Times New Roman"/>
                <a:cs typeface="Times New Roman"/>
              </a:rPr>
              <a:t>used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165" dirty="0">
                <a:latin typeface="Times New Roman"/>
                <a:cs typeface="Times New Roman"/>
              </a:rPr>
              <a:t>range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140" dirty="0">
                <a:latin typeface="Times New Roman"/>
                <a:cs typeface="Times New Roman"/>
              </a:rPr>
              <a:t>from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200" dirty="0">
                <a:latin typeface="Times New Roman"/>
                <a:cs typeface="Times New Roman"/>
              </a:rPr>
              <a:t>specialist</a:t>
            </a:r>
            <a:endParaRPr sz="2800">
              <a:latin typeface="Times New Roman"/>
              <a:cs typeface="Times New Roman"/>
            </a:endParaRPr>
          </a:p>
          <a:p>
            <a:pPr marL="698500" marR="5080">
              <a:lnSpc>
                <a:spcPct val="69900"/>
              </a:lnSpc>
              <a:spcBef>
                <a:spcPts val="505"/>
              </a:spcBef>
            </a:pPr>
            <a:r>
              <a:rPr sz="2800" spc="120" dirty="0">
                <a:latin typeface="Times New Roman"/>
                <a:cs typeface="Times New Roman"/>
              </a:rPr>
              <a:t>requirements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spc="120" dirty="0">
                <a:latin typeface="Times New Roman"/>
                <a:cs typeface="Times New Roman"/>
              </a:rPr>
              <a:t>management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spc="114" dirty="0">
                <a:latin typeface="Times New Roman"/>
                <a:cs typeface="Times New Roman"/>
              </a:rPr>
              <a:t>systems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spc="65" dirty="0">
                <a:latin typeface="Times New Roman"/>
                <a:cs typeface="Times New Roman"/>
              </a:rPr>
              <a:t>to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spc="125" dirty="0">
                <a:latin typeface="Times New Roman"/>
                <a:cs typeface="Times New Roman"/>
              </a:rPr>
              <a:t>spreadsheets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spc="85" dirty="0">
                <a:latin typeface="Times New Roman"/>
                <a:cs typeface="Times New Roman"/>
              </a:rPr>
              <a:t>and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spc="105" dirty="0">
                <a:latin typeface="Times New Roman"/>
                <a:cs typeface="Times New Roman"/>
              </a:rPr>
              <a:t>simple </a:t>
            </a:r>
            <a:r>
              <a:rPr sz="2800" dirty="0">
                <a:latin typeface="Times New Roman"/>
                <a:cs typeface="Times New Roman"/>
              </a:rPr>
              <a:t>database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2836" y="1585950"/>
            <a:ext cx="7150734" cy="286385"/>
          </a:xfrm>
          <a:custGeom>
            <a:avLst/>
            <a:gdLst/>
            <a:ahLst/>
            <a:cxnLst/>
            <a:rect l="l" t="t" r="r" b="b"/>
            <a:pathLst>
              <a:path w="7150734" h="286385">
                <a:moveTo>
                  <a:pt x="7150734" y="286385"/>
                </a:moveTo>
                <a:lnTo>
                  <a:pt x="0" y="286385"/>
                </a:lnTo>
                <a:lnTo>
                  <a:pt x="0" y="0"/>
                </a:lnTo>
                <a:lnTo>
                  <a:pt x="7150734" y="0"/>
                </a:lnTo>
                <a:lnTo>
                  <a:pt x="7150734" y="28638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1061" y="350583"/>
            <a:ext cx="9078595" cy="1875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3525">
              <a:lnSpc>
                <a:spcPct val="100000"/>
              </a:lnSpc>
              <a:spcBef>
                <a:spcPts val="100"/>
              </a:spcBef>
              <a:tabLst>
                <a:tab pos="203835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Change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Management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ts val="29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Deciding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change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should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accepted</a:t>
            </a:r>
            <a:endParaRPr sz="26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90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Problem</a:t>
            </a:r>
            <a:r>
              <a:rPr sz="2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analysis</a:t>
            </a:r>
            <a:r>
              <a:rPr sz="26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6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change</a:t>
            </a:r>
            <a:r>
              <a:rPr sz="26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specification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95461" y="2144115"/>
            <a:ext cx="9565005" cy="976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65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During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stage,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problem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20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change</a:t>
            </a:r>
            <a:r>
              <a:rPr sz="2600" spc="20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proposal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20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analyzed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to</a:t>
            </a:r>
            <a:endParaRPr sz="2600">
              <a:latin typeface="Times New Roman"/>
              <a:cs typeface="Times New Roman"/>
            </a:endParaRPr>
          </a:p>
          <a:p>
            <a:pPr marL="241300" marR="5080">
              <a:lnSpc>
                <a:spcPct val="69900"/>
              </a:lnSpc>
              <a:spcBef>
                <a:spcPts val="470"/>
              </a:spcBef>
            </a:pPr>
            <a:r>
              <a:rPr sz="2600" dirty="0">
                <a:latin typeface="Times New Roman"/>
                <a:cs typeface="Times New Roman"/>
              </a:rPr>
              <a:t>check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valid.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analysis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fed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back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change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requester </a:t>
            </a:r>
            <a:r>
              <a:rPr sz="2600" dirty="0">
                <a:latin typeface="Times New Roman"/>
                <a:cs typeface="Times New Roman"/>
              </a:rPr>
              <a:t>who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respond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more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specific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change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proposal,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8261" y="2974695"/>
            <a:ext cx="10022205" cy="316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98500">
              <a:lnSpc>
                <a:spcPts val="29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decide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withdraw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request.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268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Change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analysis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costing</a:t>
            </a:r>
            <a:endParaRPr sz="26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43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spc="70" dirty="0">
                <a:latin typeface="Times New Roman"/>
                <a:cs typeface="Times New Roman"/>
              </a:rPr>
              <a:t>The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spc="80" dirty="0">
                <a:latin typeface="Times New Roman"/>
                <a:cs typeface="Times New Roman"/>
              </a:rPr>
              <a:t>effect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of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spc="70" dirty="0">
                <a:latin typeface="Times New Roman"/>
                <a:cs typeface="Times New Roman"/>
              </a:rPr>
              <a:t>the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Times New Roman"/>
                <a:cs typeface="Times New Roman"/>
              </a:rPr>
              <a:t>proposed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spc="95" dirty="0">
                <a:latin typeface="Times New Roman"/>
                <a:cs typeface="Times New Roman"/>
              </a:rPr>
              <a:t>change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is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Times New Roman"/>
                <a:cs typeface="Times New Roman"/>
              </a:rPr>
              <a:t>assessed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spc="90" dirty="0">
                <a:latin typeface="Times New Roman"/>
                <a:cs typeface="Times New Roman"/>
              </a:rPr>
              <a:t>using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spc="90" dirty="0">
                <a:latin typeface="Times New Roman"/>
                <a:cs typeface="Times New Roman"/>
              </a:rPr>
              <a:t>traceability</a:t>
            </a:r>
            <a:endParaRPr sz="2600">
              <a:latin typeface="Times New Roman"/>
              <a:cs typeface="Times New Roman"/>
            </a:endParaRPr>
          </a:p>
          <a:p>
            <a:pPr marL="698500">
              <a:lnSpc>
                <a:spcPts val="2180"/>
              </a:lnSpc>
            </a:pPr>
            <a:r>
              <a:rPr sz="2600" dirty="0">
                <a:latin typeface="Times New Roman"/>
                <a:cs typeface="Times New Roman"/>
              </a:rPr>
              <a:t>information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general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knowledge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requirements.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Once</a:t>
            </a:r>
            <a:endParaRPr sz="2600">
              <a:latin typeface="Times New Roman"/>
              <a:cs typeface="Times New Roman"/>
            </a:endParaRPr>
          </a:p>
          <a:p>
            <a:pPr marL="698500" marR="5080">
              <a:lnSpc>
                <a:spcPct val="69900"/>
              </a:lnSpc>
              <a:spcBef>
                <a:spcPts val="470"/>
              </a:spcBef>
            </a:pPr>
            <a:r>
              <a:rPr sz="2600" spc="80" dirty="0">
                <a:latin typeface="Times New Roman"/>
                <a:cs typeface="Times New Roman"/>
              </a:rPr>
              <a:t>this</a:t>
            </a:r>
            <a:r>
              <a:rPr sz="2600" spc="245" dirty="0">
                <a:latin typeface="Times New Roman"/>
                <a:cs typeface="Times New Roman"/>
              </a:rPr>
              <a:t> </a:t>
            </a:r>
            <a:r>
              <a:rPr sz="2600" spc="95" dirty="0">
                <a:latin typeface="Times New Roman"/>
                <a:cs typeface="Times New Roman"/>
              </a:rPr>
              <a:t>analysis</a:t>
            </a:r>
            <a:r>
              <a:rPr sz="2600" spc="245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is</a:t>
            </a:r>
            <a:r>
              <a:rPr sz="2600" spc="245" dirty="0">
                <a:latin typeface="Times New Roman"/>
                <a:cs typeface="Times New Roman"/>
              </a:rPr>
              <a:t> </a:t>
            </a:r>
            <a:r>
              <a:rPr sz="2600" spc="105" dirty="0">
                <a:latin typeface="Times New Roman"/>
                <a:cs typeface="Times New Roman"/>
              </a:rPr>
              <a:t>completed,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Times New Roman"/>
                <a:cs typeface="Times New Roman"/>
              </a:rPr>
              <a:t>decision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is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85" dirty="0">
                <a:latin typeface="Times New Roman"/>
                <a:cs typeface="Times New Roman"/>
              </a:rPr>
              <a:t>made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Times New Roman"/>
                <a:cs typeface="Times New Roman"/>
              </a:rPr>
              <a:t>whether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or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not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proceed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change.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246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Change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implementation</a:t>
            </a:r>
            <a:endParaRPr sz="26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43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document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and,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where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necessary,</a:t>
            </a:r>
            <a:r>
              <a:rPr sz="2600" spc="1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1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design</a:t>
            </a:r>
            <a:endParaRPr sz="2600">
              <a:latin typeface="Times New Roman"/>
              <a:cs typeface="Times New Roman"/>
            </a:endParaRPr>
          </a:p>
          <a:p>
            <a:pPr marL="698500" marR="5080">
              <a:lnSpc>
                <a:spcPct val="69900"/>
              </a:lnSpc>
              <a:spcBef>
                <a:spcPts val="465"/>
              </a:spcBef>
            </a:pP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3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implementation,</a:t>
            </a:r>
            <a:r>
              <a:rPr sz="2600" spc="3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3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modified.</a:t>
            </a:r>
            <a:r>
              <a:rPr sz="2600" spc="3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Ideally,</a:t>
            </a:r>
            <a:r>
              <a:rPr sz="2600" spc="3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345" dirty="0">
                <a:latin typeface="Times New Roman"/>
                <a:cs typeface="Times New Roman"/>
              </a:rPr>
              <a:t> </a:t>
            </a:r>
            <a:r>
              <a:rPr sz="2600" spc="45" dirty="0">
                <a:latin typeface="Times New Roman"/>
                <a:cs typeface="Times New Roman"/>
              </a:rPr>
              <a:t>document</a:t>
            </a:r>
            <a:r>
              <a:rPr sz="2600" spc="3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should</a:t>
            </a:r>
            <a:r>
              <a:rPr sz="2600" spc="3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be </a:t>
            </a:r>
            <a:r>
              <a:rPr sz="2600" dirty="0">
                <a:latin typeface="Times New Roman"/>
                <a:cs typeface="Times New Roman"/>
              </a:rPr>
              <a:t>organized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changes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easily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implemented.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9915" y="350583"/>
            <a:ext cx="9247505" cy="438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762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Management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Planning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During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requirements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engineering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process,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you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have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plan:</a:t>
            </a:r>
            <a:endParaRPr sz="2600">
              <a:latin typeface="Times New Roman"/>
              <a:cs typeface="Times New Roman"/>
            </a:endParaRPr>
          </a:p>
          <a:p>
            <a:pPr marL="697865" lvl="1" indent="-22860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697865" algn="l"/>
              </a:tabLst>
            </a:pP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1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FF0000"/>
                </a:solidFill>
                <a:latin typeface="Times New Roman"/>
                <a:cs typeface="Times New Roman"/>
              </a:rPr>
              <a:t>identification</a:t>
            </a:r>
            <a:endParaRPr sz="2100">
              <a:latin typeface="Times New Roman"/>
              <a:cs typeface="Times New Roman"/>
            </a:endParaRPr>
          </a:p>
          <a:p>
            <a:pPr marL="1218565" lvl="2" indent="-2921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218565" algn="l"/>
              </a:tabLst>
            </a:pP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requirements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individually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identified;</a:t>
            </a:r>
            <a:endParaRPr sz="2000">
              <a:latin typeface="Times New Roman"/>
              <a:cs typeface="Times New Roman"/>
            </a:endParaRPr>
          </a:p>
          <a:p>
            <a:pPr marL="697865" lvl="1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697865" algn="l"/>
              </a:tabLst>
            </a:pP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1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change</a:t>
            </a:r>
            <a:r>
              <a:rPr sz="21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management</a:t>
            </a:r>
            <a:r>
              <a:rPr sz="21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endParaRPr sz="2100">
              <a:latin typeface="Times New Roman"/>
              <a:cs typeface="Times New Roman"/>
            </a:endParaRPr>
          </a:p>
          <a:p>
            <a:pPr marL="1155065" lvl="2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0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analyzing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requirements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change;</a:t>
            </a:r>
            <a:endParaRPr sz="2000">
              <a:latin typeface="Times New Roman"/>
              <a:cs typeface="Times New Roman"/>
            </a:endParaRPr>
          </a:p>
          <a:p>
            <a:pPr marL="697865" lvl="1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697865" algn="l"/>
              </a:tabLst>
            </a:pP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Traceability</a:t>
            </a:r>
            <a:r>
              <a:rPr sz="21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FF0000"/>
                </a:solidFill>
                <a:latin typeface="Times New Roman"/>
                <a:cs typeface="Times New Roman"/>
              </a:rPr>
              <a:t>policies</a:t>
            </a:r>
            <a:endParaRPr sz="2100">
              <a:latin typeface="Times New Roman"/>
              <a:cs typeface="Times New Roman"/>
            </a:endParaRPr>
          </a:p>
          <a:p>
            <a:pPr marL="1155065" lvl="2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0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amount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requirements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relationships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maintained;</a:t>
            </a:r>
            <a:endParaRPr sz="2000">
              <a:latin typeface="Times New Roman"/>
              <a:cs typeface="Times New Roman"/>
            </a:endParaRPr>
          </a:p>
          <a:p>
            <a:pPr marL="697865" lvl="1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697865" algn="l"/>
              </a:tabLst>
            </a:pP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CASE</a:t>
            </a:r>
            <a:r>
              <a:rPr sz="21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0000"/>
                </a:solidFill>
                <a:latin typeface="Times New Roman"/>
                <a:cs typeface="Times New Roman"/>
              </a:rPr>
              <a:t>tool</a:t>
            </a:r>
            <a:r>
              <a:rPr sz="21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FF0000"/>
                </a:solidFill>
                <a:latin typeface="Times New Roman"/>
                <a:cs typeface="Times New Roman"/>
              </a:rPr>
              <a:t>support</a:t>
            </a:r>
            <a:endParaRPr sz="2100">
              <a:latin typeface="Times New Roman"/>
              <a:cs typeface="Times New Roman"/>
            </a:endParaRPr>
          </a:p>
          <a:p>
            <a:pPr marL="1155065" lvl="2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0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tool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requirements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change;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544" y="350583"/>
            <a:ext cx="10518775" cy="578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2904">
              <a:lnSpc>
                <a:spcPct val="100000"/>
              </a:lnSpc>
              <a:spcBef>
                <a:spcPts val="100"/>
              </a:spcBef>
              <a:tabLst>
                <a:tab pos="469773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Traceability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2480"/>
              </a:lnSpc>
              <a:buFont typeface="Arial MT"/>
              <a:buChar char="•"/>
              <a:tabLst>
                <a:tab pos="241300" algn="l"/>
              </a:tabLst>
            </a:pPr>
            <a:r>
              <a:rPr sz="2300" b="1" spc="65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300" b="1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b="1" spc="75" dirty="0">
                <a:solidFill>
                  <a:srgbClr val="FF0000"/>
                </a:solidFill>
                <a:latin typeface="Times New Roman"/>
                <a:cs typeface="Times New Roman"/>
              </a:rPr>
              <a:t>traceability</a:t>
            </a:r>
            <a:r>
              <a:rPr sz="2300" b="1" spc="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r>
              <a:rPr sz="2300" spc="2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60" dirty="0">
                <a:solidFill>
                  <a:srgbClr val="FF0000"/>
                </a:solidFill>
                <a:latin typeface="Times New Roman"/>
                <a:cs typeface="Times New Roman"/>
              </a:rPr>
              <a:t>need</a:t>
            </a:r>
            <a:r>
              <a:rPr sz="2300" spc="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300" spc="2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60" dirty="0">
                <a:solidFill>
                  <a:srgbClr val="FF0000"/>
                </a:solidFill>
                <a:latin typeface="Times New Roman"/>
                <a:cs typeface="Times New Roman"/>
              </a:rPr>
              <a:t>keep</a:t>
            </a:r>
            <a:r>
              <a:rPr sz="2300" spc="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65" dirty="0">
                <a:solidFill>
                  <a:srgbClr val="FF0000"/>
                </a:solidFill>
                <a:latin typeface="Times New Roman"/>
                <a:cs typeface="Times New Roman"/>
              </a:rPr>
              <a:t>track</a:t>
            </a:r>
            <a:r>
              <a:rPr sz="2300" spc="2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300" spc="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5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300" spc="2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80" dirty="0">
                <a:solidFill>
                  <a:srgbClr val="FF0000"/>
                </a:solidFill>
                <a:latin typeface="Times New Roman"/>
                <a:cs typeface="Times New Roman"/>
              </a:rPr>
              <a:t>relationships</a:t>
            </a:r>
            <a:r>
              <a:rPr sz="2300" spc="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60" dirty="0">
                <a:solidFill>
                  <a:srgbClr val="FF0000"/>
                </a:solidFill>
                <a:latin typeface="Times New Roman"/>
                <a:cs typeface="Times New Roman"/>
              </a:rPr>
              <a:t>between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requirements,</a:t>
            </a:r>
            <a:r>
              <a:rPr sz="23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their</a:t>
            </a:r>
            <a:r>
              <a:rPr sz="23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sources,</a:t>
            </a:r>
            <a:r>
              <a:rPr sz="2300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3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3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300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r>
              <a:rPr sz="23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so</a:t>
            </a:r>
            <a:r>
              <a:rPr sz="23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2300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r>
              <a:rPr sz="23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can</a:t>
            </a:r>
            <a:r>
              <a:rPr sz="23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analyze</a:t>
            </a:r>
            <a:r>
              <a:rPr sz="2300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3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reasons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3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proposed</a:t>
            </a:r>
            <a:r>
              <a:rPr sz="23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changes</a:t>
            </a:r>
            <a:r>
              <a:rPr sz="23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3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3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impact</a:t>
            </a:r>
            <a:r>
              <a:rPr sz="23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23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these</a:t>
            </a:r>
            <a:r>
              <a:rPr sz="23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changes</a:t>
            </a:r>
            <a:r>
              <a:rPr sz="23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3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likely</a:t>
            </a:r>
            <a:r>
              <a:rPr sz="23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3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have</a:t>
            </a:r>
            <a:r>
              <a:rPr sz="23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3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other</a:t>
            </a:r>
            <a:r>
              <a:rPr sz="23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parts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system.</a:t>
            </a:r>
            <a:endParaRPr sz="23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248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Traceability</a:t>
            </a:r>
            <a:r>
              <a:rPr sz="2300" spc="2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300" spc="2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concerned</a:t>
            </a:r>
            <a:r>
              <a:rPr sz="2300" spc="3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with</a:t>
            </a:r>
            <a:r>
              <a:rPr sz="2300" spc="3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300" spc="3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relationships</a:t>
            </a:r>
            <a:r>
              <a:rPr sz="2300" spc="3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between</a:t>
            </a:r>
            <a:r>
              <a:rPr sz="2300" spc="3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requirements,</a:t>
            </a:r>
            <a:r>
              <a:rPr sz="2300" spc="3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their</a:t>
            </a:r>
            <a:r>
              <a:rPr sz="2300" spc="3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sources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3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3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3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endParaRPr sz="23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0665" algn="l"/>
              </a:tabLst>
            </a:pPr>
            <a:r>
              <a:rPr sz="2300" b="1" dirty="0">
                <a:latin typeface="Times New Roman"/>
                <a:cs typeface="Times New Roman"/>
              </a:rPr>
              <a:t>Source</a:t>
            </a:r>
            <a:r>
              <a:rPr sz="2300" b="1" spc="-11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traceability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 algn="just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865" algn="l"/>
              </a:tabLst>
            </a:pPr>
            <a:r>
              <a:rPr sz="2300" dirty="0">
                <a:latin typeface="Times New Roman"/>
                <a:cs typeface="Times New Roman"/>
              </a:rPr>
              <a:t>Links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from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requirements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stakeholders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who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proposed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these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requirements;</a:t>
            </a:r>
            <a:endParaRPr sz="23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665" algn="l"/>
              </a:tabLst>
            </a:pPr>
            <a:r>
              <a:rPr sz="2300" b="1" spc="-10" dirty="0">
                <a:latin typeface="Times New Roman"/>
                <a:cs typeface="Times New Roman"/>
              </a:rPr>
              <a:t>Requirements</a:t>
            </a:r>
            <a:r>
              <a:rPr sz="2300" b="1" spc="-4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traceability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 algn="just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865" algn="l"/>
              </a:tabLst>
            </a:pPr>
            <a:r>
              <a:rPr sz="2300" dirty="0">
                <a:latin typeface="Times New Roman"/>
                <a:cs typeface="Times New Roman"/>
              </a:rPr>
              <a:t>Links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between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dependent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requirements;</a:t>
            </a:r>
            <a:endParaRPr sz="23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665" algn="l"/>
              </a:tabLst>
            </a:pPr>
            <a:r>
              <a:rPr sz="2300" b="1" dirty="0">
                <a:latin typeface="Times New Roman"/>
                <a:cs typeface="Times New Roman"/>
              </a:rPr>
              <a:t>Design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traceability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 algn="just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865" algn="l"/>
              </a:tabLst>
            </a:pPr>
            <a:r>
              <a:rPr sz="2300" dirty="0">
                <a:latin typeface="Times New Roman"/>
                <a:cs typeface="Times New Roman"/>
              </a:rPr>
              <a:t>Links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from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requirements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design;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32916" y="1565147"/>
            <a:ext cx="10140950" cy="4669790"/>
          </a:xfrm>
          <a:custGeom>
            <a:avLst/>
            <a:gdLst/>
            <a:ahLst/>
            <a:cxnLst/>
            <a:rect l="l" t="t" r="r" b="b"/>
            <a:pathLst>
              <a:path w="10140950" h="4669790">
                <a:moveTo>
                  <a:pt x="10140696" y="4669536"/>
                </a:moveTo>
                <a:lnTo>
                  <a:pt x="0" y="4669536"/>
                </a:lnTo>
                <a:lnTo>
                  <a:pt x="0" y="0"/>
                </a:lnTo>
                <a:lnTo>
                  <a:pt x="10140696" y="0"/>
                </a:lnTo>
                <a:lnTo>
                  <a:pt x="10140696" y="466953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371047" y="350583"/>
            <a:ext cx="4619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2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traceability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matrix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83599" y="2178462"/>
          <a:ext cx="7606665" cy="3601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/>
                <a:gridCol w="815340"/>
                <a:gridCol w="817244"/>
                <a:gridCol w="814705"/>
                <a:gridCol w="814704"/>
                <a:gridCol w="817245"/>
                <a:gridCol w="821689"/>
                <a:gridCol w="822325"/>
                <a:gridCol w="911225"/>
              </a:tblGrid>
              <a:tr h="354330">
                <a:tc>
                  <a:txBody>
                    <a:bodyPr/>
                    <a:lstStyle/>
                    <a:p>
                      <a:pPr marL="130175">
                        <a:lnSpc>
                          <a:spcPts val="2690"/>
                        </a:lnSpc>
                      </a:pPr>
                      <a:r>
                        <a:rPr sz="2350" b="1" spc="-20" dirty="0">
                          <a:latin typeface="Times New Roman"/>
                          <a:cs typeface="Times New Roman"/>
                        </a:rPr>
                        <a:t>Req.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28600" algn="r">
                        <a:lnSpc>
                          <a:spcPts val="2690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1.1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690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1.2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90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1.3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90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2.1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28600" algn="r">
                        <a:lnSpc>
                          <a:spcPts val="2690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2.2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29870" algn="r">
                        <a:lnSpc>
                          <a:spcPts val="2690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2.3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37490" algn="r">
                        <a:lnSpc>
                          <a:spcPts val="2690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3.1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221615">
                        <a:lnSpc>
                          <a:spcPts val="2690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3.2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130175">
                        <a:lnSpc>
                          <a:spcPts val="2615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id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marL="130175">
                        <a:lnSpc>
                          <a:spcPts val="2695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1.1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2695"/>
                        </a:lnSpc>
                      </a:pPr>
                      <a:r>
                        <a:rPr sz="23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ts val="2695"/>
                        </a:lnSpc>
                      </a:pPr>
                      <a:r>
                        <a:rPr sz="23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marL="130175">
                        <a:lnSpc>
                          <a:spcPts val="2695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1.2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2695"/>
                        </a:lnSpc>
                      </a:pPr>
                      <a:r>
                        <a:rPr sz="23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21615" algn="r">
                        <a:lnSpc>
                          <a:spcPts val="2695"/>
                        </a:lnSpc>
                      </a:pPr>
                      <a:r>
                        <a:rPr sz="23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78130" algn="r">
                        <a:lnSpc>
                          <a:spcPts val="2695"/>
                        </a:lnSpc>
                      </a:pPr>
                      <a:r>
                        <a:rPr sz="23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marL="130175">
                        <a:lnSpc>
                          <a:spcPts val="2695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1.3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46379" algn="r">
                        <a:lnSpc>
                          <a:spcPts val="2695"/>
                        </a:lnSpc>
                      </a:pPr>
                      <a:r>
                        <a:rPr sz="23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80645" algn="ctr">
                        <a:lnSpc>
                          <a:spcPts val="2695"/>
                        </a:lnSpc>
                      </a:pPr>
                      <a:r>
                        <a:rPr sz="23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marL="130175">
                        <a:lnSpc>
                          <a:spcPts val="2695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2.1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ts val="2695"/>
                        </a:lnSpc>
                      </a:pPr>
                      <a:r>
                        <a:rPr sz="23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35585" algn="r">
                        <a:lnSpc>
                          <a:spcPts val="2695"/>
                        </a:lnSpc>
                      </a:pPr>
                      <a:r>
                        <a:rPr sz="23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78130" algn="r">
                        <a:lnSpc>
                          <a:spcPts val="2695"/>
                        </a:lnSpc>
                      </a:pPr>
                      <a:r>
                        <a:rPr sz="23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130175">
                        <a:lnSpc>
                          <a:spcPts val="2695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2.2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78130" algn="r">
                        <a:lnSpc>
                          <a:spcPts val="2695"/>
                        </a:lnSpc>
                      </a:pPr>
                      <a:r>
                        <a:rPr sz="23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marL="130175">
                        <a:lnSpc>
                          <a:spcPts val="2695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2.3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2695"/>
                        </a:lnSpc>
                      </a:pPr>
                      <a:r>
                        <a:rPr sz="23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ts val="2695"/>
                        </a:lnSpc>
                      </a:pPr>
                      <a:r>
                        <a:rPr sz="23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marL="130175">
                        <a:lnSpc>
                          <a:spcPts val="2695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3.1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84480" algn="r">
                        <a:lnSpc>
                          <a:spcPts val="2695"/>
                        </a:lnSpc>
                      </a:pPr>
                      <a:r>
                        <a:rPr sz="23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marL="130175">
                        <a:lnSpc>
                          <a:spcPts val="2695"/>
                        </a:lnSpc>
                      </a:pPr>
                      <a:r>
                        <a:rPr sz="2350" b="1" spc="-25" dirty="0">
                          <a:latin typeface="Times New Roman"/>
                          <a:cs typeface="Times New Roman"/>
                        </a:rPr>
                        <a:t>3.2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13995" algn="r">
                        <a:lnSpc>
                          <a:spcPts val="2695"/>
                        </a:lnSpc>
                      </a:pPr>
                      <a:r>
                        <a:rPr sz="23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9915" y="350583"/>
            <a:ext cx="10157460" cy="3946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5610">
              <a:lnSpc>
                <a:spcPct val="100000"/>
              </a:lnSpc>
              <a:spcBef>
                <a:spcPts val="100"/>
              </a:spcBef>
              <a:tabLst>
                <a:tab pos="348043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3600" b="1" u="heavy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3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ool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Support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2600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storage</a:t>
            </a:r>
            <a:endParaRPr sz="2600">
              <a:latin typeface="Times New Roman"/>
              <a:cs typeface="Times New Roman"/>
            </a:endParaRPr>
          </a:p>
          <a:p>
            <a:pPr marL="697865" lvl="1" indent="-22860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697865" algn="l"/>
              </a:tabLst>
            </a:pPr>
            <a:r>
              <a:rPr sz="2100" dirty="0">
                <a:latin typeface="Times New Roman"/>
                <a:cs typeface="Times New Roman"/>
              </a:rPr>
              <a:t>Requirements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should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be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managed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secure,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managed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data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store.</a:t>
            </a:r>
            <a:endParaRPr sz="2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Change</a:t>
            </a:r>
            <a:r>
              <a:rPr sz="26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management</a:t>
            </a:r>
            <a:endParaRPr sz="2600">
              <a:latin typeface="Times New Roman"/>
              <a:cs typeface="Times New Roman"/>
            </a:endParaRPr>
          </a:p>
          <a:p>
            <a:pPr marL="697865" marR="5080" lvl="1" indent="-228600">
              <a:lnSpc>
                <a:spcPts val="2300"/>
              </a:lnSpc>
              <a:spcBef>
                <a:spcPts val="565"/>
              </a:spcBef>
              <a:buFont typeface="Arial MT"/>
              <a:buChar char="•"/>
              <a:tabLst>
                <a:tab pos="697865" algn="l"/>
              </a:tabLst>
            </a:pP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process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change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management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workflow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process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whose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stages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can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be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defined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information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flow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between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these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stages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partially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automated.</a:t>
            </a:r>
            <a:endParaRPr sz="2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Traceability</a:t>
            </a:r>
            <a:r>
              <a:rPr sz="26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management</a:t>
            </a:r>
            <a:endParaRPr sz="2600">
              <a:latin typeface="Times New Roman"/>
              <a:cs typeface="Times New Roman"/>
            </a:endParaRPr>
          </a:p>
          <a:p>
            <a:pPr marL="697865" lvl="1" indent="-22860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697865" algn="l"/>
              </a:tabLst>
            </a:pPr>
            <a:r>
              <a:rPr sz="2100" dirty="0">
                <a:latin typeface="Times New Roman"/>
                <a:cs typeface="Times New Roman"/>
              </a:rPr>
              <a:t>Automated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retrieval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links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between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requirements.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9915" y="350583"/>
            <a:ext cx="10285730" cy="4855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0020">
              <a:lnSpc>
                <a:spcPct val="100000"/>
              </a:lnSpc>
              <a:spcBef>
                <a:spcPts val="100"/>
              </a:spcBef>
              <a:tabLst>
                <a:tab pos="193484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Change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management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apply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proposed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changes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Principal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stages</a:t>
            </a:r>
            <a:endParaRPr sz="3000">
              <a:latin typeface="Times New Roman"/>
              <a:cs typeface="Times New Roman"/>
            </a:endParaRPr>
          </a:p>
          <a:p>
            <a:pPr marL="697865" marR="194945" lvl="1" indent="-228600">
              <a:lnSpc>
                <a:spcPts val="3240"/>
              </a:lnSpc>
              <a:spcBef>
                <a:spcPts val="550"/>
              </a:spcBef>
              <a:buFont typeface="Arial MT"/>
              <a:buChar char="•"/>
              <a:tabLst>
                <a:tab pos="697865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Problem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analysis.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Discuss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problem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propose change;</a:t>
            </a:r>
            <a:endParaRPr sz="3000">
              <a:latin typeface="Times New Roman"/>
              <a:cs typeface="Times New Roman"/>
            </a:endParaRPr>
          </a:p>
          <a:p>
            <a:pPr marL="697865" marR="5080" lvl="1" indent="-228600">
              <a:lnSpc>
                <a:spcPts val="3240"/>
              </a:lnSpc>
              <a:spcBef>
                <a:spcPts val="500"/>
              </a:spcBef>
              <a:buFont typeface="Arial MT"/>
              <a:buChar char="•"/>
              <a:tabLst>
                <a:tab pos="697865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Change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analysis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costing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Assess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effects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change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other requirements;</a:t>
            </a:r>
            <a:endParaRPr sz="3000">
              <a:latin typeface="Times New Roman"/>
              <a:cs typeface="Times New Roman"/>
            </a:endParaRPr>
          </a:p>
          <a:p>
            <a:pPr marL="697865" marR="267970" lvl="1" indent="-228600">
              <a:lnSpc>
                <a:spcPts val="3240"/>
              </a:lnSpc>
              <a:spcBef>
                <a:spcPts val="500"/>
              </a:spcBef>
              <a:buFont typeface="Arial MT"/>
              <a:buChar char="•"/>
              <a:tabLst>
                <a:tab pos="697865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Change</a:t>
            </a:r>
            <a:r>
              <a:rPr sz="30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implementation</a:t>
            </a:r>
            <a:r>
              <a:rPr sz="3000" dirty="0">
                <a:latin typeface="Times New Roman"/>
                <a:cs typeface="Times New Roman"/>
              </a:rPr>
              <a:t>.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Modify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document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other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documents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reflect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change.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02292" y="350583"/>
            <a:ext cx="75571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Change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Management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648" y="2371344"/>
            <a:ext cx="11065764" cy="318211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8645" y="473709"/>
            <a:ext cx="10346055" cy="4128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9760">
              <a:lnSpc>
                <a:spcPct val="100000"/>
              </a:lnSpc>
              <a:spcBef>
                <a:spcPts val="100"/>
              </a:spcBef>
              <a:tabLst>
                <a:tab pos="112458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Enduring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3600" b="1" u="heavy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Volatile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spc="75" dirty="0">
                <a:solidFill>
                  <a:srgbClr val="FF0000"/>
                </a:solidFill>
                <a:latin typeface="Times New Roman"/>
                <a:cs typeface="Times New Roman"/>
              </a:rPr>
              <a:t>Enduring</a:t>
            </a:r>
            <a:r>
              <a:rPr sz="3000" spc="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80" dirty="0">
                <a:latin typeface="Times New Roman"/>
                <a:cs typeface="Times New Roman"/>
              </a:rPr>
              <a:t>.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Stable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spc="80" dirty="0">
                <a:latin typeface="Times New Roman"/>
                <a:cs typeface="Times New Roman"/>
              </a:rPr>
              <a:t>requirements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spc="75" dirty="0">
                <a:latin typeface="Times New Roman"/>
                <a:cs typeface="Times New Roman"/>
              </a:rPr>
              <a:t>derived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from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spc="30" dirty="0">
                <a:latin typeface="Times New Roman"/>
                <a:cs typeface="Times New Roman"/>
              </a:rPr>
              <a:t>the </a:t>
            </a:r>
            <a:r>
              <a:rPr sz="3000" spc="50" dirty="0">
                <a:latin typeface="Times New Roman"/>
                <a:cs typeface="Times New Roman"/>
              </a:rPr>
              <a:t>core</a:t>
            </a:r>
            <a:r>
              <a:rPr sz="3000" spc="200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activity</a:t>
            </a:r>
            <a:r>
              <a:rPr sz="3000" spc="20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00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customer</a:t>
            </a:r>
            <a:r>
              <a:rPr sz="3000" spc="204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organization.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FF0000"/>
                </a:solidFill>
                <a:latin typeface="Times New Roman"/>
                <a:cs typeface="Times New Roman"/>
              </a:rPr>
              <a:t>E.g</a:t>
            </a:r>
            <a:r>
              <a:rPr sz="3000" spc="55" dirty="0">
                <a:latin typeface="Times New Roman"/>
                <a:cs typeface="Times New Roman"/>
              </a:rPr>
              <a:t>.</a:t>
            </a:r>
            <a:r>
              <a:rPr sz="3000" spc="20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204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hospital</a:t>
            </a:r>
            <a:r>
              <a:rPr sz="3000" spc="204" dirty="0">
                <a:latin typeface="Times New Roman"/>
                <a:cs typeface="Times New Roman"/>
              </a:rPr>
              <a:t> </a:t>
            </a:r>
            <a:r>
              <a:rPr sz="3000" spc="35" dirty="0">
                <a:latin typeface="Times New Roman"/>
                <a:cs typeface="Times New Roman"/>
              </a:rPr>
              <a:t>will </a:t>
            </a:r>
            <a:r>
              <a:rPr sz="3000" spc="50" dirty="0">
                <a:latin typeface="Times New Roman"/>
                <a:cs typeface="Times New Roman"/>
              </a:rPr>
              <a:t>always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have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doctors,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nurses,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etc.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derived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from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spc="40" dirty="0">
                <a:latin typeface="Times New Roman"/>
                <a:cs typeface="Times New Roman"/>
              </a:rPr>
              <a:t>domain </a:t>
            </a:r>
            <a:r>
              <a:rPr sz="3000" spc="-10" dirty="0">
                <a:latin typeface="Times New Roman"/>
                <a:cs typeface="Times New Roman"/>
              </a:rPr>
              <a:t>models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spc="95" dirty="0">
                <a:solidFill>
                  <a:srgbClr val="FF0000"/>
                </a:solidFill>
                <a:latin typeface="Times New Roman"/>
                <a:cs typeface="Times New Roman"/>
              </a:rPr>
              <a:t>Volatile</a:t>
            </a:r>
            <a:r>
              <a:rPr sz="3000" spc="3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155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spc="155" dirty="0">
                <a:latin typeface="Times New Roman"/>
                <a:cs typeface="Times New Roman"/>
              </a:rPr>
              <a:t>.</a:t>
            </a:r>
            <a:r>
              <a:rPr sz="3000" spc="380" dirty="0">
                <a:latin typeface="Times New Roman"/>
                <a:cs typeface="Times New Roman"/>
              </a:rPr>
              <a:t> </a:t>
            </a:r>
            <a:r>
              <a:rPr sz="3000" spc="155" dirty="0">
                <a:latin typeface="Times New Roman"/>
                <a:cs typeface="Times New Roman"/>
              </a:rPr>
              <a:t>Requirements</a:t>
            </a:r>
            <a:r>
              <a:rPr sz="3000" spc="370" dirty="0">
                <a:latin typeface="Times New Roman"/>
                <a:cs typeface="Times New Roman"/>
              </a:rPr>
              <a:t> </a:t>
            </a:r>
            <a:r>
              <a:rPr sz="3000" spc="135" dirty="0">
                <a:latin typeface="Times New Roman"/>
                <a:cs typeface="Times New Roman"/>
              </a:rPr>
              <a:t>which</a:t>
            </a:r>
            <a:r>
              <a:rPr sz="3000" spc="375" dirty="0">
                <a:latin typeface="Times New Roman"/>
                <a:cs typeface="Times New Roman"/>
              </a:rPr>
              <a:t> </a:t>
            </a:r>
            <a:r>
              <a:rPr sz="3000" spc="140" dirty="0">
                <a:latin typeface="Times New Roman"/>
                <a:cs typeface="Times New Roman"/>
              </a:rPr>
              <a:t>change</a:t>
            </a:r>
            <a:r>
              <a:rPr sz="3000" spc="375" dirty="0">
                <a:latin typeface="Times New Roman"/>
                <a:cs typeface="Times New Roman"/>
              </a:rPr>
              <a:t> </a:t>
            </a:r>
            <a:r>
              <a:rPr sz="3000" spc="135" dirty="0">
                <a:latin typeface="Times New Roman"/>
                <a:cs typeface="Times New Roman"/>
              </a:rPr>
              <a:t>during </a:t>
            </a:r>
            <a:r>
              <a:rPr sz="3000" spc="190" dirty="0">
                <a:latin typeface="Times New Roman"/>
                <a:cs typeface="Times New Roman"/>
              </a:rPr>
              <a:t>development</a:t>
            </a:r>
            <a:r>
              <a:rPr sz="3000" spc="445" dirty="0">
                <a:latin typeface="Times New Roman"/>
                <a:cs typeface="Times New Roman"/>
              </a:rPr>
              <a:t> </a:t>
            </a:r>
            <a:r>
              <a:rPr sz="3000" spc="105" dirty="0">
                <a:latin typeface="Times New Roman"/>
                <a:cs typeface="Times New Roman"/>
              </a:rPr>
              <a:t>or</a:t>
            </a:r>
            <a:r>
              <a:rPr sz="3000" spc="455" dirty="0">
                <a:latin typeface="Times New Roman"/>
                <a:cs typeface="Times New Roman"/>
              </a:rPr>
              <a:t> </a:t>
            </a:r>
            <a:r>
              <a:rPr sz="3000" spc="160" dirty="0">
                <a:latin typeface="Times New Roman"/>
                <a:cs typeface="Times New Roman"/>
              </a:rPr>
              <a:t>when</a:t>
            </a:r>
            <a:r>
              <a:rPr sz="3000" spc="459" dirty="0">
                <a:latin typeface="Times New Roman"/>
                <a:cs typeface="Times New Roman"/>
              </a:rPr>
              <a:t> </a:t>
            </a:r>
            <a:r>
              <a:rPr sz="3000" spc="140" dirty="0">
                <a:latin typeface="Times New Roman"/>
                <a:cs typeface="Times New Roman"/>
              </a:rPr>
              <a:t>the</a:t>
            </a:r>
            <a:r>
              <a:rPr sz="3000" spc="450" dirty="0">
                <a:latin typeface="Times New Roman"/>
                <a:cs typeface="Times New Roman"/>
              </a:rPr>
              <a:t> </a:t>
            </a:r>
            <a:r>
              <a:rPr sz="3000" spc="175" dirty="0">
                <a:latin typeface="Times New Roman"/>
                <a:cs typeface="Times New Roman"/>
              </a:rPr>
              <a:t>system</a:t>
            </a:r>
            <a:r>
              <a:rPr sz="3000" spc="459" dirty="0">
                <a:latin typeface="Times New Roman"/>
                <a:cs typeface="Times New Roman"/>
              </a:rPr>
              <a:t> </a:t>
            </a:r>
            <a:r>
              <a:rPr sz="3000" spc="105" dirty="0">
                <a:latin typeface="Times New Roman"/>
                <a:cs typeface="Times New Roman"/>
              </a:rPr>
              <a:t>is</a:t>
            </a:r>
            <a:r>
              <a:rPr sz="3000" spc="450" dirty="0">
                <a:latin typeface="Times New Roman"/>
                <a:cs typeface="Times New Roman"/>
              </a:rPr>
              <a:t> </a:t>
            </a:r>
            <a:r>
              <a:rPr sz="3000" spc="105" dirty="0">
                <a:latin typeface="Times New Roman"/>
                <a:cs typeface="Times New Roman"/>
              </a:rPr>
              <a:t>in</a:t>
            </a:r>
            <a:r>
              <a:rPr sz="3000" spc="455" dirty="0">
                <a:latin typeface="Times New Roman"/>
                <a:cs typeface="Times New Roman"/>
              </a:rPr>
              <a:t> </a:t>
            </a:r>
            <a:r>
              <a:rPr sz="3000" spc="160" dirty="0">
                <a:latin typeface="Times New Roman"/>
                <a:cs typeface="Times New Roman"/>
              </a:rPr>
              <a:t>use.</a:t>
            </a:r>
            <a:r>
              <a:rPr sz="3000" spc="459" dirty="0">
                <a:latin typeface="Times New Roman"/>
                <a:cs typeface="Times New Roman"/>
              </a:rPr>
              <a:t> </a:t>
            </a:r>
            <a:r>
              <a:rPr sz="3000" spc="105" dirty="0">
                <a:latin typeface="Times New Roman"/>
                <a:cs typeface="Times New Roman"/>
              </a:rPr>
              <a:t>In</a:t>
            </a:r>
            <a:r>
              <a:rPr sz="3000" spc="4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455" dirty="0">
                <a:latin typeface="Times New Roman"/>
                <a:cs typeface="Times New Roman"/>
              </a:rPr>
              <a:t> </a:t>
            </a:r>
            <a:r>
              <a:rPr sz="3000" spc="180" dirty="0">
                <a:latin typeface="Times New Roman"/>
                <a:cs typeface="Times New Roman"/>
              </a:rPr>
              <a:t>hospital,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derived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from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health-</a:t>
            </a:r>
            <a:r>
              <a:rPr sz="3000" dirty="0">
                <a:latin typeface="Times New Roman"/>
                <a:cs typeface="Times New Roman"/>
              </a:rPr>
              <a:t>care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policy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8645" y="350583"/>
            <a:ext cx="10345420" cy="437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4145">
              <a:lnSpc>
                <a:spcPct val="100000"/>
              </a:lnSpc>
              <a:spcBef>
                <a:spcPts val="100"/>
              </a:spcBef>
              <a:tabLst>
                <a:tab pos="445897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Summary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spc="50" dirty="0">
                <a:latin typeface="Times New Roman"/>
                <a:cs typeface="Times New Roman"/>
              </a:rPr>
              <a:t>The</a:t>
            </a:r>
            <a:r>
              <a:rPr sz="3000" b="1" spc="180" dirty="0">
                <a:latin typeface="Times New Roman"/>
                <a:cs typeface="Times New Roman"/>
              </a:rPr>
              <a:t> </a:t>
            </a:r>
            <a:r>
              <a:rPr sz="3000" b="1" spc="55" dirty="0">
                <a:latin typeface="Times New Roman"/>
                <a:cs typeface="Times New Roman"/>
              </a:rPr>
              <a:t>requirements</a:t>
            </a:r>
            <a:r>
              <a:rPr sz="3000" b="1" spc="190" dirty="0">
                <a:latin typeface="Times New Roman"/>
                <a:cs typeface="Times New Roman"/>
              </a:rPr>
              <a:t> </a:t>
            </a:r>
            <a:r>
              <a:rPr sz="3000" b="1" spc="70" dirty="0">
                <a:latin typeface="Times New Roman"/>
                <a:cs typeface="Times New Roman"/>
              </a:rPr>
              <a:t>engineering</a:t>
            </a:r>
            <a:r>
              <a:rPr sz="3000" b="1" spc="195" dirty="0">
                <a:latin typeface="Times New Roman"/>
                <a:cs typeface="Times New Roman"/>
              </a:rPr>
              <a:t> </a:t>
            </a:r>
            <a:r>
              <a:rPr sz="3000" b="1" spc="60" dirty="0">
                <a:latin typeface="Times New Roman"/>
                <a:cs typeface="Times New Roman"/>
              </a:rPr>
              <a:t>process</a:t>
            </a:r>
            <a:r>
              <a:rPr sz="3000" b="1" spc="190" dirty="0">
                <a:latin typeface="Times New Roman"/>
                <a:cs typeface="Times New Roman"/>
              </a:rPr>
              <a:t> </a:t>
            </a:r>
            <a:r>
              <a:rPr sz="3000" spc="70" dirty="0">
                <a:latin typeface="Times New Roman"/>
                <a:cs typeface="Times New Roman"/>
              </a:rPr>
              <a:t>includes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gathering,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2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elicitation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2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analysis,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2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specification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management.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75" dirty="0">
                <a:latin typeface="Times New Roman"/>
                <a:cs typeface="Times New Roman"/>
              </a:rPr>
              <a:t>Requirements</a:t>
            </a:r>
            <a:r>
              <a:rPr sz="3000" b="1" spc="229" dirty="0">
                <a:latin typeface="Times New Roman"/>
                <a:cs typeface="Times New Roman"/>
              </a:rPr>
              <a:t> </a:t>
            </a:r>
            <a:r>
              <a:rPr sz="3000" b="1" spc="80" dirty="0">
                <a:latin typeface="Times New Roman"/>
                <a:cs typeface="Times New Roman"/>
              </a:rPr>
              <a:t>elicitation</a:t>
            </a:r>
            <a:r>
              <a:rPr sz="3000" b="1" spc="235" dirty="0">
                <a:latin typeface="Times New Roman"/>
                <a:cs typeface="Times New Roman"/>
              </a:rPr>
              <a:t> </a:t>
            </a:r>
            <a:r>
              <a:rPr sz="3000" b="1" spc="65" dirty="0">
                <a:latin typeface="Times New Roman"/>
                <a:cs typeface="Times New Roman"/>
              </a:rPr>
              <a:t>and</a:t>
            </a:r>
            <a:r>
              <a:rPr sz="3000" b="1" spc="235" dirty="0">
                <a:latin typeface="Times New Roman"/>
                <a:cs typeface="Times New Roman"/>
              </a:rPr>
              <a:t> </a:t>
            </a:r>
            <a:r>
              <a:rPr sz="3000" b="1" spc="80" dirty="0">
                <a:latin typeface="Times New Roman"/>
                <a:cs typeface="Times New Roman"/>
              </a:rPr>
              <a:t>analysis</a:t>
            </a:r>
            <a:r>
              <a:rPr sz="3000" b="1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spc="80" dirty="0">
                <a:latin typeface="Times New Roman"/>
                <a:cs typeface="Times New Roman"/>
              </a:rPr>
              <a:t>iterative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spc="80" dirty="0">
                <a:latin typeface="Times New Roman"/>
                <a:cs typeface="Times New Roman"/>
              </a:rPr>
              <a:t>involving </a:t>
            </a:r>
            <a:r>
              <a:rPr sz="3000" spc="55" dirty="0">
                <a:latin typeface="Times New Roman"/>
                <a:cs typeface="Times New Roman"/>
              </a:rPr>
              <a:t>domain</a:t>
            </a:r>
            <a:r>
              <a:rPr sz="3000" spc="200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understanding,</a:t>
            </a:r>
            <a:r>
              <a:rPr sz="3000" spc="204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requirements</a:t>
            </a:r>
            <a:r>
              <a:rPr sz="3000" spc="200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collection,</a:t>
            </a:r>
            <a:r>
              <a:rPr sz="3000" spc="204" dirty="0">
                <a:latin typeface="Times New Roman"/>
                <a:cs typeface="Times New Roman"/>
              </a:rPr>
              <a:t> </a:t>
            </a:r>
            <a:r>
              <a:rPr sz="3000" spc="55" dirty="0">
                <a:latin typeface="Times New Roman"/>
                <a:cs typeface="Times New Roman"/>
              </a:rPr>
              <a:t>classification, </a:t>
            </a:r>
            <a:r>
              <a:rPr sz="3000" dirty="0">
                <a:latin typeface="Times New Roman"/>
                <a:cs typeface="Times New Roman"/>
              </a:rPr>
              <a:t>structuring,</a:t>
            </a:r>
            <a:r>
              <a:rPr sz="3000" spc="6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prioritization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validation.</a:t>
            </a:r>
            <a:endParaRPr sz="3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Systems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have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multiple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stakeholders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different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8645" y="350583"/>
            <a:ext cx="10346055" cy="355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4145">
              <a:lnSpc>
                <a:spcPct val="100000"/>
              </a:lnSpc>
              <a:spcBef>
                <a:spcPts val="100"/>
              </a:spcBef>
              <a:tabLst>
                <a:tab pos="445897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Summary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Requirements</a:t>
            </a:r>
            <a:r>
              <a:rPr sz="3000" b="1" spc="229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validation</a:t>
            </a:r>
            <a:r>
              <a:rPr sz="3000" b="1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concerned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checks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2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validity, consistency,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completeness,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realism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verifiability.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Business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changes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inevitably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lead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changing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spc="125" dirty="0">
                <a:latin typeface="Times New Roman"/>
                <a:cs typeface="Times New Roman"/>
              </a:rPr>
              <a:t>Requirements</a:t>
            </a:r>
            <a:r>
              <a:rPr sz="3000" b="1" spc="325" dirty="0">
                <a:latin typeface="Times New Roman"/>
                <a:cs typeface="Times New Roman"/>
              </a:rPr>
              <a:t> </a:t>
            </a:r>
            <a:r>
              <a:rPr sz="3000" b="1" spc="125" dirty="0">
                <a:latin typeface="Times New Roman"/>
                <a:cs typeface="Times New Roman"/>
              </a:rPr>
              <a:t>management</a:t>
            </a:r>
            <a:r>
              <a:rPr sz="3000" b="1" spc="335" dirty="0">
                <a:latin typeface="Times New Roman"/>
                <a:cs typeface="Times New Roman"/>
              </a:rPr>
              <a:t> </a:t>
            </a:r>
            <a:r>
              <a:rPr sz="3000" spc="125" dirty="0">
                <a:latin typeface="Times New Roman"/>
                <a:cs typeface="Times New Roman"/>
              </a:rPr>
              <a:t>includes</a:t>
            </a:r>
            <a:r>
              <a:rPr sz="3000" spc="330" dirty="0">
                <a:latin typeface="Times New Roman"/>
                <a:cs typeface="Times New Roman"/>
              </a:rPr>
              <a:t> </a:t>
            </a:r>
            <a:r>
              <a:rPr sz="3000" spc="130" dirty="0">
                <a:latin typeface="Times New Roman"/>
                <a:cs typeface="Times New Roman"/>
              </a:rPr>
              <a:t>planning</a:t>
            </a:r>
            <a:r>
              <a:rPr sz="3000" spc="340" dirty="0">
                <a:latin typeface="Times New Roman"/>
                <a:cs typeface="Times New Roman"/>
              </a:rPr>
              <a:t> </a:t>
            </a:r>
            <a:r>
              <a:rPr sz="3000" spc="100" dirty="0">
                <a:latin typeface="Times New Roman"/>
                <a:cs typeface="Times New Roman"/>
              </a:rPr>
              <a:t>and</a:t>
            </a:r>
            <a:r>
              <a:rPr sz="3000" spc="340" dirty="0">
                <a:latin typeface="Times New Roman"/>
                <a:cs typeface="Times New Roman"/>
              </a:rPr>
              <a:t> </a:t>
            </a:r>
            <a:r>
              <a:rPr sz="3000" spc="114" dirty="0">
                <a:latin typeface="Times New Roman"/>
                <a:cs typeface="Times New Roman"/>
              </a:rPr>
              <a:t>change </a:t>
            </a:r>
            <a:r>
              <a:rPr sz="3000" spc="-10" dirty="0">
                <a:latin typeface="Times New Roman"/>
                <a:cs typeface="Times New Roman"/>
              </a:rPr>
              <a:t>management.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295" y="350583"/>
            <a:ext cx="10419715" cy="2888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7135">
              <a:lnSpc>
                <a:spcPct val="100000"/>
              </a:lnSpc>
              <a:spcBef>
                <a:spcPts val="100"/>
              </a:spcBef>
              <a:tabLst>
                <a:tab pos="425196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3600" b="1" u="heavy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TASK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Consider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your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watch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time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2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minutes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ahead. </a:t>
            </a:r>
            <a:r>
              <a:rPr sz="3000" dirty="0">
                <a:latin typeface="Times New Roman"/>
                <a:cs typeface="Times New Roman"/>
              </a:rPr>
              <a:t>Write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down</a:t>
            </a:r>
            <a:r>
              <a:rPr sz="3000" spc="200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each</a:t>
            </a:r>
            <a:r>
              <a:rPr sz="3000" spc="195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interaction</a:t>
            </a:r>
            <a:r>
              <a:rPr sz="3000" spc="200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between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you</a:t>
            </a:r>
            <a:r>
              <a:rPr sz="3000" spc="204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and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your</a:t>
            </a:r>
            <a:r>
              <a:rPr sz="3000" spc="210" dirty="0">
                <a:latin typeface="Times New Roman"/>
                <a:cs typeface="Times New Roman"/>
              </a:rPr>
              <a:t> </a:t>
            </a:r>
            <a:r>
              <a:rPr sz="3000" spc="60" dirty="0">
                <a:latin typeface="Times New Roman"/>
                <a:cs typeface="Times New Roman"/>
              </a:rPr>
              <a:t>watch</a:t>
            </a:r>
            <a:r>
              <a:rPr sz="3000" spc="20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204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imes New Roman"/>
                <a:cs typeface="Times New Roman"/>
              </a:rPr>
              <a:t>a </a:t>
            </a:r>
            <a:r>
              <a:rPr sz="3000" spc="90" dirty="0">
                <a:latin typeface="Times New Roman"/>
                <a:cs typeface="Times New Roman"/>
              </a:rPr>
              <a:t>scenario.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spc="85" dirty="0">
                <a:latin typeface="Times New Roman"/>
                <a:cs typeface="Times New Roman"/>
              </a:rPr>
              <a:t>Record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all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spc="95" dirty="0">
                <a:latin typeface="Times New Roman"/>
                <a:cs typeface="Times New Roman"/>
              </a:rPr>
              <a:t>interactions,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spc="100" dirty="0">
                <a:latin typeface="Times New Roman"/>
                <a:cs typeface="Times New Roman"/>
              </a:rPr>
              <a:t>including</a:t>
            </a:r>
            <a:r>
              <a:rPr sz="3000" spc="260" dirty="0">
                <a:latin typeface="Times New Roman"/>
                <a:cs typeface="Times New Roman"/>
              </a:rPr>
              <a:t> </a:t>
            </a:r>
            <a:r>
              <a:rPr sz="3000" spc="70" dirty="0">
                <a:latin typeface="Times New Roman"/>
                <a:cs typeface="Times New Roman"/>
              </a:rPr>
              <a:t>any</a:t>
            </a:r>
            <a:r>
              <a:rPr sz="3000" spc="260" dirty="0">
                <a:latin typeface="Times New Roman"/>
                <a:cs typeface="Times New Roman"/>
              </a:rPr>
              <a:t> </a:t>
            </a:r>
            <a:r>
              <a:rPr sz="3000" spc="90" dirty="0">
                <a:latin typeface="Times New Roman"/>
                <a:cs typeface="Times New Roman"/>
              </a:rPr>
              <a:t>feedback</a:t>
            </a:r>
            <a:r>
              <a:rPr sz="3000" spc="260" dirty="0">
                <a:latin typeface="Times New Roman"/>
                <a:cs typeface="Times New Roman"/>
              </a:rPr>
              <a:t> </a:t>
            </a:r>
            <a:r>
              <a:rPr sz="3000" spc="45" dirty="0">
                <a:latin typeface="Times New Roman"/>
                <a:cs typeface="Times New Roman"/>
              </a:rPr>
              <a:t>the </a:t>
            </a:r>
            <a:r>
              <a:rPr sz="3000" dirty="0">
                <a:latin typeface="Times New Roman"/>
                <a:cs typeface="Times New Roman"/>
              </a:rPr>
              <a:t>watch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provides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you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9446" y="350583"/>
            <a:ext cx="10904220" cy="551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1615">
              <a:lnSpc>
                <a:spcPct val="100000"/>
              </a:lnSpc>
              <a:spcBef>
                <a:spcPts val="100"/>
              </a:spcBef>
              <a:tabLst>
                <a:tab pos="453644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Home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heavy" spc="-3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sk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endParaRPr sz="3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4040"/>
              </a:spcBef>
              <a:buFont typeface="Arial MT"/>
              <a:buChar char="•"/>
              <a:tabLst>
                <a:tab pos="240665" algn="l"/>
              </a:tabLst>
            </a:pPr>
            <a:r>
              <a:rPr sz="2300" dirty="0">
                <a:latin typeface="Times New Roman"/>
                <a:cs typeface="Times New Roman"/>
              </a:rPr>
              <a:t>Draw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case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diagram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ticket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distributor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train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system.</a:t>
            </a:r>
            <a:endParaRPr sz="23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699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system</a:t>
            </a:r>
            <a:r>
              <a:rPr sz="2300" spc="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includes</a:t>
            </a:r>
            <a:r>
              <a:rPr sz="2300" spc="9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two</a:t>
            </a:r>
            <a:r>
              <a:rPr sz="2300" spc="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actors:</a:t>
            </a:r>
            <a:r>
              <a:rPr sz="2300" spc="9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traveler</a:t>
            </a:r>
            <a:r>
              <a:rPr sz="2300" spc="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who</a:t>
            </a:r>
            <a:r>
              <a:rPr sz="2300" spc="9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purchases</a:t>
            </a:r>
            <a:r>
              <a:rPr sz="2300" spc="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different</a:t>
            </a:r>
            <a:r>
              <a:rPr sz="2300" spc="10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types</a:t>
            </a:r>
            <a:r>
              <a:rPr sz="2300" spc="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10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tickets,</a:t>
            </a:r>
            <a:r>
              <a:rPr sz="2300" spc="10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95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a </a:t>
            </a:r>
            <a:r>
              <a:rPr sz="2300" dirty="0">
                <a:latin typeface="Times New Roman"/>
                <a:cs typeface="Times New Roman"/>
              </a:rPr>
              <a:t>central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computer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system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that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maintains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reference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database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tariff.</a:t>
            </a:r>
            <a:endParaRPr sz="2300">
              <a:latin typeface="Times New Roman"/>
              <a:cs typeface="Times New Roman"/>
            </a:endParaRPr>
          </a:p>
          <a:p>
            <a:pPr marL="240665" indent="-227965">
              <a:lnSpc>
                <a:spcPts val="2595"/>
              </a:lnSpc>
              <a:spcBef>
                <a:spcPts val="170"/>
              </a:spcBef>
              <a:buFont typeface="Arial MT"/>
              <a:buChar char="•"/>
              <a:tabLst>
                <a:tab pos="240665" algn="l"/>
              </a:tabLst>
            </a:pPr>
            <a:r>
              <a:rPr sz="2300" b="1" dirty="0">
                <a:latin typeface="Times New Roman"/>
                <a:cs typeface="Times New Roman"/>
              </a:rPr>
              <a:t>Use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cases</a:t>
            </a:r>
            <a:r>
              <a:rPr sz="2300" b="1" spc="-4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should</a:t>
            </a:r>
            <a:r>
              <a:rPr sz="2300" b="1" spc="-45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include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430"/>
              </a:lnSpc>
              <a:buFont typeface="Arial MT"/>
              <a:buChar char="•"/>
              <a:tabLst>
                <a:tab pos="697865" algn="l"/>
              </a:tabLst>
            </a:pPr>
            <a:r>
              <a:rPr sz="2300" spc="-10" dirty="0">
                <a:latin typeface="Times New Roman"/>
                <a:cs typeface="Times New Roman"/>
              </a:rPr>
              <a:t>BuyOneWayTicket,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430"/>
              </a:lnSpc>
              <a:buFont typeface="Arial MT"/>
              <a:buChar char="•"/>
              <a:tabLst>
                <a:tab pos="697865" algn="l"/>
              </a:tabLst>
            </a:pPr>
            <a:r>
              <a:rPr sz="2300" spc="-10" dirty="0">
                <a:latin typeface="Times New Roman"/>
                <a:cs typeface="Times New Roman"/>
              </a:rPr>
              <a:t>BuyWeeklyCard,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430"/>
              </a:lnSpc>
              <a:buFont typeface="Arial MT"/>
              <a:buChar char="•"/>
              <a:tabLst>
                <a:tab pos="697865" algn="l"/>
              </a:tabLst>
            </a:pPr>
            <a:r>
              <a:rPr sz="2300" dirty="0">
                <a:latin typeface="Times New Roman"/>
                <a:cs typeface="Times New Roman"/>
              </a:rPr>
              <a:t>BuyMonthlyCard,</a:t>
            </a:r>
            <a:r>
              <a:rPr sz="2300" spc="-125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and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595"/>
              </a:lnSpc>
              <a:buFont typeface="Arial MT"/>
              <a:buChar char="•"/>
              <a:tabLst>
                <a:tab pos="697865" algn="l"/>
              </a:tabLst>
            </a:pPr>
            <a:r>
              <a:rPr sz="2300" spc="-10" dirty="0">
                <a:latin typeface="Times New Roman"/>
                <a:cs typeface="Times New Roman"/>
              </a:rPr>
              <a:t>UpdateTariff.</a:t>
            </a:r>
            <a:endParaRPr sz="2300">
              <a:latin typeface="Times New Roman"/>
              <a:cs typeface="Times New Roman"/>
            </a:endParaRPr>
          </a:p>
          <a:p>
            <a:pPr marL="240665" indent="-227965">
              <a:lnSpc>
                <a:spcPts val="2595"/>
              </a:lnSpc>
              <a:spcBef>
                <a:spcPts val="170"/>
              </a:spcBef>
              <a:buFont typeface="Arial MT"/>
              <a:buChar char="•"/>
              <a:tabLst>
                <a:tab pos="240665" algn="l"/>
              </a:tabLst>
            </a:pPr>
            <a:r>
              <a:rPr sz="2300" b="1" dirty="0">
                <a:latin typeface="Times New Roman"/>
                <a:cs typeface="Times New Roman"/>
              </a:rPr>
              <a:t>Also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include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the</a:t>
            </a:r>
            <a:r>
              <a:rPr sz="2300" b="1" spc="-4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following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exceptional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cases: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430"/>
              </a:lnSpc>
              <a:buFont typeface="Arial MT"/>
              <a:buChar char="•"/>
              <a:tabLst>
                <a:tab pos="697865" algn="l"/>
              </a:tabLst>
            </a:pPr>
            <a:r>
              <a:rPr sz="2300" dirty="0">
                <a:latin typeface="Times New Roman"/>
                <a:cs typeface="Times New Roman"/>
              </a:rPr>
              <a:t>TimeOut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(i.e.,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traveler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took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too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long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insert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right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amount),</a:t>
            </a:r>
            <a:endParaRPr sz="23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ct val="69900"/>
              </a:lnSpc>
              <a:spcBef>
                <a:spcPts val="665"/>
              </a:spcBef>
              <a:buFont typeface="Arial MT"/>
              <a:buChar char="•"/>
              <a:tabLst>
                <a:tab pos="698500" algn="l"/>
              </a:tabLst>
            </a:pPr>
            <a:r>
              <a:rPr sz="2300" dirty="0">
                <a:latin typeface="Times New Roman"/>
                <a:cs typeface="Times New Roman"/>
              </a:rPr>
              <a:t>TransactionAborted</a:t>
            </a:r>
            <a:r>
              <a:rPr sz="2300" spc="2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(i.e.,</a:t>
            </a:r>
            <a:r>
              <a:rPr sz="2300" spc="2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traveler</a:t>
            </a:r>
            <a:r>
              <a:rPr sz="2300" spc="2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selected</a:t>
            </a:r>
            <a:r>
              <a:rPr sz="2300" spc="2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2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cancel</a:t>
            </a:r>
            <a:r>
              <a:rPr sz="2300" spc="2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button</a:t>
            </a:r>
            <a:r>
              <a:rPr sz="2300" spc="3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without</a:t>
            </a:r>
            <a:r>
              <a:rPr sz="2300" spc="3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completing</a:t>
            </a:r>
            <a:r>
              <a:rPr sz="2300" spc="31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the </a:t>
            </a:r>
            <a:r>
              <a:rPr sz="2300" spc="-10" dirty="0">
                <a:latin typeface="Times New Roman"/>
                <a:cs typeface="Times New Roman"/>
              </a:rPr>
              <a:t>transaction),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265"/>
              </a:lnSpc>
              <a:buFont typeface="Arial MT"/>
              <a:buChar char="•"/>
              <a:tabLst>
                <a:tab pos="697865" algn="l"/>
              </a:tabLst>
            </a:pPr>
            <a:r>
              <a:rPr sz="2300" spc="-10" dirty="0">
                <a:latin typeface="Times New Roman"/>
                <a:cs typeface="Times New Roman"/>
              </a:rPr>
              <a:t>DistributorOutOfChange,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and</a:t>
            </a:r>
            <a:endParaRPr sz="2300">
              <a:latin typeface="Times New Roman"/>
              <a:cs typeface="Times New Roman"/>
            </a:endParaRPr>
          </a:p>
          <a:p>
            <a:pPr marL="697865" lvl="1" indent="-227965">
              <a:lnSpc>
                <a:spcPts val="2595"/>
              </a:lnSpc>
              <a:buFont typeface="Arial MT"/>
              <a:buChar char="•"/>
              <a:tabLst>
                <a:tab pos="697865" algn="l"/>
              </a:tabLst>
            </a:pPr>
            <a:r>
              <a:rPr sz="2300" spc="-10" dirty="0">
                <a:latin typeface="Times New Roman"/>
                <a:cs typeface="Times New Roman"/>
              </a:rPr>
              <a:t>DistributorOutOfPaper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652" y="3000375"/>
            <a:ext cx="2987675" cy="561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360"/>
              </a:lnSpc>
            </a:pPr>
            <a:r>
              <a:rPr sz="4000" spc="-10" dirty="0">
                <a:latin typeface="Times New Roman"/>
                <a:cs typeface="Times New Roman"/>
              </a:rPr>
              <a:t>THANK</a:t>
            </a:r>
            <a:r>
              <a:rPr sz="4000" spc="-220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YOU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7947" y="1321447"/>
            <a:ext cx="10867669" cy="501839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652" y="3000375"/>
            <a:ext cx="2987675" cy="561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360"/>
              </a:lnSpc>
            </a:pPr>
            <a:r>
              <a:rPr sz="4000" spc="-10" dirty="0">
                <a:latin typeface="Times New Roman"/>
                <a:cs typeface="Times New Roman"/>
              </a:rPr>
              <a:t>THANK</a:t>
            </a:r>
            <a:r>
              <a:rPr sz="4000" spc="-220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YOU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7947" y="1363281"/>
            <a:ext cx="10826115" cy="47964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30" dirty="0"/>
              <a:t> </a:t>
            </a:r>
            <a:r>
              <a:rPr dirty="0"/>
              <a:t>Engineering</a:t>
            </a:r>
            <a:r>
              <a:rPr spc="3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5999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Mr.</a:t>
            </a:r>
            <a:r>
              <a:rPr spc="-25" dirty="0"/>
              <a:t> </a:t>
            </a:r>
            <a:r>
              <a:rPr spc="-20" dirty="0"/>
              <a:t>Tehseen</a:t>
            </a:r>
            <a:r>
              <a:rPr spc="-25" dirty="0"/>
              <a:t> </a:t>
            </a:r>
            <a:r>
              <a:rPr dirty="0"/>
              <a:t>Riaz</a:t>
            </a:r>
            <a:r>
              <a:rPr spc="-2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5074</Words>
  <Application>Microsoft Office PowerPoint</Application>
  <PresentationFormat>Widescreen</PresentationFormat>
  <Paragraphs>1366</Paragraphs>
  <Slides>144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144</vt:i4>
      </vt:variant>
    </vt:vector>
  </HeadingPairs>
  <TitlesOfParts>
    <vt:vector size="152" baseType="lpstr">
      <vt:lpstr>Arial</vt:lpstr>
      <vt:lpstr>Arial MT</vt:lpstr>
      <vt:lpstr>Calibri</vt:lpstr>
      <vt:lpstr>Microsoft Sans Serif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Requirements Context: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Requirements: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Functional and Non-Functional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Good and Bad Requirements - Example 3</vt:lpstr>
      <vt:lpstr>Good and Bad Requirements - Example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Techniques of Eliciting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Case Diagrams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Exam Use Case Cont.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Template to write Functional Requirement</vt:lpstr>
      <vt:lpstr>PowerPoint Presentation</vt:lpstr>
      <vt:lpstr>PowerPoint Presentation</vt:lpstr>
      <vt:lpstr>Functional Requirement – Example-3</vt:lpstr>
      <vt:lpstr>PowerPoint Presentation</vt:lpstr>
      <vt:lpstr>Requirements Validation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Requirements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description/>
  <cp:lastModifiedBy>admin</cp:lastModifiedBy>
  <cp:revision>14</cp:revision>
  <dcterms:created xsi:type="dcterms:W3CDTF">2025-03-05T17:01:52Z</dcterms:created>
  <dcterms:modified xsi:type="dcterms:W3CDTF">2025-03-05T17:40:05Z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2022-11-07T00:00:00Z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2025-03-05T00:00:00Z</vt:filetime>
  </property>
  <property fmtid="{D5CDD505-2E9C-101B-9397-08002B2CF9AE}" pid="5" name="SourceModified">
    <vt:lpwstr>D:20221107050716+00'07'</vt:lpwstr>
  </property>
</Properties>
</file>