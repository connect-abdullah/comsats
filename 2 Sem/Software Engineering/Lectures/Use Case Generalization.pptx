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3" r:id="rId5"/>
    <p:sldId id="264" r:id="rId6"/>
    <p:sldId id="259" r:id="rId7"/>
    <p:sldId id="260" r:id="rId8"/>
    <p:sldId id="261" r:id="rId9"/>
    <p:sldId id="262"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96"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8841B-57F1-0EC3-020C-AACAFEE195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AE75E2-F5F6-767E-2B29-CC0AC4C7AD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7F6722-01FF-FBB8-825C-E14C4E5DAC58}"/>
              </a:ext>
            </a:extLst>
          </p:cNvPr>
          <p:cNvSpPr>
            <a:spLocks noGrp="1"/>
          </p:cNvSpPr>
          <p:nvPr>
            <p:ph type="dt" sz="half" idx="10"/>
          </p:nvPr>
        </p:nvSpPr>
        <p:spPr/>
        <p:txBody>
          <a:bodyPr/>
          <a:lstStyle/>
          <a:p>
            <a:fld id="{6A1ABEA2-2F61-474D-BCF3-604266676711}" type="datetimeFigureOut">
              <a:rPr lang="en-US" smtClean="0"/>
              <a:t>4/10/2025</a:t>
            </a:fld>
            <a:endParaRPr lang="en-US"/>
          </a:p>
        </p:txBody>
      </p:sp>
      <p:sp>
        <p:nvSpPr>
          <p:cNvPr id="5" name="Footer Placeholder 4">
            <a:extLst>
              <a:ext uri="{FF2B5EF4-FFF2-40B4-BE49-F238E27FC236}">
                <a16:creationId xmlns:a16="http://schemas.microsoft.com/office/drawing/2014/main" id="{3424B66E-93F0-D5DC-7545-67EEEAC396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E4BA8F-A948-45A0-5004-5C08D9456507}"/>
              </a:ext>
            </a:extLst>
          </p:cNvPr>
          <p:cNvSpPr>
            <a:spLocks noGrp="1"/>
          </p:cNvSpPr>
          <p:nvPr>
            <p:ph type="sldNum" sz="quarter" idx="12"/>
          </p:nvPr>
        </p:nvSpPr>
        <p:spPr/>
        <p:txBody>
          <a:bodyPr/>
          <a:lstStyle/>
          <a:p>
            <a:fld id="{4CC6691D-B6ED-4025-9337-32EB93190DB8}" type="slidenum">
              <a:rPr lang="en-US" smtClean="0"/>
              <a:t>‹#›</a:t>
            </a:fld>
            <a:endParaRPr lang="en-US"/>
          </a:p>
        </p:txBody>
      </p:sp>
    </p:spTree>
    <p:extLst>
      <p:ext uri="{BB962C8B-B14F-4D97-AF65-F5344CB8AC3E}">
        <p14:creationId xmlns:p14="http://schemas.microsoft.com/office/powerpoint/2010/main" val="1646923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88BE5-9111-50E9-574F-708BD4D571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3541FD-D422-D9F7-212A-171C0C6F88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CF40A1-D9D8-DD78-AEC6-32D125015B21}"/>
              </a:ext>
            </a:extLst>
          </p:cNvPr>
          <p:cNvSpPr>
            <a:spLocks noGrp="1"/>
          </p:cNvSpPr>
          <p:nvPr>
            <p:ph type="dt" sz="half" idx="10"/>
          </p:nvPr>
        </p:nvSpPr>
        <p:spPr/>
        <p:txBody>
          <a:bodyPr/>
          <a:lstStyle/>
          <a:p>
            <a:fld id="{6A1ABEA2-2F61-474D-BCF3-604266676711}" type="datetimeFigureOut">
              <a:rPr lang="en-US" smtClean="0"/>
              <a:t>4/10/2025</a:t>
            </a:fld>
            <a:endParaRPr lang="en-US"/>
          </a:p>
        </p:txBody>
      </p:sp>
      <p:sp>
        <p:nvSpPr>
          <p:cNvPr id="5" name="Footer Placeholder 4">
            <a:extLst>
              <a:ext uri="{FF2B5EF4-FFF2-40B4-BE49-F238E27FC236}">
                <a16:creationId xmlns:a16="http://schemas.microsoft.com/office/drawing/2014/main" id="{588841F3-69A7-F118-F950-9B082FADD8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E03A7-7FB2-F047-D064-9D92D4CECF5D}"/>
              </a:ext>
            </a:extLst>
          </p:cNvPr>
          <p:cNvSpPr>
            <a:spLocks noGrp="1"/>
          </p:cNvSpPr>
          <p:nvPr>
            <p:ph type="sldNum" sz="quarter" idx="12"/>
          </p:nvPr>
        </p:nvSpPr>
        <p:spPr/>
        <p:txBody>
          <a:bodyPr/>
          <a:lstStyle/>
          <a:p>
            <a:fld id="{4CC6691D-B6ED-4025-9337-32EB93190DB8}" type="slidenum">
              <a:rPr lang="en-US" smtClean="0"/>
              <a:t>‹#›</a:t>
            </a:fld>
            <a:endParaRPr lang="en-US"/>
          </a:p>
        </p:txBody>
      </p:sp>
    </p:spTree>
    <p:extLst>
      <p:ext uri="{BB962C8B-B14F-4D97-AF65-F5344CB8AC3E}">
        <p14:creationId xmlns:p14="http://schemas.microsoft.com/office/powerpoint/2010/main" val="227085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F5E32-0179-5541-959E-8318931CB6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B10EF53-A675-D070-0952-5C8EFDAE5F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EFA3C4-8ED8-9B50-F41B-39EC6CAB417B}"/>
              </a:ext>
            </a:extLst>
          </p:cNvPr>
          <p:cNvSpPr>
            <a:spLocks noGrp="1"/>
          </p:cNvSpPr>
          <p:nvPr>
            <p:ph type="dt" sz="half" idx="10"/>
          </p:nvPr>
        </p:nvSpPr>
        <p:spPr/>
        <p:txBody>
          <a:bodyPr/>
          <a:lstStyle/>
          <a:p>
            <a:fld id="{6A1ABEA2-2F61-474D-BCF3-604266676711}" type="datetimeFigureOut">
              <a:rPr lang="en-US" smtClean="0"/>
              <a:t>4/10/2025</a:t>
            </a:fld>
            <a:endParaRPr lang="en-US"/>
          </a:p>
        </p:txBody>
      </p:sp>
      <p:sp>
        <p:nvSpPr>
          <p:cNvPr id="5" name="Footer Placeholder 4">
            <a:extLst>
              <a:ext uri="{FF2B5EF4-FFF2-40B4-BE49-F238E27FC236}">
                <a16:creationId xmlns:a16="http://schemas.microsoft.com/office/drawing/2014/main" id="{7483F653-19D3-17BB-1DF6-C70746B130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70CB4A-587D-4255-3FA1-957FE7DFD567}"/>
              </a:ext>
            </a:extLst>
          </p:cNvPr>
          <p:cNvSpPr>
            <a:spLocks noGrp="1"/>
          </p:cNvSpPr>
          <p:nvPr>
            <p:ph type="sldNum" sz="quarter" idx="12"/>
          </p:nvPr>
        </p:nvSpPr>
        <p:spPr/>
        <p:txBody>
          <a:bodyPr/>
          <a:lstStyle/>
          <a:p>
            <a:fld id="{4CC6691D-B6ED-4025-9337-32EB93190DB8}" type="slidenum">
              <a:rPr lang="en-US" smtClean="0"/>
              <a:t>‹#›</a:t>
            </a:fld>
            <a:endParaRPr lang="en-US"/>
          </a:p>
        </p:txBody>
      </p:sp>
    </p:spTree>
    <p:extLst>
      <p:ext uri="{BB962C8B-B14F-4D97-AF65-F5344CB8AC3E}">
        <p14:creationId xmlns:p14="http://schemas.microsoft.com/office/powerpoint/2010/main" val="1902917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4AD6F-3123-FE16-17A1-6DF4E4F7FD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4832AC-7119-29AB-6B48-599747EDFC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717877-9924-0692-58C3-6E13BF45CF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0222B8-4E7F-E654-1F3A-C97747B18FC1}"/>
              </a:ext>
            </a:extLst>
          </p:cNvPr>
          <p:cNvSpPr>
            <a:spLocks noGrp="1"/>
          </p:cNvSpPr>
          <p:nvPr>
            <p:ph type="dt" sz="half" idx="10"/>
          </p:nvPr>
        </p:nvSpPr>
        <p:spPr/>
        <p:txBody>
          <a:bodyPr/>
          <a:lstStyle/>
          <a:p>
            <a:fld id="{6A1ABEA2-2F61-474D-BCF3-604266676711}" type="datetimeFigureOut">
              <a:rPr lang="en-US" smtClean="0"/>
              <a:t>4/10/2025</a:t>
            </a:fld>
            <a:endParaRPr lang="en-US"/>
          </a:p>
        </p:txBody>
      </p:sp>
      <p:sp>
        <p:nvSpPr>
          <p:cNvPr id="6" name="Footer Placeholder 5">
            <a:extLst>
              <a:ext uri="{FF2B5EF4-FFF2-40B4-BE49-F238E27FC236}">
                <a16:creationId xmlns:a16="http://schemas.microsoft.com/office/drawing/2014/main" id="{6CB8396E-73F9-7ED1-0F9D-1E65558655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6D28DD-1FC7-9C44-A7A1-88A3466597BD}"/>
              </a:ext>
            </a:extLst>
          </p:cNvPr>
          <p:cNvSpPr>
            <a:spLocks noGrp="1"/>
          </p:cNvSpPr>
          <p:nvPr>
            <p:ph type="sldNum" sz="quarter" idx="12"/>
          </p:nvPr>
        </p:nvSpPr>
        <p:spPr/>
        <p:txBody>
          <a:bodyPr/>
          <a:lstStyle/>
          <a:p>
            <a:fld id="{4CC6691D-B6ED-4025-9337-32EB93190DB8}" type="slidenum">
              <a:rPr lang="en-US" smtClean="0"/>
              <a:t>‹#›</a:t>
            </a:fld>
            <a:endParaRPr lang="en-US"/>
          </a:p>
        </p:txBody>
      </p:sp>
    </p:spTree>
    <p:extLst>
      <p:ext uri="{BB962C8B-B14F-4D97-AF65-F5344CB8AC3E}">
        <p14:creationId xmlns:p14="http://schemas.microsoft.com/office/powerpoint/2010/main" val="4068478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9112E-F664-695C-D442-8112769624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B745800-5D81-F422-FF2E-26488CDF7B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33593F-6658-C46E-5BFB-5B5E28E8A5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AE2B163-3F15-96D2-3124-45FDE77217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A9919C-7B88-3937-25A0-03CEF4A66F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B15F24-1BB3-FDA4-1DD6-9047EB1950C1}"/>
              </a:ext>
            </a:extLst>
          </p:cNvPr>
          <p:cNvSpPr>
            <a:spLocks noGrp="1"/>
          </p:cNvSpPr>
          <p:nvPr>
            <p:ph type="dt" sz="half" idx="10"/>
          </p:nvPr>
        </p:nvSpPr>
        <p:spPr/>
        <p:txBody>
          <a:bodyPr/>
          <a:lstStyle/>
          <a:p>
            <a:fld id="{6A1ABEA2-2F61-474D-BCF3-604266676711}" type="datetimeFigureOut">
              <a:rPr lang="en-US" smtClean="0"/>
              <a:t>4/10/2025</a:t>
            </a:fld>
            <a:endParaRPr lang="en-US"/>
          </a:p>
        </p:txBody>
      </p:sp>
      <p:sp>
        <p:nvSpPr>
          <p:cNvPr id="8" name="Footer Placeholder 7">
            <a:extLst>
              <a:ext uri="{FF2B5EF4-FFF2-40B4-BE49-F238E27FC236}">
                <a16:creationId xmlns:a16="http://schemas.microsoft.com/office/drawing/2014/main" id="{BB44B05F-7A07-1761-8EA7-3E8265F247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AC4BE9F-E431-797D-74F2-8E16C073EF35}"/>
              </a:ext>
            </a:extLst>
          </p:cNvPr>
          <p:cNvSpPr>
            <a:spLocks noGrp="1"/>
          </p:cNvSpPr>
          <p:nvPr>
            <p:ph type="sldNum" sz="quarter" idx="12"/>
          </p:nvPr>
        </p:nvSpPr>
        <p:spPr/>
        <p:txBody>
          <a:bodyPr/>
          <a:lstStyle/>
          <a:p>
            <a:fld id="{4CC6691D-B6ED-4025-9337-32EB93190DB8}" type="slidenum">
              <a:rPr lang="en-US" smtClean="0"/>
              <a:t>‹#›</a:t>
            </a:fld>
            <a:endParaRPr lang="en-US"/>
          </a:p>
        </p:txBody>
      </p:sp>
    </p:spTree>
    <p:extLst>
      <p:ext uri="{BB962C8B-B14F-4D97-AF65-F5344CB8AC3E}">
        <p14:creationId xmlns:p14="http://schemas.microsoft.com/office/powerpoint/2010/main" val="726104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61FE0-343C-0117-8110-4901F8C590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D2EC751-50CC-7247-A453-0F2620558BE6}"/>
              </a:ext>
            </a:extLst>
          </p:cNvPr>
          <p:cNvSpPr>
            <a:spLocks noGrp="1"/>
          </p:cNvSpPr>
          <p:nvPr>
            <p:ph type="dt" sz="half" idx="10"/>
          </p:nvPr>
        </p:nvSpPr>
        <p:spPr/>
        <p:txBody>
          <a:bodyPr/>
          <a:lstStyle/>
          <a:p>
            <a:fld id="{6A1ABEA2-2F61-474D-BCF3-604266676711}" type="datetimeFigureOut">
              <a:rPr lang="en-US" smtClean="0"/>
              <a:t>4/10/2025</a:t>
            </a:fld>
            <a:endParaRPr lang="en-US"/>
          </a:p>
        </p:txBody>
      </p:sp>
      <p:sp>
        <p:nvSpPr>
          <p:cNvPr id="4" name="Footer Placeholder 3">
            <a:extLst>
              <a:ext uri="{FF2B5EF4-FFF2-40B4-BE49-F238E27FC236}">
                <a16:creationId xmlns:a16="http://schemas.microsoft.com/office/drawing/2014/main" id="{3F01D10F-4DD7-ED26-9348-CECF71421A0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67403C-8377-10CE-90D5-19F36E9299AC}"/>
              </a:ext>
            </a:extLst>
          </p:cNvPr>
          <p:cNvSpPr>
            <a:spLocks noGrp="1"/>
          </p:cNvSpPr>
          <p:nvPr>
            <p:ph type="sldNum" sz="quarter" idx="12"/>
          </p:nvPr>
        </p:nvSpPr>
        <p:spPr/>
        <p:txBody>
          <a:bodyPr/>
          <a:lstStyle/>
          <a:p>
            <a:fld id="{4CC6691D-B6ED-4025-9337-32EB93190DB8}" type="slidenum">
              <a:rPr lang="en-US" smtClean="0"/>
              <a:t>‹#›</a:t>
            </a:fld>
            <a:endParaRPr lang="en-US"/>
          </a:p>
        </p:txBody>
      </p:sp>
    </p:spTree>
    <p:extLst>
      <p:ext uri="{BB962C8B-B14F-4D97-AF65-F5344CB8AC3E}">
        <p14:creationId xmlns:p14="http://schemas.microsoft.com/office/powerpoint/2010/main" val="2660662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3196D2-1F5A-8004-4986-574501A6CBB0}"/>
              </a:ext>
            </a:extLst>
          </p:cNvPr>
          <p:cNvSpPr>
            <a:spLocks noGrp="1"/>
          </p:cNvSpPr>
          <p:nvPr>
            <p:ph type="dt" sz="half" idx="10"/>
          </p:nvPr>
        </p:nvSpPr>
        <p:spPr/>
        <p:txBody>
          <a:bodyPr/>
          <a:lstStyle/>
          <a:p>
            <a:fld id="{6A1ABEA2-2F61-474D-BCF3-604266676711}" type="datetimeFigureOut">
              <a:rPr lang="en-US" smtClean="0"/>
              <a:t>4/10/2025</a:t>
            </a:fld>
            <a:endParaRPr lang="en-US"/>
          </a:p>
        </p:txBody>
      </p:sp>
      <p:sp>
        <p:nvSpPr>
          <p:cNvPr id="3" name="Footer Placeholder 2">
            <a:extLst>
              <a:ext uri="{FF2B5EF4-FFF2-40B4-BE49-F238E27FC236}">
                <a16:creationId xmlns:a16="http://schemas.microsoft.com/office/drawing/2014/main" id="{EBD8A611-C715-69A3-0D29-35E2648E06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AE8DB5-96F9-E789-7567-5710F6D9C5A5}"/>
              </a:ext>
            </a:extLst>
          </p:cNvPr>
          <p:cNvSpPr>
            <a:spLocks noGrp="1"/>
          </p:cNvSpPr>
          <p:nvPr>
            <p:ph type="sldNum" sz="quarter" idx="12"/>
          </p:nvPr>
        </p:nvSpPr>
        <p:spPr/>
        <p:txBody>
          <a:bodyPr/>
          <a:lstStyle/>
          <a:p>
            <a:fld id="{4CC6691D-B6ED-4025-9337-32EB93190DB8}" type="slidenum">
              <a:rPr lang="en-US" smtClean="0"/>
              <a:t>‹#›</a:t>
            </a:fld>
            <a:endParaRPr lang="en-US"/>
          </a:p>
        </p:txBody>
      </p:sp>
    </p:spTree>
    <p:extLst>
      <p:ext uri="{BB962C8B-B14F-4D97-AF65-F5344CB8AC3E}">
        <p14:creationId xmlns:p14="http://schemas.microsoft.com/office/powerpoint/2010/main" val="1200203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C5427-079D-0C49-B99E-6483E87FD6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885F81-AC52-AF9A-C0D5-B5A3CA5080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41CBF8-D2DC-1C7D-4809-E3A6D60912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FB7169-9B1F-597C-B3CC-3984007823E8}"/>
              </a:ext>
            </a:extLst>
          </p:cNvPr>
          <p:cNvSpPr>
            <a:spLocks noGrp="1"/>
          </p:cNvSpPr>
          <p:nvPr>
            <p:ph type="dt" sz="half" idx="10"/>
          </p:nvPr>
        </p:nvSpPr>
        <p:spPr/>
        <p:txBody>
          <a:bodyPr/>
          <a:lstStyle/>
          <a:p>
            <a:fld id="{6A1ABEA2-2F61-474D-BCF3-604266676711}" type="datetimeFigureOut">
              <a:rPr lang="en-US" smtClean="0"/>
              <a:t>4/10/2025</a:t>
            </a:fld>
            <a:endParaRPr lang="en-US"/>
          </a:p>
        </p:txBody>
      </p:sp>
      <p:sp>
        <p:nvSpPr>
          <p:cNvPr id="6" name="Footer Placeholder 5">
            <a:extLst>
              <a:ext uri="{FF2B5EF4-FFF2-40B4-BE49-F238E27FC236}">
                <a16:creationId xmlns:a16="http://schemas.microsoft.com/office/drawing/2014/main" id="{B2782008-1A30-6F3A-6EFA-65CA38253D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AB9DE0-B3D4-6014-286C-E1183F41FE89}"/>
              </a:ext>
            </a:extLst>
          </p:cNvPr>
          <p:cNvSpPr>
            <a:spLocks noGrp="1"/>
          </p:cNvSpPr>
          <p:nvPr>
            <p:ph type="sldNum" sz="quarter" idx="12"/>
          </p:nvPr>
        </p:nvSpPr>
        <p:spPr/>
        <p:txBody>
          <a:bodyPr/>
          <a:lstStyle/>
          <a:p>
            <a:fld id="{4CC6691D-B6ED-4025-9337-32EB93190DB8}" type="slidenum">
              <a:rPr lang="en-US" smtClean="0"/>
              <a:t>‹#›</a:t>
            </a:fld>
            <a:endParaRPr lang="en-US"/>
          </a:p>
        </p:txBody>
      </p:sp>
    </p:spTree>
    <p:extLst>
      <p:ext uri="{BB962C8B-B14F-4D97-AF65-F5344CB8AC3E}">
        <p14:creationId xmlns:p14="http://schemas.microsoft.com/office/powerpoint/2010/main" val="534658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BF321-5D3E-2191-6581-F6CC50E4D0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B68A9CD-7150-B28F-B355-B10EB59137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95592A-706A-1153-1DDF-C3CAA30518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BAB75E-D904-2F25-DF61-CF2966B13AAC}"/>
              </a:ext>
            </a:extLst>
          </p:cNvPr>
          <p:cNvSpPr>
            <a:spLocks noGrp="1"/>
          </p:cNvSpPr>
          <p:nvPr>
            <p:ph type="dt" sz="half" idx="10"/>
          </p:nvPr>
        </p:nvSpPr>
        <p:spPr/>
        <p:txBody>
          <a:bodyPr/>
          <a:lstStyle/>
          <a:p>
            <a:fld id="{6A1ABEA2-2F61-474D-BCF3-604266676711}" type="datetimeFigureOut">
              <a:rPr lang="en-US" smtClean="0"/>
              <a:t>4/10/2025</a:t>
            </a:fld>
            <a:endParaRPr lang="en-US"/>
          </a:p>
        </p:txBody>
      </p:sp>
      <p:sp>
        <p:nvSpPr>
          <p:cNvPr id="6" name="Footer Placeholder 5">
            <a:extLst>
              <a:ext uri="{FF2B5EF4-FFF2-40B4-BE49-F238E27FC236}">
                <a16:creationId xmlns:a16="http://schemas.microsoft.com/office/drawing/2014/main" id="{AE560090-CE88-B2E0-6537-6037AEFF1B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22FA7B-C427-C9CD-1C7C-667728421341}"/>
              </a:ext>
            </a:extLst>
          </p:cNvPr>
          <p:cNvSpPr>
            <a:spLocks noGrp="1"/>
          </p:cNvSpPr>
          <p:nvPr>
            <p:ph type="sldNum" sz="quarter" idx="12"/>
          </p:nvPr>
        </p:nvSpPr>
        <p:spPr/>
        <p:txBody>
          <a:bodyPr/>
          <a:lstStyle/>
          <a:p>
            <a:fld id="{4CC6691D-B6ED-4025-9337-32EB93190DB8}" type="slidenum">
              <a:rPr lang="en-US" smtClean="0"/>
              <a:t>‹#›</a:t>
            </a:fld>
            <a:endParaRPr lang="en-US"/>
          </a:p>
        </p:txBody>
      </p:sp>
    </p:spTree>
    <p:extLst>
      <p:ext uri="{BB962C8B-B14F-4D97-AF65-F5344CB8AC3E}">
        <p14:creationId xmlns:p14="http://schemas.microsoft.com/office/powerpoint/2010/main" val="358850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D382A-3CDC-F2A2-EEC7-DF2634E628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08DC48-D618-64D1-D9D4-9BB67DEFFB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20724-CE7B-1E09-F479-A03286EA362E}"/>
              </a:ext>
            </a:extLst>
          </p:cNvPr>
          <p:cNvSpPr>
            <a:spLocks noGrp="1"/>
          </p:cNvSpPr>
          <p:nvPr>
            <p:ph type="dt" sz="half" idx="10"/>
          </p:nvPr>
        </p:nvSpPr>
        <p:spPr/>
        <p:txBody>
          <a:bodyPr/>
          <a:lstStyle/>
          <a:p>
            <a:fld id="{6A1ABEA2-2F61-474D-BCF3-604266676711}" type="datetimeFigureOut">
              <a:rPr lang="en-US" smtClean="0"/>
              <a:t>4/10/2025</a:t>
            </a:fld>
            <a:endParaRPr lang="en-US"/>
          </a:p>
        </p:txBody>
      </p:sp>
      <p:sp>
        <p:nvSpPr>
          <p:cNvPr id="5" name="Footer Placeholder 4">
            <a:extLst>
              <a:ext uri="{FF2B5EF4-FFF2-40B4-BE49-F238E27FC236}">
                <a16:creationId xmlns:a16="http://schemas.microsoft.com/office/drawing/2014/main" id="{F7B5036D-7DE5-B438-51F0-8E8ED900F9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C34CF3-78AB-E1B8-C0FD-858BF068C1FC}"/>
              </a:ext>
            </a:extLst>
          </p:cNvPr>
          <p:cNvSpPr>
            <a:spLocks noGrp="1"/>
          </p:cNvSpPr>
          <p:nvPr>
            <p:ph type="sldNum" sz="quarter" idx="12"/>
          </p:nvPr>
        </p:nvSpPr>
        <p:spPr/>
        <p:txBody>
          <a:bodyPr/>
          <a:lstStyle/>
          <a:p>
            <a:fld id="{4CC6691D-B6ED-4025-9337-32EB93190DB8}" type="slidenum">
              <a:rPr lang="en-US" smtClean="0"/>
              <a:t>‹#›</a:t>
            </a:fld>
            <a:endParaRPr lang="en-US"/>
          </a:p>
        </p:txBody>
      </p:sp>
    </p:spTree>
    <p:extLst>
      <p:ext uri="{BB962C8B-B14F-4D97-AF65-F5344CB8AC3E}">
        <p14:creationId xmlns:p14="http://schemas.microsoft.com/office/powerpoint/2010/main" val="1705602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FE3265-361D-CC42-8089-6067C5181A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503059-C3F2-DF49-75DF-6CD4DFEE61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02AA01-EF31-31B6-B7F0-FFBD0BAA0C42}"/>
              </a:ext>
            </a:extLst>
          </p:cNvPr>
          <p:cNvSpPr>
            <a:spLocks noGrp="1"/>
          </p:cNvSpPr>
          <p:nvPr>
            <p:ph type="dt" sz="half" idx="10"/>
          </p:nvPr>
        </p:nvSpPr>
        <p:spPr/>
        <p:txBody>
          <a:bodyPr/>
          <a:lstStyle/>
          <a:p>
            <a:fld id="{6A1ABEA2-2F61-474D-BCF3-604266676711}" type="datetimeFigureOut">
              <a:rPr lang="en-US" smtClean="0"/>
              <a:t>4/10/2025</a:t>
            </a:fld>
            <a:endParaRPr lang="en-US"/>
          </a:p>
        </p:txBody>
      </p:sp>
      <p:sp>
        <p:nvSpPr>
          <p:cNvPr id="5" name="Footer Placeholder 4">
            <a:extLst>
              <a:ext uri="{FF2B5EF4-FFF2-40B4-BE49-F238E27FC236}">
                <a16:creationId xmlns:a16="http://schemas.microsoft.com/office/drawing/2014/main" id="{F745DDDD-292C-1A7F-BC12-2F40143691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9BAB18-25F2-C1E8-21F8-998D772EBE84}"/>
              </a:ext>
            </a:extLst>
          </p:cNvPr>
          <p:cNvSpPr>
            <a:spLocks noGrp="1"/>
          </p:cNvSpPr>
          <p:nvPr>
            <p:ph type="sldNum" sz="quarter" idx="12"/>
          </p:nvPr>
        </p:nvSpPr>
        <p:spPr/>
        <p:txBody>
          <a:bodyPr/>
          <a:lstStyle/>
          <a:p>
            <a:fld id="{4CC6691D-B6ED-4025-9337-32EB93190DB8}" type="slidenum">
              <a:rPr lang="en-US" smtClean="0"/>
              <a:t>‹#›</a:t>
            </a:fld>
            <a:endParaRPr lang="en-US"/>
          </a:p>
        </p:txBody>
      </p:sp>
    </p:spTree>
    <p:extLst>
      <p:ext uri="{BB962C8B-B14F-4D97-AF65-F5344CB8AC3E}">
        <p14:creationId xmlns:p14="http://schemas.microsoft.com/office/powerpoint/2010/main" val="2140407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A86C61-596B-9A44-BFDF-056C7BC741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71E712E-B575-01DB-14FC-D747A1EA2E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D6E872-7E3E-CEAD-AF7C-1EA387689B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1ABEA2-2F61-474D-BCF3-604266676711}" type="datetimeFigureOut">
              <a:rPr lang="en-US" smtClean="0"/>
              <a:t>4/10/2025</a:t>
            </a:fld>
            <a:endParaRPr lang="en-US"/>
          </a:p>
        </p:txBody>
      </p:sp>
      <p:sp>
        <p:nvSpPr>
          <p:cNvPr id="5" name="Footer Placeholder 4">
            <a:extLst>
              <a:ext uri="{FF2B5EF4-FFF2-40B4-BE49-F238E27FC236}">
                <a16:creationId xmlns:a16="http://schemas.microsoft.com/office/drawing/2014/main" id="{CE19C3BB-40CE-F991-282C-E9B19BF004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2D3B406-6538-DC4E-F94E-D242D4BE65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C6691D-B6ED-4025-9337-32EB93190DB8}" type="slidenum">
              <a:rPr lang="en-US" smtClean="0"/>
              <a:t>‹#›</a:t>
            </a:fld>
            <a:endParaRPr lang="en-US"/>
          </a:p>
        </p:txBody>
      </p:sp>
    </p:spTree>
    <p:extLst>
      <p:ext uri="{BB962C8B-B14F-4D97-AF65-F5344CB8AC3E}">
        <p14:creationId xmlns:p14="http://schemas.microsoft.com/office/powerpoint/2010/main" val="4218544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4B09D-2D69-4FB7-EBBA-FE229FFF2075}"/>
              </a:ext>
            </a:extLst>
          </p:cNvPr>
          <p:cNvSpPr>
            <a:spLocks noGrp="1"/>
          </p:cNvSpPr>
          <p:nvPr>
            <p:ph type="ctrTitle"/>
          </p:nvPr>
        </p:nvSpPr>
        <p:spPr/>
        <p:txBody>
          <a:bodyPr/>
          <a:lstStyle/>
          <a:p>
            <a:r>
              <a:rPr lang="en-US" b="1" dirty="0"/>
              <a:t>Use Case Generalization</a:t>
            </a:r>
          </a:p>
        </p:txBody>
      </p:sp>
      <p:sp>
        <p:nvSpPr>
          <p:cNvPr id="3" name="Subtitle 2">
            <a:extLst>
              <a:ext uri="{FF2B5EF4-FFF2-40B4-BE49-F238E27FC236}">
                <a16:creationId xmlns:a16="http://schemas.microsoft.com/office/drawing/2014/main" id="{C4228E8F-0D17-0D5B-4709-29495BA9016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63384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FE63F-F8C9-65D0-3112-26665E08FFFD}"/>
              </a:ext>
            </a:extLst>
          </p:cNvPr>
          <p:cNvSpPr>
            <a:spLocks noGrp="1"/>
          </p:cNvSpPr>
          <p:nvPr>
            <p:ph type="title"/>
          </p:nvPr>
        </p:nvSpPr>
        <p:spPr/>
        <p:txBody>
          <a:bodyPr/>
          <a:lstStyle/>
          <a:p>
            <a:r>
              <a:rPr lang="en-US" b="1" i="0" dirty="0">
                <a:solidFill>
                  <a:srgbClr val="14282E"/>
                </a:solidFill>
                <a:effectLst/>
                <a:latin typeface="Inter"/>
              </a:rPr>
              <a:t>Association Between Actor and Use Case</a:t>
            </a:r>
            <a:br>
              <a:rPr lang="en-US" b="1" i="0" dirty="0">
                <a:solidFill>
                  <a:srgbClr val="14282E"/>
                </a:solidFill>
                <a:effectLst/>
                <a:latin typeface="Inter"/>
              </a:rPr>
            </a:br>
            <a:endParaRPr lang="en-US" dirty="0"/>
          </a:p>
        </p:txBody>
      </p:sp>
      <p:sp>
        <p:nvSpPr>
          <p:cNvPr id="3" name="Content Placeholder 2">
            <a:extLst>
              <a:ext uri="{FF2B5EF4-FFF2-40B4-BE49-F238E27FC236}">
                <a16:creationId xmlns:a16="http://schemas.microsoft.com/office/drawing/2014/main" id="{BC22F3A7-23C5-6C3C-E080-765E5D83B2AA}"/>
              </a:ext>
            </a:extLst>
          </p:cNvPr>
          <p:cNvSpPr>
            <a:spLocks noGrp="1"/>
          </p:cNvSpPr>
          <p:nvPr>
            <p:ph idx="1"/>
          </p:nvPr>
        </p:nvSpPr>
        <p:spPr/>
        <p:txBody>
          <a:bodyPr/>
          <a:lstStyle/>
          <a:p>
            <a:pPr algn="l">
              <a:buFont typeface="Arial" panose="020B0604020202020204" pitchFamily="34" charset="0"/>
              <a:buChar char="•"/>
            </a:pPr>
            <a:r>
              <a:rPr lang="en-US" b="0" i="0" dirty="0">
                <a:solidFill>
                  <a:srgbClr val="404243"/>
                </a:solidFill>
                <a:effectLst/>
                <a:latin typeface="Inter"/>
              </a:rPr>
              <a:t>An actor must be associated with at least one use case.</a:t>
            </a:r>
          </a:p>
          <a:p>
            <a:pPr algn="l">
              <a:buFont typeface="Arial" panose="020B0604020202020204" pitchFamily="34" charset="0"/>
              <a:buChar char="•"/>
            </a:pPr>
            <a:r>
              <a:rPr lang="en-US" b="0" i="0" dirty="0">
                <a:solidFill>
                  <a:srgbClr val="404243"/>
                </a:solidFill>
                <a:effectLst/>
                <a:latin typeface="Inter"/>
              </a:rPr>
              <a:t>An actor can be associated with multiple use cases.</a:t>
            </a:r>
          </a:p>
          <a:p>
            <a:pPr algn="l">
              <a:buFont typeface="Arial" panose="020B0604020202020204" pitchFamily="34" charset="0"/>
              <a:buChar char="•"/>
            </a:pPr>
            <a:r>
              <a:rPr lang="en-US" b="0" i="0" dirty="0">
                <a:solidFill>
                  <a:srgbClr val="404243"/>
                </a:solidFill>
                <a:effectLst/>
                <a:latin typeface="Inter"/>
              </a:rPr>
              <a:t>Multiple actors can be associated with a single use case</a:t>
            </a:r>
          </a:p>
          <a:p>
            <a:endParaRPr lang="en-US" dirty="0"/>
          </a:p>
        </p:txBody>
      </p:sp>
      <p:pic>
        <p:nvPicPr>
          <p:cNvPr id="7" name="Picture 6">
            <a:extLst>
              <a:ext uri="{FF2B5EF4-FFF2-40B4-BE49-F238E27FC236}">
                <a16:creationId xmlns:a16="http://schemas.microsoft.com/office/drawing/2014/main" id="{A1F4BC46-B698-2419-B1C7-5C5B7B167ED4}"/>
              </a:ext>
            </a:extLst>
          </p:cNvPr>
          <p:cNvPicPr>
            <a:picLocks noChangeAspect="1"/>
          </p:cNvPicPr>
          <p:nvPr/>
        </p:nvPicPr>
        <p:blipFill>
          <a:blip r:embed="rId2"/>
          <a:stretch>
            <a:fillRect/>
          </a:stretch>
        </p:blipFill>
        <p:spPr>
          <a:xfrm>
            <a:off x="3342986" y="3680178"/>
            <a:ext cx="6470940" cy="2631722"/>
          </a:xfrm>
          <a:prstGeom prst="rect">
            <a:avLst/>
          </a:prstGeom>
        </p:spPr>
      </p:pic>
    </p:spTree>
    <p:extLst>
      <p:ext uri="{BB962C8B-B14F-4D97-AF65-F5344CB8AC3E}">
        <p14:creationId xmlns:p14="http://schemas.microsoft.com/office/powerpoint/2010/main" val="3472678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FE63F-F8C9-65D0-3112-26665E08FFFD}"/>
              </a:ext>
            </a:extLst>
          </p:cNvPr>
          <p:cNvSpPr>
            <a:spLocks noGrp="1"/>
          </p:cNvSpPr>
          <p:nvPr>
            <p:ph type="title"/>
          </p:nvPr>
        </p:nvSpPr>
        <p:spPr>
          <a:xfrm>
            <a:off x="838200" y="365125"/>
            <a:ext cx="10515600" cy="674727"/>
          </a:xfrm>
        </p:spPr>
        <p:txBody>
          <a:bodyPr>
            <a:normAutofit fontScale="90000"/>
          </a:bodyPr>
          <a:lstStyle/>
          <a:p>
            <a:pPr algn="l"/>
            <a:r>
              <a:rPr lang="en-US" b="1" i="0" dirty="0">
                <a:solidFill>
                  <a:srgbClr val="14282E"/>
                </a:solidFill>
                <a:effectLst/>
                <a:latin typeface="Inter"/>
              </a:rPr>
              <a:t>Generalization of an Actor</a:t>
            </a:r>
          </a:p>
        </p:txBody>
      </p:sp>
      <p:sp>
        <p:nvSpPr>
          <p:cNvPr id="3" name="Content Placeholder 2">
            <a:extLst>
              <a:ext uri="{FF2B5EF4-FFF2-40B4-BE49-F238E27FC236}">
                <a16:creationId xmlns:a16="http://schemas.microsoft.com/office/drawing/2014/main" id="{BC22F3A7-23C5-6C3C-E080-765E5D83B2AA}"/>
              </a:ext>
            </a:extLst>
          </p:cNvPr>
          <p:cNvSpPr>
            <a:spLocks noGrp="1"/>
          </p:cNvSpPr>
          <p:nvPr>
            <p:ph idx="1"/>
          </p:nvPr>
        </p:nvSpPr>
        <p:spPr>
          <a:xfrm>
            <a:off x="838200" y="1215342"/>
            <a:ext cx="10515600" cy="5555848"/>
          </a:xfrm>
        </p:spPr>
        <p:txBody>
          <a:bodyPr/>
          <a:lstStyle/>
          <a:p>
            <a:pPr algn="l">
              <a:buFont typeface="Arial" panose="020B0604020202020204" pitchFamily="34" charset="0"/>
              <a:buChar char="•"/>
            </a:pPr>
            <a:r>
              <a:rPr lang="en-US" b="0" i="0" dirty="0">
                <a:solidFill>
                  <a:srgbClr val="404243"/>
                </a:solidFill>
                <a:effectLst/>
                <a:latin typeface="Inter"/>
              </a:rPr>
              <a:t>Generalization of an actor means that one actor can inherit the role of the other actor. The descendant inherits all the use cases of the ancestor. The descendant has one or more use cases that are specific to that role. Let’s expand the previous use case diagram to show the generalization of an actor.</a:t>
            </a:r>
            <a:endParaRPr lang="en-US" dirty="0"/>
          </a:p>
        </p:txBody>
      </p:sp>
      <p:pic>
        <p:nvPicPr>
          <p:cNvPr id="5" name="Picture 4">
            <a:extLst>
              <a:ext uri="{FF2B5EF4-FFF2-40B4-BE49-F238E27FC236}">
                <a16:creationId xmlns:a16="http://schemas.microsoft.com/office/drawing/2014/main" id="{83DB14EA-6DCD-6D8C-EE4B-0D48C4B9C635}"/>
              </a:ext>
            </a:extLst>
          </p:cNvPr>
          <p:cNvPicPr>
            <a:picLocks noChangeAspect="1"/>
          </p:cNvPicPr>
          <p:nvPr/>
        </p:nvPicPr>
        <p:blipFill>
          <a:blip r:embed="rId2"/>
          <a:stretch>
            <a:fillRect/>
          </a:stretch>
        </p:blipFill>
        <p:spPr>
          <a:xfrm>
            <a:off x="5000264" y="2965972"/>
            <a:ext cx="6353536" cy="3619500"/>
          </a:xfrm>
          <a:prstGeom prst="rect">
            <a:avLst/>
          </a:prstGeom>
        </p:spPr>
      </p:pic>
    </p:spTree>
    <p:extLst>
      <p:ext uri="{BB962C8B-B14F-4D97-AF65-F5344CB8AC3E}">
        <p14:creationId xmlns:p14="http://schemas.microsoft.com/office/powerpoint/2010/main" val="2027788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FE63F-F8C9-65D0-3112-26665E08FFFD}"/>
              </a:ext>
            </a:extLst>
          </p:cNvPr>
          <p:cNvSpPr>
            <a:spLocks noGrp="1"/>
          </p:cNvSpPr>
          <p:nvPr>
            <p:ph type="title"/>
          </p:nvPr>
        </p:nvSpPr>
        <p:spPr>
          <a:xfrm>
            <a:off x="838200" y="365125"/>
            <a:ext cx="10515600" cy="674727"/>
          </a:xfrm>
        </p:spPr>
        <p:txBody>
          <a:bodyPr>
            <a:normAutofit fontScale="90000"/>
          </a:bodyPr>
          <a:lstStyle/>
          <a:p>
            <a:pPr algn="l"/>
            <a:r>
              <a:rPr lang="en-US" b="1" i="0" dirty="0">
                <a:solidFill>
                  <a:srgbClr val="14282E"/>
                </a:solidFill>
                <a:effectLst/>
                <a:latin typeface="Inter"/>
              </a:rPr>
              <a:t>Generalization of an Actor</a:t>
            </a:r>
          </a:p>
        </p:txBody>
      </p:sp>
      <p:sp>
        <p:nvSpPr>
          <p:cNvPr id="3" name="Content Placeholder 2">
            <a:extLst>
              <a:ext uri="{FF2B5EF4-FFF2-40B4-BE49-F238E27FC236}">
                <a16:creationId xmlns:a16="http://schemas.microsoft.com/office/drawing/2014/main" id="{BC22F3A7-23C5-6C3C-E080-765E5D83B2AA}"/>
              </a:ext>
            </a:extLst>
          </p:cNvPr>
          <p:cNvSpPr>
            <a:spLocks noGrp="1"/>
          </p:cNvSpPr>
          <p:nvPr>
            <p:ph idx="1"/>
          </p:nvPr>
        </p:nvSpPr>
        <p:spPr>
          <a:xfrm>
            <a:off x="838200" y="1215342"/>
            <a:ext cx="10515600" cy="5555848"/>
          </a:xfrm>
        </p:spPr>
        <p:txBody>
          <a:bodyPr/>
          <a:lstStyle/>
          <a:p>
            <a:pPr marL="0" indent="0" algn="l">
              <a:buNone/>
            </a:pPr>
            <a:r>
              <a:rPr lang="en-US" b="0" i="0" dirty="0">
                <a:solidFill>
                  <a:srgbClr val="070C0F"/>
                </a:solidFill>
                <a:effectLst/>
                <a:latin typeface="guardian-text-oreilly"/>
              </a:rPr>
              <a:t>Figure</a:t>
            </a:r>
            <a:r>
              <a:rPr lang="en-US" b="0" i="0" dirty="0">
                <a:solidFill>
                  <a:srgbClr val="333333"/>
                </a:solidFill>
                <a:effectLst/>
                <a:latin typeface="guardian-text-oreilly"/>
              </a:rPr>
              <a:t> shows that project managers, resource managers, and system administrators may log in and out of the project management system. Thus, logging in and out is common to these actors. Actor generalizations address such situations by factoring out and reusing similarities between actors</a:t>
            </a:r>
            <a:endParaRPr lang="en-US" dirty="0"/>
          </a:p>
        </p:txBody>
      </p:sp>
      <p:pic>
        <p:nvPicPr>
          <p:cNvPr id="6" name="Picture 5">
            <a:extLst>
              <a:ext uri="{FF2B5EF4-FFF2-40B4-BE49-F238E27FC236}">
                <a16:creationId xmlns:a16="http://schemas.microsoft.com/office/drawing/2014/main" id="{83A0D9C2-C5A2-DB9F-BBEA-A03DC4A98B48}"/>
              </a:ext>
            </a:extLst>
          </p:cNvPr>
          <p:cNvPicPr>
            <a:picLocks noChangeAspect="1"/>
          </p:cNvPicPr>
          <p:nvPr/>
        </p:nvPicPr>
        <p:blipFill>
          <a:blip r:embed="rId2"/>
          <a:stretch>
            <a:fillRect/>
          </a:stretch>
        </p:blipFill>
        <p:spPr>
          <a:xfrm>
            <a:off x="6551271" y="3109095"/>
            <a:ext cx="4350574" cy="3383780"/>
          </a:xfrm>
          <a:prstGeom prst="rect">
            <a:avLst/>
          </a:prstGeom>
        </p:spPr>
      </p:pic>
    </p:spTree>
    <p:extLst>
      <p:ext uri="{BB962C8B-B14F-4D97-AF65-F5344CB8AC3E}">
        <p14:creationId xmlns:p14="http://schemas.microsoft.com/office/powerpoint/2010/main" val="3335117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FE63F-F8C9-65D0-3112-26665E08FFFD}"/>
              </a:ext>
            </a:extLst>
          </p:cNvPr>
          <p:cNvSpPr>
            <a:spLocks noGrp="1"/>
          </p:cNvSpPr>
          <p:nvPr>
            <p:ph type="title"/>
          </p:nvPr>
        </p:nvSpPr>
        <p:spPr>
          <a:xfrm>
            <a:off x="838200" y="365125"/>
            <a:ext cx="10515600" cy="674727"/>
          </a:xfrm>
        </p:spPr>
        <p:txBody>
          <a:bodyPr>
            <a:normAutofit fontScale="90000"/>
          </a:bodyPr>
          <a:lstStyle/>
          <a:p>
            <a:pPr algn="l"/>
            <a:r>
              <a:rPr lang="en-US" b="1" i="0" dirty="0">
                <a:solidFill>
                  <a:srgbClr val="14282E"/>
                </a:solidFill>
                <a:effectLst/>
                <a:latin typeface="Inter"/>
              </a:rPr>
              <a:t>Generalization of an Actor</a:t>
            </a:r>
          </a:p>
        </p:txBody>
      </p:sp>
      <p:sp>
        <p:nvSpPr>
          <p:cNvPr id="3" name="Content Placeholder 2">
            <a:extLst>
              <a:ext uri="{FF2B5EF4-FFF2-40B4-BE49-F238E27FC236}">
                <a16:creationId xmlns:a16="http://schemas.microsoft.com/office/drawing/2014/main" id="{BC22F3A7-23C5-6C3C-E080-765E5D83B2AA}"/>
              </a:ext>
            </a:extLst>
          </p:cNvPr>
          <p:cNvSpPr>
            <a:spLocks noGrp="1"/>
          </p:cNvSpPr>
          <p:nvPr>
            <p:ph idx="1"/>
          </p:nvPr>
        </p:nvSpPr>
        <p:spPr>
          <a:xfrm>
            <a:off x="838200" y="1215342"/>
            <a:ext cx="10515600" cy="5555848"/>
          </a:xfrm>
        </p:spPr>
        <p:txBody>
          <a:bodyPr>
            <a:normAutofit/>
          </a:bodyPr>
          <a:lstStyle/>
          <a:p>
            <a:pPr marL="0" indent="0" algn="l">
              <a:buNone/>
            </a:pPr>
            <a:r>
              <a:rPr lang="en-US" sz="2000" b="0" i="0" dirty="0">
                <a:solidFill>
                  <a:srgbClr val="070C0F"/>
                </a:solidFill>
                <a:effectLst/>
                <a:latin typeface="guardian-text-oreilly"/>
              </a:rPr>
              <a:t>Use an actor generalization between actors when one actor is similar to another, but has specific interactions in which it participates or initiates. For example, any human resource may log in and out, but project managers, resources managers, and system administrators make more specialized use of the project management system. Because the Project Manager, Resource Manager, and System Administrator actors are specialized Human Resource actors, they benefit from the use cases in which the Human Resource actor is involved. Therefore, by developing the Login and Logout use cases, we provide the functionality described by those use cases for all the actors of our system.</a:t>
            </a:r>
            <a:endParaRPr lang="en-US" sz="2000" dirty="0"/>
          </a:p>
        </p:txBody>
      </p:sp>
      <p:pic>
        <p:nvPicPr>
          <p:cNvPr id="5" name="Picture 4">
            <a:extLst>
              <a:ext uri="{FF2B5EF4-FFF2-40B4-BE49-F238E27FC236}">
                <a16:creationId xmlns:a16="http://schemas.microsoft.com/office/drawing/2014/main" id="{8F619041-DFB9-A782-6215-0FB06C85A9B2}"/>
              </a:ext>
            </a:extLst>
          </p:cNvPr>
          <p:cNvPicPr>
            <a:picLocks noChangeAspect="1"/>
          </p:cNvPicPr>
          <p:nvPr/>
        </p:nvPicPr>
        <p:blipFill>
          <a:blip r:embed="rId2"/>
          <a:stretch>
            <a:fillRect/>
          </a:stretch>
        </p:blipFill>
        <p:spPr>
          <a:xfrm>
            <a:off x="5499301" y="3186012"/>
            <a:ext cx="6030162" cy="3306863"/>
          </a:xfrm>
          <a:prstGeom prst="rect">
            <a:avLst/>
          </a:prstGeom>
        </p:spPr>
      </p:pic>
    </p:spTree>
    <p:extLst>
      <p:ext uri="{BB962C8B-B14F-4D97-AF65-F5344CB8AC3E}">
        <p14:creationId xmlns:p14="http://schemas.microsoft.com/office/powerpoint/2010/main" val="1984525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FE63F-F8C9-65D0-3112-26665E08FFFD}"/>
              </a:ext>
            </a:extLst>
          </p:cNvPr>
          <p:cNvSpPr>
            <a:spLocks noGrp="1"/>
          </p:cNvSpPr>
          <p:nvPr>
            <p:ph type="title"/>
          </p:nvPr>
        </p:nvSpPr>
        <p:spPr>
          <a:xfrm>
            <a:off x="838200" y="365125"/>
            <a:ext cx="10515600" cy="674727"/>
          </a:xfrm>
        </p:spPr>
        <p:txBody>
          <a:bodyPr>
            <a:normAutofit fontScale="90000"/>
          </a:bodyPr>
          <a:lstStyle/>
          <a:p>
            <a:pPr algn="l"/>
            <a:r>
              <a:rPr lang="en-US" b="1" i="0" dirty="0">
                <a:solidFill>
                  <a:srgbClr val="14282E"/>
                </a:solidFill>
                <a:effectLst/>
                <a:latin typeface="Inter"/>
              </a:rPr>
              <a:t>Extend Relationship Between Two Use Cases</a:t>
            </a:r>
          </a:p>
        </p:txBody>
      </p:sp>
      <p:sp>
        <p:nvSpPr>
          <p:cNvPr id="3" name="Content Placeholder 2">
            <a:extLst>
              <a:ext uri="{FF2B5EF4-FFF2-40B4-BE49-F238E27FC236}">
                <a16:creationId xmlns:a16="http://schemas.microsoft.com/office/drawing/2014/main" id="{BC22F3A7-23C5-6C3C-E080-765E5D83B2AA}"/>
              </a:ext>
            </a:extLst>
          </p:cNvPr>
          <p:cNvSpPr>
            <a:spLocks noGrp="1"/>
          </p:cNvSpPr>
          <p:nvPr>
            <p:ph idx="1"/>
          </p:nvPr>
        </p:nvSpPr>
        <p:spPr>
          <a:xfrm>
            <a:off x="838200" y="1215342"/>
            <a:ext cx="10515600" cy="5555848"/>
          </a:xfrm>
        </p:spPr>
        <p:txBody>
          <a:bodyPr>
            <a:normAutofit/>
          </a:bodyPr>
          <a:lstStyle/>
          <a:p>
            <a:pPr algn="l">
              <a:buFont typeface="Arial" panose="020B0604020202020204" pitchFamily="34" charset="0"/>
              <a:buChar char="•"/>
            </a:pPr>
            <a:r>
              <a:rPr lang="en-US" b="0" i="0" dirty="0">
                <a:solidFill>
                  <a:srgbClr val="404243"/>
                </a:solidFill>
                <a:effectLst/>
                <a:latin typeface="Inter"/>
              </a:rPr>
              <a:t>Many people confuse the extend relationship in use cases. As the name implies it extends the base use case and adds more functionality to the system. Here are a few things to consider when using the &lt;&lt;extend&gt;&gt; relationship.</a:t>
            </a:r>
          </a:p>
          <a:p>
            <a:pPr algn="l">
              <a:buFont typeface="Arial" panose="020B0604020202020204" pitchFamily="34" charset="0"/>
              <a:buChar char="•"/>
            </a:pPr>
            <a:r>
              <a:rPr lang="en-US" b="0" i="0" dirty="0">
                <a:solidFill>
                  <a:srgbClr val="404243"/>
                </a:solidFill>
                <a:effectLst/>
                <a:latin typeface="Inter"/>
              </a:rPr>
              <a:t>The extending use case is dependent on the extended (base) use case. In the below diagram the “Calculate Bonus” use case doesn’t make much sense without the “Deposit Funds” use case.</a:t>
            </a:r>
          </a:p>
          <a:p>
            <a:pPr algn="l">
              <a:buFont typeface="Arial" panose="020B0604020202020204" pitchFamily="34" charset="0"/>
              <a:buChar char="•"/>
            </a:pPr>
            <a:r>
              <a:rPr lang="en-US" b="0" i="0" dirty="0">
                <a:solidFill>
                  <a:srgbClr val="404243"/>
                </a:solidFill>
                <a:effectLst/>
                <a:latin typeface="Inter"/>
              </a:rPr>
              <a:t>The extending use case is usually optional and can be triggered conditionally. In the diagram, you can see that the extending use case is triggered only for deposits over 10,000 or when the age is over 55.</a:t>
            </a:r>
          </a:p>
          <a:p>
            <a:pPr algn="l">
              <a:buFont typeface="Arial" panose="020B0604020202020204" pitchFamily="34" charset="0"/>
              <a:buChar char="•"/>
            </a:pPr>
            <a:r>
              <a:rPr lang="en-US" b="0" i="0" dirty="0">
                <a:solidFill>
                  <a:srgbClr val="404243"/>
                </a:solidFill>
                <a:effectLst/>
                <a:latin typeface="Inter"/>
              </a:rPr>
              <a:t>The extended (base) use case must be meaningful on its own. This means it should be independent and must not rely on the behavior of the extending use case.</a:t>
            </a:r>
            <a:endParaRPr lang="en-US" dirty="0"/>
          </a:p>
        </p:txBody>
      </p:sp>
    </p:spTree>
    <p:extLst>
      <p:ext uri="{BB962C8B-B14F-4D97-AF65-F5344CB8AC3E}">
        <p14:creationId xmlns:p14="http://schemas.microsoft.com/office/powerpoint/2010/main" val="2831736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FE63F-F8C9-65D0-3112-26665E08FFFD}"/>
              </a:ext>
            </a:extLst>
          </p:cNvPr>
          <p:cNvSpPr>
            <a:spLocks noGrp="1"/>
          </p:cNvSpPr>
          <p:nvPr>
            <p:ph type="title"/>
          </p:nvPr>
        </p:nvSpPr>
        <p:spPr>
          <a:xfrm>
            <a:off x="838200" y="365125"/>
            <a:ext cx="10515600" cy="674727"/>
          </a:xfrm>
        </p:spPr>
        <p:txBody>
          <a:bodyPr>
            <a:normAutofit fontScale="90000"/>
          </a:bodyPr>
          <a:lstStyle/>
          <a:p>
            <a:pPr algn="l"/>
            <a:r>
              <a:rPr lang="en-US" b="1" i="0" dirty="0">
                <a:solidFill>
                  <a:srgbClr val="14282E"/>
                </a:solidFill>
                <a:effectLst/>
                <a:latin typeface="Inter"/>
              </a:rPr>
              <a:t>Extend Relationship Between Two Use Cases</a:t>
            </a:r>
          </a:p>
        </p:txBody>
      </p:sp>
      <p:pic>
        <p:nvPicPr>
          <p:cNvPr id="5" name="Content Placeholder 4">
            <a:extLst>
              <a:ext uri="{FF2B5EF4-FFF2-40B4-BE49-F238E27FC236}">
                <a16:creationId xmlns:a16="http://schemas.microsoft.com/office/drawing/2014/main" id="{89707021-1CF2-34AE-1D46-CFB757D814E1}"/>
              </a:ext>
            </a:extLst>
          </p:cNvPr>
          <p:cNvPicPr>
            <a:picLocks noGrp="1" noChangeAspect="1"/>
          </p:cNvPicPr>
          <p:nvPr>
            <p:ph idx="1"/>
          </p:nvPr>
        </p:nvPicPr>
        <p:blipFill>
          <a:blip r:embed="rId2"/>
          <a:stretch>
            <a:fillRect/>
          </a:stretch>
        </p:blipFill>
        <p:spPr>
          <a:xfrm>
            <a:off x="1802650" y="1699901"/>
            <a:ext cx="7580842" cy="5158099"/>
          </a:xfrm>
        </p:spPr>
      </p:pic>
    </p:spTree>
    <p:extLst>
      <p:ext uri="{BB962C8B-B14F-4D97-AF65-F5344CB8AC3E}">
        <p14:creationId xmlns:p14="http://schemas.microsoft.com/office/powerpoint/2010/main" val="2821296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FE63F-F8C9-65D0-3112-26665E08FFFD}"/>
              </a:ext>
            </a:extLst>
          </p:cNvPr>
          <p:cNvSpPr>
            <a:spLocks noGrp="1"/>
          </p:cNvSpPr>
          <p:nvPr>
            <p:ph type="title"/>
          </p:nvPr>
        </p:nvSpPr>
        <p:spPr>
          <a:xfrm>
            <a:off x="838200" y="365125"/>
            <a:ext cx="10515600" cy="674727"/>
          </a:xfrm>
        </p:spPr>
        <p:txBody>
          <a:bodyPr>
            <a:normAutofit fontScale="90000"/>
          </a:bodyPr>
          <a:lstStyle/>
          <a:p>
            <a:pPr algn="l"/>
            <a:r>
              <a:rPr lang="en-US" b="1" i="0" dirty="0">
                <a:solidFill>
                  <a:srgbClr val="14282E"/>
                </a:solidFill>
                <a:effectLst/>
                <a:latin typeface="Inter"/>
              </a:rPr>
              <a:t>Include Relationship Between Two Use Cases</a:t>
            </a:r>
          </a:p>
        </p:txBody>
      </p:sp>
      <p:sp>
        <p:nvSpPr>
          <p:cNvPr id="3" name="Content Placeholder 2">
            <a:extLst>
              <a:ext uri="{FF2B5EF4-FFF2-40B4-BE49-F238E27FC236}">
                <a16:creationId xmlns:a16="http://schemas.microsoft.com/office/drawing/2014/main" id="{BC22F3A7-23C5-6C3C-E080-765E5D83B2AA}"/>
              </a:ext>
            </a:extLst>
          </p:cNvPr>
          <p:cNvSpPr>
            <a:spLocks noGrp="1"/>
          </p:cNvSpPr>
          <p:nvPr>
            <p:ph idx="1"/>
          </p:nvPr>
        </p:nvSpPr>
        <p:spPr>
          <a:xfrm>
            <a:off x="838200" y="1215342"/>
            <a:ext cx="10515600" cy="5555848"/>
          </a:xfrm>
        </p:spPr>
        <p:txBody>
          <a:bodyPr>
            <a:normAutofit/>
          </a:bodyPr>
          <a:lstStyle/>
          <a:p>
            <a:pPr algn="l"/>
            <a:r>
              <a:rPr lang="en-US" b="0" i="0" dirty="0">
                <a:solidFill>
                  <a:srgbClr val="404243"/>
                </a:solidFill>
                <a:effectLst/>
                <a:latin typeface="Inter"/>
              </a:rPr>
              <a:t>Include relationship show that the behavior of the included use case is part of the including (base) use case. The main reason for this is to reuse common actions across multiple use cases. In some situations, this is done to simplify complex behaviors. Few things to consider when using the &lt;&lt;include&gt;&gt; relationship.</a:t>
            </a:r>
          </a:p>
          <a:p>
            <a:pPr algn="l">
              <a:buFont typeface="Arial" panose="020B0604020202020204" pitchFamily="34" charset="0"/>
              <a:buChar char="•"/>
            </a:pPr>
            <a:r>
              <a:rPr lang="en-US" b="0" i="0" dirty="0">
                <a:solidFill>
                  <a:srgbClr val="404243"/>
                </a:solidFill>
                <a:effectLst/>
                <a:latin typeface="Inter"/>
              </a:rPr>
              <a:t>The base use case is incomplete without the included use case.</a:t>
            </a:r>
          </a:p>
          <a:p>
            <a:pPr algn="l">
              <a:buFont typeface="Arial" panose="020B0604020202020204" pitchFamily="34" charset="0"/>
              <a:buChar char="•"/>
            </a:pPr>
            <a:r>
              <a:rPr lang="en-US" b="0" i="0" dirty="0">
                <a:solidFill>
                  <a:srgbClr val="404243"/>
                </a:solidFill>
                <a:effectLst/>
                <a:latin typeface="Inter"/>
              </a:rPr>
              <a:t>The included use case is mandatory and not optional.</a:t>
            </a:r>
          </a:p>
        </p:txBody>
      </p:sp>
    </p:spTree>
    <p:extLst>
      <p:ext uri="{BB962C8B-B14F-4D97-AF65-F5344CB8AC3E}">
        <p14:creationId xmlns:p14="http://schemas.microsoft.com/office/powerpoint/2010/main" val="2757632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FE63F-F8C9-65D0-3112-26665E08FFFD}"/>
              </a:ext>
            </a:extLst>
          </p:cNvPr>
          <p:cNvSpPr>
            <a:spLocks noGrp="1"/>
          </p:cNvSpPr>
          <p:nvPr>
            <p:ph type="title"/>
          </p:nvPr>
        </p:nvSpPr>
        <p:spPr>
          <a:xfrm>
            <a:off x="838200" y="365125"/>
            <a:ext cx="10515600" cy="674727"/>
          </a:xfrm>
        </p:spPr>
        <p:txBody>
          <a:bodyPr>
            <a:normAutofit fontScale="90000"/>
          </a:bodyPr>
          <a:lstStyle/>
          <a:p>
            <a:pPr algn="l"/>
            <a:r>
              <a:rPr lang="en-US" b="1" i="0" dirty="0">
                <a:solidFill>
                  <a:srgbClr val="14282E"/>
                </a:solidFill>
                <a:effectLst/>
                <a:latin typeface="Inter"/>
              </a:rPr>
              <a:t>Include Relationship Between Two Use Cases</a:t>
            </a:r>
          </a:p>
        </p:txBody>
      </p:sp>
      <p:pic>
        <p:nvPicPr>
          <p:cNvPr id="5" name="Content Placeholder 4">
            <a:extLst>
              <a:ext uri="{FF2B5EF4-FFF2-40B4-BE49-F238E27FC236}">
                <a16:creationId xmlns:a16="http://schemas.microsoft.com/office/drawing/2014/main" id="{B0CA4F61-326D-1C5F-6D7B-CE5231F567DD}"/>
              </a:ext>
            </a:extLst>
          </p:cNvPr>
          <p:cNvPicPr>
            <a:picLocks noGrp="1" noChangeAspect="1"/>
          </p:cNvPicPr>
          <p:nvPr>
            <p:ph idx="1"/>
          </p:nvPr>
        </p:nvPicPr>
        <p:blipFill>
          <a:blip r:embed="rId2"/>
          <a:stretch>
            <a:fillRect/>
          </a:stretch>
        </p:blipFill>
        <p:spPr>
          <a:xfrm>
            <a:off x="3171825" y="1402556"/>
            <a:ext cx="5848350" cy="5181600"/>
          </a:xfrm>
        </p:spPr>
      </p:pic>
    </p:spTree>
    <p:extLst>
      <p:ext uri="{BB962C8B-B14F-4D97-AF65-F5344CB8AC3E}">
        <p14:creationId xmlns:p14="http://schemas.microsoft.com/office/powerpoint/2010/main" val="3992805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FE63F-F8C9-65D0-3112-26665E08FFFD}"/>
              </a:ext>
            </a:extLst>
          </p:cNvPr>
          <p:cNvSpPr>
            <a:spLocks noGrp="1"/>
          </p:cNvSpPr>
          <p:nvPr>
            <p:ph type="title"/>
          </p:nvPr>
        </p:nvSpPr>
        <p:spPr>
          <a:xfrm>
            <a:off x="838200" y="365125"/>
            <a:ext cx="10515600" cy="674727"/>
          </a:xfrm>
        </p:spPr>
        <p:txBody>
          <a:bodyPr>
            <a:normAutofit fontScale="90000"/>
          </a:bodyPr>
          <a:lstStyle/>
          <a:p>
            <a:pPr algn="l" fontAlgn="base"/>
            <a:r>
              <a:rPr lang="en-US" b="0" i="0" dirty="0">
                <a:solidFill>
                  <a:srgbClr val="3D3B49"/>
                </a:solidFill>
                <a:effectLst/>
                <a:latin typeface="gilroy"/>
              </a:rPr>
              <a:t>Use-Case Generalizations</a:t>
            </a:r>
          </a:p>
        </p:txBody>
      </p:sp>
      <p:sp>
        <p:nvSpPr>
          <p:cNvPr id="4" name="Content Placeholder 3">
            <a:extLst>
              <a:ext uri="{FF2B5EF4-FFF2-40B4-BE49-F238E27FC236}">
                <a16:creationId xmlns:a16="http://schemas.microsoft.com/office/drawing/2014/main" id="{967F9EB3-9FD9-CB85-63F3-B2DDE6EBED0C}"/>
              </a:ext>
            </a:extLst>
          </p:cNvPr>
          <p:cNvSpPr>
            <a:spLocks noGrp="1"/>
          </p:cNvSpPr>
          <p:nvPr>
            <p:ph idx="1"/>
          </p:nvPr>
        </p:nvSpPr>
        <p:spPr>
          <a:xfrm>
            <a:off x="476956" y="1148292"/>
            <a:ext cx="10515600" cy="4351338"/>
          </a:xfrm>
        </p:spPr>
        <p:txBody>
          <a:bodyPr/>
          <a:lstStyle/>
          <a:p>
            <a:r>
              <a:rPr lang="en-US" dirty="0">
                <a:solidFill>
                  <a:srgbClr val="070C0F"/>
                </a:solidFill>
                <a:latin typeface="guardian-text-oreilly"/>
              </a:rPr>
              <a:t>Figure </a:t>
            </a:r>
            <a:r>
              <a:rPr lang="en-US" b="0" i="0" dirty="0">
                <a:solidFill>
                  <a:srgbClr val="333333"/>
                </a:solidFill>
                <a:effectLst/>
                <a:latin typeface="guardian-text-oreilly"/>
              </a:rPr>
              <a:t> shows that a project manager may publish a project’s status in two ways: by generating a report to a printer or by generating a web site on a project web server. Thus, publishing a project’s status and all the processing involved in collecting and preparing the data for publication is common to these use cases. You can use a use-case generalization to address this situation by factoring out and reusing similar behavior from multiple use cases.</a:t>
            </a:r>
            <a:endParaRPr lang="en-US" dirty="0"/>
          </a:p>
          <a:p>
            <a:endParaRPr lang="en-US" dirty="0"/>
          </a:p>
        </p:txBody>
      </p:sp>
      <p:pic>
        <p:nvPicPr>
          <p:cNvPr id="9" name="Picture 8">
            <a:extLst>
              <a:ext uri="{FF2B5EF4-FFF2-40B4-BE49-F238E27FC236}">
                <a16:creationId xmlns:a16="http://schemas.microsoft.com/office/drawing/2014/main" id="{82CB9B08-F954-6229-65FD-5824D87F897A}"/>
              </a:ext>
            </a:extLst>
          </p:cNvPr>
          <p:cNvPicPr>
            <a:picLocks noChangeAspect="1"/>
          </p:cNvPicPr>
          <p:nvPr/>
        </p:nvPicPr>
        <p:blipFill>
          <a:blip r:embed="rId2"/>
          <a:stretch>
            <a:fillRect/>
          </a:stretch>
        </p:blipFill>
        <p:spPr>
          <a:xfrm>
            <a:off x="6250328" y="3680355"/>
            <a:ext cx="4896091" cy="3177645"/>
          </a:xfrm>
          <a:prstGeom prst="rect">
            <a:avLst/>
          </a:prstGeom>
        </p:spPr>
      </p:pic>
    </p:spTree>
    <p:extLst>
      <p:ext uri="{BB962C8B-B14F-4D97-AF65-F5344CB8AC3E}">
        <p14:creationId xmlns:p14="http://schemas.microsoft.com/office/powerpoint/2010/main" val="2963571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FE63F-F8C9-65D0-3112-26665E08FFFD}"/>
              </a:ext>
            </a:extLst>
          </p:cNvPr>
          <p:cNvSpPr>
            <a:spLocks noGrp="1"/>
          </p:cNvSpPr>
          <p:nvPr>
            <p:ph type="title"/>
          </p:nvPr>
        </p:nvSpPr>
        <p:spPr>
          <a:xfrm>
            <a:off x="838200" y="365125"/>
            <a:ext cx="10515600" cy="674727"/>
          </a:xfrm>
        </p:spPr>
        <p:txBody>
          <a:bodyPr>
            <a:normAutofit fontScale="90000"/>
          </a:bodyPr>
          <a:lstStyle/>
          <a:p>
            <a:pPr algn="l" fontAlgn="base"/>
            <a:r>
              <a:rPr lang="en-US" b="0" i="0" dirty="0">
                <a:solidFill>
                  <a:srgbClr val="3D3B49"/>
                </a:solidFill>
                <a:effectLst/>
                <a:latin typeface="gilroy"/>
              </a:rPr>
              <a:t>Use-Case Generalizations</a:t>
            </a:r>
          </a:p>
        </p:txBody>
      </p:sp>
      <p:sp>
        <p:nvSpPr>
          <p:cNvPr id="4" name="Content Placeholder 3">
            <a:extLst>
              <a:ext uri="{FF2B5EF4-FFF2-40B4-BE49-F238E27FC236}">
                <a16:creationId xmlns:a16="http://schemas.microsoft.com/office/drawing/2014/main" id="{967F9EB3-9FD9-CB85-63F3-B2DDE6EBED0C}"/>
              </a:ext>
            </a:extLst>
          </p:cNvPr>
          <p:cNvSpPr>
            <a:spLocks noGrp="1"/>
          </p:cNvSpPr>
          <p:nvPr>
            <p:ph idx="1"/>
          </p:nvPr>
        </p:nvSpPr>
        <p:spPr>
          <a:xfrm>
            <a:off x="476956" y="1148292"/>
            <a:ext cx="10515600" cy="4351338"/>
          </a:xfrm>
        </p:spPr>
        <p:txBody>
          <a:bodyPr>
            <a:normAutofit/>
          </a:bodyPr>
          <a:lstStyle/>
          <a:p>
            <a:r>
              <a:rPr lang="en-US" sz="2000" dirty="0">
                <a:solidFill>
                  <a:srgbClr val="070C0F"/>
                </a:solidFill>
                <a:latin typeface="guardian-text-oreilly"/>
              </a:rPr>
              <a:t>You can use a use-case generalization between use cases when a more specific use case is similar to a more general use case but involves other actors or has specialized behavior. For example, a project manager may publish a project’s status using a report or a web site, but a printer is involved only if a report is generated, and a project web server is involved only if a web site is generated. Because the Generate Report and Generate Website use cases specialize the Publish Status use case, Publish Status must be developed before the other use cases; otherwise, the other use cases won’t have a use case to specialize.</a:t>
            </a:r>
            <a:endParaRPr lang="en-US" sz="2000" dirty="0"/>
          </a:p>
        </p:txBody>
      </p:sp>
      <p:pic>
        <p:nvPicPr>
          <p:cNvPr id="5" name="Picture 4">
            <a:extLst>
              <a:ext uri="{FF2B5EF4-FFF2-40B4-BE49-F238E27FC236}">
                <a16:creationId xmlns:a16="http://schemas.microsoft.com/office/drawing/2014/main" id="{6489BDF4-7075-9520-1C21-E26B50639BEB}"/>
              </a:ext>
            </a:extLst>
          </p:cNvPr>
          <p:cNvPicPr>
            <a:picLocks noChangeAspect="1"/>
          </p:cNvPicPr>
          <p:nvPr/>
        </p:nvPicPr>
        <p:blipFill>
          <a:blip r:embed="rId2"/>
          <a:stretch>
            <a:fillRect/>
          </a:stretch>
        </p:blipFill>
        <p:spPr>
          <a:xfrm>
            <a:off x="5626682" y="3572960"/>
            <a:ext cx="5967823" cy="3285040"/>
          </a:xfrm>
          <a:prstGeom prst="rect">
            <a:avLst/>
          </a:prstGeom>
        </p:spPr>
      </p:pic>
    </p:spTree>
    <p:extLst>
      <p:ext uri="{BB962C8B-B14F-4D97-AF65-F5344CB8AC3E}">
        <p14:creationId xmlns:p14="http://schemas.microsoft.com/office/powerpoint/2010/main" val="3490072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FE63F-F8C9-65D0-3112-26665E08FFFD}"/>
              </a:ext>
            </a:extLst>
          </p:cNvPr>
          <p:cNvSpPr>
            <a:spLocks noGrp="1"/>
          </p:cNvSpPr>
          <p:nvPr>
            <p:ph type="title"/>
          </p:nvPr>
        </p:nvSpPr>
        <p:spPr>
          <a:xfrm>
            <a:off x="838200" y="365125"/>
            <a:ext cx="10515600" cy="674727"/>
          </a:xfrm>
        </p:spPr>
        <p:txBody>
          <a:bodyPr>
            <a:normAutofit fontScale="90000"/>
          </a:bodyPr>
          <a:lstStyle/>
          <a:p>
            <a:pPr algn="l" fontAlgn="base"/>
            <a:r>
              <a:rPr lang="en-US" b="0" i="0" dirty="0">
                <a:solidFill>
                  <a:srgbClr val="3D3B49"/>
                </a:solidFill>
                <a:effectLst/>
                <a:latin typeface="gilroy"/>
              </a:rPr>
              <a:t>Possible but not liked method</a:t>
            </a:r>
          </a:p>
        </p:txBody>
      </p:sp>
      <p:sp>
        <p:nvSpPr>
          <p:cNvPr id="4" name="Content Placeholder 3">
            <a:extLst>
              <a:ext uri="{FF2B5EF4-FFF2-40B4-BE49-F238E27FC236}">
                <a16:creationId xmlns:a16="http://schemas.microsoft.com/office/drawing/2014/main" id="{967F9EB3-9FD9-CB85-63F3-B2DDE6EBED0C}"/>
              </a:ext>
            </a:extLst>
          </p:cNvPr>
          <p:cNvSpPr>
            <a:spLocks noGrp="1"/>
          </p:cNvSpPr>
          <p:nvPr>
            <p:ph idx="1"/>
          </p:nvPr>
        </p:nvSpPr>
        <p:spPr>
          <a:xfrm>
            <a:off x="476956" y="1148292"/>
            <a:ext cx="10515600" cy="4351338"/>
          </a:xfrm>
        </p:spPr>
        <p:txBody>
          <a:bodyPr>
            <a:normAutofit/>
          </a:bodyPr>
          <a:lstStyle/>
          <a:p>
            <a:endParaRPr lang="en-US" sz="2000" dirty="0"/>
          </a:p>
        </p:txBody>
      </p:sp>
      <p:pic>
        <p:nvPicPr>
          <p:cNvPr id="6" name="Picture 5">
            <a:extLst>
              <a:ext uri="{FF2B5EF4-FFF2-40B4-BE49-F238E27FC236}">
                <a16:creationId xmlns:a16="http://schemas.microsoft.com/office/drawing/2014/main" id="{5FBAEAAD-F94C-6025-AAC1-8D29E2FC3ABA}"/>
              </a:ext>
            </a:extLst>
          </p:cNvPr>
          <p:cNvPicPr>
            <a:picLocks noChangeAspect="1"/>
          </p:cNvPicPr>
          <p:nvPr/>
        </p:nvPicPr>
        <p:blipFill>
          <a:blip r:embed="rId2"/>
          <a:stretch>
            <a:fillRect/>
          </a:stretch>
        </p:blipFill>
        <p:spPr>
          <a:xfrm>
            <a:off x="2661574" y="1537640"/>
            <a:ext cx="6868851" cy="4070430"/>
          </a:xfrm>
          <a:prstGeom prst="rect">
            <a:avLst/>
          </a:prstGeom>
        </p:spPr>
      </p:pic>
    </p:spTree>
    <p:extLst>
      <p:ext uri="{BB962C8B-B14F-4D97-AF65-F5344CB8AC3E}">
        <p14:creationId xmlns:p14="http://schemas.microsoft.com/office/powerpoint/2010/main" val="31440562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750</Words>
  <Application>Microsoft Office PowerPoint</Application>
  <PresentationFormat>Widescreen</PresentationFormat>
  <Paragraphs>27</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gilroy</vt:lpstr>
      <vt:lpstr>guardian-text-oreilly</vt:lpstr>
      <vt:lpstr>Inter</vt:lpstr>
      <vt:lpstr>Office Theme</vt:lpstr>
      <vt:lpstr>Use Case Generalization</vt:lpstr>
      <vt:lpstr>Association Between Actor and Use Case </vt:lpstr>
      <vt:lpstr>Generalization of an Actor</vt:lpstr>
      <vt:lpstr>Generalization of an Actor</vt:lpstr>
      <vt:lpstr>Generalization of an Actor</vt:lpstr>
      <vt:lpstr>Extend Relationship Between Two Use Cases</vt:lpstr>
      <vt:lpstr>Extend Relationship Between Two Use Cases</vt:lpstr>
      <vt:lpstr>Include Relationship Between Two Use Cases</vt:lpstr>
      <vt:lpstr>Include Relationship Between Two Use Cases</vt:lpstr>
      <vt:lpstr>Use-Case Generalizations</vt:lpstr>
      <vt:lpstr>Use-Case Generalizations</vt:lpstr>
      <vt:lpstr>Possible but not liked method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 Case Generalization</dc:title>
  <dc:creator>Admin</dc:creator>
  <cp:lastModifiedBy>Admin</cp:lastModifiedBy>
  <cp:revision>9</cp:revision>
  <dcterms:created xsi:type="dcterms:W3CDTF">2025-04-10T06:07:12Z</dcterms:created>
  <dcterms:modified xsi:type="dcterms:W3CDTF">2025-04-10T06:26:52Z</dcterms:modified>
</cp:coreProperties>
</file>