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7"/>
  </p:notesMasterIdLst>
  <p:handoutMasterIdLst>
    <p:handoutMasterId r:id="rId78"/>
  </p:handoutMasterIdLst>
  <p:sldIdLst>
    <p:sldId id="256" r:id="rId5"/>
    <p:sldId id="272" r:id="rId6"/>
    <p:sldId id="382" r:id="rId7"/>
    <p:sldId id="418" r:id="rId8"/>
    <p:sldId id="427" r:id="rId9"/>
    <p:sldId id="428" r:id="rId10"/>
    <p:sldId id="429" r:id="rId11"/>
    <p:sldId id="419" r:id="rId12"/>
    <p:sldId id="312" r:id="rId13"/>
    <p:sldId id="364" r:id="rId14"/>
    <p:sldId id="365" r:id="rId15"/>
    <p:sldId id="366" r:id="rId16"/>
    <p:sldId id="367" r:id="rId17"/>
    <p:sldId id="358" r:id="rId18"/>
    <p:sldId id="368" r:id="rId19"/>
    <p:sldId id="369" r:id="rId20"/>
    <p:sldId id="370" r:id="rId21"/>
    <p:sldId id="371" r:id="rId22"/>
    <p:sldId id="359" r:id="rId23"/>
    <p:sldId id="372" r:id="rId24"/>
    <p:sldId id="373" r:id="rId25"/>
    <p:sldId id="374" r:id="rId26"/>
    <p:sldId id="375" r:id="rId27"/>
    <p:sldId id="376" r:id="rId28"/>
    <p:sldId id="360" r:id="rId29"/>
    <p:sldId id="379" r:id="rId30"/>
    <p:sldId id="380" r:id="rId31"/>
    <p:sldId id="381" r:id="rId32"/>
    <p:sldId id="361" r:id="rId33"/>
    <p:sldId id="383" r:id="rId34"/>
    <p:sldId id="384" r:id="rId35"/>
    <p:sldId id="385" r:id="rId36"/>
    <p:sldId id="386" r:id="rId37"/>
    <p:sldId id="362" r:id="rId38"/>
    <p:sldId id="387" r:id="rId39"/>
    <p:sldId id="388" r:id="rId40"/>
    <p:sldId id="421" r:id="rId41"/>
    <p:sldId id="389" r:id="rId42"/>
    <p:sldId id="390" r:id="rId43"/>
    <p:sldId id="391" r:id="rId44"/>
    <p:sldId id="392" r:id="rId45"/>
    <p:sldId id="393" r:id="rId46"/>
    <p:sldId id="394" r:id="rId47"/>
    <p:sldId id="395" r:id="rId48"/>
    <p:sldId id="363" r:id="rId49"/>
    <p:sldId id="396" r:id="rId50"/>
    <p:sldId id="397" r:id="rId51"/>
    <p:sldId id="398" r:id="rId52"/>
    <p:sldId id="399" r:id="rId53"/>
    <p:sldId id="400" r:id="rId54"/>
    <p:sldId id="401" r:id="rId55"/>
    <p:sldId id="403" r:id="rId56"/>
    <p:sldId id="404" r:id="rId57"/>
    <p:sldId id="405" r:id="rId58"/>
    <p:sldId id="406" r:id="rId59"/>
    <p:sldId id="407" r:id="rId60"/>
    <p:sldId id="408" r:id="rId61"/>
    <p:sldId id="409" r:id="rId62"/>
    <p:sldId id="410" r:id="rId63"/>
    <p:sldId id="411" r:id="rId64"/>
    <p:sldId id="413" r:id="rId65"/>
    <p:sldId id="412" r:id="rId66"/>
    <p:sldId id="414" r:id="rId67"/>
    <p:sldId id="420" r:id="rId68"/>
    <p:sldId id="416" r:id="rId69"/>
    <p:sldId id="415" r:id="rId70"/>
    <p:sldId id="422" r:id="rId71"/>
    <p:sldId id="423" r:id="rId72"/>
    <p:sldId id="424" r:id="rId73"/>
    <p:sldId id="425" r:id="rId74"/>
    <p:sldId id="426" r:id="rId75"/>
    <p:sldId id="417" r:id="rId7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92" d="100"/>
          <a:sy n="92" d="100"/>
        </p:scale>
        <p:origin x="-486" y="-10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23CEAAF3-9831-450B-8D59-2C09DB96C8FC}" type="datetimeFigureOut">
              <a:rPr lang="en-US"/>
              <a:t>3/30/2022</a:t>
            </a:fld>
            <a:endParaRPr/>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2D50CD79-FC16-4410-AB61-17F26E6D3BC8}" type="datetimeFigureOut">
              <a:rPr lang="en-US"/>
              <a:t>3/30/2022</a:t>
            </a:fld>
            <a:endParaRPr/>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5A98D911-F64A-4C1A-8EE1-6D7C44FB604A}" type="datetime1">
              <a:rPr lang="en-US" smtClean="0"/>
              <a:t>3/30/2022</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71B9A744-5248-432D-A38C-25C64B35AFE4}" type="datetime1">
              <a:rPr lang="en-US" smtClean="0"/>
              <a:t>3/30/2022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dirty="0"/>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E3232BF-BDBC-4D56-9167-52CB0F63C365}" type="datetime1">
              <a:rPr lang="en-US" smtClean="0"/>
              <a:t>3/30/2022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CF0EC6C5-A4E6-4818-8956-C6159738B8F6}" type="datetime1">
              <a:rPr lang="en-US" smtClean="0"/>
              <a:t>3/30/2022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ACA5B8D-CD28-4600-91C9-659DF58C8BDE}" type="datetime1">
              <a:rPr lang="en-US" smtClean="0"/>
              <a:t>3/30/2022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104EAAF-D729-4DBC-B3BF-952262C45832}" type="datetime1">
              <a:rPr lang="en-US" smtClean="0"/>
              <a:t>3/30/2022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DAF47-53ED-42DF-8BF8-D7B4171ADDB2}" type="datetime1">
              <a:rPr lang="en-US" smtClean="0"/>
              <a:t>3/30/2022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2A19ABF7-5656-4D0C-9C7C-0606DEE3AD9A}" type="datetime1">
              <a:rPr lang="en-US" smtClean="0"/>
              <a:t>3/30/2022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F6901809-3553-4738-9A20-B4281AC3DB5E}" type="datetime1">
              <a:rPr lang="en-US" smtClean="0"/>
              <a:t>3/30/2022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374050-E210-4151-B77B-A771FA15C143}" type="datetime1">
              <a:rPr lang="en-US" smtClean="0"/>
              <a:t>3/30/2022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2F8C08A-8F66-4BEA-8464-EBA2F6C1A56F}" type="datetime1">
              <a:rPr lang="en-US" smtClean="0"/>
              <a:t>3/30/2022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0E7E469E-DBB0-4B43-8B1A-5F3389AC44CF}" type="datetime1">
              <a:rPr lang="en-US" smtClean="0"/>
              <a:t>3/30/2022</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pmstudycircle.com/2013/02/lead-time-and-lag-time-in-project-scheduling-network-diagram/" TargetMode="External"/><Relationship Id="rId2" Type="http://schemas.openxmlformats.org/officeDocument/2006/relationships/hyperlink" Target="https://www.tutorialspoint.com/management_concepts/leads_lags_floats.ht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pmstudycircle.com/2012/02/risk-vs-uncertainty/"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pmstudycircle.com/2013/03/total-float-versus-free-float/"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pmstudycircle.com/2014/01/critical-path-method-cpm-in-project-management/"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pmstudycircle.com/2013/03/total-float-versus-free-float/" TargetMode="External"/><Relationship Id="rId2" Type="http://schemas.openxmlformats.org/officeDocument/2006/relationships/hyperlink" Target="https://pmstudycircle.com/2014/01/critical-path-method-cpm-in-project-managemen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50574" y="2292094"/>
            <a:ext cx="6388376" cy="2219691"/>
          </a:xfrm>
        </p:spPr>
        <p:txBody>
          <a:bodyPr anchor="ctr">
            <a:normAutofit/>
          </a:bodyPr>
          <a:lstStyle/>
          <a:p>
            <a:r>
              <a:rPr lang="en-US" dirty="0"/>
              <a:t>Project TIME Management</a:t>
            </a:r>
          </a:p>
        </p:txBody>
      </p:sp>
      <p:sp>
        <p:nvSpPr>
          <p:cNvPr id="7" name="Subtitle 6"/>
          <p:cNvSpPr>
            <a:spLocks noGrp="1"/>
          </p:cNvSpPr>
          <p:nvPr>
            <p:ph type="subTitle" idx="1"/>
          </p:nvPr>
        </p:nvSpPr>
        <p:spPr>
          <a:xfrm>
            <a:off x="450574" y="4511784"/>
            <a:ext cx="6388376" cy="955565"/>
          </a:xfrm>
        </p:spPr>
        <p:txBody>
          <a:bodyPr>
            <a:normAutofit/>
          </a:bodyPr>
          <a:lstStyle/>
          <a:p>
            <a:r>
              <a:rPr lang="en-US" dirty="0"/>
              <a:t>Dr. </a:t>
            </a:r>
            <a:r>
              <a:rPr lang="en-US" dirty="0" smtClean="0"/>
              <a:t>Uzair Iqbal, </a:t>
            </a:r>
            <a:r>
              <a:rPr lang="en-US" dirty="0"/>
              <a:t>CS Dept., CIIT, Islamabad</a:t>
            </a:r>
          </a:p>
          <a:p>
            <a:r>
              <a:rPr lang="en-US" dirty="0"/>
              <a:t>The content mainly based on the PMBOK guide, 5</a:t>
            </a:r>
            <a:r>
              <a:rPr lang="en-US" baseline="30000" dirty="0"/>
              <a:t>th</a:t>
            </a:r>
            <a:r>
              <a:rPr lang="en-US" dirty="0"/>
              <a:t> edition; and Software extension to the PMBOK guide, PMI, 2013.</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 [</a:t>
            </a:r>
            <a:r>
              <a:rPr lang="en-US" dirty="0" smtClean="0"/>
              <a:t>1/3]</a:t>
            </a:r>
            <a:endParaRPr lang="en-US" dirty="0"/>
          </a:p>
        </p:txBody>
      </p:sp>
      <p:sp>
        <p:nvSpPr>
          <p:cNvPr id="14" name="Content Placeholder 13"/>
          <p:cNvSpPr>
            <a:spLocks noGrp="1"/>
          </p:cNvSpPr>
          <p:nvPr>
            <p:ph idx="1"/>
          </p:nvPr>
        </p:nvSpPr>
        <p:spPr>
          <a:xfrm>
            <a:off x="1104900" y="1600199"/>
            <a:ext cx="9982200" cy="4756151"/>
          </a:xfrm>
        </p:spPr>
        <p:txBody>
          <a:bodyPr>
            <a:normAutofit/>
          </a:bodyPr>
          <a:lstStyle/>
          <a:p>
            <a:pPr algn="just">
              <a:lnSpc>
                <a:spcPct val="150000"/>
              </a:lnSpc>
            </a:pPr>
            <a:r>
              <a:rPr lang="en-US" dirty="0"/>
              <a:t>Project time management for software projects is driven by risk, resource availability, business value, and the scheduling method(s) </a:t>
            </a:r>
            <a:r>
              <a:rPr lang="en-US" dirty="0" smtClean="0"/>
              <a:t>used</a:t>
            </a:r>
          </a:p>
          <a:p>
            <a:pPr lvl="1" algn="just">
              <a:lnSpc>
                <a:spcPct val="150000"/>
              </a:lnSpc>
            </a:pPr>
            <a:r>
              <a:rPr lang="en-US" dirty="0"/>
              <a:t>Understanding and selection of </a:t>
            </a:r>
            <a:r>
              <a:rPr lang="en-US" b="1" dirty="0">
                <a:solidFill>
                  <a:srgbClr val="FF0000"/>
                </a:solidFill>
              </a:rPr>
              <a:t>scheduling methods </a:t>
            </a:r>
            <a:r>
              <a:rPr lang="en-US" dirty="0"/>
              <a:t>is </a:t>
            </a:r>
            <a:r>
              <a:rPr lang="en-US" b="1" dirty="0">
                <a:solidFill>
                  <a:srgbClr val="FF0000"/>
                </a:solidFill>
              </a:rPr>
              <a:t>critical</a:t>
            </a:r>
          </a:p>
          <a:p>
            <a:pPr algn="just">
              <a:lnSpc>
                <a:spcPct val="150000"/>
              </a:lnSpc>
            </a:pPr>
            <a:r>
              <a:rPr lang="en-US" dirty="0" smtClean="0"/>
              <a:t>Software </a:t>
            </a:r>
            <a:r>
              <a:rPr lang="en-US" dirty="0"/>
              <a:t>project schedule should remain </a:t>
            </a:r>
            <a:r>
              <a:rPr lang="en-US" b="1" dirty="0">
                <a:solidFill>
                  <a:srgbClr val="002060"/>
                </a:solidFill>
              </a:rPr>
              <a:t>ﬂexible</a:t>
            </a:r>
            <a:r>
              <a:rPr lang="en-US" dirty="0">
                <a:solidFill>
                  <a:srgbClr val="002060"/>
                </a:solidFill>
              </a:rPr>
              <a:t> </a:t>
            </a:r>
            <a:r>
              <a:rPr lang="en-US" dirty="0"/>
              <a:t>throughout the project </a:t>
            </a:r>
          </a:p>
          <a:p>
            <a:pPr algn="just">
              <a:lnSpc>
                <a:spcPct val="150000"/>
              </a:lnSpc>
            </a:pPr>
            <a:r>
              <a:rPr lang="en-US" dirty="0" smtClean="0"/>
              <a:t>Most </a:t>
            </a:r>
            <a:r>
              <a:rPr lang="en-US" dirty="0"/>
              <a:t>of the development cost of software project  is human effort </a:t>
            </a:r>
          </a:p>
          <a:p>
            <a:pPr lvl="1" algn="just">
              <a:lnSpc>
                <a:spcPct val="150000"/>
              </a:lnSpc>
            </a:pPr>
            <a:r>
              <a:rPr lang="en-US" dirty="0"/>
              <a:t>Effort: the product of people and time</a:t>
            </a:r>
          </a:p>
          <a:p>
            <a:pPr algn="just">
              <a:lnSpc>
                <a:spcPct val="150000"/>
              </a:lnSpc>
            </a:pPr>
            <a:r>
              <a:rPr lang="en-US" dirty="0"/>
              <a:t>Value delivered to the customer is an important factor</a:t>
            </a:r>
          </a:p>
          <a:p>
            <a:pPr algn="just">
              <a:lnSpc>
                <a:spcPct val="150000"/>
              </a:lnSpc>
            </a:pPr>
            <a:endParaRPr lang="en-US" dirty="0"/>
          </a:p>
        </p:txBody>
      </p:sp>
      <p:sp>
        <p:nvSpPr>
          <p:cNvPr id="2" name="Slide Number Placeholder 1"/>
          <p:cNvSpPr>
            <a:spLocks noGrp="1"/>
          </p:cNvSpPr>
          <p:nvPr>
            <p:ph type="sldNum" sz="quarter" idx="12"/>
          </p:nvPr>
        </p:nvSpPr>
        <p:spPr/>
        <p:txBody>
          <a:bodyPr/>
          <a:lstStyle/>
          <a:p>
            <a:fld id="{0FF54DE5-C571-48E8-A5BC-B369434E2F44}" type="slidenum">
              <a:rPr lang="en-US" smtClean="0"/>
              <a:t>2</a:t>
            </a:fld>
            <a:endParaRPr lang="en-US"/>
          </a:p>
        </p:txBody>
      </p:sp>
    </p:spTree>
    <p:extLst>
      <p:ext uri="{BB962C8B-B14F-4D97-AF65-F5344CB8AC3E}">
        <p14:creationId xmlns:p14="http://schemas.microsoft.com/office/powerpoint/2010/main" val="2677682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 [</a:t>
            </a:r>
            <a:r>
              <a:rPr lang="en-US" dirty="0" smtClean="0"/>
              <a:t>2/3]</a:t>
            </a:r>
            <a:endParaRPr lang="en-US" dirty="0"/>
          </a:p>
        </p:txBody>
      </p:sp>
      <p:sp>
        <p:nvSpPr>
          <p:cNvPr id="14" name="Content Placeholder 13"/>
          <p:cNvSpPr>
            <a:spLocks noGrp="1"/>
          </p:cNvSpPr>
          <p:nvPr>
            <p:ph idx="1"/>
          </p:nvPr>
        </p:nvSpPr>
        <p:spPr>
          <a:xfrm>
            <a:off x="1104900" y="1600199"/>
            <a:ext cx="9982200" cy="4756151"/>
          </a:xfrm>
        </p:spPr>
        <p:txBody>
          <a:bodyPr>
            <a:normAutofit/>
          </a:bodyPr>
          <a:lstStyle/>
          <a:p>
            <a:pPr>
              <a:lnSpc>
                <a:spcPct val="150000"/>
              </a:lnSpc>
            </a:pPr>
            <a:r>
              <a:rPr lang="en-US" dirty="0"/>
              <a:t>Scheduling methods</a:t>
            </a:r>
          </a:p>
          <a:p>
            <a:pPr lvl="1">
              <a:lnSpc>
                <a:spcPct val="150000"/>
              </a:lnSpc>
            </a:pPr>
            <a:r>
              <a:rPr lang="en-US" dirty="0"/>
              <a:t>Structured scheduling</a:t>
            </a:r>
          </a:p>
          <a:p>
            <a:pPr lvl="2">
              <a:lnSpc>
                <a:spcPct val="150000"/>
              </a:lnSpc>
            </a:pPr>
            <a:r>
              <a:rPr lang="en-US" dirty="0"/>
              <a:t>Well understood product </a:t>
            </a:r>
            <a:r>
              <a:rPr lang="en-US" dirty="0" smtClean="0"/>
              <a:t>requirements, </a:t>
            </a:r>
            <a:r>
              <a:rPr lang="en-US" dirty="0"/>
              <a:t>related precedent work within the organization</a:t>
            </a:r>
          </a:p>
          <a:p>
            <a:pPr lvl="2">
              <a:lnSpc>
                <a:spcPct val="150000"/>
              </a:lnSpc>
            </a:pPr>
            <a:r>
              <a:rPr lang="en-US" dirty="0"/>
              <a:t>High safety, security, or regulatory constraints</a:t>
            </a:r>
          </a:p>
          <a:p>
            <a:pPr lvl="1">
              <a:lnSpc>
                <a:spcPct val="150000"/>
              </a:lnSpc>
            </a:pPr>
            <a:r>
              <a:rPr lang="en-US" dirty="0"/>
              <a:t>Schedule as independent variable (SAIV)</a:t>
            </a:r>
          </a:p>
          <a:p>
            <a:pPr lvl="2">
              <a:lnSpc>
                <a:spcPct val="150000"/>
              </a:lnSpc>
            </a:pPr>
            <a:r>
              <a:rPr lang="en-US" dirty="0"/>
              <a:t>Specific date to deliver the product; otherwise the sharp decline of product value</a:t>
            </a:r>
          </a:p>
          <a:p>
            <a:pPr lvl="2">
              <a:lnSpc>
                <a:spcPct val="150000"/>
              </a:lnSpc>
            </a:pPr>
            <a:r>
              <a:rPr lang="en-US" dirty="0"/>
              <a:t>Similar to “time boxing” in adaptive life cycles</a:t>
            </a:r>
          </a:p>
          <a:p>
            <a:pPr lvl="1">
              <a:lnSpc>
                <a:spcPct val="150000"/>
              </a:lnSpc>
            </a:pPr>
            <a:r>
              <a:rPr lang="en-US" dirty="0"/>
              <a:t>Iterative scheduling with a backlog</a:t>
            </a:r>
          </a:p>
          <a:p>
            <a:pPr lvl="2">
              <a:lnSpc>
                <a:spcPct val="150000"/>
              </a:lnSpc>
            </a:pPr>
            <a:r>
              <a:rPr lang="en-US" dirty="0"/>
              <a:t>Rolling wave planning for software projects based on adaptive life cycles</a:t>
            </a:r>
          </a:p>
          <a:p>
            <a:pPr lvl="2">
              <a:lnSpc>
                <a:spcPct val="150000"/>
              </a:lnSpc>
            </a:pPr>
            <a:r>
              <a:rPr lang="en-US" dirty="0"/>
              <a:t>Adjustment to an iterative scheduling occur throughout the project life cycle</a:t>
            </a:r>
          </a:p>
          <a:p>
            <a:pPr lvl="2"/>
            <a:endParaRPr lang="en-US" dirty="0"/>
          </a:p>
          <a:p>
            <a:pPr lvl="2"/>
            <a:endParaRPr lang="en-US" dirty="0"/>
          </a:p>
        </p:txBody>
      </p:sp>
      <p:sp>
        <p:nvSpPr>
          <p:cNvPr id="2" name="Slide Number Placeholder 1"/>
          <p:cNvSpPr>
            <a:spLocks noGrp="1"/>
          </p:cNvSpPr>
          <p:nvPr>
            <p:ph type="sldNum" sz="quarter" idx="12"/>
          </p:nvPr>
        </p:nvSpPr>
        <p:spPr/>
        <p:txBody>
          <a:bodyPr/>
          <a:lstStyle/>
          <a:p>
            <a:fld id="{0FF54DE5-C571-48E8-A5BC-B369434E2F44}" type="slidenum">
              <a:rPr lang="en-US" smtClean="0"/>
              <a:t>3</a:t>
            </a:fld>
            <a:endParaRPr lang="en-US"/>
          </a:p>
        </p:txBody>
      </p:sp>
    </p:spTree>
    <p:extLst>
      <p:ext uri="{BB962C8B-B14F-4D97-AF65-F5344CB8AC3E}">
        <p14:creationId xmlns:p14="http://schemas.microsoft.com/office/powerpoint/2010/main" val="3577647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 </a:t>
            </a:r>
            <a:r>
              <a:rPr lang="en-US" dirty="0" smtClean="0"/>
              <a:t>[</a:t>
            </a:r>
            <a:r>
              <a:rPr lang="en-US" dirty="0"/>
              <a:t>3</a:t>
            </a:r>
            <a:r>
              <a:rPr lang="en-US" dirty="0" smtClean="0"/>
              <a:t>/3]</a:t>
            </a:r>
            <a:endParaRPr lang="en-US" dirty="0"/>
          </a:p>
        </p:txBody>
      </p:sp>
      <p:sp>
        <p:nvSpPr>
          <p:cNvPr id="14" name="Content Placeholder 13"/>
          <p:cNvSpPr>
            <a:spLocks noGrp="1"/>
          </p:cNvSpPr>
          <p:nvPr>
            <p:ph idx="1"/>
          </p:nvPr>
        </p:nvSpPr>
        <p:spPr>
          <a:xfrm>
            <a:off x="1104900" y="1600199"/>
            <a:ext cx="9982200" cy="4756151"/>
          </a:xfrm>
        </p:spPr>
        <p:txBody>
          <a:bodyPr>
            <a:normAutofit/>
          </a:bodyPr>
          <a:lstStyle/>
          <a:p>
            <a:r>
              <a:rPr lang="en-US" dirty="0"/>
              <a:t>Scheduling methods</a:t>
            </a:r>
          </a:p>
          <a:p>
            <a:pPr lvl="1">
              <a:lnSpc>
                <a:spcPct val="150000"/>
              </a:lnSpc>
            </a:pPr>
            <a:r>
              <a:rPr lang="en-US" dirty="0" smtClean="0"/>
              <a:t>On-demand </a:t>
            </a:r>
            <a:r>
              <a:rPr lang="en-US" dirty="0"/>
              <a:t>scheduling</a:t>
            </a:r>
          </a:p>
          <a:p>
            <a:pPr lvl="2">
              <a:lnSpc>
                <a:spcPct val="150000"/>
              </a:lnSpc>
            </a:pPr>
            <a:r>
              <a:rPr lang="en-US" dirty="0"/>
              <a:t>Based on the theory-of-constraints and pull-based scheduling</a:t>
            </a:r>
          </a:p>
          <a:p>
            <a:pPr lvl="2">
              <a:lnSpc>
                <a:spcPct val="150000"/>
              </a:lnSpc>
            </a:pPr>
            <a:r>
              <a:rPr lang="en-US" dirty="0"/>
              <a:t>No pre-scheduling</a:t>
            </a:r>
          </a:p>
          <a:p>
            <a:pPr lvl="2">
              <a:lnSpc>
                <a:spcPct val="150000"/>
              </a:lnSpc>
            </a:pPr>
            <a:r>
              <a:rPr lang="en-US" dirty="0"/>
              <a:t>Minimize estimation activities and maximize the value of work accomplished</a:t>
            </a:r>
          </a:p>
          <a:p>
            <a:pPr lvl="1">
              <a:lnSpc>
                <a:spcPct val="150000"/>
              </a:lnSpc>
            </a:pPr>
            <a:r>
              <a:rPr lang="en-US" dirty="0"/>
              <a:t>Portfolio management scheduling</a:t>
            </a:r>
          </a:p>
          <a:p>
            <a:pPr lvl="2">
              <a:lnSpc>
                <a:spcPct val="150000"/>
              </a:lnSpc>
            </a:pPr>
            <a:r>
              <a:rPr lang="en-US" dirty="0"/>
              <a:t>Scheduling of projects based on prioritizing investments in software as established by criteria determined at the organizational level</a:t>
            </a:r>
          </a:p>
          <a:p>
            <a:pPr lvl="2"/>
            <a:endParaRPr lang="en-US" dirty="0"/>
          </a:p>
          <a:p>
            <a:pPr lvl="2"/>
            <a:endParaRPr lang="en-US" dirty="0"/>
          </a:p>
        </p:txBody>
      </p:sp>
      <p:sp>
        <p:nvSpPr>
          <p:cNvPr id="2" name="Slide Number Placeholder 1"/>
          <p:cNvSpPr>
            <a:spLocks noGrp="1"/>
          </p:cNvSpPr>
          <p:nvPr>
            <p:ph type="sldNum" sz="quarter" idx="12"/>
          </p:nvPr>
        </p:nvSpPr>
        <p:spPr/>
        <p:txBody>
          <a:bodyPr/>
          <a:lstStyle/>
          <a:p>
            <a:fld id="{0FF54DE5-C571-48E8-A5BC-B369434E2F44}" type="slidenum">
              <a:rPr lang="en-US" smtClean="0"/>
              <a:t>4</a:t>
            </a:fld>
            <a:endParaRPr lang="en-US"/>
          </a:p>
        </p:txBody>
      </p:sp>
    </p:spTree>
    <p:extLst>
      <p:ext uri="{BB962C8B-B14F-4D97-AF65-F5344CB8AC3E}">
        <p14:creationId xmlns:p14="http://schemas.microsoft.com/office/powerpoint/2010/main" val="170237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845" y="342900"/>
            <a:ext cx="10785764" cy="6072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00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6</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051" y="301336"/>
            <a:ext cx="11565840" cy="62761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0991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7</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327" y="249383"/>
            <a:ext cx="10972800" cy="61085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77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 </a:t>
            </a:r>
            <a:r>
              <a:rPr lang="en-US" dirty="0" smtClean="0"/>
              <a:t>[</a:t>
            </a:r>
            <a:r>
              <a:rPr lang="en-US" dirty="0"/>
              <a:t>3</a:t>
            </a:r>
            <a:r>
              <a:rPr lang="en-US" dirty="0" smtClean="0"/>
              <a:t>/3]</a:t>
            </a:r>
            <a:endParaRPr lang="en-US" dirty="0"/>
          </a:p>
        </p:txBody>
      </p:sp>
      <p:sp>
        <p:nvSpPr>
          <p:cNvPr id="14" name="Content Placeholder 13"/>
          <p:cNvSpPr>
            <a:spLocks noGrp="1"/>
          </p:cNvSpPr>
          <p:nvPr>
            <p:ph idx="1"/>
          </p:nvPr>
        </p:nvSpPr>
        <p:spPr>
          <a:xfrm>
            <a:off x="1104900" y="1600199"/>
            <a:ext cx="9982200" cy="4756151"/>
          </a:xfrm>
        </p:spPr>
        <p:txBody>
          <a:bodyPr>
            <a:normAutofit/>
          </a:bodyPr>
          <a:lstStyle/>
          <a:p>
            <a:pPr marL="457200" indent="-457200">
              <a:buFont typeface="+mj-lt"/>
              <a:buAutoNum type="arabicParenR"/>
            </a:pPr>
            <a:r>
              <a:rPr lang="en-US" b="1" dirty="0"/>
              <a:t>Plan Schedule </a:t>
            </a:r>
            <a:r>
              <a:rPr lang="en-US" b="1" dirty="0" smtClean="0"/>
              <a:t>Management</a:t>
            </a:r>
            <a:endParaRPr lang="en-US" dirty="0"/>
          </a:p>
          <a:p>
            <a:pPr marL="457200" indent="-457200">
              <a:buFont typeface="+mj-lt"/>
              <a:buAutoNum type="arabicParenR"/>
            </a:pPr>
            <a:r>
              <a:rPr lang="en-US" b="1" dirty="0"/>
              <a:t>Define </a:t>
            </a:r>
            <a:r>
              <a:rPr lang="en-US" b="1" dirty="0" smtClean="0"/>
              <a:t>Activities</a:t>
            </a:r>
            <a:endParaRPr lang="en-US" dirty="0"/>
          </a:p>
          <a:p>
            <a:pPr marL="457200" indent="-457200">
              <a:buFont typeface="+mj-lt"/>
              <a:buAutoNum type="arabicParenR"/>
            </a:pPr>
            <a:r>
              <a:rPr lang="en-US" b="1" dirty="0"/>
              <a:t>Sequence </a:t>
            </a:r>
            <a:r>
              <a:rPr lang="en-US" b="1" dirty="0" smtClean="0"/>
              <a:t>Activities</a:t>
            </a:r>
            <a:endParaRPr lang="en-US" dirty="0"/>
          </a:p>
          <a:p>
            <a:pPr marL="457200" indent="-457200">
              <a:buFont typeface="+mj-lt"/>
              <a:buAutoNum type="arabicParenR"/>
            </a:pPr>
            <a:r>
              <a:rPr lang="en-US" b="1" dirty="0"/>
              <a:t>Estimate Activity </a:t>
            </a:r>
            <a:r>
              <a:rPr lang="en-US" b="1" dirty="0" smtClean="0"/>
              <a:t>Resources</a:t>
            </a:r>
            <a:endParaRPr lang="en-US" dirty="0"/>
          </a:p>
          <a:p>
            <a:pPr marL="457200" indent="-457200">
              <a:buFont typeface="+mj-lt"/>
              <a:buAutoNum type="arabicParenR"/>
            </a:pPr>
            <a:r>
              <a:rPr lang="en-US" b="1" dirty="0"/>
              <a:t>Estimate Activity </a:t>
            </a:r>
            <a:r>
              <a:rPr lang="en-US" b="1" dirty="0" smtClean="0"/>
              <a:t>Durations</a:t>
            </a:r>
            <a:endParaRPr lang="en-US" dirty="0"/>
          </a:p>
          <a:p>
            <a:pPr marL="457200" indent="-457200">
              <a:buFont typeface="+mj-lt"/>
              <a:buAutoNum type="arabicParenR"/>
            </a:pPr>
            <a:r>
              <a:rPr lang="en-US" b="1" dirty="0" smtClean="0"/>
              <a:t>Develop Schedule</a:t>
            </a:r>
            <a:endParaRPr lang="en-US" dirty="0"/>
          </a:p>
          <a:p>
            <a:pPr marL="457200" indent="-457200">
              <a:buFont typeface="+mj-lt"/>
              <a:buAutoNum type="arabicParenR"/>
            </a:pPr>
            <a:r>
              <a:rPr lang="en-US" b="1" dirty="0" smtClean="0"/>
              <a:t>Control Schedule</a:t>
            </a:r>
            <a:endParaRPr lang="en-US" dirty="0"/>
          </a:p>
          <a:p>
            <a:pPr lvl="2"/>
            <a:endParaRPr lang="en-US" dirty="0"/>
          </a:p>
        </p:txBody>
      </p:sp>
      <p:sp>
        <p:nvSpPr>
          <p:cNvPr id="2" name="Slide Number Placeholder 1"/>
          <p:cNvSpPr>
            <a:spLocks noGrp="1"/>
          </p:cNvSpPr>
          <p:nvPr>
            <p:ph type="sldNum" sz="quarter" idx="12"/>
          </p:nvPr>
        </p:nvSpPr>
        <p:spPr/>
        <p:txBody>
          <a:bodyPr/>
          <a:lstStyle/>
          <a:p>
            <a:fld id="{0FF54DE5-C571-48E8-A5BC-B369434E2F44}" type="slidenum">
              <a:rPr lang="en-US" smtClean="0"/>
              <a:t>8</a:t>
            </a:fld>
            <a:endParaRPr lang="en-US"/>
          </a:p>
        </p:txBody>
      </p:sp>
    </p:spTree>
    <p:extLst>
      <p:ext uri="{BB962C8B-B14F-4D97-AF65-F5344CB8AC3E}">
        <p14:creationId xmlns:p14="http://schemas.microsoft.com/office/powerpoint/2010/main" val="163746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1: Plan Schedule Management</a:t>
            </a:r>
          </a:p>
        </p:txBody>
      </p:sp>
      <p:sp>
        <p:nvSpPr>
          <p:cNvPr id="3" name="Content Placeholder 2"/>
          <p:cNvSpPr>
            <a:spLocks noGrp="1"/>
          </p:cNvSpPr>
          <p:nvPr>
            <p:ph idx="1"/>
          </p:nvPr>
        </p:nvSpPr>
        <p:spPr/>
        <p:txBody>
          <a:bodyPr/>
          <a:lstStyle/>
          <a:p>
            <a:pPr algn="just"/>
            <a:r>
              <a:rPr lang="en-US" dirty="0"/>
              <a:t>The process of establishing the policies, procedures, and </a:t>
            </a:r>
            <a:r>
              <a:rPr lang="en-US" dirty="0" smtClean="0"/>
              <a:t>documentation for</a:t>
            </a:r>
            <a:r>
              <a:rPr lang="en-US" dirty="0"/>
              <a:t> </a:t>
            </a:r>
            <a:r>
              <a:rPr lang="en-US" dirty="0" smtClean="0"/>
              <a:t>planning</a:t>
            </a:r>
            <a:r>
              <a:rPr lang="en-US" dirty="0"/>
              <a:t>, developing, managing, executing, and controlling the project </a:t>
            </a:r>
            <a:r>
              <a:rPr lang="en-US" dirty="0" smtClean="0"/>
              <a:t>schedule.</a:t>
            </a:r>
            <a:endParaRPr lang="en-US" dirty="0"/>
          </a:p>
          <a:p>
            <a:pPr algn="just"/>
            <a:r>
              <a:rPr lang="en-US" dirty="0"/>
              <a:t>Guidance and direction on how the project schedule will be managed</a:t>
            </a:r>
          </a:p>
          <a:p>
            <a:pPr algn="just"/>
            <a:r>
              <a:rPr lang="en-US" dirty="0"/>
              <a:t>Formal/informal, highly detailed or broadly framed</a:t>
            </a:r>
          </a:p>
          <a:p>
            <a:pPr algn="just"/>
            <a:r>
              <a:rPr lang="en-US" dirty="0"/>
              <a:t>How schedule contingencies will be reported and assessed</a:t>
            </a:r>
          </a:p>
          <a:p>
            <a:pPr algn="just"/>
            <a:r>
              <a:rPr lang="en-US" dirty="0"/>
              <a:t>Plan may be updated to reflect the change</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9</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spTree>
    <p:extLst>
      <p:ext uri="{BB962C8B-B14F-4D97-AF65-F5344CB8AC3E}">
        <p14:creationId xmlns:p14="http://schemas.microsoft.com/office/powerpoint/2010/main" val="2584257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Schedule Management: Inputs [1/2]</a:t>
            </a:r>
          </a:p>
        </p:txBody>
      </p:sp>
      <p:sp>
        <p:nvSpPr>
          <p:cNvPr id="3" name="Content Placeholder 2"/>
          <p:cNvSpPr>
            <a:spLocks noGrp="1"/>
          </p:cNvSpPr>
          <p:nvPr>
            <p:ph idx="1"/>
          </p:nvPr>
        </p:nvSpPr>
        <p:spPr>
          <a:xfrm>
            <a:off x="1104900" y="1600200"/>
            <a:ext cx="9982200" cy="4873336"/>
          </a:xfrm>
        </p:spPr>
        <p:txBody>
          <a:bodyPr>
            <a:normAutofit fontScale="92500" lnSpcReduction="10000"/>
          </a:bodyPr>
          <a:lstStyle/>
          <a:p>
            <a:r>
              <a:rPr lang="en-US" dirty="0"/>
              <a:t>Project management plan</a:t>
            </a:r>
          </a:p>
          <a:p>
            <a:pPr lvl="1"/>
            <a:r>
              <a:rPr lang="en-US" dirty="0"/>
              <a:t>Scope </a:t>
            </a:r>
            <a:r>
              <a:rPr lang="en-US" dirty="0" smtClean="0"/>
              <a:t>baseline</a:t>
            </a:r>
          </a:p>
          <a:p>
            <a:pPr lvl="2"/>
            <a:r>
              <a:rPr lang="en-US" dirty="0"/>
              <a:t>scope statement </a:t>
            </a:r>
            <a:r>
              <a:rPr lang="en-US" dirty="0" smtClean="0"/>
              <a:t>and work breakdown structure </a:t>
            </a:r>
            <a:r>
              <a:rPr lang="en-US" dirty="0"/>
              <a:t>(WBS)</a:t>
            </a:r>
          </a:p>
          <a:p>
            <a:pPr lvl="1"/>
            <a:r>
              <a:rPr lang="en-US" dirty="0"/>
              <a:t>Other </a:t>
            </a:r>
            <a:r>
              <a:rPr lang="en-US" dirty="0" smtClean="0"/>
              <a:t>information</a:t>
            </a:r>
          </a:p>
          <a:p>
            <a:pPr lvl="2"/>
            <a:r>
              <a:rPr lang="en-US" dirty="0"/>
              <a:t>cost, risk, and communications decisions</a:t>
            </a:r>
          </a:p>
          <a:p>
            <a:r>
              <a:rPr lang="en-US" dirty="0"/>
              <a:t>Project </a:t>
            </a:r>
            <a:r>
              <a:rPr lang="en-US" dirty="0" smtClean="0"/>
              <a:t>charter</a:t>
            </a:r>
          </a:p>
          <a:p>
            <a:pPr lvl="1"/>
            <a:r>
              <a:rPr lang="en-US"/>
              <a:t>summary milestone schedule and project approval</a:t>
            </a:r>
            <a:endParaRPr lang="en-US" dirty="0"/>
          </a:p>
          <a:p>
            <a:r>
              <a:rPr lang="en-US" dirty="0"/>
              <a:t>Enterprise environmental factors</a:t>
            </a:r>
          </a:p>
          <a:p>
            <a:pPr lvl="1"/>
            <a:r>
              <a:rPr lang="en-US" dirty="0"/>
              <a:t>Organizational culture and structure can all inﬂuence schedule management</a:t>
            </a:r>
          </a:p>
          <a:p>
            <a:pPr lvl="1"/>
            <a:r>
              <a:rPr lang="en-US" dirty="0"/>
              <a:t>Resource availability and skills that may inﬂuence schedule planning</a:t>
            </a:r>
          </a:p>
          <a:p>
            <a:pPr lvl="1"/>
            <a:r>
              <a:rPr lang="en-US" dirty="0"/>
              <a:t>Project management software provides the scheduling tool and alternative possibilities for managing the</a:t>
            </a:r>
            <a:br>
              <a:rPr lang="en-US" dirty="0"/>
            </a:br>
            <a:r>
              <a:rPr lang="en-US" dirty="0"/>
              <a:t>schedule</a:t>
            </a:r>
          </a:p>
          <a:p>
            <a:pPr lvl="1"/>
            <a:r>
              <a:rPr lang="en-US" dirty="0"/>
              <a:t>Published commercial information, such as resource productivity information, is often available from</a:t>
            </a:r>
            <a:br>
              <a:rPr lang="en-US" dirty="0"/>
            </a:br>
            <a:r>
              <a:rPr lang="en-US" dirty="0"/>
              <a:t>commercial databases that track</a:t>
            </a:r>
          </a:p>
          <a:p>
            <a:pPr lvl="1"/>
            <a:r>
              <a:rPr lang="en-US" dirty="0"/>
              <a:t>Organizational work authorization systems</a:t>
            </a:r>
          </a:p>
          <a:p>
            <a:pPr lvl="1"/>
            <a:r>
              <a:rPr lang="en-US" i="1" dirty="0"/>
              <a:t>Software project portfolios </a:t>
            </a:r>
          </a:p>
          <a:p>
            <a:pPr lvl="1"/>
            <a:r>
              <a:rPr lang="en-US" i="1" dirty="0"/>
              <a:t>Enterprise architectures</a:t>
            </a:r>
            <a:r>
              <a:rPr lang="en-US" dirty="0"/>
              <a:t/>
            </a:r>
            <a:br>
              <a:rPr lang="en-US" dirty="0"/>
            </a:br>
            <a:endParaRPr lang="en-US" dirty="0"/>
          </a:p>
          <a:p>
            <a:pPr lvl="1"/>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10</a:t>
            </a:fld>
            <a:endParaRPr lang="en-US"/>
          </a:p>
        </p:txBody>
      </p:sp>
    </p:spTree>
    <p:extLst>
      <p:ext uri="{BB962C8B-B14F-4D97-AF65-F5344CB8AC3E}">
        <p14:creationId xmlns:p14="http://schemas.microsoft.com/office/powerpoint/2010/main" val="3724290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Schedule Management: Inputs [2/2]</a:t>
            </a:r>
          </a:p>
        </p:txBody>
      </p:sp>
      <p:sp>
        <p:nvSpPr>
          <p:cNvPr id="3" name="Content Placeholder 2"/>
          <p:cNvSpPr>
            <a:spLocks noGrp="1"/>
          </p:cNvSpPr>
          <p:nvPr>
            <p:ph idx="1"/>
          </p:nvPr>
        </p:nvSpPr>
        <p:spPr/>
        <p:txBody>
          <a:bodyPr>
            <a:normAutofit/>
          </a:bodyPr>
          <a:lstStyle/>
          <a:p>
            <a:r>
              <a:rPr lang="en-US" dirty="0"/>
              <a:t>Organizational process assets</a:t>
            </a:r>
          </a:p>
          <a:p>
            <a:pPr lvl="1"/>
            <a:r>
              <a:rPr lang="en-US" dirty="0"/>
              <a:t>Monitoring and reporting tools to be used</a:t>
            </a:r>
          </a:p>
          <a:p>
            <a:pPr lvl="1"/>
            <a:r>
              <a:rPr lang="en-US" dirty="0"/>
              <a:t>Historical information</a:t>
            </a:r>
          </a:p>
          <a:p>
            <a:pPr lvl="1"/>
            <a:r>
              <a:rPr lang="en-US" dirty="0"/>
              <a:t>Schedule control tools</a:t>
            </a:r>
          </a:p>
          <a:p>
            <a:pPr lvl="1"/>
            <a:r>
              <a:rPr lang="en-US" dirty="0"/>
              <a:t>Existing formal and informal schedule control related policies, procedures, and guidelines</a:t>
            </a:r>
          </a:p>
          <a:p>
            <a:pPr lvl="1"/>
            <a:r>
              <a:rPr lang="en-US" dirty="0"/>
              <a:t>Templates</a:t>
            </a:r>
          </a:p>
          <a:p>
            <a:pPr lvl="1"/>
            <a:r>
              <a:rPr lang="en-US" dirty="0"/>
              <a:t>Project closure guidelines</a:t>
            </a:r>
          </a:p>
          <a:p>
            <a:pPr lvl="1"/>
            <a:r>
              <a:rPr lang="en-US" dirty="0"/>
              <a:t>Change control procedures</a:t>
            </a:r>
          </a:p>
          <a:p>
            <a:pPr lvl="1"/>
            <a:r>
              <a:rPr lang="en-US" dirty="0"/>
              <a:t>Risk control procedures</a:t>
            </a:r>
          </a:p>
          <a:p>
            <a:r>
              <a:rPr lang="en-US" dirty="0"/>
              <a:t>Safety and Security Issues</a:t>
            </a:r>
          </a:p>
          <a:p>
            <a:pPr lvl="1"/>
            <a:r>
              <a:rPr lang="en-US" dirty="0"/>
              <a:t>Public safety and cyber security issues</a:t>
            </a:r>
          </a:p>
          <a:p>
            <a:pPr lvl="1"/>
            <a:r>
              <a:rPr lang="en-US" dirty="0"/>
              <a:t>safety and security regulations, standards, policies, and requirements </a:t>
            </a:r>
            <a:br>
              <a:rPr lang="en-US" dirty="0"/>
            </a:b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11</a:t>
            </a:fld>
            <a:endParaRPr lang="en-US"/>
          </a:p>
        </p:txBody>
      </p:sp>
    </p:spTree>
    <p:extLst>
      <p:ext uri="{BB962C8B-B14F-4D97-AF65-F5344CB8AC3E}">
        <p14:creationId xmlns:p14="http://schemas.microsoft.com/office/powerpoint/2010/main" val="373518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Schedule Management: Tools and Techniques</a:t>
            </a:r>
          </a:p>
        </p:txBody>
      </p:sp>
      <p:sp>
        <p:nvSpPr>
          <p:cNvPr id="3" name="Content Placeholder 2"/>
          <p:cNvSpPr>
            <a:spLocks noGrp="1"/>
          </p:cNvSpPr>
          <p:nvPr>
            <p:ph idx="1"/>
          </p:nvPr>
        </p:nvSpPr>
        <p:spPr/>
        <p:txBody>
          <a:bodyPr/>
          <a:lstStyle/>
          <a:p>
            <a:pPr>
              <a:lnSpc>
                <a:spcPct val="150000"/>
              </a:lnSpc>
            </a:pPr>
            <a:r>
              <a:rPr lang="en-US" dirty="0"/>
              <a:t>Expert judgment</a:t>
            </a:r>
          </a:p>
          <a:p>
            <a:pPr lvl="1">
              <a:lnSpc>
                <a:spcPct val="150000"/>
              </a:lnSpc>
            </a:pPr>
            <a:r>
              <a:rPr lang="en-US" dirty="0"/>
              <a:t>Expertise in an application area, knowledge area, industry etc.</a:t>
            </a:r>
          </a:p>
          <a:p>
            <a:pPr>
              <a:lnSpc>
                <a:spcPct val="150000"/>
              </a:lnSpc>
            </a:pPr>
            <a:r>
              <a:rPr lang="en-US" dirty="0"/>
              <a:t>Analytical techniques</a:t>
            </a:r>
          </a:p>
          <a:p>
            <a:pPr lvl="1">
              <a:lnSpc>
                <a:spcPct val="150000"/>
              </a:lnSpc>
            </a:pPr>
            <a:r>
              <a:rPr lang="en-US" dirty="0"/>
              <a:t>scheduling methodology, scheduling tools and techniques, estimating approaches, formats, and project management software</a:t>
            </a:r>
          </a:p>
          <a:p>
            <a:pPr>
              <a:lnSpc>
                <a:spcPct val="150000"/>
              </a:lnSpc>
            </a:pPr>
            <a:r>
              <a:rPr lang="en-US" dirty="0"/>
              <a:t>Meetings</a:t>
            </a:r>
          </a:p>
          <a:p>
            <a:pPr lvl="1">
              <a:lnSpc>
                <a:spcPct val="150000"/>
              </a:lnSpc>
            </a:pPr>
            <a:r>
              <a:rPr lang="en-US" dirty="0"/>
              <a:t>project manager, project sponsor, selected project team members, selected stakeholders, anyone with responsibility for schedule planning or execution, and others as needed</a:t>
            </a:r>
          </a:p>
        </p:txBody>
      </p:sp>
      <p:sp>
        <p:nvSpPr>
          <p:cNvPr id="4" name="Slide Number Placeholder 3"/>
          <p:cNvSpPr>
            <a:spLocks noGrp="1"/>
          </p:cNvSpPr>
          <p:nvPr>
            <p:ph type="sldNum" sz="quarter" idx="12"/>
          </p:nvPr>
        </p:nvSpPr>
        <p:spPr/>
        <p:txBody>
          <a:bodyPr/>
          <a:lstStyle/>
          <a:p>
            <a:fld id="{0FF54DE5-C571-48E8-A5BC-B369434E2F44}" type="slidenum">
              <a:rPr lang="en-US" smtClean="0"/>
              <a:t>12</a:t>
            </a:fld>
            <a:endParaRPr lang="en-US"/>
          </a:p>
        </p:txBody>
      </p:sp>
    </p:spTree>
    <p:extLst>
      <p:ext uri="{BB962C8B-B14F-4D97-AF65-F5344CB8AC3E}">
        <p14:creationId xmlns:p14="http://schemas.microsoft.com/office/powerpoint/2010/main" val="189314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 Schedule Management: Outputs</a:t>
            </a:r>
          </a:p>
        </p:txBody>
      </p:sp>
      <p:sp>
        <p:nvSpPr>
          <p:cNvPr id="3" name="Content Placeholder 2"/>
          <p:cNvSpPr>
            <a:spLocks noGrp="1"/>
          </p:cNvSpPr>
          <p:nvPr>
            <p:ph idx="1"/>
          </p:nvPr>
        </p:nvSpPr>
        <p:spPr/>
        <p:txBody>
          <a:bodyPr/>
          <a:lstStyle/>
          <a:p>
            <a:pPr>
              <a:lnSpc>
                <a:spcPct val="150000"/>
              </a:lnSpc>
            </a:pPr>
            <a:r>
              <a:rPr lang="en-US" dirty="0"/>
              <a:t>Schedule management plan</a:t>
            </a:r>
          </a:p>
          <a:p>
            <a:pPr lvl="1">
              <a:lnSpc>
                <a:spcPct val="150000"/>
              </a:lnSpc>
            </a:pPr>
            <a:r>
              <a:rPr lang="en-US" dirty="0"/>
              <a:t>Project schedule model development</a:t>
            </a:r>
          </a:p>
          <a:p>
            <a:pPr lvl="1">
              <a:lnSpc>
                <a:spcPct val="150000"/>
              </a:lnSpc>
            </a:pPr>
            <a:r>
              <a:rPr lang="en-US" dirty="0"/>
              <a:t>Level of accuracy</a:t>
            </a:r>
          </a:p>
          <a:p>
            <a:pPr lvl="1">
              <a:lnSpc>
                <a:spcPct val="150000"/>
              </a:lnSpc>
            </a:pPr>
            <a:r>
              <a:rPr lang="en-US" dirty="0"/>
              <a:t>Units of measure</a:t>
            </a:r>
          </a:p>
          <a:p>
            <a:pPr lvl="1">
              <a:lnSpc>
                <a:spcPct val="150000"/>
              </a:lnSpc>
            </a:pPr>
            <a:r>
              <a:rPr lang="en-US" dirty="0"/>
              <a:t>Organizational procedures links</a:t>
            </a:r>
          </a:p>
          <a:p>
            <a:pPr lvl="1">
              <a:lnSpc>
                <a:spcPct val="150000"/>
              </a:lnSpc>
            </a:pPr>
            <a:r>
              <a:rPr lang="en-US" dirty="0"/>
              <a:t>Project schedule model maintenance</a:t>
            </a:r>
          </a:p>
          <a:p>
            <a:pPr lvl="1">
              <a:lnSpc>
                <a:spcPct val="150000"/>
              </a:lnSpc>
            </a:pPr>
            <a:r>
              <a:rPr lang="en-US" dirty="0"/>
              <a:t>Control thresholds</a:t>
            </a:r>
          </a:p>
          <a:p>
            <a:pPr lvl="1">
              <a:lnSpc>
                <a:spcPct val="150000"/>
              </a:lnSpc>
            </a:pPr>
            <a:r>
              <a:rPr lang="en-US" dirty="0"/>
              <a:t>Rules of performance measurement</a:t>
            </a:r>
          </a:p>
          <a:p>
            <a:pPr lvl="1">
              <a:lnSpc>
                <a:spcPct val="150000"/>
              </a:lnSpc>
            </a:pPr>
            <a:r>
              <a:rPr lang="en-US" dirty="0"/>
              <a:t>Reporting formats</a:t>
            </a:r>
          </a:p>
          <a:p>
            <a:pPr lvl="1">
              <a:lnSpc>
                <a:spcPct val="150000"/>
              </a:lnSpc>
            </a:pPr>
            <a:r>
              <a:rPr lang="en-US" dirty="0"/>
              <a:t>Process descriptions</a:t>
            </a:r>
          </a:p>
        </p:txBody>
      </p:sp>
      <p:sp>
        <p:nvSpPr>
          <p:cNvPr id="4" name="Slide Number Placeholder 3"/>
          <p:cNvSpPr>
            <a:spLocks noGrp="1"/>
          </p:cNvSpPr>
          <p:nvPr>
            <p:ph type="sldNum" sz="quarter" idx="12"/>
          </p:nvPr>
        </p:nvSpPr>
        <p:spPr/>
        <p:txBody>
          <a:bodyPr/>
          <a:lstStyle/>
          <a:p>
            <a:fld id="{0FF54DE5-C571-48E8-A5BC-B369434E2F44}" type="slidenum">
              <a:rPr lang="en-US" smtClean="0"/>
              <a:t>13</a:t>
            </a:fld>
            <a:endParaRPr lang="en-US"/>
          </a:p>
        </p:txBody>
      </p:sp>
    </p:spTree>
    <p:extLst>
      <p:ext uri="{BB962C8B-B14F-4D97-AF65-F5344CB8AC3E}">
        <p14:creationId xmlns:p14="http://schemas.microsoft.com/office/powerpoint/2010/main" val="201836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2: Define Activities</a:t>
            </a:r>
          </a:p>
        </p:txBody>
      </p:sp>
      <p:sp>
        <p:nvSpPr>
          <p:cNvPr id="3" name="Content Placeholder 2"/>
          <p:cNvSpPr>
            <a:spLocks noGrp="1"/>
          </p:cNvSpPr>
          <p:nvPr>
            <p:ph idx="1"/>
          </p:nvPr>
        </p:nvSpPr>
        <p:spPr/>
        <p:txBody>
          <a:bodyPr/>
          <a:lstStyle/>
          <a:p>
            <a:r>
              <a:rPr lang="en-US" dirty="0"/>
              <a:t>The process of identifying and documenting the specific actions</a:t>
            </a:r>
          </a:p>
          <a:p>
            <a:r>
              <a:rPr lang="en-US" dirty="0"/>
              <a:t>A basis for estimating, scheduling, executing, monitoring the work</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14</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pic>
        <p:nvPicPr>
          <p:cNvPr id="7" name="Picture 6"/>
          <p:cNvPicPr>
            <a:picLocks noChangeAspect="1"/>
          </p:cNvPicPr>
          <p:nvPr/>
        </p:nvPicPr>
        <p:blipFill>
          <a:blip r:embed="rId2"/>
          <a:stretch>
            <a:fillRect/>
          </a:stretch>
        </p:blipFill>
        <p:spPr>
          <a:xfrm>
            <a:off x="9559304" y="1427628"/>
            <a:ext cx="2097778" cy="4754963"/>
          </a:xfrm>
          <a:prstGeom prst="rect">
            <a:avLst/>
          </a:prstGeom>
        </p:spPr>
      </p:pic>
    </p:spTree>
    <p:extLst>
      <p:ext uri="{BB962C8B-B14F-4D97-AF65-F5344CB8AC3E}">
        <p14:creationId xmlns:p14="http://schemas.microsoft.com/office/powerpoint/2010/main" val="328005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 Activities: Inputs</a:t>
            </a:r>
          </a:p>
        </p:txBody>
      </p:sp>
      <p:sp>
        <p:nvSpPr>
          <p:cNvPr id="3" name="Content Placeholder 2"/>
          <p:cNvSpPr>
            <a:spLocks noGrp="1"/>
          </p:cNvSpPr>
          <p:nvPr>
            <p:ph idx="1"/>
          </p:nvPr>
        </p:nvSpPr>
        <p:spPr/>
        <p:txBody>
          <a:bodyPr>
            <a:normAutofit lnSpcReduction="10000"/>
          </a:bodyPr>
          <a:lstStyle/>
          <a:p>
            <a:r>
              <a:rPr lang="en-US" dirty="0"/>
              <a:t>Schedule management plan</a:t>
            </a:r>
          </a:p>
          <a:p>
            <a:r>
              <a:rPr lang="en-US" dirty="0"/>
              <a:t>Scope baseline</a:t>
            </a:r>
          </a:p>
          <a:p>
            <a:pPr lvl="1"/>
            <a:r>
              <a:rPr lang="en-US" dirty="0"/>
              <a:t>Organization’s enterprise architecture</a:t>
            </a:r>
          </a:p>
          <a:p>
            <a:r>
              <a:rPr lang="en-US" dirty="0"/>
              <a:t>Enterprise environmental factors</a:t>
            </a:r>
          </a:p>
          <a:p>
            <a:pPr lvl="1"/>
            <a:r>
              <a:rPr lang="en-US" dirty="0"/>
              <a:t>Organizational cultures and structure</a:t>
            </a:r>
          </a:p>
          <a:p>
            <a:pPr lvl="1"/>
            <a:r>
              <a:rPr lang="en-US" dirty="0"/>
              <a:t>Published commercial information from commercial databases</a:t>
            </a:r>
          </a:p>
          <a:p>
            <a:pPr lvl="1"/>
            <a:r>
              <a:rPr lang="en-US" dirty="0"/>
              <a:t>Project management information system (PMIS)</a:t>
            </a:r>
          </a:p>
          <a:p>
            <a:r>
              <a:rPr lang="en-US" dirty="0"/>
              <a:t>Organizational process assets</a:t>
            </a:r>
          </a:p>
          <a:p>
            <a:r>
              <a:rPr lang="en-US" dirty="0"/>
              <a:t>Additional factors</a:t>
            </a:r>
          </a:p>
          <a:p>
            <a:pPr lvl="1" algn="just">
              <a:lnSpc>
                <a:spcPct val="150000"/>
              </a:lnSpc>
            </a:pPr>
            <a:r>
              <a:rPr lang="en-US" dirty="0"/>
              <a:t>Existing work orders and enhancement requests; technical debt remaining from previous work, incomplete functionality, and needed rework; business process changes; and activities external to a software project such as database or operating system upgrades</a:t>
            </a:r>
          </a:p>
        </p:txBody>
      </p:sp>
      <p:sp>
        <p:nvSpPr>
          <p:cNvPr id="4" name="Slide Number Placeholder 3"/>
          <p:cNvSpPr>
            <a:spLocks noGrp="1"/>
          </p:cNvSpPr>
          <p:nvPr>
            <p:ph type="sldNum" sz="quarter" idx="12"/>
          </p:nvPr>
        </p:nvSpPr>
        <p:spPr/>
        <p:txBody>
          <a:bodyPr/>
          <a:lstStyle/>
          <a:p>
            <a:fld id="{0FF54DE5-C571-48E8-A5BC-B369434E2F44}" type="slidenum">
              <a:rPr lang="en-US" smtClean="0"/>
              <a:t>15</a:t>
            </a:fld>
            <a:endParaRPr lang="en-US"/>
          </a:p>
        </p:txBody>
      </p:sp>
    </p:spTree>
    <p:extLst>
      <p:ext uri="{BB962C8B-B14F-4D97-AF65-F5344CB8AC3E}">
        <p14:creationId xmlns:p14="http://schemas.microsoft.com/office/powerpoint/2010/main" val="390264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 Activities: Tools and Techniques</a:t>
            </a:r>
          </a:p>
        </p:txBody>
      </p:sp>
      <p:sp>
        <p:nvSpPr>
          <p:cNvPr id="3" name="Content Placeholder 2"/>
          <p:cNvSpPr>
            <a:spLocks noGrp="1"/>
          </p:cNvSpPr>
          <p:nvPr>
            <p:ph idx="1"/>
          </p:nvPr>
        </p:nvSpPr>
        <p:spPr/>
        <p:txBody>
          <a:bodyPr>
            <a:normAutofit lnSpcReduction="10000"/>
          </a:bodyPr>
          <a:lstStyle/>
          <a:p>
            <a:r>
              <a:rPr lang="en-US" dirty="0"/>
              <a:t>Decomposition</a:t>
            </a:r>
          </a:p>
          <a:p>
            <a:pPr lvl="1"/>
            <a:r>
              <a:rPr lang="en-US" dirty="0"/>
              <a:t>Dividing the project scope and deliverables into smaller, more manageable parts</a:t>
            </a:r>
          </a:p>
          <a:p>
            <a:pPr lvl="1"/>
            <a:r>
              <a:rPr lang="en-US" dirty="0"/>
              <a:t>Work packages in WBS are decomposed into </a:t>
            </a:r>
            <a:r>
              <a:rPr lang="en-US" dirty="0" smtClean="0"/>
              <a:t>activities</a:t>
            </a:r>
          </a:p>
          <a:p>
            <a:pPr lvl="1"/>
            <a:r>
              <a:rPr lang="en-US" dirty="0"/>
              <a:t>Activities represent the effort needed to complete a work package.</a:t>
            </a:r>
          </a:p>
          <a:p>
            <a:r>
              <a:rPr lang="en-US" dirty="0"/>
              <a:t>Rolling wave planning</a:t>
            </a:r>
          </a:p>
          <a:p>
            <a:r>
              <a:rPr lang="en-US" dirty="0"/>
              <a:t>Expert judgment</a:t>
            </a:r>
          </a:p>
          <a:p>
            <a:r>
              <a:rPr lang="en-US" dirty="0"/>
              <a:t>Story breakdown structure</a:t>
            </a:r>
          </a:p>
          <a:p>
            <a:pPr lvl="1"/>
            <a:r>
              <a:rPr lang="en-US" dirty="0"/>
              <a:t>User stories</a:t>
            </a:r>
          </a:p>
          <a:p>
            <a:pPr lvl="2"/>
            <a:r>
              <a:rPr lang="en-US" dirty="0"/>
              <a:t>Epic and themes</a:t>
            </a:r>
          </a:p>
          <a:p>
            <a:pPr lvl="1"/>
            <a:r>
              <a:rPr lang="en-US" dirty="0"/>
              <a:t>Procurement, documentation, risk management etc. based on stories</a:t>
            </a:r>
          </a:p>
          <a:p>
            <a:r>
              <a:rPr lang="en-US" dirty="0"/>
              <a:t>Storyboards</a:t>
            </a:r>
          </a:p>
          <a:p>
            <a:r>
              <a:rPr lang="en-US" dirty="0"/>
              <a:t>Use cases</a:t>
            </a:r>
          </a:p>
        </p:txBody>
      </p:sp>
      <p:sp>
        <p:nvSpPr>
          <p:cNvPr id="4" name="Slide Number Placeholder 3"/>
          <p:cNvSpPr>
            <a:spLocks noGrp="1"/>
          </p:cNvSpPr>
          <p:nvPr>
            <p:ph type="sldNum" sz="quarter" idx="12"/>
          </p:nvPr>
        </p:nvSpPr>
        <p:spPr/>
        <p:txBody>
          <a:bodyPr/>
          <a:lstStyle/>
          <a:p>
            <a:fld id="{0FF54DE5-C571-48E8-A5BC-B369434E2F44}" type="slidenum">
              <a:rPr lang="en-US" smtClean="0"/>
              <a:t>16</a:t>
            </a:fld>
            <a:endParaRPr lang="en-US"/>
          </a:p>
        </p:txBody>
      </p:sp>
    </p:spTree>
    <p:extLst>
      <p:ext uri="{BB962C8B-B14F-4D97-AF65-F5344CB8AC3E}">
        <p14:creationId xmlns:p14="http://schemas.microsoft.com/office/powerpoint/2010/main" val="1819344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 Activities: Outputs [1/2]</a:t>
            </a:r>
          </a:p>
        </p:txBody>
      </p:sp>
      <p:sp>
        <p:nvSpPr>
          <p:cNvPr id="3" name="Content Placeholder 2"/>
          <p:cNvSpPr>
            <a:spLocks noGrp="1"/>
          </p:cNvSpPr>
          <p:nvPr>
            <p:ph idx="1"/>
          </p:nvPr>
        </p:nvSpPr>
        <p:spPr>
          <a:xfrm>
            <a:off x="716973" y="1600199"/>
            <a:ext cx="10744200" cy="4883727"/>
          </a:xfrm>
        </p:spPr>
        <p:txBody>
          <a:bodyPr>
            <a:normAutofit fontScale="92500"/>
          </a:bodyPr>
          <a:lstStyle/>
          <a:p>
            <a:r>
              <a:rPr lang="en-US" dirty="0"/>
              <a:t>Activity list</a:t>
            </a:r>
          </a:p>
          <a:p>
            <a:pPr lvl="1"/>
            <a:r>
              <a:rPr lang="en-US" dirty="0"/>
              <a:t>Comprehensive list of all schedule activities having identifier and scope of work</a:t>
            </a:r>
          </a:p>
          <a:p>
            <a:pPr lvl="1"/>
            <a:r>
              <a:rPr lang="en-US" dirty="0"/>
              <a:t>Coordination with entities external</a:t>
            </a:r>
          </a:p>
          <a:p>
            <a:r>
              <a:rPr lang="en-US" dirty="0"/>
              <a:t>Activity attributes</a:t>
            </a:r>
          </a:p>
          <a:p>
            <a:pPr lvl="1">
              <a:lnSpc>
                <a:spcPct val="150000"/>
              </a:lnSpc>
            </a:pPr>
            <a:r>
              <a:rPr lang="en-US" dirty="0"/>
              <a:t>Multiple components associated with an activity</a:t>
            </a:r>
          </a:p>
          <a:p>
            <a:pPr lvl="1">
              <a:lnSpc>
                <a:spcPct val="150000"/>
              </a:lnSpc>
            </a:pPr>
            <a:r>
              <a:rPr lang="en-US" dirty="0"/>
              <a:t>Activity identifier (ID), WBS ID, activity label, activity codes, activity description, predecessor activities, successor activities, logical relationships, leads and lags, resource requirements, imposed dates, constraints, and assumptions</a:t>
            </a:r>
          </a:p>
          <a:p>
            <a:pPr lvl="1">
              <a:lnSpc>
                <a:spcPct val="150000"/>
              </a:lnSpc>
            </a:pPr>
            <a:r>
              <a:rPr lang="en-US" dirty="0"/>
              <a:t>Dependencies and enabling precedent activities</a:t>
            </a:r>
          </a:p>
          <a:p>
            <a:pPr lvl="1">
              <a:lnSpc>
                <a:spcPct val="150000"/>
              </a:lnSpc>
            </a:pPr>
            <a:r>
              <a:rPr lang="en-US" dirty="0"/>
              <a:t>Stakeholder value or priority</a:t>
            </a:r>
          </a:p>
          <a:p>
            <a:pPr lvl="1">
              <a:lnSpc>
                <a:spcPct val="150000"/>
              </a:lnSpc>
            </a:pPr>
            <a:r>
              <a:rPr lang="en-US" dirty="0"/>
              <a:t>Estimated effort, size, complexity, and/or risk</a:t>
            </a:r>
          </a:p>
          <a:p>
            <a:pPr lvl="1">
              <a:lnSpc>
                <a:spcPct val="150000"/>
              </a:lnSpc>
            </a:pPr>
            <a:r>
              <a:rPr lang="en-US" dirty="0"/>
              <a:t>Security and/or safety standards and constraints</a:t>
            </a:r>
          </a:p>
          <a:p>
            <a:pPr lvl="1">
              <a:lnSpc>
                <a:spcPct val="150000"/>
              </a:lnSpc>
            </a:pPr>
            <a:r>
              <a:rPr lang="en-US" dirty="0"/>
              <a:t>Special competencies required of project team members and others</a:t>
            </a:r>
          </a:p>
        </p:txBody>
      </p:sp>
      <p:sp>
        <p:nvSpPr>
          <p:cNvPr id="4" name="Slide Number Placeholder 3"/>
          <p:cNvSpPr>
            <a:spLocks noGrp="1"/>
          </p:cNvSpPr>
          <p:nvPr>
            <p:ph type="sldNum" sz="quarter" idx="12"/>
          </p:nvPr>
        </p:nvSpPr>
        <p:spPr/>
        <p:txBody>
          <a:bodyPr/>
          <a:lstStyle/>
          <a:p>
            <a:fld id="{0FF54DE5-C571-48E8-A5BC-B369434E2F44}" type="slidenum">
              <a:rPr lang="en-US" smtClean="0"/>
              <a:t>17</a:t>
            </a:fld>
            <a:endParaRPr lang="en-US"/>
          </a:p>
        </p:txBody>
      </p:sp>
    </p:spTree>
    <p:extLst>
      <p:ext uri="{BB962C8B-B14F-4D97-AF65-F5344CB8AC3E}">
        <p14:creationId xmlns:p14="http://schemas.microsoft.com/office/powerpoint/2010/main" val="548350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 Activities: Outputs [2/2]</a:t>
            </a:r>
          </a:p>
        </p:txBody>
      </p:sp>
      <p:sp>
        <p:nvSpPr>
          <p:cNvPr id="3" name="Content Placeholder 2"/>
          <p:cNvSpPr>
            <a:spLocks noGrp="1"/>
          </p:cNvSpPr>
          <p:nvPr>
            <p:ph idx="1"/>
          </p:nvPr>
        </p:nvSpPr>
        <p:spPr/>
        <p:txBody>
          <a:bodyPr/>
          <a:lstStyle/>
          <a:p>
            <a:r>
              <a:rPr lang="en-US" dirty="0"/>
              <a:t>Milestone list</a:t>
            </a:r>
          </a:p>
          <a:p>
            <a:pPr lvl="1">
              <a:lnSpc>
                <a:spcPct val="150000"/>
              </a:lnSpc>
            </a:pPr>
            <a:r>
              <a:rPr lang="en-US" dirty="0"/>
              <a:t>Milestone is a significant point or event in a project</a:t>
            </a:r>
          </a:p>
          <a:p>
            <a:pPr lvl="1">
              <a:lnSpc>
                <a:spcPct val="150000"/>
              </a:lnSpc>
            </a:pPr>
            <a:r>
              <a:rPr lang="en-US" dirty="0"/>
              <a:t>List contains all milestones of a project</a:t>
            </a:r>
          </a:p>
          <a:p>
            <a:pPr lvl="1">
              <a:lnSpc>
                <a:spcPct val="150000"/>
              </a:lnSpc>
            </a:pPr>
            <a:r>
              <a:rPr lang="en-US" dirty="0"/>
              <a:t>Mandatory or optional</a:t>
            </a:r>
          </a:p>
          <a:p>
            <a:pPr lvl="1">
              <a:lnSpc>
                <a:spcPct val="150000"/>
              </a:lnSpc>
            </a:pPr>
            <a:r>
              <a:rPr lang="en-US" dirty="0"/>
              <a:t>Zero duration</a:t>
            </a:r>
          </a:p>
          <a:p>
            <a:pPr lvl="1">
              <a:lnSpc>
                <a:spcPct val="150000"/>
              </a:lnSpc>
            </a:pPr>
            <a:r>
              <a:rPr lang="en-US" dirty="0"/>
              <a:t>Anchor points in software development life cycle</a:t>
            </a:r>
          </a:p>
          <a:p>
            <a:pPr lvl="1">
              <a:lnSpc>
                <a:spcPct val="150000"/>
              </a:lnSpc>
            </a:pPr>
            <a:r>
              <a:rPr lang="en-US" dirty="0"/>
              <a:t>Predictive software development: requirements and architectural design reviews, customer reviews, and product delivery </a:t>
            </a:r>
          </a:p>
          <a:p>
            <a:pPr lvl="1">
              <a:lnSpc>
                <a:spcPct val="150000"/>
              </a:lnSpc>
            </a:pPr>
            <a:r>
              <a:rPr lang="en-US" dirty="0"/>
              <a:t>On-demand scheduling methods: no milestones, customer satisfaction </a:t>
            </a:r>
          </a:p>
          <a:p>
            <a:pPr lvl="1">
              <a:lnSpc>
                <a:spcPct val="150000"/>
              </a:lnSpc>
            </a:pPr>
            <a:r>
              <a:rPr lang="en-US" dirty="0"/>
              <a:t>Define joint milestones with interdependent projects to reduce project risk</a:t>
            </a:r>
          </a:p>
          <a:p>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18</a:t>
            </a:fld>
            <a:endParaRPr lang="en-US"/>
          </a:p>
        </p:txBody>
      </p:sp>
    </p:spTree>
    <p:extLst>
      <p:ext uri="{BB962C8B-B14F-4D97-AF65-F5344CB8AC3E}">
        <p14:creationId xmlns:p14="http://schemas.microsoft.com/office/powerpoint/2010/main" val="46895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3: Sequence Activities</a:t>
            </a:r>
          </a:p>
        </p:txBody>
      </p:sp>
      <p:sp>
        <p:nvSpPr>
          <p:cNvPr id="3" name="Content Placeholder 2"/>
          <p:cNvSpPr>
            <a:spLocks noGrp="1"/>
          </p:cNvSpPr>
          <p:nvPr>
            <p:ph idx="1"/>
          </p:nvPr>
        </p:nvSpPr>
        <p:spPr/>
        <p:txBody>
          <a:bodyPr/>
          <a:lstStyle/>
          <a:p>
            <a:r>
              <a:rPr lang="en-US" dirty="0"/>
              <a:t>Process of identifying and documenting relationships among the activities </a:t>
            </a:r>
          </a:p>
          <a:p>
            <a:r>
              <a:rPr lang="en-US" dirty="0"/>
              <a:t>The logical sequence of work to obtain the greatest efficiency</a:t>
            </a:r>
          </a:p>
          <a:p>
            <a:r>
              <a:rPr lang="en-US" dirty="0"/>
              <a:t>Software projects are different in nature</a:t>
            </a:r>
          </a:p>
          <a:p>
            <a:pPr lvl="1">
              <a:lnSpc>
                <a:spcPct val="150000"/>
              </a:lnSpc>
            </a:pPr>
            <a:r>
              <a:rPr lang="en-US" dirty="0"/>
              <a:t>Dependencies on database structure and infrastructure needs etc.</a:t>
            </a:r>
          </a:p>
          <a:p>
            <a:pPr lvl="1">
              <a:lnSpc>
                <a:spcPct val="150000"/>
              </a:lnSpc>
            </a:pPr>
            <a:r>
              <a:rPr lang="en-US" dirty="0"/>
              <a:t>Establish and refine the operational concepts, to build prototypes, to define architecture</a:t>
            </a:r>
          </a:p>
          <a:p>
            <a:pPr lvl="1">
              <a:lnSpc>
                <a:spcPct val="150000"/>
              </a:lnSpc>
            </a:pPr>
            <a:r>
              <a:rPr lang="en-US" dirty="0"/>
              <a:t>Depends on the familiarity, size, and complexity of the software product</a:t>
            </a:r>
          </a:p>
          <a:p>
            <a:pPr lvl="1">
              <a:lnSpc>
                <a:spcPct val="150000"/>
              </a:lnSpc>
            </a:pPr>
            <a:r>
              <a:rPr lang="en-US" dirty="0"/>
              <a:t>Software architecture has a significant impact</a:t>
            </a:r>
          </a:p>
          <a:p>
            <a:pPr lvl="1">
              <a:lnSpc>
                <a:spcPct val="150000"/>
              </a:lnSpc>
            </a:pPr>
            <a:r>
              <a:rPr lang="en-US" dirty="0"/>
              <a:t>Software schedules are frequently revised</a:t>
            </a:r>
          </a:p>
          <a:p>
            <a:pPr lvl="2">
              <a:lnSpc>
                <a:spcPct val="150000"/>
              </a:lnSpc>
            </a:pPr>
            <a:r>
              <a:rPr lang="en-US" dirty="0"/>
              <a:t>Unscheduled prototyping, code experimentation, “dark matter”</a:t>
            </a:r>
          </a:p>
          <a:p>
            <a:pPr lvl="2"/>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19</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pic>
        <p:nvPicPr>
          <p:cNvPr id="5" name="Picture 4"/>
          <p:cNvPicPr>
            <a:picLocks noChangeAspect="1"/>
          </p:cNvPicPr>
          <p:nvPr/>
        </p:nvPicPr>
        <p:blipFill>
          <a:blip r:embed="rId2"/>
          <a:stretch>
            <a:fillRect/>
          </a:stretch>
        </p:blipFill>
        <p:spPr>
          <a:xfrm>
            <a:off x="10078128" y="1306760"/>
            <a:ext cx="1669773" cy="5332142"/>
          </a:xfrm>
          <a:prstGeom prst="rect">
            <a:avLst/>
          </a:prstGeom>
        </p:spPr>
      </p:pic>
    </p:spTree>
    <p:extLst>
      <p:ext uri="{BB962C8B-B14F-4D97-AF65-F5344CB8AC3E}">
        <p14:creationId xmlns:p14="http://schemas.microsoft.com/office/powerpoint/2010/main" val="2258284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Activities: Inputs</a:t>
            </a:r>
          </a:p>
        </p:txBody>
      </p:sp>
      <p:sp>
        <p:nvSpPr>
          <p:cNvPr id="3" name="Content Placeholder 2"/>
          <p:cNvSpPr>
            <a:spLocks noGrp="1"/>
          </p:cNvSpPr>
          <p:nvPr>
            <p:ph idx="1"/>
          </p:nvPr>
        </p:nvSpPr>
        <p:spPr/>
        <p:txBody>
          <a:bodyPr/>
          <a:lstStyle/>
          <a:p>
            <a:r>
              <a:rPr lang="en-US" dirty="0"/>
              <a:t>Schedule management plan</a:t>
            </a:r>
          </a:p>
          <a:p>
            <a:r>
              <a:rPr lang="en-US" dirty="0"/>
              <a:t>Activity list</a:t>
            </a:r>
          </a:p>
          <a:p>
            <a:r>
              <a:rPr lang="en-US" dirty="0"/>
              <a:t>Activity attributes</a:t>
            </a:r>
          </a:p>
          <a:p>
            <a:r>
              <a:rPr lang="en-US" dirty="0"/>
              <a:t>Milestone list</a:t>
            </a:r>
          </a:p>
          <a:p>
            <a:r>
              <a:rPr lang="en-US" dirty="0"/>
              <a:t>Project scope management</a:t>
            </a:r>
          </a:p>
          <a:p>
            <a:r>
              <a:rPr lang="en-US" dirty="0"/>
              <a:t>Enterprise environmental factors</a:t>
            </a:r>
          </a:p>
          <a:p>
            <a:r>
              <a:rPr lang="en-US" dirty="0"/>
              <a:t>Organizational process </a:t>
            </a:r>
            <a:r>
              <a:rPr lang="en-US" dirty="0" smtClean="0"/>
              <a:t>assets</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20</a:t>
            </a:fld>
            <a:endParaRPr lang="en-US"/>
          </a:p>
        </p:txBody>
      </p:sp>
    </p:spTree>
    <p:extLst>
      <p:ext uri="{BB962C8B-B14F-4D97-AF65-F5344CB8AC3E}">
        <p14:creationId xmlns:p14="http://schemas.microsoft.com/office/powerpoint/2010/main" val="401177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Activities: Tools and Techniques [1/4]</a:t>
            </a:r>
          </a:p>
        </p:txBody>
      </p:sp>
      <p:sp>
        <p:nvSpPr>
          <p:cNvPr id="3" name="Content Placeholder 2"/>
          <p:cNvSpPr>
            <a:spLocks noGrp="1"/>
          </p:cNvSpPr>
          <p:nvPr>
            <p:ph idx="1"/>
          </p:nvPr>
        </p:nvSpPr>
        <p:spPr>
          <a:xfrm>
            <a:off x="225287" y="1600200"/>
            <a:ext cx="9982200" cy="4572000"/>
          </a:xfrm>
        </p:spPr>
        <p:txBody>
          <a:bodyPr/>
          <a:lstStyle/>
          <a:p>
            <a:r>
              <a:rPr lang="en-US" dirty="0"/>
              <a:t>Precedence </a:t>
            </a:r>
            <a:r>
              <a:rPr lang="en-US" dirty="0" smtClean="0"/>
              <a:t>Diagramming Method (PDM)</a:t>
            </a:r>
            <a:endParaRPr lang="en-US" dirty="0"/>
          </a:p>
          <a:p>
            <a:pPr lvl="1"/>
            <a:r>
              <a:rPr lang="en-US" dirty="0"/>
              <a:t>Activities represented as nodes and are linked by logical relationships</a:t>
            </a:r>
          </a:p>
          <a:p>
            <a:pPr lvl="1"/>
            <a:r>
              <a:rPr lang="en-US" dirty="0"/>
              <a:t>Activity-on-Node (AON)</a:t>
            </a:r>
          </a:p>
          <a:p>
            <a:pPr lvl="1"/>
            <a:r>
              <a:rPr lang="en-US" dirty="0"/>
              <a:t>Types of dependencies / logical relationship</a:t>
            </a:r>
          </a:p>
          <a:p>
            <a:pPr lvl="2"/>
            <a:r>
              <a:rPr lang="en-US" dirty="0"/>
              <a:t>Finish-to-start (FS)</a:t>
            </a:r>
          </a:p>
          <a:p>
            <a:pPr lvl="3"/>
            <a:r>
              <a:rPr lang="en-US" dirty="0"/>
              <a:t>Award ceremony cannot start until the race has finished</a:t>
            </a:r>
          </a:p>
          <a:p>
            <a:pPr lvl="2"/>
            <a:r>
              <a:rPr lang="en-US" dirty="0"/>
              <a:t>Finish-to-finish (FF)</a:t>
            </a:r>
          </a:p>
          <a:p>
            <a:pPr lvl="3"/>
            <a:r>
              <a:rPr lang="en-US" dirty="0"/>
              <a:t>Document writing is required to finish before editing the document can finish</a:t>
            </a:r>
          </a:p>
          <a:p>
            <a:pPr lvl="2"/>
            <a:r>
              <a:rPr lang="en-US" dirty="0"/>
              <a:t>Start-to-start (SS)</a:t>
            </a:r>
          </a:p>
          <a:p>
            <a:pPr lvl="3"/>
            <a:r>
              <a:rPr lang="en-US" dirty="0"/>
              <a:t>Level concrete cannot begin until pour foundation begins</a:t>
            </a:r>
          </a:p>
          <a:p>
            <a:pPr lvl="2"/>
            <a:r>
              <a:rPr lang="en-US" dirty="0"/>
              <a:t>Start-to-finish (SF)</a:t>
            </a:r>
          </a:p>
          <a:p>
            <a:pPr lvl="3"/>
            <a:r>
              <a:rPr lang="en-US" dirty="0"/>
              <a:t>The first security guard shift cannot finish until the second security guard shift starts</a:t>
            </a:r>
          </a:p>
        </p:txBody>
      </p:sp>
      <p:sp>
        <p:nvSpPr>
          <p:cNvPr id="4" name="Slide Number Placeholder 3"/>
          <p:cNvSpPr>
            <a:spLocks noGrp="1"/>
          </p:cNvSpPr>
          <p:nvPr>
            <p:ph type="sldNum" sz="quarter" idx="12"/>
          </p:nvPr>
        </p:nvSpPr>
        <p:spPr/>
        <p:txBody>
          <a:bodyPr/>
          <a:lstStyle/>
          <a:p>
            <a:fld id="{0FF54DE5-C571-48E8-A5BC-B369434E2F44}" type="slidenum">
              <a:rPr lang="en-US" smtClean="0"/>
              <a:t>21</a:t>
            </a:fld>
            <a:endParaRPr lang="en-US"/>
          </a:p>
        </p:txBody>
      </p:sp>
      <p:pic>
        <p:nvPicPr>
          <p:cNvPr id="6" name="Picture 5"/>
          <p:cNvPicPr>
            <a:picLocks noChangeAspect="1"/>
          </p:cNvPicPr>
          <p:nvPr/>
        </p:nvPicPr>
        <p:blipFill>
          <a:blip r:embed="rId2"/>
          <a:stretch>
            <a:fillRect/>
          </a:stretch>
        </p:blipFill>
        <p:spPr>
          <a:xfrm>
            <a:off x="7408718" y="1386282"/>
            <a:ext cx="4559803" cy="2263250"/>
          </a:xfrm>
          <a:prstGeom prst="rect">
            <a:avLst/>
          </a:prstGeom>
        </p:spPr>
      </p:pic>
      <p:sp>
        <p:nvSpPr>
          <p:cNvPr id="7" name="TextBox 6"/>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157</a:t>
            </a:r>
          </a:p>
        </p:txBody>
      </p:sp>
    </p:spTree>
    <p:extLst>
      <p:ext uri="{BB962C8B-B14F-4D97-AF65-F5344CB8AC3E}">
        <p14:creationId xmlns:p14="http://schemas.microsoft.com/office/powerpoint/2010/main" val="341003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Activities: Tools and Techniques [2/4]</a:t>
            </a:r>
          </a:p>
        </p:txBody>
      </p:sp>
      <p:sp>
        <p:nvSpPr>
          <p:cNvPr id="4" name="Slide Number Placeholder 3"/>
          <p:cNvSpPr>
            <a:spLocks noGrp="1"/>
          </p:cNvSpPr>
          <p:nvPr>
            <p:ph type="sldNum" sz="quarter" idx="12"/>
          </p:nvPr>
        </p:nvSpPr>
        <p:spPr/>
        <p:txBody>
          <a:bodyPr/>
          <a:lstStyle/>
          <a:p>
            <a:fld id="{0FF54DE5-C571-48E8-A5BC-B369434E2F44}" type="slidenum">
              <a:rPr lang="en-US" smtClean="0"/>
              <a:t>22</a:t>
            </a:fld>
            <a:endParaRPr lang="en-US"/>
          </a:p>
        </p:txBody>
      </p:sp>
      <p:sp>
        <p:nvSpPr>
          <p:cNvPr id="7" name="Content Placeholder 6"/>
          <p:cNvSpPr>
            <a:spLocks noGrp="1"/>
          </p:cNvSpPr>
          <p:nvPr>
            <p:ph idx="1"/>
          </p:nvPr>
        </p:nvSpPr>
        <p:spPr/>
        <p:txBody>
          <a:bodyPr/>
          <a:lstStyle/>
          <a:p>
            <a:r>
              <a:rPr lang="en-US" dirty="0"/>
              <a:t>Dependency determination</a:t>
            </a:r>
          </a:p>
          <a:p>
            <a:pPr lvl="1"/>
            <a:r>
              <a:rPr lang="en-US" dirty="0"/>
              <a:t>Mandatory dependencies</a:t>
            </a:r>
          </a:p>
          <a:p>
            <a:pPr lvl="2"/>
            <a:r>
              <a:rPr lang="en-US" dirty="0"/>
              <a:t>Hard logic, hard dependencies</a:t>
            </a:r>
          </a:p>
          <a:p>
            <a:pPr lvl="2"/>
            <a:r>
              <a:rPr lang="en-US" dirty="0"/>
              <a:t>Legal, contractual, or inherent </a:t>
            </a:r>
          </a:p>
          <a:p>
            <a:pPr lvl="1"/>
            <a:r>
              <a:rPr lang="en-US" dirty="0"/>
              <a:t>Discretionary dependencies</a:t>
            </a:r>
          </a:p>
          <a:p>
            <a:pPr lvl="2"/>
            <a:r>
              <a:rPr lang="en-US" dirty="0"/>
              <a:t>Preferred logic, preferential logic, soft logic</a:t>
            </a:r>
          </a:p>
          <a:p>
            <a:pPr lvl="2"/>
            <a:r>
              <a:rPr lang="en-US" dirty="0"/>
              <a:t>Based on knowledge of best practices</a:t>
            </a:r>
          </a:p>
          <a:p>
            <a:pPr lvl="2"/>
            <a:r>
              <a:rPr lang="en-US" dirty="0"/>
              <a:t>Should be fully documented</a:t>
            </a:r>
          </a:p>
          <a:p>
            <a:pPr lvl="1"/>
            <a:r>
              <a:rPr lang="en-US" dirty="0"/>
              <a:t>External dependencies</a:t>
            </a:r>
          </a:p>
          <a:p>
            <a:pPr lvl="2"/>
            <a:r>
              <a:rPr lang="en-US" dirty="0"/>
              <a:t>Relationship between project and non-project activities</a:t>
            </a:r>
          </a:p>
          <a:p>
            <a:pPr lvl="1"/>
            <a:r>
              <a:rPr lang="en-US" dirty="0"/>
              <a:t>Internal dependencies</a:t>
            </a:r>
          </a:p>
          <a:p>
            <a:pPr lvl="2"/>
            <a:r>
              <a:rPr lang="en-US" dirty="0"/>
              <a:t>Precedence relationship between project activities</a:t>
            </a:r>
          </a:p>
          <a:p>
            <a:pPr lvl="2"/>
            <a:endParaRPr lang="en-US" dirty="0"/>
          </a:p>
        </p:txBody>
      </p:sp>
    </p:spTree>
    <p:extLst>
      <p:ext uri="{BB962C8B-B14F-4D97-AF65-F5344CB8AC3E}">
        <p14:creationId xmlns:p14="http://schemas.microsoft.com/office/powerpoint/2010/main" val="1442951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Sequence Activities: Tools and Techniques [3/4]</a:t>
            </a:r>
            <a:endParaRPr lang="en-US" dirty="0"/>
          </a:p>
        </p:txBody>
      </p:sp>
      <p:sp>
        <p:nvSpPr>
          <p:cNvPr id="7" name="Content Placeholder 6"/>
          <p:cNvSpPr>
            <a:spLocks noGrp="1"/>
          </p:cNvSpPr>
          <p:nvPr>
            <p:ph idx="1"/>
          </p:nvPr>
        </p:nvSpPr>
        <p:spPr/>
        <p:txBody>
          <a:bodyPr/>
          <a:lstStyle/>
          <a:p>
            <a:r>
              <a:rPr lang="en-US" smtClean="0"/>
              <a:t>Leads and lags</a:t>
            </a:r>
          </a:p>
          <a:p>
            <a:pPr lvl="1"/>
            <a:r>
              <a:rPr lang="en-US" smtClean="0"/>
              <a:t>Lead</a:t>
            </a:r>
          </a:p>
          <a:p>
            <a:pPr lvl="2"/>
            <a:r>
              <a:rPr lang="en-US" smtClean="0"/>
              <a:t>The amount of time whereby a successor activity can be advanced with respect to a predecessor activity</a:t>
            </a:r>
          </a:p>
          <a:p>
            <a:pPr lvl="2"/>
            <a:r>
              <a:rPr lang="en-US" smtClean="0"/>
              <a:t>Represented as a negative value for lag</a:t>
            </a:r>
          </a:p>
          <a:p>
            <a:pPr lvl="1"/>
            <a:r>
              <a:rPr lang="en-US" smtClean="0"/>
              <a:t>Lag</a:t>
            </a:r>
          </a:p>
          <a:p>
            <a:pPr lvl="2"/>
            <a:r>
              <a:rPr lang="en-US" smtClean="0"/>
              <a:t>The amount of time whereby a successor activity will be delayed with respect to a predecessor activity</a:t>
            </a:r>
          </a:p>
          <a:p>
            <a:pPr lvl="1"/>
            <a:r>
              <a:rPr lang="en-US" smtClean="0"/>
              <a:t>Activities and their related assumptions should be documented</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pPr/>
              <a:t>23</a:t>
            </a:fld>
            <a:endParaRPr lang="en-US"/>
          </a:p>
        </p:txBody>
      </p:sp>
      <p:pic>
        <p:nvPicPr>
          <p:cNvPr id="3" name="Picture 2"/>
          <p:cNvPicPr>
            <a:picLocks noChangeAspect="1"/>
          </p:cNvPicPr>
          <p:nvPr/>
        </p:nvPicPr>
        <p:blipFill>
          <a:blip r:embed="rId2"/>
          <a:stretch>
            <a:fillRect/>
          </a:stretch>
        </p:blipFill>
        <p:spPr>
          <a:xfrm>
            <a:off x="3669403" y="4264854"/>
            <a:ext cx="6176962" cy="1583302"/>
          </a:xfrm>
          <a:prstGeom prst="rect">
            <a:avLst/>
          </a:prstGeom>
        </p:spPr>
      </p:pic>
      <p:sp>
        <p:nvSpPr>
          <p:cNvPr id="6" name="TextBox 5"/>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158</a:t>
            </a:r>
          </a:p>
        </p:txBody>
      </p:sp>
    </p:spTree>
    <p:extLst>
      <p:ext uri="{BB962C8B-B14F-4D97-AF65-F5344CB8AC3E}">
        <p14:creationId xmlns:p14="http://schemas.microsoft.com/office/powerpoint/2010/main" val="404351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Activities: Outputs</a:t>
            </a:r>
          </a:p>
        </p:txBody>
      </p:sp>
      <p:sp>
        <p:nvSpPr>
          <p:cNvPr id="3" name="Content Placeholder 2"/>
          <p:cNvSpPr>
            <a:spLocks noGrp="1"/>
          </p:cNvSpPr>
          <p:nvPr>
            <p:ph idx="1"/>
          </p:nvPr>
        </p:nvSpPr>
        <p:spPr/>
        <p:txBody>
          <a:bodyPr/>
          <a:lstStyle/>
          <a:p>
            <a:r>
              <a:rPr lang="en-US" dirty="0"/>
              <a:t>Project schedule network diagrams</a:t>
            </a:r>
          </a:p>
          <a:p>
            <a:pPr lvl="1"/>
            <a:r>
              <a:rPr lang="en-US" dirty="0"/>
              <a:t>Graphical representation</a:t>
            </a:r>
          </a:p>
          <a:p>
            <a:pPr lvl="1"/>
            <a:r>
              <a:rPr lang="en-US" dirty="0"/>
              <a:t>Description should be associated  for unusual sequence</a:t>
            </a:r>
          </a:p>
          <a:p>
            <a:r>
              <a:rPr lang="en-US" dirty="0"/>
              <a:t>Project documents updates</a:t>
            </a:r>
          </a:p>
          <a:p>
            <a:pPr lvl="1"/>
            <a:r>
              <a:rPr lang="en-US" dirty="0"/>
              <a:t>Activity lists and attributes, milestone list, and risk register</a:t>
            </a:r>
          </a:p>
          <a:p>
            <a:r>
              <a:rPr lang="en-US" dirty="0"/>
              <a:t>Features sets</a:t>
            </a:r>
          </a:p>
          <a:p>
            <a:r>
              <a:rPr lang="en-US" dirty="0"/>
              <a:t>Release plans</a:t>
            </a:r>
          </a:p>
          <a:p>
            <a:pPr lvl="1"/>
            <a:r>
              <a:rPr lang="en-US" dirty="0"/>
              <a:t>The overall project schedule of releases</a:t>
            </a:r>
          </a:p>
          <a:p>
            <a:pPr lvl="1"/>
            <a:r>
              <a:rPr lang="en-US" dirty="0"/>
              <a:t>Dependent on the production of the software team</a:t>
            </a:r>
          </a:p>
          <a:p>
            <a:r>
              <a:rPr lang="en-US" dirty="0"/>
              <a:t>Architectural and nonfunctional dependencies</a:t>
            </a:r>
          </a:p>
          <a:p>
            <a:pPr lvl="1"/>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24</a:t>
            </a:fld>
            <a:endParaRPr lang="en-US"/>
          </a:p>
        </p:txBody>
      </p:sp>
      <p:pic>
        <p:nvPicPr>
          <p:cNvPr id="5" name="Picture 4"/>
          <p:cNvPicPr>
            <a:picLocks noChangeAspect="1"/>
          </p:cNvPicPr>
          <p:nvPr/>
        </p:nvPicPr>
        <p:blipFill>
          <a:blip r:embed="rId2"/>
          <a:stretch>
            <a:fillRect/>
          </a:stretch>
        </p:blipFill>
        <p:spPr>
          <a:xfrm>
            <a:off x="765615" y="1654126"/>
            <a:ext cx="9408516" cy="3819413"/>
          </a:xfrm>
          <a:prstGeom prst="rect">
            <a:avLst/>
          </a:prstGeom>
        </p:spPr>
      </p:pic>
      <p:sp>
        <p:nvSpPr>
          <p:cNvPr id="6" name="TextBox 5"/>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160</a:t>
            </a:r>
          </a:p>
        </p:txBody>
      </p:sp>
    </p:spTree>
    <p:extLst>
      <p:ext uri="{BB962C8B-B14F-4D97-AF65-F5344CB8AC3E}">
        <p14:creationId xmlns:p14="http://schemas.microsoft.com/office/powerpoint/2010/main" val="196218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4: Estimate Activity Resources</a:t>
            </a:r>
          </a:p>
        </p:txBody>
      </p:sp>
      <p:sp>
        <p:nvSpPr>
          <p:cNvPr id="3" name="Content Placeholder 2"/>
          <p:cNvSpPr>
            <a:spLocks noGrp="1"/>
          </p:cNvSpPr>
          <p:nvPr>
            <p:ph idx="1"/>
          </p:nvPr>
        </p:nvSpPr>
        <p:spPr/>
        <p:txBody>
          <a:bodyPr/>
          <a:lstStyle/>
          <a:p>
            <a:r>
              <a:rPr lang="en-US" dirty="0"/>
              <a:t>Estimating the type and quantities of material, people, equipment, or supplies</a:t>
            </a:r>
          </a:p>
          <a:p>
            <a:r>
              <a:rPr lang="en-US" dirty="0"/>
              <a:t>Identification of the type, quantity, and characteristics of resources required</a:t>
            </a:r>
          </a:p>
          <a:p>
            <a:r>
              <a:rPr lang="en-US" dirty="0"/>
              <a:t>More accurate cost and duration estimates</a:t>
            </a:r>
          </a:p>
          <a:p>
            <a:r>
              <a:rPr lang="en-US" dirty="0"/>
              <a:t>The skills and abilities of software developers are significant </a:t>
            </a:r>
            <a:r>
              <a:rPr lang="en-US" dirty="0" smtClean="0"/>
              <a:t>factors</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25</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pic>
        <p:nvPicPr>
          <p:cNvPr id="7" name="Picture 6"/>
          <p:cNvPicPr>
            <a:picLocks noChangeAspect="1"/>
          </p:cNvPicPr>
          <p:nvPr/>
        </p:nvPicPr>
        <p:blipFill>
          <a:blip r:embed="rId2"/>
          <a:stretch>
            <a:fillRect/>
          </a:stretch>
        </p:blipFill>
        <p:spPr>
          <a:xfrm>
            <a:off x="10223914" y="2150918"/>
            <a:ext cx="1968086" cy="4611095"/>
          </a:xfrm>
          <a:prstGeom prst="rect">
            <a:avLst/>
          </a:prstGeom>
        </p:spPr>
      </p:pic>
    </p:spTree>
    <p:extLst>
      <p:ext uri="{BB962C8B-B14F-4D97-AF65-F5344CB8AC3E}">
        <p14:creationId xmlns:p14="http://schemas.microsoft.com/office/powerpoint/2010/main" val="384471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Resources: Inputs</a:t>
            </a:r>
          </a:p>
        </p:txBody>
      </p:sp>
      <p:sp>
        <p:nvSpPr>
          <p:cNvPr id="3" name="Content Placeholder 2"/>
          <p:cNvSpPr>
            <a:spLocks noGrp="1"/>
          </p:cNvSpPr>
          <p:nvPr>
            <p:ph idx="1"/>
          </p:nvPr>
        </p:nvSpPr>
        <p:spPr/>
        <p:txBody>
          <a:bodyPr/>
          <a:lstStyle/>
          <a:p>
            <a:r>
              <a:rPr lang="en-US" dirty="0"/>
              <a:t>Schedule management plan</a:t>
            </a:r>
          </a:p>
          <a:p>
            <a:r>
              <a:rPr lang="en-US" dirty="0"/>
              <a:t>Activity list</a:t>
            </a:r>
          </a:p>
          <a:p>
            <a:r>
              <a:rPr lang="en-US" dirty="0"/>
              <a:t>Activity attributes</a:t>
            </a:r>
          </a:p>
          <a:p>
            <a:r>
              <a:rPr lang="en-US" dirty="0"/>
              <a:t>Resource calendars</a:t>
            </a:r>
          </a:p>
          <a:p>
            <a:r>
              <a:rPr lang="en-US" dirty="0"/>
              <a:t>Risk register</a:t>
            </a:r>
          </a:p>
          <a:p>
            <a:r>
              <a:rPr lang="en-US" dirty="0"/>
              <a:t>Activity cost estimates</a:t>
            </a:r>
          </a:p>
          <a:p>
            <a:r>
              <a:rPr lang="en-US" dirty="0"/>
              <a:t>Enterprise environmental factors</a:t>
            </a:r>
          </a:p>
          <a:p>
            <a:pPr lvl="1"/>
            <a:r>
              <a:rPr lang="en-US" dirty="0"/>
              <a:t>Resource location, availability, and skills</a:t>
            </a:r>
          </a:p>
          <a:p>
            <a:r>
              <a:rPr lang="en-US" dirty="0"/>
              <a:t>Organizational process assets</a:t>
            </a:r>
          </a:p>
        </p:txBody>
      </p:sp>
      <p:sp>
        <p:nvSpPr>
          <p:cNvPr id="4" name="Slide Number Placeholder 3"/>
          <p:cNvSpPr>
            <a:spLocks noGrp="1"/>
          </p:cNvSpPr>
          <p:nvPr>
            <p:ph type="sldNum" sz="quarter" idx="12"/>
          </p:nvPr>
        </p:nvSpPr>
        <p:spPr/>
        <p:txBody>
          <a:bodyPr/>
          <a:lstStyle/>
          <a:p>
            <a:fld id="{0FF54DE5-C571-48E8-A5BC-B369434E2F44}" type="slidenum">
              <a:rPr lang="en-US" smtClean="0"/>
              <a:t>26</a:t>
            </a:fld>
            <a:endParaRPr lang="en-US"/>
          </a:p>
        </p:txBody>
      </p:sp>
    </p:spTree>
    <p:extLst>
      <p:ext uri="{BB962C8B-B14F-4D97-AF65-F5344CB8AC3E}">
        <p14:creationId xmlns:p14="http://schemas.microsoft.com/office/powerpoint/2010/main" val="419200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Resources: Tools and Techniques</a:t>
            </a:r>
          </a:p>
        </p:txBody>
      </p:sp>
      <p:sp>
        <p:nvSpPr>
          <p:cNvPr id="3" name="Content Placeholder 2"/>
          <p:cNvSpPr>
            <a:spLocks noGrp="1"/>
          </p:cNvSpPr>
          <p:nvPr>
            <p:ph idx="1"/>
          </p:nvPr>
        </p:nvSpPr>
        <p:spPr/>
        <p:txBody>
          <a:bodyPr/>
          <a:lstStyle/>
          <a:p>
            <a:r>
              <a:rPr lang="en-US" dirty="0"/>
              <a:t>Expert judgment</a:t>
            </a:r>
          </a:p>
          <a:p>
            <a:r>
              <a:rPr lang="en-US" dirty="0"/>
              <a:t>Alternative analysis</a:t>
            </a:r>
          </a:p>
          <a:p>
            <a:r>
              <a:rPr lang="en-US" dirty="0"/>
              <a:t>Published estimating data</a:t>
            </a:r>
          </a:p>
          <a:p>
            <a:r>
              <a:rPr lang="en-US" dirty="0"/>
              <a:t>Bottom-up estimating</a:t>
            </a:r>
          </a:p>
          <a:p>
            <a:r>
              <a:rPr lang="en-US" dirty="0"/>
              <a:t>Project management software</a:t>
            </a:r>
          </a:p>
          <a:p>
            <a:r>
              <a:rPr lang="en-US" dirty="0"/>
              <a:t>Service-level agreements</a:t>
            </a:r>
          </a:p>
          <a:p>
            <a:r>
              <a:rPr lang="en-US" dirty="0"/>
              <a:t>Other tools and techniques</a:t>
            </a:r>
          </a:p>
          <a:p>
            <a:pPr lvl="1"/>
            <a:r>
              <a:rPr lang="en-US" dirty="0"/>
              <a:t>Algorithmic estimation models </a:t>
            </a:r>
          </a:p>
          <a:p>
            <a:pPr lvl="1"/>
            <a:r>
              <a:rPr lang="en-US" dirty="0"/>
              <a:t>Function point/story point/use-case estimation tools</a:t>
            </a:r>
          </a:p>
        </p:txBody>
      </p:sp>
      <p:sp>
        <p:nvSpPr>
          <p:cNvPr id="4" name="Slide Number Placeholder 3"/>
          <p:cNvSpPr>
            <a:spLocks noGrp="1"/>
          </p:cNvSpPr>
          <p:nvPr>
            <p:ph type="sldNum" sz="quarter" idx="12"/>
          </p:nvPr>
        </p:nvSpPr>
        <p:spPr/>
        <p:txBody>
          <a:bodyPr/>
          <a:lstStyle/>
          <a:p>
            <a:fld id="{0FF54DE5-C571-48E8-A5BC-B369434E2F44}" type="slidenum">
              <a:rPr lang="en-US" smtClean="0"/>
              <a:t>27</a:t>
            </a:fld>
            <a:endParaRPr lang="en-US"/>
          </a:p>
        </p:txBody>
      </p:sp>
    </p:spTree>
    <p:extLst>
      <p:ext uri="{BB962C8B-B14F-4D97-AF65-F5344CB8AC3E}">
        <p14:creationId xmlns:p14="http://schemas.microsoft.com/office/powerpoint/2010/main" val="123121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Resources: Outputs</a:t>
            </a:r>
          </a:p>
        </p:txBody>
      </p:sp>
      <p:sp>
        <p:nvSpPr>
          <p:cNvPr id="3" name="Content Placeholder 2"/>
          <p:cNvSpPr>
            <a:spLocks noGrp="1"/>
          </p:cNvSpPr>
          <p:nvPr>
            <p:ph idx="1"/>
          </p:nvPr>
        </p:nvSpPr>
        <p:spPr/>
        <p:txBody>
          <a:bodyPr/>
          <a:lstStyle/>
          <a:p>
            <a:r>
              <a:rPr lang="en-US" dirty="0"/>
              <a:t>Activity resource requirements</a:t>
            </a:r>
          </a:p>
          <a:p>
            <a:pPr lvl="1"/>
            <a:r>
              <a:rPr lang="en-US" dirty="0"/>
              <a:t>Types and quantities of resources required</a:t>
            </a:r>
          </a:p>
          <a:p>
            <a:r>
              <a:rPr lang="en-US" dirty="0"/>
              <a:t>Resource breakdown structure</a:t>
            </a:r>
          </a:p>
          <a:p>
            <a:pPr lvl="1"/>
            <a:r>
              <a:rPr lang="en-US" dirty="0"/>
              <a:t>Hierarchical representation of resources</a:t>
            </a:r>
          </a:p>
          <a:p>
            <a:pPr lvl="1"/>
            <a:r>
              <a:rPr lang="en-US" dirty="0"/>
              <a:t>Resource categories: labor, material, equipment, and supplies etc.</a:t>
            </a:r>
          </a:p>
          <a:p>
            <a:pPr lvl="1"/>
            <a:r>
              <a:rPr lang="en-US" dirty="0"/>
              <a:t>Resource types: skill level and grade level etc.</a:t>
            </a:r>
          </a:p>
          <a:p>
            <a:r>
              <a:rPr lang="en-US" dirty="0"/>
              <a:t>Project documents updates</a:t>
            </a:r>
          </a:p>
          <a:p>
            <a:pPr lvl="1"/>
            <a:r>
              <a:rPr lang="en-US" dirty="0"/>
              <a:t>Activity list and attributes, resource calendars</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28</a:t>
            </a:fld>
            <a:endParaRPr lang="en-US"/>
          </a:p>
        </p:txBody>
      </p:sp>
    </p:spTree>
    <p:extLst>
      <p:ext uri="{BB962C8B-B14F-4D97-AF65-F5344CB8AC3E}">
        <p14:creationId xmlns:p14="http://schemas.microsoft.com/office/powerpoint/2010/main" val="1840244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5: Estimate Activity Durations</a:t>
            </a:r>
          </a:p>
        </p:txBody>
      </p:sp>
      <p:sp>
        <p:nvSpPr>
          <p:cNvPr id="3" name="Content Placeholder 2"/>
          <p:cNvSpPr>
            <a:spLocks noGrp="1"/>
          </p:cNvSpPr>
          <p:nvPr>
            <p:ph idx="1"/>
          </p:nvPr>
        </p:nvSpPr>
        <p:spPr/>
        <p:txBody>
          <a:bodyPr/>
          <a:lstStyle/>
          <a:p>
            <a:r>
              <a:rPr lang="en-US" dirty="0"/>
              <a:t>Estimating the number of work periods needed to complete activities</a:t>
            </a:r>
          </a:p>
          <a:p>
            <a:r>
              <a:rPr lang="en-US" dirty="0"/>
              <a:t>Factors affecting estimates in software projects</a:t>
            </a:r>
          </a:p>
          <a:p>
            <a:pPr lvl="1"/>
            <a:r>
              <a:rPr lang="en-US" dirty="0"/>
              <a:t>Intangibility of software</a:t>
            </a:r>
          </a:p>
          <a:p>
            <a:pPr lvl="1"/>
            <a:r>
              <a:rPr lang="en-US" dirty="0"/>
              <a:t>Broad variance in productivity of software developers</a:t>
            </a:r>
          </a:p>
          <a:p>
            <a:pPr lvl="1"/>
            <a:r>
              <a:rPr lang="en-US" dirty="0"/>
              <a:t>Need for changes to meet emergent requirements</a:t>
            </a:r>
          </a:p>
          <a:p>
            <a:pPr lvl="1"/>
            <a:r>
              <a:rPr lang="en-US" dirty="0"/>
              <a:t>The often unprecedented nature of the software product</a:t>
            </a:r>
          </a:p>
          <a:p>
            <a:pPr lvl="1"/>
            <a:r>
              <a:rPr lang="en-US" dirty="0"/>
              <a:t>Unknown competencies of the software team</a:t>
            </a:r>
          </a:p>
          <a:p>
            <a:pPr lvl="1"/>
            <a:r>
              <a:rPr lang="en-US" dirty="0"/>
              <a:t>Unknown hardware or software defects</a:t>
            </a:r>
          </a:p>
          <a:p>
            <a:pPr lvl="1"/>
            <a:r>
              <a:rPr lang="en-US" dirty="0"/>
              <a:t>The need to incorporate other software (legacy, commercial, open-source etc.)</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29</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pic>
        <p:nvPicPr>
          <p:cNvPr id="5" name="Picture 4"/>
          <p:cNvPicPr>
            <a:picLocks noChangeAspect="1"/>
          </p:cNvPicPr>
          <p:nvPr/>
        </p:nvPicPr>
        <p:blipFill>
          <a:blip r:embed="rId2"/>
          <a:stretch>
            <a:fillRect/>
          </a:stretch>
        </p:blipFill>
        <p:spPr>
          <a:xfrm>
            <a:off x="10027046" y="1449704"/>
            <a:ext cx="1796291" cy="4906647"/>
          </a:xfrm>
          <a:prstGeom prst="rect">
            <a:avLst/>
          </a:prstGeom>
        </p:spPr>
      </p:pic>
    </p:spTree>
    <p:extLst>
      <p:ext uri="{BB962C8B-B14F-4D97-AF65-F5344CB8AC3E}">
        <p14:creationId xmlns:p14="http://schemas.microsoft.com/office/powerpoint/2010/main" val="294344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Durations: Inputs</a:t>
            </a:r>
          </a:p>
        </p:txBody>
      </p:sp>
      <p:sp>
        <p:nvSpPr>
          <p:cNvPr id="3" name="Content Placeholder 2"/>
          <p:cNvSpPr>
            <a:spLocks noGrp="1"/>
          </p:cNvSpPr>
          <p:nvPr>
            <p:ph idx="1"/>
          </p:nvPr>
        </p:nvSpPr>
        <p:spPr/>
        <p:txBody>
          <a:bodyPr>
            <a:normAutofit fontScale="70000" lnSpcReduction="20000"/>
          </a:bodyPr>
          <a:lstStyle/>
          <a:p>
            <a:r>
              <a:rPr lang="en-US" dirty="0"/>
              <a:t>Schedule management plan</a:t>
            </a:r>
          </a:p>
          <a:p>
            <a:r>
              <a:rPr lang="en-US" dirty="0"/>
              <a:t>Activity list</a:t>
            </a:r>
          </a:p>
          <a:p>
            <a:r>
              <a:rPr lang="en-US" dirty="0"/>
              <a:t>Activity attributes</a:t>
            </a:r>
          </a:p>
          <a:p>
            <a:r>
              <a:rPr lang="en-US" dirty="0"/>
              <a:t>Activity resource requirements</a:t>
            </a:r>
          </a:p>
          <a:p>
            <a:r>
              <a:rPr lang="en-US" dirty="0"/>
              <a:t>Resource calendars</a:t>
            </a:r>
          </a:p>
          <a:p>
            <a:r>
              <a:rPr lang="en-US" dirty="0"/>
              <a:t>Project scope statement</a:t>
            </a:r>
          </a:p>
          <a:p>
            <a:r>
              <a:rPr lang="en-US" dirty="0"/>
              <a:t>Risk register</a:t>
            </a:r>
          </a:p>
          <a:p>
            <a:r>
              <a:rPr lang="en-US" dirty="0"/>
              <a:t>Resource breakdown structure</a:t>
            </a:r>
          </a:p>
          <a:p>
            <a:r>
              <a:rPr lang="en-US" dirty="0"/>
              <a:t>Enterprise environmental factors</a:t>
            </a:r>
          </a:p>
          <a:p>
            <a:r>
              <a:rPr lang="en-US" dirty="0"/>
              <a:t>Organizational process assets</a:t>
            </a:r>
          </a:p>
          <a:p>
            <a:r>
              <a:rPr lang="en-US" dirty="0"/>
              <a:t>Additional inputs</a:t>
            </a:r>
          </a:p>
          <a:p>
            <a:pPr lvl="1"/>
            <a:r>
              <a:rPr lang="en-US" dirty="0"/>
              <a:t>Customer stories and features organized into lists, groups, or sets </a:t>
            </a:r>
          </a:p>
          <a:p>
            <a:pPr lvl="1"/>
            <a:r>
              <a:rPr lang="en-US" dirty="0"/>
              <a:t>Velocity and rework metrics</a:t>
            </a:r>
          </a:p>
        </p:txBody>
      </p:sp>
      <p:sp>
        <p:nvSpPr>
          <p:cNvPr id="4" name="Slide Number Placeholder 3"/>
          <p:cNvSpPr>
            <a:spLocks noGrp="1"/>
          </p:cNvSpPr>
          <p:nvPr>
            <p:ph type="sldNum" sz="quarter" idx="12"/>
          </p:nvPr>
        </p:nvSpPr>
        <p:spPr/>
        <p:txBody>
          <a:bodyPr/>
          <a:lstStyle/>
          <a:p>
            <a:fld id="{0FF54DE5-C571-48E8-A5BC-B369434E2F44}" type="slidenum">
              <a:rPr lang="en-US" smtClean="0"/>
              <a:t>30</a:t>
            </a:fld>
            <a:endParaRPr lang="en-US"/>
          </a:p>
        </p:txBody>
      </p:sp>
    </p:spTree>
    <p:extLst>
      <p:ext uri="{BB962C8B-B14F-4D97-AF65-F5344CB8AC3E}">
        <p14:creationId xmlns:p14="http://schemas.microsoft.com/office/powerpoint/2010/main" val="4047368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Durations: Tools and Techniques [1/2]</a:t>
            </a:r>
          </a:p>
        </p:txBody>
      </p:sp>
      <p:sp>
        <p:nvSpPr>
          <p:cNvPr id="3" name="Content Placeholder 2"/>
          <p:cNvSpPr>
            <a:spLocks noGrp="1"/>
          </p:cNvSpPr>
          <p:nvPr>
            <p:ph idx="1"/>
          </p:nvPr>
        </p:nvSpPr>
        <p:spPr/>
        <p:txBody>
          <a:bodyPr/>
          <a:lstStyle/>
          <a:p>
            <a:r>
              <a:rPr lang="en-US" dirty="0"/>
              <a:t>Expert judgment</a:t>
            </a:r>
          </a:p>
          <a:p>
            <a:r>
              <a:rPr lang="en-US" dirty="0"/>
              <a:t>Analogous estimating</a:t>
            </a:r>
          </a:p>
          <a:p>
            <a:r>
              <a:rPr lang="en-US" dirty="0"/>
              <a:t>Parametric estimating</a:t>
            </a:r>
          </a:p>
          <a:p>
            <a:r>
              <a:rPr lang="en-US" dirty="0"/>
              <a:t>Three-point estimating</a:t>
            </a:r>
          </a:p>
          <a:p>
            <a:pPr lvl="1"/>
            <a:r>
              <a:rPr lang="en-US" dirty="0"/>
              <a:t>Program Evaluation and Review Technique (PERT)</a:t>
            </a:r>
          </a:p>
          <a:p>
            <a:pPr lvl="2"/>
            <a:r>
              <a:rPr lang="en-US" dirty="0"/>
              <a:t>Most likely (</a:t>
            </a:r>
            <a:r>
              <a:rPr lang="en-US" dirty="0" err="1"/>
              <a:t>tM</a:t>
            </a:r>
            <a:r>
              <a:rPr lang="en-US" dirty="0"/>
              <a:t>): the average case scenario</a:t>
            </a:r>
          </a:p>
          <a:p>
            <a:pPr lvl="2"/>
            <a:r>
              <a:rPr lang="en-US" dirty="0"/>
              <a:t>Optimistic (</a:t>
            </a:r>
            <a:r>
              <a:rPr lang="en-US" dirty="0" err="1"/>
              <a:t>tO</a:t>
            </a:r>
            <a:r>
              <a:rPr lang="en-US" dirty="0"/>
              <a:t>): the best case scenario </a:t>
            </a:r>
          </a:p>
          <a:p>
            <a:pPr lvl="2"/>
            <a:r>
              <a:rPr lang="en-US" dirty="0"/>
              <a:t>Pessimistic (</a:t>
            </a:r>
            <a:r>
              <a:rPr lang="en-US" dirty="0" err="1"/>
              <a:t>tP</a:t>
            </a:r>
            <a:r>
              <a:rPr lang="en-US" dirty="0"/>
              <a:t>):  the worst case scenario</a:t>
            </a:r>
          </a:p>
          <a:p>
            <a:pPr lvl="2"/>
            <a:r>
              <a:rPr lang="en-US" dirty="0"/>
              <a:t>Triangular distribution. </a:t>
            </a:r>
            <a:r>
              <a:rPr lang="en-US" dirty="0" err="1"/>
              <a:t>tE</a:t>
            </a:r>
            <a:r>
              <a:rPr lang="en-US" dirty="0"/>
              <a:t> = (</a:t>
            </a:r>
            <a:r>
              <a:rPr lang="en-US" dirty="0" err="1"/>
              <a:t>tO</a:t>
            </a:r>
            <a:r>
              <a:rPr lang="en-US" dirty="0"/>
              <a:t> + </a:t>
            </a:r>
            <a:r>
              <a:rPr lang="en-US" dirty="0" err="1"/>
              <a:t>tM</a:t>
            </a:r>
            <a:r>
              <a:rPr lang="en-US" dirty="0"/>
              <a:t> + </a:t>
            </a:r>
            <a:r>
              <a:rPr lang="en-US" dirty="0" err="1"/>
              <a:t>tP</a:t>
            </a:r>
            <a:r>
              <a:rPr lang="en-US" dirty="0"/>
              <a:t>) / 3</a:t>
            </a:r>
          </a:p>
          <a:p>
            <a:pPr lvl="2"/>
            <a:r>
              <a:rPr lang="en-US" dirty="0"/>
              <a:t>Beta distribution (from the traditional PERT technique). </a:t>
            </a:r>
            <a:r>
              <a:rPr lang="en-US" dirty="0" err="1"/>
              <a:t>tE</a:t>
            </a:r>
            <a:r>
              <a:rPr lang="en-US" dirty="0"/>
              <a:t> = (</a:t>
            </a:r>
            <a:r>
              <a:rPr lang="en-US" dirty="0" err="1"/>
              <a:t>tO</a:t>
            </a:r>
            <a:r>
              <a:rPr lang="en-US" dirty="0"/>
              <a:t> + 4tM + </a:t>
            </a:r>
            <a:r>
              <a:rPr lang="en-US" dirty="0" err="1"/>
              <a:t>tP</a:t>
            </a:r>
            <a:r>
              <a:rPr lang="en-US" dirty="0"/>
              <a:t>) / </a:t>
            </a:r>
            <a:r>
              <a:rPr lang="en-US" dirty="0" smtClean="0"/>
              <a:t>6</a:t>
            </a:r>
          </a:p>
          <a:p>
            <a:r>
              <a:rPr lang="en-US" dirty="0" smtClean="0"/>
              <a:t>Bottom </a:t>
            </a:r>
            <a:r>
              <a:rPr lang="en-US" smtClean="0"/>
              <a:t>Up Estimation</a:t>
            </a:r>
            <a:endParaRPr lang="en-US" dirty="0"/>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31</a:t>
            </a:fld>
            <a:endParaRPr lang="en-US"/>
          </a:p>
        </p:txBody>
      </p:sp>
    </p:spTree>
    <p:extLst>
      <p:ext uri="{BB962C8B-B14F-4D97-AF65-F5344CB8AC3E}">
        <p14:creationId xmlns:p14="http://schemas.microsoft.com/office/powerpoint/2010/main" val="1537445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Durations: Tools and Techniques [2/2]</a:t>
            </a:r>
          </a:p>
        </p:txBody>
      </p:sp>
      <p:sp>
        <p:nvSpPr>
          <p:cNvPr id="3" name="Content Placeholder 2"/>
          <p:cNvSpPr>
            <a:spLocks noGrp="1"/>
          </p:cNvSpPr>
          <p:nvPr>
            <p:ph idx="1"/>
          </p:nvPr>
        </p:nvSpPr>
        <p:spPr/>
        <p:txBody>
          <a:bodyPr/>
          <a:lstStyle/>
          <a:p>
            <a:r>
              <a:rPr lang="en-US" dirty="0"/>
              <a:t>Group decision-making </a:t>
            </a:r>
            <a:r>
              <a:rPr lang="en-US" dirty="0" smtClean="0"/>
              <a:t>techniques</a:t>
            </a:r>
          </a:p>
          <a:p>
            <a:pPr lvl="1"/>
            <a:r>
              <a:rPr lang="en-US" dirty="0" smtClean="0"/>
              <a:t>Voting</a:t>
            </a:r>
          </a:p>
          <a:p>
            <a:pPr lvl="2"/>
            <a:r>
              <a:rPr lang="en-US" dirty="0" smtClean="0"/>
              <a:t>Fist to five</a:t>
            </a:r>
            <a:endParaRPr lang="en-US" dirty="0"/>
          </a:p>
          <a:p>
            <a:r>
              <a:rPr lang="en-US" dirty="0"/>
              <a:t>Reserve analysis</a:t>
            </a:r>
          </a:p>
          <a:p>
            <a:pPr lvl="1"/>
            <a:r>
              <a:rPr lang="en-US" dirty="0"/>
              <a:t>Contingency reserves</a:t>
            </a:r>
          </a:p>
          <a:p>
            <a:pPr lvl="2"/>
            <a:r>
              <a:rPr lang="en-US" dirty="0"/>
              <a:t>“Known-</a:t>
            </a:r>
            <a:r>
              <a:rPr lang="en-US" dirty="0" err="1"/>
              <a:t>unkowns</a:t>
            </a:r>
            <a:r>
              <a:rPr lang="en-US" dirty="0"/>
              <a:t>”</a:t>
            </a:r>
          </a:p>
          <a:p>
            <a:pPr lvl="2"/>
            <a:r>
              <a:rPr lang="en-US" dirty="0"/>
              <a:t>a percentage of the estimated activity duration, a fixed number of work periods, or may be developed by using quantitative analysis methods such as Monte Carlo simulation</a:t>
            </a:r>
          </a:p>
          <a:p>
            <a:pPr lvl="2"/>
            <a:r>
              <a:rPr lang="en-US" dirty="0"/>
              <a:t>May be used, reduced, or eliminated based on more precise information</a:t>
            </a:r>
          </a:p>
          <a:p>
            <a:pPr lvl="2"/>
            <a:r>
              <a:rPr lang="en-US" dirty="0"/>
              <a:t>Included in schedule documentation</a:t>
            </a:r>
          </a:p>
          <a:p>
            <a:pPr lvl="1"/>
            <a:r>
              <a:rPr lang="en-US" dirty="0"/>
              <a:t>Management reserves</a:t>
            </a:r>
          </a:p>
          <a:p>
            <a:pPr lvl="2"/>
            <a:r>
              <a:rPr lang="en-US" dirty="0"/>
              <a:t>Withheld for management control purposes</a:t>
            </a:r>
          </a:p>
          <a:p>
            <a:pPr lvl="2"/>
            <a:r>
              <a:rPr lang="en-US" dirty="0"/>
              <a:t>“Unknown </a:t>
            </a:r>
            <a:r>
              <a:rPr lang="en-US" dirty="0" err="1"/>
              <a:t>unkowns</a:t>
            </a:r>
            <a:r>
              <a:rPr lang="en-US" dirty="0"/>
              <a:t>”</a:t>
            </a:r>
          </a:p>
          <a:p>
            <a:pPr lvl="2"/>
            <a:r>
              <a:rPr lang="en-US" dirty="0"/>
              <a:t>Not included in schedule baseline</a:t>
            </a:r>
          </a:p>
          <a:p>
            <a:pPr lvl="2"/>
            <a:endParaRPr lang="en-US" dirty="0"/>
          </a:p>
          <a:p>
            <a:pPr lvl="2"/>
            <a:endParaRPr lang="en-US" dirty="0"/>
          </a:p>
          <a:p>
            <a:pPr lvl="2"/>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32</a:t>
            </a:fld>
            <a:endParaRPr lang="en-US"/>
          </a:p>
        </p:txBody>
      </p:sp>
    </p:spTree>
    <p:extLst>
      <p:ext uri="{BB962C8B-B14F-4D97-AF65-F5344CB8AC3E}">
        <p14:creationId xmlns:p14="http://schemas.microsoft.com/office/powerpoint/2010/main" val="3636559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 Activity Durations: Outputs</a:t>
            </a:r>
          </a:p>
        </p:txBody>
      </p:sp>
      <p:sp>
        <p:nvSpPr>
          <p:cNvPr id="3" name="Content Placeholder 2"/>
          <p:cNvSpPr>
            <a:spLocks noGrp="1"/>
          </p:cNvSpPr>
          <p:nvPr>
            <p:ph idx="1"/>
          </p:nvPr>
        </p:nvSpPr>
        <p:spPr/>
        <p:txBody>
          <a:bodyPr/>
          <a:lstStyle/>
          <a:p>
            <a:r>
              <a:rPr lang="en-US" dirty="0"/>
              <a:t>Activity duration estimates</a:t>
            </a:r>
          </a:p>
          <a:p>
            <a:pPr lvl="1"/>
            <a:r>
              <a:rPr lang="en-US" dirty="0"/>
              <a:t>Quantitative assessment of time required to complete the activity</a:t>
            </a:r>
          </a:p>
          <a:p>
            <a:pPr lvl="1"/>
            <a:r>
              <a:rPr lang="en-US" dirty="0"/>
              <a:t>Lags are not included</a:t>
            </a:r>
          </a:p>
          <a:p>
            <a:pPr lvl="1"/>
            <a:r>
              <a:rPr lang="en-US" dirty="0"/>
              <a:t>Range of time e.g. 2 week </a:t>
            </a:r>
            <a:r>
              <a:rPr lang="en-US" u="sng" dirty="0"/>
              <a:t>+</a:t>
            </a:r>
            <a:r>
              <a:rPr lang="en-US" dirty="0"/>
              <a:t> 2 days or 15% probability of exceeding three weeks</a:t>
            </a:r>
          </a:p>
          <a:p>
            <a:r>
              <a:rPr lang="en-US" dirty="0"/>
              <a:t>Project documents </a:t>
            </a:r>
            <a:r>
              <a:rPr lang="en-US" dirty="0" smtClean="0"/>
              <a:t>updates</a:t>
            </a:r>
          </a:p>
          <a:p>
            <a:pPr lvl="1"/>
            <a:r>
              <a:rPr lang="en-US" dirty="0"/>
              <a:t>Project documents that may be updated include, but are not limited </a:t>
            </a:r>
            <a:r>
              <a:rPr lang="en-US" dirty="0" smtClean="0"/>
              <a:t>to:</a:t>
            </a:r>
          </a:p>
          <a:p>
            <a:pPr lvl="2"/>
            <a:r>
              <a:rPr lang="en-US" dirty="0" smtClean="0"/>
              <a:t>Activity </a:t>
            </a:r>
            <a:r>
              <a:rPr lang="en-US" dirty="0"/>
              <a:t>attributes; </a:t>
            </a:r>
            <a:r>
              <a:rPr lang="en-US" dirty="0" smtClean="0"/>
              <a:t>and</a:t>
            </a:r>
          </a:p>
          <a:p>
            <a:pPr lvl="2"/>
            <a:r>
              <a:rPr lang="en-US" dirty="0" smtClean="0"/>
              <a:t>Assumptions </a:t>
            </a:r>
            <a:r>
              <a:rPr lang="en-US" dirty="0"/>
              <a:t>made in developing the activity duration estimate, such as skill levels and </a:t>
            </a:r>
            <a:r>
              <a:rPr lang="en-US" smtClean="0"/>
              <a:t>availability, as </a:t>
            </a:r>
            <a:r>
              <a:rPr lang="en-US" dirty="0"/>
              <a:t>well as a basis of estimates for durations.</a:t>
            </a:r>
            <a:endParaRPr lang="en-US" dirty="0"/>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33</a:t>
            </a:fld>
            <a:endParaRPr lang="en-US"/>
          </a:p>
        </p:txBody>
      </p:sp>
    </p:spTree>
    <p:extLst>
      <p:ext uri="{BB962C8B-B14F-4D97-AF65-F5344CB8AC3E}">
        <p14:creationId xmlns:p14="http://schemas.microsoft.com/office/powerpoint/2010/main" val="2887205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6: Develop Schedule</a:t>
            </a:r>
          </a:p>
        </p:txBody>
      </p:sp>
      <p:sp>
        <p:nvSpPr>
          <p:cNvPr id="3" name="Content Placeholder 2"/>
          <p:cNvSpPr>
            <a:spLocks noGrp="1"/>
          </p:cNvSpPr>
          <p:nvPr>
            <p:ph idx="1"/>
          </p:nvPr>
        </p:nvSpPr>
        <p:spPr/>
        <p:txBody>
          <a:bodyPr/>
          <a:lstStyle/>
          <a:p>
            <a:r>
              <a:rPr lang="en-US" dirty="0"/>
              <a:t>Process of analyzing activity sequences, durations, resource requirements, and</a:t>
            </a:r>
            <a:br>
              <a:rPr lang="en-US" dirty="0"/>
            </a:br>
            <a:r>
              <a:rPr lang="en-US" dirty="0"/>
              <a:t>schedule constraints to create the project schedule model</a:t>
            </a:r>
          </a:p>
          <a:p>
            <a:r>
              <a:rPr lang="en-US" dirty="0"/>
              <a:t>Iterative process</a:t>
            </a:r>
          </a:p>
          <a:p>
            <a:r>
              <a:rPr lang="en-US" dirty="0"/>
              <a:t>Different presentation forms of project schedules are possible</a:t>
            </a:r>
          </a:p>
          <a:p>
            <a:r>
              <a:rPr lang="en-US" dirty="0"/>
              <a:t>Software project schedules and plans change</a:t>
            </a:r>
          </a:p>
          <a:p>
            <a:pPr lvl="1"/>
            <a:r>
              <a:rPr lang="en-US" dirty="0"/>
              <a:t>Customer requests </a:t>
            </a:r>
          </a:p>
          <a:p>
            <a:pPr lvl="1"/>
            <a:r>
              <a:rPr lang="en-US" dirty="0"/>
              <a:t>Project feedback </a:t>
            </a:r>
          </a:p>
          <a:p>
            <a:pPr lvl="1"/>
            <a:r>
              <a:rPr lang="en-US" dirty="0"/>
              <a:t>The emergence of previously unidentified work activities</a:t>
            </a:r>
          </a:p>
        </p:txBody>
      </p:sp>
      <p:sp>
        <p:nvSpPr>
          <p:cNvPr id="4" name="Slide Number Placeholder 3"/>
          <p:cNvSpPr>
            <a:spLocks noGrp="1"/>
          </p:cNvSpPr>
          <p:nvPr>
            <p:ph type="sldNum" sz="quarter" idx="12"/>
          </p:nvPr>
        </p:nvSpPr>
        <p:spPr/>
        <p:txBody>
          <a:bodyPr/>
          <a:lstStyle/>
          <a:p>
            <a:fld id="{0FF54DE5-C571-48E8-A5BC-B369434E2F44}" type="slidenum">
              <a:rPr lang="en-US" smtClean="0"/>
              <a:t>34</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pic>
        <p:nvPicPr>
          <p:cNvPr id="7" name="Picture 6"/>
          <p:cNvPicPr>
            <a:picLocks noChangeAspect="1"/>
          </p:cNvPicPr>
          <p:nvPr/>
        </p:nvPicPr>
        <p:blipFill>
          <a:blip r:embed="rId2"/>
          <a:stretch>
            <a:fillRect/>
          </a:stretch>
        </p:blipFill>
        <p:spPr>
          <a:xfrm>
            <a:off x="10569211" y="1468712"/>
            <a:ext cx="1622789" cy="5190972"/>
          </a:xfrm>
          <a:prstGeom prst="rect">
            <a:avLst/>
          </a:prstGeom>
        </p:spPr>
      </p:pic>
    </p:spTree>
    <p:extLst>
      <p:ext uri="{BB962C8B-B14F-4D97-AF65-F5344CB8AC3E}">
        <p14:creationId xmlns:p14="http://schemas.microsoft.com/office/powerpoint/2010/main" val="2675305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Inputs [1/2]</a:t>
            </a:r>
          </a:p>
        </p:txBody>
      </p:sp>
      <p:sp>
        <p:nvSpPr>
          <p:cNvPr id="3" name="Content Placeholder 2"/>
          <p:cNvSpPr>
            <a:spLocks noGrp="1"/>
          </p:cNvSpPr>
          <p:nvPr>
            <p:ph idx="1"/>
          </p:nvPr>
        </p:nvSpPr>
        <p:spPr/>
        <p:txBody>
          <a:bodyPr>
            <a:normAutofit/>
          </a:bodyPr>
          <a:lstStyle/>
          <a:p>
            <a:r>
              <a:rPr lang="en-US" dirty="0"/>
              <a:t>Schedule management plan</a:t>
            </a:r>
          </a:p>
          <a:p>
            <a:r>
              <a:rPr lang="en-US" dirty="0"/>
              <a:t>Activity list</a:t>
            </a:r>
          </a:p>
          <a:p>
            <a:r>
              <a:rPr lang="en-US" dirty="0"/>
              <a:t>Activity attributes</a:t>
            </a:r>
          </a:p>
          <a:p>
            <a:r>
              <a:rPr lang="en-US" dirty="0"/>
              <a:t>Project schedule network diagrams</a:t>
            </a:r>
          </a:p>
          <a:p>
            <a:r>
              <a:rPr lang="en-US" dirty="0"/>
              <a:t>Activity resource requirements</a:t>
            </a:r>
          </a:p>
          <a:p>
            <a:r>
              <a:rPr lang="en-US" dirty="0"/>
              <a:t>Resource calendars</a:t>
            </a:r>
          </a:p>
          <a:p>
            <a:r>
              <a:rPr lang="en-US" dirty="0"/>
              <a:t>Activity duration estimates</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35</a:t>
            </a:fld>
            <a:endParaRPr lang="en-US"/>
          </a:p>
        </p:txBody>
      </p:sp>
    </p:spTree>
    <p:extLst>
      <p:ext uri="{BB962C8B-B14F-4D97-AF65-F5344CB8AC3E}">
        <p14:creationId xmlns:p14="http://schemas.microsoft.com/office/powerpoint/2010/main" val="4082380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Inputs [2/2]</a:t>
            </a:r>
          </a:p>
        </p:txBody>
      </p:sp>
      <p:sp>
        <p:nvSpPr>
          <p:cNvPr id="3" name="Content Placeholder 2"/>
          <p:cNvSpPr>
            <a:spLocks noGrp="1"/>
          </p:cNvSpPr>
          <p:nvPr>
            <p:ph idx="1"/>
          </p:nvPr>
        </p:nvSpPr>
        <p:spPr/>
        <p:txBody>
          <a:bodyPr>
            <a:normAutofit/>
          </a:bodyPr>
          <a:lstStyle/>
          <a:p>
            <a:r>
              <a:rPr lang="en-US" dirty="0"/>
              <a:t>Project scope statement</a:t>
            </a:r>
          </a:p>
          <a:p>
            <a:r>
              <a:rPr lang="en-US" dirty="0"/>
              <a:t>Risk register</a:t>
            </a:r>
          </a:p>
          <a:p>
            <a:r>
              <a:rPr lang="en-US" dirty="0"/>
              <a:t>Project staff assignments</a:t>
            </a:r>
          </a:p>
          <a:p>
            <a:r>
              <a:rPr lang="en-US" dirty="0"/>
              <a:t>Resource breakdown structure</a:t>
            </a:r>
          </a:p>
          <a:p>
            <a:r>
              <a:rPr lang="en-US" dirty="0"/>
              <a:t>Enterprise environmental factors</a:t>
            </a:r>
          </a:p>
          <a:p>
            <a:r>
              <a:rPr lang="en-US" dirty="0"/>
              <a:t>Organizational process assets</a:t>
            </a:r>
          </a:p>
          <a:p>
            <a:r>
              <a:rPr lang="en-US" dirty="0"/>
              <a:t>Additional inputs</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36</a:t>
            </a:fld>
            <a:endParaRPr lang="en-US"/>
          </a:p>
        </p:txBody>
      </p:sp>
    </p:spTree>
    <p:extLst>
      <p:ext uri="{BB962C8B-B14F-4D97-AF65-F5344CB8AC3E}">
        <p14:creationId xmlns:p14="http://schemas.microsoft.com/office/powerpoint/2010/main" val="228870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Tools and Techniques [</a:t>
            </a:r>
            <a:r>
              <a:rPr lang="en-US" dirty="0" smtClean="0"/>
              <a:t>1/5]</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541235943"/>
              </p:ext>
            </p:extLst>
          </p:nvPr>
        </p:nvGraphicFramePr>
        <p:xfrm>
          <a:off x="1104900" y="1600200"/>
          <a:ext cx="5989320" cy="1854200"/>
        </p:xfrm>
        <a:graphic>
          <a:graphicData uri="http://schemas.openxmlformats.org/drawingml/2006/table">
            <a:tbl>
              <a:tblPr firstRow="1" bandRow="1">
                <a:tableStyleId>{073A0DAA-6AF3-43AB-8588-CEC1D06C72B9}</a:tableStyleId>
              </a:tblPr>
              <a:tblGrid>
                <a:gridCol w="1996440"/>
                <a:gridCol w="1996440"/>
                <a:gridCol w="1996440"/>
              </a:tblGrid>
              <a:tr h="370840">
                <a:tc>
                  <a:txBody>
                    <a:bodyPr/>
                    <a:lstStyle/>
                    <a:p>
                      <a:r>
                        <a:rPr lang="en-US" dirty="0" smtClean="0"/>
                        <a:t>Activity/Task</a:t>
                      </a:r>
                      <a:endParaRPr lang="en-US" dirty="0"/>
                    </a:p>
                  </a:txBody>
                  <a:tcPr/>
                </a:tc>
                <a:tc>
                  <a:txBody>
                    <a:bodyPr/>
                    <a:lstStyle/>
                    <a:p>
                      <a:r>
                        <a:rPr lang="en-US" dirty="0" smtClean="0"/>
                        <a:t>Duration</a:t>
                      </a:r>
                      <a:endParaRPr lang="en-US" dirty="0"/>
                    </a:p>
                  </a:txBody>
                  <a:tcPr/>
                </a:tc>
                <a:tc>
                  <a:txBody>
                    <a:bodyPr/>
                    <a:lstStyle/>
                    <a:p>
                      <a:r>
                        <a:rPr lang="en-US" dirty="0" smtClean="0"/>
                        <a:t>Precedence</a:t>
                      </a:r>
                      <a:endParaRPr lang="en-US" dirty="0"/>
                    </a:p>
                  </a:txBody>
                  <a:tcPr/>
                </a:tc>
              </a:tr>
              <a:tr h="370840">
                <a:tc>
                  <a:txBody>
                    <a:bodyPr/>
                    <a:lstStyle/>
                    <a:p>
                      <a:r>
                        <a:rPr lang="en-US" dirty="0" smtClean="0"/>
                        <a:t>A</a:t>
                      </a:r>
                      <a:endParaRPr lang="en-US" dirty="0"/>
                    </a:p>
                  </a:txBody>
                  <a:tcPr/>
                </a:tc>
                <a:tc>
                  <a:txBody>
                    <a:bodyPr/>
                    <a:lstStyle/>
                    <a:p>
                      <a:r>
                        <a:rPr lang="en-US" dirty="0" smtClean="0"/>
                        <a:t>5</a:t>
                      </a:r>
                      <a:endParaRPr lang="en-US" dirty="0"/>
                    </a:p>
                  </a:txBody>
                  <a:tcPr/>
                </a:tc>
                <a:tc>
                  <a:txBody>
                    <a:bodyPr/>
                    <a:lstStyle/>
                    <a:p>
                      <a:r>
                        <a:rPr lang="en-US" dirty="0" smtClean="0"/>
                        <a:t>--</a:t>
                      </a:r>
                      <a:endParaRPr lang="en-US" dirty="0"/>
                    </a:p>
                  </a:txBody>
                  <a:tcPr/>
                </a:tc>
              </a:tr>
              <a:tr h="370840">
                <a:tc>
                  <a:txBody>
                    <a:bodyPr/>
                    <a:lstStyle/>
                    <a:p>
                      <a:r>
                        <a:rPr lang="en-US" dirty="0" smtClean="0"/>
                        <a:t>B</a:t>
                      </a:r>
                      <a:endParaRPr lang="en-US" dirty="0"/>
                    </a:p>
                  </a:txBody>
                  <a:tcPr/>
                </a:tc>
                <a:tc>
                  <a:txBody>
                    <a:bodyPr/>
                    <a:lstStyle/>
                    <a:p>
                      <a:r>
                        <a:rPr lang="en-US" dirty="0" smtClean="0"/>
                        <a:t>5</a:t>
                      </a:r>
                      <a:endParaRPr lang="en-US" dirty="0"/>
                    </a:p>
                  </a:txBody>
                  <a:tcPr/>
                </a:tc>
                <a:tc>
                  <a:txBody>
                    <a:bodyPr/>
                    <a:lstStyle/>
                    <a:p>
                      <a:r>
                        <a:rPr lang="en-US" dirty="0" smtClean="0"/>
                        <a:t>A</a:t>
                      </a:r>
                      <a:endParaRPr lang="en-US" dirty="0"/>
                    </a:p>
                  </a:txBody>
                  <a:tcPr/>
                </a:tc>
              </a:tr>
              <a:tr h="370840">
                <a:tc>
                  <a:txBody>
                    <a:bodyPr/>
                    <a:lstStyle/>
                    <a:p>
                      <a:r>
                        <a:rPr lang="en-US" dirty="0" smtClean="0"/>
                        <a:t>C</a:t>
                      </a:r>
                      <a:endParaRPr lang="en-US" dirty="0"/>
                    </a:p>
                  </a:txBody>
                  <a:tcPr/>
                </a:tc>
                <a:tc>
                  <a:txBody>
                    <a:bodyPr/>
                    <a:lstStyle/>
                    <a:p>
                      <a:r>
                        <a:rPr lang="en-US" dirty="0" smtClean="0"/>
                        <a:t>10</a:t>
                      </a:r>
                      <a:endParaRPr lang="en-US" dirty="0"/>
                    </a:p>
                  </a:txBody>
                  <a:tcPr/>
                </a:tc>
                <a:tc>
                  <a:txBody>
                    <a:bodyPr/>
                    <a:lstStyle/>
                    <a:p>
                      <a:r>
                        <a:rPr lang="en-US" dirty="0" smtClean="0"/>
                        <a:t>A</a:t>
                      </a:r>
                      <a:endParaRPr lang="en-US" dirty="0"/>
                    </a:p>
                  </a:txBody>
                  <a:tcPr/>
                </a:tc>
              </a:tr>
              <a:tr h="370840">
                <a:tc>
                  <a:txBody>
                    <a:bodyPr/>
                    <a:lstStyle/>
                    <a:p>
                      <a:r>
                        <a:rPr lang="en-US" dirty="0" smtClean="0"/>
                        <a:t>D</a:t>
                      </a:r>
                      <a:endParaRPr lang="en-US" dirty="0"/>
                    </a:p>
                  </a:txBody>
                  <a:tcPr/>
                </a:tc>
                <a:tc>
                  <a:txBody>
                    <a:bodyPr/>
                    <a:lstStyle/>
                    <a:p>
                      <a:r>
                        <a:rPr lang="en-US" dirty="0" smtClean="0"/>
                        <a:t>15</a:t>
                      </a:r>
                      <a:endParaRPr lang="en-US" dirty="0"/>
                    </a:p>
                  </a:txBody>
                  <a:tcPr/>
                </a:tc>
                <a:tc>
                  <a:txBody>
                    <a:bodyPr/>
                    <a:lstStyle/>
                    <a:p>
                      <a:r>
                        <a:rPr lang="en-US" dirty="0" smtClean="0"/>
                        <a:t>B,C</a:t>
                      </a:r>
                      <a:endParaRPr lang="en-US" dirty="0"/>
                    </a:p>
                  </a:txBody>
                  <a:tcPr/>
                </a:tc>
              </a:tr>
            </a:tbl>
          </a:graphicData>
        </a:graphic>
      </p:graphicFrame>
      <p:sp>
        <p:nvSpPr>
          <p:cNvPr id="4" name="Slide Number Placeholder 3"/>
          <p:cNvSpPr>
            <a:spLocks noGrp="1"/>
          </p:cNvSpPr>
          <p:nvPr>
            <p:ph type="sldNum" sz="quarter" idx="12"/>
          </p:nvPr>
        </p:nvSpPr>
        <p:spPr/>
        <p:txBody>
          <a:bodyPr/>
          <a:lstStyle/>
          <a:p>
            <a:fld id="{0FF54DE5-C571-48E8-A5BC-B369434E2F44}" type="slidenum">
              <a:rPr lang="en-US" smtClean="0"/>
              <a:t>37</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1455" y="1562100"/>
            <a:ext cx="4291445" cy="33735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8" name="Table 7"/>
          <p:cNvGraphicFramePr>
            <a:graphicFrameLocks noGrp="1"/>
          </p:cNvGraphicFramePr>
          <p:nvPr>
            <p:extLst>
              <p:ext uri="{D42A27DB-BD31-4B8C-83A1-F6EECF244321}">
                <p14:modId xmlns:p14="http://schemas.microsoft.com/office/powerpoint/2010/main" val="1750799004"/>
              </p:ext>
            </p:extLst>
          </p:nvPr>
        </p:nvGraphicFramePr>
        <p:xfrm>
          <a:off x="2826329" y="4190230"/>
          <a:ext cx="2670462" cy="1112520"/>
        </p:xfrm>
        <a:graphic>
          <a:graphicData uri="http://schemas.openxmlformats.org/drawingml/2006/table">
            <a:tbl>
              <a:tblPr firstRow="1" bandRow="1">
                <a:tableStyleId>{5940675A-B579-460E-94D1-54222C63F5DA}</a:tableStyleId>
              </a:tblPr>
              <a:tblGrid>
                <a:gridCol w="715562"/>
                <a:gridCol w="977450"/>
                <a:gridCol w="977450"/>
              </a:tblGrid>
              <a:tr h="370840">
                <a:tc>
                  <a:txBody>
                    <a:bodyPr/>
                    <a:lstStyle/>
                    <a:p>
                      <a:pPr algn="ctr"/>
                      <a:r>
                        <a:rPr lang="en-US" b="1" dirty="0" smtClean="0"/>
                        <a:t>1</a:t>
                      </a:r>
                      <a:endParaRPr lang="en-US" b="1" dirty="0"/>
                    </a:p>
                  </a:txBody>
                  <a:tcPr/>
                </a:tc>
                <a:tc>
                  <a:txBody>
                    <a:bodyPr/>
                    <a:lstStyle/>
                    <a:p>
                      <a:pPr algn="ctr"/>
                      <a:r>
                        <a:rPr lang="en-US" b="1" dirty="0" smtClean="0"/>
                        <a:t>5</a:t>
                      </a:r>
                      <a:endParaRPr lang="en-US" b="1" dirty="0"/>
                    </a:p>
                  </a:txBody>
                  <a:tcPr/>
                </a:tc>
                <a:tc>
                  <a:txBody>
                    <a:bodyPr/>
                    <a:lstStyle/>
                    <a:p>
                      <a:pPr algn="ctr"/>
                      <a:r>
                        <a:rPr lang="en-US" b="1" dirty="0" smtClean="0"/>
                        <a:t>5</a:t>
                      </a:r>
                      <a:endParaRPr lang="en-US" b="1" dirty="0"/>
                    </a:p>
                  </a:txBody>
                  <a:tcPr/>
                </a:tc>
              </a:tr>
              <a:tr h="370840">
                <a:tc gridSpan="3">
                  <a:txBody>
                    <a:bodyPr/>
                    <a:lstStyle/>
                    <a:p>
                      <a:pPr algn="ctr"/>
                      <a:r>
                        <a:rPr lang="en-US" b="1" dirty="0" smtClean="0"/>
                        <a:t>A</a:t>
                      </a:r>
                      <a:endParaRPr lang="en-US" b="1" dirty="0"/>
                    </a:p>
                  </a:txBody>
                  <a:tcPr/>
                </a:tc>
                <a:tc hMerge="1">
                  <a:txBody>
                    <a:bodyPr/>
                    <a:lstStyle/>
                    <a:p>
                      <a:endParaRPr lang="en-US"/>
                    </a:p>
                  </a:txBody>
                  <a:tcPr/>
                </a:tc>
                <a:tc hMerge="1">
                  <a:txBody>
                    <a:bodyPr/>
                    <a:lstStyle/>
                    <a:p>
                      <a:endParaRPr lang="en-US" dirty="0"/>
                    </a:p>
                  </a:txBody>
                  <a:tcPr/>
                </a:tc>
              </a:tr>
              <a:tr h="370840">
                <a:tc>
                  <a:txBody>
                    <a:bodyPr/>
                    <a:lstStyle/>
                    <a:p>
                      <a:pPr algn="ctr"/>
                      <a:r>
                        <a:rPr lang="en-US" b="1" dirty="0" smtClean="0"/>
                        <a:t>1</a:t>
                      </a:r>
                      <a:endParaRPr lang="en-US" b="1" dirty="0"/>
                    </a:p>
                  </a:txBody>
                  <a:tcPr/>
                </a:tc>
                <a:tc>
                  <a:txBody>
                    <a:bodyPr/>
                    <a:lstStyle/>
                    <a:p>
                      <a:pPr algn="ctr"/>
                      <a:r>
                        <a:rPr lang="en-US" b="1" dirty="0" smtClean="0"/>
                        <a:t>0</a:t>
                      </a:r>
                      <a:endParaRPr lang="en-US" b="1" dirty="0"/>
                    </a:p>
                  </a:txBody>
                  <a:tcPr/>
                </a:tc>
                <a:tc>
                  <a:txBody>
                    <a:bodyPr/>
                    <a:lstStyle/>
                    <a:p>
                      <a:pPr algn="ctr"/>
                      <a:r>
                        <a:rPr lang="en-US" b="1" dirty="0" smtClean="0"/>
                        <a:t>5</a:t>
                      </a:r>
                      <a:endParaRPr lang="en-US" b="1" dirty="0"/>
                    </a:p>
                  </a:txBody>
                  <a:tcPr/>
                </a:tc>
              </a:tr>
            </a:tbl>
          </a:graphicData>
        </a:graphic>
      </p:graphicFrame>
    </p:spTree>
    <p:extLst>
      <p:ext uri="{BB962C8B-B14F-4D97-AF65-F5344CB8AC3E}">
        <p14:creationId xmlns:p14="http://schemas.microsoft.com/office/powerpoint/2010/main" val="507784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Tools and Techniques [</a:t>
            </a:r>
            <a:r>
              <a:rPr lang="en-US" dirty="0" smtClean="0"/>
              <a:t>1/6]</a:t>
            </a:r>
            <a:endParaRPr lang="en-US" dirty="0"/>
          </a:p>
        </p:txBody>
      </p:sp>
      <p:sp>
        <p:nvSpPr>
          <p:cNvPr id="3" name="Content Placeholder 2"/>
          <p:cNvSpPr>
            <a:spLocks noGrp="1"/>
          </p:cNvSpPr>
          <p:nvPr>
            <p:ph idx="1"/>
          </p:nvPr>
        </p:nvSpPr>
        <p:spPr/>
        <p:txBody>
          <a:bodyPr>
            <a:normAutofit/>
          </a:bodyPr>
          <a:lstStyle/>
          <a:p>
            <a:r>
              <a:rPr lang="en-US" dirty="0"/>
              <a:t>Schedule network analysis</a:t>
            </a:r>
          </a:p>
          <a:p>
            <a:r>
              <a:rPr lang="en-US" dirty="0"/>
              <a:t>Critical path method</a:t>
            </a:r>
          </a:p>
          <a:p>
            <a:pPr lvl="1"/>
            <a:r>
              <a:rPr lang="en-US" dirty="0"/>
              <a:t>Estimate the minimum project duration and determine the amount of scheduling ﬂexibility on the logical network paths within the schedule model</a:t>
            </a:r>
          </a:p>
          <a:p>
            <a:pPr lvl="1"/>
            <a:r>
              <a:rPr lang="en-US" dirty="0"/>
              <a:t>Calculates the early start, early finish, late start, and late finish dates for all activities</a:t>
            </a:r>
          </a:p>
          <a:p>
            <a:pPr lvl="1"/>
            <a:r>
              <a:rPr lang="en-US" dirty="0"/>
              <a:t>The longest path is the critical path</a:t>
            </a:r>
          </a:p>
          <a:p>
            <a:pPr lvl="1"/>
            <a:r>
              <a:rPr lang="en-US" dirty="0"/>
              <a:t>The shortest possible project duration</a:t>
            </a:r>
          </a:p>
          <a:p>
            <a:pPr lvl="1"/>
            <a:r>
              <a:rPr lang="en-US" dirty="0"/>
              <a:t>Critical path is normally characterized by zero total ﬂoat</a:t>
            </a:r>
          </a:p>
          <a:p>
            <a:pPr lvl="1"/>
            <a:r>
              <a:rPr lang="en-US" dirty="0"/>
              <a:t> Activity on the critical path: critical path activity</a:t>
            </a:r>
          </a:p>
          <a:p>
            <a:pPr lvl="1"/>
            <a:r>
              <a:rPr lang="en-US" dirty="0"/>
              <a:t>Free float: free time that an activity can be delayed </a:t>
            </a:r>
          </a:p>
          <a:p>
            <a:pPr marL="457200" lvl="1" indent="0">
              <a:buNone/>
            </a:pPr>
            <a:r>
              <a:rPr lang="en-US" dirty="0"/>
              <a:t>     without delaying the early start date of any successor</a:t>
            </a:r>
          </a:p>
          <a:p>
            <a:pPr lvl="1"/>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38</a:t>
            </a:fld>
            <a:endParaRPr lang="en-US"/>
          </a:p>
        </p:txBody>
      </p:sp>
      <p:pic>
        <p:nvPicPr>
          <p:cNvPr id="5" name="Picture 4"/>
          <p:cNvPicPr>
            <a:picLocks noChangeAspect="1"/>
          </p:cNvPicPr>
          <p:nvPr/>
        </p:nvPicPr>
        <p:blipFill>
          <a:blip r:embed="rId2"/>
          <a:stretch>
            <a:fillRect/>
          </a:stretch>
        </p:blipFill>
        <p:spPr>
          <a:xfrm>
            <a:off x="602673" y="1361210"/>
            <a:ext cx="10868891" cy="4766192"/>
          </a:xfrm>
          <a:prstGeom prst="rect">
            <a:avLst/>
          </a:prstGeom>
        </p:spPr>
      </p:pic>
      <p:sp>
        <p:nvSpPr>
          <p:cNvPr id="6" name="TextBox 5"/>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177</a:t>
            </a:r>
          </a:p>
        </p:txBody>
      </p:sp>
    </p:spTree>
    <p:extLst>
      <p:ext uri="{BB962C8B-B14F-4D97-AF65-F5344CB8AC3E}">
        <p14:creationId xmlns:p14="http://schemas.microsoft.com/office/powerpoint/2010/main" val="1590619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Tools and Techniques [2/5]</a:t>
            </a:r>
          </a:p>
        </p:txBody>
      </p:sp>
      <p:sp>
        <p:nvSpPr>
          <p:cNvPr id="3" name="Content Placeholder 2"/>
          <p:cNvSpPr>
            <a:spLocks noGrp="1"/>
          </p:cNvSpPr>
          <p:nvPr>
            <p:ph idx="1"/>
          </p:nvPr>
        </p:nvSpPr>
        <p:spPr/>
        <p:txBody>
          <a:bodyPr>
            <a:normAutofit/>
          </a:bodyPr>
          <a:lstStyle/>
          <a:p>
            <a:r>
              <a:rPr lang="en-US" dirty="0"/>
              <a:t>Critical chain method</a:t>
            </a:r>
          </a:p>
          <a:p>
            <a:pPr lvl="1"/>
            <a:r>
              <a:rPr lang="en-US" dirty="0"/>
              <a:t>Inclusion of buffers on any project schedule path</a:t>
            </a:r>
          </a:p>
          <a:p>
            <a:pPr lvl="1"/>
            <a:r>
              <a:rPr lang="en-US" dirty="0"/>
              <a:t>Critical chain: resource-constrained critical path</a:t>
            </a:r>
          </a:p>
          <a:p>
            <a:pPr lvl="1"/>
            <a:r>
              <a:rPr lang="en-US" dirty="0"/>
              <a:t>Buffer: non-work schedule activity</a:t>
            </a:r>
          </a:p>
          <a:p>
            <a:pPr lvl="1"/>
            <a:r>
              <a:rPr lang="en-US" dirty="0"/>
              <a:t>Project buffer: at the end of the critical path</a:t>
            </a:r>
          </a:p>
          <a:p>
            <a:pPr lvl="1"/>
            <a:r>
              <a:rPr lang="en-US" dirty="0"/>
              <a:t>Feeding buffer: at the entry point at the critical path</a:t>
            </a: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39</a:t>
            </a:fld>
            <a:endParaRPr lang="en-US"/>
          </a:p>
        </p:txBody>
      </p:sp>
      <p:sp>
        <p:nvSpPr>
          <p:cNvPr id="6" name="TextBox 5"/>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178</a:t>
            </a:r>
          </a:p>
        </p:txBody>
      </p:sp>
      <p:pic>
        <p:nvPicPr>
          <p:cNvPr id="7" name="Picture 6"/>
          <p:cNvPicPr>
            <a:picLocks noChangeAspect="1"/>
          </p:cNvPicPr>
          <p:nvPr/>
        </p:nvPicPr>
        <p:blipFill>
          <a:blip r:embed="rId2"/>
          <a:stretch>
            <a:fillRect/>
          </a:stretch>
        </p:blipFill>
        <p:spPr>
          <a:xfrm>
            <a:off x="5632795" y="3990080"/>
            <a:ext cx="6200775" cy="2247900"/>
          </a:xfrm>
          <a:prstGeom prst="rect">
            <a:avLst/>
          </a:prstGeom>
        </p:spPr>
      </p:pic>
    </p:spTree>
    <p:extLst>
      <p:ext uri="{BB962C8B-B14F-4D97-AF65-F5344CB8AC3E}">
        <p14:creationId xmlns:p14="http://schemas.microsoft.com/office/powerpoint/2010/main" val="1909495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Tools and Techniques [3/5]</a:t>
            </a:r>
          </a:p>
        </p:txBody>
      </p:sp>
      <p:sp>
        <p:nvSpPr>
          <p:cNvPr id="3" name="Content Placeholder 2"/>
          <p:cNvSpPr>
            <a:spLocks noGrp="1"/>
          </p:cNvSpPr>
          <p:nvPr>
            <p:ph idx="1"/>
          </p:nvPr>
        </p:nvSpPr>
        <p:spPr/>
        <p:txBody>
          <a:bodyPr>
            <a:normAutofit/>
          </a:bodyPr>
          <a:lstStyle/>
          <a:p>
            <a:r>
              <a:rPr lang="en-US" dirty="0"/>
              <a:t>Resource optimization techniques</a:t>
            </a:r>
          </a:p>
          <a:p>
            <a:pPr lvl="1"/>
            <a:r>
              <a:rPr lang="en-US" dirty="0"/>
              <a:t>Resource leveling</a:t>
            </a:r>
          </a:p>
          <a:p>
            <a:pPr lvl="2"/>
            <a:r>
              <a:rPr lang="en-US" dirty="0"/>
              <a:t>Adjusting start and end dates to balance resources demand</a:t>
            </a:r>
          </a:p>
          <a:p>
            <a:pPr lvl="2"/>
            <a:r>
              <a:rPr lang="en-US" dirty="0"/>
              <a:t>Availability of shared or critically required resource at certain times</a:t>
            </a:r>
          </a:p>
          <a:p>
            <a:pPr lvl="2"/>
            <a:r>
              <a:rPr lang="en-US" dirty="0"/>
              <a:t>Cause the original critical path to change, usually to increase</a:t>
            </a:r>
          </a:p>
          <a:p>
            <a:pPr lvl="1"/>
            <a:r>
              <a:rPr lang="en-US" dirty="0"/>
              <a:t>Resource smoothing</a:t>
            </a:r>
          </a:p>
          <a:p>
            <a:pPr lvl="2"/>
            <a:r>
              <a:rPr lang="en-US" dirty="0"/>
              <a:t>Adjusting the activities to not exceed predefined resource limits</a:t>
            </a:r>
          </a:p>
          <a:p>
            <a:pPr lvl="2"/>
            <a:r>
              <a:rPr lang="en-US" dirty="0"/>
              <a:t>Critical path is not changed</a:t>
            </a:r>
          </a:p>
          <a:p>
            <a:pPr lvl="2"/>
            <a:r>
              <a:rPr lang="en-US" dirty="0"/>
              <a:t>Activities are delayed within their free and total float</a:t>
            </a:r>
          </a:p>
          <a:p>
            <a:pPr lvl="2"/>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40</a:t>
            </a:fld>
            <a:endParaRPr lang="en-US"/>
          </a:p>
        </p:txBody>
      </p:sp>
      <p:sp>
        <p:nvSpPr>
          <p:cNvPr id="6" name="TextBox 5"/>
          <p:cNvSpPr txBox="1"/>
          <p:nvPr/>
        </p:nvSpPr>
        <p:spPr>
          <a:xfrm>
            <a:off x="225287" y="6515792"/>
            <a:ext cx="3576620" cy="246221"/>
          </a:xfrm>
          <a:prstGeom prst="rect">
            <a:avLst/>
          </a:prstGeom>
          <a:noFill/>
        </p:spPr>
        <p:txBody>
          <a:bodyPr wrap="none" rtlCol="0">
            <a:spAutoFit/>
          </a:bodyPr>
          <a:lstStyle/>
          <a:p>
            <a:r>
              <a:rPr lang="en-US" sz="1000" dirty="0"/>
              <a:t>Figure source: PMBOK® Guide – Fifth Edition, PMI, 2013, pp.  179</a:t>
            </a:r>
          </a:p>
        </p:txBody>
      </p:sp>
      <p:pic>
        <p:nvPicPr>
          <p:cNvPr id="5" name="Picture 4"/>
          <p:cNvPicPr>
            <a:picLocks noChangeAspect="1"/>
          </p:cNvPicPr>
          <p:nvPr/>
        </p:nvPicPr>
        <p:blipFill>
          <a:blip r:embed="rId2"/>
          <a:stretch>
            <a:fillRect/>
          </a:stretch>
        </p:blipFill>
        <p:spPr>
          <a:xfrm>
            <a:off x="782837" y="1440439"/>
            <a:ext cx="7789663" cy="4617461"/>
          </a:xfrm>
          <a:prstGeom prst="rect">
            <a:avLst/>
          </a:prstGeom>
        </p:spPr>
      </p:pic>
    </p:spTree>
    <p:extLst>
      <p:ext uri="{BB962C8B-B14F-4D97-AF65-F5344CB8AC3E}">
        <p14:creationId xmlns:p14="http://schemas.microsoft.com/office/powerpoint/2010/main" val="1487700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ppt_x"/>
                                          </p:val>
                                        </p:tav>
                                        <p:tav tm="100000">
                                          <p:val>
                                            <p:strVal val="#ppt_x"/>
                                          </p:val>
                                        </p:tav>
                                      </p:tavLst>
                                    </p:anim>
                                    <p:anim calcmode="lin" valueType="num">
                                      <p:cBhvr additive="base">
                                        <p:cTn id="4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Tools and Techniques [4/5]</a:t>
            </a:r>
          </a:p>
        </p:txBody>
      </p:sp>
      <p:sp>
        <p:nvSpPr>
          <p:cNvPr id="3" name="Content Placeholder 2"/>
          <p:cNvSpPr>
            <a:spLocks noGrp="1"/>
          </p:cNvSpPr>
          <p:nvPr>
            <p:ph idx="1"/>
          </p:nvPr>
        </p:nvSpPr>
        <p:spPr/>
        <p:txBody>
          <a:bodyPr>
            <a:normAutofit/>
          </a:bodyPr>
          <a:lstStyle/>
          <a:p>
            <a:r>
              <a:rPr lang="en-US" dirty="0"/>
              <a:t>Modeling techniques</a:t>
            </a:r>
          </a:p>
          <a:p>
            <a:pPr lvl="1"/>
            <a:r>
              <a:rPr lang="en-US" dirty="0"/>
              <a:t>What-if scenario analysis</a:t>
            </a:r>
          </a:p>
          <a:p>
            <a:pPr lvl="2"/>
            <a:r>
              <a:rPr lang="en-US" dirty="0"/>
              <a:t>Evaluating scenarios to predict their effect on project objectives</a:t>
            </a:r>
          </a:p>
          <a:p>
            <a:pPr lvl="2"/>
            <a:r>
              <a:rPr lang="en-US" dirty="0"/>
              <a:t>Assess the feasibility of the project schedule under adverse conditions</a:t>
            </a:r>
          </a:p>
          <a:p>
            <a:pPr lvl="1"/>
            <a:r>
              <a:rPr lang="en-US" dirty="0"/>
              <a:t>Simulation</a:t>
            </a:r>
          </a:p>
          <a:p>
            <a:pPr lvl="2"/>
            <a:r>
              <a:rPr lang="en-US" dirty="0"/>
              <a:t>Calculating multiple project durations with different sets of activity assumptions</a:t>
            </a:r>
          </a:p>
          <a:p>
            <a:pPr lvl="2"/>
            <a:r>
              <a:rPr lang="en-US" dirty="0"/>
              <a:t>Monte Carlo analysis</a:t>
            </a:r>
          </a:p>
          <a:p>
            <a:r>
              <a:rPr lang="en-US" dirty="0"/>
              <a:t>Leads and </a:t>
            </a:r>
            <a:r>
              <a:rPr lang="en-US" dirty="0" smtClean="0"/>
              <a:t>lags</a:t>
            </a:r>
          </a:p>
          <a:p>
            <a:r>
              <a:rPr lang="en-US"/>
              <a:t>Resource Leveling and Resource Smoothing</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41</a:t>
            </a:fld>
            <a:endParaRPr lang="en-US"/>
          </a:p>
        </p:txBody>
      </p:sp>
    </p:spTree>
    <p:extLst>
      <p:ext uri="{BB962C8B-B14F-4D97-AF65-F5344CB8AC3E}">
        <p14:creationId xmlns:p14="http://schemas.microsoft.com/office/powerpoint/2010/main" val="3933417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Tools and Techniques [5/5]</a:t>
            </a:r>
          </a:p>
        </p:txBody>
      </p:sp>
      <p:sp>
        <p:nvSpPr>
          <p:cNvPr id="3" name="Content Placeholder 2"/>
          <p:cNvSpPr>
            <a:spLocks noGrp="1"/>
          </p:cNvSpPr>
          <p:nvPr>
            <p:ph idx="1"/>
          </p:nvPr>
        </p:nvSpPr>
        <p:spPr/>
        <p:txBody>
          <a:bodyPr>
            <a:normAutofit/>
          </a:bodyPr>
          <a:lstStyle/>
          <a:p>
            <a:r>
              <a:rPr lang="en-US" dirty="0"/>
              <a:t>Schedule compression</a:t>
            </a:r>
          </a:p>
          <a:p>
            <a:pPr lvl="1"/>
            <a:r>
              <a:rPr lang="en-US" dirty="0"/>
              <a:t>Shorten the schedule duration without reducing the project scope</a:t>
            </a:r>
          </a:p>
          <a:p>
            <a:pPr lvl="1"/>
            <a:r>
              <a:rPr lang="en-US" dirty="0"/>
              <a:t>Crashing</a:t>
            </a:r>
          </a:p>
          <a:p>
            <a:pPr lvl="2"/>
            <a:r>
              <a:rPr lang="en-US" dirty="0"/>
              <a:t>Add resources by the least incremental cost</a:t>
            </a:r>
          </a:p>
          <a:p>
            <a:pPr lvl="2"/>
            <a:r>
              <a:rPr lang="en-US" dirty="0"/>
              <a:t>Overtime, additional resources, quick payments</a:t>
            </a:r>
          </a:p>
          <a:p>
            <a:pPr lvl="2"/>
            <a:r>
              <a:rPr lang="en-US" dirty="0"/>
              <a:t>Not necessarily better alternative</a:t>
            </a:r>
          </a:p>
          <a:p>
            <a:pPr lvl="1"/>
            <a:r>
              <a:rPr lang="en-US" dirty="0"/>
              <a:t>Fast tracking</a:t>
            </a:r>
          </a:p>
          <a:p>
            <a:pPr lvl="2"/>
            <a:r>
              <a:rPr lang="en-US" dirty="0"/>
              <a:t>Activities are performed in parallel rather than in sequence</a:t>
            </a:r>
          </a:p>
          <a:p>
            <a:pPr lvl="2"/>
            <a:r>
              <a:rPr lang="en-US" dirty="0"/>
              <a:t>May result in rework and increased risk</a:t>
            </a:r>
          </a:p>
          <a:p>
            <a:pPr lvl="1"/>
            <a:r>
              <a:rPr lang="en-US" dirty="0"/>
              <a:t>Software projects rarely succeed when the project schedule is compressed more than 25%</a:t>
            </a:r>
          </a:p>
          <a:p>
            <a:pPr lvl="1"/>
            <a:r>
              <a:rPr lang="en-US" dirty="0"/>
              <a:t>Brooks law: “adding manpower to a late project makes it later.”</a:t>
            </a:r>
          </a:p>
          <a:p>
            <a:pPr lvl="1"/>
            <a:r>
              <a:rPr lang="en-US" dirty="0"/>
              <a:t>For adaptive software projects: reduce the features planned or less functionality within a feature</a:t>
            </a:r>
          </a:p>
          <a:p>
            <a:r>
              <a:rPr lang="en-US" dirty="0"/>
              <a:t>Scheduling tool</a:t>
            </a:r>
          </a:p>
          <a:p>
            <a:r>
              <a:rPr lang="en-US" dirty="0"/>
              <a:t>Incremental product planning</a:t>
            </a:r>
          </a:p>
        </p:txBody>
      </p:sp>
      <p:sp>
        <p:nvSpPr>
          <p:cNvPr id="4" name="Slide Number Placeholder 3"/>
          <p:cNvSpPr>
            <a:spLocks noGrp="1"/>
          </p:cNvSpPr>
          <p:nvPr>
            <p:ph type="sldNum" sz="quarter" idx="12"/>
          </p:nvPr>
        </p:nvSpPr>
        <p:spPr/>
        <p:txBody>
          <a:bodyPr/>
          <a:lstStyle/>
          <a:p>
            <a:fld id="{0FF54DE5-C571-48E8-A5BC-B369434E2F44}" type="slidenum">
              <a:rPr lang="en-US" smtClean="0"/>
              <a:t>42</a:t>
            </a:fld>
            <a:endParaRPr lang="en-US"/>
          </a:p>
        </p:txBody>
      </p:sp>
    </p:spTree>
    <p:extLst>
      <p:ext uri="{BB962C8B-B14F-4D97-AF65-F5344CB8AC3E}">
        <p14:creationId xmlns:p14="http://schemas.microsoft.com/office/powerpoint/2010/main" val="244081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Outputs [1/2]</a:t>
            </a:r>
          </a:p>
        </p:txBody>
      </p:sp>
      <p:sp>
        <p:nvSpPr>
          <p:cNvPr id="3" name="Content Placeholder 2"/>
          <p:cNvSpPr>
            <a:spLocks noGrp="1"/>
          </p:cNvSpPr>
          <p:nvPr>
            <p:ph idx="1"/>
          </p:nvPr>
        </p:nvSpPr>
        <p:spPr/>
        <p:txBody>
          <a:bodyPr>
            <a:normAutofit lnSpcReduction="10000"/>
          </a:bodyPr>
          <a:lstStyle/>
          <a:p>
            <a:r>
              <a:rPr lang="en-US" dirty="0"/>
              <a:t>Schedule baseline</a:t>
            </a:r>
          </a:p>
          <a:p>
            <a:pPr lvl="1"/>
            <a:r>
              <a:rPr lang="en-US" dirty="0"/>
              <a:t>The approved version of a schedule</a:t>
            </a:r>
          </a:p>
          <a:p>
            <a:r>
              <a:rPr lang="en-US" dirty="0"/>
              <a:t>Project schedule</a:t>
            </a:r>
          </a:p>
          <a:p>
            <a:pPr lvl="1"/>
            <a:r>
              <a:rPr lang="en-US" dirty="0"/>
              <a:t> Master/milestone schedule </a:t>
            </a:r>
          </a:p>
          <a:p>
            <a:pPr lvl="1"/>
            <a:r>
              <a:rPr lang="en-US" dirty="0"/>
              <a:t>Different presentation forms</a:t>
            </a:r>
          </a:p>
          <a:p>
            <a:pPr lvl="2"/>
            <a:r>
              <a:rPr lang="en-US" dirty="0"/>
              <a:t>Bar charts (Gantt charts)</a:t>
            </a:r>
          </a:p>
          <a:p>
            <a:pPr lvl="2"/>
            <a:r>
              <a:rPr lang="en-US" dirty="0"/>
              <a:t>Milestone charts</a:t>
            </a:r>
          </a:p>
          <a:p>
            <a:pPr lvl="2"/>
            <a:r>
              <a:rPr lang="en-US" dirty="0"/>
              <a:t>Project schedule network diagrams</a:t>
            </a:r>
          </a:p>
          <a:p>
            <a:r>
              <a:rPr lang="en-US" dirty="0"/>
              <a:t>Schedule data</a:t>
            </a:r>
          </a:p>
          <a:p>
            <a:pPr lvl="1"/>
            <a:r>
              <a:rPr lang="en-US" dirty="0"/>
              <a:t>Schedule milestones, schedule activities, activity attributes, and documentation of all identified assumptions and constraints</a:t>
            </a:r>
          </a:p>
          <a:p>
            <a:pPr lvl="1"/>
            <a:r>
              <a:rPr lang="en-US" dirty="0"/>
              <a:t>Resource requirements by time period, often in the form of a resource histogram</a:t>
            </a:r>
          </a:p>
          <a:p>
            <a:pPr lvl="1"/>
            <a:r>
              <a:rPr lang="en-US" dirty="0"/>
              <a:t>Alternative schedules, such as best-case or worst-case, not resource-leveled, or resource-leveled, with or without imposed dates</a:t>
            </a:r>
          </a:p>
          <a:p>
            <a:pPr lvl="1"/>
            <a:r>
              <a:rPr lang="en-US" dirty="0"/>
              <a:t>Scheduling of contingency reserves</a:t>
            </a:r>
          </a:p>
          <a:p>
            <a:pPr lvl="2"/>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43</a:t>
            </a:fld>
            <a:endParaRPr lang="en-US"/>
          </a:p>
        </p:txBody>
      </p:sp>
    </p:spTree>
    <p:extLst>
      <p:ext uri="{BB962C8B-B14F-4D97-AF65-F5344CB8AC3E}">
        <p14:creationId xmlns:p14="http://schemas.microsoft.com/office/powerpoint/2010/main" val="390560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 Schedule: Outputs [2/2]</a:t>
            </a:r>
          </a:p>
        </p:txBody>
      </p:sp>
      <p:sp>
        <p:nvSpPr>
          <p:cNvPr id="3" name="Content Placeholder 2"/>
          <p:cNvSpPr>
            <a:spLocks noGrp="1"/>
          </p:cNvSpPr>
          <p:nvPr>
            <p:ph idx="1"/>
          </p:nvPr>
        </p:nvSpPr>
        <p:spPr/>
        <p:txBody>
          <a:bodyPr>
            <a:normAutofit/>
          </a:bodyPr>
          <a:lstStyle/>
          <a:p>
            <a:r>
              <a:rPr lang="en-US" dirty="0"/>
              <a:t>Project calendars</a:t>
            </a:r>
          </a:p>
          <a:p>
            <a:pPr lvl="1"/>
            <a:r>
              <a:rPr lang="en-US" dirty="0"/>
              <a:t>Identification of working days and shifts for scheduled activities</a:t>
            </a:r>
          </a:p>
          <a:p>
            <a:r>
              <a:rPr lang="en-US" dirty="0"/>
              <a:t>Project management plan updates</a:t>
            </a:r>
          </a:p>
          <a:p>
            <a:r>
              <a:rPr lang="en-US" dirty="0"/>
              <a:t>Project documents updates</a:t>
            </a:r>
          </a:p>
          <a:p>
            <a:r>
              <a:rPr lang="en-US" dirty="0"/>
              <a:t>Release and iteration plan </a:t>
            </a:r>
            <a:r>
              <a:rPr lang="en-US" dirty="0" err="1"/>
              <a:t>udpates</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44</a:t>
            </a:fld>
            <a:endParaRPr lang="en-US"/>
          </a:p>
        </p:txBody>
      </p:sp>
    </p:spTree>
    <p:extLst>
      <p:ext uri="{BB962C8B-B14F-4D97-AF65-F5344CB8AC3E}">
        <p14:creationId xmlns:p14="http://schemas.microsoft.com/office/powerpoint/2010/main" val="8692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 </a:t>
            </a:r>
            <a:r>
              <a:rPr lang="en-US" dirty="0"/>
              <a:t>Control Schedule</a:t>
            </a:r>
          </a:p>
        </p:txBody>
      </p:sp>
      <p:sp>
        <p:nvSpPr>
          <p:cNvPr id="3" name="Content Placeholder 2"/>
          <p:cNvSpPr>
            <a:spLocks noGrp="1"/>
          </p:cNvSpPr>
          <p:nvPr>
            <p:ph idx="1"/>
          </p:nvPr>
        </p:nvSpPr>
        <p:spPr/>
        <p:txBody>
          <a:bodyPr/>
          <a:lstStyle/>
          <a:p>
            <a:r>
              <a:rPr lang="en-US" dirty="0"/>
              <a:t>Challenging task to control the schedule</a:t>
            </a:r>
          </a:p>
          <a:p>
            <a:pPr lvl="1"/>
            <a:r>
              <a:rPr lang="en-US" dirty="0"/>
              <a:t>Determining the current status of the project schedule</a:t>
            </a:r>
          </a:p>
          <a:p>
            <a:pPr lvl="1"/>
            <a:r>
              <a:rPr lang="en-US" dirty="0"/>
              <a:t>Inﬂuencing the factors that create schedule changes</a:t>
            </a:r>
          </a:p>
          <a:p>
            <a:pPr lvl="1"/>
            <a:r>
              <a:rPr lang="en-US" dirty="0"/>
              <a:t>Determining if the project schedule has changed</a:t>
            </a:r>
          </a:p>
          <a:p>
            <a:pPr lvl="1"/>
            <a:r>
              <a:rPr lang="en-US" dirty="0"/>
              <a:t>Managing the actual changes as they occur</a:t>
            </a:r>
          </a:p>
          <a:p>
            <a:r>
              <a:rPr lang="en-US" dirty="0"/>
              <a:t>Factors that affect software project schedule </a:t>
            </a:r>
          </a:p>
          <a:p>
            <a:pPr lvl="1"/>
            <a:r>
              <a:rPr lang="en-US" dirty="0"/>
              <a:t>The rate that teams are delivering completed software increments</a:t>
            </a:r>
          </a:p>
          <a:p>
            <a:pPr lvl="1"/>
            <a:r>
              <a:rPr lang="en-US" dirty="0"/>
              <a:t>The current rate of completion for work in process</a:t>
            </a:r>
          </a:p>
          <a:p>
            <a:pPr lvl="1"/>
            <a:r>
              <a:rPr lang="en-US" dirty="0"/>
              <a:t>The risks and dependencies that can impact the schedule </a:t>
            </a:r>
          </a:p>
          <a:p>
            <a:pPr lvl="1"/>
            <a:r>
              <a:rPr lang="en-US" dirty="0"/>
              <a:t>The impact of technical variance on the schedule</a:t>
            </a:r>
          </a:p>
          <a:p>
            <a:pPr lvl="1"/>
            <a:r>
              <a:rPr lang="en-US" dirty="0"/>
              <a:t>Options for reprioritizing product scope</a:t>
            </a:r>
          </a:p>
          <a:p>
            <a:endParaRPr lang="en-US" dirty="0"/>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45</a:t>
            </a:fld>
            <a:endParaRPr lang="en-US"/>
          </a:p>
        </p:txBody>
      </p:sp>
      <p:sp>
        <p:nvSpPr>
          <p:cNvPr id="6" name="TextBox 5"/>
          <p:cNvSpPr txBox="1"/>
          <p:nvPr/>
        </p:nvSpPr>
        <p:spPr>
          <a:xfrm>
            <a:off x="225287" y="6515792"/>
            <a:ext cx="4655442" cy="246221"/>
          </a:xfrm>
          <a:prstGeom prst="rect">
            <a:avLst/>
          </a:prstGeom>
          <a:noFill/>
        </p:spPr>
        <p:txBody>
          <a:bodyPr wrap="none" rtlCol="0">
            <a:spAutoFit/>
          </a:bodyPr>
          <a:lstStyle/>
          <a:p>
            <a:r>
              <a:rPr lang="en-US" sz="1000" dirty="0"/>
              <a:t>Figure source: Software Extension to PMBOK® Guide – Fifth Edition, PMI, 2013, pp.  90</a:t>
            </a:r>
          </a:p>
        </p:txBody>
      </p:sp>
      <p:pic>
        <p:nvPicPr>
          <p:cNvPr id="5" name="Picture 4"/>
          <p:cNvPicPr>
            <a:picLocks noChangeAspect="1"/>
          </p:cNvPicPr>
          <p:nvPr/>
        </p:nvPicPr>
        <p:blipFill>
          <a:blip r:embed="rId2"/>
          <a:stretch>
            <a:fillRect/>
          </a:stretch>
        </p:blipFill>
        <p:spPr>
          <a:xfrm>
            <a:off x="9628878" y="1378604"/>
            <a:ext cx="1456704" cy="5057676"/>
          </a:xfrm>
          <a:prstGeom prst="rect">
            <a:avLst/>
          </a:prstGeom>
        </p:spPr>
      </p:pic>
    </p:spTree>
    <p:extLst>
      <p:ext uri="{BB962C8B-B14F-4D97-AF65-F5344CB8AC3E}">
        <p14:creationId xmlns:p14="http://schemas.microsoft.com/office/powerpoint/2010/main" val="391429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Schedule: Inputs </a:t>
            </a:r>
          </a:p>
        </p:txBody>
      </p:sp>
      <p:sp>
        <p:nvSpPr>
          <p:cNvPr id="3" name="Content Placeholder 2"/>
          <p:cNvSpPr>
            <a:spLocks noGrp="1"/>
          </p:cNvSpPr>
          <p:nvPr>
            <p:ph idx="1"/>
          </p:nvPr>
        </p:nvSpPr>
        <p:spPr/>
        <p:txBody>
          <a:bodyPr/>
          <a:lstStyle/>
          <a:p>
            <a:r>
              <a:rPr lang="en-US" dirty="0"/>
              <a:t>Project management plan</a:t>
            </a:r>
          </a:p>
          <a:p>
            <a:r>
              <a:rPr lang="en-US" dirty="0"/>
              <a:t>Project schedule</a:t>
            </a:r>
          </a:p>
          <a:p>
            <a:r>
              <a:rPr lang="en-US" dirty="0"/>
              <a:t>Work performance data</a:t>
            </a:r>
          </a:p>
          <a:p>
            <a:r>
              <a:rPr lang="en-US" dirty="0"/>
              <a:t>Project calendars</a:t>
            </a:r>
          </a:p>
          <a:p>
            <a:r>
              <a:rPr lang="en-US" dirty="0"/>
              <a:t>Schedule data</a:t>
            </a:r>
          </a:p>
          <a:p>
            <a:r>
              <a:rPr lang="en-US" dirty="0"/>
              <a:t>Organizational process assets</a:t>
            </a:r>
          </a:p>
          <a:p>
            <a:pPr lvl="1"/>
            <a:r>
              <a:rPr lang="en-US" dirty="0"/>
              <a:t>Existing formal and informal schedule control-related policies, procedures, and guidelines</a:t>
            </a:r>
          </a:p>
          <a:p>
            <a:pPr lvl="1"/>
            <a:r>
              <a:rPr lang="en-US" dirty="0"/>
              <a:t>Schedule control tools</a:t>
            </a:r>
          </a:p>
          <a:p>
            <a:pPr lvl="1"/>
            <a:r>
              <a:rPr lang="en-US" dirty="0"/>
              <a:t>Monitoring and reporting methods to be used</a:t>
            </a:r>
          </a:p>
        </p:txBody>
      </p:sp>
      <p:sp>
        <p:nvSpPr>
          <p:cNvPr id="4" name="Slide Number Placeholder 3"/>
          <p:cNvSpPr>
            <a:spLocks noGrp="1"/>
          </p:cNvSpPr>
          <p:nvPr>
            <p:ph type="sldNum" sz="quarter" idx="12"/>
          </p:nvPr>
        </p:nvSpPr>
        <p:spPr/>
        <p:txBody>
          <a:bodyPr/>
          <a:lstStyle/>
          <a:p>
            <a:fld id="{0FF54DE5-C571-48E8-A5BC-B369434E2F44}" type="slidenum">
              <a:rPr lang="en-US" smtClean="0"/>
              <a:t>46</a:t>
            </a:fld>
            <a:endParaRPr lang="en-US"/>
          </a:p>
        </p:txBody>
      </p:sp>
    </p:spTree>
    <p:extLst>
      <p:ext uri="{BB962C8B-B14F-4D97-AF65-F5344CB8AC3E}">
        <p14:creationId xmlns:p14="http://schemas.microsoft.com/office/powerpoint/2010/main" val="379820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Schedule: Tools and Techniques [1/2]</a:t>
            </a:r>
          </a:p>
        </p:txBody>
      </p:sp>
      <p:sp>
        <p:nvSpPr>
          <p:cNvPr id="3" name="Content Placeholder 2"/>
          <p:cNvSpPr>
            <a:spLocks noGrp="1"/>
          </p:cNvSpPr>
          <p:nvPr>
            <p:ph idx="1"/>
          </p:nvPr>
        </p:nvSpPr>
        <p:spPr/>
        <p:txBody>
          <a:bodyPr>
            <a:normAutofit fontScale="92500" lnSpcReduction="10000"/>
          </a:bodyPr>
          <a:lstStyle/>
          <a:p>
            <a:r>
              <a:rPr lang="en-US" dirty="0"/>
              <a:t>Performance reviews</a:t>
            </a:r>
          </a:p>
          <a:p>
            <a:pPr lvl="1"/>
            <a:r>
              <a:rPr lang="en-US" dirty="0"/>
              <a:t>Trend analysis</a:t>
            </a:r>
          </a:p>
          <a:p>
            <a:pPr lvl="1"/>
            <a:r>
              <a:rPr lang="en-US" dirty="0"/>
              <a:t>Critical path method</a:t>
            </a:r>
          </a:p>
          <a:p>
            <a:pPr lvl="1"/>
            <a:r>
              <a:rPr lang="en-US" dirty="0"/>
              <a:t>Critical chain method</a:t>
            </a:r>
          </a:p>
          <a:p>
            <a:pPr lvl="1"/>
            <a:r>
              <a:rPr lang="en-US" dirty="0"/>
              <a:t>Earned Value Management (EVM)</a:t>
            </a:r>
          </a:p>
          <a:p>
            <a:pPr lvl="1"/>
            <a:r>
              <a:rPr lang="en-US" dirty="0"/>
              <a:t>Technical review cycle</a:t>
            </a:r>
          </a:p>
          <a:p>
            <a:r>
              <a:rPr lang="en-US" dirty="0"/>
              <a:t>Project management software</a:t>
            </a:r>
          </a:p>
          <a:p>
            <a:r>
              <a:rPr lang="en-US" dirty="0"/>
              <a:t>Resource optimization techniques</a:t>
            </a:r>
          </a:p>
          <a:p>
            <a:r>
              <a:rPr lang="en-US" dirty="0"/>
              <a:t>Modeling techniques</a:t>
            </a:r>
          </a:p>
          <a:p>
            <a:r>
              <a:rPr lang="en-US" dirty="0"/>
              <a:t>Leads and lags</a:t>
            </a:r>
          </a:p>
          <a:p>
            <a:r>
              <a:rPr lang="en-US" dirty="0"/>
              <a:t>Schedule compression</a:t>
            </a:r>
          </a:p>
          <a:p>
            <a:r>
              <a:rPr lang="en-US" dirty="0"/>
              <a:t>Schedule tool</a:t>
            </a:r>
          </a:p>
          <a:p>
            <a:endParaRPr lang="en-US" dirty="0"/>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47</a:t>
            </a:fld>
            <a:endParaRPr lang="en-US"/>
          </a:p>
        </p:txBody>
      </p:sp>
    </p:spTree>
    <p:extLst>
      <p:ext uri="{BB962C8B-B14F-4D97-AF65-F5344CB8AC3E}">
        <p14:creationId xmlns:p14="http://schemas.microsoft.com/office/powerpoint/2010/main" val="178188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Schedule: Tools and Techniques [2/2]</a:t>
            </a:r>
          </a:p>
        </p:txBody>
      </p:sp>
      <p:sp>
        <p:nvSpPr>
          <p:cNvPr id="3" name="Content Placeholder 2"/>
          <p:cNvSpPr>
            <a:spLocks noGrp="1"/>
          </p:cNvSpPr>
          <p:nvPr>
            <p:ph idx="1"/>
          </p:nvPr>
        </p:nvSpPr>
        <p:spPr/>
        <p:txBody>
          <a:bodyPr>
            <a:normAutofit/>
          </a:bodyPr>
          <a:lstStyle/>
          <a:p>
            <a:r>
              <a:rPr lang="en-US" dirty="0"/>
              <a:t>Evidence-based reviews</a:t>
            </a:r>
          </a:p>
          <a:p>
            <a:r>
              <a:rPr lang="en-US" dirty="0"/>
              <a:t>Retrospectives</a:t>
            </a:r>
          </a:p>
          <a:p>
            <a:r>
              <a:rPr lang="en-US" dirty="0"/>
              <a:t>Cumulative flow diagrams</a:t>
            </a:r>
          </a:p>
          <a:p>
            <a:r>
              <a:rPr lang="en-US" dirty="0"/>
              <a:t>Workflow board with daily walkthrough</a:t>
            </a:r>
          </a:p>
          <a:p>
            <a:r>
              <a:rPr lang="en-US" dirty="0"/>
              <a:t>Reprioritization reviews</a:t>
            </a:r>
          </a:p>
          <a:p>
            <a:r>
              <a:rPr lang="en-US" dirty="0"/>
              <a:t>Burnup and burndown charts</a:t>
            </a:r>
          </a:p>
          <a:p>
            <a:r>
              <a:rPr lang="en-US" dirty="0"/>
              <a:t>Variance analysis</a:t>
            </a:r>
          </a:p>
          <a:p>
            <a:endParaRPr lang="en-US" dirty="0"/>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48</a:t>
            </a:fld>
            <a:endParaRPr lang="en-US"/>
          </a:p>
        </p:txBody>
      </p:sp>
      <p:pic>
        <p:nvPicPr>
          <p:cNvPr id="5" name="Picture 4"/>
          <p:cNvPicPr>
            <a:picLocks noChangeAspect="1"/>
          </p:cNvPicPr>
          <p:nvPr/>
        </p:nvPicPr>
        <p:blipFill>
          <a:blip r:embed="rId2"/>
          <a:stretch>
            <a:fillRect/>
          </a:stretch>
        </p:blipFill>
        <p:spPr>
          <a:xfrm>
            <a:off x="6675507" y="1416049"/>
            <a:ext cx="4410075" cy="2771775"/>
          </a:xfrm>
          <a:prstGeom prst="rect">
            <a:avLst/>
          </a:prstGeom>
        </p:spPr>
      </p:pic>
      <p:sp>
        <p:nvSpPr>
          <p:cNvPr id="6" name="TextBox 5"/>
          <p:cNvSpPr txBox="1"/>
          <p:nvPr/>
        </p:nvSpPr>
        <p:spPr>
          <a:xfrm>
            <a:off x="225287" y="6515792"/>
            <a:ext cx="4750018" cy="246221"/>
          </a:xfrm>
          <a:prstGeom prst="rect">
            <a:avLst/>
          </a:prstGeom>
          <a:noFill/>
        </p:spPr>
        <p:txBody>
          <a:bodyPr wrap="none" rtlCol="0">
            <a:spAutoFit/>
          </a:bodyPr>
          <a:lstStyle/>
          <a:p>
            <a:r>
              <a:rPr lang="en-US" sz="1000" dirty="0"/>
              <a:t>Figure source: Software Extension to PMBOK® Guide – Fifth Edition, PMI, 2013, pp.  115</a:t>
            </a:r>
          </a:p>
        </p:txBody>
      </p:sp>
    </p:spTree>
    <p:extLst>
      <p:ext uri="{BB962C8B-B14F-4D97-AF65-F5344CB8AC3E}">
        <p14:creationId xmlns:p14="http://schemas.microsoft.com/office/powerpoint/2010/main" val="2375049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Schedule: Outputs</a:t>
            </a:r>
          </a:p>
        </p:txBody>
      </p:sp>
      <p:sp>
        <p:nvSpPr>
          <p:cNvPr id="3" name="Content Placeholder 2"/>
          <p:cNvSpPr>
            <a:spLocks noGrp="1"/>
          </p:cNvSpPr>
          <p:nvPr>
            <p:ph idx="1"/>
          </p:nvPr>
        </p:nvSpPr>
        <p:spPr/>
        <p:txBody>
          <a:bodyPr/>
          <a:lstStyle/>
          <a:p>
            <a:r>
              <a:rPr lang="en-US" dirty="0"/>
              <a:t>Work performance information</a:t>
            </a:r>
          </a:p>
          <a:p>
            <a:r>
              <a:rPr lang="en-US" dirty="0"/>
              <a:t>Schedule forecasts</a:t>
            </a:r>
          </a:p>
          <a:p>
            <a:r>
              <a:rPr lang="en-US" dirty="0"/>
              <a:t>Change requests</a:t>
            </a:r>
          </a:p>
          <a:p>
            <a:r>
              <a:rPr lang="en-US" dirty="0"/>
              <a:t>Project management plan updates</a:t>
            </a:r>
          </a:p>
          <a:p>
            <a:r>
              <a:rPr lang="en-US" dirty="0"/>
              <a:t>Project documents updates</a:t>
            </a:r>
          </a:p>
          <a:p>
            <a:r>
              <a:rPr lang="en-US" dirty="0"/>
              <a:t>Organizational process assets updates</a:t>
            </a:r>
          </a:p>
          <a:p>
            <a:r>
              <a:rPr lang="en-US" dirty="0"/>
              <a:t>Additional outputs</a:t>
            </a:r>
          </a:p>
        </p:txBody>
      </p:sp>
      <p:sp>
        <p:nvSpPr>
          <p:cNvPr id="4" name="Slide Number Placeholder 3"/>
          <p:cNvSpPr>
            <a:spLocks noGrp="1"/>
          </p:cNvSpPr>
          <p:nvPr>
            <p:ph type="sldNum" sz="quarter" idx="12"/>
          </p:nvPr>
        </p:nvSpPr>
        <p:spPr/>
        <p:txBody>
          <a:bodyPr/>
          <a:lstStyle/>
          <a:p>
            <a:fld id="{0FF54DE5-C571-48E8-A5BC-B369434E2F44}" type="slidenum">
              <a:rPr lang="en-US" smtClean="0"/>
              <a:t>49</a:t>
            </a:fld>
            <a:endParaRPr lang="en-US"/>
          </a:p>
        </p:txBody>
      </p:sp>
    </p:spTree>
    <p:extLst>
      <p:ext uri="{BB962C8B-B14F-4D97-AF65-F5344CB8AC3E}">
        <p14:creationId xmlns:p14="http://schemas.microsoft.com/office/powerpoint/2010/main" val="2486140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www.tutorialspoint.com/management_concepts/leads_lags_floats.htm</a:t>
            </a:r>
            <a:endParaRPr lang="en-US" dirty="0" smtClean="0"/>
          </a:p>
          <a:p>
            <a:r>
              <a:rPr lang="en-US" dirty="0">
                <a:hlinkClick r:id="rId3"/>
              </a:rPr>
              <a:t>https://pmstudycircle.com/2013/02/lead-time-and-lag-time-in-project-scheduling-network-diagram</a:t>
            </a:r>
            <a:r>
              <a:rPr lang="en-US" dirty="0" smtClean="0">
                <a:hlinkClick r:id="rId3"/>
              </a:rPr>
              <a:t>/</a:t>
            </a:r>
            <a:endParaRPr lang="en-US" dirty="0" smtClean="0"/>
          </a:p>
          <a:p>
            <a:r>
              <a:rPr lang="en-US" dirty="0"/>
              <a:t>https://pmstudycircle.com/2014/02/critical-chain-method-ccm-in-project-management/</a:t>
            </a:r>
          </a:p>
        </p:txBody>
      </p:sp>
      <p:sp>
        <p:nvSpPr>
          <p:cNvPr id="4" name="Slide Number Placeholder 3"/>
          <p:cNvSpPr>
            <a:spLocks noGrp="1"/>
          </p:cNvSpPr>
          <p:nvPr>
            <p:ph type="sldNum" sz="quarter" idx="12"/>
          </p:nvPr>
        </p:nvSpPr>
        <p:spPr/>
        <p:txBody>
          <a:bodyPr/>
          <a:lstStyle/>
          <a:p>
            <a:fld id="{0FF54DE5-C571-48E8-A5BC-B369434E2F44}" type="slidenum">
              <a:rPr lang="en-US" smtClean="0"/>
              <a:t>50</a:t>
            </a:fld>
            <a:endParaRPr lang="en-US"/>
          </a:p>
        </p:txBody>
      </p:sp>
    </p:spTree>
    <p:extLst>
      <p:ext uri="{BB962C8B-B14F-4D97-AF65-F5344CB8AC3E}">
        <p14:creationId xmlns:p14="http://schemas.microsoft.com/office/powerpoint/2010/main" val="53526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endParaRPr lang="en-US" sz="6600" b="1" dirty="0" smtClean="0"/>
          </a:p>
          <a:p>
            <a:pPr algn="ctr"/>
            <a:endParaRPr lang="en-US" sz="6600" b="1" dirty="0" smtClean="0"/>
          </a:p>
          <a:p>
            <a:pPr algn="ctr"/>
            <a:r>
              <a:rPr lang="en-US" sz="6600" b="1" dirty="0" smtClean="0"/>
              <a:t>EXTRA</a:t>
            </a:r>
            <a:endParaRPr lang="en-US" sz="6600" b="1" dirty="0"/>
          </a:p>
        </p:txBody>
      </p:sp>
      <p:sp>
        <p:nvSpPr>
          <p:cNvPr id="4" name="Slide Number Placeholder 3"/>
          <p:cNvSpPr>
            <a:spLocks noGrp="1"/>
          </p:cNvSpPr>
          <p:nvPr>
            <p:ph type="sldNum" sz="quarter" idx="12"/>
          </p:nvPr>
        </p:nvSpPr>
        <p:spPr/>
        <p:txBody>
          <a:bodyPr/>
          <a:lstStyle/>
          <a:p>
            <a:fld id="{0FF54DE5-C571-48E8-A5BC-B369434E2F44}" type="slidenum">
              <a:rPr lang="en-US" smtClean="0"/>
              <a:t>51</a:t>
            </a:fld>
            <a:endParaRPr lang="en-US"/>
          </a:p>
        </p:txBody>
      </p:sp>
    </p:spTree>
    <p:extLst>
      <p:ext uri="{BB962C8B-B14F-4D97-AF65-F5344CB8AC3E}">
        <p14:creationId xmlns:p14="http://schemas.microsoft.com/office/powerpoint/2010/main" val="1791911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FF54DE5-C571-48E8-A5BC-B369434E2F44}" type="slidenum">
              <a:rPr lang="en-US" smtClean="0"/>
              <a:t>52</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337" y="228599"/>
            <a:ext cx="11017827" cy="6161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15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53</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527" y="457201"/>
            <a:ext cx="10338955" cy="5708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6041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54</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182" y="571501"/>
            <a:ext cx="10016836" cy="6120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3775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0FF54DE5-C571-48E8-A5BC-B369434E2F44}" type="slidenum">
              <a:rPr lang="en-US" smtClean="0"/>
              <a:t>55</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215736"/>
            <a:ext cx="9559636" cy="4447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7318" y="5985164"/>
            <a:ext cx="4038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62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ppt_x"/>
                                          </p:val>
                                        </p:tav>
                                        <p:tav tm="100000">
                                          <p:val>
                                            <p:strVal val="#ppt_x"/>
                                          </p:val>
                                        </p:tav>
                                      </p:tavLst>
                                    </p:anim>
                                    <p:anim calcmode="lin" valueType="num">
                                      <p:cBhvr additive="base">
                                        <p:cTn id="8"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a:t>
            </a:r>
            <a:r>
              <a:rPr lang="en-US" b="1" dirty="0" smtClean="0"/>
              <a:t>Buffer</a:t>
            </a:r>
            <a:endParaRPr lang="en-US" dirty="0"/>
          </a:p>
        </p:txBody>
      </p:sp>
      <p:sp>
        <p:nvSpPr>
          <p:cNvPr id="3" name="Content Placeholder 2"/>
          <p:cNvSpPr>
            <a:spLocks noGrp="1"/>
          </p:cNvSpPr>
          <p:nvPr>
            <p:ph idx="1"/>
          </p:nvPr>
        </p:nvSpPr>
        <p:spPr/>
        <p:txBody>
          <a:bodyPr>
            <a:normAutofit/>
          </a:bodyPr>
          <a:lstStyle/>
          <a:p>
            <a:pPr algn="just"/>
            <a:r>
              <a:rPr lang="en-US" dirty="0" smtClean="0"/>
              <a:t>This </a:t>
            </a:r>
            <a:r>
              <a:rPr lang="en-US" dirty="0"/>
              <a:t>buffer is placed between the last task and the project completion date as a non-activity buffer, and this buffer acts as a contingency for the critical chain activities. </a:t>
            </a:r>
            <a:endParaRPr lang="en-US" dirty="0" smtClean="0"/>
          </a:p>
          <a:p>
            <a:pPr algn="just"/>
            <a:r>
              <a:rPr lang="en-US" dirty="0" smtClean="0"/>
              <a:t>Any </a:t>
            </a:r>
            <a:r>
              <a:rPr lang="en-US" dirty="0"/>
              <a:t>delay on the critical chain will eat this buffer, but the project completion date will remain unchanged. Also, if there is any gain from the early finish of any activity, this gain will be added to this buffer as well.</a:t>
            </a:r>
          </a:p>
          <a:p>
            <a:pPr algn="just"/>
            <a:r>
              <a:rPr lang="en-US" dirty="0"/>
              <a:t>Usually the duration of this buffer is 50% of the contingency that you have removed from each task estimate. This helps you move </a:t>
            </a:r>
            <a:r>
              <a:rPr lang="en-US" dirty="0">
                <a:hlinkClick r:id="rId2" tooltip="Risk vs Uncertainty in Project Management"/>
              </a:rPr>
              <a:t>uncertainty</a:t>
            </a:r>
            <a:r>
              <a:rPr lang="en-US" dirty="0"/>
              <a:t> from each task to the project buffer.</a:t>
            </a:r>
          </a:p>
          <a:p>
            <a:pPr algn="just"/>
            <a:r>
              <a:rPr lang="en-US" dirty="0"/>
              <a:t>Please note that, although the critical chain starts from the beginning, it ends before the start of the project buffer. It does not end at the end of the project. This duration will include any time duration borrowed from the project buffer or exclude the duration added to the buffer</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56</a:t>
            </a:fld>
            <a:endParaRPr lang="en-US"/>
          </a:p>
        </p:txBody>
      </p:sp>
    </p:spTree>
    <p:extLst>
      <p:ext uri="{BB962C8B-B14F-4D97-AF65-F5344CB8AC3E}">
        <p14:creationId xmlns:p14="http://schemas.microsoft.com/office/powerpoint/2010/main" val="3921573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Feeding </a:t>
            </a:r>
            <a:r>
              <a:rPr lang="en-US" b="1" dirty="0" smtClean="0"/>
              <a:t>Buffers</a:t>
            </a:r>
            <a:endParaRPr lang="en-US" dirty="0"/>
          </a:p>
        </p:txBody>
      </p:sp>
      <p:sp>
        <p:nvSpPr>
          <p:cNvPr id="3" name="Content Placeholder 2"/>
          <p:cNvSpPr>
            <a:spLocks noGrp="1"/>
          </p:cNvSpPr>
          <p:nvPr>
            <p:ph idx="1"/>
          </p:nvPr>
        </p:nvSpPr>
        <p:spPr/>
        <p:txBody>
          <a:bodyPr/>
          <a:lstStyle/>
          <a:p>
            <a:r>
              <a:rPr lang="en-US" dirty="0"/>
              <a:t>These buffers are added to the non-critical chain so that any delay on the non-critical chain does not affect the critical chain. </a:t>
            </a:r>
            <a:endParaRPr lang="en-US" dirty="0" smtClean="0"/>
          </a:p>
          <a:p>
            <a:r>
              <a:rPr lang="en-US" dirty="0" smtClean="0"/>
              <a:t>They </a:t>
            </a:r>
            <a:r>
              <a:rPr lang="en-US" dirty="0"/>
              <a:t>are inserted between the last task on a non-critical chain and the critical chain.</a:t>
            </a:r>
          </a:p>
          <a:p>
            <a:r>
              <a:rPr lang="en-US" dirty="0"/>
              <a:t>Feeding buffers are also calculated the same way as the project buffer. </a:t>
            </a:r>
            <a:endParaRPr lang="en-US" dirty="0" smtClean="0"/>
          </a:p>
          <a:p>
            <a:r>
              <a:rPr lang="en-US" dirty="0" smtClean="0"/>
              <a:t>The </a:t>
            </a:r>
            <a:r>
              <a:rPr lang="en-US" dirty="0"/>
              <a:t>duration of these buffers is based on some fraction of the safety removed from the tasks on non-critical chains.</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57</a:t>
            </a:fld>
            <a:endParaRPr lang="en-US"/>
          </a:p>
        </p:txBody>
      </p:sp>
    </p:spTree>
    <p:extLst>
      <p:ext uri="{BB962C8B-B14F-4D97-AF65-F5344CB8AC3E}">
        <p14:creationId xmlns:p14="http://schemas.microsoft.com/office/powerpoint/2010/main" val="1997325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Resource </a:t>
            </a:r>
            <a:r>
              <a:rPr lang="en-US" b="1" dirty="0" smtClean="0"/>
              <a:t>Buffer</a:t>
            </a:r>
            <a:endParaRPr lang="en-US" dirty="0"/>
          </a:p>
        </p:txBody>
      </p:sp>
      <p:sp>
        <p:nvSpPr>
          <p:cNvPr id="3" name="Content Placeholder 2"/>
          <p:cNvSpPr>
            <a:spLocks noGrp="1"/>
          </p:cNvSpPr>
          <p:nvPr>
            <p:ph idx="1"/>
          </p:nvPr>
        </p:nvSpPr>
        <p:spPr/>
        <p:txBody>
          <a:bodyPr/>
          <a:lstStyle/>
          <a:p>
            <a:pPr algn="just"/>
            <a:r>
              <a:rPr lang="en-US" dirty="0"/>
              <a:t>These buffers are kept alongside the critical chain to make sure that they are available when they are required</a:t>
            </a:r>
            <a:r>
              <a:rPr lang="en-US" dirty="0" smtClean="0"/>
              <a:t>.</a:t>
            </a:r>
          </a:p>
          <a:p>
            <a:pPr algn="just"/>
            <a:r>
              <a:rPr lang="en-US" dirty="0" smtClean="0"/>
              <a:t>This </a:t>
            </a:r>
            <a:r>
              <a:rPr lang="en-US" dirty="0"/>
              <a:t>buffer can be a human resource or any equipment.</a:t>
            </a:r>
          </a:p>
          <a:p>
            <a:pPr algn="just"/>
            <a:r>
              <a:rPr lang="en-US" dirty="0"/>
              <a:t>Please note that, since the critical chain considers the resource constraints as well, it may be longer than the critical path schedule. </a:t>
            </a:r>
            <a:endParaRPr lang="en-US" dirty="0" smtClean="0"/>
          </a:p>
          <a:p>
            <a:pPr algn="just"/>
            <a:r>
              <a:rPr lang="en-US" dirty="0" smtClean="0"/>
              <a:t>However</a:t>
            </a:r>
            <a:r>
              <a:rPr lang="en-US" dirty="0"/>
              <a:t>, this might be compensated by removing the contingencies from the activities. Resources used in critical chain are known as critical resources</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58</a:t>
            </a:fld>
            <a:endParaRPr lang="en-US"/>
          </a:p>
        </p:txBody>
      </p:sp>
    </p:spTree>
    <p:extLst>
      <p:ext uri="{BB962C8B-B14F-4D97-AF65-F5344CB8AC3E}">
        <p14:creationId xmlns:p14="http://schemas.microsoft.com/office/powerpoint/2010/main" val="91073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 Between Buffer and Float (or Slack</a:t>
            </a:r>
            <a:r>
              <a:rPr lang="en-US" b="1" dirty="0" smtClean="0"/>
              <a:t>)</a:t>
            </a:r>
            <a:endParaRPr lang="en-US" dirty="0"/>
          </a:p>
        </p:txBody>
      </p:sp>
      <p:sp>
        <p:nvSpPr>
          <p:cNvPr id="3" name="Content Placeholder 2"/>
          <p:cNvSpPr>
            <a:spLocks noGrp="1"/>
          </p:cNvSpPr>
          <p:nvPr>
            <p:ph idx="1"/>
          </p:nvPr>
        </p:nvSpPr>
        <p:spPr/>
        <p:txBody>
          <a:bodyPr/>
          <a:lstStyle/>
          <a:p>
            <a:r>
              <a:rPr lang="en-US" dirty="0"/>
              <a:t>Float or slack is a critical path phenomenon, and buffer belongs to critical chain.</a:t>
            </a:r>
          </a:p>
          <a:p>
            <a:r>
              <a:rPr lang="en-US" dirty="0"/>
              <a:t>Float is the difference between the duration of the critical path and non-critical path. On a critical path, float is zero.</a:t>
            </a:r>
          </a:p>
          <a:p>
            <a:r>
              <a:rPr lang="en-US" dirty="0"/>
              <a:t>Buffer is based on contingencies. For example, the project buffer is about 50% of the safety time that you have removed from the activity estimate duration. As per the definition of buffer, it is not zero on a critical chain or any other chain.</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59</a:t>
            </a:fld>
            <a:endParaRPr lang="en-US"/>
          </a:p>
        </p:txBody>
      </p:sp>
    </p:spTree>
    <p:extLst>
      <p:ext uri="{BB962C8B-B14F-4D97-AF65-F5344CB8AC3E}">
        <p14:creationId xmlns:p14="http://schemas.microsoft.com/office/powerpoint/2010/main" val="3028916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 Between Buffer and Float (or Slack</a:t>
            </a:r>
            <a:r>
              <a:rPr lang="en-US" b="1" dirty="0" smtClean="0"/>
              <a:t>)</a:t>
            </a:r>
            <a:endParaRPr lang="en-US" dirty="0"/>
          </a:p>
        </p:txBody>
      </p:sp>
      <p:sp>
        <p:nvSpPr>
          <p:cNvPr id="3" name="Content Placeholder 2"/>
          <p:cNvSpPr>
            <a:spLocks noGrp="1"/>
          </p:cNvSpPr>
          <p:nvPr>
            <p:ph idx="1"/>
          </p:nvPr>
        </p:nvSpPr>
        <p:spPr/>
        <p:txBody>
          <a:bodyPr/>
          <a:lstStyle/>
          <a:p>
            <a:pPr algn="just"/>
            <a:r>
              <a:rPr lang="en-US" dirty="0"/>
              <a:t>Float is the same for all activities on a non-critical path, any activity can consume it partially or fully, and balance can be utilized by other activities. There is no further analysis.</a:t>
            </a:r>
          </a:p>
          <a:p>
            <a:pPr algn="just"/>
            <a:r>
              <a:rPr lang="en-US" dirty="0"/>
              <a:t>Buffer can also be borrowed by any activity if the activity is delayed. The project manager analyzes the remaining buffer to find the status of the project.</a:t>
            </a:r>
          </a:p>
          <a:p>
            <a:pPr algn="just"/>
            <a:r>
              <a:rPr lang="en-US" dirty="0"/>
              <a:t>Buffer can be divided into three categories: project buffer, feeding buffer and resource buffer. Float can be either </a:t>
            </a:r>
            <a:r>
              <a:rPr lang="en-US" dirty="0">
                <a:hlinkClick r:id="rId2" tooltip="Total Float Versus Free Float"/>
              </a:rPr>
              <a:t>total float or free float</a:t>
            </a:r>
            <a:r>
              <a:rPr lang="en-US" dirty="0"/>
              <a:t>.</a:t>
            </a:r>
          </a:p>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60</a:t>
            </a:fld>
            <a:endParaRPr lang="en-US"/>
          </a:p>
        </p:txBody>
      </p:sp>
    </p:spTree>
    <p:extLst>
      <p:ext uri="{BB962C8B-B14F-4D97-AF65-F5344CB8AC3E}">
        <p14:creationId xmlns:p14="http://schemas.microsoft.com/office/powerpoint/2010/main" val="376812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PERT – Program Evaluation and Review </a:t>
            </a:r>
            <a:r>
              <a:rPr lang="en-US" b="1" dirty="0" smtClean="0"/>
              <a:t>Technique</a:t>
            </a:r>
            <a:endParaRPr lang="en-US" dirty="0"/>
          </a:p>
        </p:txBody>
      </p:sp>
      <p:sp>
        <p:nvSpPr>
          <p:cNvPr id="3" name="Content Placeholder 2"/>
          <p:cNvSpPr>
            <a:spLocks noGrp="1"/>
          </p:cNvSpPr>
          <p:nvPr>
            <p:ph idx="1"/>
          </p:nvPr>
        </p:nvSpPr>
        <p:spPr/>
        <p:txBody>
          <a:bodyPr>
            <a:normAutofit/>
          </a:bodyPr>
          <a:lstStyle/>
          <a:p>
            <a:pPr algn="just"/>
            <a:r>
              <a:rPr lang="en-US" dirty="0"/>
              <a:t>PERT is a statistical tool that is widely used in project management for developing the project schedule for very large, complex, and one time projects where usually no historical records are available to be </a:t>
            </a:r>
            <a:r>
              <a:rPr lang="en-US" dirty="0" smtClean="0"/>
              <a:t>reviewed</a:t>
            </a:r>
          </a:p>
          <a:p>
            <a:pPr algn="just"/>
            <a:r>
              <a:rPr lang="en-US" dirty="0"/>
              <a:t>At first glimpse, you may think that PERT Diagram Method is similar to the </a:t>
            </a:r>
            <a:r>
              <a:rPr lang="en-US" dirty="0">
                <a:hlinkClick r:id="rId2"/>
              </a:rPr>
              <a:t>critical path method</a:t>
            </a:r>
            <a:r>
              <a:rPr lang="en-US" dirty="0"/>
              <a:t>; however, there are many differences between these two techniques, such as</a:t>
            </a:r>
            <a:r>
              <a:rPr lang="en-US" dirty="0" smtClean="0"/>
              <a:t>:</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61</a:t>
            </a:fld>
            <a:endParaRPr lang="en-US"/>
          </a:p>
        </p:txBody>
      </p:sp>
    </p:spTree>
    <p:extLst>
      <p:ext uri="{BB962C8B-B14F-4D97-AF65-F5344CB8AC3E}">
        <p14:creationId xmlns:p14="http://schemas.microsoft.com/office/powerpoint/2010/main" val="44014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PERT – Program Evaluation and Review </a:t>
            </a:r>
            <a:r>
              <a:rPr lang="en-US" b="1" dirty="0" smtClean="0"/>
              <a:t>Technique</a:t>
            </a:r>
            <a:endParaRPr lang="en-US" dirty="0"/>
          </a:p>
        </p:txBody>
      </p:sp>
      <p:sp>
        <p:nvSpPr>
          <p:cNvPr id="3" name="Content Placeholder 2"/>
          <p:cNvSpPr>
            <a:spLocks noGrp="1"/>
          </p:cNvSpPr>
          <p:nvPr>
            <p:ph idx="1"/>
          </p:nvPr>
        </p:nvSpPr>
        <p:spPr/>
        <p:txBody>
          <a:bodyPr>
            <a:normAutofit/>
          </a:bodyPr>
          <a:lstStyle/>
          <a:p>
            <a:pPr algn="just"/>
            <a:r>
              <a:rPr lang="en-US" dirty="0" smtClean="0"/>
              <a:t>Critical </a:t>
            </a:r>
            <a:r>
              <a:rPr lang="en-US" dirty="0"/>
              <a:t>Path Method (CPM) is activity oriented, while PERT is event oriented</a:t>
            </a:r>
          </a:p>
          <a:p>
            <a:pPr algn="just"/>
            <a:r>
              <a:rPr lang="en-US" dirty="0"/>
              <a:t>Critical Path Method is used when you have definitive time estimate, while in PERT there is no certainty in time estimate</a:t>
            </a:r>
          </a:p>
          <a:p>
            <a:pPr algn="just"/>
            <a:r>
              <a:rPr lang="en-US" dirty="0"/>
              <a:t>In CPM diagram, activity is shown on the node, while in PERT Diagram, activity is shown on the arrow, and nodes represent the milestones. (</a:t>
            </a:r>
            <a:r>
              <a:rPr lang="en-US" i="1" dirty="0"/>
              <a:t>Therefore, PERT diagrams are also known as Activity on Arrow (AOA) diagram</a:t>
            </a:r>
            <a:r>
              <a:rPr lang="en-US" dirty="0"/>
              <a:t>)</a:t>
            </a:r>
          </a:p>
          <a:p>
            <a:pPr algn="just"/>
            <a:r>
              <a:rPr lang="en-US" dirty="0"/>
              <a:t>PERT Diagram can only have a “Finish to Start” type of relationship, while the CPM method can have any type of dependency; e.g. Start to Finish, Finish to Start, etc.</a:t>
            </a:r>
          </a:p>
          <a:p>
            <a:pPr algn="just"/>
            <a:r>
              <a:rPr lang="en-US" dirty="0"/>
              <a:t>In CPM diagram, rectangles represent the nodes. In PERT diagram, circles represent nodes</a:t>
            </a:r>
          </a:p>
          <a:p>
            <a:pPr algn="just"/>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62</a:t>
            </a:fld>
            <a:endParaRPr lang="en-US"/>
          </a:p>
        </p:txBody>
      </p:sp>
    </p:spTree>
    <p:extLst>
      <p:ext uri="{BB962C8B-B14F-4D97-AF65-F5344CB8AC3E}">
        <p14:creationId xmlns:p14="http://schemas.microsoft.com/office/powerpoint/2010/main" val="3054128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PERT methodology is used mainly on very large and complex projects where time is a more important factor than the cost. </a:t>
            </a:r>
            <a:endParaRPr lang="en-US" dirty="0" smtClean="0"/>
          </a:p>
          <a:p>
            <a:pPr algn="just"/>
            <a:r>
              <a:rPr lang="en-US" dirty="0" smtClean="0"/>
              <a:t>PERT </a:t>
            </a:r>
            <a:r>
              <a:rPr lang="en-US" dirty="0"/>
              <a:t>is mainly used in research type projects where you cannot predict the time duration of any activity accurately; therefore, you have to plan your work based on the </a:t>
            </a:r>
            <a:r>
              <a:rPr lang="en-US" dirty="0" smtClean="0"/>
              <a:t>milest</a:t>
            </a:r>
            <a:r>
              <a:rPr lang="en-US" dirty="0"/>
              <a:t>ones</a:t>
            </a:r>
            <a:r>
              <a:rPr lang="en-US" dirty="0" smtClean="0"/>
              <a:t>.</a:t>
            </a:r>
          </a:p>
          <a:p>
            <a:pPr algn="just"/>
            <a:r>
              <a:rPr lang="en-US" dirty="0"/>
              <a:t>The critical path method is a deterministic model where you use a fixed time estimate for activities. </a:t>
            </a:r>
            <a:endParaRPr lang="en-US" dirty="0" smtClean="0"/>
          </a:p>
          <a:p>
            <a:pPr algn="just"/>
            <a:r>
              <a:rPr lang="en-US" dirty="0" smtClean="0"/>
              <a:t>CPM </a:t>
            </a:r>
            <a:r>
              <a:rPr lang="en-US" dirty="0"/>
              <a:t>(critical path method) helps you run the project efficiently if the time estimates are definitive; however, if there is a variation in time estimate, it may affect your project badly. </a:t>
            </a:r>
            <a:endParaRPr lang="en-US" dirty="0" smtClean="0"/>
          </a:p>
          <a:p>
            <a:pPr algn="just"/>
            <a:r>
              <a:rPr lang="en-US" dirty="0" smtClean="0"/>
              <a:t>The </a:t>
            </a:r>
            <a:r>
              <a:rPr lang="en-US" dirty="0"/>
              <a:t>solution to this drawback of the CPM method is built into the PERT methodology, which helps you complete project successfully with less cost and time</a:t>
            </a:r>
            <a:r>
              <a:rPr lang="en-US" dirty="0" smtClean="0"/>
              <a:t>.</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63</a:t>
            </a:fld>
            <a:endParaRPr lang="en-US"/>
          </a:p>
        </p:txBody>
      </p:sp>
    </p:spTree>
    <p:extLst>
      <p:ext uri="{BB962C8B-B14F-4D97-AF65-F5344CB8AC3E}">
        <p14:creationId xmlns:p14="http://schemas.microsoft.com/office/powerpoint/2010/main" val="371153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 ON ARROW</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60870007"/>
              </p:ext>
            </p:extLst>
          </p:nvPr>
        </p:nvGraphicFramePr>
        <p:xfrm>
          <a:off x="1104900" y="1600200"/>
          <a:ext cx="9982200" cy="2225040"/>
        </p:xfrm>
        <a:graphic>
          <a:graphicData uri="http://schemas.openxmlformats.org/drawingml/2006/table">
            <a:tbl>
              <a:tblPr firstRow="1" bandRow="1">
                <a:tableStyleId>{616DA210-FB5B-4158-B5E0-FEB733F419BA}</a:tableStyleId>
              </a:tblPr>
              <a:tblGrid>
                <a:gridCol w="3327400"/>
                <a:gridCol w="3327400"/>
                <a:gridCol w="3327400"/>
              </a:tblGrid>
              <a:tr h="370840">
                <a:tc>
                  <a:txBody>
                    <a:bodyPr/>
                    <a:lstStyle/>
                    <a:p>
                      <a:r>
                        <a:rPr lang="en-US" dirty="0" smtClean="0"/>
                        <a:t>Task</a:t>
                      </a:r>
                      <a:endParaRPr lang="en-US" dirty="0"/>
                    </a:p>
                  </a:txBody>
                  <a:tcPr/>
                </a:tc>
                <a:tc>
                  <a:txBody>
                    <a:bodyPr/>
                    <a:lstStyle/>
                    <a:p>
                      <a:r>
                        <a:rPr lang="en-US" dirty="0" smtClean="0"/>
                        <a:t>Precedence</a:t>
                      </a:r>
                      <a:endParaRPr lang="en-US" dirty="0"/>
                    </a:p>
                  </a:txBody>
                  <a:tcPr/>
                </a:tc>
                <a:tc>
                  <a:txBody>
                    <a:bodyPr/>
                    <a:lstStyle/>
                    <a:p>
                      <a:r>
                        <a:rPr lang="en-US" dirty="0" smtClean="0"/>
                        <a:t>Duration</a:t>
                      </a:r>
                      <a:endParaRPr lang="en-US" dirty="0"/>
                    </a:p>
                  </a:txBody>
                  <a:tcPr/>
                </a:tc>
              </a:tr>
              <a:tr h="370840">
                <a:tc>
                  <a:txBody>
                    <a:bodyPr/>
                    <a:lstStyle/>
                    <a:p>
                      <a:r>
                        <a:rPr lang="en-US" dirty="0" smtClean="0"/>
                        <a:t>A</a:t>
                      </a:r>
                      <a:endParaRPr lang="en-US" dirty="0"/>
                    </a:p>
                  </a:txBody>
                  <a:tcPr/>
                </a:tc>
                <a:tc>
                  <a:txBody>
                    <a:bodyPr/>
                    <a:lstStyle/>
                    <a:p>
                      <a:r>
                        <a:rPr lang="en-US" dirty="0" smtClean="0"/>
                        <a:t>---------</a:t>
                      </a:r>
                      <a:endParaRPr lang="en-US" dirty="0"/>
                    </a:p>
                  </a:txBody>
                  <a:tcPr/>
                </a:tc>
                <a:tc>
                  <a:txBody>
                    <a:bodyPr/>
                    <a:lstStyle/>
                    <a:p>
                      <a:r>
                        <a:rPr lang="en-US" dirty="0" smtClean="0"/>
                        <a:t>3</a:t>
                      </a:r>
                      <a:endParaRPr lang="en-US" dirty="0"/>
                    </a:p>
                  </a:txBody>
                  <a:tcPr/>
                </a:tc>
              </a:tr>
              <a:tr h="370840">
                <a:tc>
                  <a:txBody>
                    <a:bodyPr/>
                    <a:lstStyle/>
                    <a:p>
                      <a:r>
                        <a:rPr lang="en-US" dirty="0" smtClean="0"/>
                        <a:t>B</a:t>
                      </a:r>
                      <a:endParaRPr lang="en-US" dirty="0"/>
                    </a:p>
                  </a:txBody>
                  <a:tcPr/>
                </a:tc>
                <a:tc>
                  <a:txBody>
                    <a:bodyPr/>
                    <a:lstStyle/>
                    <a:p>
                      <a:r>
                        <a:rPr lang="en-US" dirty="0" smtClean="0"/>
                        <a:t>---------</a:t>
                      </a:r>
                      <a:endParaRPr lang="en-US" dirty="0"/>
                    </a:p>
                  </a:txBody>
                  <a:tcPr/>
                </a:tc>
                <a:tc>
                  <a:txBody>
                    <a:bodyPr/>
                    <a:lstStyle/>
                    <a:p>
                      <a:r>
                        <a:rPr lang="en-US" dirty="0" smtClean="0"/>
                        <a:t>4</a:t>
                      </a:r>
                      <a:endParaRPr lang="en-US" dirty="0"/>
                    </a:p>
                  </a:txBody>
                  <a:tcPr/>
                </a:tc>
              </a:tr>
              <a:tr h="370840">
                <a:tc>
                  <a:txBody>
                    <a:bodyPr/>
                    <a:lstStyle/>
                    <a:p>
                      <a:r>
                        <a:rPr lang="en-US" dirty="0" smtClean="0"/>
                        <a:t>C</a:t>
                      </a:r>
                      <a:endParaRPr lang="en-US" dirty="0"/>
                    </a:p>
                  </a:txBody>
                  <a:tcPr/>
                </a:tc>
                <a:tc>
                  <a:txBody>
                    <a:bodyPr/>
                    <a:lstStyle/>
                    <a:p>
                      <a:r>
                        <a:rPr lang="en-US" dirty="0" smtClean="0"/>
                        <a:t>B</a:t>
                      </a:r>
                      <a:endParaRPr lang="en-US" dirty="0"/>
                    </a:p>
                  </a:txBody>
                  <a:tcPr/>
                </a:tc>
                <a:tc>
                  <a:txBody>
                    <a:bodyPr/>
                    <a:lstStyle/>
                    <a:p>
                      <a:r>
                        <a:rPr lang="en-US" dirty="0" smtClean="0"/>
                        <a:t>7</a:t>
                      </a:r>
                      <a:endParaRPr lang="en-US" dirty="0"/>
                    </a:p>
                  </a:txBody>
                  <a:tcPr/>
                </a:tc>
              </a:tr>
              <a:tr h="370840">
                <a:tc>
                  <a:txBody>
                    <a:bodyPr/>
                    <a:lstStyle/>
                    <a:p>
                      <a:r>
                        <a:rPr lang="en-US" dirty="0" smtClean="0"/>
                        <a:t>D</a:t>
                      </a:r>
                      <a:endParaRPr lang="en-US" dirty="0"/>
                    </a:p>
                  </a:txBody>
                  <a:tcPr/>
                </a:tc>
                <a:tc>
                  <a:txBody>
                    <a:bodyPr/>
                    <a:lstStyle/>
                    <a:p>
                      <a:r>
                        <a:rPr lang="en-US" dirty="0" smtClean="0"/>
                        <a:t>A</a:t>
                      </a:r>
                      <a:endParaRPr lang="en-US" dirty="0"/>
                    </a:p>
                  </a:txBody>
                  <a:tcPr/>
                </a:tc>
                <a:tc>
                  <a:txBody>
                    <a:bodyPr/>
                    <a:lstStyle/>
                    <a:p>
                      <a:r>
                        <a:rPr lang="en-US" dirty="0" smtClean="0"/>
                        <a:t>5</a:t>
                      </a:r>
                      <a:endParaRPr lang="en-US" dirty="0"/>
                    </a:p>
                  </a:txBody>
                  <a:tcPr/>
                </a:tc>
              </a:tr>
              <a:tr h="370840">
                <a:tc>
                  <a:txBody>
                    <a:bodyPr/>
                    <a:lstStyle/>
                    <a:p>
                      <a:r>
                        <a:rPr lang="en-US" dirty="0" smtClean="0"/>
                        <a:t>E</a:t>
                      </a:r>
                      <a:endParaRPr lang="en-US" dirty="0"/>
                    </a:p>
                  </a:txBody>
                  <a:tcPr/>
                </a:tc>
                <a:tc>
                  <a:txBody>
                    <a:bodyPr/>
                    <a:lstStyle/>
                    <a:p>
                      <a:r>
                        <a:rPr lang="en-US" dirty="0" smtClean="0"/>
                        <a:t>C</a:t>
                      </a:r>
                      <a:endParaRPr lang="en-US" dirty="0"/>
                    </a:p>
                  </a:txBody>
                  <a:tcPr/>
                </a:tc>
                <a:tc>
                  <a:txBody>
                    <a:bodyPr/>
                    <a:lstStyle/>
                    <a:p>
                      <a:r>
                        <a:rPr lang="en-US" dirty="0" smtClean="0"/>
                        <a:t>2</a:t>
                      </a:r>
                      <a:endParaRPr lang="en-US" dirty="0"/>
                    </a:p>
                  </a:txBody>
                  <a:tcPr/>
                </a:tc>
              </a:tr>
            </a:tbl>
          </a:graphicData>
        </a:graphic>
      </p:graphicFrame>
      <p:sp>
        <p:nvSpPr>
          <p:cNvPr id="4" name="Slide Number Placeholder 3"/>
          <p:cNvSpPr>
            <a:spLocks noGrp="1"/>
          </p:cNvSpPr>
          <p:nvPr>
            <p:ph type="sldNum" sz="quarter" idx="12"/>
          </p:nvPr>
        </p:nvSpPr>
        <p:spPr/>
        <p:txBody>
          <a:bodyPr/>
          <a:lstStyle/>
          <a:p>
            <a:fld id="{0FF54DE5-C571-48E8-A5BC-B369434E2F44}" type="slidenum">
              <a:rPr lang="en-US" smtClean="0"/>
              <a:t>64</a:t>
            </a:fld>
            <a:endParaRPr lang="en-US"/>
          </a:p>
        </p:txBody>
      </p:sp>
    </p:spTree>
    <p:extLst>
      <p:ext uri="{BB962C8B-B14F-4D97-AF65-F5344CB8AC3E}">
        <p14:creationId xmlns:p14="http://schemas.microsoft.com/office/powerpoint/2010/main" val="2830759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0FF54DE5-C571-48E8-A5BC-B369434E2F44}" type="slidenum">
              <a:rPr lang="en-US" smtClean="0"/>
              <a:t>65</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46" y="503749"/>
            <a:ext cx="11523518" cy="6073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038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Normal Activity</a:t>
            </a:r>
          </a:p>
          <a:p>
            <a:endParaRPr lang="en-US" dirty="0" smtClean="0"/>
          </a:p>
          <a:p>
            <a:endParaRPr lang="en-US" dirty="0"/>
          </a:p>
          <a:p>
            <a:r>
              <a:rPr lang="en-US" dirty="0" smtClean="0"/>
              <a:t>Fast Tracking</a:t>
            </a:r>
          </a:p>
          <a:p>
            <a:endParaRPr lang="en-US" dirty="0" smtClean="0"/>
          </a:p>
          <a:p>
            <a:endParaRPr lang="en-US" dirty="0"/>
          </a:p>
          <a:p>
            <a:endParaRPr lang="en-US" dirty="0"/>
          </a:p>
          <a:p>
            <a:r>
              <a:rPr lang="en-US" dirty="0" smtClean="0"/>
              <a:t>Crashing</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66</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336896025"/>
              </p:ext>
            </p:extLst>
          </p:nvPr>
        </p:nvGraphicFramePr>
        <p:xfrm>
          <a:off x="1522845" y="2247129"/>
          <a:ext cx="3475182" cy="370840"/>
        </p:xfrm>
        <a:graphic>
          <a:graphicData uri="http://schemas.openxmlformats.org/drawingml/2006/table">
            <a:tbl>
              <a:tblPr firstRow="1" bandRow="1">
                <a:tableStyleId>{5C22544A-7EE6-4342-B048-85BDC9FD1C3A}</a:tableStyleId>
              </a:tblPr>
              <a:tblGrid>
                <a:gridCol w="579197"/>
                <a:gridCol w="579197"/>
                <a:gridCol w="579197"/>
                <a:gridCol w="579197"/>
                <a:gridCol w="579197"/>
                <a:gridCol w="579197"/>
              </a:tblGrid>
              <a:tr h="370840">
                <a:tc>
                  <a:txBody>
                    <a:bodyPr/>
                    <a:lstStyle/>
                    <a:p>
                      <a:r>
                        <a:rPr lang="en-US" dirty="0" smtClean="0"/>
                        <a:t>1</a:t>
                      </a:r>
                      <a:endParaRPr lang="en-US" dirty="0"/>
                    </a:p>
                  </a:txBody>
                  <a:tcPr>
                    <a:solidFill>
                      <a:srgbClr val="0070C0"/>
                    </a:solidFill>
                  </a:tcPr>
                </a:tc>
                <a:tc>
                  <a:txBody>
                    <a:bodyPr/>
                    <a:lstStyle/>
                    <a:p>
                      <a:r>
                        <a:rPr lang="en-US" dirty="0" smtClean="0"/>
                        <a:t>2</a:t>
                      </a:r>
                      <a:endParaRPr lang="en-US" dirty="0"/>
                    </a:p>
                  </a:txBody>
                  <a:tcPr>
                    <a:solidFill>
                      <a:srgbClr val="0070C0"/>
                    </a:solidFill>
                  </a:tcPr>
                </a:tc>
                <a:tc>
                  <a:txBody>
                    <a:bodyPr/>
                    <a:lstStyle/>
                    <a:p>
                      <a:r>
                        <a:rPr lang="en-US" dirty="0" smtClean="0"/>
                        <a:t>3</a:t>
                      </a:r>
                      <a:endParaRPr lang="en-US" dirty="0"/>
                    </a:p>
                  </a:txBody>
                  <a:tcPr>
                    <a:solidFill>
                      <a:srgbClr val="0070C0"/>
                    </a:solidFill>
                  </a:tcPr>
                </a:tc>
                <a:tc>
                  <a:txBody>
                    <a:bodyPr/>
                    <a:lstStyle/>
                    <a:p>
                      <a:r>
                        <a:rPr lang="en-US" dirty="0" smtClean="0"/>
                        <a:t>4</a:t>
                      </a:r>
                      <a:endParaRPr lang="en-US" dirty="0"/>
                    </a:p>
                  </a:txBody>
                  <a:tcPr>
                    <a:solidFill>
                      <a:srgbClr val="0070C0"/>
                    </a:solidFill>
                  </a:tcPr>
                </a:tc>
                <a:tc>
                  <a:txBody>
                    <a:bodyPr/>
                    <a:lstStyle/>
                    <a:p>
                      <a:r>
                        <a:rPr lang="en-US" dirty="0" smtClean="0"/>
                        <a:t>5</a:t>
                      </a:r>
                      <a:endParaRPr lang="en-US" dirty="0"/>
                    </a:p>
                  </a:txBody>
                  <a:tcPr>
                    <a:solidFill>
                      <a:srgbClr val="0070C0"/>
                    </a:solidFill>
                  </a:tcPr>
                </a:tc>
                <a:tc>
                  <a:txBody>
                    <a:bodyPr/>
                    <a:lstStyle/>
                    <a:p>
                      <a:r>
                        <a:rPr lang="en-US" dirty="0" smtClean="0"/>
                        <a:t>6</a:t>
                      </a:r>
                      <a:endParaRPr lang="en-US" dirty="0"/>
                    </a:p>
                  </a:txBody>
                  <a:tcPr>
                    <a:solidFill>
                      <a:srgbClr val="0070C0"/>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108889411"/>
              </p:ext>
            </p:extLst>
          </p:nvPr>
        </p:nvGraphicFramePr>
        <p:xfrm>
          <a:off x="5000336" y="2607347"/>
          <a:ext cx="3475182" cy="370840"/>
        </p:xfrm>
        <a:graphic>
          <a:graphicData uri="http://schemas.openxmlformats.org/drawingml/2006/table">
            <a:tbl>
              <a:tblPr firstRow="1" bandRow="1">
                <a:tableStyleId>{5C22544A-7EE6-4342-B048-85BDC9FD1C3A}</a:tableStyleId>
              </a:tblPr>
              <a:tblGrid>
                <a:gridCol w="579197"/>
                <a:gridCol w="579197"/>
                <a:gridCol w="579197"/>
                <a:gridCol w="579197"/>
                <a:gridCol w="579197"/>
                <a:gridCol w="579197"/>
              </a:tblGrid>
              <a:tr h="370840">
                <a:tc>
                  <a:txBody>
                    <a:bodyPr/>
                    <a:lstStyle/>
                    <a:p>
                      <a:r>
                        <a:rPr lang="en-US" dirty="0" smtClean="0"/>
                        <a:t>7</a:t>
                      </a:r>
                      <a:endParaRPr lang="en-US" dirty="0"/>
                    </a:p>
                  </a:txBody>
                  <a:tcPr>
                    <a:solidFill>
                      <a:srgbClr val="0070C0"/>
                    </a:solidFill>
                  </a:tcPr>
                </a:tc>
                <a:tc>
                  <a:txBody>
                    <a:bodyPr/>
                    <a:lstStyle/>
                    <a:p>
                      <a:r>
                        <a:rPr lang="en-US" dirty="0" smtClean="0"/>
                        <a:t>8</a:t>
                      </a:r>
                      <a:endParaRPr lang="en-US" dirty="0"/>
                    </a:p>
                  </a:txBody>
                  <a:tcPr>
                    <a:solidFill>
                      <a:srgbClr val="0070C0"/>
                    </a:solidFill>
                  </a:tcPr>
                </a:tc>
                <a:tc>
                  <a:txBody>
                    <a:bodyPr/>
                    <a:lstStyle/>
                    <a:p>
                      <a:r>
                        <a:rPr lang="en-US" dirty="0" smtClean="0"/>
                        <a:t>9</a:t>
                      </a:r>
                      <a:endParaRPr lang="en-US" dirty="0"/>
                    </a:p>
                  </a:txBody>
                  <a:tcPr>
                    <a:solidFill>
                      <a:srgbClr val="0070C0"/>
                    </a:solidFill>
                  </a:tcPr>
                </a:tc>
                <a:tc>
                  <a:txBody>
                    <a:bodyPr/>
                    <a:lstStyle/>
                    <a:p>
                      <a:r>
                        <a:rPr lang="en-US" dirty="0" smtClean="0"/>
                        <a:t>10</a:t>
                      </a:r>
                      <a:endParaRPr lang="en-US" dirty="0"/>
                    </a:p>
                  </a:txBody>
                  <a:tcPr>
                    <a:solidFill>
                      <a:srgbClr val="0070C0"/>
                    </a:solidFill>
                  </a:tcPr>
                </a:tc>
                <a:tc>
                  <a:txBody>
                    <a:bodyPr/>
                    <a:lstStyle/>
                    <a:p>
                      <a:r>
                        <a:rPr lang="en-US" dirty="0" smtClean="0"/>
                        <a:t>11</a:t>
                      </a:r>
                      <a:endParaRPr lang="en-US" dirty="0"/>
                    </a:p>
                  </a:txBody>
                  <a:tcPr>
                    <a:solidFill>
                      <a:srgbClr val="0070C0"/>
                    </a:solidFill>
                  </a:tcPr>
                </a:tc>
                <a:tc>
                  <a:txBody>
                    <a:bodyPr/>
                    <a:lstStyle/>
                    <a:p>
                      <a:r>
                        <a:rPr lang="en-US" dirty="0" smtClean="0"/>
                        <a:t>12</a:t>
                      </a:r>
                      <a:endParaRPr lang="en-US" dirty="0"/>
                    </a:p>
                  </a:txBody>
                  <a:tcPr>
                    <a:solidFill>
                      <a:srgbClr val="0070C0"/>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473759023"/>
              </p:ext>
            </p:extLst>
          </p:nvPr>
        </p:nvGraphicFramePr>
        <p:xfrm>
          <a:off x="8470900" y="2971029"/>
          <a:ext cx="3475182" cy="370840"/>
        </p:xfrm>
        <a:graphic>
          <a:graphicData uri="http://schemas.openxmlformats.org/drawingml/2006/table">
            <a:tbl>
              <a:tblPr firstRow="1" bandRow="1">
                <a:tableStyleId>{5C22544A-7EE6-4342-B048-85BDC9FD1C3A}</a:tableStyleId>
              </a:tblPr>
              <a:tblGrid>
                <a:gridCol w="579197"/>
                <a:gridCol w="579197"/>
                <a:gridCol w="579197"/>
                <a:gridCol w="579197"/>
                <a:gridCol w="579197"/>
                <a:gridCol w="579197"/>
              </a:tblGrid>
              <a:tr h="370840">
                <a:tc>
                  <a:txBody>
                    <a:bodyPr/>
                    <a:lstStyle/>
                    <a:p>
                      <a:r>
                        <a:rPr lang="en-US" dirty="0" smtClean="0"/>
                        <a:t>13</a:t>
                      </a:r>
                      <a:endParaRPr lang="en-US" dirty="0"/>
                    </a:p>
                  </a:txBody>
                  <a:tcPr>
                    <a:solidFill>
                      <a:srgbClr val="0070C0"/>
                    </a:solidFill>
                  </a:tcPr>
                </a:tc>
                <a:tc>
                  <a:txBody>
                    <a:bodyPr/>
                    <a:lstStyle/>
                    <a:p>
                      <a:r>
                        <a:rPr lang="en-US" dirty="0" smtClean="0"/>
                        <a:t>14</a:t>
                      </a:r>
                      <a:endParaRPr lang="en-US" dirty="0"/>
                    </a:p>
                  </a:txBody>
                  <a:tcPr>
                    <a:solidFill>
                      <a:srgbClr val="0070C0"/>
                    </a:solidFill>
                  </a:tcPr>
                </a:tc>
                <a:tc>
                  <a:txBody>
                    <a:bodyPr/>
                    <a:lstStyle/>
                    <a:p>
                      <a:r>
                        <a:rPr lang="en-US" dirty="0" smtClean="0"/>
                        <a:t>15</a:t>
                      </a:r>
                      <a:endParaRPr lang="en-US" dirty="0"/>
                    </a:p>
                  </a:txBody>
                  <a:tcPr>
                    <a:solidFill>
                      <a:srgbClr val="0070C0"/>
                    </a:solidFill>
                  </a:tcPr>
                </a:tc>
                <a:tc>
                  <a:txBody>
                    <a:bodyPr/>
                    <a:lstStyle/>
                    <a:p>
                      <a:r>
                        <a:rPr lang="en-US" dirty="0" smtClean="0"/>
                        <a:t>16</a:t>
                      </a:r>
                      <a:endParaRPr lang="en-US" dirty="0"/>
                    </a:p>
                  </a:txBody>
                  <a:tcPr>
                    <a:solidFill>
                      <a:srgbClr val="0070C0"/>
                    </a:solidFill>
                  </a:tcPr>
                </a:tc>
                <a:tc>
                  <a:txBody>
                    <a:bodyPr/>
                    <a:lstStyle/>
                    <a:p>
                      <a:r>
                        <a:rPr lang="en-US" dirty="0" smtClean="0"/>
                        <a:t>17</a:t>
                      </a:r>
                      <a:endParaRPr lang="en-US" dirty="0"/>
                    </a:p>
                  </a:txBody>
                  <a:tcPr>
                    <a:solidFill>
                      <a:srgbClr val="0070C0"/>
                    </a:solidFill>
                  </a:tcPr>
                </a:tc>
                <a:tc>
                  <a:txBody>
                    <a:bodyPr/>
                    <a:lstStyle/>
                    <a:p>
                      <a:r>
                        <a:rPr lang="en-US" dirty="0" smtClean="0"/>
                        <a:t>18</a:t>
                      </a:r>
                      <a:endParaRPr lang="en-US" dirty="0"/>
                    </a:p>
                  </a:txBody>
                  <a:tcPr>
                    <a:solidFill>
                      <a:srgbClr val="0070C0"/>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285620585"/>
              </p:ext>
            </p:extLst>
          </p:nvPr>
        </p:nvGraphicFramePr>
        <p:xfrm>
          <a:off x="1747981" y="3802301"/>
          <a:ext cx="3475182" cy="370840"/>
        </p:xfrm>
        <a:graphic>
          <a:graphicData uri="http://schemas.openxmlformats.org/drawingml/2006/table">
            <a:tbl>
              <a:tblPr firstRow="1" bandRow="1">
                <a:tableStyleId>{5C22544A-7EE6-4342-B048-85BDC9FD1C3A}</a:tableStyleId>
              </a:tblPr>
              <a:tblGrid>
                <a:gridCol w="579197"/>
                <a:gridCol w="579197"/>
                <a:gridCol w="579197"/>
                <a:gridCol w="579197"/>
                <a:gridCol w="579197"/>
                <a:gridCol w="579197"/>
              </a:tblGrid>
              <a:tr h="370840">
                <a:tc>
                  <a:txBody>
                    <a:bodyPr/>
                    <a:lstStyle/>
                    <a:p>
                      <a:r>
                        <a:rPr lang="en-US" dirty="0" smtClean="0"/>
                        <a:t>1</a:t>
                      </a:r>
                      <a:endParaRPr lang="en-US" dirty="0"/>
                    </a:p>
                  </a:txBody>
                  <a:tcPr>
                    <a:solidFill>
                      <a:srgbClr val="0070C0"/>
                    </a:solidFill>
                  </a:tcPr>
                </a:tc>
                <a:tc>
                  <a:txBody>
                    <a:bodyPr/>
                    <a:lstStyle/>
                    <a:p>
                      <a:r>
                        <a:rPr lang="en-US" dirty="0" smtClean="0"/>
                        <a:t>2</a:t>
                      </a:r>
                      <a:endParaRPr lang="en-US" dirty="0"/>
                    </a:p>
                  </a:txBody>
                  <a:tcPr>
                    <a:solidFill>
                      <a:srgbClr val="0070C0"/>
                    </a:solidFill>
                  </a:tcPr>
                </a:tc>
                <a:tc>
                  <a:txBody>
                    <a:bodyPr/>
                    <a:lstStyle/>
                    <a:p>
                      <a:r>
                        <a:rPr lang="en-US" dirty="0" smtClean="0"/>
                        <a:t>3</a:t>
                      </a:r>
                      <a:endParaRPr lang="en-US" dirty="0"/>
                    </a:p>
                  </a:txBody>
                  <a:tcPr>
                    <a:solidFill>
                      <a:srgbClr val="0070C0"/>
                    </a:solidFill>
                  </a:tcPr>
                </a:tc>
                <a:tc>
                  <a:txBody>
                    <a:bodyPr/>
                    <a:lstStyle/>
                    <a:p>
                      <a:r>
                        <a:rPr lang="en-US" dirty="0" smtClean="0"/>
                        <a:t>4</a:t>
                      </a:r>
                      <a:endParaRPr lang="en-US" dirty="0"/>
                    </a:p>
                  </a:txBody>
                  <a:tcPr>
                    <a:solidFill>
                      <a:srgbClr val="0070C0"/>
                    </a:solidFill>
                  </a:tcPr>
                </a:tc>
                <a:tc>
                  <a:txBody>
                    <a:bodyPr/>
                    <a:lstStyle/>
                    <a:p>
                      <a:r>
                        <a:rPr lang="en-US" dirty="0" smtClean="0"/>
                        <a:t>5</a:t>
                      </a:r>
                      <a:endParaRPr lang="en-US" dirty="0"/>
                    </a:p>
                  </a:txBody>
                  <a:tcPr>
                    <a:solidFill>
                      <a:srgbClr val="0070C0"/>
                    </a:solidFill>
                  </a:tcPr>
                </a:tc>
                <a:tc>
                  <a:txBody>
                    <a:bodyPr/>
                    <a:lstStyle/>
                    <a:p>
                      <a:r>
                        <a:rPr lang="en-US" dirty="0" smtClean="0"/>
                        <a:t>6</a:t>
                      </a:r>
                      <a:endParaRPr lang="en-US" dirty="0"/>
                    </a:p>
                  </a:txBody>
                  <a:tcPr>
                    <a:solidFill>
                      <a:srgbClr val="0070C0"/>
                    </a:solidFill>
                  </a:tcPr>
                </a:tc>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525468971"/>
              </p:ext>
            </p:extLst>
          </p:nvPr>
        </p:nvGraphicFramePr>
        <p:xfrm>
          <a:off x="4030518" y="4183302"/>
          <a:ext cx="3475182" cy="370840"/>
        </p:xfrm>
        <a:graphic>
          <a:graphicData uri="http://schemas.openxmlformats.org/drawingml/2006/table">
            <a:tbl>
              <a:tblPr firstRow="1" bandRow="1">
                <a:tableStyleId>{5C22544A-7EE6-4342-B048-85BDC9FD1C3A}</a:tableStyleId>
              </a:tblPr>
              <a:tblGrid>
                <a:gridCol w="579197"/>
                <a:gridCol w="579197"/>
                <a:gridCol w="579197"/>
                <a:gridCol w="579197"/>
                <a:gridCol w="579197"/>
                <a:gridCol w="579197"/>
              </a:tblGrid>
              <a:tr h="370840">
                <a:tc>
                  <a:txBody>
                    <a:bodyPr/>
                    <a:lstStyle/>
                    <a:p>
                      <a:r>
                        <a:rPr lang="en-US" dirty="0" smtClean="0"/>
                        <a:t>5</a:t>
                      </a:r>
                      <a:endParaRPr lang="en-US" dirty="0"/>
                    </a:p>
                  </a:txBody>
                  <a:tcPr>
                    <a:solidFill>
                      <a:srgbClr val="0070C0"/>
                    </a:solidFill>
                  </a:tcPr>
                </a:tc>
                <a:tc>
                  <a:txBody>
                    <a:bodyPr/>
                    <a:lstStyle/>
                    <a:p>
                      <a:r>
                        <a:rPr lang="en-US" dirty="0" smtClean="0"/>
                        <a:t>6</a:t>
                      </a:r>
                      <a:endParaRPr lang="en-US" dirty="0"/>
                    </a:p>
                  </a:txBody>
                  <a:tcPr>
                    <a:solidFill>
                      <a:srgbClr val="0070C0"/>
                    </a:solidFill>
                  </a:tcPr>
                </a:tc>
                <a:tc>
                  <a:txBody>
                    <a:bodyPr/>
                    <a:lstStyle/>
                    <a:p>
                      <a:r>
                        <a:rPr lang="en-US" dirty="0" smtClean="0"/>
                        <a:t>7</a:t>
                      </a:r>
                      <a:endParaRPr lang="en-US" dirty="0"/>
                    </a:p>
                  </a:txBody>
                  <a:tcPr>
                    <a:solidFill>
                      <a:srgbClr val="0070C0"/>
                    </a:solidFill>
                  </a:tcPr>
                </a:tc>
                <a:tc>
                  <a:txBody>
                    <a:bodyPr/>
                    <a:lstStyle/>
                    <a:p>
                      <a:r>
                        <a:rPr lang="en-US" dirty="0" smtClean="0"/>
                        <a:t>8</a:t>
                      </a:r>
                      <a:endParaRPr lang="en-US" dirty="0"/>
                    </a:p>
                  </a:txBody>
                  <a:tcPr>
                    <a:solidFill>
                      <a:srgbClr val="0070C0"/>
                    </a:solidFill>
                  </a:tcPr>
                </a:tc>
                <a:tc>
                  <a:txBody>
                    <a:bodyPr/>
                    <a:lstStyle/>
                    <a:p>
                      <a:r>
                        <a:rPr lang="en-US" dirty="0" smtClean="0"/>
                        <a:t>9</a:t>
                      </a:r>
                      <a:endParaRPr lang="en-US" dirty="0"/>
                    </a:p>
                  </a:txBody>
                  <a:tcPr>
                    <a:solidFill>
                      <a:srgbClr val="0070C0"/>
                    </a:solidFill>
                  </a:tcPr>
                </a:tc>
                <a:tc>
                  <a:txBody>
                    <a:bodyPr/>
                    <a:lstStyle/>
                    <a:p>
                      <a:r>
                        <a:rPr lang="en-US" dirty="0" smtClean="0"/>
                        <a:t>10</a:t>
                      </a:r>
                      <a:endParaRPr lang="en-US" dirty="0"/>
                    </a:p>
                  </a:txBody>
                  <a:tcPr>
                    <a:solidFill>
                      <a:srgbClr val="0070C0"/>
                    </a:solidFill>
                  </a:tcPr>
                </a:tc>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527100333"/>
              </p:ext>
            </p:extLst>
          </p:nvPr>
        </p:nvGraphicFramePr>
        <p:xfrm>
          <a:off x="6358081" y="4567766"/>
          <a:ext cx="3475182" cy="370840"/>
        </p:xfrm>
        <a:graphic>
          <a:graphicData uri="http://schemas.openxmlformats.org/drawingml/2006/table">
            <a:tbl>
              <a:tblPr firstRow="1" bandRow="1">
                <a:tableStyleId>{5C22544A-7EE6-4342-B048-85BDC9FD1C3A}</a:tableStyleId>
              </a:tblPr>
              <a:tblGrid>
                <a:gridCol w="579197"/>
                <a:gridCol w="579197"/>
                <a:gridCol w="579197"/>
                <a:gridCol w="579197"/>
                <a:gridCol w="579197"/>
                <a:gridCol w="579197"/>
              </a:tblGrid>
              <a:tr h="370840">
                <a:tc>
                  <a:txBody>
                    <a:bodyPr/>
                    <a:lstStyle/>
                    <a:p>
                      <a:r>
                        <a:rPr lang="en-US" dirty="0" smtClean="0"/>
                        <a:t>9</a:t>
                      </a:r>
                      <a:endParaRPr lang="en-US" dirty="0"/>
                    </a:p>
                  </a:txBody>
                  <a:tcPr>
                    <a:solidFill>
                      <a:srgbClr val="0070C0"/>
                    </a:solidFill>
                  </a:tcPr>
                </a:tc>
                <a:tc>
                  <a:txBody>
                    <a:bodyPr/>
                    <a:lstStyle/>
                    <a:p>
                      <a:r>
                        <a:rPr lang="en-US" dirty="0" smtClean="0"/>
                        <a:t>10</a:t>
                      </a:r>
                      <a:endParaRPr lang="en-US" dirty="0"/>
                    </a:p>
                  </a:txBody>
                  <a:tcPr>
                    <a:solidFill>
                      <a:srgbClr val="0070C0"/>
                    </a:solidFill>
                  </a:tcPr>
                </a:tc>
                <a:tc>
                  <a:txBody>
                    <a:bodyPr/>
                    <a:lstStyle/>
                    <a:p>
                      <a:r>
                        <a:rPr lang="en-US" dirty="0" smtClean="0"/>
                        <a:t>11</a:t>
                      </a:r>
                      <a:endParaRPr lang="en-US" dirty="0"/>
                    </a:p>
                  </a:txBody>
                  <a:tcPr>
                    <a:solidFill>
                      <a:srgbClr val="0070C0"/>
                    </a:solidFill>
                  </a:tcPr>
                </a:tc>
                <a:tc>
                  <a:txBody>
                    <a:bodyPr/>
                    <a:lstStyle/>
                    <a:p>
                      <a:r>
                        <a:rPr lang="en-US" dirty="0" smtClean="0"/>
                        <a:t>12</a:t>
                      </a:r>
                      <a:endParaRPr lang="en-US" dirty="0"/>
                    </a:p>
                  </a:txBody>
                  <a:tcPr>
                    <a:solidFill>
                      <a:srgbClr val="0070C0"/>
                    </a:solidFill>
                  </a:tcPr>
                </a:tc>
                <a:tc>
                  <a:txBody>
                    <a:bodyPr/>
                    <a:lstStyle/>
                    <a:p>
                      <a:r>
                        <a:rPr lang="en-US" dirty="0" smtClean="0"/>
                        <a:t>13</a:t>
                      </a:r>
                      <a:endParaRPr lang="en-US" dirty="0"/>
                    </a:p>
                  </a:txBody>
                  <a:tcPr>
                    <a:solidFill>
                      <a:srgbClr val="0070C0"/>
                    </a:solidFill>
                  </a:tcPr>
                </a:tc>
                <a:tc>
                  <a:txBody>
                    <a:bodyPr/>
                    <a:lstStyle/>
                    <a:p>
                      <a:r>
                        <a:rPr lang="en-US" dirty="0" smtClean="0"/>
                        <a:t>14</a:t>
                      </a:r>
                      <a:endParaRPr lang="en-US" dirty="0"/>
                    </a:p>
                  </a:txBody>
                  <a:tcPr>
                    <a:solidFill>
                      <a:srgbClr val="0070C0"/>
                    </a:solidFill>
                  </a:tcPr>
                </a:tc>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686639222"/>
              </p:ext>
            </p:extLst>
          </p:nvPr>
        </p:nvGraphicFramePr>
        <p:xfrm>
          <a:off x="1851890" y="5547974"/>
          <a:ext cx="1737591" cy="370840"/>
        </p:xfrm>
        <a:graphic>
          <a:graphicData uri="http://schemas.openxmlformats.org/drawingml/2006/table">
            <a:tbl>
              <a:tblPr firstRow="1" bandRow="1">
                <a:tableStyleId>{5C22544A-7EE6-4342-B048-85BDC9FD1C3A}</a:tableStyleId>
              </a:tblPr>
              <a:tblGrid>
                <a:gridCol w="579197"/>
                <a:gridCol w="579197"/>
                <a:gridCol w="579197"/>
              </a:tblGrid>
              <a:tr h="370840">
                <a:tc>
                  <a:txBody>
                    <a:bodyPr/>
                    <a:lstStyle/>
                    <a:p>
                      <a:r>
                        <a:rPr lang="en-US" dirty="0" smtClean="0"/>
                        <a:t>1</a:t>
                      </a:r>
                      <a:endParaRPr lang="en-US" dirty="0"/>
                    </a:p>
                  </a:txBody>
                  <a:tcPr>
                    <a:solidFill>
                      <a:srgbClr val="0070C0"/>
                    </a:solidFill>
                  </a:tcPr>
                </a:tc>
                <a:tc>
                  <a:txBody>
                    <a:bodyPr/>
                    <a:lstStyle/>
                    <a:p>
                      <a:r>
                        <a:rPr lang="en-US" dirty="0" smtClean="0"/>
                        <a:t>2</a:t>
                      </a:r>
                      <a:endParaRPr lang="en-US" dirty="0"/>
                    </a:p>
                  </a:txBody>
                  <a:tcPr>
                    <a:solidFill>
                      <a:srgbClr val="0070C0"/>
                    </a:solidFill>
                  </a:tcPr>
                </a:tc>
                <a:tc>
                  <a:txBody>
                    <a:bodyPr/>
                    <a:lstStyle/>
                    <a:p>
                      <a:r>
                        <a:rPr lang="en-US" dirty="0" smtClean="0"/>
                        <a:t>3</a:t>
                      </a:r>
                      <a:endParaRPr lang="en-US" dirty="0"/>
                    </a:p>
                  </a:txBody>
                  <a:tcPr>
                    <a:solidFill>
                      <a:srgbClr val="0070C0"/>
                    </a:solidFill>
                  </a:tcPr>
                </a:tc>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02433079"/>
              </p:ext>
            </p:extLst>
          </p:nvPr>
        </p:nvGraphicFramePr>
        <p:xfrm>
          <a:off x="3566390" y="5922047"/>
          <a:ext cx="2316788" cy="370840"/>
        </p:xfrm>
        <a:graphic>
          <a:graphicData uri="http://schemas.openxmlformats.org/drawingml/2006/table">
            <a:tbl>
              <a:tblPr firstRow="1" bandRow="1">
                <a:tableStyleId>{5C22544A-7EE6-4342-B048-85BDC9FD1C3A}</a:tableStyleId>
              </a:tblPr>
              <a:tblGrid>
                <a:gridCol w="579197"/>
                <a:gridCol w="579197"/>
                <a:gridCol w="579197"/>
                <a:gridCol w="579197"/>
              </a:tblGrid>
              <a:tr h="370840">
                <a:tc>
                  <a:txBody>
                    <a:bodyPr/>
                    <a:lstStyle/>
                    <a:p>
                      <a:r>
                        <a:rPr lang="en-US" dirty="0" smtClean="0"/>
                        <a:t>4</a:t>
                      </a:r>
                      <a:endParaRPr lang="en-US" dirty="0"/>
                    </a:p>
                  </a:txBody>
                  <a:tcPr>
                    <a:solidFill>
                      <a:srgbClr val="0070C0"/>
                    </a:solidFill>
                  </a:tcPr>
                </a:tc>
                <a:tc>
                  <a:txBody>
                    <a:bodyPr/>
                    <a:lstStyle/>
                    <a:p>
                      <a:r>
                        <a:rPr lang="en-US" dirty="0" smtClean="0"/>
                        <a:t>5</a:t>
                      </a:r>
                      <a:endParaRPr lang="en-US" dirty="0"/>
                    </a:p>
                  </a:txBody>
                  <a:tcPr>
                    <a:solidFill>
                      <a:srgbClr val="0070C0"/>
                    </a:solidFill>
                  </a:tcPr>
                </a:tc>
                <a:tc>
                  <a:txBody>
                    <a:bodyPr/>
                    <a:lstStyle/>
                    <a:p>
                      <a:r>
                        <a:rPr lang="en-US" dirty="0" smtClean="0"/>
                        <a:t>6</a:t>
                      </a:r>
                      <a:endParaRPr lang="en-US" dirty="0"/>
                    </a:p>
                  </a:txBody>
                  <a:tcPr>
                    <a:solidFill>
                      <a:srgbClr val="0070C0"/>
                    </a:solidFill>
                  </a:tcPr>
                </a:tc>
                <a:tc>
                  <a:txBody>
                    <a:bodyPr/>
                    <a:lstStyle/>
                    <a:p>
                      <a:r>
                        <a:rPr lang="en-US" dirty="0" smtClean="0"/>
                        <a:t>7</a:t>
                      </a:r>
                      <a:endParaRPr lang="en-US" dirty="0"/>
                    </a:p>
                  </a:txBody>
                  <a:tcPr>
                    <a:solidFill>
                      <a:srgbClr val="0070C0"/>
                    </a:solidFill>
                  </a:tcPr>
                </a:tc>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817952582"/>
              </p:ext>
            </p:extLst>
          </p:nvPr>
        </p:nvGraphicFramePr>
        <p:xfrm>
          <a:off x="5859318" y="6323829"/>
          <a:ext cx="1737591" cy="370840"/>
        </p:xfrm>
        <a:graphic>
          <a:graphicData uri="http://schemas.openxmlformats.org/drawingml/2006/table">
            <a:tbl>
              <a:tblPr firstRow="1" bandRow="1">
                <a:tableStyleId>{5C22544A-7EE6-4342-B048-85BDC9FD1C3A}</a:tableStyleId>
              </a:tblPr>
              <a:tblGrid>
                <a:gridCol w="579197"/>
                <a:gridCol w="579197"/>
                <a:gridCol w="579197"/>
              </a:tblGrid>
              <a:tr h="370840">
                <a:tc>
                  <a:txBody>
                    <a:bodyPr/>
                    <a:lstStyle/>
                    <a:p>
                      <a:r>
                        <a:rPr lang="en-US" dirty="0" smtClean="0"/>
                        <a:t>8</a:t>
                      </a:r>
                      <a:endParaRPr lang="en-US" dirty="0"/>
                    </a:p>
                  </a:txBody>
                  <a:tcPr>
                    <a:solidFill>
                      <a:srgbClr val="0070C0"/>
                    </a:solidFill>
                  </a:tcPr>
                </a:tc>
                <a:tc>
                  <a:txBody>
                    <a:bodyPr/>
                    <a:lstStyle/>
                    <a:p>
                      <a:r>
                        <a:rPr lang="en-US" dirty="0" smtClean="0"/>
                        <a:t>9</a:t>
                      </a:r>
                      <a:endParaRPr lang="en-US" dirty="0"/>
                    </a:p>
                  </a:txBody>
                  <a:tcPr>
                    <a:solidFill>
                      <a:srgbClr val="0070C0"/>
                    </a:solidFill>
                  </a:tcPr>
                </a:tc>
                <a:tc>
                  <a:txBody>
                    <a:bodyPr/>
                    <a:lstStyle/>
                    <a:p>
                      <a:r>
                        <a:rPr lang="en-US" dirty="0" smtClean="0"/>
                        <a:t>10</a:t>
                      </a:r>
                      <a:endParaRPr lang="en-US" dirty="0"/>
                    </a:p>
                  </a:txBody>
                  <a:tcPr>
                    <a:solidFill>
                      <a:srgbClr val="0070C0"/>
                    </a:solidFill>
                  </a:tcPr>
                </a:tc>
              </a:tr>
            </a:tbl>
          </a:graphicData>
        </a:graphic>
      </p:graphicFrame>
      <p:pic>
        <p:nvPicPr>
          <p:cNvPr id="1026" name="Picture 2" descr="person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603" y="5974773"/>
            <a:ext cx="569518" cy="47697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person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0458" y="5974773"/>
            <a:ext cx="569518" cy="47697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person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44894" y="5354782"/>
            <a:ext cx="569518" cy="47697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person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89375" y="5354782"/>
            <a:ext cx="569518" cy="47697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person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6985" y="5840196"/>
            <a:ext cx="569518" cy="47697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person clipa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1858" y="5802601"/>
            <a:ext cx="569518" cy="476972"/>
          </a:xfrm>
          <a:prstGeom prst="rect">
            <a:avLst/>
          </a:prstGeom>
          <a:noFill/>
          <a:extLst>
            <a:ext uri="{909E8E84-426E-40DD-AFC4-6F175D3DCCD1}">
              <a14:hiddenFill xmlns:a14="http://schemas.microsoft.com/office/drawing/2010/main">
                <a:solidFill>
                  <a:srgbClr val="FFFFFF"/>
                </a:solidFill>
              </a14:hiddenFill>
            </a:ext>
          </a:extLst>
        </p:spPr>
      </p:pic>
      <p:sp>
        <p:nvSpPr>
          <p:cNvPr id="21" name="Horizontal Scroll 20"/>
          <p:cNvSpPr/>
          <p:nvPr/>
        </p:nvSpPr>
        <p:spPr>
          <a:xfrm>
            <a:off x="8582891" y="3688774"/>
            <a:ext cx="1766454" cy="665018"/>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latin typeface="Aparajita" panose="020B0604020202020204" pitchFamily="34" charset="0"/>
                <a:cs typeface="Aparajita" panose="020B0604020202020204" pitchFamily="34" charset="0"/>
              </a:rPr>
              <a:t>High</a:t>
            </a:r>
            <a:r>
              <a:rPr lang="en-US" b="1" smtClean="0">
                <a:solidFill>
                  <a:schemeClr val="tx1"/>
                </a:solidFill>
                <a:latin typeface="Algerian" panose="04020705040A02060702" pitchFamily="82" charset="0"/>
              </a:rPr>
              <a:t> R</a:t>
            </a:r>
            <a:r>
              <a:rPr lang="en-US" b="1" smtClean="0">
                <a:solidFill>
                  <a:schemeClr val="tx1"/>
                </a:solidFill>
                <a:latin typeface="Aparajita" panose="020B0604020202020204" pitchFamily="34" charset="0"/>
                <a:cs typeface="Aparajita" panose="020B0604020202020204" pitchFamily="34" charset="0"/>
              </a:rPr>
              <a:t>isk</a:t>
            </a:r>
            <a:endParaRPr lang="en-US" b="1" dirty="0">
              <a:solidFill>
                <a:schemeClr val="tx1"/>
              </a:solidFill>
              <a:latin typeface="Aparajita" panose="020B0604020202020204" pitchFamily="34" charset="0"/>
              <a:cs typeface="Aparajita" panose="020B0604020202020204" pitchFamily="34" charset="0"/>
            </a:endParaRPr>
          </a:p>
        </p:txBody>
      </p:sp>
      <p:sp>
        <p:nvSpPr>
          <p:cNvPr id="23" name="Horizontal Scroll 22"/>
          <p:cNvSpPr/>
          <p:nvPr/>
        </p:nvSpPr>
        <p:spPr>
          <a:xfrm>
            <a:off x="8735291" y="5507687"/>
            <a:ext cx="1766454" cy="665018"/>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Aparajita" panose="020B0604020202020204" pitchFamily="34" charset="0"/>
                <a:cs typeface="Aparajita" panose="020B0604020202020204" pitchFamily="34" charset="0"/>
              </a:rPr>
              <a:t>High COST</a:t>
            </a:r>
            <a:endParaRPr lang="en-US" b="1" dirty="0">
              <a:solidFill>
                <a:schemeClr val="tx1"/>
              </a:solidFill>
              <a:latin typeface="Aparajita" panose="020B0604020202020204" pitchFamily="34" charset="0"/>
              <a:cs typeface="Aparajita" panose="020B0604020202020204" pitchFamily="34" charset="0"/>
            </a:endParaRPr>
          </a:p>
        </p:txBody>
      </p:sp>
    </p:spTree>
    <p:extLst>
      <p:ext uri="{BB962C8B-B14F-4D97-AF65-F5344CB8AC3E}">
        <p14:creationId xmlns:p14="http://schemas.microsoft.com/office/powerpoint/2010/main" val="283807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67</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6682" y="457200"/>
            <a:ext cx="8988135"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6714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68</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618" y="258004"/>
            <a:ext cx="10359737" cy="6122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180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69</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618" y="258004"/>
            <a:ext cx="10359737" cy="6122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9664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70</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2432" y="2493819"/>
            <a:ext cx="8004467" cy="2182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834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FF54DE5-C571-48E8-A5BC-B369434E2F44}" type="slidenum">
              <a:rPr lang="en-US" smtClean="0"/>
              <a:t>71</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973" y="152400"/>
            <a:ext cx="10848109" cy="655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6671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Must Go through</a:t>
            </a:r>
            <a:endParaRPr lang="en-US" dirty="0"/>
          </a:p>
        </p:txBody>
      </p:sp>
      <p:sp>
        <p:nvSpPr>
          <p:cNvPr id="3" name="Content Placeholder 2"/>
          <p:cNvSpPr>
            <a:spLocks noGrp="1"/>
          </p:cNvSpPr>
          <p:nvPr>
            <p:ph idx="1"/>
          </p:nvPr>
        </p:nvSpPr>
        <p:spPr/>
        <p:txBody>
          <a:bodyPr/>
          <a:lstStyle/>
          <a:p>
            <a:r>
              <a:rPr lang="en-US" dirty="0">
                <a:hlinkClick r:id="rId2"/>
              </a:rPr>
              <a:t>https://pmstudycircle.com/2014/01/critical-path-method-cpm-in-project-management</a:t>
            </a:r>
            <a:r>
              <a:rPr lang="en-US" dirty="0" smtClean="0">
                <a:hlinkClick r:id="rId2"/>
              </a:rPr>
              <a:t>/</a:t>
            </a:r>
            <a:endParaRPr lang="en-US" dirty="0" smtClean="0"/>
          </a:p>
          <a:p>
            <a:r>
              <a:rPr lang="en-US" dirty="0">
                <a:hlinkClick r:id="rId3"/>
              </a:rPr>
              <a:t>https://pmstudycircle.com/2013/03/total-float-versus-free-float/</a:t>
            </a:r>
            <a:endParaRPr lang="en-US" dirty="0"/>
          </a:p>
        </p:txBody>
      </p:sp>
      <p:sp>
        <p:nvSpPr>
          <p:cNvPr id="4" name="Slide Number Placeholder 3"/>
          <p:cNvSpPr>
            <a:spLocks noGrp="1"/>
          </p:cNvSpPr>
          <p:nvPr>
            <p:ph type="sldNum" sz="quarter" idx="12"/>
          </p:nvPr>
        </p:nvSpPr>
        <p:spPr/>
        <p:txBody>
          <a:bodyPr/>
          <a:lstStyle/>
          <a:p>
            <a:fld id="{0FF54DE5-C571-48E8-A5BC-B369434E2F44}" type="slidenum">
              <a:rPr lang="en-US" smtClean="0"/>
              <a:t>72</a:t>
            </a:fld>
            <a:endParaRPr lang="en-US"/>
          </a:p>
        </p:txBody>
      </p:sp>
    </p:spTree>
    <p:extLst>
      <p:ext uri="{BB962C8B-B14F-4D97-AF65-F5344CB8AC3E}">
        <p14:creationId xmlns:p14="http://schemas.microsoft.com/office/powerpoint/2010/main" val="18903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schemas.openxmlformats.org/package/2006/metadata/core-properties"/>
    <ds:schemaRef ds:uri="http://purl.org/dc/dcmitype/"/>
    <ds:schemaRef ds:uri="http://purl.org/dc/terms/"/>
    <ds:schemaRef ds:uri="http://purl.org/dc/elements/1.1/"/>
    <ds:schemaRef ds:uri="http://schemas.microsoft.com/office/infopath/2007/PartnerControls"/>
    <ds:schemaRef ds:uri="http://schemas.microsoft.com/office/2006/documentManagement/types"/>
    <ds:schemaRef ds:uri="http://www.w3.org/XML/1998/namespace"/>
    <ds:schemaRef ds:uri="4873beb7-5857-4685-be1f-d57550cc96cc"/>
    <ds:schemaRef ds:uri="http://schemas.microsoft.com/office/2006/metadata/properties"/>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8705</TotalTime>
  <Words>3935</Words>
  <Application>Microsoft Office PowerPoint</Application>
  <PresentationFormat>Custom</PresentationFormat>
  <Paragraphs>679</Paragraphs>
  <Slides>72</Slides>
  <Notes>1</Notes>
  <HiddenSlides>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Academic Literature 16x9</vt:lpstr>
      <vt:lpstr>Project TIME Management</vt:lpstr>
      <vt:lpstr>Introduction [1/3]</vt:lpstr>
      <vt:lpstr>Introduction [2/3]</vt:lpstr>
      <vt:lpstr>Introduction [3/3]</vt:lpstr>
      <vt:lpstr>PowerPoint Presentation</vt:lpstr>
      <vt:lpstr>PowerPoint Presentation</vt:lpstr>
      <vt:lpstr>PowerPoint Presentation</vt:lpstr>
      <vt:lpstr>Introduction [3/3]</vt:lpstr>
      <vt:lpstr>Process 1: Plan Schedule Management</vt:lpstr>
      <vt:lpstr>Plan Schedule Management: Inputs [1/2]</vt:lpstr>
      <vt:lpstr>Plan Schedule Management: Inputs [2/2]</vt:lpstr>
      <vt:lpstr>Plan Schedule Management: Tools and Techniques</vt:lpstr>
      <vt:lpstr>Plan Schedule Management: Outputs</vt:lpstr>
      <vt:lpstr>Process 2: Define Activities</vt:lpstr>
      <vt:lpstr>Define Activities: Inputs</vt:lpstr>
      <vt:lpstr>Define Activities: Tools and Techniques</vt:lpstr>
      <vt:lpstr>Define Activities: Outputs [1/2]</vt:lpstr>
      <vt:lpstr>Define Activities: Outputs [2/2]</vt:lpstr>
      <vt:lpstr>Process 3: Sequence Activities</vt:lpstr>
      <vt:lpstr>Sequence Activities: Inputs</vt:lpstr>
      <vt:lpstr>Sequence Activities: Tools and Techniques [1/4]</vt:lpstr>
      <vt:lpstr>Sequence Activities: Tools and Techniques [2/4]</vt:lpstr>
      <vt:lpstr>Sequence Activities: Tools and Techniques [3/4]</vt:lpstr>
      <vt:lpstr>Sequence Activities: Outputs</vt:lpstr>
      <vt:lpstr>Process 4: Estimate Activity Resources</vt:lpstr>
      <vt:lpstr>Estimate Activity Resources: Inputs</vt:lpstr>
      <vt:lpstr>Estimate Activity Resources: Tools and Techniques</vt:lpstr>
      <vt:lpstr>Estimate Activity Resources: Outputs</vt:lpstr>
      <vt:lpstr>Process 5: Estimate Activity Durations</vt:lpstr>
      <vt:lpstr>Estimate Activity Durations: Inputs</vt:lpstr>
      <vt:lpstr>Estimate Activity Durations: Tools and Techniques [1/2]</vt:lpstr>
      <vt:lpstr>Estimate Activity Durations: Tools and Techniques [2/2]</vt:lpstr>
      <vt:lpstr>Estimate Activity Durations: Outputs</vt:lpstr>
      <vt:lpstr>Process 6: Develop Schedule</vt:lpstr>
      <vt:lpstr>Develop Schedule: Inputs [1/2]</vt:lpstr>
      <vt:lpstr>Develop Schedule: Inputs [2/2]</vt:lpstr>
      <vt:lpstr>Develop Schedule: Tools and Techniques [1/5]</vt:lpstr>
      <vt:lpstr>Develop Schedule: Tools and Techniques [1/6]</vt:lpstr>
      <vt:lpstr>Develop Schedule: Tools and Techniques [2/5]</vt:lpstr>
      <vt:lpstr>Develop Schedule: Tools and Techniques [3/5]</vt:lpstr>
      <vt:lpstr>Develop Schedule: Tools and Techniques [4/5]</vt:lpstr>
      <vt:lpstr>Develop Schedule: Tools and Techniques [5/5]</vt:lpstr>
      <vt:lpstr>Develop Schedule: Outputs [1/2]</vt:lpstr>
      <vt:lpstr>Develop Schedule: Outputs [2/2]</vt:lpstr>
      <vt:lpstr>Process : Control Schedule</vt:lpstr>
      <vt:lpstr>Control Schedule: Inputs </vt:lpstr>
      <vt:lpstr>Control Schedule: Tools and Techniques [1/2]</vt:lpstr>
      <vt:lpstr>Control Schedule: Tools and Techniques [2/2]</vt:lpstr>
      <vt:lpstr>Control Schedule: Outputs</vt:lpstr>
      <vt:lpstr>PowerPoint Presentation</vt:lpstr>
      <vt:lpstr>PowerPoint Presentation</vt:lpstr>
      <vt:lpstr>PowerPoint Presentation</vt:lpstr>
      <vt:lpstr>PowerPoint Presentation</vt:lpstr>
      <vt:lpstr>PowerPoint Presentation</vt:lpstr>
      <vt:lpstr>PowerPoint Presentation</vt:lpstr>
      <vt:lpstr>Project Buffer</vt:lpstr>
      <vt:lpstr>Feeding Buffers</vt:lpstr>
      <vt:lpstr>Resource Buffer</vt:lpstr>
      <vt:lpstr>Difference Between Buffer and Float (or Slack)</vt:lpstr>
      <vt:lpstr>Difference Between Buffer and Float (or Slack)</vt:lpstr>
      <vt:lpstr>PERT – Program Evaluation and Review Technique</vt:lpstr>
      <vt:lpstr>PERT – Program Evaluation and Review Technique</vt:lpstr>
      <vt:lpstr>PowerPoint Presentation</vt:lpstr>
      <vt:lpstr>ACTIVITY ON ARROW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Must Go through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Muzafar Khan</dc:creator>
  <cp:lastModifiedBy>admin</cp:lastModifiedBy>
  <cp:revision>370</cp:revision>
  <cp:lastPrinted>2018-03-05T12:12:02Z</cp:lastPrinted>
  <dcterms:created xsi:type="dcterms:W3CDTF">2017-02-03T06:11:36Z</dcterms:created>
  <dcterms:modified xsi:type="dcterms:W3CDTF">2022-03-29T20:34:07Z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