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74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33594" y="182371"/>
            <a:ext cx="309816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28898" y="421385"/>
            <a:ext cx="668464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517019" y="6464680"/>
            <a:ext cx="2282824" cy="1932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05176" y="6464680"/>
            <a:ext cx="3956684" cy="1932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0201" y="373761"/>
            <a:ext cx="7840345" cy="3782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</a:tabLst>
            </a:pPr>
            <a:r>
              <a:rPr sz="2700" dirty="0">
                <a:latin typeface="Microsoft Sans Serif"/>
                <a:cs typeface="Microsoft Sans Serif"/>
              </a:rPr>
              <a:t>	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Engineering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–</a:t>
            </a: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4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(CSC291)</a:t>
            </a: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4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90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R="382270" algn="ctr">
              <a:lnSpc>
                <a:spcPct val="100000"/>
              </a:lnSpc>
            </a:pPr>
            <a:r>
              <a:rPr sz="4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Lecture</a:t>
            </a:r>
            <a:r>
              <a:rPr sz="4000" b="1" u="sng" spc="-2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03</a:t>
            </a:r>
            <a:endParaRPr sz="4000" dirty="0">
              <a:latin typeface="Times New Roman"/>
              <a:cs typeface="Times New Roman"/>
            </a:endParaRPr>
          </a:p>
          <a:p>
            <a:pPr marR="382905" algn="ctr">
              <a:lnSpc>
                <a:spcPct val="100000"/>
              </a:lnSpc>
              <a:spcBef>
                <a:spcPts val="3840"/>
              </a:spcBef>
            </a:pPr>
            <a:r>
              <a:rPr sz="4000" dirty="0">
                <a:latin typeface="Times New Roman"/>
                <a:cs typeface="Times New Roman"/>
              </a:rPr>
              <a:t>Agile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Process</a:t>
            </a:r>
            <a:r>
              <a:rPr sz="4000" spc="-10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Models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4502" y="366776"/>
            <a:ext cx="8636000" cy="3416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2515">
              <a:lnSpc>
                <a:spcPct val="100000"/>
              </a:lnSpc>
              <a:spcBef>
                <a:spcPts val="100"/>
              </a:spcBef>
              <a:tabLst>
                <a:tab pos="4117340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SDLC’s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Speed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up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bypass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more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life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cycle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phases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Usually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less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formal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reduced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scope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Used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time-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critical</a:t>
            </a:r>
            <a:r>
              <a:rPr sz="300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applications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Used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organizations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employ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disciplined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methods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10225405" cy="5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165">
              <a:lnSpc>
                <a:spcPct val="100000"/>
              </a:lnSpc>
              <a:spcBef>
                <a:spcPts val="100"/>
              </a:spcBef>
              <a:tabLst>
                <a:tab pos="3856354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is</a:t>
            </a:r>
            <a:r>
              <a:rPr sz="3600" b="1" u="sng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Agility?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indent="-227329">
              <a:lnSpc>
                <a:spcPts val="3275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Effective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response</a:t>
            </a:r>
            <a:r>
              <a:rPr sz="2800" b="1" spc="-1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to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change</a:t>
            </a:r>
            <a:endParaRPr sz="2800" dirty="0">
              <a:latin typeface="Times New Roman"/>
              <a:cs typeface="Times New Roman"/>
            </a:endParaRPr>
          </a:p>
          <a:p>
            <a:pPr marL="697230" marR="8890" lvl="1" indent="-227329">
              <a:lnSpc>
                <a:spcPts val="2690"/>
              </a:lnSpc>
              <a:spcBef>
                <a:spcPts val="565"/>
              </a:spcBef>
              <a:buFont typeface="Arial MT"/>
              <a:buChar char="•"/>
              <a:tabLst>
                <a:tab pos="698500" algn="l"/>
                <a:tab pos="2185670" algn="l"/>
                <a:tab pos="3178175" algn="l"/>
                <a:tab pos="4119879" algn="l"/>
                <a:tab pos="5466080" algn="l"/>
                <a:tab pos="5946140" algn="l"/>
                <a:tab pos="6581775" algn="l"/>
                <a:tab pos="7473315" algn="l"/>
                <a:tab pos="9065895" algn="l"/>
              </a:tabLst>
            </a:pPr>
            <a:r>
              <a:rPr sz="2800" spc="-10" dirty="0">
                <a:latin typeface="Times New Roman"/>
                <a:cs typeface="Times New Roman"/>
              </a:rPr>
              <a:t>Software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being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built,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changes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team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members,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changes 	</a:t>
            </a:r>
            <a:r>
              <a:rPr sz="2800" dirty="0">
                <a:latin typeface="Times New Roman"/>
                <a:cs typeface="Times New Roman"/>
              </a:rPr>
              <a:t>because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new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technology,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269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Changes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kinds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have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impact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product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on 	</a:t>
            </a:r>
            <a:r>
              <a:rPr sz="2800" spc="-10" dirty="0">
                <a:latin typeface="Times New Roman"/>
                <a:cs typeface="Times New Roman"/>
              </a:rPr>
              <a:t>project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>
              <a:lnSpc>
                <a:spcPts val="3270"/>
              </a:lnSpc>
              <a:spcBef>
                <a:spcPts val="35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Agility</a:t>
            </a:r>
            <a:endParaRPr sz="2800" dirty="0">
              <a:latin typeface="Times New Roman"/>
              <a:cs typeface="Times New Roman"/>
            </a:endParaRPr>
          </a:p>
          <a:p>
            <a:pPr marL="697230" marR="7620" lvl="1" indent="-227329">
              <a:lnSpc>
                <a:spcPts val="2690"/>
              </a:lnSpc>
              <a:spcBef>
                <a:spcPts val="560"/>
              </a:spcBef>
              <a:buFont typeface="Arial MT"/>
              <a:buChar char="•"/>
              <a:tabLst>
                <a:tab pos="698500" algn="l"/>
                <a:tab pos="2880995" algn="l"/>
                <a:tab pos="4037965" algn="l"/>
                <a:tab pos="5978525" algn="l"/>
                <a:tab pos="6895465" algn="l"/>
                <a:tab pos="8503920" algn="l"/>
                <a:tab pos="9441180" algn="l"/>
              </a:tabLst>
            </a:pP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Encourages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structure</a:t>
            </a:r>
            <a:r>
              <a:rPr sz="2800" b="1" spc="-10" dirty="0">
                <a:latin typeface="Times New Roman"/>
                <a:cs typeface="Times New Roman"/>
              </a:rPr>
              <a:t>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and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attitudes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that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make 	</a:t>
            </a:r>
            <a:r>
              <a:rPr sz="2800" spc="-10" dirty="0">
                <a:latin typeface="Times New Roman"/>
                <a:cs typeface="Times New Roman"/>
              </a:rPr>
              <a:t>communication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313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Rapid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delivery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operational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software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318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Deemphasizes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importance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intermediate</a:t>
            </a:r>
            <a:r>
              <a:rPr sz="28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work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products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327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Adopts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customer</a:t>
            </a:r>
            <a:r>
              <a:rPr sz="2800" b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team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10358120" cy="5219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165">
              <a:lnSpc>
                <a:spcPct val="100000"/>
              </a:lnSpc>
              <a:spcBef>
                <a:spcPts val="100"/>
              </a:spcBef>
              <a:tabLst>
                <a:tab pos="3856354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is</a:t>
            </a:r>
            <a:r>
              <a:rPr sz="3600" b="1" u="sng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Agility?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6350" indent="-228600">
              <a:lnSpc>
                <a:spcPct val="80000"/>
              </a:lnSpc>
              <a:buFont typeface="Arial MT"/>
              <a:buChar char="•"/>
              <a:tabLst>
                <a:tab pos="241300" algn="l"/>
                <a:tab pos="1556385" algn="l"/>
                <a:tab pos="2344420" algn="l"/>
                <a:tab pos="2940050" algn="l"/>
                <a:tab pos="4359275" algn="l"/>
                <a:tab pos="4871720" algn="l"/>
                <a:tab pos="5636260" algn="l"/>
                <a:tab pos="7162165" algn="l"/>
                <a:tab pos="8519160" algn="l"/>
                <a:tab pos="9114790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Agility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can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be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applied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any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software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process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by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meeting </a:t>
            </a:r>
            <a:r>
              <a:rPr sz="3000" dirty="0">
                <a:latin typeface="Times New Roman"/>
                <a:cs typeface="Times New Roman"/>
              </a:rPr>
              <a:t>following</a:t>
            </a:r>
            <a:r>
              <a:rPr sz="3000" spc="-114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criteria</a:t>
            </a:r>
            <a:endParaRPr sz="3000" dirty="0">
              <a:latin typeface="Times New Roman"/>
              <a:cs typeface="Times New Roman"/>
            </a:endParaRPr>
          </a:p>
          <a:p>
            <a:pPr marL="698500" marR="5715" lvl="1" indent="-228600">
              <a:lnSpc>
                <a:spcPts val="2880"/>
              </a:lnSpc>
              <a:spcBef>
                <a:spcPts val="48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designed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 a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way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allows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project </a:t>
            </a:r>
            <a:r>
              <a:rPr sz="3000" spc="-20" dirty="0">
                <a:latin typeface="Times New Roman"/>
                <a:cs typeface="Times New Roman"/>
              </a:rPr>
              <a:t>team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adapt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tasks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streamline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them</a:t>
            </a:r>
            <a:endParaRPr sz="3000" dirty="0">
              <a:latin typeface="Times New Roman"/>
              <a:cs typeface="Times New Roman"/>
            </a:endParaRPr>
          </a:p>
          <a:p>
            <a:pPr marL="698500" marR="6350" lvl="1" indent="-228600">
              <a:lnSpc>
                <a:spcPts val="288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Conduct</a:t>
            </a:r>
            <a:r>
              <a:rPr sz="30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planning</a:t>
            </a:r>
            <a:r>
              <a:rPr sz="30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way</a:t>
            </a:r>
            <a:r>
              <a:rPr sz="3000" spc="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understands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fluidity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 </a:t>
            </a:r>
            <a:r>
              <a:rPr sz="3000" dirty="0">
                <a:latin typeface="Times New Roman"/>
                <a:cs typeface="Times New Roman"/>
              </a:rPr>
              <a:t>agile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approach</a:t>
            </a:r>
            <a:endParaRPr sz="30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288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Eliminate</a:t>
            </a:r>
            <a:r>
              <a:rPr sz="300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3000" b="1" spc="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but</a:t>
            </a:r>
            <a:r>
              <a:rPr sz="30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most</a:t>
            </a:r>
            <a:r>
              <a:rPr sz="3000" b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essential</a:t>
            </a:r>
            <a:r>
              <a:rPr sz="30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work</a:t>
            </a:r>
            <a:r>
              <a:rPr sz="30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products</a:t>
            </a:r>
            <a:r>
              <a:rPr sz="3000" spc="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114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keep </a:t>
            </a:r>
            <a:r>
              <a:rPr sz="3000" dirty="0">
                <a:latin typeface="Times New Roman"/>
                <a:cs typeface="Times New Roman"/>
              </a:rPr>
              <a:t>them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lean</a:t>
            </a:r>
            <a:endParaRPr sz="30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288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  <a:tab pos="2760345" algn="l"/>
                <a:tab pos="3448050" algn="l"/>
                <a:tab pos="5674995" algn="l"/>
                <a:tab pos="7275195" algn="l"/>
                <a:tab pos="8872855" algn="l"/>
                <a:tab pos="9730740" algn="l"/>
              </a:tabLst>
            </a:pP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Emphasize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incremental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delivery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strategy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that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gets </a:t>
            </a:r>
            <a:r>
              <a:rPr sz="3000" dirty="0">
                <a:latin typeface="Times New Roman"/>
                <a:cs typeface="Times New Roman"/>
              </a:rPr>
              <a:t>working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customer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rapidly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feasible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1966" y="366776"/>
            <a:ext cx="67773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Principles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sng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Methods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417700" y="1655317"/>
          <a:ext cx="10246359" cy="46824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Principle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310">
                <a:tc>
                  <a:txBody>
                    <a:bodyPr/>
                    <a:lstStyle/>
                    <a:p>
                      <a:pPr marL="443230">
                        <a:lnSpc>
                          <a:spcPts val="1870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600" b="1" spc="-9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involvement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87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Customers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closely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involved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throughout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process.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role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3025" marR="5156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provide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prioritize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iterations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615">
                <a:tc>
                  <a:txBody>
                    <a:bodyPr/>
                    <a:lstStyle/>
                    <a:p>
                      <a:pPr marL="519430">
                        <a:lnSpc>
                          <a:spcPts val="1875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Incremental</a:t>
                      </a:r>
                      <a:r>
                        <a:rPr sz="1600" b="1" spc="-8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delivery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3025" marR="202565">
                        <a:lnSpc>
                          <a:spcPts val="1920"/>
                        </a:lnSpc>
                        <a:spcBef>
                          <a:spcPts val="1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increments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specifying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requirements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included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increment.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380">
                <a:tc>
                  <a:txBody>
                    <a:bodyPr/>
                    <a:lstStyle/>
                    <a:p>
                      <a:pPr marL="624840">
                        <a:lnSpc>
                          <a:spcPts val="1875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People</a:t>
                      </a:r>
                      <a:r>
                        <a:rPr sz="1600" b="1" spc="-4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600" b="1" spc="-3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process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875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skills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team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recognized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exploited.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Team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members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own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ways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working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prescriptive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processes.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marL="699135">
                        <a:lnSpc>
                          <a:spcPts val="1875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Embrace</a:t>
                      </a:r>
                      <a:r>
                        <a:rPr sz="1600" b="1" spc="-6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change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3025" marR="424180">
                        <a:lnSpc>
                          <a:spcPts val="192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Expect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6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accommodate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these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changes.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1380">
                <a:tc>
                  <a:txBody>
                    <a:bodyPr/>
                    <a:lstStyle/>
                    <a:p>
                      <a:pPr marL="575945">
                        <a:lnSpc>
                          <a:spcPts val="1875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Maintain</a:t>
                      </a:r>
                      <a:r>
                        <a:rPr sz="1600" b="1" spc="-5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simplicity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317500">
                        <a:lnSpc>
                          <a:spcPts val="192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Focus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simplicity</a:t>
                      </a:r>
                      <a:r>
                        <a:rPr sz="16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development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process.</a:t>
                      </a:r>
                      <a:r>
                        <a:rPr sz="16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Wherever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possible,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actively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eliminate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16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system.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3058" y="366776"/>
            <a:ext cx="10374630" cy="5360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4590">
              <a:lnSpc>
                <a:spcPct val="100000"/>
              </a:lnSpc>
              <a:spcBef>
                <a:spcPts val="100"/>
              </a:spcBef>
              <a:tabLst>
                <a:tab pos="2938780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Method</a:t>
            </a:r>
            <a:r>
              <a:rPr sz="3600" b="1" u="sng" spc="-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Applicability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Product</a:t>
            </a:r>
            <a:r>
              <a:rPr sz="3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3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where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company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a </a:t>
            </a:r>
            <a:r>
              <a:rPr sz="3000" dirty="0">
                <a:latin typeface="Times New Roman"/>
                <a:cs typeface="Times New Roman"/>
              </a:rPr>
              <a:t>small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medium-</a:t>
            </a:r>
            <a:r>
              <a:rPr sz="3000" dirty="0">
                <a:latin typeface="Times New Roman"/>
                <a:cs typeface="Times New Roman"/>
              </a:rPr>
              <a:t>sized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sale.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Custom</a:t>
            </a:r>
            <a:r>
              <a:rPr sz="3000" b="1" u="sng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3000" b="1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development</a:t>
            </a:r>
            <a:r>
              <a:rPr sz="3000" b="1" u="sng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within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organization</a:t>
            </a:r>
            <a:endParaRPr sz="3000" dirty="0">
              <a:latin typeface="Times New Roman"/>
              <a:cs typeface="Times New Roman"/>
            </a:endParaRPr>
          </a:p>
          <a:p>
            <a:pPr marL="697865" marR="8255" lvl="1" indent="-228600">
              <a:lnSpc>
                <a:spcPts val="3240"/>
              </a:lnSpc>
              <a:spcBef>
                <a:spcPts val="540"/>
              </a:spcBef>
              <a:buFont typeface="Arial MT"/>
              <a:buChar char="•"/>
              <a:tabLst>
                <a:tab pos="697865" algn="l"/>
                <a:tab pos="1806575" algn="l"/>
                <a:tab pos="2747010" algn="l"/>
                <a:tab pos="3176270" algn="l"/>
                <a:tab pos="3524250" algn="l"/>
                <a:tab pos="4499610" algn="l"/>
                <a:tab pos="6732905" algn="l"/>
                <a:tab pos="7706359" algn="l"/>
                <a:tab pos="8390890" algn="l"/>
                <a:tab pos="10061575" algn="l"/>
              </a:tabLst>
            </a:pPr>
            <a:r>
              <a:rPr sz="3000" spc="-10" dirty="0">
                <a:latin typeface="Times New Roman"/>
                <a:cs typeface="Times New Roman"/>
              </a:rPr>
              <a:t>where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there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0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clear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commitment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from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customer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become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involved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process</a:t>
            </a:r>
            <a:endParaRPr sz="30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3420"/>
              </a:lnSpc>
              <a:spcBef>
                <a:spcPts val="100"/>
              </a:spcBef>
              <a:buFont typeface="Arial MT"/>
              <a:buChar char="•"/>
              <a:tabLst>
                <a:tab pos="697865" algn="l"/>
                <a:tab pos="1784985" algn="l"/>
                <a:tab pos="2703830" algn="l"/>
                <a:tab pos="3326129" algn="l"/>
                <a:tab pos="3969385" algn="l"/>
                <a:tab pos="4295140" algn="l"/>
                <a:tab pos="4853305" algn="l"/>
                <a:tab pos="5327015" algn="l"/>
                <a:tab pos="6817995" algn="l"/>
                <a:tab pos="7775575" algn="l"/>
                <a:tab pos="8546465" algn="l"/>
              </a:tabLst>
            </a:pPr>
            <a:r>
              <a:rPr sz="3000" spc="-10" dirty="0">
                <a:latin typeface="Times New Roman"/>
                <a:cs typeface="Times New Roman"/>
              </a:rPr>
              <a:t>where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there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are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not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50" dirty="0">
                <a:latin typeface="Times New Roman"/>
                <a:cs typeface="Times New Roman"/>
              </a:rPr>
              <a:t>a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lot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of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external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rules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regulations</a:t>
            </a:r>
            <a:endParaRPr sz="3000" dirty="0">
              <a:latin typeface="Times New Roman"/>
              <a:cs typeface="Times New Roman"/>
            </a:endParaRPr>
          </a:p>
          <a:p>
            <a:pPr marL="697865">
              <a:lnSpc>
                <a:spcPts val="3420"/>
              </a:lnSpc>
            </a:pP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affect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software.</a:t>
            </a:r>
            <a:endParaRPr sz="3000" dirty="0">
              <a:latin typeface="Times New Roman"/>
              <a:cs typeface="Times New Roman"/>
            </a:endParaRPr>
          </a:p>
          <a:p>
            <a:pPr marL="241300" marR="7620" indent="-228600">
              <a:lnSpc>
                <a:spcPts val="324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Because</a:t>
            </a:r>
            <a:r>
              <a:rPr sz="3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3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their</a:t>
            </a:r>
            <a:r>
              <a:rPr sz="30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focus</a:t>
            </a:r>
            <a:r>
              <a:rPr sz="30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on</a:t>
            </a:r>
            <a:r>
              <a:rPr sz="3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small,</a:t>
            </a:r>
            <a:r>
              <a:rPr sz="3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tightly-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integrated</a:t>
            </a:r>
            <a:r>
              <a:rPr sz="3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teams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30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there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problems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scaling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agile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large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systems.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8257" y="366776"/>
            <a:ext cx="10314940" cy="6007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7590">
              <a:lnSpc>
                <a:spcPct val="100000"/>
              </a:lnSpc>
              <a:spcBef>
                <a:spcPts val="100"/>
              </a:spcBef>
              <a:tabLst>
                <a:tab pos="2811780" algn="l"/>
              </a:tabLst>
            </a:pPr>
            <a:r>
              <a:rPr sz="36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Problems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with</a:t>
            </a:r>
            <a:r>
              <a:rPr sz="3600" b="1" u="sng" spc="-20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Methods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ts val="269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It</a:t>
            </a:r>
            <a:r>
              <a:rPr sz="28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2800" b="1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8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difficult</a:t>
            </a:r>
            <a:r>
              <a:rPr sz="2800" b="1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800" b="1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keep</a:t>
            </a:r>
            <a:r>
              <a:rPr sz="2800" b="1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interest</a:t>
            </a:r>
            <a:r>
              <a:rPr sz="28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8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customers</a:t>
            </a:r>
            <a:r>
              <a:rPr sz="280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who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involved 	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members</a:t>
            </a:r>
            <a:r>
              <a:rPr sz="2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sz="28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8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unsuited</a:t>
            </a:r>
            <a:r>
              <a:rPr sz="2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intense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involvement</a:t>
            </a:r>
            <a:endParaRPr sz="2800" dirty="0">
              <a:latin typeface="Times New Roman"/>
              <a:cs typeface="Times New Roman"/>
            </a:endParaRPr>
          </a:p>
          <a:p>
            <a:pPr marL="239395" marR="5715" indent="-227329" algn="just">
              <a:lnSpc>
                <a:spcPts val="269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Prioritizing</a:t>
            </a:r>
            <a:r>
              <a:rPr sz="2800" b="1" spc="24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changes</a:t>
            </a:r>
            <a:r>
              <a:rPr sz="2800" b="1" spc="23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2800" spc="23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800" spc="23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difficult</a:t>
            </a:r>
            <a:r>
              <a:rPr sz="2800" spc="229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where</a:t>
            </a:r>
            <a:r>
              <a:rPr sz="2800" spc="229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there</a:t>
            </a:r>
            <a:r>
              <a:rPr sz="2800" spc="23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229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multiple 	stakeholders.</a:t>
            </a:r>
            <a:endParaRPr sz="2800" dirty="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ts val="269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Contracts</a:t>
            </a:r>
            <a:r>
              <a:rPr sz="2800" b="1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may</a:t>
            </a:r>
            <a:r>
              <a:rPr sz="2800" b="1" spc="3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800" b="1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problem</a:t>
            </a:r>
            <a:r>
              <a:rPr sz="2800" b="1" spc="3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3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3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3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approaches</a:t>
            </a:r>
            <a:r>
              <a:rPr sz="2800" spc="3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iterative 	development.</a:t>
            </a:r>
            <a:endParaRPr sz="2800" dirty="0">
              <a:latin typeface="Times New Roman"/>
              <a:cs typeface="Times New Roman"/>
            </a:endParaRPr>
          </a:p>
          <a:p>
            <a:pPr marL="698500" marR="7620" lvl="1" indent="-228600" algn="just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698500" algn="l"/>
              </a:tabLst>
            </a:pPr>
            <a:r>
              <a:rPr sz="2700" dirty="0">
                <a:latin typeface="Times New Roman"/>
                <a:cs typeface="Times New Roman"/>
              </a:rPr>
              <a:t>As</a:t>
            </a:r>
            <a:r>
              <a:rPr sz="2700" spc="2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requirement</a:t>
            </a:r>
            <a:r>
              <a:rPr sz="2700" spc="30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document</a:t>
            </a:r>
            <a:r>
              <a:rPr sz="2700" spc="3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2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part</a:t>
            </a:r>
            <a:r>
              <a:rPr sz="2700" spc="2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2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contract</a:t>
            </a:r>
            <a:r>
              <a:rPr sz="2700" spc="2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between</a:t>
            </a:r>
            <a:r>
              <a:rPr sz="2700" spc="2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customer</a:t>
            </a:r>
            <a:r>
              <a:rPr sz="2700" spc="290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and </a:t>
            </a:r>
            <a:r>
              <a:rPr sz="2700" spc="-10" dirty="0">
                <a:latin typeface="Times New Roman"/>
                <a:cs typeface="Times New Roman"/>
              </a:rPr>
              <a:t>supplier</a:t>
            </a:r>
            <a:endParaRPr sz="2700" dirty="0">
              <a:latin typeface="Times New Roman"/>
              <a:cs typeface="Times New Roman"/>
            </a:endParaRPr>
          </a:p>
          <a:p>
            <a:pPr marL="239395" marR="5715" indent="-227329" algn="just">
              <a:lnSpc>
                <a:spcPct val="8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Organizations</a:t>
            </a:r>
            <a:r>
              <a:rPr sz="280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have</a:t>
            </a:r>
            <a:r>
              <a:rPr sz="2800" b="1" spc="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spent</a:t>
            </a:r>
            <a:r>
              <a:rPr sz="28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year</a:t>
            </a:r>
            <a:r>
              <a:rPr sz="28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8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formalizing</a:t>
            </a:r>
            <a:r>
              <a:rPr sz="280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their</a:t>
            </a:r>
            <a:r>
              <a:rPr sz="28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8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is 	</a:t>
            </a: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21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21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them</a:t>
            </a:r>
            <a:r>
              <a:rPr sz="2800" spc="21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2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adopt</a:t>
            </a:r>
            <a:r>
              <a:rPr sz="2800" spc="2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informal</a:t>
            </a:r>
            <a:r>
              <a:rPr sz="2800" spc="2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21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model</a:t>
            </a:r>
            <a:r>
              <a:rPr sz="2800" spc="21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defined</a:t>
            </a:r>
            <a:r>
              <a:rPr sz="2800" spc="22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by 	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teams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888" y="366776"/>
            <a:ext cx="10333990" cy="569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00"/>
              </a:spcBef>
              <a:tabLst>
                <a:tab pos="1438275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Methods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Maintenance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665" indent="-227965">
              <a:lnSpc>
                <a:spcPts val="2735"/>
              </a:lnSpc>
              <a:spcBef>
                <a:spcPts val="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b="1" dirty="0">
                <a:latin typeface="Times New Roman"/>
                <a:cs typeface="Times New Roman"/>
              </a:rPr>
              <a:t>Most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organizations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spend</a:t>
            </a:r>
            <a:r>
              <a:rPr sz="2400" b="1" spc="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more</a:t>
            </a:r>
            <a:r>
              <a:rPr sz="2400" b="1" spc="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maintaining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existing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software</a:t>
            </a:r>
            <a:r>
              <a:rPr sz="2400" b="1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do</a:t>
            </a:r>
            <a:endParaRPr sz="2400" dirty="0">
              <a:latin typeface="Times New Roman"/>
              <a:cs typeface="Times New Roman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development.</a:t>
            </a:r>
            <a:endParaRPr sz="2400" dirty="0">
              <a:latin typeface="Times New Roman"/>
              <a:cs typeface="Times New Roman"/>
            </a:endParaRPr>
          </a:p>
          <a:p>
            <a:pPr marL="240029" marR="10795" indent="-227965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So,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22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agile</a:t>
            </a:r>
            <a:r>
              <a:rPr sz="2400" b="1" spc="2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methods</a:t>
            </a:r>
            <a:r>
              <a:rPr sz="2400" b="1" spc="22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2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2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be</a:t>
            </a:r>
            <a:r>
              <a:rPr sz="2400" b="1" spc="2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successful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support</a:t>
            </a:r>
            <a:r>
              <a:rPr sz="2400" spc="235" dirty="0">
                <a:latin typeface="Times New Roman"/>
                <a:cs typeface="Times New Roman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maintenance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 	</a:t>
            </a:r>
            <a:r>
              <a:rPr sz="2400" dirty="0">
                <a:latin typeface="Times New Roman"/>
                <a:cs typeface="Times New Roman"/>
              </a:rPr>
              <a:t>well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development.</a:t>
            </a:r>
            <a:endParaRPr sz="24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key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issues:</a:t>
            </a:r>
            <a:endParaRPr sz="24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systems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developed</a:t>
            </a:r>
            <a:r>
              <a:rPr sz="2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agile</a:t>
            </a:r>
            <a:r>
              <a:rPr sz="2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approach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maintainable?</a:t>
            </a:r>
            <a:endParaRPr sz="2000" dirty="0">
              <a:latin typeface="Times New Roman"/>
              <a:cs typeface="Times New Roman"/>
            </a:endParaRPr>
          </a:p>
          <a:p>
            <a:pPr marL="698500" marR="11430" lvl="1" indent="-228600">
              <a:lnSpc>
                <a:spcPts val="1939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sz="1800" dirty="0">
                <a:latin typeface="Times New Roman"/>
                <a:cs typeface="Times New Roman"/>
              </a:rPr>
              <a:t>Key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implementing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maintainable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produce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high</a:t>
            </a:r>
            <a:r>
              <a:rPr sz="1800" spc="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quality</a:t>
            </a:r>
            <a:r>
              <a:rPr sz="1800" spc="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well-</a:t>
            </a:r>
            <a:r>
              <a:rPr sz="1800" dirty="0">
                <a:latin typeface="Times New Roman"/>
                <a:cs typeface="Times New Roman"/>
              </a:rPr>
              <a:t>structured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code</a:t>
            </a:r>
            <a:r>
              <a:rPr sz="1800" spc="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instead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documentation</a:t>
            </a:r>
            <a:endParaRPr sz="18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280"/>
              </a:lnSpc>
              <a:spcBef>
                <a:spcPts val="235"/>
              </a:spcBef>
              <a:buFont typeface="Arial MT"/>
              <a:buChar char="•"/>
              <a:tabLst>
                <a:tab pos="698500" algn="l"/>
              </a:tabLst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sz="2000" b="1" spc="3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agile</a:t>
            </a:r>
            <a:r>
              <a:rPr sz="2000" b="1" spc="3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methods</a:t>
            </a:r>
            <a:r>
              <a:rPr sz="2000" b="1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2000" b="1" spc="3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used</a:t>
            </a:r>
            <a:r>
              <a:rPr sz="2000" b="1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effectively</a:t>
            </a:r>
            <a:r>
              <a:rPr sz="2000" b="1" spc="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000" b="1" spc="3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evolving</a:t>
            </a:r>
            <a:r>
              <a:rPr sz="2000" b="1" spc="3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000" b="1" spc="3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000" b="1" spc="3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000" b="1" spc="3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response</a:t>
            </a:r>
            <a:r>
              <a:rPr sz="2000" b="1" spc="3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000" b="1" spc="3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customer</a:t>
            </a:r>
            <a:endParaRPr sz="2000" dirty="0">
              <a:latin typeface="Times New Roman"/>
              <a:cs typeface="Times New Roman"/>
            </a:endParaRPr>
          </a:p>
          <a:p>
            <a:pPr marL="698500">
              <a:lnSpc>
                <a:spcPts val="2280"/>
              </a:lnSpc>
            </a:pP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change</a:t>
            </a:r>
            <a:r>
              <a:rPr sz="2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requests?</a:t>
            </a:r>
            <a:endParaRPr sz="2000" dirty="0">
              <a:latin typeface="Times New Roman"/>
              <a:cs typeface="Times New Roman"/>
            </a:endParaRPr>
          </a:p>
          <a:p>
            <a:pPr marL="1155700" marR="9525" lvl="2" indent="-228600">
              <a:lnSpc>
                <a:spcPts val="1939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</a:tabLst>
            </a:pPr>
            <a:r>
              <a:rPr sz="1800" dirty="0">
                <a:latin typeface="Times New Roman"/>
                <a:cs typeface="Times New Roman"/>
              </a:rPr>
              <a:t>Incremental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delivery,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design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maintaining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simplicity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make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sense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software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being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shows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agile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effectively</a:t>
            </a:r>
            <a:endParaRPr sz="1800" dirty="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b="1" dirty="0">
                <a:latin typeface="Times New Roman"/>
                <a:cs typeface="Times New Roman"/>
              </a:rPr>
              <a:t>Problems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may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arise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if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original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development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team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broken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up.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7960" y="366776"/>
            <a:ext cx="10403205" cy="55035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3530">
              <a:lnSpc>
                <a:spcPct val="100000"/>
              </a:lnSpc>
              <a:spcBef>
                <a:spcPts val="100"/>
              </a:spcBef>
              <a:tabLst>
                <a:tab pos="2077720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Plan-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driven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agile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ts val="3275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b="1" spc="-20" dirty="0">
                <a:latin typeface="Times New Roman"/>
                <a:cs typeface="Times New Roman"/>
              </a:rPr>
              <a:t>Plan-</a:t>
            </a:r>
            <a:r>
              <a:rPr sz="2800" b="1" dirty="0">
                <a:latin typeface="Times New Roman"/>
                <a:cs typeface="Times New Roman"/>
              </a:rPr>
              <a:t>driven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development</a:t>
            </a:r>
            <a:endParaRPr sz="2800" dirty="0">
              <a:latin typeface="Times New Roman"/>
              <a:cs typeface="Times New Roman"/>
            </a:endParaRPr>
          </a:p>
          <a:p>
            <a:pPr marL="697230" marR="5715" lvl="1" indent="-227965" algn="just">
              <a:lnSpc>
                <a:spcPts val="2690"/>
              </a:lnSpc>
              <a:spcBef>
                <a:spcPts val="565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spc="3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plan-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driven</a:t>
            </a:r>
            <a:r>
              <a:rPr sz="2800" spc="5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approach</a:t>
            </a:r>
            <a:r>
              <a:rPr sz="2800" spc="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800" spc="5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2800" spc="5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2800" spc="5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5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based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around 	</a:t>
            </a:r>
            <a:r>
              <a:rPr sz="2800" dirty="0">
                <a:latin typeface="Times New Roman"/>
                <a:cs typeface="Times New Roman"/>
              </a:rPr>
              <a:t>separate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stages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outputs</a:t>
            </a:r>
            <a:r>
              <a:rPr sz="2800" spc="6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5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6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produced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at 	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stages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planned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advance.</a:t>
            </a:r>
            <a:endParaRPr sz="2800" dirty="0">
              <a:latin typeface="Times New Roman"/>
              <a:cs typeface="Times New Roman"/>
            </a:endParaRPr>
          </a:p>
          <a:p>
            <a:pPr marL="697230" marR="6985" lvl="1" indent="-227965" algn="just">
              <a:lnSpc>
                <a:spcPct val="8000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Not</a:t>
            </a:r>
            <a:r>
              <a:rPr sz="2800" spc="4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necessarily</a:t>
            </a:r>
            <a:r>
              <a:rPr sz="2800" spc="5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waterfall</a:t>
            </a:r>
            <a:r>
              <a:rPr sz="2800" spc="49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model</a:t>
            </a:r>
            <a:r>
              <a:rPr sz="2800" spc="50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–</a:t>
            </a:r>
            <a:r>
              <a:rPr sz="2800" spc="495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plan-</a:t>
            </a:r>
            <a:r>
              <a:rPr sz="2800" dirty="0">
                <a:latin typeface="Times New Roman"/>
                <a:cs typeface="Times New Roman"/>
              </a:rPr>
              <a:t>driven,</a:t>
            </a:r>
            <a:r>
              <a:rPr sz="2800" spc="500" dirty="0">
                <a:latin typeface="Times New Roman"/>
                <a:cs typeface="Times New Roman"/>
              </a:rPr>
              <a:t>  </a:t>
            </a:r>
            <a:r>
              <a:rPr sz="2800" spc="-10" dirty="0">
                <a:latin typeface="Times New Roman"/>
                <a:cs typeface="Times New Roman"/>
              </a:rPr>
              <a:t>incremental 	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possible</a:t>
            </a:r>
            <a:endParaRPr sz="2800" dirty="0">
              <a:latin typeface="Times New Roman"/>
              <a:cs typeface="Times New Roman"/>
            </a:endParaRPr>
          </a:p>
          <a:p>
            <a:pPr marL="697865" lvl="1" indent="-227965" algn="just">
              <a:lnSpc>
                <a:spcPts val="3180"/>
              </a:lnSpc>
              <a:buFont typeface="Arial MT"/>
              <a:buChar char="•"/>
              <a:tabLst>
                <a:tab pos="697865" algn="l"/>
              </a:tabLst>
            </a:pPr>
            <a:r>
              <a:rPr sz="2800" dirty="0">
                <a:latin typeface="Times New Roman"/>
                <a:cs typeface="Times New Roman"/>
              </a:rPr>
              <a:t>Iteration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occurs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within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activities.</a:t>
            </a:r>
            <a:endParaRPr sz="28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ts val="3270"/>
              </a:lnSpc>
              <a:spcBef>
                <a:spcPts val="33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Agile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development</a:t>
            </a:r>
            <a:endParaRPr sz="2800" dirty="0">
              <a:latin typeface="Times New Roman"/>
              <a:cs typeface="Times New Roman"/>
            </a:endParaRPr>
          </a:p>
          <a:p>
            <a:pPr marL="697865" lvl="1" indent="-227965" algn="just">
              <a:lnSpc>
                <a:spcPts val="3185"/>
              </a:lnSpc>
              <a:buFont typeface="Arial MT"/>
              <a:buChar char="•"/>
              <a:tabLst>
                <a:tab pos="697865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Specification,</a:t>
            </a:r>
            <a:r>
              <a:rPr sz="28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design,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implementation</a:t>
            </a:r>
            <a:r>
              <a:rPr sz="28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inter-</a:t>
            </a:r>
            <a:r>
              <a:rPr sz="2800" spc="-10" dirty="0">
                <a:latin typeface="Times New Roman"/>
                <a:cs typeface="Times New Roman"/>
              </a:rPr>
              <a:t>leaved</a:t>
            </a:r>
            <a:endParaRPr sz="2800" dirty="0">
              <a:latin typeface="Times New Roman"/>
              <a:cs typeface="Times New Roman"/>
            </a:endParaRPr>
          </a:p>
          <a:p>
            <a:pPr marL="697230" marR="5080" lvl="1" indent="-227965" algn="just">
              <a:lnSpc>
                <a:spcPts val="2690"/>
              </a:lnSpc>
              <a:spcBef>
                <a:spcPts val="565"/>
              </a:spcBef>
              <a:buFont typeface="Arial MT"/>
              <a:buChar char="•"/>
              <a:tabLst>
                <a:tab pos="698500" algn="l"/>
              </a:tabLst>
            </a:pP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Outputs</a:t>
            </a:r>
            <a:r>
              <a:rPr sz="2800" spc="14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2800" spc="14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spc="140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800" spc="14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solidFill>
                  <a:srgbClr val="FF0000"/>
                </a:solidFill>
                <a:latin typeface="Times New Roman"/>
                <a:cs typeface="Times New Roman"/>
              </a:rPr>
              <a:t>process</a:t>
            </a:r>
            <a:r>
              <a:rPr sz="2800" spc="135" dirty="0">
                <a:solidFill>
                  <a:srgbClr val="FF0000"/>
                </a:solidFill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14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decided</a:t>
            </a:r>
            <a:r>
              <a:rPr sz="2800" spc="1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145" dirty="0">
                <a:latin typeface="Times New Roman"/>
                <a:cs typeface="Times New Roman"/>
              </a:rPr>
              <a:t>  </a:t>
            </a:r>
            <a:r>
              <a:rPr sz="2800" spc="-50" dirty="0">
                <a:latin typeface="Times New Roman"/>
                <a:cs typeface="Times New Roman"/>
              </a:rPr>
              <a:t>a 	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negotiation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6979" y="366776"/>
            <a:ext cx="734822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dirty="0">
                <a:latin typeface="Microsoft Sans Serif"/>
                <a:cs typeface="Microsoft Sans Serif"/>
              </a:rPr>
              <a:t>	</a:t>
            </a:r>
            <a:r>
              <a:rPr sz="3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Plan-</a:t>
            </a:r>
            <a:r>
              <a:rPr sz="36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driven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and</a:t>
            </a:r>
            <a:r>
              <a:rPr sz="3600" b="1" u="sng" spc="-2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specification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47597" y="1645221"/>
            <a:ext cx="10123805" cy="4914900"/>
            <a:chOff x="1347597" y="1645221"/>
            <a:chExt cx="10123805" cy="4914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8692" y="1785238"/>
              <a:ext cx="5731891" cy="43580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47597" y="1645221"/>
              <a:ext cx="10123297" cy="49149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0275" y="366776"/>
            <a:ext cx="64223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vs. </a:t>
            </a:r>
            <a:r>
              <a:rPr sz="36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Plan-driven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Methods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52321" y="1685289"/>
          <a:ext cx="9878695" cy="4226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4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4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4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Agile</a:t>
                      </a:r>
                      <a:r>
                        <a:rPr sz="24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methods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4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Plan-</a:t>
                      </a:r>
                      <a:r>
                        <a:rPr sz="24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driven</a:t>
                      </a:r>
                      <a:r>
                        <a:rPr sz="2400" b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methods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Low</a:t>
                      </a:r>
                      <a:r>
                        <a:rPr sz="2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criticality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2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criticality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Senior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developers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Junior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developers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13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sz="2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often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8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35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Requirements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change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often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8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Small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developers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Large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developers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0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Culture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responds</a:t>
                      </a:r>
                      <a:r>
                        <a:rPr sz="2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change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9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35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Culture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demands</a:t>
                      </a:r>
                      <a:r>
                        <a:rPr sz="2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order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99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888" y="366776"/>
            <a:ext cx="9457055" cy="594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5054">
              <a:lnSpc>
                <a:spcPct val="100000"/>
              </a:lnSpc>
              <a:spcBef>
                <a:spcPts val="100"/>
              </a:spcBef>
              <a:tabLst>
                <a:tab pos="4119245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Methods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marR="5080" indent="-227965">
              <a:lnSpc>
                <a:spcPct val="7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spc="-55" dirty="0">
                <a:latin typeface="Times New Roman"/>
                <a:cs typeface="Times New Roman"/>
              </a:rPr>
              <a:t>Well-</a:t>
            </a:r>
            <a:r>
              <a:rPr sz="2800" dirty="0">
                <a:latin typeface="Times New Roman"/>
                <a:cs typeface="Times New Roman"/>
              </a:rPr>
              <a:t>known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agile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and/or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 	</a:t>
            </a:r>
            <a:r>
              <a:rPr sz="2800" dirty="0">
                <a:latin typeface="Times New Roman"/>
                <a:cs typeface="Times New Roman"/>
              </a:rPr>
              <a:t>frameworks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include: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60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Rapid</a:t>
            </a:r>
            <a:r>
              <a:rPr sz="2800" b="1" spc="-1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Application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Development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(RAD)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5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b="1" dirty="0">
                <a:latin typeface="Times New Roman"/>
                <a:cs typeface="Times New Roman"/>
              </a:rPr>
              <a:t>Rational</a:t>
            </a:r>
            <a:r>
              <a:rPr sz="2800" b="1" spc="-8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Unify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Process</a:t>
            </a:r>
            <a:r>
              <a:rPr sz="2800" b="1" spc="-8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(RUP)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5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b="1" dirty="0">
                <a:latin typeface="Times New Roman"/>
                <a:cs typeface="Times New Roman"/>
              </a:rPr>
              <a:t>Extreme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programming</a:t>
            </a:r>
            <a:r>
              <a:rPr sz="2800" b="1" spc="-114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(XP)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5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Scrum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5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spc="-20" dirty="0">
                <a:latin typeface="Times New Roman"/>
                <a:cs typeface="Times New Roman"/>
              </a:rPr>
              <a:t>Test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Driven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(TDD)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5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Feature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Driven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(FDD)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5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Dynamic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method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(DSDM)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5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Agile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Unified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(AUP)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55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Adaptive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Software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(ASD)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5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Agile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Modeling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3100"/>
              </a:lnSpc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Crystal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Clear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27045" y="2234260"/>
            <a:ext cx="60756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Extreme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Programming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(XP)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8110" y="366776"/>
            <a:ext cx="9733915" cy="419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635">
              <a:lnSpc>
                <a:spcPct val="100000"/>
              </a:lnSpc>
              <a:spcBef>
                <a:spcPts val="100"/>
              </a:spcBef>
              <a:tabLst>
                <a:tab pos="2791460" algn="l"/>
              </a:tabLst>
            </a:pP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Extreme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Programming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-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XP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buFont typeface="Wingdings"/>
              <a:buChar char=""/>
              <a:tabLst>
                <a:tab pos="241300" algn="l"/>
                <a:tab pos="600710" algn="l"/>
              </a:tabLst>
            </a:pPr>
            <a:r>
              <a:rPr sz="3000" dirty="0">
                <a:latin typeface="Times New Roman"/>
                <a:cs typeface="Times New Roman"/>
              </a:rPr>
              <a:t>	For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small-to-medium-</a:t>
            </a:r>
            <a:r>
              <a:rPr sz="3000" dirty="0">
                <a:latin typeface="Times New Roman"/>
                <a:cs typeface="Times New Roman"/>
              </a:rPr>
              <a:t>sized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teams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developing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20" dirty="0">
                <a:latin typeface="Times New Roman"/>
                <a:cs typeface="Times New Roman"/>
              </a:rPr>
              <a:t> with </a:t>
            </a:r>
            <a:r>
              <a:rPr sz="3000" dirty="0">
                <a:latin typeface="Times New Roman"/>
                <a:cs typeface="Times New Roman"/>
              </a:rPr>
              <a:t>vague</a:t>
            </a:r>
            <a:r>
              <a:rPr sz="3000" spc="-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rapidly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changing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</a:t>
            </a:r>
            <a:endParaRPr sz="3000" dirty="0">
              <a:latin typeface="Times New Roman"/>
              <a:cs typeface="Times New Roman"/>
            </a:endParaRPr>
          </a:p>
          <a:p>
            <a:pPr marL="600710" indent="-58801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Font typeface="Wingdings"/>
              <a:buChar char=""/>
              <a:tabLst>
                <a:tab pos="60071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Coding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key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activity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throughout</a:t>
            </a:r>
            <a:r>
              <a:rPr sz="30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endParaRPr sz="3000" dirty="0">
              <a:latin typeface="Times New Roman"/>
              <a:cs typeface="Times New Roman"/>
            </a:endParaRPr>
          </a:p>
          <a:p>
            <a:pPr marL="600710" indent="-58801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Wingdings"/>
              <a:buChar char=""/>
              <a:tabLst>
                <a:tab pos="60071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Communication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among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teammates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done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code</a:t>
            </a:r>
            <a:endParaRPr sz="3000" dirty="0">
              <a:latin typeface="Times New Roman"/>
              <a:cs typeface="Times New Roman"/>
            </a:endParaRPr>
          </a:p>
          <a:p>
            <a:pPr marL="241300" marR="244475" indent="-228600">
              <a:lnSpc>
                <a:spcPts val="3240"/>
              </a:lnSpc>
              <a:spcBef>
                <a:spcPts val="1045"/>
              </a:spcBef>
              <a:buFont typeface="Wingdings"/>
              <a:buChar char=""/>
              <a:tabLst>
                <a:tab pos="241300" algn="l"/>
                <a:tab pos="600710" algn="l"/>
              </a:tabLst>
            </a:pPr>
            <a:r>
              <a:rPr sz="3000" dirty="0">
                <a:latin typeface="Times New Roman"/>
                <a:cs typeface="Times New Roman"/>
              </a:rPr>
              <a:t>	Life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cycle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behavior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complex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objects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defined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test </a:t>
            </a:r>
            <a:r>
              <a:rPr sz="3000" dirty="0">
                <a:latin typeface="Times New Roman"/>
                <a:cs typeface="Times New Roman"/>
              </a:rPr>
              <a:t>cases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–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again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code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10358120" cy="4673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635">
              <a:lnSpc>
                <a:spcPct val="100000"/>
              </a:lnSpc>
              <a:spcBef>
                <a:spcPts val="100"/>
              </a:spcBef>
              <a:tabLst>
                <a:tab pos="3171825" algn="l"/>
              </a:tabLst>
            </a:pP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Extreme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Programming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Perhaps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best-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known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most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widely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used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agile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method.</a:t>
            </a:r>
            <a:endParaRPr sz="3000" dirty="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324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  <a:tab pos="1774189" algn="l"/>
                <a:tab pos="4110990" algn="l"/>
                <a:tab pos="5090795" algn="l"/>
                <a:tab pos="6115685" algn="l"/>
                <a:tab pos="6715759" algn="l"/>
                <a:tab pos="8409305" algn="l"/>
                <a:tab pos="10046335" algn="l"/>
              </a:tabLst>
            </a:pPr>
            <a:r>
              <a:rPr sz="3000" spc="-10" dirty="0">
                <a:latin typeface="Times New Roman"/>
                <a:cs typeface="Times New Roman"/>
              </a:rPr>
              <a:t>Extreme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Programming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(XP)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takes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‘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extreme’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approach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 </a:t>
            </a:r>
            <a:r>
              <a:rPr sz="3000" dirty="0">
                <a:latin typeface="Times New Roman"/>
                <a:cs typeface="Times New Roman"/>
              </a:rPr>
              <a:t>iterative</a:t>
            </a:r>
            <a:r>
              <a:rPr sz="3000" spc="-8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development.</a:t>
            </a:r>
            <a:endParaRPr sz="3000" dirty="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9271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versions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may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built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several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times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per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day;</a:t>
            </a:r>
            <a:endParaRPr sz="3000" dirty="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9271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Increments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delivered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customers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every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2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weeks;</a:t>
            </a:r>
            <a:endParaRPr sz="3000" dirty="0">
              <a:latin typeface="Times New Roman"/>
              <a:cs typeface="Times New Roman"/>
            </a:endParaRPr>
          </a:p>
          <a:p>
            <a:pPr marL="927100" marR="5080" lvl="1" indent="-457834">
              <a:lnSpc>
                <a:spcPts val="3240"/>
              </a:lnSpc>
              <a:spcBef>
                <a:spcPts val="1060"/>
              </a:spcBef>
              <a:buFont typeface="Arial MT"/>
              <a:buChar char="•"/>
              <a:tabLst>
                <a:tab pos="927100" algn="l"/>
                <a:tab pos="1567180" algn="l"/>
                <a:tab pos="2397760" algn="l"/>
                <a:tab pos="3291204" algn="l"/>
                <a:tab pos="3804920" algn="l"/>
                <a:tab pos="4467860" algn="l"/>
                <a:tab pos="5064760" algn="l"/>
                <a:tab pos="6063615" algn="l"/>
                <a:tab pos="7002145" algn="l"/>
                <a:tab pos="7706359" algn="l"/>
                <a:tab pos="8324215" algn="l"/>
                <a:tab pos="9261475" algn="l"/>
                <a:tab pos="9667875" algn="l"/>
              </a:tabLst>
            </a:pPr>
            <a:r>
              <a:rPr sz="3000" spc="-25" dirty="0">
                <a:latin typeface="Times New Roman"/>
                <a:cs typeface="Times New Roman"/>
              </a:rPr>
              <a:t>All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tests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must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run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every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build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build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only </a:t>
            </a:r>
            <a:r>
              <a:rPr sz="3000" dirty="0">
                <a:latin typeface="Times New Roman"/>
                <a:cs typeface="Times New Roman"/>
              </a:rPr>
              <a:t>accepted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tests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run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successfully.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8199" y="366776"/>
            <a:ext cx="10199370" cy="24647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6545">
              <a:lnSpc>
                <a:spcPct val="100000"/>
              </a:lnSpc>
              <a:spcBef>
                <a:spcPts val="100"/>
              </a:spcBef>
              <a:tabLst>
                <a:tab pos="3340735" algn="l"/>
              </a:tabLst>
            </a:pP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XP</a:t>
            </a:r>
            <a:r>
              <a:rPr sz="3600" b="1" u="sng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agile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principles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2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  <a:tab pos="2319655" algn="l"/>
                <a:tab pos="4483100" algn="l"/>
                <a:tab pos="4950460" algn="l"/>
                <a:tab pos="6581775" algn="l"/>
                <a:tab pos="7916545" algn="l"/>
                <a:tab pos="900176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Incremental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development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supported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through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small,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frequent 	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releases.</a:t>
            </a:r>
            <a:endParaRPr sz="2800" dirty="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Requirements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simple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customer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stories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scenarios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8199" y="2863087"/>
            <a:ext cx="149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9244" y="2919222"/>
            <a:ext cx="10033000" cy="3949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15"/>
              </a:lnSpc>
              <a:tabLst>
                <a:tab pos="3618229" algn="l"/>
                <a:tab pos="4656455" algn="l"/>
                <a:tab pos="6032500" algn="l"/>
                <a:tab pos="9315450" algn="l"/>
              </a:tabLst>
            </a:pPr>
            <a:r>
              <a:rPr sz="2800" b="1" dirty="0">
                <a:latin typeface="Times New Roman"/>
                <a:cs typeface="Times New Roman"/>
              </a:rPr>
              <a:t>Customer</a:t>
            </a:r>
            <a:r>
              <a:rPr sz="2800" b="1" spc="19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involvement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means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full-</a:t>
            </a:r>
            <a:r>
              <a:rPr sz="2800" spc="-20" dirty="0">
                <a:latin typeface="Times New Roman"/>
                <a:cs typeface="Times New Roman"/>
              </a:rPr>
              <a:t>time</a:t>
            </a:r>
            <a:r>
              <a:rPr sz="2800" dirty="0">
                <a:latin typeface="Times New Roman"/>
                <a:cs typeface="Times New Roman"/>
              </a:rPr>
              <a:t>	customer</a:t>
            </a:r>
            <a:r>
              <a:rPr sz="2800" spc="2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engagement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with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9244" y="3313938"/>
            <a:ext cx="1311275" cy="3841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930"/>
              </a:lnSpc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team.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5398" y="3702811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36445" y="3752850"/>
            <a:ext cx="6852920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5"/>
              </a:lnSpc>
            </a:pPr>
            <a:r>
              <a:rPr sz="2400" dirty="0">
                <a:latin typeface="Times New Roman"/>
                <a:cs typeface="Times New Roman"/>
              </a:rPr>
              <a:t>Responsible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defining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acceptance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8199" y="4151122"/>
            <a:ext cx="10204450" cy="18586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684020" algn="l"/>
                <a:tab pos="2527300" algn="l"/>
                <a:tab pos="4081779" algn="l"/>
                <a:tab pos="5537200" algn="l"/>
                <a:tab pos="6436360" algn="l"/>
                <a:tab pos="8808085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People,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5" dirty="0">
                <a:latin typeface="Times New Roman"/>
                <a:cs typeface="Times New Roman"/>
              </a:rPr>
              <a:t>not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process</a:t>
            </a:r>
            <a:r>
              <a:rPr sz="2800" spc="-10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through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pair</a:t>
            </a:r>
            <a:r>
              <a:rPr sz="28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programming</a:t>
            </a:r>
            <a:r>
              <a:rPr sz="2800" spc="-10" dirty="0">
                <a:latin typeface="Times New Roman"/>
                <a:cs typeface="Times New Roman"/>
              </a:rPr>
              <a:t>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collective 	</a:t>
            </a:r>
            <a:r>
              <a:rPr sz="2800" dirty="0">
                <a:latin typeface="Times New Roman"/>
                <a:cs typeface="Times New Roman"/>
              </a:rPr>
              <a:t>ownership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process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avoids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working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hours.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Change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supported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regular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system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releases.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dirty="0">
                <a:latin typeface="Times New Roman"/>
                <a:cs typeface="Times New Roman"/>
              </a:rPr>
              <a:t>Maintaining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simplicity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constant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refactoring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code.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5735" y="366776"/>
            <a:ext cx="9545320" cy="5841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0405">
              <a:lnSpc>
                <a:spcPct val="100000"/>
              </a:lnSpc>
              <a:spcBef>
                <a:spcPts val="100"/>
              </a:spcBef>
              <a:tabLst>
                <a:tab pos="3745229" algn="l"/>
              </a:tabLst>
            </a:pP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XP</a:t>
            </a:r>
            <a:r>
              <a:rPr sz="3600" b="1" u="sng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Practices</a:t>
            </a:r>
            <a:r>
              <a:rPr sz="3600" b="1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(1-6)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591820" marR="7620" indent="-579755">
              <a:lnSpc>
                <a:spcPts val="2520"/>
              </a:lnSpc>
              <a:buAutoNum type="arabicPeriod"/>
              <a:tabLst>
                <a:tab pos="591820" algn="l"/>
                <a:tab pos="2027555" algn="l"/>
                <a:tab pos="2999740" algn="l"/>
                <a:tab pos="3417570" algn="l"/>
                <a:tab pos="4999990" algn="l"/>
                <a:tab pos="6010275" algn="l"/>
                <a:tab pos="6539230" algn="l"/>
                <a:tab pos="7195820" algn="l"/>
                <a:tab pos="8021955" algn="l"/>
                <a:tab pos="919734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Planning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game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–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determine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scope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of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next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release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by </a:t>
            </a:r>
            <a:r>
              <a:rPr sz="2600" dirty="0">
                <a:latin typeface="Times New Roman"/>
                <a:cs typeface="Times New Roman"/>
              </a:rPr>
              <a:t>combining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business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priorities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technical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estimates</a:t>
            </a:r>
            <a:endParaRPr sz="2600" dirty="0">
              <a:latin typeface="Times New Roman"/>
              <a:cs typeface="Times New Roman"/>
            </a:endParaRPr>
          </a:p>
          <a:p>
            <a:pPr marL="591820" marR="5080" indent="-579755">
              <a:lnSpc>
                <a:spcPts val="2520"/>
              </a:lnSpc>
              <a:spcBef>
                <a:spcPts val="994"/>
              </a:spcBef>
              <a:buAutoNum type="arabicPeriod"/>
              <a:tabLst>
                <a:tab pos="59182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Small</a:t>
            </a:r>
            <a:r>
              <a:rPr sz="260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releases</a:t>
            </a:r>
            <a:r>
              <a:rPr sz="2600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put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simple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into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production,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then</a:t>
            </a:r>
            <a:r>
              <a:rPr sz="2600" spc="1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release </a:t>
            </a:r>
            <a:r>
              <a:rPr sz="2600" dirty="0">
                <a:latin typeface="Times New Roman"/>
                <a:cs typeface="Times New Roman"/>
              </a:rPr>
              <a:t>new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versions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very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short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cycle</a:t>
            </a:r>
            <a:endParaRPr sz="2600" dirty="0">
              <a:latin typeface="Times New Roman"/>
              <a:cs typeface="Times New Roman"/>
            </a:endParaRPr>
          </a:p>
          <a:p>
            <a:pPr marL="591820" marR="5080" indent="-579755">
              <a:lnSpc>
                <a:spcPts val="2520"/>
              </a:lnSpc>
              <a:spcBef>
                <a:spcPts val="1000"/>
              </a:spcBef>
              <a:buAutoNum type="arabicPeriod"/>
              <a:tabLst>
                <a:tab pos="591820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Metaphor</a:t>
            </a:r>
            <a:r>
              <a:rPr sz="2600" spc="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development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guided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simple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shared</a:t>
            </a:r>
            <a:r>
              <a:rPr sz="2600" spc="1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story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</a:rPr>
              <a:t>how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whole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works</a:t>
            </a:r>
            <a:endParaRPr sz="2600" dirty="0">
              <a:latin typeface="Times New Roman"/>
              <a:cs typeface="Times New Roman"/>
            </a:endParaRPr>
          </a:p>
          <a:p>
            <a:pPr marL="591820" marR="6350" indent="-579755">
              <a:lnSpc>
                <a:spcPts val="2520"/>
              </a:lnSpc>
              <a:spcBef>
                <a:spcPts val="1005"/>
              </a:spcBef>
              <a:buAutoNum type="arabicPeriod"/>
              <a:tabLst>
                <a:tab pos="591820" algn="l"/>
                <a:tab pos="1664335" algn="l"/>
                <a:tab pos="2663190" algn="l"/>
                <a:tab pos="2960370" algn="l"/>
                <a:tab pos="4013200" algn="l"/>
                <a:tab pos="4365625" algn="l"/>
                <a:tab pos="5680710" algn="l"/>
                <a:tab pos="6087745" algn="l"/>
                <a:tab pos="7124065" algn="l"/>
                <a:tab pos="7531100" algn="l"/>
                <a:tab pos="8753475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Simple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–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system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designed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simply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possible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(extra </a:t>
            </a:r>
            <a:r>
              <a:rPr sz="2600" dirty="0">
                <a:latin typeface="Times New Roman"/>
                <a:cs typeface="Times New Roman"/>
              </a:rPr>
              <a:t>complexity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removed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soon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found)</a:t>
            </a:r>
            <a:endParaRPr sz="2600" dirty="0">
              <a:latin typeface="Times New Roman"/>
              <a:cs typeface="Times New Roman"/>
            </a:endParaRPr>
          </a:p>
          <a:p>
            <a:pPr marL="591820" marR="8890" indent="-579755">
              <a:lnSpc>
                <a:spcPts val="2520"/>
              </a:lnSpc>
              <a:spcBef>
                <a:spcPts val="1000"/>
              </a:spcBef>
              <a:buAutoNum type="arabicPeriod"/>
              <a:tabLst>
                <a:tab pos="591820" algn="l"/>
                <a:tab pos="1719580" algn="l"/>
                <a:tab pos="2036445" algn="l"/>
                <a:tab pos="3963035" algn="l"/>
                <a:tab pos="5838190" algn="l"/>
                <a:tab pos="6671309" algn="l"/>
                <a:tab pos="7340600" algn="l"/>
                <a:tab pos="8176259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–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programmers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continuously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write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unit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tests;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customers </a:t>
            </a:r>
            <a:r>
              <a:rPr sz="2600" dirty="0">
                <a:latin typeface="Times New Roman"/>
                <a:cs typeface="Times New Roman"/>
              </a:rPr>
              <a:t>write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tests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features</a:t>
            </a:r>
            <a:endParaRPr sz="2600" dirty="0">
              <a:latin typeface="Times New Roman"/>
              <a:cs typeface="Times New Roman"/>
            </a:endParaRPr>
          </a:p>
          <a:p>
            <a:pPr marL="591820" marR="5080" indent="-579755">
              <a:lnSpc>
                <a:spcPts val="2520"/>
              </a:lnSpc>
              <a:spcBef>
                <a:spcPts val="994"/>
              </a:spcBef>
              <a:buAutoNum type="arabicPeriod"/>
              <a:tabLst>
                <a:tab pos="591820" algn="l"/>
                <a:tab pos="2321560" algn="l"/>
                <a:tab pos="2646680" algn="l"/>
                <a:tab pos="4577080" algn="l"/>
                <a:tab pos="6459855" algn="l"/>
                <a:tab pos="8040370" algn="l"/>
                <a:tab pos="860552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Refactoring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–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programmers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continuously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restructure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system </a:t>
            </a:r>
            <a:r>
              <a:rPr sz="2600" dirty="0">
                <a:latin typeface="Times New Roman"/>
                <a:cs typeface="Times New Roman"/>
              </a:rPr>
              <a:t>without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changing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its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behavior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remove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duplication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simplify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5117" y="432561"/>
            <a:ext cx="9608185" cy="537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3630">
              <a:lnSpc>
                <a:spcPct val="100000"/>
              </a:lnSpc>
              <a:spcBef>
                <a:spcPts val="100"/>
              </a:spcBef>
              <a:tabLst>
                <a:tab pos="2877820" algn="l"/>
              </a:tabLst>
            </a:pP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XP</a:t>
            </a:r>
            <a:r>
              <a:rPr sz="3600" b="1" u="sng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Practices</a:t>
            </a:r>
            <a:r>
              <a:rPr sz="3600" b="1" u="sng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(7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–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12)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673735" marR="6985" indent="-661670">
              <a:lnSpc>
                <a:spcPts val="2520"/>
              </a:lnSpc>
              <a:buAutoNum type="arabicPeriod" startAt="7"/>
              <a:tabLst>
                <a:tab pos="673735" algn="l"/>
                <a:tab pos="3304540" algn="l"/>
                <a:tab pos="3876040" algn="l"/>
                <a:tab pos="4385310" algn="l"/>
                <a:tab pos="6003925" algn="l"/>
                <a:tab pos="6807200" algn="l"/>
                <a:tab pos="7204709" algn="l"/>
                <a:tab pos="8323580" algn="l"/>
                <a:tab pos="909320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Pair-programming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latin typeface="Times New Roman"/>
                <a:cs typeface="Times New Roman"/>
              </a:rPr>
              <a:t>-</a:t>
            </a:r>
            <a:r>
              <a:rPr sz="2600" spc="-50" dirty="0">
                <a:latin typeface="Times New Roman"/>
                <a:cs typeface="Times New Roman"/>
              </a:rPr>
              <a:t>-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all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production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code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written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with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two </a:t>
            </a:r>
            <a:r>
              <a:rPr sz="2600" dirty="0">
                <a:latin typeface="Times New Roman"/>
                <a:cs typeface="Times New Roman"/>
              </a:rPr>
              <a:t>programmers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at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machine</a:t>
            </a:r>
            <a:endParaRPr sz="2600" dirty="0">
              <a:latin typeface="Times New Roman"/>
              <a:cs typeface="Times New Roman"/>
            </a:endParaRPr>
          </a:p>
          <a:p>
            <a:pPr marL="673735" marR="6985" indent="-661670">
              <a:lnSpc>
                <a:spcPts val="2520"/>
              </a:lnSpc>
              <a:spcBef>
                <a:spcPts val="1000"/>
              </a:spcBef>
              <a:buAutoNum type="arabicPeriod" startAt="7"/>
              <a:tabLst>
                <a:tab pos="673735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Collective</a:t>
            </a:r>
            <a:r>
              <a:rPr sz="2600" spc="2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ownership</a:t>
            </a:r>
            <a:r>
              <a:rPr sz="2600" spc="2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2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anyone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change</a:t>
            </a:r>
            <a:r>
              <a:rPr sz="2600" spc="2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</a:t>
            </a:r>
            <a:r>
              <a:rPr sz="2600" spc="2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code</a:t>
            </a:r>
            <a:r>
              <a:rPr sz="2600" spc="2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anywhere</a:t>
            </a:r>
            <a:r>
              <a:rPr sz="2600" spc="2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in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system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at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time.</a:t>
            </a:r>
            <a:endParaRPr sz="2600" dirty="0">
              <a:latin typeface="Times New Roman"/>
              <a:cs typeface="Times New Roman"/>
            </a:endParaRPr>
          </a:p>
          <a:p>
            <a:pPr marL="673735" marR="8890" indent="-661670">
              <a:lnSpc>
                <a:spcPts val="2520"/>
              </a:lnSpc>
              <a:spcBef>
                <a:spcPts val="994"/>
              </a:spcBef>
              <a:buAutoNum type="arabicPeriod" startAt="7"/>
              <a:tabLst>
                <a:tab pos="673735" algn="l"/>
                <a:tab pos="2380615" algn="l"/>
                <a:tab pos="3994785" algn="l"/>
                <a:tab pos="4333240" algn="l"/>
                <a:tab pos="5668645" algn="l"/>
                <a:tab pos="6320790" algn="l"/>
                <a:tab pos="7177405" algn="l"/>
                <a:tab pos="7756525" algn="l"/>
                <a:tab pos="8851265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Continuous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integration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–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integrate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build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system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many </a:t>
            </a:r>
            <a:r>
              <a:rPr sz="2600" dirty="0">
                <a:latin typeface="Times New Roman"/>
                <a:cs typeface="Times New Roman"/>
              </a:rPr>
              <a:t>times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day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every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task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completed.</a:t>
            </a:r>
            <a:endParaRPr sz="2600" dirty="0">
              <a:latin typeface="Times New Roman"/>
              <a:cs typeface="Times New Roman"/>
            </a:endParaRPr>
          </a:p>
          <a:p>
            <a:pPr marL="673735" indent="-661035">
              <a:lnSpc>
                <a:spcPct val="100000"/>
              </a:lnSpc>
              <a:spcBef>
                <a:spcPts val="430"/>
              </a:spcBef>
              <a:buAutoNum type="arabicPeriod" startAt="7"/>
              <a:tabLst>
                <a:tab pos="673735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40-hour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week</a:t>
            </a:r>
            <a:r>
              <a:rPr sz="2600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work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more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than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40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hours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week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rule</a:t>
            </a:r>
            <a:endParaRPr sz="2600" dirty="0">
              <a:latin typeface="Times New Roman"/>
              <a:cs typeface="Times New Roman"/>
            </a:endParaRPr>
          </a:p>
          <a:p>
            <a:pPr marL="673735" marR="8255" indent="-661670">
              <a:lnSpc>
                <a:spcPts val="2520"/>
              </a:lnSpc>
              <a:spcBef>
                <a:spcPts val="980"/>
              </a:spcBef>
              <a:buAutoNum type="arabicPeriod" startAt="7"/>
              <a:tabLst>
                <a:tab pos="673735" algn="l"/>
              </a:tabLst>
            </a:pP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On-site</a:t>
            </a:r>
            <a:r>
              <a:rPr sz="2600" spc="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customer</a:t>
            </a:r>
            <a:r>
              <a:rPr sz="2600" spc="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–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user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team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available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full-</a:t>
            </a:r>
            <a:r>
              <a:rPr sz="2600" dirty="0">
                <a:latin typeface="Times New Roman"/>
                <a:cs typeface="Times New Roman"/>
              </a:rPr>
              <a:t>time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to </a:t>
            </a:r>
            <a:r>
              <a:rPr sz="2600" dirty="0">
                <a:latin typeface="Times New Roman"/>
                <a:cs typeface="Times New Roman"/>
              </a:rPr>
              <a:t>answer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questions</a:t>
            </a:r>
            <a:endParaRPr sz="2600" dirty="0">
              <a:latin typeface="Times New Roman"/>
              <a:cs typeface="Times New Roman"/>
            </a:endParaRPr>
          </a:p>
          <a:p>
            <a:pPr marL="673735" marR="5080" indent="-661670">
              <a:lnSpc>
                <a:spcPts val="2520"/>
              </a:lnSpc>
              <a:spcBef>
                <a:spcPts val="994"/>
              </a:spcBef>
              <a:buAutoNum type="arabicPeriod" startAt="7"/>
              <a:tabLst>
                <a:tab pos="673735" algn="l"/>
                <a:tab pos="1823085" algn="l"/>
                <a:tab pos="3248025" algn="l"/>
                <a:tab pos="3582035" algn="l"/>
                <a:tab pos="5523865" algn="l"/>
                <a:tab pos="6375400" algn="l"/>
                <a:tab pos="6874509" algn="l"/>
                <a:tab pos="7671434" algn="l"/>
                <a:tab pos="8096250" algn="l"/>
              </a:tabLst>
            </a:pP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Coding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standards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Times New Roman"/>
                <a:cs typeface="Times New Roman"/>
              </a:rPr>
              <a:t>–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programmers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write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all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code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accordance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rules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emphasizing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communication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through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code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110" dirty="0"/>
              <a:t> </a:t>
            </a:r>
            <a:r>
              <a:rPr spc="-10" dirty="0"/>
              <a:t>Engineering</a:t>
            </a:r>
            <a:r>
              <a:rPr spc="85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8515">
              <a:lnSpc>
                <a:spcPts val="1240"/>
              </a:lnSpc>
            </a:pPr>
            <a:r>
              <a:rPr spc="-40" dirty="0"/>
              <a:t>Dr.</a:t>
            </a:r>
            <a:r>
              <a:rPr spc="-15" dirty="0"/>
              <a:t> </a:t>
            </a:r>
            <a:r>
              <a:rPr spc="-20" dirty="0"/>
              <a:t>Tehseen</a:t>
            </a:r>
            <a:r>
              <a:rPr dirty="0"/>
              <a:t> Riaz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5326" y="366776"/>
            <a:ext cx="789241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Extreme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programming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practices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[1/2]</a:t>
            </a:r>
            <a:endParaRPr sz="3600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42771" y="1555877"/>
          <a:ext cx="10365105" cy="5035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3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1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R="113030"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Principle</a:t>
                      </a:r>
                      <a:r>
                        <a:rPr sz="1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practice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27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2365">
                <a:tc>
                  <a:txBody>
                    <a:bodyPr/>
                    <a:lstStyle/>
                    <a:p>
                      <a:pPr marR="11303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Incremental planning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660" marR="63500" algn="just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8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recorded</a:t>
                      </a:r>
                      <a:r>
                        <a:rPr sz="18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story</a:t>
                      </a:r>
                      <a:r>
                        <a:rPr sz="1800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cards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stories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included</a:t>
                      </a:r>
                      <a:r>
                        <a:rPr sz="18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release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determined</a:t>
                      </a:r>
                      <a:r>
                        <a:rPr sz="1800" spc="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8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800" spc="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available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relative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priority.</a:t>
                      </a:r>
                      <a:r>
                        <a:rPr sz="18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developers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break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these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stories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‘Tasks’.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8210">
                <a:tc>
                  <a:txBody>
                    <a:bodyPr/>
                    <a:lstStyle/>
                    <a:p>
                      <a:pPr marR="11303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Small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releases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660" marR="63500">
                        <a:lnSpc>
                          <a:spcPts val="2160"/>
                        </a:lnSpc>
                        <a:spcBef>
                          <a:spcPts val="15"/>
                        </a:spcBef>
                        <a:tabLst>
                          <a:tab pos="565785" algn="l"/>
                          <a:tab pos="1463040" algn="l"/>
                          <a:tab pos="2157095" algn="l"/>
                          <a:tab pos="2546985" algn="l"/>
                          <a:tab pos="2873375" algn="l"/>
                          <a:tab pos="4176395" algn="l"/>
                          <a:tab pos="4653280" algn="l"/>
                          <a:tab pos="5577205" algn="l"/>
                          <a:tab pos="6485255" algn="l"/>
                          <a:tab pos="7116445" algn="l"/>
                        </a:tabLst>
                      </a:pP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minimal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useful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functionality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sz="18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first.</a:t>
                      </a:r>
                      <a:r>
                        <a:rPr sz="18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Releases</a:t>
                      </a:r>
                      <a:r>
                        <a:rPr sz="18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frequent</a:t>
                      </a:r>
                      <a:r>
                        <a:rPr sz="18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incrementally</a:t>
                      </a:r>
                      <a:r>
                        <a:rPr sz="1800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add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ts val="209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functionality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release.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pPr marR="11303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design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10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Enough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carried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meet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more.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8840">
                <a:tc>
                  <a:txBody>
                    <a:bodyPr/>
                    <a:lstStyle/>
                    <a:p>
                      <a:pPr marR="11303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Test-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development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73660" marR="64135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8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800" spc="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framework</a:t>
                      </a:r>
                      <a:r>
                        <a:rPr sz="18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8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800" spc="2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tests</a:t>
                      </a:r>
                      <a:r>
                        <a:rPr sz="18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20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8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piece</a:t>
                      </a:r>
                      <a:r>
                        <a:rPr sz="18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functionality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functionality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itself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implemented.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873125" marR="11303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Refactoring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13030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ts val="969"/>
                        </a:lnSpc>
                      </a:pPr>
                      <a:r>
                        <a:rPr sz="1200" spc="-1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200" spc="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En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73660" marR="64135" algn="just">
                        <a:lnSpc>
                          <a:spcPts val="216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developers</a:t>
                      </a:r>
                      <a:r>
                        <a:rPr sz="18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expected</a:t>
                      </a:r>
                      <a:r>
                        <a:rPr sz="1800" spc="3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3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refactor</a:t>
                      </a:r>
                      <a:r>
                        <a:rPr sz="18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800" spc="4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continuously</a:t>
                      </a:r>
                      <a:r>
                        <a:rPr sz="1800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800" spc="3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soon</a:t>
                      </a:r>
                      <a:r>
                        <a:rPr sz="1800" spc="3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possible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800" spc="3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improvements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found.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keeps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800" spc="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sz="1800" spc="3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maintainable.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16205" algn="just">
                        <a:lnSpc>
                          <a:spcPts val="600"/>
                        </a:lnSpc>
                        <a:tabLst>
                          <a:tab pos="3083560" algn="l"/>
                        </a:tabLst>
                      </a:pP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gineering</a:t>
                      </a:r>
                      <a:r>
                        <a:rPr sz="1200" spc="1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Concepts-CSC291-</a:t>
                      </a:r>
                      <a:r>
                        <a:rPr sz="1200" spc="-2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FALL-</a:t>
                      </a:r>
                      <a:r>
                        <a:rPr sz="1200" spc="-2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2024</a:t>
                      </a: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200" spc="-3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Dr.</a:t>
                      </a:r>
                      <a:r>
                        <a:rPr sz="1200" spc="-3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Tehseen</a:t>
                      </a:r>
                      <a:r>
                        <a:rPr sz="1200" spc="-1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Riaz</a:t>
                      </a:r>
                      <a:r>
                        <a:rPr sz="1200" spc="-15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Abbasi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5326" y="366776"/>
            <a:ext cx="789241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Extreme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programming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practices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[2/2]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97813" y="1522602"/>
          <a:ext cx="10499090" cy="500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0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Pair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programming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150495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Developers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pairs,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checking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other’s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providing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support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always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job.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6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Collective</a:t>
                      </a:r>
                      <a:r>
                        <a:rPr sz="18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ownership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356870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pairs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developers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areas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system,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islands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expertise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develop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developers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take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responsibility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code.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Anyone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anything.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Continuous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integration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133985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soon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complete,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integrated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whole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system.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integration,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must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pass.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3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Sustainable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pace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562610">
                        <a:lnSpc>
                          <a:spcPts val="2160"/>
                        </a:lnSpc>
                        <a:spcBef>
                          <a:spcPts val="1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amounts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overtime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considered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acceptable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effect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medium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term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productivity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5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On-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site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 customer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2110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representative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end-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customer)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available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3025" marR="3117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XP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team.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extreme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programming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process,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customer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member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team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responsible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bringing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team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implementation.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22322" y="366776"/>
            <a:ext cx="87236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Extreme</a:t>
            </a:r>
            <a:r>
              <a:rPr sz="360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Programming</a:t>
            </a:r>
            <a:r>
              <a:rPr sz="3600" b="1" u="sng" spc="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Release</a:t>
            </a:r>
            <a:r>
              <a:rPr sz="3600" b="1" u="sng" spc="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Cycle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99742" y="1629600"/>
            <a:ext cx="9465310" cy="4124325"/>
            <a:chOff x="1999742" y="1629600"/>
            <a:chExt cx="9465310" cy="4124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6403" y="2372106"/>
              <a:ext cx="6558026" cy="28562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9742" y="1629600"/>
              <a:ext cx="9465056" cy="41239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78351" y="365201"/>
            <a:ext cx="50469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Extreme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Programming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3994" y="1600212"/>
            <a:ext cx="9869805" cy="483057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67408" y="366776"/>
            <a:ext cx="10356850" cy="52706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85285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Planning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715" indent="-228600">
              <a:lnSpc>
                <a:spcPct val="80000"/>
              </a:lnSpc>
              <a:buFont typeface="Arial MT"/>
              <a:buChar char="•"/>
              <a:tabLst>
                <a:tab pos="241300" algn="l"/>
                <a:tab pos="762000" algn="l"/>
                <a:tab pos="1504950" algn="l"/>
                <a:tab pos="1898014" algn="l"/>
                <a:tab pos="3597275" algn="l"/>
                <a:tab pos="4153535" algn="l"/>
                <a:tab pos="5048250" algn="l"/>
                <a:tab pos="5505450" algn="l"/>
                <a:tab pos="6406515" algn="l"/>
                <a:tab pos="6927850" algn="l"/>
                <a:tab pos="7636509" algn="l"/>
                <a:tab pos="8328025" algn="l"/>
                <a:tab pos="9335770" algn="l"/>
                <a:tab pos="10090150" algn="l"/>
              </a:tabLst>
            </a:pPr>
            <a:r>
              <a:rPr sz="3000" spc="-25" dirty="0">
                <a:latin typeface="Times New Roman"/>
                <a:cs typeface="Times New Roman"/>
              </a:rPr>
              <a:t>In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XP,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b="1" spc="-50" dirty="0">
                <a:latin typeface="Times New Roman"/>
                <a:cs typeface="Times New Roman"/>
              </a:rPr>
              <a:t>a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customer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or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user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is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part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of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the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XP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team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is </a:t>
            </a:r>
            <a:r>
              <a:rPr sz="3000" dirty="0">
                <a:latin typeface="Times New Roman"/>
                <a:cs typeface="Times New Roman"/>
              </a:rPr>
              <a:t>responsible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making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decisions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requirements.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3000" b="1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requirements</a:t>
            </a:r>
            <a:r>
              <a:rPr sz="3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expressed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scenarios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or</a:t>
            </a:r>
            <a:r>
              <a:rPr sz="30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sz="30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stories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These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are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written</a:t>
            </a:r>
            <a:r>
              <a:rPr sz="3000" b="1" spc="-3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on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cards</a:t>
            </a:r>
            <a:endParaRPr sz="3000" dirty="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288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3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development</a:t>
            </a:r>
            <a:r>
              <a:rPr sz="3000" b="1" spc="3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team</a:t>
            </a:r>
            <a:r>
              <a:rPr sz="3000" b="1" spc="3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break</a:t>
            </a:r>
            <a:r>
              <a:rPr sz="3000" b="1" spc="3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them</a:t>
            </a:r>
            <a:r>
              <a:rPr sz="3000" b="1" spc="3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down</a:t>
            </a:r>
            <a:r>
              <a:rPr sz="3000" spc="3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into</a:t>
            </a:r>
            <a:r>
              <a:rPr sz="3000" spc="3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implementation tasks.</a:t>
            </a:r>
            <a:endParaRPr sz="3000" dirty="0">
              <a:latin typeface="Times New Roman"/>
              <a:cs typeface="Times New Roman"/>
            </a:endParaRPr>
          </a:p>
          <a:p>
            <a:pPr marL="697865" lvl="1" indent="-228600">
              <a:lnSpc>
                <a:spcPts val="3410"/>
              </a:lnSpc>
              <a:buFont typeface="Arial MT"/>
              <a:buChar char="•"/>
              <a:tabLst>
                <a:tab pos="697865" algn="l"/>
              </a:tabLst>
            </a:pPr>
            <a:r>
              <a:rPr sz="3000" dirty="0">
                <a:latin typeface="Times New Roman"/>
                <a:cs typeface="Times New Roman"/>
              </a:rPr>
              <a:t>These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tasks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basis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schedule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cost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estimates.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88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  <a:tab pos="1089660" algn="l"/>
                <a:tab pos="2797175" algn="l"/>
                <a:tab pos="4237355" algn="l"/>
                <a:tab pos="4958080" algn="l"/>
                <a:tab pos="6231255" algn="l"/>
                <a:tab pos="6887845" algn="l"/>
                <a:tab pos="8498840" algn="l"/>
                <a:tab pos="9008110" algn="l"/>
                <a:tab pos="9686290" algn="l"/>
              </a:tabLst>
            </a:pPr>
            <a:r>
              <a:rPr sz="3000" b="1" spc="-25" dirty="0">
                <a:latin typeface="Times New Roman"/>
                <a:cs typeface="Times New Roman"/>
              </a:rPr>
              <a:t>The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customer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chooses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the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stories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for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inclusion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next </a:t>
            </a:r>
            <a:r>
              <a:rPr sz="3000" dirty="0">
                <a:latin typeface="Times New Roman"/>
                <a:cs typeface="Times New Roman"/>
              </a:rPr>
              <a:t>release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based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their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priorities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schedule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estimates.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56333" y="4159770"/>
            <a:ext cx="9653270" cy="789940"/>
          </a:xfrm>
          <a:custGeom>
            <a:avLst/>
            <a:gdLst/>
            <a:ahLst/>
            <a:cxnLst/>
            <a:rect l="l" t="t" r="r" b="b"/>
            <a:pathLst>
              <a:path w="9653270" h="789939">
                <a:moveTo>
                  <a:pt x="9653016" y="0"/>
                </a:moveTo>
                <a:lnTo>
                  <a:pt x="9653016" y="0"/>
                </a:lnTo>
                <a:lnTo>
                  <a:pt x="0" y="0"/>
                </a:lnTo>
                <a:lnTo>
                  <a:pt x="0" y="365747"/>
                </a:lnTo>
                <a:lnTo>
                  <a:pt x="0" y="423659"/>
                </a:lnTo>
                <a:lnTo>
                  <a:pt x="0" y="789419"/>
                </a:lnTo>
                <a:lnTo>
                  <a:pt x="1098804" y="789419"/>
                </a:lnTo>
                <a:lnTo>
                  <a:pt x="5178552" y="789419"/>
                </a:lnTo>
                <a:lnTo>
                  <a:pt x="5178552" y="423659"/>
                </a:lnTo>
                <a:lnTo>
                  <a:pt x="9653016" y="423659"/>
                </a:lnTo>
                <a:lnTo>
                  <a:pt x="9653016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57960" y="366776"/>
            <a:ext cx="10351770" cy="558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015">
              <a:lnSpc>
                <a:spcPct val="100000"/>
              </a:lnSpc>
              <a:spcBef>
                <a:spcPts val="100"/>
              </a:spcBef>
              <a:tabLst>
                <a:tab pos="481520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Design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Provides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implementation</a:t>
            </a:r>
            <a:r>
              <a:rPr sz="3000" b="1" spc="-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guidance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story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written</a:t>
            </a:r>
            <a:endParaRPr sz="3000" dirty="0">
              <a:latin typeface="Times New Roman"/>
              <a:cs typeface="Times New Roman"/>
            </a:endParaRPr>
          </a:p>
          <a:p>
            <a:pPr marL="241300" marR="88900" indent="-228600">
              <a:lnSpc>
                <a:spcPct val="80000"/>
              </a:lnSpc>
              <a:spcBef>
                <a:spcPts val="1010"/>
              </a:spcBef>
              <a:buChar char="•"/>
              <a:tabLst>
                <a:tab pos="241300" algn="l"/>
                <a:tab pos="337185" algn="l"/>
                <a:tab pos="1196975" algn="l"/>
                <a:tab pos="3390265" algn="l"/>
                <a:tab pos="4269740" algn="l"/>
                <a:tab pos="5170170" algn="l"/>
                <a:tab pos="5859145" algn="l"/>
                <a:tab pos="7057390" algn="l"/>
              </a:tabLst>
            </a:pPr>
            <a:r>
              <a:rPr sz="3000" dirty="0">
                <a:latin typeface="Arial MT"/>
                <a:cs typeface="Arial MT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XP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encourages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the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use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of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5" dirty="0">
                <a:latin typeface="Times New Roman"/>
                <a:cs typeface="Times New Roman"/>
              </a:rPr>
              <a:t>CRC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(class-responsibility- </a:t>
            </a:r>
            <a:r>
              <a:rPr sz="3000" dirty="0">
                <a:latin typeface="Times New Roman"/>
                <a:cs typeface="Times New Roman"/>
              </a:rPr>
              <a:t>collaborator)</a:t>
            </a:r>
            <a:r>
              <a:rPr sz="3000" spc="-11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cards</a:t>
            </a:r>
            <a:endParaRPr sz="3000" dirty="0">
              <a:latin typeface="Times New Roman"/>
              <a:cs typeface="Times New Roman"/>
            </a:endParaRPr>
          </a:p>
          <a:p>
            <a:pPr marL="698500" marR="90805" lvl="1" indent="-229235">
              <a:lnSpc>
                <a:spcPct val="80000"/>
              </a:lnSpc>
              <a:spcBef>
                <a:spcPts val="495"/>
              </a:spcBef>
              <a:buFont typeface="Arial MT"/>
              <a:buChar char="•"/>
              <a:tabLst>
                <a:tab pos="698500" algn="l"/>
                <a:tab pos="2098675" algn="l"/>
                <a:tab pos="2842895" algn="l"/>
                <a:tab pos="4344035" algn="l"/>
                <a:tab pos="5005705" algn="l"/>
                <a:tab pos="6130290" algn="l"/>
                <a:tab pos="7575550" algn="l"/>
                <a:tab pos="9022080" algn="l"/>
                <a:tab pos="9787255" algn="l"/>
              </a:tabLst>
            </a:pPr>
            <a:r>
              <a:rPr sz="3000" spc="-10" dirty="0">
                <a:latin typeface="Times New Roman"/>
                <a:cs typeface="Times New Roman"/>
              </a:rPr>
              <a:t>Identify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organize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object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oriented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classes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that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are </a:t>
            </a:r>
            <a:r>
              <a:rPr sz="3000" dirty="0">
                <a:latin typeface="Times New Roman"/>
                <a:cs typeface="Times New Roman"/>
              </a:rPr>
              <a:t>relevant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current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increment</a:t>
            </a:r>
            <a:endParaRPr sz="3000" dirty="0">
              <a:latin typeface="Times New Roman"/>
              <a:cs typeface="Times New Roman"/>
            </a:endParaRPr>
          </a:p>
          <a:p>
            <a:pPr marL="335280" indent="-322580">
              <a:lnSpc>
                <a:spcPts val="3485"/>
              </a:lnSpc>
              <a:spcBef>
                <a:spcPts val="285"/>
              </a:spcBef>
              <a:buFont typeface="Arial MT"/>
              <a:buChar char="•"/>
              <a:tabLst>
                <a:tab pos="335280" algn="l"/>
              </a:tabLst>
            </a:pPr>
            <a:r>
              <a:rPr sz="3000" b="1" dirty="0">
                <a:latin typeface="Times New Roman"/>
                <a:cs typeface="Times New Roman"/>
              </a:rPr>
              <a:t>If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difficult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design</a:t>
            </a:r>
            <a:r>
              <a:rPr sz="3000" b="1" spc="-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problem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encountered</a:t>
            </a:r>
            <a:endParaRPr sz="3000" dirty="0">
              <a:latin typeface="Times New Roman"/>
              <a:cs typeface="Times New Roman"/>
            </a:endParaRPr>
          </a:p>
          <a:p>
            <a:pPr marL="698500" marR="89535" lvl="1" indent="-229235">
              <a:lnSpc>
                <a:spcPts val="2880"/>
              </a:lnSpc>
              <a:spcBef>
                <a:spcPts val="585"/>
              </a:spcBef>
              <a:buFont typeface="Arial MT"/>
              <a:buChar char="•"/>
              <a:tabLst>
                <a:tab pos="698500" algn="l"/>
                <a:tab pos="2862580" algn="l"/>
                <a:tab pos="4330700" algn="l"/>
                <a:tab pos="4883785" algn="l"/>
                <a:tab pos="5478145" algn="l"/>
                <a:tab pos="7428865" algn="l"/>
                <a:tab pos="9126855" algn="l"/>
                <a:tab pos="9680575" algn="l"/>
              </a:tabLst>
            </a:pPr>
            <a:r>
              <a:rPr sz="3000" spc="-10" dirty="0">
                <a:latin typeface="Times New Roman"/>
                <a:cs typeface="Times New Roman"/>
              </a:rPr>
              <a:t>Immediately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creation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of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operational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prototype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of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that </a:t>
            </a:r>
            <a:r>
              <a:rPr sz="3000" dirty="0">
                <a:latin typeface="Times New Roman"/>
                <a:cs typeface="Times New Roman"/>
              </a:rPr>
              <a:t>portion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design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called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Spike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410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Intent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lower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risk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true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implementation </a:t>
            </a:r>
            <a:r>
              <a:rPr sz="3000" spc="-10" dirty="0">
                <a:latin typeface="Times New Roman"/>
                <a:cs typeface="Times New Roman"/>
              </a:rPr>
              <a:t>starts</a:t>
            </a:r>
            <a:endParaRPr sz="30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Encourage</a:t>
            </a:r>
            <a:r>
              <a:rPr sz="30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i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refactoring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10356850" cy="531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1265">
              <a:lnSpc>
                <a:spcPct val="100000"/>
              </a:lnSpc>
              <a:spcBef>
                <a:spcPts val="100"/>
              </a:spcBef>
              <a:tabLst>
                <a:tab pos="4275455" algn="l"/>
              </a:tabLst>
            </a:pP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Refactoring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Programming</a:t>
            </a:r>
            <a:r>
              <a:rPr sz="3000" b="1" spc="5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sz="3000" b="1" spc="5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look</a:t>
            </a:r>
            <a:r>
              <a:rPr sz="3000" b="1" spc="5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3000" b="1" spc="5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possible</a:t>
            </a:r>
            <a:r>
              <a:rPr sz="3000" b="1" spc="5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software</a:t>
            </a:r>
            <a:r>
              <a:rPr sz="3000" spc="5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improvements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make</a:t>
            </a:r>
            <a:r>
              <a:rPr sz="3000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these</a:t>
            </a:r>
            <a:r>
              <a:rPr sz="3000" spc="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improvements</a:t>
            </a:r>
            <a:r>
              <a:rPr sz="3000" spc="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even</a:t>
            </a:r>
            <a:r>
              <a:rPr sz="3000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where</a:t>
            </a:r>
            <a:r>
              <a:rPr sz="300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there</a:t>
            </a:r>
            <a:r>
              <a:rPr sz="300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spc="1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no</a:t>
            </a:r>
            <a:r>
              <a:rPr sz="3000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immediate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need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them.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This</a:t>
            </a:r>
            <a:r>
              <a:rPr sz="3000" b="1" spc="6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improves</a:t>
            </a:r>
            <a:r>
              <a:rPr sz="3000" b="1" spc="6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6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understandability</a:t>
            </a:r>
            <a:r>
              <a:rPr sz="3000" b="1" spc="6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6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6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6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67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so </a:t>
            </a:r>
            <a:r>
              <a:rPr sz="3000" dirty="0">
                <a:latin typeface="Times New Roman"/>
                <a:cs typeface="Times New Roman"/>
              </a:rPr>
              <a:t>reduces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need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documentation.</a:t>
            </a:r>
            <a:endParaRPr sz="3000" dirty="0">
              <a:latin typeface="Times New Roman"/>
              <a:cs typeface="Times New Roman"/>
            </a:endParaRPr>
          </a:p>
          <a:p>
            <a:pPr marL="241300" marR="6350" indent="-228600" algn="just">
              <a:lnSpc>
                <a:spcPts val="324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Changes</a:t>
            </a:r>
            <a:r>
              <a:rPr sz="3000" b="1" spc="1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are</a:t>
            </a:r>
            <a:r>
              <a:rPr sz="3000" b="1" spc="1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easier</a:t>
            </a:r>
            <a:r>
              <a:rPr sz="3000" b="1" spc="1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to</a:t>
            </a:r>
            <a:r>
              <a:rPr sz="3000" b="1" spc="1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make</a:t>
            </a:r>
            <a:r>
              <a:rPr sz="3000" b="1" spc="1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because</a:t>
            </a:r>
            <a:r>
              <a:rPr sz="3000" spc="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code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1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well-</a:t>
            </a:r>
            <a:r>
              <a:rPr sz="3000" spc="-10" dirty="0">
                <a:latin typeface="Times New Roman"/>
                <a:cs typeface="Times New Roman"/>
              </a:rPr>
              <a:t>structured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clear.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24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However,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some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changes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requires</a:t>
            </a:r>
            <a:r>
              <a:rPr sz="3000" b="1" spc="28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architecture</a:t>
            </a:r>
            <a:r>
              <a:rPr sz="3000" b="1" spc="28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refactoring</a:t>
            </a:r>
            <a:r>
              <a:rPr sz="3000" b="1" spc="28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much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more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expensive.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10359390" cy="578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81910">
              <a:lnSpc>
                <a:spcPct val="100000"/>
              </a:lnSpc>
              <a:spcBef>
                <a:spcPts val="100"/>
              </a:spcBef>
              <a:tabLst>
                <a:tab pos="3086735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Examples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refactoring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-15" dirty="0">
                <a:latin typeface="Times New Roman"/>
                <a:cs typeface="Times New Roman"/>
              </a:rPr>
              <a:t>Re-</a:t>
            </a:r>
            <a:r>
              <a:rPr sz="3000" b="1" dirty="0">
                <a:latin typeface="Times New Roman"/>
                <a:cs typeface="Times New Roman"/>
              </a:rPr>
              <a:t>organization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class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hierarchy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remove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duplicate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code.</a:t>
            </a:r>
            <a:endParaRPr sz="3000" dirty="0">
              <a:latin typeface="Times New Roman"/>
              <a:cs typeface="Times New Roman"/>
            </a:endParaRPr>
          </a:p>
          <a:p>
            <a:pPr marL="241300" marR="7620" indent="-228600" algn="just">
              <a:lnSpc>
                <a:spcPts val="324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Tidying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up</a:t>
            </a:r>
            <a:r>
              <a:rPr sz="3000" b="1" spc="-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renaming</a:t>
            </a:r>
            <a:r>
              <a:rPr sz="3000" b="1" spc="-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attributes</a:t>
            </a:r>
            <a:r>
              <a:rPr sz="3000" b="1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make </a:t>
            </a:r>
            <a:r>
              <a:rPr sz="3000" spc="-20" dirty="0">
                <a:latin typeface="Times New Roman"/>
                <a:cs typeface="Times New Roman"/>
              </a:rPr>
              <a:t>them </a:t>
            </a:r>
            <a:r>
              <a:rPr sz="3000" dirty="0">
                <a:latin typeface="Times New Roman"/>
                <a:cs typeface="Times New Roman"/>
              </a:rPr>
              <a:t>easier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understand.</a:t>
            </a:r>
            <a:endParaRPr sz="3000" dirty="0">
              <a:latin typeface="Times New Roman"/>
              <a:cs typeface="Times New Roman"/>
            </a:endParaRPr>
          </a:p>
          <a:p>
            <a:pPr marL="241300" marR="8255" indent="-228600" algn="just">
              <a:lnSpc>
                <a:spcPts val="324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1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replacement</a:t>
            </a:r>
            <a:r>
              <a:rPr sz="3000" b="1" spc="1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1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inline</a:t>
            </a:r>
            <a:r>
              <a:rPr sz="3000" b="1" spc="1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code</a:t>
            </a:r>
            <a:r>
              <a:rPr sz="3000" b="1" spc="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calls</a:t>
            </a:r>
            <a:r>
              <a:rPr sz="3000" spc="1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methods</a:t>
            </a:r>
            <a:r>
              <a:rPr sz="3000" spc="1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15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have </a:t>
            </a:r>
            <a:r>
              <a:rPr sz="3000" dirty="0">
                <a:latin typeface="Times New Roman"/>
                <a:cs typeface="Times New Roman"/>
              </a:rPr>
              <a:t>been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included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program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library.</a:t>
            </a:r>
            <a:endParaRPr sz="3000" dirty="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Eclipse</a:t>
            </a:r>
            <a:r>
              <a:rPr sz="3000" spc="27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include</a:t>
            </a:r>
            <a:r>
              <a:rPr sz="3000" spc="27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tools</a:t>
            </a:r>
            <a:r>
              <a:rPr sz="3000" spc="26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for</a:t>
            </a:r>
            <a:r>
              <a:rPr sz="3000" spc="27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refactoring</a:t>
            </a:r>
            <a:r>
              <a:rPr sz="3000" spc="27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which</a:t>
            </a:r>
            <a:r>
              <a:rPr sz="3000" spc="28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simplify</a:t>
            </a:r>
            <a:r>
              <a:rPr sz="3000" spc="275" dirty="0">
                <a:latin typeface="Times New Roman"/>
                <a:cs typeface="Times New Roman"/>
              </a:rPr>
              <a:t> 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5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5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finding</a:t>
            </a:r>
            <a:r>
              <a:rPr sz="3000" spc="6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dependencies</a:t>
            </a:r>
            <a:r>
              <a:rPr sz="3000" spc="6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between</a:t>
            </a:r>
            <a:r>
              <a:rPr sz="3000" spc="5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code</a:t>
            </a:r>
            <a:r>
              <a:rPr sz="3000" spc="5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sections</a:t>
            </a:r>
            <a:r>
              <a:rPr sz="3000" spc="59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making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global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code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modifications</a:t>
            </a:r>
            <a:endParaRPr sz="3000" dirty="0">
              <a:latin typeface="Times New Roman"/>
              <a:cs typeface="Times New Roman"/>
            </a:endParaRPr>
          </a:p>
          <a:p>
            <a:pPr marL="241300" marR="6985" indent="-228600" algn="just">
              <a:lnSpc>
                <a:spcPts val="324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In</a:t>
            </a:r>
            <a:r>
              <a:rPr sz="3000" b="1" spc="28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principle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3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easy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understand</a:t>
            </a:r>
            <a:r>
              <a:rPr sz="3000" spc="2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change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new </a:t>
            </a:r>
            <a:r>
              <a:rPr sz="3000" dirty="0">
                <a:latin typeface="Times New Roman"/>
                <a:cs typeface="Times New Roman"/>
              </a:rPr>
              <a:t>stories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implemented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10359390" cy="293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4495">
              <a:lnSpc>
                <a:spcPct val="100000"/>
              </a:lnSpc>
              <a:spcBef>
                <a:spcPts val="100"/>
              </a:spcBef>
              <a:tabLst>
                <a:tab pos="4719320" algn="l"/>
              </a:tabLst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Coding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5715" indent="-228600">
              <a:lnSpc>
                <a:spcPts val="3240"/>
              </a:lnSpc>
              <a:buFont typeface="Arial MT"/>
              <a:buChar char="•"/>
              <a:tabLst>
                <a:tab pos="241300" algn="l"/>
                <a:tab pos="1289685" algn="l"/>
                <a:tab pos="2804795" algn="l"/>
                <a:tab pos="4050029" algn="l"/>
                <a:tab pos="5275580" algn="l"/>
                <a:tab pos="6268085" algn="l"/>
                <a:tab pos="7301230" algn="l"/>
                <a:tab pos="7785734" algn="l"/>
                <a:tab pos="9667875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After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creating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simple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design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team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move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developing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tests </a:t>
            </a:r>
            <a:r>
              <a:rPr sz="3000" dirty="0">
                <a:latin typeface="Times New Roman"/>
                <a:cs typeface="Times New Roman"/>
              </a:rPr>
              <a:t>instead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coding</a:t>
            </a:r>
            <a:endParaRPr sz="30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  <a:tab pos="2321560" algn="l"/>
                <a:tab pos="3138170" algn="l"/>
                <a:tab pos="3977004" algn="l"/>
                <a:tab pos="4605020" algn="l"/>
                <a:tab pos="6272530" algn="l"/>
                <a:tab pos="6688455" algn="l"/>
                <a:tab pos="7720330" algn="l"/>
                <a:tab pos="8519160" algn="l"/>
                <a:tab pos="8977630" algn="l"/>
                <a:tab pos="9965055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Develops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unit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test</a:t>
            </a:r>
            <a:r>
              <a:rPr sz="3000" spc="-20" dirty="0">
                <a:latin typeface="Times New Roman"/>
                <a:cs typeface="Times New Roman"/>
              </a:rPr>
              <a:t>;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developer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is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better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able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focus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on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must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implemented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pass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test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2410" y="3360546"/>
            <a:ext cx="15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38070" y="3419728"/>
            <a:ext cx="9951085" cy="4241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35"/>
              </a:lnSpc>
              <a:tabLst>
                <a:tab pos="7178675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3000" b="1" spc="-1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key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concept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during</a:t>
            </a:r>
            <a:r>
              <a:rPr sz="3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coding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activity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	pair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programming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2633" y="366776"/>
            <a:ext cx="10463530" cy="4602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6765">
              <a:lnSpc>
                <a:spcPct val="100000"/>
              </a:lnSpc>
              <a:spcBef>
                <a:spcPts val="100"/>
              </a:spcBef>
              <a:tabLst>
                <a:tab pos="3830954" algn="l"/>
              </a:tabLst>
            </a:pP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Pair</a:t>
            </a:r>
            <a:r>
              <a:rPr sz="3600" b="1" u="sng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Programming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20"/>
              </a:lnSpc>
              <a:buFont typeface="Arial MT"/>
              <a:buChar char="•"/>
              <a:tabLst>
                <a:tab pos="241300" algn="l"/>
                <a:tab pos="2517775" algn="l"/>
                <a:tab pos="3048635" algn="l"/>
                <a:tab pos="4479925" algn="l"/>
                <a:tab pos="4907915" algn="l"/>
                <a:tab pos="5514340" algn="l"/>
                <a:tab pos="6417310" algn="l"/>
                <a:tab pos="8268970" algn="l"/>
                <a:tab pos="8718550" algn="l"/>
                <a:tab pos="1001522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Programmers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5" dirty="0">
                <a:latin typeface="Times New Roman"/>
                <a:cs typeface="Times New Roman"/>
              </a:rPr>
              <a:t>sit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together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same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workstation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develop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 	</a:t>
            </a:r>
            <a:r>
              <a:rPr sz="2800" spc="-10" dirty="0">
                <a:latin typeface="Times New Roman"/>
                <a:cs typeface="Times New Roman"/>
              </a:rPr>
              <a:t>software.</a:t>
            </a:r>
            <a:endParaRPr sz="2800" dirty="0">
              <a:latin typeface="Times New Roman"/>
              <a:cs typeface="Times New Roman"/>
            </a:endParaRPr>
          </a:p>
          <a:p>
            <a:pPr marL="240029" marR="8255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  <a:tab pos="1170940" algn="l"/>
                <a:tab pos="1795780" algn="l"/>
                <a:tab pos="3053080" algn="l"/>
                <a:tab pos="5051425" algn="l"/>
                <a:tab pos="5508625" algn="l"/>
                <a:tab pos="6179185" algn="l"/>
                <a:tab pos="6674484" algn="l"/>
                <a:tab pos="7501890" algn="l"/>
                <a:tab pos="8943975" algn="l"/>
                <a:tab pos="981583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Pairs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5" dirty="0">
                <a:latin typeface="Times New Roman"/>
                <a:cs typeface="Times New Roman"/>
              </a:rPr>
              <a:t>are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created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dynamically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so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that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all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team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members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work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with 	</a:t>
            </a:r>
            <a:r>
              <a:rPr sz="2800" dirty="0">
                <a:latin typeface="Times New Roman"/>
                <a:cs typeface="Times New Roman"/>
              </a:rPr>
              <a:t>each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other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development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process.</a:t>
            </a:r>
            <a:endParaRPr sz="2800" dirty="0">
              <a:latin typeface="Times New Roman"/>
              <a:cs typeface="Times New Roman"/>
            </a:endParaRPr>
          </a:p>
          <a:p>
            <a:pPr marL="240029" marR="508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sharing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3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knowledge</a:t>
            </a:r>
            <a:r>
              <a:rPr sz="2800" b="1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pairs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reduces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overall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risks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	</a:t>
            </a:r>
            <a:r>
              <a:rPr sz="2800" dirty="0">
                <a:latin typeface="Times New Roman"/>
                <a:cs typeface="Times New Roman"/>
              </a:rPr>
              <a:t>project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team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members</a:t>
            </a:r>
            <a:r>
              <a:rPr sz="2800" spc="-10" dirty="0">
                <a:latin typeface="Times New Roman"/>
                <a:cs typeface="Times New Roman"/>
              </a:rPr>
              <a:t> leave.</a:t>
            </a:r>
            <a:endParaRPr sz="2800" dirty="0">
              <a:latin typeface="Times New Roman"/>
              <a:cs typeface="Times New Roman"/>
            </a:endParaRPr>
          </a:p>
          <a:p>
            <a:pPr marL="240029" marR="762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  <a:tab pos="699770" algn="l"/>
                <a:tab pos="1547495" algn="l"/>
                <a:tab pos="3034665" algn="l"/>
                <a:tab pos="4512945" algn="l"/>
                <a:tab pos="4972050" algn="l"/>
                <a:tab pos="5923280" algn="l"/>
                <a:tab pos="7322184" algn="l"/>
                <a:tab pos="8154670" algn="l"/>
                <a:tab pos="8554085" algn="l"/>
              </a:tabLst>
            </a:pPr>
            <a:r>
              <a:rPr sz="2800" b="1" spc="-50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0" dirty="0">
                <a:latin typeface="Times New Roman"/>
                <a:cs typeface="Times New Roman"/>
              </a:rPr>
              <a:t>pair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working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Times New Roman"/>
                <a:cs typeface="Times New Roman"/>
              </a:rPr>
              <a:t>together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is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more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efficient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than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programmers 	</a:t>
            </a:r>
            <a:r>
              <a:rPr sz="2800" dirty="0">
                <a:latin typeface="Times New Roman"/>
                <a:cs typeface="Times New Roman"/>
              </a:rPr>
              <a:t>working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separately.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8415" y="4587379"/>
            <a:ext cx="2895600" cy="16033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3141" y="366776"/>
            <a:ext cx="10352405" cy="3049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4364">
              <a:lnSpc>
                <a:spcPct val="100000"/>
              </a:lnSpc>
              <a:spcBef>
                <a:spcPts val="100"/>
              </a:spcBef>
              <a:tabLst>
                <a:tab pos="2408555" algn="l"/>
              </a:tabLst>
            </a:pP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Advantages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pair</a:t>
            </a:r>
            <a:r>
              <a:rPr sz="36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programming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2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marR="29845" indent="-228600">
              <a:lnSpc>
                <a:spcPts val="324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supports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idea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collective</a:t>
            </a:r>
            <a:r>
              <a:rPr sz="3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ownership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responsibility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for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system.</a:t>
            </a:r>
            <a:endParaRPr sz="3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acts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3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informal</a:t>
            </a:r>
            <a:r>
              <a:rPr sz="3000" b="1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review</a:t>
            </a:r>
            <a:r>
              <a:rPr sz="3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because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each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line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code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is </a:t>
            </a:r>
            <a:r>
              <a:rPr sz="3000" dirty="0">
                <a:latin typeface="Times New Roman"/>
                <a:cs typeface="Times New Roman"/>
              </a:rPr>
              <a:t>looked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by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at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least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two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people.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3141" y="3471164"/>
            <a:ext cx="15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4314" y="3530346"/>
            <a:ext cx="9299575" cy="4241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35"/>
              </a:lnSpc>
            </a:pP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helps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support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refactoring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which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process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software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314" y="3954017"/>
            <a:ext cx="2137410" cy="4114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40"/>
              </a:lnSpc>
            </a:pPr>
            <a:r>
              <a:rPr sz="3000" spc="-10" dirty="0">
                <a:latin typeface="Times New Roman"/>
                <a:cs typeface="Times New Roman"/>
              </a:rPr>
              <a:t>improvement.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10153650" cy="39934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4420">
              <a:lnSpc>
                <a:spcPct val="100000"/>
              </a:lnSpc>
              <a:spcBef>
                <a:spcPts val="100"/>
              </a:spcBef>
              <a:tabLst>
                <a:tab pos="411861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36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Testing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in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XP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XP</a:t>
            </a:r>
            <a:r>
              <a:rPr sz="3000" b="1" spc="-1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testing</a:t>
            </a:r>
            <a:r>
              <a:rPr sz="3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features: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spc="-70" dirty="0">
                <a:latin typeface="Times New Roman"/>
                <a:cs typeface="Times New Roman"/>
              </a:rPr>
              <a:t>Test-</a:t>
            </a:r>
            <a:r>
              <a:rPr sz="3000" b="1" dirty="0">
                <a:latin typeface="Times New Roman"/>
                <a:cs typeface="Times New Roman"/>
              </a:rPr>
              <a:t>first</a:t>
            </a:r>
            <a:r>
              <a:rPr sz="3000" b="1" spc="-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development.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latin typeface="Times New Roman"/>
                <a:cs typeface="Times New Roman"/>
              </a:rPr>
              <a:t>Incremental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test</a:t>
            </a:r>
            <a:r>
              <a:rPr sz="3000" b="1" spc="-7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development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scenarios.</a:t>
            </a:r>
            <a:endParaRPr sz="3000" dirty="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latin typeface="Times New Roman"/>
                <a:cs typeface="Times New Roman"/>
              </a:rPr>
              <a:t>User</a:t>
            </a:r>
            <a:r>
              <a:rPr sz="3000" b="1" spc="-1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involvement</a:t>
            </a:r>
            <a:r>
              <a:rPr sz="3000" b="1" spc="-6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in</a:t>
            </a:r>
            <a:r>
              <a:rPr sz="3000" b="1" spc="-8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test</a:t>
            </a:r>
            <a:r>
              <a:rPr sz="3000" b="1" spc="-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development</a:t>
            </a:r>
            <a:r>
              <a:rPr sz="3000" b="1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validation.</a:t>
            </a:r>
            <a:endParaRPr sz="3000" dirty="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3240"/>
              </a:lnSpc>
              <a:spcBef>
                <a:spcPts val="55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latin typeface="Times New Roman"/>
                <a:cs typeface="Times New Roman"/>
              </a:rPr>
              <a:t>Automated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test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used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run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component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tests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each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time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new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release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built.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33798" y="366776"/>
            <a:ext cx="489458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Test-</a:t>
            </a:r>
            <a:r>
              <a:rPr sz="36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first</a:t>
            </a:r>
            <a:r>
              <a:rPr sz="3600" b="1" u="sng" spc="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7888" y="1570482"/>
            <a:ext cx="1593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9189" y="1629917"/>
            <a:ext cx="10168255" cy="4241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29"/>
              </a:lnSpc>
              <a:tabLst>
                <a:tab pos="1531620" algn="l"/>
                <a:tab pos="2496820" algn="l"/>
                <a:tab pos="3775075" algn="l"/>
                <a:tab pos="4743450" algn="l"/>
                <a:tab pos="6219825" algn="l"/>
                <a:tab pos="6932295" algn="l"/>
                <a:tab pos="9170670" algn="l"/>
                <a:tab pos="9713595" algn="l"/>
              </a:tabLst>
            </a:pPr>
            <a:r>
              <a:rPr sz="3000" b="1" spc="-10" dirty="0">
                <a:latin typeface="Times New Roman"/>
                <a:cs typeface="Times New Roman"/>
              </a:rPr>
              <a:t>Writing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20" dirty="0">
                <a:latin typeface="Times New Roman"/>
                <a:cs typeface="Times New Roman"/>
              </a:rPr>
              <a:t>tests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b="1" spc="-10" dirty="0">
                <a:latin typeface="Times New Roman"/>
                <a:cs typeface="Times New Roman"/>
              </a:rPr>
              <a:t>before</a:t>
            </a:r>
            <a:r>
              <a:rPr sz="3000" b="1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code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clarifies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the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requirements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to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be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9189" y="2053589"/>
            <a:ext cx="2082164" cy="41148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35"/>
              </a:lnSpc>
            </a:pPr>
            <a:r>
              <a:rPr sz="3000" spc="-10" dirty="0">
                <a:latin typeface="Times New Roman"/>
                <a:cs typeface="Times New Roman"/>
              </a:rPr>
              <a:t>implemented.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7888" y="2376115"/>
            <a:ext cx="10328910" cy="37623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698500" indent="-228600" algn="just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Ambiguities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have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clarify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before</a:t>
            </a:r>
            <a:r>
              <a:rPr sz="3000" spc="-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actual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implementation</a:t>
            </a:r>
            <a:endParaRPr sz="3000">
              <a:latin typeface="Times New Roman"/>
              <a:cs typeface="Times New Roman"/>
            </a:endParaRPr>
          </a:p>
          <a:p>
            <a:pPr marL="241300" marR="6985" indent="-229235" algn="just">
              <a:lnSpc>
                <a:spcPts val="324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Tests</a:t>
            </a:r>
            <a:r>
              <a:rPr sz="3000" b="1" spc="6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are</a:t>
            </a:r>
            <a:r>
              <a:rPr sz="3000" b="1" spc="6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written</a:t>
            </a:r>
            <a:r>
              <a:rPr sz="3000" b="1" spc="61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as</a:t>
            </a:r>
            <a:r>
              <a:rPr sz="3000" b="1" spc="6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programs</a:t>
            </a:r>
            <a:r>
              <a:rPr sz="3000" b="1" spc="6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</a:t>
            </a:r>
            <a:r>
              <a:rPr sz="3000" spc="6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6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6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6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6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executed </a:t>
            </a:r>
            <a:r>
              <a:rPr sz="3000" dirty="0">
                <a:latin typeface="Times New Roman"/>
                <a:cs typeface="Times New Roman"/>
              </a:rPr>
              <a:t>automatically.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test</a:t>
            </a:r>
            <a:r>
              <a:rPr sz="3000" spc="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includes</a:t>
            </a:r>
            <a:r>
              <a:rPr sz="3000" spc="1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check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it</a:t>
            </a:r>
            <a:r>
              <a:rPr sz="3000" spc="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has</a:t>
            </a:r>
            <a:r>
              <a:rPr sz="3000" spc="10" dirty="0">
                <a:latin typeface="Times New Roman"/>
                <a:cs typeface="Times New Roman"/>
              </a:rPr>
              <a:t>  </a:t>
            </a:r>
            <a:r>
              <a:rPr sz="3000" spc="-10" dirty="0">
                <a:latin typeface="Times New Roman"/>
                <a:cs typeface="Times New Roman"/>
              </a:rPr>
              <a:t>executed correctly.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latin typeface="Times New Roman"/>
                <a:cs typeface="Times New Roman"/>
              </a:rPr>
              <a:t>Usually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relies</a:t>
            </a:r>
            <a:r>
              <a:rPr sz="3000" b="1" spc="-1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on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-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testing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framework</a:t>
            </a:r>
            <a:r>
              <a:rPr sz="3000" b="1" spc="-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such</a:t>
            </a:r>
            <a:r>
              <a:rPr sz="3000" b="1" spc="-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as</a:t>
            </a:r>
            <a:r>
              <a:rPr sz="3000" b="1" spc="-4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Junit.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9235" algn="just">
              <a:lnSpc>
                <a:spcPts val="324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All</a:t>
            </a:r>
            <a:r>
              <a:rPr sz="3000" b="1" spc="43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previous</a:t>
            </a:r>
            <a:r>
              <a:rPr sz="3000" b="1" spc="4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4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new</a:t>
            </a:r>
            <a:r>
              <a:rPr sz="3000" b="1" spc="4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tests</a:t>
            </a:r>
            <a:r>
              <a:rPr sz="3000" b="1" spc="4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are</a:t>
            </a:r>
            <a:r>
              <a:rPr sz="3000" b="1" spc="44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run</a:t>
            </a:r>
            <a:r>
              <a:rPr sz="3000" b="1" spc="4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automatically</a:t>
            </a:r>
            <a:r>
              <a:rPr sz="3000" b="1" spc="4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when</a:t>
            </a:r>
            <a:r>
              <a:rPr sz="3000" spc="44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new </a:t>
            </a:r>
            <a:r>
              <a:rPr sz="3000" dirty="0">
                <a:latin typeface="Times New Roman"/>
                <a:cs typeface="Times New Roman"/>
              </a:rPr>
              <a:t>functionality</a:t>
            </a:r>
            <a:r>
              <a:rPr sz="3000" spc="4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4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added,</a:t>
            </a:r>
            <a:r>
              <a:rPr sz="3000" spc="40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thus</a:t>
            </a:r>
            <a:r>
              <a:rPr sz="3000" spc="3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checking</a:t>
            </a:r>
            <a:r>
              <a:rPr sz="3000" spc="4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409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4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new</a:t>
            </a:r>
            <a:r>
              <a:rPr sz="3000" spc="41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functionality </a:t>
            </a:r>
            <a:r>
              <a:rPr sz="3000" dirty="0">
                <a:latin typeface="Times New Roman"/>
                <a:cs typeface="Times New Roman"/>
              </a:rPr>
              <a:t>has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not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introduced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errors.</a:t>
            </a:r>
            <a:endParaRPr sz="3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50363" y="366776"/>
            <a:ext cx="80613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3600" b="1" u="sng" spc="-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Test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description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6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dose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checking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39086" y="1505077"/>
            <a:ext cx="8735695" cy="4494530"/>
            <a:chOff x="1839086" y="1505077"/>
            <a:chExt cx="8735695" cy="44945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9687" y="1950212"/>
              <a:ext cx="7436358" cy="40492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9086" y="1505077"/>
              <a:ext cx="8735568" cy="449440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53405" y="2234260"/>
            <a:ext cx="1826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>
                <a:latin typeface="Microsoft Sans Serif"/>
                <a:cs typeface="Microsoft Sans Serif"/>
              </a:rPr>
              <a:t>​</a:t>
            </a:r>
            <a:r>
              <a:rPr sz="2450" dirty="0">
                <a:latin typeface="Microsoft Sans Serif"/>
                <a:cs typeface="Microsoft Sans Serif"/>
              </a:rPr>
              <a:t>	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Scrum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3373" y="260350"/>
            <a:ext cx="10800715" cy="488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4775">
              <a:lnSpc>
                <a:spcPct val="100000"/>
              </a:lnSpc>
              <a:spcBef>
                <a:spcPts val="100"/>
              </a:spcBef>
              <a:tabLst>
                <a:tab pos="441833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SCRUM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75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b="1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sz="2400" b="1" u="sng" spc="-3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2400" b="1" u="sng" spc="-4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  <a:latin typeface="Times New Roman"/>
                <a:cs typeface="Times New Roman"/>
              </a:rPr>
              <a:t>Scrum?</a:t>
            </a:r>
            <a:endParaRPr sz="2400">
              <a:latin typeface="Times New Roman"/>
              <a:cs typeface="Times New Roman"/>
            </a:endParaRPr>
          </a:p>
          <a:p>
            <a:pPr marL="239395" marR="6350" indent="-227329" algn="just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25" dirty="0">
                <a:latin typeface="Times New Roman"/>
                <a:cs typeface="Times New Roman"/>
              </a:rPr>
              <a:t>‘SCRUM’</a:t>
            </a:r>
            <a:r>
              <a:rPr sz="2400" b="1" spc="-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originally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derives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from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strategy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game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rugby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denotes 	</a:t>
            </a:r>
            <a:r>
              <a:rPr sz="2400" dirty="0">
                <a:latin typeface="Times New Roman"/>
                <a:cs typeface="Times New Roman"/>
              </a:rPr>
              <a:t>“getting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ball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game”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teamwork.</a:t>
            </a:r>
            <a:endParaRPr sz="2400">
              <a:latin typeface="Times New Roman"/>
              <a:cs typeface="Times New Roman"/>
            </a:endParaRPr>
          </a:p>
          <a:p>
            <a:pPr marL="239395" marR="6985" indent="-227329" algn="just">
              <a:lnSpc>
                <a:spcPts val="259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SCRUM</a:t>
            </a:r>
            <a:r>
              <a:rPr sz="2400" b="1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enables</a:t>
            </a:r>
            <a:r>
              <a:rPr sz="2400" b="1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OO</a:t>
            </a:r>
            <a:r>
              <a:rPr sz="2400" b="1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through</a:t>
            </a:r>
            <a:r>
              <a:rPr sz="2400" b="1" spc="1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advanced</a:t>
            </a:r>
            <a:r>
              <a:rPr sz="24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iterative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incremental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within 	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controlled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environment.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organizations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build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best</a:t>
            </a:r>
            <a:r>
              <a:rPr sz="2400" spc="2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2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OO 	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possible.</a:t>
            </a:r>
            <a:endParaRPr sz="2400">
              <a:latin typeface="Times New Roman"/>
              <a:cs typeface="Times New Roman"/>
            </a:endParaRPr>
          </a:p>
          <a:p>
            <a:pPr marL="239395" marR="5080" indent="-227329" algn="just">
              <a:lnSpc>
                <a:spcPct val="899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SCRUM</a:t>
            </a:r>
            <a:r>
              <a:rPr sz="2400" b="1" spc="23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2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one</a:t>
            </a:r>
            <a:r>
              <a:rPr sz="2400" b="1" spc="2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25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many</a:t>
            </a:r>
            <a:r>
              <a:rPr sz="2400" b="1" spc="23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different</a:t>
            </a:r>
            <a:r>
              <a:rPr sz="2400" b="1" spc="2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types</a:t>
            </a:r>
            <a:r>
              <a:rPr sz="2400" b="1" spc="240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245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Agile</a:t>
            </a:r>
            <a:r>
              <a:rPr sz="2400" b="1" spc="229" dirty="0">
                <a:latin typeface="Times New Roman"/>
                <a:cs typeface="Times New Roman"/>
              </a:rPr>
              <a:t>  </a:t>
            </a:r>
            <a:r>
              <a:rPr sz="2400" b="1" dirty="0">
                <a:latin typeface="Times New Roman"/>
                <a:cs typeface="Times New Roman"/>
              </a:rPr>
              <a:t>Software</a:t>
            </a:r>
            <a:r>
              <a:rPr sz="2400" b="1" spc="245" dirty="0">
                <a:latin typeface="Times New Roman"/>
                <a:cs typeface="Times New Roman"/>
              </a:rPr>
              <a:t>  </a:t>
            </a:r>
            <a:r>
              <a:rPr sz="2400" b="1" spc="-10" dirty="0">
                <a:latin typeface="Times New Roman"/>
                <a:cs typeface="Times New Roman"/>
              </a:rPr>
              <a:t>Development 	</a:t>
            </a:r>
            <a:r>
              <a:rPr sz="2400" dirty="0">
                <a:latin typeface="Times New Roman"/>
                <a:cs typeface="Times New Roman"/>
              </a:rPr>
              <a:t>Frameworks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world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working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software.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all 	</a:t>
            </a:r>
            <a:r>
              <a:rPr sz="2600" dirty="0">
                <a:latin typeface="Times New Roman"/>
                <a:cs typeface="Times New Roman"/>
              </a:rPr>
              <a:t>about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people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technological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3373" y="5212841"/>
            <a:ext cx="13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•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4444" y="5262549"/>
            <a:ext cx="10619740" cy="3295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90"/>
              </a:lnSpc>
            </a:pPr>
            <a:r>
              <a:rPr sz="2400" b="1" dirty="0">
                <a:latin typeface="Times New Roman"/>
                <a:cs typeface="Times New Roman"/>
              </a:rPr>
              <a:t>SCRUM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Agile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process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framework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that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allows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organizations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to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continuously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4444" y="5591932"/>
            <a:ext cx="10619740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85"/>
              </a:lnSpc>
            </a:pPr>
            <a:r>
              <a:rPr sz="2400" b="1" dirty="0">
                <a:latin typeface="Times New Roman"/>
                <a:cs typeface="Times New Roman"/>
              </a:rPr>
              <a:t>direct</a:t>
            </a:r>
            <a:r>
              <a:rPr sz="2400" b="1" spc="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toward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early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business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frequent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4444" y="5930061"/>
            <a:ext cx="5534660" cy="32956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20"/>
              </a:lnSpc>
            </a:pP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regular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delivery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quality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software.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3017" y="366776"/>
            <a:ext cx="10502265" cy="5636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7870">
              <a:lnSpc>
                <a:spcPct val="100000"/>
              </a:lnSpc>
              <a:spcBef>
                <a:spcPts val="100"/>
              </a:spcBef>
              <a:tabLst>
                <a:tab pos="505269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Scrum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30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marR="483870" indent="-227965">
              <a:lnSpc>
                <a:spcPts val="302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Scrum</a:t>
            </a:r>
            <a:r>
              <a:rPr sz="2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approach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8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general</a:t>
            </a:r>
            <a:r>
              <a:rPr sz="2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agile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method</a:t>
            </a:r>
            <a:r>
              <a:rPr sz="28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but</a:t>
            </a:r>
            <a:r>
              <a:rPr sz="2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its</a:t>
            </a:r>
            <a:r>
              <a:rPr sz="2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focus</a:t>
            </a:r>
            <a:r>
              <a:rPr sz="28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on 	</a:t>
            </a: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managing</a:t>
            </a:r>
            <a:r>
              <a:rPr sz="2800" b="1" u="sng" spc="-8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iterative</a:t>
            </a:r>
            <a:r>
              <a:rPr sz="2800" b="1" u="sng" spc="-1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development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There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are</a:t>
            </a:r>
            <a:r>
              <a:rPr sz="2600" b="1" spc="-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three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phases</a:t>
            </a:r>
            <a:r>
              <a:rPr sz="2600" b="1" spc="-5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in</a:t>
            </a:r>
            <a:r>
              <a:rPr sz="2600" b="1" spc="-4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Scrum.</a:t>
            </a:r>
            <a:endParaRPr sz="26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281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Outline</a:t>
            </a:r>
            <a:r>
              <a:rPr sz="2600" b="1" u="sng" spc="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planning</a:t>
            </a:r>
            <a:r>
              <a:rPr sz="2600" b="1" u="sng" spc="1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phase</a:t>
            </a:r>
            <a:r>
              <a:rPr sz="2600" b="1" spc="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where</a:t>
            </a:r>
            <a:r>
              <a:rPr sz="2600" spc="1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establish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50" dirty="0"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general</a:t>
            </a:r>
            <a:r>
              <a:rPr sz="2600" b="1" u="sng" spc="1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objectives</a:t>
            </a:r>
            <a:r>
              <a:rPr sz="2600" b="1" u="sng" spc="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2600" b="1" spc="-25" dirty="0"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6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26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and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design</a:t>
            </a:r>
            <a:r>
              <a:rPr sz="26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6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2600" b="1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architecture</a:t>
            </a:r>
            <a:r>
              <a:rPr sz="2600" b="1" spc="-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698500" marR="11430" lvl="1" indent="-228600">
              <a:lnSpc>
                <a:spcPts val="2810"/>
              </a:lnSpc>
              <a:spcBef>
                <a:spcPts val="50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This</a:t>
            </a:r>
            <a:r>
              <a:rPr sz="2600" spc="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followed</a:t>
            </a:r>
            <a:r>
              <a:rPr sz="2600" spc="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series</a:t>
            </a:r>
            <a:r>
              <a:rPr sz="2600" spc="1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sprint</a:t>
            </a:r>
            <a:r>
              <a:rPr sz="2600" b="1" u="sng" spc="1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cycles</a:t>
            </a:r>
            <a:r>
              <a:rPr sz="2600" b="1" dirty="0">
                <a:latin typeface="Times New Roman"/>
                <a:cs typeface="Times New Roman"/>
              </a:rPr>
              <a:t>,</a:t>
            </a:r>
            <a:r>
              <a:rPr sz="2600" b="1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where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cycle</a:t>
            </a:r>
            <a:r>
              <a:rPr sz="2600" spc="1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develops </a:t>
            </a:r>
            <a:r>
              <a:rPr sz="2600" dirty="0">
                <a:latin typeface="Times New Roman"/>
                <a:cs typeface="Times New Roman"/>
              </a:rPr>
              <a:t>an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increment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  <a:p>
            <a:pPr marL="698500" marR="12065" lvl="1" indent="-228600">
              <a:lnSpc>
                <a:spcPts val="281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  <a:tab pos="1411605" algn="l"/>
                <a:tab pos="2574925" algn="l"/>
                <a:tab pos="3738879" algn="l"/>
                <a:tab pos="4709160" algn="l"/>
                <a:tab pos="5661025" algn="l"/>
                <a:tab pos="6155055" algn="l"/>
                <a:tab pos="6718934" algn="l"/>
                <a:tab pos="7880350" algn="l"/>
                <a:tab pos="9380220" algn="l"/>
              </a:tabLst>
            </a:pPr>
            <a:r>
              <a:rPr sz="2600" b="1" spc="-25" dirty="0">
                <a:latin typeface="Times New Roman"/>
                <a:cs typeface="Times New Roman"/>
              </a:rPr>
              <a:t>The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closure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phase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wraps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up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project,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completes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required documentation</a:t>
            </a:r>
            <a:endParaRPr sz="2600">
              <a:latin typeface="Times New Roman"/>
              <a:cs typeface="Times New Roman"/>
            </a:endParaRPr>
          </a:p>
          <a:p>
            <a:pPr marL="1155700" marR="10795" lvl="2" indent="-228600">
              <a:lnSpc>
                <a:spcPts val="2810"/>
              </a:lnSpc>
              <a:spcBef>
                <a:spcPts val="484"/>
              </a:spcBef>
              <a:buFont typeface="Arial MT"/>
              <a:buChar char="•"/>
              <a:tabLst>
                <a:tab pos="1155700" algn="l"/>
                <a:tab pos="1948180" algn="l"/>
                <a:tab pos="2408555" algn="l"/>
                <a:tab pos="3144520" algn="l"/>
                <a:tab pos="4431030" algn="l"/>
                <a:tab pos="5095875" algn="l"/>
                <a:tab pos="6360795" algn="l"/>
                <a:tab pos="6950709" algn="l"/>
                <a:tab pos="8093709" algn="l"/>
                <a:tab pos="9250680" algn="l"/>
                <a:tab pos="10078085" algn="l"/>
              </a:tabLst>
            </a:pPr>
            <a:r>
              <a:rPr sz="2600" spc="-20" dirty="0">
                <a:latin typeface="Times New Roman"/>
                <a:cs typeface="Times New Roman"/>
              </a:rPr>
              <a:t>such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user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manuals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assesses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lessons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learned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from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spc="-10" dirty="0">
                <a:latin typeface="Times New Roman"/>
                <a:cs typeface="Times New Roman"/>
              </a:rPr>
              <a:t>project.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41646" y="366776"/>
            <a:ext cx="4281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Scrum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endParaRPr sz="36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02688" y="1864232"/>
            <a:ext cx="8135620" cy="3697604"/>
            <a:chOff x="2202688" y="1864232"/>
            <a:chExt cx="8135620" cy="36976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8806" y="2637662"/>
              <a:ext cx="6875780" cy="24420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2688" y="1864232"/>
              <a:ext cx="8135238" cy="369709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1668" y="1499997"/>
            <a:ext cx="9758045" cy="4866005"/>
            <a:chOff x="1411668" y="1499997"/>
            <a:chExt cx="9758045" cy="48660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1256" y="1509522"/>
              <a:ext cx="9738614" cy="484682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416430" y="1504759"/>
              <a:ext cx="9748520" cy="4856480"/>
            </a:xfrm>
            <a:custGeom>
              <a:avLst/>
              <a:gdLst/>
              <a:ahLst/>
              <a:cxnLst/>
              <a:rect l="l" t="t" r="r" b="b"/>
              <a:pathLst>
                <a:path w="9748520" h="4856480">
                  <a:moveTo>
                    <a:pt x="0" y="4856353"/>
                  </a:moveTo>
                  <a:lnTo>
                    <a:pt x="9748139" y="4856353"/>
                  </a:lnTo>
                  <a:lnTo>
                    <a:pt x="9748139" y="0"/>
                  </a:lnTo>
                  <a:lnTo>
                    <a:pt x="0" y="0"/>
                  </a:lnTo>
                  <a:lnTo>
                    <a:pt x="0" y="4856353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447413" y="333197"/>
            <a:ext cx="40589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Scrum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Process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7413" y="333197"/>
            <a:ext cx="40589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8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Scrum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Process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966" y="1768855"/>
            <a:ext cx="9713594" cy="43271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8199" y="366776"/>
            <a:ext cx="10535285" cy="574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1865">
              <a:lnSpc>
                <a:spcPct val="100000"/>
              </a:lnSpc>
              <a:spcBef>
                <a:spcPts val="100"/>
              </a:spcBef>
              <a:tabLst>
                <a:tab pos="3996054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Sprint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cycle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7620" indent="-228600" algn="just">
              <a:lnSpc>
                <a:spcPct val="8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Sprints</a:t>
            </a:r>
            <a:r>
              <a:rPr sz="3000" b="1" spc="2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are</a:t>
            </a:r>
            <a:r>
              <a:rPr sz="3000" b="1" spc="2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fixed</a:t>
            </a:r>
            <a:r>
              <a:rPr sz="3000" b="1" spc="2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length,</a:t>
            </a:r>
            <a:r>
              <a:rPr sz="3000" b="1" spc="254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normally</a:t>
            </a:r>
            <a:r>
              <a:rPr sz="3000" b="1" spc="2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2–4</a:t>
            </a:r>
            <a:r>
              <a:rPr sz="3000" b="1" spc="2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weeks</a:t>
            </a:r>
            <a:r>
              <a:rPr sz="3000" dirty="0">
                <a:latin typeface="Times New Roman"/>
                <a:cs typeface="Times New Roman"/>
              </a:rPr>
              <a:t>.</a:t>
            </a: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They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correspond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release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system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XP.</a:t>
            </a:r>
            <a:endParaRPr sz="3000">
              <a:latin typeface="Times New Roman"/>
              <a:cs typeface="Times New Roman"/>
            </a:endParaRPr>
          </a:p>
          <a:p>
            <a:pPr marL="241300" indent="-228600" algn="just">
              <a:lnSpc>
                <a:spcPts val="3485"/>
              </a:lnSpc>
              <a:spcBef>
                <a:spcPts val="29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-1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Assess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Phase</a:t>
            </a:r>
            <a:endParaRPr sz="3000">
              <a:latin typeface="Times New Roman"/>
              <a:cs typeface="Times New Roman"/>
            </a:endParaRPr>
          </a:p>
          <a:p>
            <a:pPr marL="698500" marR="9525" lvl="1" indent="-228600" algn="just">
              <a:lnSpc>
                <a:spcPct val="80000"/>
              </a:lnSpc>
              <a:spcBef>
                <a:spcPts val="60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latin typeface="Times New Roman"/>
                <a:cs typeface="Times New Roman"/>
              </a:rPr>
              <a:t>Product</a:t>
            </a:r>
            <a:r>
              <a:rPr sz="3000" b="1" spc="9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backlog</a:t>
            </a:r>
            <a:r>
              <a:rPr sz="3000" b="1" spc="9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9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reviewed</a:t>
            </a:r>
            <a:r>
              <a:rPr sz="3000" dirty="0">
                <a:latin typeface="Times New Roman"/>
                <a:cs typeface="Times New Roman"/>
              </a:rPr>
              <a:t>,</a:t>
            </a:r>
            <a:r>
              <a:rPr sz="3000" spc="10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95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priorities</a:t>
            </a:r>
            <a:r>
              <a:rPr sz="3000" spc="10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10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risks</a:t>
            </a:r>
            <a:r>
              <a:rPr sz="3000" spc="95" dirty="0">
                <a:latin typeface="Times New Roman"/>
                <a:cs typeface="Times New Roman"/>
              </a:rPr>
              <a:t>  </a:t>
            </a:r>
            <a:r>
              <a:rPr sz="3000" spc="-25" dirty="0">
                <a:latin typeface="Times New Roman"/>
                <a:cs typeface="Times New Roman"/>
              </a:rPr>
              <a:t>are </a:t>
            </a:r>
            <a:r>
              <a:rPr sz="3000" spc="-10" dirty="0">
                <a:latin typeface="Times New Roman"/>
                <a:cs typeface="Times New Roman"/>
              </a:rPr>
              <a:t>assigned</a:t>
            </a:r>
            <a:endParaRPr sz="3000">
              <a:latin typeface="Times New Roman"/>
              <a:cs typeface="Times New Roman"/>
            </a:endParaRPr>
          </a:p>
          <a:p>
            <a:pPr marL="698500" marR="7620" lvl="1" indent="-228600" algn="just">
              <a:lnSpc>
                <a:spcPts val="2880"/>
              </a:lnSpc>
              <a:spcBef>
                <a:spcPts val="480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Customer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involved</a:t>
            </a:r>
            <a:r>
              <a:rPr sz="3000" spc="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introduce</a:t>
            </a:r>
            <a:r>
              <a:rPr sz="3000" spc="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new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requirements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or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tasks</a:t>
            </a:r>
            <a:r>
              <a:rPr sz="3000" spc="7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at </a:t>
            </a:r>
            <a:r>
              <a:rPr sz="3000" dirty="0">
                <a:latin typeface="Times New Roman"/>
                <a:cs typeface="Times New Roman"/>
              </a:rPr>
              <a:t>beginning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each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sprint</a:t>
            </a:r>
            <a:endParaRPr sz="3000">
              <a:latin typeface="Times New Roman"/>
              <a:cs typeface="Times New Roman"/>
            </a:endParaRPr>
          </a:p>
          <a:p>
            <a:pPr marL="241300" indent="-228600" algn="just">
              <a:lnSpc>
                <a:spcPts val="349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Selection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Phase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 algn="just">
              <a:lnSpc>
                <a:spcPts val="2880"/>
              </a:lnSpc>
              <a:spcBef>
                <a:spcPts val="58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latin typeface="Times New Roman"/>
                <a:cs typeface="Times New Roman"/>
              </a:rPr>
              <a:t>Involves</a:t>
            </a:r>
            <a:r>
              <a:rPr sz="3000" b="1" spc="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all</a:t>
            </a:r>
            <a:r>
              <a:rPr sz="3000" b="1" spc="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1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project</a:t>
            </a:r>
            <a:r>
              <a:rPr sz="3000" b="1" spc="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team</a:t>
            </a:r>
            <a:r>
              <a:rPr sz="3000" b="1" spc="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who</a:t>
            </a:r>
            <a:r>
              <a:rPr sz="3000" b="1" spc="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work</a:t>
            </a:r>
            <a:r>
              <a:rPr sz="3000" b="1" spc="1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with</a:t>
            </a:r>
            <a:r>
              <a:rPr sz="3000" b="1" spc="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30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customer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select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features</a:t>
            </a:r>
            <a:r>
              <a:rPr sz="3000" spc="2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functionality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be</a:t>
            </a:r>
            <a:r>
              <a:rPr sz="3000" spc="2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developed</a:t>
            </a:r>
            <a:r>
              <a:rPr sz="3000" spc="30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during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sprint.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23847" y="366776"/>
            <a:ext cx="10577830" cy="573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835">
              <a:lnSpc>
                <a:spcPct val="100000"/>
              </a:lnSpc>
              <a:spcBef>
                <a:spcPts val="100"/>
              </a:spcBef>
              <a:tabLst>
                <a:tab pos="401066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Sprint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cycle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ts val="349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Develop</a:t>
            </a:r>
            <a:r>
              <a:rPr sz="30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Phase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385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3000" b="1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team</a:t>
            </a:r>
            <a:r>
              <a:rPr sz="3000" b="1" spc="-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organize</a:t>
            </a:r>
            <a:r>
              <a:rPr sz="3000" b="1" spc="-3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themselves</a:t>
            </a:r>
            <a:r>
              <a:rPr sz="3000" b="1" spc="-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sz="3000" b="1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develop</a:t>
            </a:r>
            <a:r>
              <a:rPr sz="3000" b="1" spc="-6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3000" b="1" spc="-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software</a:t>
            </a:r>
            <a:r>
              <a:rPr sz="3000" spc="-10" dirty="0">
                <a:latin typeface="Times New Roman"/>
                <a:cs typeface="Times New Roman"/>
              </a:rPr>
              <a:t>.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379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team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isolated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customer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organization</a:t>
            </a:r>
            <a:endParaRPr sz="3000">
              <a:latin typeface="Times New Roman"/>
              <a:cs typeface="Times New Roman"/>
            </a:endParaRPr>
          </a:p>
          <a:p>
            <a:pPr marL="698500" marR="6985" lvl="1" indent="-228600">
              <a:lnSpc>
                <a:spcPts val="2880"/>
              </a:lnSpc>
              <a:spcBef>
                <a:spcPts val="58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All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communication</a:t>
            </a:r>
            <a:r>
              <a:rPr sz="3000" spc="2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2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channelled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through</a:t>
            </a:r>
            <a:r>
              <a:rPr sz="3000" spc="2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229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so-</a:t>
            </a:r>
            <a:r>
              <a:rPr sz="3000" dirty="0">
                <a:latin typeface="Times New Roman"/>
                <a:cs typeface="Times New Roman"/>
              </a:rPr>
              <a:t>called</a:t>
            </a:r>
            <a:r>
              <a:rPr sz="3000" spc="2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‘Scrum master’.</a:t>
            </a:r>
            <a:endParaRPr sz="3000">
              <a:latin typeface="Times New Roman"/>
              <a:cs typeface="Times New Roman"/>
            </a:endParaRPr>
          </a:p>
          <a:p>
            <a:pPr marL="698500" marR="7620" lvl="1" indent="-228600">
              <a:lnSpc>
                <a:spcPts val="288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role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Scrum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master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protect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development</a:t>
            </a:r>
            <a:r>
              <a:rPr sz="3000" spc="-20" dirty="0">
                <a:latin typeface="Times New Roman"/>
                <a:cs typeface="Times New Roman"/>
              </a:rPr>
              <a:t> team </a:t>
            </a:r>
            <a:r>
              <a:rPr sz="3000" dirty="0">
                <a:latin typeface="Times New Roman"/>
                <a:cs typeface="Times New Roman"/>
              </a:rPr>
              <a:t>from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external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distractions.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ts val="3495"/>
              </a:lnSpc>
              <a:spcBef>
                <a:spcPts val="3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Review</a:t>
            </a:r>
            <a:r>
              <a:rPr sz="30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Phase</a:t>
            </a:r>
            <a:endParaRPr sz="30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615"/>
              </a:spcBef>
              <a:buFont typeface="Arial MT"/>
              <a:buChar char="•"/>
              <a:tabLst>
                <a:tab pos="698500" algn="l"/>
                <a:tab pos="1283335" algn="l"/>
                <a:tab pos="1974214" algn="l"/>
                <a:tab pos="2749550" algn="l"/>
                <a:tab pos="3249295" algn="l"/>
                <a:tab pos="3938904" algn="l"/>
                <a:tab pos="5189855" algn="l"/>
                <a:tab pos="5880100" algn="l"/>
                <a:tab pos="6910705" algn="l"/>
                <a:tab pos="7875270" algn="l"/>
                <a:tab pos="8312784" algn="l"/>
                <a:tab pos="9951720" algn="l"/>
              </a:tabLst>
            </a:pPr>
            <a:r>
              <a:rPr sz="30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At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end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sprint,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the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20" dirty="0">
                <a:solidFill>
                  <a:srgbClr val="0D0D0D"/>
                </a:solidFill>
                <a:latin typeface="Times New Roman"/>
                <a:cs typeface="Times New Roman"/>
              </a:rPr>
              <a:t>work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20" dirty="0">
                <a:solidFill>
                  <a:srgbClr val="0D0D0D"/>
                </a:solidFill>
                <a:latin typeface="Times New Roman"/>
                <a:cs typeface="Times New Roman"/>
              </a:rPr>
              <a:t>done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is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reviewed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	</a:t>
            </a:r>
            <a:r>
              <a:rPr sz="30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and 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presented</a:t>
            </a:r>
            <a:r>
              <a:rPr sz="3000" b="1" spc="-1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D0D0D"/>
                </a:solidFill>
                <a:latin typeface="Times New Roman"/>
                <a:cs typeface="Times New Roman"/>
              </a:rPr>
              <a:t>to</a:t>
            </a:r>
            <a:r>
              <a:rPr sz="3000" b="1" spc="-8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stakeholders.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3385"/>
              </a:lnSpc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next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sprint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cycle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then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begins.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7486" y="949578"/>
            <a:ext cx="228600" cy="44450"/>
          </a:xfrm>
          <a:custGeom>
            <a:avLst/>
            <a:gdLst/>
            <a:ahLst/>
            <a:cxnLst/>
            <a:rect l="l" t="t" r="r" b="b"/>
            <a:pathLst>
              <a:path w="228600" h="44450">
                <a:moveTo>
                  <a:pt x="228600" y="0"/>
                </a:moveTo>
                <a:lnTo>
                  <a:pt x="0" y="0"/>
                </a:lnTo>
                <a:lnTo>
                  <a:pt x="0" y="44196"/>
                </a:lnTo>
                <a:lnTo>
                  <a:pt x="228600" y="44196"/>
                </a:lnTo>
                <a:lnTo>
                  <a:pt x="2286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569211" y="429209"/>
            <a:ext cx="7832725" cy="5588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100"/>
              </a:spcBef>
              <a:tabLst>
                <a:tab pos="1666875" algn="l"/>
              </a:tabLst>
            </a:pPr>
            <a:r>
              <a:rPr sz="2450" spc="195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INTRODUCTION</a:t>
            </a:r>
            <a:r>
              <a:rPr sz="3600" b="1" u="sng" spc="-114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3600" b="1" u="sng" spc="-10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TERMS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4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Scrum</a:t>
            </a:r>
            <a:r>
              <a:rPr sz="2600" b="1" spc="-10" dirty="0">
                <a:latin typeface="Times New Roman"/>
                <a:cs typeface="Times New Roman"/>
              </a:rPr>
              <a:t> Roles</a:t>
            </a:r>
            <a:endParaRPr sz="2600">
              <a:latin typeface="Times New Roman"/>
              <a:cs typeface="Times New Roman"/>
            </a:endParaRPr>
          </a:p>
          <a:p>
            <a:pPr marL="701040" lvl="1" indent="-224154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701040" algn="l"/>
              </a:tabLst>
            </a:pPr>
            <a:r>
              <a:rPr sz="2600" dirty="0">
                <a:latin typeface="Times New Roman"/>
                <a:cs typeface="Times New Roman"/>
              </a:rPr>
              <a:t>Product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Owner</a:t>
            </a:r>
            <a:endParaRPr sz="2600">
              <a:latin typeface="Times New Roman"/>
              <a:cs typeface="Times New Roman"/>
            </a:endParaRPr>
          </a:p>
          <a:p>
            <a:pPr marL="700405" lvl="1" indent="-22352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700405" algn="l"/>
              </a:tabLst>
            </a:pPr>
            <a:r>
              <a:rPr sz="2600" dirty="0">
                <a:latin typeface="Times New Roman"/>
                <a:cs typeface="Times New Roman"/>
              </a:rPr>
              <a:t>Scrum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Master</a:t>
            </a:r>
            <a:endParaRPr sz="2600">
              <a:latin typeface="Times New Roman"/>
              <a:cs typeface="Times New Roman"/>
            </a:endParaRPr>
          </a:p>
          <a:p>
            <a:pPr marL="701040" lvl="1" indent="-224154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701040" algn="l"/>
              </a:tabLst>
            </a:pPr>
            <a:r>
              <a:rPr sz="2600" dirty="0">
                <a:latin typeface="Times New Roman"/>
                <a:cs typeface="Times New Roman"/>
              </a:rPr>
              <a:t>Scrum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Team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spc="-10" dirty="0">
                <a:latin typeface="Times New Roman"/>
                <a:cs typeface="Times New Roman"/>
              </a:rPr>
              <a:t>Sprint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Daily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Scrum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Product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Backlog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Sprint</a:t>
            </a:r>
            <a:r>
              <a:rPr sz="2600" spc="-10" dirty="0">
                <a:latin typeface="Times New Roman"/>
                <a:cs typeface="Times New Roman"/>
              </a:rPr>
              <a:t> Backlog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Times New Roman"/>
                <a:cs typeface="Times New Roman"/>
              </a:rPr>
              <a:t>Scrum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Meeting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Rules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75472" y="6335369"/>
            <a:ext cx="1026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888888"/>
                </a:solidFill>
                <a:latin typeface="Calibri"/>
                <a:cs typeface="Calibri"/>
              </a:rPr>
              <a:t>Dr.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Tehseen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Riaz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4278" y="6335369"/>
            <a:ext cx="3150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Software</a:t>
            </a:r>
            <a:r>
              <a:rPr sz="1200" spc="1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r>
              <a:rPr sz="1200" spc="9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Concepts-CSC291-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FALL-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2024</a:t>
            </a:r>
            <a:endParaRPr sz="1200">
              <a:latin typeface="Calibri"/>
              <a:cs typeface="Calibri"/>
            </a:endParaRPr>
          </a:p>
          <a:p>
            <a:pPr marL="2160270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Abbasi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5747" y="366776"/>
            <a:ext cx="10703560" cy="4069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7305">
              <a:lnSpc>
                <a:spcPct val="100000"/>
              </a:lnSpc>
              <a:spcBef>
                <a:spcPts val="100"/>
              </a:spcBef>
              <a:tabLst>
                <a:tab pos="307149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Teamwork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in Daily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Scrum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-3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whole</a:t>
            </a:r>
            <a:r>
              <a:rPr sz="3000" b="1" spc="-1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team</a:t>
            </a:r>
            <a:r>
              <a:rPr sz="3000" b="1" spc="-2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attends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short</a:t>
            </a:r>
            <a:r>
              <a:rPr sz="3000" b="1" spc="-2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daily</a:t>
            </a:r>
            <a:r>
              <a:rPr sz="3000" b="1" spc="-15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meetings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did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do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since</a:t>
            </a:r>
            <a:r>
              <a:rPr sz="3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last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meeting?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obstacles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are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encountering?</a:t>
            </a:r>
            <a:endParaRPr sz="30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698500" algn="l"/>
              </a:tabLst>
            </a:pP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What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do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r>
              <a:rPr sz="30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plan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30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accomplish by</a:t>
            </a:r>
            <a:r>
              <a:rPr sz="30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3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next</a:t>
            </a:r>
            <a:r>
              <a:rPr sz="30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0000"/>
                </a:solidFill>
                <a:latin typeface="Times New Roman"/>
                <a:cs typeface="Times New Roman"/>
              </a:rPr>
              <a:t>team</a:t>
            </a:r>
            <a:r>
              <a:rPr sz="30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0000"/>
                </a:solidFill>
                <a:latin typeface="Times New Roman"/>
                <a:cs typeface="Times New Roman"/>
              </a:rPr>
              <a:t>meeting?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This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means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that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everyone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team</a:t>
            </a:r>
            <a:r>
              <a:rPr sz="3000" spc="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knows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what</a:t>
            </a:r>
            <a:r>
              <a:rPr sz="3000" spc="10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9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going</a:t>
            </a:r>
            <a:r>
              <a:rPr sz="3000" spc="1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95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and, </a:t>
            </a:r>
            <a:r>
              <a:rPr sz="3000" dirty="0">
                <a:latin typeface="Times New Roman"/>
                <a:cs typeface="Times New Roman"/>
              </a:rPr>
              <a:t>if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problems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arise,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can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20" dirty="0">
                <a:latin typeface="Times New Roman"/>
                <a:cs typeface="Times New Roman"/>
              </a:rPr>
              <a:t>re-</a:t>
            </a:r>
            <a:r>
              <a:rPr sz="3000" dirty="0">
                <a:latin typeface="Times New Roman"/>
                <a:cs typeface="Times New Roman"/>
              </a:rPr>
              <a:t>plan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short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term</a:t>
            </a:r>
            <a:r>
              <a:rPr sz="3000" spc="-2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cope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</a:t>
            </a:r>
            <a:r>
              <a:rPr sz="3000" spc="-4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them.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3147" y="366776"/>
            <a:ext cx="10524490" cy="286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685">
              <a:lnSpc>
                <a:spcPct val="100000"/>
              </a:lnSpc>
              <a:spcBef>
                <a:spcPts val="100"/>
              </a:spcBef>
              <a:tabLst>
                <a:tab pos="319087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Roles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Responsibilities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ts val="2900"/>
              </a:lnSpc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Scrum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Master</a:t>
            </a:r>
            <a:r>
              <a:rPr sz="2600" b="1" spc="-8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(a</a:t>
            </a:r>
            <a:r>
              <a:rPr sz="2600" b="1" spc="-1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facilitator</a:t>
            </a:r>
            <a:r>
              <a:rPr sz="2600" b="1" spc="-6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who</a:t>
            </a:r>
            <a:r>
              <a:rPr sz="2600" b="1" spc="-10" dirty="0">
                <a:latin typeface="Times New Roman"/>
                <a:cs typeface="Times New Roman"/>
              </a:rPr>
              <a:t> arranges)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43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Daily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meetings,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tracks</a:t>
            </a:r>
            <a:r>
              <a:rPr sz="2600" spc="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backlog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work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be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done,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records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decisions,</a:t>
            </a:r>
            <a:endParaRPr sz="2600">
              <a:latin typeface="Times New Roman"/>
              <a:cs typeface="Times New Roman"/>
            </a:endParaRPr>
          </a:p>
          <a:p>
            <a:pPr marL="698500" marR="5080">
              <a:lnSpc>
                <a:spcPct val="70000"/>
              </a:lnSpc>
              <a:spcBef>
                <a:spcPts val="465"/>
              </a:spcBef>
            </a:pPr>
            <a:r>
              <a:rPr sz="2600" dirty="0">
                <a:latin typeface="Times New Roman"/>
                <a:cs typeface="Times New Roman"/>
              </a:rPr>
              <a:t>measures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progress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against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backlog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communicates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with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customers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management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outside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team.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Product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Owner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0398" y="3148076"/>
            <a:ext cx="100666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  <a:tab pos="2089785" algn="l"/>
                <a:tab pos="2707005" algn="l"/>
                <a:tab pos="3938904" algn="l"/>
                <a:tab pos="5557520" algn="l"/>
                <a:tab pos="7240270" algn="l"/>
                <a:tab pos="7948930" algn="l"/>
                <a:tab pos="9171305" algn="l"/>
              </a:tabLst>
            </a:pPr>
            <a:r>
              <a:rPr sz="2600" spc="-10" dirty="0">
                <a:latin typeface="Times New Roman"/>
                <a:cs typeface="Times New Roman"/>
              </a:rPr>
              <a:t>Responsible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for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project,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managing,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controlling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and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making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visible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8998" y="3425444"/>
            <a:ext cx="27216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Times New Roman"/>
                <a:cs typeface="Times New Roman"/>
              </a:rPr>
              <a:t>Product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Backlog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list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3147" y="3766820"/>
            <a:ext cx="10524490" cy="212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Makes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final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decisions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tasks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related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product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Backlog</a:t>
            </a:r>
            <a:endParaRPr sz="2600">
              <a:latin typeface="Times New Roman"/>
              <a:cs typeface="Times New Roman"/>
            </a:endParaRPr>
          </a:p>
          <a:p>
            <a:pPr marL="241300" indent="-228600">
              <a:lnSpc>
                <a:spcPts val="2905"/>
              </a:lnSpc>
              <a:spcBef>
                <a:spcPts val="6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Times New Roman"/>
                <a:cs typeface="Times New Roman"/>
              </a:rPr>
              <a:t>Scrum</a:t>
            </a:r>
            <a:r>
              <a:rPr sz="2600" b="1" spc="-70" dirty="0">
                <a:latin typeface="Times New Roman"/>
                <a:cs typeface="Times New Roman"/>
              </a:rPr>
              <a:t> </a:t>
            </a:r>
            <a:r>
              <a:rPr sz="2600" b="1" spc="-20" dirty="0">
                <a:latin typeface="Times New Roman"/>
                <a:cs typeface="Times New Roman"/>
              </a:rPr>
              <a:t>Team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90"/>
              </a:lnSpc>
              <a:buFont typeface="Arial MT"/>
              <a:buChar char="•"/>
              <a:tabLst>
                <a:tab pos="698500" algn="l"/>
                <a:tab pos="1369060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is</a:t>
            </a:r>
            <a:r>
              <a:rPr sz="2600" dirty="0">
                <a:latin typeface="Times New Roman"/>
                <a:cs typeface="Times New Roman"/>
              </a:rPr>
              <a:t>	project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team</a:t>
            </a:r>
            <a:endParaRPr sz="2600">
              <a:latin typeface="Times New Roman"/>
              <a:cs typeface="Times New Roman"/>
            </a:endParaRPr>
          </a:p>
          <a:p>
            <a:pPr marL="698500" lvl="1" indent="-228600">
              <a:lnSpc>
                <a:spcPts val="268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Organize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itself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order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achieve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goals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Sprint</a:t>
            </a:r>
            <a:endParaRPr sz="26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715"/>
              </a:spcBef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Times New Roman"/>
                <a:cs typeface="Times New Roman"/>
              </a:rPr>
              <a:t>Involved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effort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estimation,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creating</a:t>
            </a:r>
            <a:r>
              <a:rPr sz="2600" spc="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Sprint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Backlog,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reviewing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Product </a:t>
            </a:r>
            <a:r>
              <a:rPr sz="2600" dirty="0">
                <a:latin typeface="Times New Roman"/>
                <a:cs typeface="Times New Roman"/>
              </a:rPr>
              <a:t>Backlog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list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2410" y="366776"/>
            <a:ext cx="8806180" cy="3914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6965">
              <a:lnSpc>
                <a:spcPct val="100000"/>
              </a:lnSpc>
              <a:spcBef>
                <a:spcPts val="100"/>
              </a:spcBef>
              <a:tabLst>
                <a:tab pos="289179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Roles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and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Responsibilities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Customer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Participate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tasks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related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product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Backlog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items</a:t>
            </a:r>
            <a:endParaRPr sz="28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charge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final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decision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making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Participate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setting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goals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requirements</a:t>
            </a:r>
            <a:endParaRPr sz="2800">
              <a:latin typeface="Times New Roman"/>
              <a:cs typeface="Times New Roman"/>
            </a:endParaRPr>
          </a:p>
          <a:p>
            <a:pPr marL="697230" lvl="1" indent="-227329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697230" algn="l"/>
              </a:tabLst>
            </a:pPr>
            <a:r>
              <a:rPr sz="2800" dirty="0">
                <a:latin typeface="Times New Roman"/>
                <a:cs typeface="Times New Roman"/>
              </a:rPr>
              <a:t>E.g.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management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involved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selecting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Product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Owner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3360" y="366776"/>
            <a:ext cx="10643235" cy="564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9215">
              <a:lnSpc>
                <a:spcPct val="100000"/>
              </a:lnSpc>
              <a:spcBef>
                <a:spcPts val="100"/>
              </a:spcBef>
              <a:tabLst>
                <a:tab pos="438404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Scrum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benefits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Rising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30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Janoff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(2000)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discuss</a:t>
            </a:r>
            <a:r>
              <a:rPr sz="30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its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advantages</a:t>
            </a:r>
            <a:r>
              <a:rPr sz="30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as</a:t>
            </a:r>
            <a:r>
              <a:rPr sz="3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follows</a:t>
            </a:r>
            <a:endParaRPr sz="3000">
              <a:latin typeface="Times New Roman"/>
              <a:cs typeface="Times New Roman"/>
            </a:endParaRPr>
          </a:p>
          <a:p>
            <a:pPr marL="697865" marR="6350" lvl="1" indent="-228600" algn="just">
              <a:lnSpc>
                <a:spcPts val="3240"/>
              </a:lnSpc>
              <a:spcBef>
                <a:spcPts val="555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64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product</a:t>
            </a:r>
            <a:r>
              <a:rPr sz="3000" b="1" spc="6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6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broken</a:t>
            </a:r>
            <a:r>
              <a:rPr sz="3000" b="1" spc="6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down</a:t>
            </a:r>
            <a:r>
              <a:rPr sz="3000" b="1" spc="6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into</a:t>
            </a:r>
            <a:r>
              <a:rPr sz="3000" spc="6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6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set</a:t>
            </a:r>
            <a:r>
              <a:rPr sz="3000" spc="6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6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manageable</a:t>
            </a:r>
            <a:r>
              <a:rPr sz="3000" spc="66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dirty="0">
                <a:latin typeface="Times New Roman"/>
                <a:cs typeface="Times New Roman"/>
              </a:rPr>
              <a:t>understandable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chunks.</a:t>
            </a:r>
            <a:endParaRPr sz="3000">
              <a:latin typeface="Times New Roman"/>
              <a:cs typeface="Times New Roman"/>
            </a:endParaRPr>
          </a:p>
          <a:p>
            <a:pPr marL="697865" marR="6985" lvl="1" indent="-228600" algn="just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b="1" dirty="0">
                <a:latin typeface="Times New Roman"/>
                <a:cs typeface="Times New Roman"/>
              </a:rPr>
              <a:t>The</a:t>
            </a:r>
            <a:r>
              <a:rPr sz="3000" b="1" spc="5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whole</a:t>
            </a:r>
            <a:r>
              <a:rPr sz="3000" b="1" spc="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team</a:t>
            </a:r>
            <a:r>
              <a:rPr sz="3000" b="1" spc="5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have</a:t>
            </a:r>
            <a:r>
              <a:rPr sz="3000" b="1" spc="6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visibility</a:t>
            </a:r>
            <a:r>
              <a:rPr sz="3000" b="1" spc="6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everything</a:t>
            </a:r>
            <a:r>
              <a:rPr sz="3000" spc="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6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consequently </a:t>
            </a:r>
            <a:r>
              <a:rPr sz="3000" dirty="0">
                <a:latin typeface="Times New Roman"/>
                <a:cs typeface="Times New Roman"/>
              </a:rPr>
              <a:t>team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communication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-9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improved.</a:t>
            </a:r>
            <a:endParaRPr sz="3000">
              <a:latin typeface="Times New Roman"/>
              <a:cs typeface="Times New Roman"/>
            </a:endParaRPr>
          </a:p>
          <a:p>
            <a:pPr marL="697865" marR="5080" lvl="1" indent="-228600" algn="just">
              <a:lnSpc>
                <a:spcPts val="3240"/>
              </a:lnSpc>
              <a:spcBef>
                <a:spcPts val="490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b="1" dirty="0">
                <a:latin typeface="Times New Roman"/>
                <a:cs typeface="Times New Roman"/>
              </a:rPr>
              <a:t>Customers</a:t>
            </a:r>
            <a:r>
              <a:rPr sz="3000" b="1" spc="23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see</a:t>
            </a:r>
            <a:r>
              <a:rPr sz="3000" b="1" spc="240" dirty="0">
                <a:latin typeface="Times New Roman"/>
                <a:cs typeface="Times New Roman"/>
              </a:rPr>
              <a:t>  </a:t>
            </a:r>
            <a:r>
              <a:rPr sz="3000" b="1" spc="-20" dirty="0">
                <a:latin typeface="Times New Roman"/>
                <a:cs typeface="Times New Roman"/>
              </a:rPr>
              <a:t>on-</a:t>
            </a:r>
            <a:r>
              <a:rPr sz="3000" b="1" dirty="0">
                <a:latin typeface="Times New Roman"/>
                <a:cs typeface="Times New Roman"/>
              </a:rPr>
              <a:t>time</a:t>
            </a:r>
            <a:r>
              <a:rPr sz="3000" b="1" spc="245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delivery</a:t>
            </a:r>
            <a:r>
              <a:rPr sz="3000" b="1" spc="24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of</a:t>
            </a:r>
            <a:r>
              <a:rPr sz="3000" b="1" spc="24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increments</a:t>
            </a:r>
            <a:r>
              <a:rPr sz="3000" b="1" spc="240" dirty="0">
                <a:latin typeface="Times New Roman"/>
                <a:cs typeface="Times New Roman"/>
              </a:rPr>
              <a:t> 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240" dirty="0">
                <a:latin typeface="Times New Roman"/>
                <a:cs typeface="Times New Roman"/>
              </a:rPr>
              <a:t>  </a:t>
            </a:r>
            <a:r>
              <a:rPr sz="3000" spc="-20" dirty="0">
                <a:latin typeface="Times New Roman"/>
                <a:cs typeface="Times New Roman"/>
              </a:rPr>
              <a:t>gain </a:t>
            </a:r>
            <a:r>
              <a:rPr sz="3000" dirty="0">
                <a:latin typeface="Times New Roman"/>
                <a:cs typeface="Times New Roman"/>
              </a:rPr>
              <a:t>feedback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on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how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product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works.</a:t>
            </a:r>
            <a:endParaRPr sz="3000">
              <a:latin typeface="Times New Roman"/>
              <a:cs typeface="Times New Roman"/>
            </a:endParaRPr>
          </a:p>
          <a:p>
            <a:pPr marL="697865" marR="5080" lvl="1" indent="-228600" algn="just">
              <a:lnSpc>
                <a:spcPts val="3240"/>
              </a:lnSpc>
              <a:spcBef>
                <a:spcPts val="509"/>
              </a:spcBef>
              <a:buFont typeface="Arial MT"/>
              <a:buChar char="•"/>
              <a:tabLst>
                <a:tab pos="697865" algn="l"/>
              </a:tabLst>
            </a:pPr>
            <a:r>
              <a:rPr sz="3000" b="1" dirty="0">
                <a:latin typeface="Times New Roman"/>
                <a:cs typeface="Times New Roman"/>
              </a:rPr>
              <a:t>Trust</a:t>
            </a:r>
            <a:r>
              <a:rPr sz="3000" b="1" spc="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between</a:t>
            </a:r>
            <a:r>
              <a:rPr sz="3000" b="1" spc="11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customers</a:t>
            </a:r>
            <a:r>
              <a:rPr sz="3000" b="1" spc="10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and</a:t>
            </a:r>
            <a:r>
              <a:rPr sz="3000" b="1" spc="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developers</a:t>
            </a:r>
            <a:r>
              <a:rPr sz="3000" b="1" spc="95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10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established</a:t>
            </a:r>
            <a:r>
              <a:rPr sz="3000" b="1" spc="1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and</a:t>
            </a:r>
            <a:r>
              <a:rPr sz="3000" spc="90" dirty="0">
                <a:latin typeface="Times New Roman"/>
                <a:cs typeface="Times New Roman"/>
              </a:rPr>
              <a:t> </a:t>
            </a:r>
            <a:r>
              <a:rPr sz="3000" spc="-50" dirty="0">
                <a:latin typeface="Times New Roman"/>
                <a:cs typeface="Times New Roman"/>
              </a:rPr>
              <a:t>a </a:t>
            </a:r>
            <a:r>
              <a:rPr sz="3000" dirty="0">
                <a:latin typeface="Times New Roman"/>
                <a:cs typeface="Times New Roman"/>
              </a:rPr>
              <a:t>positive</a:t>
            </a:r>
            <a:r>
              <a:rPr sz="3000" spc="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culture</a:t>
            </a:r>
            <a:r>
              <a:rPr sz="3000" spc="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created</a:t>
            </a:r>
            <a:r>
              <a:rPr sz="3000" spc="8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in</a:t>
            </a:r>
            <a:r>
              <a:rPr sz="3000" spc="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which</a:t>
            </a:r>
            <a:r>
              <a:rPr sz="3000" spc="7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everyone</a:t>
            </a:r>
            <a:r>
              <a:rPr sz="3000" spc="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expects</a:t>
            </a:r>
            <a:r>
              <a:rPr sz="3000" spc="7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7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project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3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succeed.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7878" y="328625"/>
            <a:ext cx="24364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25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9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SCRUM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524000"/>
            <a:ext cx="9144000" cy="4876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914" y="475615"/>
            <a:ext cx="11379200" cy="547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7750">
              <a:lnSpc>
                <a:spcPct val="100000"/>
              </a:lnSpc>
              <a:spcBef>
                <a:spcPts val="100"/>
              </a:spcBef>
              <a:tabLst>
                <a:tab pos="155194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9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SCRUM’S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BENEFITS/</a:t>
            </a:r>
            <a:r>
              <a:rPr sz="36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CHAR</a:t>
            </a:r>
            <a:r>
              <a:rPr sz="3600" b="1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CTER</a:t>
            </a:r>
            <a:r>
              <a:rPr sz="36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36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STICS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36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Font typeface="Arial MT"/>
              <a:buChar char="•"/>
              <a:tabLst>
                <a:tab pos="240665" algn="l"/>
              </a:tabLst>
            </a:pPr>
            <a:r>
              <a:rPr sz="2200" b="1" dirty="0">
                <a:latin typeface="Times New Roman"/>
                <a:cs typeface="Times New Roman"/>
              </a:rPr>
              <a:t>Rising</a:t>
            </a:r>
            <a:r>
              <a:rPr sz="2200" b="1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and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Janoff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(2000)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discuss</a:t>
            </a:r>
            <a:r>
              <a:rPr sz="2200" b="1" spc="-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its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advantages</a:t>
            </a:r>
            <a:r>
              <a:rPr sz="2200" b="1" spc="-3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as</a:t>
            </a:r>
            <a:r>
              <a:rPr sz="2200" b="1" spc="-4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follows</a:t>
            </a:r>
            <a:endParaRPr sz="22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broken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down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manageable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understandable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chunks.</a:t>
            </a:r>
            <a:endParaRPr sz="20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whole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team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have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visibility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everything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consequently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team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communication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improved.</a:t>
            </a:r>
            <a:endParaRPr sz="20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b="1" dirty="0">
                <a:latin typeface="Times New Roman"/>
                <a:cs typeface="Times New Roman"/>
              </a:rPr>
              <a:t>Customers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see on-time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delivery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increments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feedback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product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works.</a:t>
            </a:r>
            <a:endParaRPr sz="2000">
              <a:latin typeface="Times New Roman"/>
              <a:cs typeface="Times New Roman"/>
            </a:endParaRPr>
          </a:p>
          <a:p>
            <a:pPr marL="641985" marR="5080" lvl="1" indent="-22860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b="1" dirty="0">
                <a:latin typeface="Times New Roman"/>
                <a:cs typeface="Times New Roman"/>
              </a:rPr>
              <a:t>Trust</a:t>
            </a:r>
            <a:r>
              <a:rPr sz="2000" b="1" spc="3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between</a:t>
            </a:r>
            <a:r>
              <a:rPr sz="2000" b="1" spc="3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customers</a:t>
            </a:r>
            <a:r>
              <a:rPr sz="2000" b="1" spc="3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3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developers</a:t>
            </a:r>
            <a:r>
              <a:rPr sz="2000" b="1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established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positive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culture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which </a:t>
            </a:r>
            <a:r>
              <a:rPr sz="2000" dirty="0">
                <a:latin typeface="Times New Roman"/>
                <a:cs typeface="Times New Roman"/>
              </a:rPr>
              <a:t>everyone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expects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succeed.</a:t>
            </a:r>
            <a:endParaRPr sz="20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enables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project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proceed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systematically</a:t>
            </a:r>
            <a:endParaRPr sz="20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b="1" dirty="0">
                <a:latin typeface="Times New Roman"/>
                <a:cs typeface="Times New Roman"/>
              </a:rPr>
              <a:t>Constant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testing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 </a:t>
            </a:r>
            <a:r>
              <a:rPr sz="2000" b="1" spc="-10" dirty="0">
                <a:latin typeface="Times New Roman"/>
                <a:cs typeface="Times New Roman"/>
              </a:rPr>
              <a:t>documentation</a:t>
            </a:r>
            <a:endParaRPr sz="20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deliverable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product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always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ready</a:t>
            </a:r>
            <a:endParaRPr sz="20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b="1" dirty="0">
                <a:latin typeface="Times New Roman"/>
                <a:cs typeface="Times New Roman"/>
              </a:rPr>
              <a:t>Frequent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demonstrations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early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feedback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stakeholders</a:t>
            </a:r>
            <a:endParaRPr sz="20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b="1" spc="-30" dirty="0">
                <a:latin typeface="Times New Roman"/>
                <a:cs typeface="Times New Roman"/>
              </a:rPr>
              <a:t>Team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spirit</a:t>
            </a:r>
            <a:endParaRPr sz="20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b="1" dirty="0">
                <a:latin typeface="Times New Roman"/>
                <a:cs typeface="Times New Roman"/>
              </a:rPr>
              <a:t>Sense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off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accomplishment</a:t>
            </a:r>
            <a:endParaRPr sz="2000">
              <a:latin typeface="Times New Roman"/>
              <a:cs typeface="Times New Roman"/>
            </a:endParaRPr>
          </a:p>
          <a:p>
            <a:pPr marL="641985" lvl="1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41985" algn="l"/>
              </a:tabLst>
            </a:pPr>
            <a:r>
              <a:rPr sz="2000" b="1" dirty="0">
                <a:latin typeface="Times New Roman"/>
                <a:cs typeface="Times New Roman"/>
              </a:rPr>
              <a:t>Quality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off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product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0173" y="265303"/>
            <a:ext cx="9745345" cy="5866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0">
              <a:lnSpc>
                <a:spcPct val="100000"/>
              </a:lnSpc>
              <a:spcBef>
                <a:spcPts val="100"/>
              </a:spcBef>
              <a:tabLst>
                <a:tab pos="1697355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8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WHY</a:t>
            </a:r>
            <a:r>
              <a:rPr sz="3600" b="1" u="sng" spc="-1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SCRUM?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Advantages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Productivity</a:t>
            </a:r>
            <a:r>
              <a:rPr sz="3000" spc="-13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increases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Continuous</a:t>
            </a:r>
            <a:r>
              <a:rPr sz="3000" spc="-6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improvement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Leverages</a:t>
            </a:r>
            <a:r>
              <a:rPr sz="3000" spc="-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-8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chaos</a:t>
            </a: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  <a:buFont typeface="Arial MT"/>
              <a:buChar char="•"/>
            </a:pP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Disadvantages</a:t>
            </a:r>
            <a:endParaRPr sz="30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240"/>
              </a:lnSpc>
              <a:spcBef>
                <a:spcPts val="540"/>
              </a:spcBef>
              <a:buFont typeface="Arial MT"/>
              <a:buChar char="•"/>
              <a:tabLst>
                <a:tab pos="241300" algn="l"/>
                <a:tab pos="1396365" algn="l"/>
                <a:tab pos="2787650" algn="l"/>
                <a:tab pos="4222115" algn="l"/>
                <a:tab pos="6080125" algn="l"/>
                <a:tab pos="6918325" algn="l"/>
                <a:tab pos="9182100" algn="l"/>
              </a:tabLst>
            </a:pPr>
            <a:r>
              <a:rPr sz="3000" spc="-10" dirty="0">
                <a:latin typeface="Times New Roman"/>
                <a:cs typeface="Times New Roman"/>
              </a:rPr>
              <a:t>Scrum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requires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constant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monitoring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0" dirty="0">
                <a:latin typeface="Times New Roman"/>
                <a:cs typeface="Times New Roman"/>
              </a:rPr>
              <a:t>both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10" dirty="0">
                <a:latin typeface="Times New Roman"/>
                <a:cs typeface="Times New Roman"/>
              </a:rPr>
              <a:t>quantitatively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3000" spc="-25" dirty="0">
                <a:latin typeface="Times New Roman"/>
                <a:cs typeface="Times New Roman"/>
              </a:rPr>
              <a:t>and </a:t>
            </a:r>
            <a:r>
              <a:rPr sz="3000" spc="-10" dirty="0">
                <a:latin typeface="Times New Roman"/>
                <a:cs typeface="Times New Roman"/>
              </a:rPr>
              <a:t>qualitatively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People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are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resistant</a:t>
            </a:r>
            <a:r>
              <a:rPr sz="3000" spc="-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-5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change</a:t>
            </a:r>
            <a:endParaRPr sz="30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spc="-10" dirty="0">
                <a:latin typeface="Times New Roman"/>
                <a:cs typeface="Times New Roman"/>
              </a:rPr>
              <a:t>Costly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0245" y="482041"/>
            <a:ext cx="9668510" cy="3364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8955">
              <a:lnSpc>
                <a:spcPct val="100000"/>
              </a:lnSpc>
              <a:spcBef>
                <a:spcPts val="100"/>
              </a:spcBef>
              <a:tabLst>
                <a:tab pos="2302510" algn="l"/>
              </a:tabLst>
            </a:pPr>
            <a:r>
              <a:rPr sz="2450" spc="200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9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CONCLUSION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36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Times New Roman"/>
                <a:cs typeface="Times New Roman"/>
              </a:rPr>
              <a:t>Scrum</a:t>
            </a:r>
            <a:r>
              <a:rPr sz="3000" spc="48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is</a:t>
            </a:r>
            <a:r>
              <a:rPr sz="3000" spc="50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many</a:t>
            </a:r>
            <a:r>
              <a:rPr sz="3000" spc="48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things.</a:t>
            </a:r>
            <a:r>
              <a:rPr sz="3000" spc="490" dirty="0">
                <a:latin typeface="Times New Roman"/>
                <a:cs typeface="Times New Roman"/>
              </a:rPr>
              <a:t>  </a:t>
            </a:r>
            <a:r>
              <a:rPr sz="3000" b="1" dirty="0">
                <a:latin typeface="Times New Roman"/>
                <a:cs typeface="Times New Roman"/>
              </a:rPr>
              <a:t>Scrum</a:t>
            </a:r>
            <a:r>
              <a:rPr sz="3000" b="1" spc="4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is</a:t>
            </a:r>
            <a:r>
              <a:rPr sz="3000" b="1" spc="49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a</a:t>
            </a:r>
            <a:r>
              <a:rPr sz="3000" b="1" spc="480" dirty="0">
                <a:latin typeface="Times New Roman"/>
                <a:cs typeface="Times New Roman"/>
              </a:rPr>
              <a:t> </a:t>
            </a:r>
            <a:r>
              <a:rPr sz="3000" b="1" dirty="0">
                <a:latin typeface="Times New Roman"/>
                <a:cs typeface="Times New Roman"/>
              </a:rPr>
              <a:t>management</a:t>
            </a:r>
            <a:r>
              <a:rPr sz="3000" b="1" spc="484" dirty="0">
                <a:latin typeface="Times New Roman"/>
                <a:cs typeface="Times New Roman"/>
              </a:rPr>
              <a:t> </a:t>
            </a:r>
            <a:r>
              <a:rPr sz="3000" b="1" spc="-10" dirty="0">
                <a:latin typeface="Times New Roman"/>
                <a:cs typeface="Times New Roman"/>
              </a:rPr>
              <a:t>process </a:t>
            </a:r>
            <a:r>
              <a:rPr sz="3000" dirty="0">
                <a:latin typeface="Times New Roman"/>
                <a:cs typeface="Times New Roman"/>
              </a:rPr>
              <a:t>Scrum</a:t>
            </a:r>
            <a:r>
              <a:rPr sz="3000" spc="114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accepts</a:t>
            </a:r>
            <a:r>
              <a:rPr sz="3000" spc="13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the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empirical</a:t>
            </a:r>
            <a:r>
              <a:rPr sz="3000" spc="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nature</a:t>
            </a:r>
            <a:r>
              <a:rPr sz="3000" spc="1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of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software</a:t>
            </a:r>
            <a:r>
              <a:rPr sz="3000" spc="140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development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53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</a:t>
            </a:r>
            <a:r>
              <a:rPr sz="3000" spc="5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given,</a:t>
            </a:r>
            <a:r>
              <a:rPr sz="3000" spc="5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working</a:t>
            </a:r>
            <a:r>
              <a:rPr sz="3000" spc="5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within</a:t>
            </a:r>
            <a:r>
              <a:rPr sz="3000" spc="55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those</a:t>
            </a:r>
            <a:r>
              <a:rPr sz="3000" spc="5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constraints</a:t>
            </a:r>
            <a:r>
              <a:rPr sz="3000" spc="55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to</a:t>
            </a:r>
            <a:r>
              <a:rPr sz="3000" spc="54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enable</a:t>
            </a:r>
            <a:r>
              <a:rPr sz="3000" spc="555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Times New Roman"/>
                <a:cs typeface="Times New Roman"/>
              </a:rPr>
              <a:t>the </a:t>
            </a:r>
            <a:r>
              <a:rPr sz="3000" dirty="0">
                <a:latin typeface="Times New Roman"/>
                <a:cs typeface="Times New Roman"/>
              </a:rPr>
              <a:t>team to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deliver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 much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business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value</a:t>
            </a:r>
            <a:r>
              <a:rPr sz="3000" spc="-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10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possible</a:t>
            </a:r>
            <a:r>
              <a:rPr sz="3000" spc="-1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10" dirty="0">
                <a:latin typeface="Times New Roman"/>
                <a:cs typeface="Times New Roman"/>
              </a:rPr>
              <a:t> quickly </a:t>
            </a:r>
            <a:r>
              <a:rPr sz="3000" dirty="0">
                <a:latin typeface="Times New Roman"/>
                <a:cs typeface="Times New Roman"/>
              </a:rPr>
              <a:t>as</a:t>
            </a:r>
            <a:r>
              <a:rPr sz="3000" spc="-25" dirty="0">
                <a:latin typeface="Times New Roman"/>
                <a:cs typeface="Times New Roman"/>
              </a:rPr>
              <a:t> </a:t>
            </a:r>
            <a:r>
              <a:rPr sz="3000" spc="-10" dirty="0">
                <a:latin typeface="Times New Roman"/>
                <a:cs typeface="Times New Roman"/>
              </a:rPr>
              <a:t>possible..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975" y="366776"/>
            <a:ext cx="6677659" cy="4910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7300">
              <a:lnSpc>
                <a:spcPct val="100000"/>
              </a:lnSpc>
              <a:spcBef>
                <a:spcPts val="100"/>
              </a:spcBef>
              <a:tabLst>
                <a:tab pos="4301490" algn="l"/>
              </a:tabLst>
            </a:pPr>
            <a:r>
              <a:rPr sz="2450" spc="1955" dirty="0">
                <a:latin typeface="Microsoft Sans Serif"/>
                <a:cs typeface="Microsoft Sans Serif"/>
              </a:rPr>
              <a:t>🞂</a:t>
            </a:r>
            <a:r>
              <a:rPr sz="2450" dirty="0">
                <a:latin typeface="Microsoft Sans Serif"/>
                <a:cs typeface="Microsoft Sans Serif"/>
              </a:rPr>
              <a:t>​	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Conclusions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3600">
              <a:latin typeface="Times New Roman"/>
              <a:cs typeface="Times New Roman"/>
            </a:endParaRPr>
          </a:p>
          <a:p>
            <a:pPr marL="240029" indent="-227329">
              <a:lnSpc>
                <a:spcPts val="2845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Different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life-cycle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models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0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strengths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4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own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weaknesses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840"/>
              </a:lnSpc>
              <a:spcBef>
                <a:spcPts val="4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Criteria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for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deciding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on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model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include: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0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organization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1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Its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management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05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Skills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employees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4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nature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product</a:t>
            </a:r>
            <a:endParaRPr sz="2400">
              <a:latin typeface="Times New Roman"/>
              <a:cs typeface="Times New Roman"/>
            </a:endParaRPr>
          </a:p>
          <a:p>
            <a:pPr marL="240029" indent="-227329">
              <a:lnSpc>
                <a:spcPts val="2840"/>
              </a:lnSpc>
              <a:spcBef>
                <a:spcPts val="434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Best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suggestion</a:t>
            </a:r>
            <a:endParaRPr sz="2400">
              <a:latin typeface="Times New Roman"/>
              <a:cs typeface="Times New Roman"/>
            </a:endParaRPr>
          </a:p>
          <a:p>
            <a:pPr marL="697230" lvl="1" indent="-227329">
              <a:lnSpc>
                <a:spcPts val="2840"/>
              </a:lnSpc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Times New Roman"/>
                <a:cs typeface="Times New Roman"/>
              </a:rPr>
              <a:t>“Mix-</a:t>
            </a:r>
            <a:r>
              <a:rPr sz="2400" spc="-10" dirty="0">
                <a:latin typeface="Times New Roman"/>
                <a:cs typeface="Times New Roman"/>
              </a:rPr>
              <a:t>and-</a:t>
            </a:r>
            <a:r>
              <a:rPr sz="2400" dirty="0">
                <a:latin typeface="Times New Roman"/>
                <a:cs typeface="Times New Roman"/>
              </a:rPr>
              <a:t>match”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life-</a:t>
            </a:r>
            <a:r>
              <a:rPr sz="2400" dirty="0">
                <a:latin typeface="Times New Roman"/>
                <a:cs typeface="Times New Roman"/>
              </a:rPr>
              <a:t>cycle</a:t>
            </a:r>
            <a:r>
              <a:rPr sz="2400" spc="-10" dirty="0">
                <a:latin typeface="Times New Roman"/>
                <a:cs typeface="Times New Roman"/>
              </a:rPr>
              <a:t> model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63369" y="1746250"/>
            <a:ext cx="10086975" cy="4279900"/>
          </a:xfrm>
          <a:prstGeom prst="rect">
            <a:avLst/>
          </a:prstGeom>
          <a:ln w="4572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4000">
              <a:latin typeface="Times New Roman"/>
              <a:cs typeface="Times New Roman"/>
            </a:endParaRPr>
          </a:p>
          <a:p>
            <a:pPr marR="835660" algn="ctr">
              <a:lnSpc>
                <a:spcPct val="100000"/>
              </a:lnSpc>
              <a:spcBef>
                <a:spcPts val="5"/>
              </a:spcBef>
            </a:pPr>
            <a:r>
              <a:rPr sz="4000" dirty="0">
                <a:latin typeface="Times New Roman"/>
                <a:cs typeface="Times New Roman"/>
              </a:rPr>
              <a:t>THANK</a:t>
            </a:r>
            <a:r>
              <a:rPr sz="4000" spc="-15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YOU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57630" y="1540510"/>
            <a:ext cx="10498455" cy="4691380"/>
            <a:chOff x="1357630" y="1540510"/>
            <a:chExt cx="10498455" cy="46913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4960" y="1767840"/>
              <a:ext cx="10042271" cy="42355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57630" y="1540509"/>
              <a:ext cx="10498455" cy="4691380"/>
            </a:xfrm>
            <a:custGeom>
              <a:avLst/>
              <a:gdLst/>
              <a:ahLst/>
              <a:cxnLst/>
              <a:rect l="l" t="t" r="r" b="b"/>
              <a:pathLst>
                <a:path w="10498455" h="4691380">
                  <a:moveTo>
                    <a:pt x="10498201" y="0"/>
                  </a:moveTo>
                  <a:lnTo>
                    <a:pt x="10361041" y="0"/>
                  </a:lnTo>
                  <a:lnTo>
                    <a:pt x="10361041" y="137160"/>
                  </a:lnTo>
                  <a:lnTo>
                    <a:pt x="10361041" y="4554220"/>
                  </a:lnTo>
                  <a:lnTo>
                    <a:pt x="137160" y="4554220"/>
                  </a:lnTo>
                  <a:lnTo>
                    <a:pt x="137160" y="137160"/>
                  </a:lnTo>
                  <a:lnTo>
                    <a:pt x="10361041" y="137160"/>
                  </a:lnTo>
                  <a:lnTo>
                    <a:pt x="10361041" y="0"/>
                  </a:lnTo>
                  <a:lnTo>
                    <a:pt x="0" y="0"/>
                  </a:lnTo>
                  <a:lnTo>
                    <a:pt x="0" y="137160"/>
                  </a:lnTo>
                  <a:lnTo>
                    <a:pt x="0" y="4554220"/>
                  </a:lnTo>
                  <a:lnTo>
                    <a:pt x="0" y="4691380"/>
                  </a:lnTo>
                  <a:lnTo>
                    <a:pt x="10498201" y="4691380"/>
                  </a:lnTo>
                  <a:lnTo>
                    <a:pt x="10498201" y="4554283"/>
                  </a:lnTo>
                  <a:lnTo>
                    <a:pt x="10498201" y="137160"/>
                  </a:lnTo>
                  <a:lnTo>
                    <a:pt x="10498201" y="137033"/>
                  </a:lnTo>
                  <a:lnTo>
                    <a:pt x="10498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4335" y="1993900"/>
            <a:ext cx="10047605" cy="3950970"/>
          </a:xfrm>
          <a:prstGeom prst="rect">
            <a:avLst/>
          </a:prstGeom>
          <a:ln w="45720">
            <a:solidFill>
              <a:srgbClr val="000000"/>
            </a:solidFill>
          </a:ln>
        </p:spPr>
        <p:txBody>
          <a:bodyPr vert="horz" wrap="square" lIns="0" tIns="384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25"/>
              </a:spcBef>
            </a:pPr>
            <a:endParaRPr sz="4000">
              <a:latin typeface="Times New Roman"/>
              <a:cs typeface="Times New Roman"/>
            </a:endParaRPr>
          </a:p>
          <a:p>
            <a:pPr marR="98425" algn="ctr">
              <a:lnSpc>
                <a:spcPct val="100000"/>
              </a:lnSpc>
              <a:spcBef>
                <a:spcPts val="5"/>
              </a:spcBef>
            </a:pPr>
            <a:r>
              <a:rPr sz="4000" dirty="0">
                <a:latin typeface="Times New Roman"/>
                <a:cs typeface="Times New Roman"/>
              </a:rPr>
              <a:t>THANK</a:t>
            </a:r>
            <a:r>
              <a:rPr sz="4000" spc="-155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YOU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08595" y="1788160"/>
            <a:ext cx="10459085" cy="4362450"/>
            <a:chOff x="1008595" y="1788160"/>
            <a:chExt cx="10459085" cy="4362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5963" y="2014728"/>
              <a:ext cx="10002481" cy="390678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8595" y="1788159"/>
              <a:ext cx="10459085" cy="4362450"/>
            </a:xfrm>
            <a:custGeom>
              <a:avLst/>
              <a:gdLst/>
              <a:ahLst/>
              <a:cxnLst/>
              <a:rect l="l" t="t" r="r" b="b"/>
              <a:pathLst>
                <a:path w="10459085" h="4362450">
                  <a:moveTo>
                    <a:pt x="10458488" y="137287"/>
                  </a:moveTo>
                  <a:lnTo>
                    <a:pt x="10321328" y="137287"/>
                  </a:lnTo>
                  <a:lnTo>
                    <a:pt x="10321328" y="4224794"/>
                  </a:lnTo>
                  <a:lnTo>
                    <a:pt x="10458488" y="4224794"/>
                  </a:lnTo>
                  <a:lnTo>
                    <a:pt x="10458488" y="137287"/>
                  </a:lnTo>
                  <a:close/>
                </a:path>
                <a:path w="10459085" h="4362450">
                  <a:moveTo>
                    <a:pt x="10458488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0" y="4225290"/>
                  </a:lnTo>
                  <a:lnTo>
                    <a:pt x="0" y="4362450"/>
                  </a:lnTo>
                  <a:lnTo>
                    <a:pt x="10458488" y="4362450"/>
                  </a:lnTo>
                  <a:lnTo>
                    <a:pt x="10458488" y="4225290"/>
                  </a:lnTo>
                  <a:lnTo>
                    <a:pt x="137160" y="4225290"/>
                  </a:lnTo>
                  <a:lnTo>
                    <a:pt x="137160" y="137160"/>
                  </a:lnTo>
                  <a:lnTo>
                    <a:pt x="10458488" y="137160"/>
                  </a:lnTo>
                  <a:lnTo>
                    <a:pt x="104584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10" dirty="0"/>
              <a:t>Software</a:t>
            </a:r>
            <a:r>
              <a:rPr spc="60" dirty="0"/>
              <a:t> </a:t>
            </a:r>
            <a:r>
              <a:rPr dirty="0"/>
              <a:t>Engineering</a:t>
            </a:r>
            <a:r>
              <a:rPr spc="40" dirty="0"/>
              <a:t> </a:t>
            </a:r>
            <a:r>
              <a:rPr spc="-10" dirty="0"/>
              <a:t>Concepts-CSC291-</a:t>
            </a:r>
            <a:r>
              <a:rPr spc="-25" dirty="0"/>
              <a:t>FALL-</a:t>
            </a:r>
            <a:r>
              <a:rPr spc="-20" dirty="0"/>
              <a:t>2024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9150">
              <a:lnSpc>
                <a:spcPts val="1240"/>
              </a:lnSpc>
            </a:pPr>
            <a:r>
              <a:rPr spc="-35" dirty="0"/>
              <a:t>Dr.</a:t>
            </a:r>
            <a:r>
              <a:rPr spc="-30" dirty="0"/>
              <a:t> </a:t>
            </a:r>
            <a:r>
              <a:rPr spc="-20" dirty="0"/>
              <a:t>Tehseen</a:t>
            </a:r>
            <a:r>
              <a:rPr spc="-15" dirty="0"/>
              <a:t> </a:t>
            </a:r>
            <a:r>
              <a:rPr dirty="0"/>
              <a:t>Riaz</a:t>
            </a:r>
            <a:r>
              <a:rPr spc="-15" dirty="0"/>
              <a:t> </a:t>
            </a:r>
            <a:r>
              <a:rPr spc="-10" dirty="0"/>
              <a:t>Abbasi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3828</Words>
  <Application>Microsoft Office PowerPoint</Application>
  <PresentationFormat>Widescreen</PresentationFormat>
  <Paragraphs>480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Arial MT</vt:lpstr>
      <vt:lpstr>Calibri</vt:lpstr>
      <vt:lpstr>Microsoft Sans Serif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TehseenRiazAbbasi</dc:creator>
  <cp:lastModifiedBy>Admin</cp:lastModifiedBy>
  <cp:revision>4</cp:revision>
  <dcterms:created xsi:type="dcterms:W3CDTF">2025-02-25T07:38:37Z</dcterms:created>
  <dcterms:modified xsi:type="dcterms:W3CDTF">2025-02-25T07:53:54Z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2024-09-19T00:00:00Z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2025-02-25T00:00:00Z</vt:filetime>
  </property>
  <property fmtid="{D5CDD505-2E9C-101B-9397-08002B2CF9AE}" pid="5" name="Producer">
    <vt:lpwstr>Microsoft® PowerPoint® LTSC</vt:lpwstr>
  </property>
</Properties>
</file>