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65" r:id="rId1"/>
  </p:sldMasterIdLst>
  <p:notesMasterIdLst>
    <p:notesMasterId r:id="rId32"/>
  </p:notesMasterIdLst>
  <p:handoutMasterIdLst>
    <p:handoutMasterId r:id="rId33"/>
  </p:handout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71" r:id="rId12"/>
    <p:sldId id="272" r:id="rId13"/>
    <p:sldId id="273" r:id="rId14"/>
    <p:sldId id="274" r:id="rId15"/>
    <p:sldId id="275" r:id="rId16"/>
    <p:sldId id="280" r:id="rId17"/>
    <p:sldId id="281" r:id="rId18"/>
    <p:sldId id="282" r:id="rId19"/>
    <p:sldId id="283" r:id="rId20"/>
    <p:sldId id="284" r:id="rId21"/>
    <p:sldId id="285" r:id="rId22"/>
    <p:sldId id="276" r:id="rId23"/>
    <p:sldId id="286" r:id="rId24"/>
    <p:sldId id="277" r:id="rId25"/>
    <p:sldId id="278" r:id="rId26"/>
    <p:sldId id="279" r:id="rId27"/>
    <p:sldId id="287" r:id="rId28"/>
    <p:sldId id="289" r:id="rId29"/>
    <p:sldId id="290" r:id="rId30"/>
    <p:sldId id="288" r:id="rId3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9ED6"/>
    <a:srgbClr val="003300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96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993" autoAdjust="0"/>
    <p:restoredTop sz="83977" autoAdjust="0"/>
  </p:normalViewPr>
  <p:slideViewPr>
    <p:cSldViewPr>
      <p:cViewPr varScale="1">
        <p:scale>
          <a:sx n="78" d="100"/>
          <a:sy n="78" d="100"/>
        </p:scale>
        <p:origin x="1440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54" d="100"/>
        <a:sy n="154" d="100"/>
      </p:scale>
      <p:origin x="0" y="0"/>
    </p:cViewPr>
  </p:sorterViewPr>
  <p:notesViewPr>
    <p:cSldViewPr>
      <p:cViewPr varScale="1">
        <p:scale>
          <a:sx n="83" d="100"/>
          <a:sy n="83" d="100"/>
        </p:scale>
        <p:origin x="-3144" y="-9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3FDC75-7F73-4A4A-A77C-09AADF00E0EA}" type="datetimeFigureOut">
              <a:rPr lang="en-US" smtClean="0"/>
              <a:pPr/>
              <a:t>4/24/2025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9226BF-1F13-42D3-80DC-373E7ADD1EB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986616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AEF76B-3757-4A0B-AF93-28494465C1DD}" type="datetimeFigureOut">
              <a:rPr lang="en-US" smtClean="0"/>
              <a:pPr/>
              <a:t>4/24/2025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693FD4-8F83-4EF7-AC3F-0DC0388986B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32469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520C8-A230-4EED-A793-6589119F1109}" type="datetime1">
              <a:rPr lang="en-US" smtClean="0"/>
              <a:t>4/24/2025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Chapter 4 Requirements engineering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6E5A2-EC83-451F-A719-9AC1370DD5C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9163174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DAFAB-7B82-4E5C-89C1-C2934395B6B2}" type="datetime1">
              <a:rPr lang="en-US" smtClean="0"/>
              <a:t>4/24/2025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Chapter 4 Requirements engineering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6E5A2-EC83-451F-A719-9AC1370DD5C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5328287"/>
      </p:ext>
    </p:extLst>
  </p:cSld>
  <p:clrMapOvr>
    <a:masterClrMapping/>
  </p:clrMapOvr>
  <p:transition spd="slow">
    <p:wipe dir="d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520C8-A230-4EED-A793-6589119F1109}" type="datetime1">
              <a:rPr lang="en-US" smtClean="0"/>
              <a:t>4/24/2025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Chapter 4 Requirements engineering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6E5A2-EC83-451F-A719-9AC1370DD5C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9214387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DF210-AE26-42AB-8C10-F130EB9E2BC1}" type="datetime1">
              <a:rPr lang="en-US" smtClean="0"/>
              <a:t>4/24/2025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Chapter 4 Requirements engineering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6E5A2-EC83-451F-A719-9AC1370DD5C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1994859"/>
      </p:ext>
    </p:extLst>
  </p:cSld>
  <p:clrMapOvr>
    <a:masterClrMapping/>
  </p:clrMapOvr>
  <p:transition spd="slow">
    <p:wipe dir="d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A2F49-E294-40E1-8887-34D3A77CBFFB}" type="datetime1">
              <a:rPr lang="en-US" smtClean="0"/>
              <a:t>4/24/2025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Chapter 4 Requirements engineering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6E5A2-EC83-451F-A719-9AC1370DD5C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6155541"/>
      </p:ext>
    </p:extLst>
  </p:cSld>
  <p:clrMapOvr>
    <a:masterClrMapping/>
  </p:clrMapOvr>
  <p:transition spd="slow">
    <p:wipe dir="d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4FA3E-4EC9-41D9-9F46-32F70713E376}" type="datetime1">
              <a:rPr lang="en-US" smtClean="0"/>
              <a:t>4/24/2025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Chapter 4 Requirements engineering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6E5A2-EC83-451F-A719-9AC1370DD5C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8786694"/>
      </p:ext>
    </p:extLst>
  </p:cSld>
  <p:clrMapOvr>
    <a:masterClrMapping/>
  </p:clrMapOvr>
  <p:transition spd="slow">
    <p:wipe dir="d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0B60D-D476-42A0-9F8D-62F572310F22}" type="datetime1">
              <a:rPr lang="en-US" smtClean="0"/>
              <a:t>4/24/2025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Chapter 4 Requirements engineering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6E5A2-EC83-451F-A719-9AC1370DD5C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8598148"/>
      </p:ext>
    </p:extLst>
  </p:cSld>
  <p:clrMapOvr>
    <a:masterClrMapping/>
  </p:clrMapOvr>
  <p:transition spd="slow">
    <p:wipe dir="d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A49DF-520C-43B6-ADBF-AD6461A835B8}" type="datetime1">
              <a:rPr lang="en-US" smtClean="0"/>
              <a:t>4/24/2025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Chapter 4 Requirements engineering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6E5A2-EC83-451F-A719-9AC1370DD5C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3874794"/>
      </p:ext>
    </p:extLst>
  </p:cSld>
  <p:clrMapOvr>
    <a:masterClrMapping/>
  </p:clrMapOvr>
  <p:transition spd="slow">
    <p:wipe dir="d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5ACA7-B422-4010-97FD-205412E8514F}" type="datetime1">
              <a:rPr lang="en-US" smtClean="0"/>
              <a:t>4/24/2025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Chapter 4 Requirements engineering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6E5A2-EC83-451F-A719-9AC1370DD5C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1087602"/>
      </p:ext>
    </p:extLst>
  </p:cSld>
  <p:clrMapOvr>
    <a:masterClrMapping/>
  </p:clrMapOvr>
  <p:transition spd="slow">
    <p:wipe dir="d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4A81E9-506D-49B0-8DDC-FED7D4E6546A}" type="datetime1">
              <a:rPr lang="en-US" smtClean="0"/>
              <a:t>4/24/2025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Chapter 4 Requirements engineering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6E5A2-EC83-451F-A719-9AC1370DD5C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613773"/>
      </p:ext>
    </p:extLst>
  </p:cSld>
  <p:clrMapOvr>
    <a:masterClrMapping/>
  </p:clrMapOvr>
  <p:transition spd="slow">
    <p:wipe dir="d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EEDFE-6C2D-4EC7-B378-4771BF04C1A9}" type="datetime1">
              <a:rPr lang="en-US" smtClean="0"/>
              <a:t>4/24/2025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Chapter 4 Requirements engineering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6E5A2-EC83-451F-A719-9AC1370DD5C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9022465"/>
      </p:ext>
    </p:extLst>
  </p:cSld>
  <p:clrMapOvr>
    <a:masterClrMapping/>
  </p:clrMapOvr>
  <p:transition spd="slow">
    <p:wipe dir="d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3543" y="0"/>
            <a:ext cx="9100457" cy="687977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3161049" y="-3176815"/>
            <a:ext cx="2819400" cy="917303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0" y="3048000"/>
            <a:ext cx="4343400" cy="1362075"/>
          </a:xfrm>
        </p:spPr>
        <p:txBody>
          <a:bodyPr anchor="b" anchorCtr="0"/>
          <a:lstStyle>
            <a:lvl1pPr algn="l">
              <a:defRPr sz="4000" b="1" cap="small" baseline="0">
                <a:solidFill>
                  <a:srgbClr val="00330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4531A-DEA4-4CEB-980C-5E8E8A5D13EF}" type="datetime1">
              <a:rPr lang="en-US" smtClean="0"/>
              <a:t>4/24/2025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Chapter 4 Requirements engineering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6E5A2-EC83-451F-A719-9AC1370DD5C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 hasCustomPrompt="1"/>
          </p:nvPr>
        </p:nvSpPr>
        <p:spPr>
          <a:xfrm>
            <a:off x="6781800" y="5334000"/>
            <a:ext cx="2133600" cy="9906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 dirty="0"/>
              <a:t>Company Logo</a:t>
            </a:r>
          </a:p>
        </p:txBody>
      </p:sp>
    </p:spTree>
    <p:extLst>
      <p:ext uri="{BB962C8B-B14F-4D97-AF65-F5344CB8AC3E}">
        <p14:creationId xmlns:p14="http://schemas.microsoft.com/office/powerpoint/2010/main" val="4120851785"/>
      </p:ext>
    </p:extLst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3543" y="0"/>
            <a:ext cx="9100457" cy="687977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3161049" y="-3176815"/>
            <a:ext cx="2819400" cy="917303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0" y="3048000"/>
            <a:ext cx="4343400" cy="1362075"/>
          </a:xfrm>
        </p:spPr>
        <p:txBody>
          <a:bodyPr anchor="b" anchorCtr="0"/>
          <a:lstStyle>
            <a:lvl1pPr algn="l">
              <a:defRPr sz="4000" b="1" cap="small" baseline="0">
                <a:solidFill>
                  <a:srgbClr val="00330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4531A-DEA4-4CEB-980C-5E8E8A5D13EF}" type="datetime1">
              <a:rPr lang="en-US" smtClean="0"/>
              <a:t>4/24/2025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Chapter 4 Requirements engineering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6E5A2-EC83-451F-A719-9AC1370DD5C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 hasCustomPrompt="1"/>
          </p:nvPr>
        </p:nvSpPr>
        <p:spPr>
          <a:xfrm>
            <a:off x="6781800" y="5334000"/>
            <a:ext cx="2133600" cy="9906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 dirty="0"/>
              <a:t>Company Logo</a:t>
            </a:r>
          </a:p>
        </p:txBody>
      </p:sp>
    </p:spTree>
    <p:extLst>
      <p:ext uri="{BB962C8B-B14F-4D97-AF65-F5344CB8AC3E}">
        <p14:creationId xmlns:p14="http://schemas.microsoft.com/office/powerpoint/2010/main" val="3323158994"/>
      </p:ext>
    </p:extLst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3543" y="0"/>
            <a:ext cx="9100457" cy="687977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3161049" y="-3176815"/>
            <a:ext cx="2819400" cy="917303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0" y="3048000"/>
            <a:ext cx="4343400" cy="1362075"/>
          </a:xfrm>
        </p:spPr>
        <p:txBody>
          <a:bodyPr anchor="b" anchorCtr="0"/>
          <a:lstStyle>
            <a:lvl1pPr algn="l">
              <a:defRPr sz="4000" b="1" cap="small" baseline="0">
                <a:solidFill>
                  <a:srgbClr val="00330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4531A-DEA4-4CEB-980C-5E8E8A5D13EF}" type="datetime1">
              <a:rPr lang="en-US" smtClean="0"/>
              <a:t>4/24/2025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Chapter 4 Requirements engineering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6E5A2-EC83-451F-A719-9AC1370DD5C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 hasCustomPrompt="1"/>
          </p:nvPr>
        </p:nvSpPr>
        <p:spPr>
          <a:xfrm>
            <a:off x="6781800" y="5334000"/>
            <a:ext cx="2133600" cy="9906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 dirty="0"/>
              <a:t>Company Logo</a:t>
            </a:r>
          </a:p>
        </p:txBody>
      </p:sp>
    </p:spTree>
    <p:extLst>
      <p:ext uri="{BB962C8B-B14F-4D97-AF65-F5344CB8AC3E}">
        <p14:creationId xmlns:p14="http://schemas.microsoft.com/office/powerpoint/2010/main" val="3245290142"/>
      </p:ext>
    </p:extLst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3543" y="0"/>
            <a:ext cx="9100457" cy="687977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590800" y="2286000"/>
            <a:ext cx="6180224" cy="1470025"/>
          </a:xfrm>
        </p:spPr>
        <p:txBody>
          <a:bodyPr anchor="t"/>
          <a:lstStyle>
            <a:lvl1pPr algn="r">
              <a:defRPr b="1" cap="small" baseline="0">
                <a:solidFill>
                  <a:srgbClr val="00330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400" y="4038600"/>
            <a:ext cx="4772528" cy="990600"/>
          </a:xfrm>
        </p:spPr>
        <p:txBody>
          <a:bodyPr>
            <a:normAutofit/>
          </a:bodyPr>
          <a:lstStyle>
            <a:lvl1pPr marL="0" indent="0" algn="r">
              <a:buNone/>
              <a:defRPr sz="2000" b="0">
                <a:solidFill>
                  <a:schemeClr val="tx1"/>
                </a:solidFill>
                <a:latin typeface="Georgia" pitchFamily="18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251"/>
            <a:ext cx="3721618" cy="6858000"/>
          </a:xfrm>
          <a:prstGeom prst="rect">
            <a:avLst/>
          </a:prstGeom>
        </p:spPr>
      </p:pic>
      <p:sp>
        <p:nvSpPr>
          <p:cNvPr id="10" name="Picture Placeholder 9"/>
          <p:cNvSpPr>
            <a:spLocks noGrp="1"/>
          </p:cNvSpPr>
          <p:nvPr>
            <p:ph type="pic" sz="quarter" idx="13" hasCustomPrompt="1"/>
          </p:nvPr>
        </p:nvSpPr>
        <p:spPr>
          <a:xfrm>
            <a:off x="6858000" y="5105400"/>
            <a:ext cx="1828800" cy="990600"/>
          </a:xfrm>
        </p:spPr>
        <p:txBody>
          <a:bodyPr>
            <a:normAutofit/>
          </a:bodyPr>
          <a:lstStyle>
            <a:lvl1pPr marL="0" indent="0" algn="ctr">
              <a:buNone/>
              <a:defRPr sz="2000" baseline="0"/>
            </a:lvl1pPr>
          </a:lstStyle>
          <a:p>
            <a:r>
              <a:rPr lang="en-US" dirty="0"/>
              <a:t>Company Logo</a:t>
            </a:r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2000" y="269632"/>
            <a:ext cx="8077200" cy="1143000"/>
          </a:xfrm>
        </p:spPr>
        <p:txBody>
          <a:bodyPr anchor="ctr" anchorCtr="0"/>
          <a:lstStyle>
            <a:lvl1pPr algn="l">
              <a:defRPr lang="en-US" dirty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596413"/>
            <a:ext cx="8077200" cy="4297363"/>
          </a:xfrm>
        </p:spPr>
        <p:txBody>
          <a:bodyPr>
            <a:normAutofit/>
          </a:bodyPr>
          <a:lstStyle>
            <a:lvl1pPr>
              <a:defRPr sz="3200">
                <a:latin typeface="+mn-lt"/>
              </a:defRPr>
            </a:lvl1pPr>
            <a:lvl2pPr>
              <a:defRPr sz="2800">
                <a:latin typeface="+mn-lt"/>
              </a:defRPr>
            </a:lvl2pPr>
            <a:lvl3pPr>
              <a:defRPr sz="2400">
                <a:latin typeface="+mn-lt"/>
              </a:defRPr>
            </a:lvl3pPr>
            <a:lvl4pPr>
              <a:defRPr sz="2400">
                <a:latin typeface="+mn-lt"/>
              </a:defRPr>
            </a:lvl4pPr>
            <a:lvl5pPr>
              <a:defRPr sz="24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DAFAB-7B82-4E5C-89C1-C2934395B6B2}" type="datetime1">
              <a:rPr lang="en-US" smtClean="0"/>
              <a:t>4/24/2025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Chapter 4 Requirements engineering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705600" y="6356350"/>
            <a:ext cx="2133600" cy="365125"/>
          </a:xfrm>
        </p:spPr>
        <p:txBody>
          <a:bodyPr/>
          <a:lstStyle/>
          <a:p>
            <a:fld id="{33D6E5A2-EC83-451F-A719-9AC1370DD5CF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wipe dir="d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ackground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3543" y="0"/>
            <a:ext cx="9100457" cy="6879771"/>
          </a:xfrm>
          <a:prstGeom prst="rect">
            <a:avLst/>
          </a:prstGeom>
        </p:spPr>
      </p:pic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>
          <a:xfrm>
            <a:off x="762000" y="6356350"/>
            <a:ext cx="2133600" cy="365125"/>
          </a:xfrm>
        </p:spPr>
        <p:txBody>
          <a:bodyPr/>
          <a:lstStyle/>
          <a:p>
            <a:fld id="{16A4B540-8A2E-4FED-B663-54615CAB9BEF}" type="datetime1">
              <a:rPr lang="en-US" smtClean="0"/>
              <a:t>4/24/2025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352800" y="6356350"/>
            <a:ext cx="2895600" cy="365125"/>
          </a:xfrm>
        </p:spPr>
        <p:txBody>
          <a:bodyPr/>
          <a:lstStyle/>
          <a:p>
            <a:r>
              <a:rPr lang="en-US"/>
              <a:t>Chapter 4 Requirements engineering</a:t>
            </a: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705600" y="6356350"/>
            <a:ext cx="2133600" cy="365125"/>
          </a:xfrm>
        </p:spPr>
        <p:txBody>
          <a:bodyPr/>
          <a:lstStyle/>
          <a:p>
            <a:fld id="{33D6E5A2-EC83-451F-A719-9AC1370DD5CF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wipe dir="d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0520C8-A230-4EED-A793-6589119F1109}" type="datetime1">
              <a:rPr lang="en-US" smtClean="0"/>
              <a:t>4/24/2025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Chapter 4 Requirements engineering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D6E5A2-EC83-451F-A719-9AC1370DD5C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06593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  <p:sldLayoutId id="2147483677" r:id="rId12"/>
    <p:sldLayoutId id="2147483678" r:id="rId13"/>
    <p:sldLayoutId id="2147483679" r:id="rId14"/>
    <p:sldLayoutId id="2147483649" r:id="rId15"/>
    <p:sldLayoutId id="2147483650" r:id="rId16"/>
    <p:sldLayoutId id="2147483663" r:id="rId17"/>
  </p:sldLayoutIdLst>
  <p:transition spd="slow">
    <p:wipe dir="d"/>
  </p:transition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martdraw.com/data-flow-diagram/" TargetMode="External"/><Relationship Id="rId2" Type="http://schemas.openxmlformats.org/officeDocument/2006/relationships/hyperlink" Target="https://www.smartdraw.com/flowchart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smartdraw.com/use-case-diagram/" TargetMode="Externa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hyperlink" Target="https://www.smartdraw.com/sequence-diagram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venngage.com/blog/activity-diagram/" TargetMode="External"/><Relationship Id="rId2" Type="http://schemas.openxmlformats.org/officeDocument/2006/relationships/hyperlink" Target="https://www.uml-diagrams.org/document-management-uml-activity-diagram-example.html" TargetMode="Externa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www.visual-paradigm.com/guide/uml-unified-modeling-language/what-is-activity-diagram/" TargetMode="External"/><Relationship Id="rId4" Type="http://schemas.openxmlformats.org/officeDocument/2006/relationships/hyperlink" Target="https://www.geeksforgeeks.org/unified-modeling-language-uml-activity-diagrams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>
          <a:xfrm>
            <a:off x="5257800" y="3048000"/>
            <a:ext cx="3657600" cy="1362075"/>
          </a:xfrm>
        </p:spPr>
        <p:txBody>
          <a:bodyPr>
            <a:normAutofit fontScale="90000"/>
          </a:bodyPr>
          <a:lstStyle/>
          <a:p>
            <a:r>
              <a:rPr lang="en-US" sz="5400" dirty="0"/>
              <a:t>System Modeling</a:t>
            </a:r>
            <a:br>
              <a:rPr lang="en-US" sz="5400" dirty="0"/>
            </a:br>
            <a:r>
              <a:rPr lang="en-US" dirty="0"/>
              <a:t>Lecture 13-18</a:t>
            </a:r>
          </a:p>
        </p:txBody>
      </p:sp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092F65EE-0FE1-4C66-A4DB-A8E21FE2DBD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44346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E239C20-B386-48F5-A94B-81B4038967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Topics covered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308B0D0-BDE1-4196-8156-D0804DAB18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Context Models </a:t>
            </a:r>
          </a:p>
          <a:p>
            <a:r>
              <a:rPr lang="en-US" dirty="0"/>
              <a:t>Process Models </a:t>
            </a:r>
          </a:p>
          <a:p>
            <a:r>
              <a:rPr lang="en-US" dirty="0"/>
              <a:t>Interaction Models </a:t>
            </a:r>
          </a:p>
          <a:p>
            <a:r>
              <a:rPr lang="en-US" dirty="0"/>
              <a:t>Structural Models </a:t>
            </a:r>
          </a:p>
          <a:p>
            <a:r>
              <a:rPr lang="en-US" dirty="0"/>
              <a:t>Behavioral models </a:t>
            </a:r>
          </a:p>
          <a:p>
            <a:r>
              <a:rPr lang="en-US" dirty="0"/>
              <a:t>Data models </a:t>
            </a:r>
          </a:p>
        </p:txBody>
      </p:sp>
    </p:spTree>
    <p:extLst>
      <p:ext uri="{BB962C8B-B14F-4D97-AF65-F5344CB8AC3E}">
        <p14:creationId xmlns:p14="http://schemas.microsoft.com/office/powerpoint/2010/main" val="28785028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B2A87DA-6CA2-43D0-BB7C-41A28709AC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Systems, Models and System Modeling 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202446EC-8C69-4C5F-9B4D-9AD61432438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9973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ACBD7-4438-4E42-90A4-FA08389BEE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777873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3600" b="1" dirty="0"/>
              <a:t>System</a:t>
            </a:r>
            <a:endParaRPr lang="en-US" sz="44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BB3722-7AF6-463C-A122-9B1D45EBAE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596413"/>
            <a:ext cx="7924800" cy="4804387"/>
          </a:xfrm>
        </p:spPr>
        <p:txBody>
          <a:bodyPr>
            <a:normAutofit fontScale="92500" lnSpcReduction="10000"/>
          </a:bodyPr>
          <a:lstStyle/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en-US" sz="2800" dirty="0"/>
              <a:t>A system is an organized set of communicating parts</a:t>
            </a:r>
          </a:p>
          <a:p>
            <a:pPr lvl="1" algn="just">
              <a:lnSpc>
                <a:spcPct val="150000"/>
              </a:lnSpc>
              <a:spcBef>
                <a:spcPts val="0"/>
              </a:spcBef>
            </a:pPr>
            <a:r>
              <a:rPr lang="en-US" sz="2800" dirty="0"/>
              <a:t>A car, composed of four wheels, a chassis, a body, and an engine, is designed to transport people</a:t>
            </a:r>
          </a:p>
          <a:p>
            <a:pPr lvl="1" algn="just">
              <a:lnSpc>
                <a:spcPct val="150000"/>
              </a:lnSpc>
              <a:spcBef>
                <a:spcPts val="0"/>
              </a:spcBef>
            </a:pPr>
            <a:r>
              <a:rPr lang="en-US" sz="2800" dirty="0"/>
              <a:t>A payroll system, composed of a computer, printers, software, and the payroll staff, is designed to issue salary checks for employees of a company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en-US" sz="2800" dirty="0"/>
              <a:t>Parts of a system can in turn be considered as simpler systems called </a:t>
            </a:r>
            <a:r>
              <a:rPr lang="en-US" sz="2800" b="1" dirty="0">
                <a:solidFill>
                  <a:srgbClr val="0070C0"/>
                </a:solidFill>
              </a:rPr>
              <a:t>subsystems</a:t>
            </a:r>
            <a:r>
              <a:rPr lang="en-US" sz="2800" u="sng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175926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95BC1E-5E57-4CDE-BD5F-0A01C0DEE0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AD90AB-2305-4620-A2F2-A76E5C1647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596413"/>
            <a:ext cx="7924800" cy="4297363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A model is a simplification of reality </a:t>
            </a:r>
          </a:p>
          <a:p>
            <a:pPr algn="just"/>
            <a:r>
              <a:rPr lang="en-US" dirty="0"/>
              <a:t>Modeling means constructing an abstraction of a system that focuses on interesting aspects and ignores irrelevant details</a:t>
            </a:r>
          </a:p>
          <a:p>
            <a:pPr algn="just"/>
            <a:r>
              <a:rPr lang="en-US" dirty="0"/>
              <a:t>We build models so that we can better understand the system we are developing. </a:t>
            </a:r>
          </a:p>
          <a:p>
            <a:pPr algn="just"/>
            <a:r>
              <a:rPr lang="en-US" dirty="0"/>
              <a:t>We build models of complex system because we  cannot comprehend such a system in its entirety. </a:t>
            </a:r>
          </a:p>
        </p:txBody>
      </p:sp>
    </p:spTree>
    <p:extLst>
      <p:ext uri="{BB962C8B-B14F-4D97-AF65-F5344CB8AC3E}">
        <p14:creationId xmlns:p14="http://schemas.microsoft.com/office/powerpoint/2010/main" val="34611605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7B6C4E-81B6-432A-900D-D5733FFE3B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76200"/>
            <a:ext cx="8077200" cy="644768"/>
          </a:xfrm>
        </p:spPr>
        <p:txBody>
          <a:bodyPr>
            <a:normAutofit/>
          </a:bodyPr>
          <a:lstStyle/>
          <a:p>
            <a:r>
              <a:rPr lang="en-US" dirty="0"/>
              <a:t>System Modeling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DF8117-3788-42DB-AE89-B3BC876029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914400"/>
            <a:ext cx="8077200" cy="5486400"/>
          </a:xfrm>
        </p:spPr>
        <p:txBody>
          <a:bodyPr>
            <a:normAutofit/>
          </a:bodyPr>
          <a:lstStyle/>
          <a:p>
            <a:pPr algn="just">
              <a:spcBef>
                <a:spcPts val="1200"/>
              </a:spcBef>
              <a:spcAft>
                <a:spcPts val="1200"/>
              </a:spcAft>
            </a:pPr>
            <a:r>
              <a:rPr lang="en-US" sz="2800" dirty="0"/>
              <a:t>System Modelling is the </a:t>
            </a:r>
            <a:r>
              <a:rPr lang="en-US" sz="2800" u="sng" dirty="0"/>
              <a:t>process  of developing abstract models</a:t>
            </a:r>
            <a:r>
              <a:rPr lang="en-US" sz="2800" dirty="0"/>
              <a:t> of a system each representing a </a:t>
            </a:r>
            <a:r>
              <a:rPr lang="en-US" sz="2800" u="sng" dirty="0"/>
              <a:t>different view </a:t>
            </a:r>
            <a:r>
              <a:rPr lang="en-US" sz="2800" dirty="0"/>
              <a:t>or </a:t>
            </a:r>
            <a:r>
              <a:rPr lang="en-US" sz="2800" u="sng" dirty="0"/>
              <a:t>perspective</a:t>
            </a:r>
            <a:r>
              <a:rPr lang="en-US" sz="2800" dirty="0"/>
              <a:t> of that system.</a:t>
            </a:r>
          </a:p>
          <a:p>
            <a:pPr algn="just">
              <a:spcBef>
                <a:spcPts val="1200"/>
              </a:spcBef>
              <a:spcAft>
                <a:spcPts val="1200"/>
              </a:spcAft>
            </a:pPr>
            <a:r>
              <a:rPr lang="en-US" sz="2800" dirty="0"/>
              <a:t>You may develop models of both the existing system and the system to be developed.</a:t>
            </a:r>
          </a:p>
          <a:p>
            <a:pPr algn="just">
              <a:spcBef>
                <a:spcPts val="1200"/>
              </a:spcBef>
              <a:spcAft>
                <a:spcPts val="1200"/>
              </a:spcAft>
            </a:pPr>
            <a:r>
              <a:rPr lang="en-US" sz="3100" dirty="0"/>
              <a:t>Models of the existing system are used during requirements engineering.</a:t>
            </a:r>
          </a:p>
          <a:p>
            <a:pPr lvl="1" algn="just">
              <a:spcBef>
                <a:spcPts val="1200"/>
              </a:spcBef>
              <a:spcAft>
                <a:spcPts val="1200"/>
              </a:spcAft>
            </a:pPr>
            <a:r>
              <a:rPr lang="en-US" sz="2000" dirty="0"/>
              <a:t>Help clarify what the existing system does and can be used as a basis for discussing its strengths and weaknesses.</a:t>
            </a:r>
          </a:p>
          <a:p>
            <a:pPr lvl="1" algn="just">
              <a:spcBef>
                <a:spcPts val="1200"/>
              </a:spcBef>
              <a:spcAft>
                <a:spcPts val="1200"/>
              </a:spcAft>
            </a:pPr>
            <a:r>
              <a:rPr lang="en-US" sz="2000" dirty="0"/>
              <a:t>Models of the new system are used during requirements engineering to help explain the proposed requirements to other system stakeholders.</a:t>
            </a:r>
          </a:p>
        </p:txBody>
      </p:sp>
    </p:spTree>
    <p:extLst>
      <p:ext uri="{BB962C8B-B14F-4D97-AF65-F5344CB8AC3E}">
        <p14:creationId xmlns:p14="http://schemas.microsoft.com/office/powerpoint/2010/main" val="5441747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D17EC7-23D0-4F3B-B1B6-67F04F67CC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269632"/>
            <a:ext cx="8077200" cy="873368"/>
          </a:xfrm>
        </p:spPr>
        <p:txBody>
          <a:bodyPr/>
          <a:lstStyle/>
          <a:p>
            <a:r>
              <a:rPr lang="en-US" dirty="0"/>
              <a:t>System Perspective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F45621-0F10-4F1C-8281-4D0486D9F0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524001"/>
            <a:ext cx="7924800" cy="4953000"/>
          </a:xfrm>
        </p:spPr>
        <p:txBody>
          <a:bodyPr>
            <a:normAutofit fontScale="92500"/>
          </a:bodyPr>
          <a:lstStyle/>
          <a:p>
            <a:pPr algn="just"/>
            <a:r>
              <a:rPr lang="en-US" sz="2800" dirty="0"/>
              <a:t>You may develop different models to represent the system from different perspectives</a:t>
            </a:r>
          </a:p>
          <a:p>
            <a:pPr lvl="1" algn="just"/>
            <a:r>
              <a:rPr lang="en-US" sz="2800" dirty="0"/>
              <a:t>An external perspective, where you model the context or environment of the system.</a:t>
            </a:r>
          </a:p>
          <a:p>
            <a:pPr lvl="1" algn="just"/>
            <a:r>
              <a:rPr lang="en-US" sz="2800" dirty="0"/>
              <a:t>An interaction perspective where you model the interactions between a system and its environment or between the components of a system.</a:t>
            </a:r>
          </a:p>
          <a:p>
            <a:pPr lvl="1" algn="just"/>
            <a:r>
              <a:rPr lang="en-US" sz="2800" dirty="0"/>
              <a:t>A structural perspective, where you model the organization of a system or the structure of the data that is processed by the system.</a:t>
            </a:r>
          </a:p>
          <a:p>
            <a:pPr lvl="1" algn="just"/>
            <a:r>
              <a:rPr lang="en-US" sz="2800" dirty="0"/>
              <a:t>A behavioral perspective, where you model the dynamic behavior of the system and how it responds to events.</a:t>
            </a:r>
          </a:p>
          <a:p>
            <a:endParaRPr lang="en-US" sz="3300" dirty="0"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1688293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21D84-CC98-4938-AAAC-AFD432264B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Unified Modeling Language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9C25A2-0030-4026-B8D4-5189486609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596413"/>
            <a:ext cx="7696200" cy="4499587"/>
          </a:xfrm>
        </p:spPr>
        <p:txBody>
          <a:bodyPr>
            <a:normAutofit/>
          </a:bodyPr>
          <a:lstStyle/>
          <a:p>
            <a:pPr algn="just"/>
            <a:r>
              <a:rPr lang="en-US" sz="2800" dirty="0"/>
              <a:t>UML is a standard language for modeling software systems </a:t>
            </a:r>
          </a:p>
          <a:p>
            <a:pPr lvl="1" algn="just"/>
            <a:r>
              <a:rPr lang="en-US" sz="2800" dirty="0"/>
              <a:t>Serves as a bridge between the requirements specification and the implementation. </a:t>
            </a:r>
          </a:p>
          <a:p>
            <a:pPr lvl="1" algn="just"/>
            <a:r>
              <a:rPr lang="en-US" sz="2800" dirty="0"/>
              <a:t>Provides a means to specify and document the design of  a software system. </a:t>
            </a:r>
          </a:p>
          <a:p>
            <a:pPr lvl="1" algn="just"/>
            <a:r>
              <a:rPr lang="en-US" sz="2800" dirty="0"/>
              <a:t>UML is process and programming language independent. </a:t>
            </a:r>
          </a:p>
          <a:p>
            <a:pPr lvl="1" algn="just"/>
            <a:r>
              <a:rPr lang="en-US" sz="2800" dirty="0"/>
              <a:t>UML is particularly suited to object-oriented  program development.</a:t>
            </a:r>
          </a:p>
        </p:txBody>
      </p:sp>
    </p:spTree>
    <p:extLst>
      <p:ext uri="{BB962C8B-B14F-4D97-AF65-F5344CB8AC3E}">
        <p14:creationId xmlns:p14="http://schemas.microsoft.com/office/powerpoint/2010/main" val="22988745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657E2E-B145-4266-8439-F6CF8042D2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UML Diagrams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B10D0B-83E6-46A8-A881-4BFB38566B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596413"/>
            <a:ext cx="8077200" cy="4651987"/>
          </a:xfrm>
        </p:spPr>
        <p:txBody>
          <a:bodyPr>
            <a:normAutofit/>
          </a:bodyPr>
          <a:lstStyle/>
          <a:p>
            <a:pPr algn="just">
              <a:lnSpc>
                <a:spcPct val="110000"/>
              </a:lnSpc>
            </a:pPr>
            <a:r>
              <a:rPr lang="en-US" b="1" dirty="0"/>
              <a:t>Use case diagrams</a:t>
            </a:r>
            <a:r>
              <a:rPr lang="en-US" dirty="0"/>
              <a:t>, which show the interactions between a system and its environment.  </a:t>
            </a:r>
          </a:p>
          <a:p>
            <a:pPr algn="just">
              <a:lnSpc>
                <a:spcPct val="110000"/>
              </a:lnSpc>
            </a:pPr>
            <a:r>
              <a:rPr lang="en-US" b="1" dirty="0"/>
              <a:t>Sequence diagrams</a:t>
            </a:r>
            <a:r>
              <a:rPr lang="en-US" dirty="0"/>
              <a:t>, which show interactions between actors and the system and between system components. </a:t>
            </a:r>
          </a:p>
          <a:p>
            <a:pPr algn="just">
              <a:lnSpc>
                <a:spcPct val="110000"/>
              </a:lnSpc>
            </a:pPr>
            <a:r>
              <a:rPr lang="en-US" b="1" dirty="0"/>
              <a:t>Activity diagrams</a:t>
            </a:r>
            <a:r>
              <a:rPr lang="en-US" dirty="0"/>
              <a:t>, which show the activities involved in a process or in data processing . </a:t>
            </a:r>
          </a:p>
          <a:p>
            <a:pPr algn="just">
              <a:lnSpc>
                <a:spcPct val="110000"/>
              </a:lnSpc>
            </a:pPr>
            <a:r>
              <a:rPr lang="en-US" b="1" dirty="0"/>
              <a:t>Class diagrams</a:t>
            </a:r>
            <a:r>
              <a:rPr lang="en-US" dirty="0"/>
              <a:t>, which show the object classes in the  system and the associations between these classes. </a:t>
            </a:r>
          </a:p>
          <a:p>
            <a:pPr algn="just">
              <a:lnSpc>
                <a:spcPct val="110000"/>
              </a:lnSpc>
            </a:pPr>
            <a:r>
              <a:rPr lang="en-US" b="1" dirty="0"/>
              <a:t>State diagrams</a:t>
            </a:r>
            <a:r>
              <a:rPr lang="en-US" dirty="0"/>
              <a:t>, which show how the system reacts  to  internal and external events</a:t>
            </a:r>
          </a:p>
        </p:txBody>
      </p:sp>
    </p:spTree>
    <p:extLst>
      <p:ext uri="{BB962C8B-B14F-4D97-AF65-F5344CB8AC3E}">
        <p14:creationId xmlns:p14="http://schemas.microsoft.com/office/powerpoint/2010/main" val="3126353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1C58D-2094-4FA8-9ED3-81B3939B7C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of Graphical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89E99B-D1A5-410F-B735-4A1C76D5CD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1600200"/>
            <a:ext cx="8458200" cy="4728187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US" sz="2800" b="1" dirty="0">
                <a:solidFill>
                  <a:srgbClr val="FF0000"/>
                </a:solidFill>
              </a:rPr>
              <a:t>Three</a:t>
            </a:r>
            <a:r>
              <a:rPr lang="en-US" sz="2800" dirty="0"/>
              <a:t> ways in which graphical models are common</a:t>
            </a:r>
          </a:p>
          <a:p>
            <a:pPr algn="just"/>
            <a:r>
              <a:rPr lang="en-US" sz="3100" dirty="0"/>
              <a:t>As a means of facilitating </a:t>
            </a:r>
            <a:r>
              <a:rPr lang="en-US" sz="3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discussion about an existing or proposed system</a:t>
            </a:r>
            <a:r>
              <a:rPr lang="en-US" sz="3100" dirty="0"/>
              <a:t>.</a:t>
            </a:r>
          </a:p>
          <a:p>
            <a:pPr lvl="2" algn="just"/>
            <a:r>
              <a:rPr lang="en-US" sz="2800" b="1" dirty="0">
                <a:solidFill>
                  <a:srgbClr val="00B050"/>
                </a:solidFill>
              </a:rPr>
              <a:t>Incomplete</a:t>
            </a:r>
            <a:r>
              <a:rPr lang="en-US" sz="2800" dirty="0"/>
              <a:t> and </a:t>
            </a:r>
            <a:r>
              <a:rPr lang="en-US" sz="2800" b="1" dirty="0">
                <a:solidFill>
                  <a:srgbClr val="0070C0"/>
                </a:solidFill>
              </a:rPr>
              <a:t>incorrect</a:t>
            </a:r>
            <a:r>
              <a:rPr lang="en-US" sz="2800" dirty="0"/>
              <a:t> models are OK as their role is to support discussion.</a:t>
            </a:r>
          </a:p>
          <a:p>
            <a:pPr algn="just"/>
            <a:r>
              <a:rPr lang="en-US" sz="3100" dirty="0"/>
              <a:t>As a way of </a:t>
            </a:r>
            <a:r>
              <a:rPr lang="en-US" sz="3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documenting an existing system</a:t>
            </a:r>
            <a:r>
              <a:rPr lang="en-US" sz="3100" dirty="0"/>
              <a:t>.</a:t>
            </a:r>
          </a:p>
          <a:p>
            <a:pPr lvl="2" algn="just"/>
            <a:r>
              <a:rPr lang="en-US" sz="2800" dirty="0"/>
              <a:t>Models  should  be  an  </a:t>
            </a:r>
            <a:r>
              <a:rPr lang="en-US" sz="2800" b="1" dirty="0">
                <a:solidFill>
                  <a:srgbClr val="0070C0"/>
                </a:solidFill>
              </a:rPr>
              <a:t>accurate</a:t>
            </a:r>
            <a:r>
              <a:rPr lang="en-US" sz="2800" dirty="0"/>
              <a:t>  representation  of  the  system  but  need  </a:t>
            </a:r>
            <a:r>
              <a:rPr lang="en-US" sz="2800" b="1" dirty="0">
                <a:solidFill>
                  <a:srgbClr val="00B050"/>
                </a:solidFill>
              </a:rPr>
              <a:t>not  be complete</a:t>
            </a:r>
            <a:r>
              <a:rPr lang="en-US" sz="2800" dirty="0"/>
              <a:t>.</a:t>
            </a:r>
          </a:p>
          <a:p>
            <a:pPr algn="just"/>
            <a:r>
              <a:rPr lang="en-US" sz="3100" dirty="0"/>
              <a:t>As a detailed system description that can be  used to </a:t>
            </a:r>
            <a:r>
              <a:rPr lang="en-US" sz="3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generate a system implementation</a:t>
            </a:r>
            <a:r>
              <a:rPr lang="en-US" sz="3100" dirty="0"/>
              <a:t>. </a:t>
            </a:r>
          </a:p>
          <a:p>
            <a:pPr lvl="2" algn="just"/>
            <a:r>
              <a:rPr lang="en-US" sz="2800" dirty="0"/>
              <a:t>Models have to be both </a:t>
            </a:r>
            <a:r>
              <a:rPr lang="en-US" sz="2800" b="1" dirty="0">
                <a:solidFill>
                  <a:srgbClr val="0070C0"/>
                </a:solidFill>
              </a:rPr>
              <a:t>correct</a:t>
            </a:r>
            <a:r>
              <a:rPr lang="en-US" sz="2800" dirty="0"/>
              <a:t> and </a:t>
            </a:r>
            <a:r>
              <a:rPr lang="en-US" sz="2800" b="1" dirty="0">
                <a:solidFill>
                  <a:srgbClr val="00B050"/>
                </a:solidFill>
              </a:rPr>
              <a:t>complete</a:t>
            </a:r>
            <a:r>
              <a:rPr lang="en-US" sz="2800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4315904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6516D2E-6F00-425C-AFAB-D3EFF0CE25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Process Model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77623C48-3451-4170-A84E-BA0D8FE908B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9153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F1D361F-9E62-446C-9E7F-9CD4107DF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Process Model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AC5EE40-95A1-4442-9367-AD7836A496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371601"/>
            <a:ext cx="8229600" cy="4876800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en-US" sz="2800" dirty="0"/>
              <a:t>Process models reveal how the system being  developed is used in broader business processes.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en-US" sz="2800" dirty="0"/>
              <a:t>Process models show the overall process and the processes that are supported by the system.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en-US" sz="2800" dirty="0"/>
              <a:t>UML activity diagrams may be used to define business process models.</a:t>
            </a:r>
          </a:p>
        </p:txBody>
      </p:sp>
    </p:spTree>
    <p:extLst>
      <p:ext uri="{BB962C8B-B14F-4D97-AF65-F5344CB8AC3E}">
        <p14:creationId xmlns:p14="http://schemas.microsoft.com/office/powerpoint/2010/main" val="23604717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70378A-D889-4B55-9A92-125F1DCC3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Activity Diagram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A186F2-409C-4B0A-9FCA-FA688237E1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596413"/>
            <a:ext cx="8458200" cy="5032987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en-US" sz="2400" dirty="0"/>
              <a:t>An activity diagram visually presents a series of actions or flow of control in a system similar to a </a:t>
            </a:r>
            <a:r>
              <a:rPr lang="en-US" sz="2400" dirty="0">
                <a:hlinkClick r:id="rId2"/>
              </a:rPr>
              <a:t>flowchart</a:t>
            </a:r>
            <a:r>
              <a:rPr lang="en-US" sz="2400" dirty="0"/>
              <a:t> or a </a:t>
            </a:r>
            <a:r>
              <a:rPr lang="en-US" sz="2400" dirty="0">
                <a:hlinkClick r:id="rId3"/>
              </a:rPr>
              <a:t>data flow diagram</a:t>
            </a:r>
            <a:r>
              <a:rPr lang="en-US" sz="2400" dirty="0"/>
              <a:t>. 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en-US" sz="2400" dirty="0"/>
              <a:t>Activity diagrams are often used in business process modeling. They can also describe the steps in a </a:t>
            </a:r>
            <a:r>
              <a:rPr lang="en-US" sz="2400" dirty="0">
                <a:hlinkClick r:id="rId4"/>
              </a:rPr>
              <a:t>use case diagram</a:t>
            </a:r>
            <a:r>
              <a:rPr lang="en-US" sz="2400" dirty="0"/>
              <a:t>. 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en-US" sz="2400" dirty="0"/>
              <a:t>Activities modeled can be </a:t>
            </a:r>
            <a:r>
              <a:rPr lang="en-US" sz="2400" b="1" dirty="0">
                <a:solidFill>
                  <a:srgbClr val="92D050"/>
                </a:solidFill>
              </a:rPr>
              <a:t>sequential</a:t>
            </a:r>
            <a:r>
              <a:rPr lang="en-US" sz="2400" dirty="0"/>
              <a:t> and </a:t>
            </a:r>
            <a:r>
              <a:rPr lang="en-US" sz="2400" b="1" dirty="0">
                <a:solidFill>
                  <a:srgbClr val="0070C0"/>
                </a:solidFill>
              </a:rPr>
              <a:t>concurrent</a:t>
            </a:r>
            <a:r>
              <a:rPr lang="en-US" sz="2400" dirty="0"/>
              <a:t>. In both cases an activity diagram will have a beginning (an initial state) and an end (a final state).</a:t>
            </a:r>
          </a:p>
        </p:txBody>
      </p:sp>
    </p:spTree>
    <p:extLst>
      <p:ext uri="{BB962C8B-B14F-4D97-AF65-F5344CB8AC3E}">
        <p14:creationId xmlns:p14="http://schemas.microsoft.com/office/powerpoint/2010/main" val="8868675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8DC54-E2DA-41F6-934E-3CD623F59D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to use Activity Diagrams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554EFC-93A4-4EE9-8D06-C980B1445D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825625"/>
            <a:ext cx="8534400" cy="4351338"/>
          </a:xfrm>
        </p:spPr>
        <p:txBody>
          <a:bodyPr>
            <a:normAutofit/>
          </a:bodyPr>
          <a:lstStyle/>
          <a:p>
            <a:r>
              <a:rPr lang="en-US" sz="2800" dirty="0"/>
              <a:t>Modeling work flow by using activities. </a:t>
            </a:r>
          </a:p>
          <a:p>
            <a:r>
              <a:rPr lang="en-US" sz="2800" dirty="0"/>
              <a:t>Modeling business requirements. </a:t>
            </a:r>
          </a:p>
          <a:p>
            <a:r>
              <a:rPr lang="en-US" sz="2800" dirty="0"/>
              <a:t>Investigate business requirements at a later stage. </a:t>
            </a:r>
          </a:p>
          <a:p>
            <a:r>
              <a:rPr lang="en-US" sz="2800" dirty="0"/>
              <a:t>High level understanding of the system's functionalities. </a:t>
            </a:r>
          </a:p>
        </p:txBody>
      </p:sp>
    </p:spTree>
    <p:extLst>
      <p:ext uri="{BB962C8B-B14F-4D97-AF65-F5344CB8AC3E}">
        <p14:creationId xmlns:p14="http://schemas.microsoft.com/office/powerpoint/2010/main" val="18313182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17B39FE-144E-41E8-945E-9AC45E481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Activity Diagram Notations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1828800"/>
            <a:ext cx="8001000" cy="441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70867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8DC54-E2DA-41F6-934E-3CD623F59D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9864" y="228600"/>
            <a:ext cx="8077200" cy="609600"/>
          </a:xfrm>
        </p:spPr>
        <p:txBody>
          <a:bodyPr>
            <a:normAutofit/>
          </a:bodyPr>
          <a:lstStyle/>
          <a:p>
            <a:r>
              <a:rPr lang="en-US" b="1" dirty="0"/>
              <a:t>Activity Diagram Notations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554EFC-93A4-4EE9-8D06-C980B1445D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9864" y="990600"/>
            <a:ext cx="8077200" cy="5486399"/>
          </a:xfrm>
        </p:spPr>
        <p:txBody>
          <a:bodyPr>
            <a:normAutofit/>
          </a:bodyPr>
          <a:lstStyle/>
          <a:p>
            <a:r>
              <a:rPr lang="en-US" sz="2800" b="1" dirty="0"/>
              <a:t>Initial State or Start Point</a:t>
            </a:r>
          </a:p>
          <a:p>
            <a:pPr lvl="1" algn="just"/>
            <a:r>
              <a:rPr lang="en-US" sz="2800" dirty="0"/>
              <a:t>A small filled circle followed by an arrow represents the initial action state or the start point for any activity diagram. For activity diagram using </a:t>
            </a:r>
            <a:r>
              <a:rPr lang="en-US" sz="2800" b="1" dirty="0" err="1">
                <a:solidFill>
                  <a:srgbClr val="0070C0"/>
                </a:solidFill>
              </a:rPr>
              <a:t>swimlanes</a:t>
            </a:r>
            <a:r>
              <a:rPr lang="en-US" sz="2800" dirty="0"/>
              <a:t>, make sure the start point is placed in the top left corner of the first column. </a:t>
            </a:r>
          </a:p>
          <a:p>
            <a:endParaRPr lang="en-US" b="1" dirty="0"/>
          </a:p>
          <a:p>
            <a:r>
              <a:rPr lang="en-US" sz="2800" b="1" dirty="0"/>
              <a:t>Activity or Action State</a:t>
            </a:r>
          </a:p>
          <a:p>
            <a:pPr lvl="1" algn="just"/>
            <a:r>
              <a:rPr lang="en-US" sz="2800" dirty="0"/>
              <a:t>An action state represents the non-interruptible action of objects. You can draw an action state in </a:t>
            </a:r>
            <a:r>
              <a:rPr lang="en-US" sz="2800" b="1" dirty="0" err="1">
                <a:solidFill>
                  <a:srgbClr val="0070C0"/>
                </a:solidFill>
              </a:rPr>
              <a:t>SmartDraw</a:t>
            </a:r>
            <a:r>
              <a:rPr lang="en-US" sz="2800" dirty="0"/>
              <a:t> using a rectangle with rounded corners</a:t>
            </a:r>
          </a:p>
          <a:p>
            <a:pPr lvl="1" algn="just"/>
            <a:endParaRPr lang="en-US" sz="28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0314" y="733425"/>
            <a:ext cx="2971800" cy="51434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6089" y="5486400"/>
            <a:ext cx="2486025" cy="885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54514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8DC54-E2DA-41F6-934E-3CD623F59D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9864" y="228600"/>
            <a:ext cx="8077200" cy="609600"/>
          </a:xfrm>
        </p:spPr>
        <p:txBody>
          <a:bodyPr>
            <a:normAutofit/>
          </a:bodyPr>
          <a:lstStyle/>
          <a:p>
            <a:r>
              <a:rPr lang="en-US" b="1" dirty="0"/>
              <a:t>Activity Diagram Notations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554EFC-93A4-4EE9-8D06-C980B1445D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990600"/>
            <a:ext cx="8608464" cy="5486399"/>
          </a:xfrm>
        </p:spPr>
        <p:txBody>
          <a:bodyPr>
            <a:normAutofit/>
          </a:bodyPr>
          <a:lstStyle/>
          <a:p>
            <a:r>
              <a:rPr lang="en-US" sz="2800" b="1" dirty="0"/>
              <a:t>Action Flow</a:t>
            </a:r>
          </a:p>
          <a:p>
            <a:pPr lvl="1" algn="just"/>
            <a:r>
              <a:rPr lang="en-US" sz="2400" dirty="0"/>
              <a:t>Action flows, also called edges and paths, illustrate the transitions from one action state to another. They are usually drawn with an arrowed line.</a:t>
            </a:r>
          </a:p>
          <a:p>
            <a:pPr lvl="1" algn="just"/>
            <a:endParaRPr lang="en-US" sz="2400" dirty="0"/>
          </a:p>
          <a:p>
            <a:r>
              <a:rPr lang="en-US" sz="2800" b="1" dirty="0"/>
              <a:t>Object Flow</a:t>
            </a:r>
          </a:p>
          <a:p>
            <a:endParaRPr lang="en-US" sz="2800" b="1" dirty="0"/>
          </a:p>
          <a:p>
            <a:endParaRPr lang="en-US" sz="2800" b="1" dirty="0"/>
          </a:p>
          <a:p>
            <a:pPr lvl="1" algn="just"/>
            <a:r>
              <a:rPr lang="en-US" sz="2400" dirty="0"/>
              <a:t>Object flow refers to the creation and modification of objects by activities. </a:t>
            </a:r>
          </a:p>
          <a:p>
            <a:pPr lvl="1" algn="just"/>
            <a:r>
              <a:rPr lang="en-US" sz="2400" dirty="0"/>
              <a:t>An object flow arrow from an action to an object means that the action creates or influences the object.</a:t>
            </a:r>
          </a:p>
          <a:p>
            <a:pPr lvl="1" algn="just"/>
            <a:r>
              <a:rPr lang="en-US" sz="2400" dirty="0"/>
              <a:t>An object flow arrow from an object to an action indicates that the action state uses the object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1143000"/>
            <a:ext cx="2590800" cy="31228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7200" y="3124199"/>
            <a:ext cx="3962400" cy="121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42699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8DC54-E2DA-41F6-934E-3CD623F59D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9864" y="228600"/>
            <a:ext cx="8077200" cy="609600"/>
          </a:xfrm>
        </p:spPr>
        <p:txBody>
          <a:bodyPr>
            <a:normAutofit/>
          </a:bodyPr>
          <a:lstStyle/>
          <a:p>
            <a:r>
              <a:rPr lang="en-US" b="1" dirty="0"/>
              <a:t>Activity Diagram Notations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554EFC-93A4-4EE9-8D06-C980B1445D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9864" y="990600"/>
            <a:ext cx="8077200" cy="5791200"/>
          </a:xfrm>
        </p:spPr>
        <p:txBody>
          <a:bodyPr>
            <a:normAutofit/>
          </a:bodyPr>
          <a:lstStyle/>
          <a:p>
            <a:r>
              <a:rPr lang="en-US" sz="2800" b="1" dirty="0"/>
              <a:t>Decisions and Branching</a:t>
            </a:r>
          </a:p>
          <a:p>
            <a:pPr lvl="1" algn="just"/>
            <a:r>
              <a:rPr lang="en-US" sz="2400" dirty="0"/>
              <a:t>A diamond represents a decision with alternate paths. When an activity requires a decision prior to moving on to the next activity, add a diamond between the two activities. The outgoing alternates should be labeled with a condition or guard expression. You can also label one of the paths "else.“</a:t>
            </a:r>
          </a:p>
          <a:p>
            <a:r>
              <a:rPr lang="en-US" sz="2800" b="1" dirty="0"/>
              <a:t>Guards</a:t>
            </a:r>
          </a:p>
          <a:p>
            <a:pPr lvl="1" algn="just"/>
            <a:r>
              <a:rPr lang="en-US" sz="2400" dirty="0"/>
              <a:t>In UML, guards are a statement written next to a decision diamond that must be true before moving next to the next activity. These are not essential, but are useful when a specific answer, such as "Yes, three labels are printed," is needed before moving forward.</a:t>
            </a:r>
          </a:p>
          <a:p>
            <a:pPr lvl="1" algn="just"/>
            <a:endParaRPr lang="en-US" sz="2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541946"/>
            <a:ext cx="1702916" cy="85725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5486400"/>
            <a:ext cx="3009788" cy="1147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3979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8DC54-E2DA-41F6-934E-3CD623F59D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9864" y="228600"/>
            <a:ext cx="8077200" cy="609600"/>
          </a:xfrm>
        </p:spPr>
        <p:txBody>
          <a:bodyPr>
            <a:normAutofit/>
          </a:bodyPr>
          <a:lstStyle/>
          <a:p>
            <a:r>
              <a:rPr lang="en-US" b="1" dirty="0"/>
              <a:t>Activity Diagram Notations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554EFC-93A4-4EE9-8D06-C980B1445D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9864" y="990600"/>
            <a:ext cx="4955136" cy="5791200"/>
          </a:xfrm>
        </p:spPr>
        <p:txBody>
          <a:bodyPr>
            <a:normAutofit/>
          </a:bodyPr>
          <a:lstStyle/>
          <a:p>
            <a:r>
              <a:rPr lang="en-US" sz="2800" b="1" dirty="0"/>
              <a:t>Synchronization</a:t>
            </a:r>
          </a:p>
          <a:p>
            <a:pPr lvl="1" algn="just"/>
            <a:r>
              <a:rPr lang="en-US" sz="2400" dirty="0"/>
              <a:t>A fork node is used to split a single incoming flow into multiple concurrent flows. It is represented as a straight, slightly thicker line in an activity diagram.</a:t>
            </a:r>
          </a:p>
          <a:p>
            <a:pPr lvl="1" algn="just"/>
            <a:r>
              <a:rPr lang="en-US" sz="2400" dirty="0"/>
              <a:t>A join node joins multiple concurrent flows back into a single outgoing flow.</a:t>
            </a:r>
          </a:p>
          <a:p>
            <a:pPr lvl="1" algn="just"/>
            <a:r>
              <a:rPr lang="en-US" sz="2400" dirty="0"/>
              <a:t>A fork and join mode used together are often referred to as synchronization.</a:t>
            </a:r>
          </a:p>
          <a:p>
            <a:pPr lvl="1" algn="just"/>
            <a:endParaRPr lang="en-US" sz="24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600200"/>
            <a:ext cx="2971800" cy="4200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4895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8DC54-E2DA-41F6-934E-3CD623F59D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9864" y="228600"/>
            <a:ext cx="8077200" cy="609600"/>
          </a:xfrm>
        </p:spPr>
        <p:txBody>
          <a:bodyPr>
            <a:normAutofit/>
          </a:bodyPr>
          <a:lstStyle/>
          <a:p>
            <a:r>
              <a:rPr lang="en-US" b="1" dirty="0"/>
              <a:t>Activity Diagram Notations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554EFC-93A4-4EE9-8D06-C980B1445D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9864" y="990600"/>
            <a:ext cx="8077200" cy="5791200"/>
          </a:xfrm>
        </p:spPr>
        <p:txBody>
          <a:bodyPr>
            <a:normAutofit/>
          </a:bodyPr>
          <a:lstStyle/>
          <a:p>
            <a:r>
              <a:rPr lang="en-US" b="1" dirty="0"/>
              <a:t>Time Event</a:t>
            </a:r>
          </a:p>
          <a:p>
            <a:pPr lvl="1"/>
            <a:r>
              <a:rPr lang="en-US" sz="2400" dirty="0"/>
              <a:t>This refers to an event that stops the flow for a time; an hourglass depicts</a:t>
            </a:r>
          </a:p>
          <a:p>
            <a:endParaRPr lang="en-US" b="1" dirty="0"/>
          </a:p>
          <a:p>
            <a:r>
              <a:rPr lang="en-US" b="1" dirty="0"/>
              <a:t>Merge Event</a:t>
            </a:r>
          </a:p>
          <a:p>
            <a:pPr lvl="1"/>
            <a:r>
              <a:rPr lang="en-US" sz="2400" dirty="0"/>
              <a:t>A merge event brings together multiple flows that are not concurrent.</a:t>
            </a:r>
          </a:p>
          <a:p>
            <a:pPr lvl="1"/>
            <a:endParaRPr lang="en-US" sz="2400" dirty="0"/>
          </a:p>
          <a:p>
            <a:pPr lvl="1"/>
            <a:endParaRPr lang="en-US" sz="2400" dirty="0"/>
          </a:p>
          <a:p>
            <a:r>
              <a:rPr lang="en-US" b="1" dirty="0"/>
              <a:t>Interrupting Edge</a:t>
            </a:r>
          </a:p>
          <a:p>
            <a:pPr lvl="1"/>
            <a:r>
              <a:rPr lang="en-US" sz="2400" dirty="0"/>
              <a:t>An event, such as a cancellation, that interrupts the flow denoted with a lightning bolt</a:t>
            </a:r>
            <a:r>
              <a:rPr lang="en-US" sz="2000" dirty="0"/>
              <a:t>.</a:t>
            </a:r>
          </a:p>
          <a:p>
            <a:pPr lvl="1"/>
            <a:endParaRPr lang="en-US" sz="2400" dirty="0"/>
          </a:p>
          <a:p>
            <a:pPr lvl="1" algn="just"/>
            <a:endParaRPr lang="en-US" sz="24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3200" y="461220"/>
            <a:ext cx="2438400" cy="75395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4075" y="3124200"/>
            <a:ext cx="2286000" cy="1066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7800" y="5334000"/>
            <a:ext cx="3333750" cy="1141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42962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8DC54-E2DA-41F6-934E-3CD623F59D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9864" y="228600"/>
            <a:ext cx="8077200" cy="609600"/>
          </a:xfrm>
        </p:spPr>
        <p:txBody>
          <a:bodyPr>
            <a:normAutofit/>
          </a:bodyPr>
          <a:lstStyle/>
          <a:p>
            <a:r>
              <a:rPr lang="en-US" b="1" dirty="0"/>
              <a:t>Activity Diagram Notations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554EFC-93A4-4EE9-8D06-C980B1445D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9864" y="990600"/>
            <a:ext cx="8077200" cy="5791200"/>
          </a:xfrm>
        </p:spPr>
        <p:txBody>
          <a:bodyPr>
            <a:normAutofit/>
          </a:bodyPr>
          <a:lstStyle/>
          <a:p>
            <a:endParaRPr lang="en-US" b="1" dirty="0"/>
          </a:p>
          <a:p>
            <a:r>
              <a:rPr lang="en-US" sz="2800" b="1" dirty="0"/>
              <a:t>Sent and Received Signals</a:t>
            </a:r>
          </a:p>
          <a:p>
            <a:pPr lvl="1" algn="just"/>
            <a:r>
              <a:rPr lang="en-US" sz="2400" dirty="0"/>
              <a:t>Signals represent how activities can be modified from outside the system. They usually appear in pairs of sent and received signals, because the state can't change until a response is received, much like synchronous messages in a </a:t>
            </a:r>
            <a:r>
              <a:rPr lang="en-US" sz="2400" dirty="0">
                <a:hlinkClick r:id="rId2"/>
              </a:rPr>
              <a:t>sequence diagram</a:t>
            </a:r>
            <a:r>
              <a:rPr lang="en-US" sz="2400" dirty="0"/>
              <a:t>. For example, an authorization of payment is needed before an order can be completed.</a:t>
            </a:r>
          </a:p>
          <a:p>
            <a:pPr algn="just"/>
            <a:endParaRPr lang="en-US" sz="3600" b="1" dirty="0"/>
          </a:p>
          <a:p>
            <a:r>
              <a:rPr lang="en-US" sz="2800" b="1" dirty="0"/>
              <a:t>Final State or End Point</a:t>
            </a:r>
          </a:p>
          <a:p>
            <a:pPr lvl="1" algn="just"/>
            <a:r>
              <a:rPr lang="en-US" sz="2400" dirty="0"/>
              <a:t>An arrow pointing to a filled circle nested inside another circle represents the final action state</a:t>
            </a:r>
          </a:p>
          <a:p>
            <a:pPr lvl="1"/>
            <a:endParaRPr lang="en-US" sz="2400" dirty="0"/>
          </a:p>
          <a:p>
            <a:pPr lvl="1" algn="just"/>
            <a:endParaRPr lang="en-US" sz="2800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1493" y="762000"/>
            <a:ext cx="3200400" cy="89324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6780" y="5638800"/>
            <a:ext cx="2409825" cy="438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04392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0A9630-0D82-4FC6-B206-4E7B121529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8193" y="152400"/>
            <a:ext cx="8229600" cy="411162"/>
          </a:xfrm>
        </p:spPr>
        <p:txBody>
          <a:bodyPr>
            <a:normAutofit fontScale="90000"/>
          </a:bodyPr>
          <a:lstStyle/>
          <a:p>
            <a:pPr fontAlgn="base"/>
            <a:r>
              <a:rPr lang="en-US" sz="3600" b="1" dirty="0"/>
              <a:t>Understanding activity diagram symbols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193" y="762000"/>
            <a:ext cx="8127207" cy="5576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7667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0A9630-0D82-4FC6-B206-4E7B12152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University Admission System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4281008-32BE-4F1F-944E-F2A49566574A}"/>
              </a:ext>
            </a:extLst>
          </p:cNvPr>
          <p:cNvGrpSpPr/>
          <p:nvPr/>
        </p:nvGrpSpPr>
        <p:grpSpPr>
          <a:xfrm>
            <a:off x="817161" y="1550374"/>
            <a:ext cx="8174439" cy="5155226"/>
            <a:chOff x="817161" y="1550374"/>
            <a:chExt cx="8174439" cy="5155226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8069F46F-B234-4B50-8BAD-6FAE8F91C844}"/>
                </a:ext>
              </a:extLst>
            </p:cNvPr>
            <p:cNvGrpSpPr/>
            <p:nvPr/>
          </p:nvGrpSpPr>
          <p:grpSpPr>
            <a:xfrm>
              <a:off x="817161" y="1550374"/>
              <a:ext cx="8174439" cy="5155226"/>
              <a:chOff x="817161" y="1550374"/>
              <a:chExt cx="8174439" cy="5155226"/>
            </a:xfrm>
          </p:grpSpPr>
          <p:pic>
            <p:nvPicPr>
              <p:cNvPr id="3" name="Picture 2">
                <a:extLst>
                  <a:ext uri="{FF2B5EF4-FFF2-40B4-BE49-F238E27FC236}">
                    <a16:creationId xmlns:a16="http://schemas.microsoft.com/office/drawing/2014/main" id="{971C8E4B-82EE-455F-94A7-F9AC46327DE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817161" y="1550374"/>
                <a:ext cx="3555735" cy="3921278"/>
              </a:xfrm>
              <a:prstGeom prst="rect">
                <a:avLst/>
              </a:prstGeom>
            </p:spPr>
          </p:pic>
          <p:pic>
            <p:nvPicPr>
              <p:cNvPr id="4" name="Picture 3">
                <a:extLst>
                  <a:ext uri="{FF2B5EF4-FFF2-40B4-BE49-F238E27FC236}">
                    <a16:creationId xmlns:a16="http://schemas.microsoft.com/office/drawing/2014/main" id="{82931E70-17B1-4ED9-AB03-F673995B3CD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365523" y="1632156"/>
                <a:ext cx="4626077" cy="5073444"/>
              </a:xfrm>
              <a:prstGeom prst="rect">
                <a:avLst/>
              </a:prstGeom>
            </p:spPr>
          </p:pic>
        </p:grp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92FC5EB-FD7A-468F-AF12-4AB4B86E4763}"/>
                </a:ext>
              </a:extLst>
            </p:cNvPr>
            <p:cNvSpPr/>
            <p:nvPr/>
          </p:nvSpPr>
          <p:spPr>
            <a:xfrm>
              <a:off x="4372896" y="6172200"/>
              <a:ext cx="1189704" cy="5334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8703558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EF753F-C438-4108-BFC2-EA84060ADE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Process model of involuntary detention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1902D3C-C302-4046-B4B4-1D42670CFF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572496"/>
            <a:ext cx="8086237" cy="4828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41058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5BB77D-4B83-46CF-AD5A-E3D2E3398A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59C560-D9D6-4F8E-A08E-70A914F816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sz="2400" dirty="0"/>
              <a:t>Decision in the Open Incident process. If the Incident is a fire and is of high priority, the  Dispatcher notifies the  </a:t>
            </a:r>
            <a:r>
              <a:rPr lang="en-US" sz="2400" dirty="0" err="1"/>
              <a:t>FireChief</a:t>
            </a:r>
            <a:r>
              <a:rPr lang="en-US" sz="2400" dirty="0"/>
              <a:t>. If it is a high-priority  Incident that is not a fire, the </a:t>
            </a:r>
            <a:r>
              <a:rPr lang="en-US" sz="2400" dirty="0" err="1"/>
              <a:t>PoliceChief</a:t>
            </a:r>
            <a:r>
              <a:rPr lang="en-US" sz="2400" dirty="0"/>
              <a:t> is notified. In all cases, the Dispatcher allocates resources to deal with the Incident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899757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47ACD-A43B-46D8-8E08-5A6C58657DE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066800" y="269875"/>
            <a:ext cx="8077200" cy="1143000"/>
          </a:xfrm>
        </p:spPr>
        <p:txBody>
          <a:bodyPr/>
          <a:lstStyle/>
          <a:p>
            <a:r>
              <a:rPr lang="en-US" dirty="0"/>
              <a:t>Solution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61A2DBB-3E74-4E47-A198-DB9FAE58A9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905000"/>
            <a:ext cx="7745413" cy="2266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483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938212"/>
            <a:ext cx="7924800" cy="551756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62000" y="228600"/>
            <a:ext cx="8305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US" sz="2800" b="1" dirty="0">
                <a:latin typeface="+mj-lt"/>
                <a:ea typeface="+mj-ea"/>
                <a:cs typeface="+mj-cs"/>
              </a:rPr>
              <a:t>Activity diagram examples for streamlining processes</a:t>
            </a:r>
          </a:p>
        </p:txBody>
      </p:sp>
    </p:spTree>
    <p:extLst>
      <p:ext uri="{BB962C8B-B14F-4D97-AF65-F5344CB8AC3E}">
        <p14:creationId xmlns:p14="http://schemas.microsoft.com/office/powerpoint/2010/main" val="19929116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Lightbox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304800"/>
            <a:ext cx="8001000" cy="563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249896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Lightbox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304800"/>
            <a:ext cx="8686800" cy="624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839278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62000" y="228600"/>
            <a:ext cx="8305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US" sz="2800" b="1" dirty="0">
                <a:latin typeface="+mj-lt"/>
                <a:ea typeface="+mj-ea"/>
                <a:cs typeface="+mj-cs"/>
              </a:rPr>
              <a:t>References</a:t>
            </a:r>
          </a:p>
        </p:txBody>
      </p:sp>
      <p:sp>
        <p:nvSpPr>
          <p:cNvPr id="2" name="Rectangle 1"/>
          <p:cNvSpPr/>
          <p:nvPr/>
        </p:nvSpPr>
        <p:spPr>
          <a:xfrm>
            <a:off x="873095" y="1066800"/>
            <a:ext cx="830580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hlinkClick r:id="rId2"/>
              </a:rPr>
              <a:t>https://www.uml-diagrams.org/document-management-uml-activity-diagram-example.html</a:t>
            </a:r>
            <a:endParaRPr lang="en-US" dirty="0"/>
          </a:p>
          <a:p>
            <a:endParaRPr lang="en-US" dirty="0"/>
          </a:p>
          <a:p>
            <a:r>
              <a:rPr lang="en-US" dirty="0">
                <a:hlinkClick r:id="rId3"/>
              </a:rPr>
              <a:t>https://venngage.com/blog/activity-diagram/</a:t>
            </a:r>
            <a:endParaRPr lang="en-US" dirty="0"/>
          </a:p>
          <a:p>
            <a:endParaRPr lang="en-US" dirty="0"/>
          </a:p>
          <a:p>
            <a:r>
              <a:rPr lang="en-US" dirty="0">
                <a:hlinkClick r:id="rId4"/>
              </a:rPr>
              <a:t>https://www.geeksforgeeks.org/unified-modeling-language-uml-activity-diagrams/</a:t>
            </a:r>
            <a:endParaRPr lang="en-US" dirty="0"/>
          </a:p>
          <a:p>
            <a:endParaRPr lang="en-US" dirty="0"/>
          </a:p>
          <a:p>
            <a:r>
              <a:rPr lang="en-US" dirty="0">
                <a:hlinkClick r:id="rId5"/>
              </a:rPr>
              <a:t>https://www.visual-paradigm.com/guide/uml-unified-modeling-language/what-is-activity-diagram/</a:t>
            </a:r>
            <a:endParaRPr lang="en-US" dirty="0"/>
          </a:p>
          <a:p>
            <a:endParaRPr lang="en-US" dirty="0"/>
          </a:p>
          <a:p>
            <a:r>
              <a:rPr lang="en-US" dirty="0"/>
              <a:t>https://www.smartdraw.com/activity-diagram/#:~:text=Learn%20More-,What%20is%20an%20Activity%20Diagram%3F,in%20a%20use%20case%20diagram.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74690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1386</Words>
  <Application>Microsoft Office PowerPoint</Application>
  <PresentationFormat>On-screen Show (4:3)</PresentationFormat>
  <Paragraphs>126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5" baseType="lpstr">
      <vt:lpstr>Arial</vt:lpstr>
      <vt:lpstr>Calibri</vt:lpstr>
      <vt:lpstr>Calibri Light</vt:lpstr>
      <vt:lpstr>Georgia</vt:lpstr>
      <vt:lpstr>Office Theme</vt:lpstr>
      <vt:lpstr>System Modeling Lecture 13-18</vt:lpstr>
      <vt:lpstr>Topics covered</vt:lpstr>
      <vt:lpstr>Systems, Models and System Modeling </vt:lpstr>
      <vt:lpstr>System</vt:lpstr>
      <vt:lpstr>Model</vt:lpstr>
      <vt:lpstr>System Modeling</vt:lpstr>
      <vt:lpstr>System Perspective</vt:lpstr>
      <vt:lpstr>Unified Modeling Language</vt:lpstr>
      <vt:lpstr>Types of UML Diagrams</vt:lpstr>
      <vt:lpstr>Use of Graphical Models</vt:lpstr>
      <vt:lpstr>Process Model</vt:lpstr>
      <vt:lpstr>Process Model</vt:lpstr>
      <vt:lpstr>Activity Diagram</vt:lpstr>
      <vt:lpstr>Where to use Activity Diagrams</vt:lpstr>
      <vt:lpstr>Activity Diagram Notations</vt:lpstr>
      <vt:lpstr>Activity Diagram Notations</vt:lpstr>
      <vt:lpstr>Activity Diagram Notations</vt:lpstr>
      <vt:lpstr>Activity Diagram Notations</vt:lpstr>
      <vt:lpstr>Activity Diagram Notations</vt:lpstr>
      <vt:lpstr>Activity Diagram Notations</vt:lpstr>
      <vt:lpstr>Activity Diagram Notations</vt:lpstr>
      <vt:lpstr>Understanding activity diagram symbols</vt:lpstr>
      <vt:lpstr>University Admission System</vt:lpstr>
      <vt:lpstr>Process model of involuntary detention</vt:lpstr>
      <vt:lpstr>Example</vt:lpstr>
      <vt:lpstr>Solution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/>
  <cp:revision>1</cp:revision>
  <dcterms:created xsi:type="dcterms:W3CDTF">2013-02-13T09:48:02Z</dcterms:created>
  <dcterms:modified xsi:type="dcterms:W3CDTF">2025-04-24T05:04:38Z</dcterms:modified>
</cp:coreProperties>
</file>