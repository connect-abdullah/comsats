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>
      <p:cViewPr varScale="1">
        <p:scale>
          <a:sx n="106" d="100"/>
          <a:sy n="106" d="100"/>
        </p:scale>
        <p:origin x="69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8898" y="421385"/>
            <a:ext cx="668464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91135" y="6464680"/>
            <a:ext cx="147574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220339" y="6464680"/>
            <a:ext cx="267081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google.com.pk/url?sa=i&amp;rct=j&amp;q=Computer%20Science&amp;source=images&amp;cd&amp;cad=rja&amp;docid=LrNTvxusaYMOIM&amp;tbnid=OGrvyIFUzYmafM%3A&amp;ved=0CAUQjRw&amp;url=http%3A//myyouthcareer.com/your-bright-future-in-computer-science-is-here/&amp;ei=t0E0UeTEJaHW0QW7voCIAg&amp;psig=AFQjCNFwSqsHZ93xaJeKl2_7URABwZs6Sg&amp;ust=1362465573612447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hyperlink" Target="http://www.google.com.pk/url?sa=i&amp;rct=j&amp;q=Software%2BEngineering&amp;source=images&amp;cd&amp;cad=rja&amp;docid=7nJtiISXJREjfM&amp;tbnid=xEqKRpYKtc5syM%3A&amp;ved&amp;url=http%3A//www.golkoconsulting.com/SoftwareEngineering.aspx&amp;ei=2kE0UYLSCcO40QXx64GICw&amp;psig=AFQjCNEKiaBYnsU1d8Bc_YvB6tS9SnMQBw&amp;ust=1362465626499526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545" y="373761"/>
            <a:ext cx="9175750" cy="3782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2700" spc="2240" dirty="0">
                <a:latin typeface="Microsoft Sans Serif"/>
                <a:cs typeface="Microsoft Sans Serif"/>
              </a:rPr>
              <a:t>🞂</a:t>
            </a:r>
            <a:r>
              <a:rPr sz="2700" dirty="0">
                <a:latin typeface="Microsoft Sans Serif"/>
                <a:cs typeface="Microsoft Sans Serif"/>
              </a:rPr>
              <a:t>​	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(CSC291)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R="380365" algn="ctr">
              <a:lnSpc>
                <a:spcPct val="100000"/>
              </a:lnSpc>
            </a:pPr>
            <a:r>
              <a:rPr sz="4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sz="4000" b="1" u="sng" spc="-2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01</a:t>
            </a:r>
            <a:endParaRPr sz="4000" dirty="0">
              <a:latin typeface="Times New Roman"/>
              <a:cs typeface="Times New Roman"/>
            </a:endParaRPr>
          </a:p>
          <a:p>
            <a:pPr marR="380365" algn="ctr">
              <a:lnSpc>
                <a:spcPct val="100000"/>
              </a:lnSpc>
              <a:spcBef>
                <a:spcPts val="3840"/>
              </a:spcBef>
            </a:pPr>
            <a:r>
              <a:rPr sz="4000" spc="-10" dirty="0">
                <a:latin typeface="Times New Roman"/>
                <a:cs typeface="Times New Roman"/>
              </a:rPr>
              <a:t>Introduction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1" y="351790"/>
            <a:ext cx="562521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890" algn="l"/>
              </a:tabLst>
            </a:pPr>
            <a:r>
              <a:rPr sz="2550" spc="2010" dirty="0">
                <a:latin typeface="Microsoft Sans Serif"/>
                <a:cs typeface="Microsoft Sans Serif"/>
              </a:rPr>
              <a:t>🞂</a:t>
            </a:r>
            <a:r>
              <a:rPr sz="2550" dirty="0">
                <a:latin typeface="Microsoft Sans Serif"/>
                <a:cs typeface="Microsoft Sans Serif"/>
              </a:rPr>
              <a:t>​	</a:t>
            </a:r>
            <a:r>
              <a:rPr sz="37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375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</a:t>
            </a:r>
            <a:r>
              <a:rPr sz="37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3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ered</a:t>
            </a:r>
            <a:endParaRPr sz="37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43035" y="3492500"/>
            <a:ext cx="3308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0744" algn="l"/>
                <a:tab pos="1495425" algn="l"/>
                <a:tab pos="2936875" algn="l"/>
              </a:tabLst>
            </a:pPr>
            <a:r>
              <a:rPr sz="3000" spc="-2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explain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411" y="1527809"/>
            <a:ext cx="6789420" cy="285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Professional</a:t>
            </a:r>
            <a:r>
              <a:rPr sz="3000" b="1" spc="-1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1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development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meant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engineering.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20" dirty="0">
                <a:latin typeface="Times New Roman"/>
                <a:cs typeface="Times New Roman"/>
              </a:rPr>
              <a:t>FAQs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engineering</a:t>
            </a:r>
            <a:endParaRPr sz="3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35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516890" indent="-504190">
              <a:lnSpc>
                <a:spcPts val="3420"/>
              </a:lnSpc>
              <a:buFont typeface="Arial MT"/>
              <a:buChar char="•"/>
              <a:tabLst>
                <a:tab pos="516890" algn="l"/>
                <a:tab pos="1233170" algn="l"/>
                <a:tab pos="3110865" algn="l"/>
                <a:tab pos="4819650" algn="l"/>
              </a:tabLst>
            </a:pP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introduce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software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endParaRPr sz="3000">
              <a:latin typeface="Times New Roman"/>
              <a:cs typeface="Times New Roman"/>
            </a:endParaRPr>
          </a:p>
          <a:p>
            <a:pPr marL="516890">
              <a:lnSpc>
                <a:spcPts val="3420"/>
              </a:lnSpc>
            </a:pPr>
            <a:r>
              <a:rPr sz="3000" spc="-10" dirty="0">
                <a:latin typeface="Times New Roman"/>
                <a:cs typeface="Times New Roman"/>
              </a:rPr>
              <a:t>importance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0411" y="4980178"/>
            <a:ext cx="10342880" cy="8947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16890" marR="5080" indent="-504825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516890" algn="l"/>
                <a:tab pos="1137285" algn="l"/>
                <a:tab pos="1781810" algn="l"/>
                <a:tab pos="2489200" algn="l"/>
                <a:tab pos="3176270" algn="l"/>
                <a:tab pos="4712970" algn="l"/>
                <a:tab pos="5250815" algn="l"/>
                <a:tab pos="6043295" algn="l"/>
                <a:tab pos="7787005" algn="l"/>
                <a:tab pos="8940800" algn="l"/>
              </a:tabLst>
            </a:pP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set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out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answers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to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key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questions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about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software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341452"/>
            <a:ext cx="9464675" cy="5160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95"/>
              </a:spcBef>
              <a:tabLst>
                <a:tab pos="1364615" algn="l"/>
              </a:tabLst>
            </a:pPr>
            <a:r>
              <a:rPr sz="2700" dirty="0">
                <a:latin typeface="Microsoft Sans Serif"/>
                <a:cs typeface="Microsoft Sans Serif"/>
              </a:rPr>
              <a:t>​	</a:t>
            </a:r>
            <a:r>
              <a:rPr sz="4000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FAQs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lang="en-US"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4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4340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software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marR="5080" indent="-504825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516890" algn="l"/>
                <a:tab pos="1532255" algn="l"/>
                <a:tab pos="1975485" algn="l"/>
                <a:tab pos="2629535" algn="l"/>
                <a:tab pos="4443095" algn="l"/>
                <a:tab pos="5967095" algn="l"/>
                <a:tab pos="7546340" algn="l"/>
              </a:tabLst>
            </a:pPr>
            <a:r>
              <a:rPr sz="3000" spc="-20" dirty="0">
                <a:latin typeface="Times New Roman"/>
                <a:cs typeface="Times New Roman"/>
              </a:rPr>
              <a:t>What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difference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between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software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engineering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computer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science?</a:t>
            </a:r>
            <a:endParaRPr sz="3000" dirty="0">
              <a:latin typeface="Times New Roman"/>
              <a:cs typeface="Times New Roman"/>
            </a:endParaRPr>
          </a:p>
          <a:p>
            <a:pPr marL="516890" marR="5080" indent="-504825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516890" algn="l"/>
                <a:tab pos="1532255" algn="l"/>
                <a:tab pos="1975485" algn="l"/>
                <a:tab pos="2629535" algn="l"/>
                <a:tab pos="4443095" algn="l"/>
                <a:tab pos="5967095" algn="l"/>
                <a:tab pos="7546340" algn="l"/>
              </a:tabLst>
            </a:pPr>
            <a:r>
              <a:rPr sz="3000" spc="-20" dirty="0">
                <a:latin typeface="Times New Roman"/>
                <a:cs typeface="Times New Roman"/>
              </a:rPr>
              <a:t>What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difference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between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software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engineering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-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process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process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model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52" y="533400"/>
            <a:ext cx="9700895" cy="457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2505">
              <a:lnSpc>
                <a:spcPct val="100000"/>
              </a:lnSpc>
              <a:spcBef>
                <a:spcPts val="95"/>
              </a:spcBef>
              <a:tabLst>
                <a:tab pos="1497330" algn="l"/>
              </a:tabLst>
            </a:pPr>
            <a:r>
              <a:rPr sz="2700" dirty="0">
                <a:latin typeface="Microsoft Sans Serif"/>
                <a:cs typeface="Microsoft Sans Serif"/>
              </a:rPr>
              <a:t>	</a:t>
            </a:r>
            <a:r>
              <a:rPr sz="4000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FAQs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lang="en-US"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costs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engineering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methods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attributes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good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software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key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challenges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facing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Stakeholders</a:t>
            </a:r>
            <a:r>
              <a:rPr sz="3000" b="1" i="1" spc="-40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in</a:t>
            </a:r>
            <a:r>
              <a:rPr sz="3000" b="1" i="1" spc="-40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Software</a:t>
            </a:r>
            <a:r>
              <a:rPr sz="3000" b="1" i="1" spc="-50" dirty="0">
                <a:latin typeface="Times New Roman"/>
                <a:cs typeface="Times New Roman"/>
              </a:rPr>
              <a:t> </a:t>
            </a:r>
            <a:r>
              <a:rPr sz="3000" b="1" i="1" spc="-10" dirty="0">
                <a:latin typeface="Times New Roman"/>
                <a:cs typeface="Times New Roman"/>
              </a:rPr>
              <a:t>Engineering</a:t>
            </a:r>
            <a:r>
              <a:rPr sz="3000" i="1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  <a:p>
            <a:pPr marL="516890" indent="-50419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516890" algn="l"/>
              </a:tabLst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Difficulties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Risks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</a:t>
            </a:r>
            <a:r>
              <a:rPr sz="3000" spc="-10" dirty="0">
                <a:latin typeface="Times New Roman"/>
                <a:cs typeface="Times New Roman"/>
              </a:rPr>
              <a:t>?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5405" y="349453"/>
            <a:ext cx="10337165" cy="431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6210">
              <a:lnSpc>
                <a:spcPct val="100000"/>
              </a:lnSpc>
              <a:spcBef>
                <a:spcPts val="95"/>
              </a:spcBef>
              <a:tabLst>
                <a:tab pos="3200400" algn="l"/>
              </a:tabLst>
            </a:pPr>
            <a:r>
              <a:rPr sz="2700" dirty="0">
                <a:latin typeface="Microsoft Sans Serif"/>
                <a:cs typeface="Microsoft Sans Serif"/>
              </a:rPr>
              <a:t>	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Software?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516890" marR="5080" indent="-504825" algn="just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516890" algn="l"/>
                <a:tab pos="518159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Software:</a:t>
            </a:r>
            <a:r>
              <a:rPr sz="3000" b="1" spc="47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3000" b="1" dirty="0">
                <a:latin typeface="Times New Roman"/>
                <a:cs typeface="Times New Roman"/>
              </a:rPr>
              <a:t>“Computer</a:t>
            </a:r>
            <a:r>
              <a:rPr sz="3000" b="1" spc="465" dirty="0">
                <a:latin typeface="Times New Roman"/>
                <a:cs typeface="Times New Roman"/>
              </a:rPr>
              <a:t>    </a:t>
            </a:r>
            <a:r>
              <a:rPr sz="3000" b="1" dirty="0">
                <a:latin typeface="Times New Roman"/>
                <a:cs typeface="Times New Roman"/>
              </a:rPr>
              <a:t>programs</a:t>
            </a:r>
            <a:r>
              <a:rPr sz="3000" b="1" spc="475" dirty="0">
                <a:latin typeface="Times New Roman"/>
                <a:cs typeface="Times New Roman"/>
              </a:rPr>
              <a:t>   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475" dirty="0">
                <a:latin typeface="Times New Roman"/>
                <a:cs typeface="Times New Roman"/>
              </a:rPr>
              <a:t>    </a:t>
            </a:r>
            <a:r>
              <a:rPr sz="3000" b="1" spc="-10" dirty="0">
                <a:latin typeface="Times New Roman"/>
                <a:cs typeface="Times New Roman"/>
              </a:rPr>
              <a:t>associated </a:t>
            </a:r>
            <a:r>
              <a:rPr sz="3000" b="1" dirty="0">
                <a:latin typeface="Times New Roman"/>
                <a:cs typeface="Times New Roman"/>
              </a:rPr>
              <a:t>documentation</a:t>
            </a:r>
            <a:r>
              <a:rPr sz="3000" b="1" spc="4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such</a:t>
            </a:r>
            <a:r>
              <a:rPr sz="3000" b="1" spc="4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4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requirements,</a:t>
            </a:r>
            <a:r>
              <a:rPr sz="3000" b="1" spc="4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design</a:t>
            </a:r>
            <a:r>
              <a:rPr sz="3000" b="1" spc="4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models</a:t>
            </a:r>
            <a:r>
              <a:rPr sz="3000" b="1" spc="40" dirty="0">
                <a:latin typeface="Times New Roman"/>
                <a:cs typeface="Times New Roman"/>
              </a:rPr>
              <a:t>  </a:t>
            </a:r>
            <a:r>
              <a:rPr sz="3000" b="1" spc="-25" dirty="0">
                <a:latin typeface="Times New Roman"/>
                <a:cs typeface="Times New Roman"/>
              </a:rPr>
              <a:t>and </a:t>
            </a:r>
            <a:r>
              <a:rPr sz="3000" b="1" dirty="0">
                <a:latin typeface="Times New Roman"/>
                <a:cs typeface="Times New Roman"/>
              </a:rPr>
              <a:t>user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manuals”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516890" marR="6350" indent="-504825" algn="just">
              <a:lnSpc>
                <a:spcPts val="3240"/>
              </a:lnSpc>
              <a:buFont typeface="Arial MT"/>
              <a:buChar char="•"/>
              <a:tabLst>
                <a:tab pos="516890" algn="l"/>
                <a:tab pos="518159" algn="l"/>
              </a:tabLst>
            </a:pPr>
            <a:r>
              <a:rPr sz="3000" dirty="0">
                <a:latin typeface="Times New Roman"/>
                <a:cs typeface="Times New Roman"/>
              </a:rPr>
              <a:t>	Software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products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particular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customer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general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market.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974" y="331723"/>
            <a:ext cx="10285095" cy="6026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9715">
              <a:lnSpc>
                <a:spcPct val="100000"/>
              </a:lnSpc>
              <a:spcBef>
                <a:spcPts val="95"/>
              </a:spcBef>
              <a:tabLst>
                <a:tab pos="4574540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Program:</a:t>
            </a:r>
            <a:r>
              <a:rPr sz="2800" b="1" spc="5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5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itself</a:t>
            </a:r>
            <a:r>
              <a:rPr sz="2800" spc="5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5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definitely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included</a:t>
            </a:r>
            <a:r>
              <a:rPr sz="2800" spc="5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0" dirty="0">
                <a:latin typeface="Times New Roman"/>
                <a:cs typeface="Times New Roman"/>
              </a:rPr>
              <a:t>software.</a:t>
            </a:r>
            <a:endParaRPr sz="2800" dirty="0">
              <a:latin typeface="Times New Roman"/>
              <a:cs typeface="Times New Roman"/>
            </a:endParaRPr>
          </a:p>
          <a:p>
            <a:pPr marL="240029" marR="7620" indent="-227329" algn="just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Data:</a:t>
            </a:r>
            <a:r>
              <a:rPr sz="2800" b="1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operates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considered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 	</a:t>
            </a:r>
            <a:r>
              <a:rPr sz="2800" dirty="0">
                <a:latin typeface="Times New Roman"/>
                <a:cs typeface="Times New Roman"/>
              </a:rPr>
              <a:t>part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software.</a:t>
            </a:r>
            <a:endParaRPr sz="2800" dirty="0">
              <a:latin typeface="Times New Roman"/>
              <a:cs typeface="Times New Roman"/>
            </a:endParaRPr>
          </a:p>
          <a:p>
            <a:pPr marL="240029" marR="5715" indent="-227329" algn="just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Documentation: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very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important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thing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forget 	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documentation.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documents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also 	</a:t>
            </a:r>
            <a:r>
              <a:rPr sz="2800" dirty="0">
                <a:latin typeface="Times New Roman"/>
                <a:cs typeface="Times New Roman"/>
              </a:rPr>
              <a:t>considered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software.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written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Cobol,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Fortran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	</a:t>
            </a:r>
            <a:r>
              <a:rPr sz="2800" dirty="0">
                <a:latin typeface="Times New Roman"/>
                <a:cs typeface="Times New Roman"/>
              </a:rPr>
              <a:t>C++.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documentation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0" dirty="0">
                <a:latin typeface="Times New Roman"/>
                <a:cs typeface="Times New Roman"/>
              </a:rPr>
              <a:t>program.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438658"/>
            <a:ext cx="9180195" cy="587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40305">
              <a:lnSpc>
                <a:spcPct val="100000"/>
              </a:lnSpc>
              <a:spcBef>
                <a:spcPts val="95"/>
              </a:spcBef>
              <a:tabLst>
                <a:tab pos="2944495" algn="l"/>
              </a:tabLst>
            </a:pPr>
            <a:r>
              <a:rPr sz="40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Software.</a:t>
            </a:r>
            <a:endParaRPr sz="4000" dirty="0">
              <a:latin typeface="Times New Roman"/>
              <a:cs typeface="Times New Roman"/>
            </a:endParaRPr>
          </a:p>
          <a:p>
            <a:pPr marL="133985" indent="-133350">
              <a:lnSpc>
                <a:spcPct val="100000"/>
              </a:lnSpc>
              <a:spcBef>
                <a:spcPts val="4495"/>
              </a:spcBef>
              <a:buFont typeface="Arial MT"/>
              <a:buChar char="•"/>
              <a:tabLst>
                <a:tab pos="133985" algn="l"/>
              </a:tabLst>
            </a:pPr>
            <a:r>
              <a:rPr sz="2600" b="1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Custom</a:t>
            </a:r>
            <a:endParaRPr sz="2600" dirty="0">
              <a:latin typeface="Times New Roman"/>
              <a:cs typeface="Times New Roman"/>
            </a:endParaRPr>
          </a:p>
          <a:p>
            <a:pPr marL="431165" lvl="1" indent="-211454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431165" algn="l"/>
              </a:tabLst>
            </a:pP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customer</a:t>
            </a:r>
            <a:endParaRPr sz="2600" dirty="0">
              <a:latin typeface="Times New Roman"/>
              <a:cs typeface="Times New Roman"/>
            </a:endParaRPr>
          </a:p>
          <a:p>
            <a:pPr marL="127635" indent="-125730">
              <a:lnSpc>
                <a:spcPct val="100000"/>
              </a:lnSpc>
              <a:spcBef>
                <a:spcPts val="700"/>
              </a:spcBef>
              <a:buSzPct val="94230"/>
              <a:buFont typeface="Arial MT"/>
              <a:buChar char="•"/>
              <a:tabLst>
                <a:tab pos="127635" algn="l"/>
              </a:tabLst>
            </a:pPr>
            <a:r>
              <a:rPr sz="2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Generic</a:t>
            </a:r>
            <a:endParaRPr sz="2600" dirty="0">
              <a:latin typeface="Times New Roman"/>
              <a:cs typeface="Times New Roman"/>
            </a:endParaRPr>
          </a:p>
          <a:p>
            <a:pPr marL="431165" lvl="1" indent="-211454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431165" algn="l"/>
              </a:tabLst>
            </a:pPr>
            <a:r>
              <a:rPr sz="2600" dirty="0">
                <a:latin typeface="Times New Roman"/>
                <a:cs typeface="Times New Roman"/>
              </a:rPr>
              <a:t>Sold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 open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market</a:t>
            </a:r>
            <a:endParaRPr sz="2600" dirty="0">
              <a:latin typeface="Times New Roman"/>
              <a:cs typeface="Times New Roman"/>
            </a:endParaRPr>
          </a:p>
          <a:p>
            <a:pPr marL="431165" lvl="1" indent="-211454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31165" algn="l"/>
              </a:tabLst>
            </a:pPr>
            <a:r>
              <a:rPr sz="2600" dirty="0">
                <a:latin typeface="Times New Roman"/>
                <a:cs typeface="Times New Roman"/>
              </a:rPr>
              <a:t>Often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called</a:t>
            </a:r>
            <a:endParaRPr sz="2600" dirty="0">
              <a:latin typeface="Times New Roman"/>
              <a:cs typeface="Times New Roman"/>
            </a:endParaRPr>
          </a:p>
          <a:p>
            <a:pPr marL="885825" lvl="2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885825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COTS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(Commercial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Off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Shelf)</a:t>
            </a:r>
            <a:endParaRPr sz="2600" dirty="0">
              <a:latin typeface="Times New Roman"/>
              <a:cs typeface="Times New Roman"/>
            </a:endParaRPr>
          </a:p>
          <a:p>
            <a:pPr marL="885825" marR="5080" lvl="2" indent="-228600">
              <a:lnSpc>
                <a:spcPts val="2810"/>
              </a:lnSpc>
              <a:spcBef>
                <a:spcPts val="535"/>
              </a:spcBef>
              <a:buFont typeface="Arial MT"/>
              <a:buChar char="•"/>
              <a:tabLst>
                <a:tab pos="885825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Shrink-</a:t>
            </a:r>
            <a:r>
              <a:rPr sz="2600" b="1" dirty="0">
                <a:latin typeface="Times New Roman"/>
                <a:cs typeface="Times New Roman"/>
              </a:rPr>
              <a:t>wrapped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(Refers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store-</a:t>
            </a:r>
            <a:r>
              <a:rPr sz="2600" dirty="0">
                <a:latin typeface="Times New Roman"/>
                <a:cs typeface="Times New Roman"/>
              </a:rPr>
              <a:t>bought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implying </a:t>
            </a:r>
            <a:r>
              <a:rPr sz="2600" spc="-50" dirty="0">
                <a:latin typeface="Times New Roman"/>
                <a:cs typeface="Times New Roman"/>
              </a:rPr>
              <a:t>a </a:t>
            </a:r>
            <a:r>
              <a:rPr sz="2600" dirty="0">
                <a:latin typeface="Times New Roman"/>
                <a:cs typeface="Times New Roman"/>
              </a:rPr>
              <a:t>standard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platform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widely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supported.)</a:t>
            </a:r>
            <a:endParaRPr sz="2600" dirty="0">
              <a:latin typeface="Times New Roman"/>
              <a:cs typeface="Times New Roman"/>
            </a:endParaRPr>
          </a:p>
          <a:p>
            <a:pPr marL="127635" indent="-125095">
              <a:lnSpc>
                <a:spcPct val="100000"/>
              </a:lnSpc>
              <a:spcBef>
                <a:spcPts val="650"/>
              </a:spcBef>
              <a:buSzPct val="94230"/>
              <a:buFont typeface="Arial MT"/>
              <a:buChar char="•"/>
              <a:tabLst>
                <a:tab pos="127635" algn="l"/>
              </a:tabLst>
            </a:pPr>
            <a:r>
              <a:rPr sz="2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Embedded</a:t>
            </a:r>
            <a:endParaRPr sz="2600" dirty="0">
              <a:latin typeface="Times New Roman"/>
              <a:cs typeface="Times New Roman"/>
            </a:endParaRPr>
          </a:p>
          <a:p>
            <a:pPr marL="431165" lvl="1" indent="-211454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31165" algn="l"/>
              </a:tabLst>
            </a:pPr>
            <a:r>
              <a:rPr sz="2600" dirty="0">
                <a:latin typeface="Times New Roman"/>
                <a:cs typeface="Times New Roman"/>
              </a:rPr>
              <a:t>Built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hardware</a:t>
            </a:r>
            <a:endParaRPr sz="2600" dirty="0">
              <a:latin typeface="Times New Roman"/>
              <a:cs typeface="Times New Roman"/>
            </a:endParaRPr>
          </a:p>
          <a:p>
            <a:pPr marL="431165" lvl="1" indent="-211454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431165" algn="l"/>
              </a:tabLst>
            </a:pPr>
            <a:r>
              <a:rPr sz="2600" dirty="0">
                <a:latin typeface="Times New Roman"/>
                <a:cs typeface="Times New Roman"/>
              </a:rPr>
              <a:t>Hard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10" dirty="0">
                <a:latin typeface="Times New Roman"/>
                <a:cs typeface="Times New Roman"/>
              </a:rPr>
              <a:t>change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245" y="359410"/>
            <a:ext cx="9142095" cy="1692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7995">
              <a:lnSpc>
                <a:spcPct val="100000"/>
              </a:lnSpc>
              <a:spcBef>
                <a:spcPts val="95"/>
              </a:spcBef>
              <a:tabLst>
                <a:tab pos="3512185" algn="l"/>
              </a:tabLst>
            </a:pPr>
            <a:r>
              <a:rPr sz="40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09245" algn="l"/>
              </a:tabLst>
            </a:pP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Differences</a:t>
            </a:r>
            <a:r>
              <a:rPr sz="275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FF0000"/>
                </a:solidFill>
                <a:latin typeface="Times New Roman"/>
                <a:cs typeface="Times New Roman"/>
              </a:rPr>
              <a:t>among</a:t>
            </a:r>
            <a:r>
              <a:rPr sz="27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custom,</a:t>
            </a:r>
            <a:r>
              <a:rPr sz="2750" b="1" spc="-5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generic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and</a:t>
            </a:r>
            <a:r>
              <a:rPr sz="2750" b="1" spc="-5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embedded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software</a:t>
            </a:r>
            <a:endParaRPr sz="275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525" y="2011870"/>
            <a:ext cx="9983470" cy="417906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359410"/>
            <a:ext cx="9674225" cy="543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0">
              <a:lnSpc>
                <a:spcPct val="100000"/>
              </a:lnSpc>
              <a:spcBef>
                <a:spcPts val="95"/>
              </a:spcBef>
              <a:tabLst>
                <a:tab pos="3037840" algn="l"/>
              </a:tabLst>
            </a:pPr>
            <a:r>
              <a:rPr sz="40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SzPct val="109090"/>
              <a:buFont typeface="Arial MT"/>
              <a:buChar char="•"/>
              <a:tabLst>
                <a:tab pos="241300" algn="l"/>
              </a:tabLst>
            </a:pPr>
            <a:r>
              <a:rPr sz="27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Real</a:t>
            </a:r>
            <a:r>
              <a:rPr sz="275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r>
              <a:rPr sz="275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2750" dirty="0">
              <a:latin typeface="Times New Roman"/>
              <a:cs typeface="Times New Roman"/>
            </a:endParaRPr>
          </a:p>
          <a:p>
            <a:pPr marL="888365" lvl="1" indent="-211454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888365" algn="l"/>
              </a:tabLst>
            </a:pPr>
            <a:r>
              <a:rPr sz="3000" b="1" dirty="0">
                <a:latin typeface="Times New Roman"/>
                <a:cs typeface="Times New Roman"/>
              </a:rPr>
              <a:t>Example</a:t>
            </a:r>
            <a:r>
              <a:rPr sz="3000" dirty="0">
                <a:latin typeface="Times New Roman"/>
                <a:cs typeface="Times New Roman"/>
              </a:rPr>
              <a:t>.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Control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</a:t>
            </a:r>
            <a:endParaRPr sz="3000" dirty="0">
              <a:latin typeface="Times New Roman"/>
              <a:cs typeface="Times New Roman"/>
            </a:endParaRPr>
          </a:p>
          <a:p>
            <a:pPr marL="888365" lvl="1" indent="-211454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888365" algn="l"/>
              </a:tabLst>
            </a:pPr>
            <a:r>
              <a:rPr sz="3000" dirty="0">
                <a:latin typeface="Times New Roman"/>
                <a:cs typeface="Times New Roman"/>
              </a:rPr>
              <a:t>Must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react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immediately</a:t>
            </a:r>
            <a:endParaRPr sz="3000" dirty="0">
              <a:latin typeface="Times New Roman"/>
              <a:cs typeface="Times New Roman"/>
            </a:endParaRPr>
          </a:p>
          <a:p>
            <a:pPr marL="888365" lvl="1" indent="-211454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888365" algn="l"/>
              </a:tabLst>
            </a:pPr>
            <a:r>
              <a:rPr sz="3000" dirty="0">
                <a:latin typeface="Times New Roman"/>
                <a:cs typeface="Times New Roman"/>
              </a:rPr>
              <a:t>Safety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concern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94"/>
              </a:spcBef>
              <a:buSzPct val="109090"/>
              <a:buFont typeface="Arial MT"/>
              <a:buChar char="•"/>
              <a:tabLst>
                <a:tab pos="241300" algn="l"/>
              </a:tabLst>
            </a:pPr>
            <a:r>
              <a:rPr sz="27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275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processing</a:t>
            </a:r>
            <a:r>
              <a:rPr sz="275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2750" dirty="0">
              <a:latin typeface="Times New Roman"/>
              <a:cs typeface="Times New Roman"/>
            </a:endParaRPr>
          </a:p>
          <a:p>
            <a:pPr marL="888365" lvl="1" indent="-211454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888365" algn="l"/>
              </a:tabLst>
            </a:pP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run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businesses</a:t>
            </a:r>
            <a:endParaRPr sz="3000" dirty="0">
              <a:latin typeface="Times New Roman"/>
              <a:cs typeface="Times New Roman"/>
            </a:endParaRPr>
          </a:p>
          <a:p>
            <a:pPr marL="888365" lvl="1" indent="-211454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888365" algn="l"/>
              </a:tabLst>
            </a:pPr>
            <a:r>
              <a:rPr sz="3000" dirty="0">
                <a:latin typeface="Times New Roman"/>
                <a:cs typeface="Times New Roman"/>
              </a:rPr>
              <a:t>Accuracy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security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key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72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i="1" dirty="0">
                <a:latin typeface="Times New Roman"/>
                <a:cs typeface="Times New Roman"/>
              </a:rPr>
              <a:t>Some</a:t>
            </a:r>
            <a:r>
              <a:rPr sz="3000" b="1" i="1" spc="-35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software</a:t>
            </a:r>
            <a:r>
              <a:rPr sz="3000" b="1" i="1" spc="-35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have</a:t>
            </a:r>
            <a:r>
              <a:rPr sz="3000" b="1" i="1" spc="-30" dirty="0">
                <a:latin typeface="Times New Roman"/>
                <a:cs typeface="Times New Roman"/>
              </a:rPr>
              <a:t> </a:t>
            </a:r>
            <a:r>
              <a:rPr sz="3000" b="1" i="1" dirty="0">
                <a:latin typeface="Times New Roman"/>
                <a:cs typeface="Times New Roman"/>
              </a:rPr>
              <a:t>both</a:t>
            </a:r>
            <a:r>
              <a:rPr sz="3000" b="1" i="1" spc="-35" dirty="0">
                <a:latin typeface="Times New Roman"/>
                <a:cs typeface="Times New Roman"/>
              </a:rPr>
              <a:t> </a:t>
            </a:r>
            <a:r>
              <a:rPr sz="3000" b="1" i="1" spc="-10" dirty="0">
                <a:latin typeface="Times New Roman"/>
                <a:cs typeface="Times New Roman"/>
              </a:rPr>
              <a:t>aspects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0827" y="4016375"/>
            <a:ext cx="82550" cy="32384"/>
          </a:xfrm>
          <a:custGeom>
            <a:avLst/>
            <a:gdLst/>
            <a:ahLst/>
            <a:cxnLst/>
            <a:rect l="l" t="t" r="r" b="b"/>
            <a:pathLst>
              <a:path w="82550" h="32385">
                <a:moveTo>
                  <a:pt x="82296" y="0"/>
                </a:moveTo>
                <a:lnTo>
                  <a:pt x="0" y="0"/>
                </a:lnTo>
                <a:lnTo>
                  <a:pt x="0" y="32004"/>
                </a:lnTo>
                <a:lnTo>
                  <a:pt x="82296" y="32004"/>
                </a:lnTo>
                <a:lnTo>
                  <a:pt x="82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9184" y="302133"/>
            <a:ext cx="10394950" cy="531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2565">
              <a:lnSpc>
                <a:spcPct val="100000"/>
              </a:lnSpc>
              <a:spcBef>
                <a:spcPts val="95"/>
              </a:spcBef>
              <a:tabLst>
                <a:tab pos="3247390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Products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133985" indent="-133350">
              <a:lnSpc>
                <a:spcPct val="100000"/>
              </a:lnSpc>
              <a:buSzPct val="94545"/>
              <a:buFont typeface="Arial MT"/>
              <a:buChar char="•"/>
              <a:tabLst>
                <a:tab pos="133985" algn="l"/>
              </a:tabLst>
            </a:pPr>
            <a:r>
              <a:rPr sz="27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Generic</a:t>
            </a:r>
            <a:r>
              <a:rPr sz="2750" b="1" u="sng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Products</a:t>
            </a:r>
            <a:endParaRPr sz="2750" dirty="0">
              <a:latin typeface="Times New Roman"/>
              <a:cs typeface="Times New Roman"/>
            </a:endParaRPr>
          </a:p>
          <a:p>
            <a:pPr marL="697865" marR="6985" lvl="1" indent="-228600">
              <a:lnSpc>
                <a:spcPts val="281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  <a:tab pos="2414270" algn="l"/>
                <a:tab pos="3600450" algn="l"/>
                <a:tab pos="4234180" algn="l"/>
                <a:tab pos="4775200" algn="l"/>
                <a:tab pos="6142355" algn="l"/>
                <a:tab pos="6758305" algn="l"/>
                <a:tab pos="7449184" algn="l"/>
                <a:tab pos="7845425" algn="l"/>
                <a:tab pos="8462645" algn="l"/>
                <a:tab pos="9810115" algn="l"/>
              </a:tabLst>
            </a:pPr>
            <a:r>
              <a:rPr sz="2600" spc="-10" dirty="0">
                <a:latin typeface="Times New Roman"/>
                <a:cs typeface="Times New Roman"/>
              </a:rPr>
              <a:t>Stand-</a:t>
            </a:r>
            <a:r>
              <a:rPr sz="2600" spc="-20" dirty="0">
                <a:latin typeface="Times New Roman"/>
                <a:cs typeface="Times New Roman"/>
              </a:rPr>
              <a:t>alone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marketed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sold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customer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who </a:t>
            </a:r>
            <a:r>
              <a:rPr sz="2600" dirty="0">
                <a:latin typeface="Times New Roman"/>
                <a:cs typeface="Times New Roman"/>
              </a:rPr>
              <a:t>wishes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buy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them.</a:t>
            </a:r>
            <a:endParaRPr sz="2600" dirty="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  <a:tab pos="2368550" algn="l"/>
                <a:tab pos="2828925" algn="l"/>
                <a:tab pos="3528695" algn="l"/>
                <a:tab pos="4959985" algn="l"/>
                <a:tab pos="5859145" algn="l"/>
                <a:tab pos="6427470" algn="l"/>
                <a:tab pos="7840345" algn="l"/>
                <a:tab pos="946404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Examples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PC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software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such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graphics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programs,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project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tools;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software;</a:t>
            </a:r>
            <a:endParaRPr sz="2600" dirty="0">
              <a:latin typeface="Times New Roman"/>
              <a:cs typeface="Times New Roman"/>
            </a:endParaRPr>
          </a:p>
          <a:p>
            <a:pPr marL="173990" indent="-161290">
              <a:lnSpc>
                <a:spcPct val="100000"/>
              </a:lnSpc>
              <a:spcBef>
                <a:spcPts val="645"/>
              </a:spcBef>
              <a:buClr>
                <a:srgbClr val="000000"/>
              </a:buClr>
              <a:buSzPct val="67307"/>
              <a:buFont typeface="Arial MT"/>
              <a:buChar char="•"/>
              <a:tabLst>
                <a:tab pos="173990" algn="l"/>
              </a:tabLst>
            </a:pPr>
            <a:r>
              <a:rPr sz="2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Customized</a:t>
            </a:r>
            <a:r>
              <a:rPr sz="26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Products</a:t>
            </a:r>
            <a:endParaRPr sz="2600" dirty="0">
              <a:latin typeface="Times New Roman"/>
              <a:cs typeface="Times New Roman"/>
            </a:endParaRPr>
          </a:p>
          <a:p>
            <a:pPr marL="697865" marR="5715" lvl="1" indent="-228600">
              <a:lnSpc>
                <a:spcPts val="281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commissioned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customer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meet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own </a:t>
            </a:r>
            <a:r>
              <a:rPr sz="2600" spc="-10" dirty="0">
                <a:latin typeface="Times New Roman"/>
                <a:cs typeface="Times New Roman"/>
              </a:rPr>
              <a:t>needs.</a:t>
            </a:r>
            <a:endParaRPr sz="2600" dirty="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  <a:tab pos="2252980" algn="l"/>
                <a:tab pos="2595880" algn="l"/>
                <a:tab pos="4128770" algn="l"/>
                <a:tab pos="5241925" algn="l"/>
                <a:tab pos="6546215" algn="l"/>
                <a:tab pos="7072630" algn="l"/>
                <a:tab pos="8047990" algn="l"/>
                <a:tab pos="9162415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Examples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embedded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control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systems,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air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traffic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control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software, </a:t>
            </a:r>
            <a:r>
              <a:rPr sz="2600" dirty="0">
                <a:latin typeface="Times New Roman"/>
                <a:cs typeface="Times New Roman"/>
              </a:rPr>
              <a:t>traffic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monitoring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31723"/>
            <a:ext cx="10344150" cy="4860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2245">
              <a:lnSpc>
                <a:spcPct val="100000"/>
              </a:lnSpc>
              <a:spcBef>
                <a:spcPts val="95"/>
              </a:spcBef>
              <a:tabLst>
                <a:tab pos="3226435" algn="l"/>
              </a:tabLst>
            </a:pPr>
            <a:r>
              <a:rPr sz="2700" spc="2240" dirty="0">
                <a:latin typeface="Microsoft Sans Serif"/>
                <a:cs typeface="Microsoft Sans Serif"/>
              </a:rPr>
              <a:t>🞂</a:t>
            </a:r>
            <a:r>
              <a:rPr sz="2700" dirty="0">
                <a:latin typeface="Microsoft Sans Serif"/>
                <a:cs typeface="Microsoft Sans Serif"/>
              </a:rPr>
              <a:t>​	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Product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4000">
              <a:latin typeface="Times New Roman"/>
              <a:cs typeface="Times New Roman"/>
            </a:endParaRPr>
          </a:p>
          <a:p>
            <a:pPr marL="133985" indent="-130175" algn="just">
              <a:lnSpc>
                <a:spcPct val="100000"/>
              </a:lnSpc>
              <a:spcBef>
                <a:spcPts val="5"/>
              </a:spcBef>
              <a:buSzPct val="96363"/>
              <a:buFont typeface="Arial MT"/>
              <a:buChar char="•"/>
              <a:tabLst>
                <a:tab pos="133985" algn="l"/>
              </a:tabLst>
            </a:pPr>
            <a:r>
              <a:rPr sz="27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Generic</a:t>
            </a:r>
            <a:r>
              <a:rPr sz="2750" b="1" u="sng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products</a:t>
            </a:r>
            <a:endParaRPr sz="2750">
              <a:latin typeface="Times New Roman"/>
              <a:cs typeface="Times New Roman"/>
            </a:endParaRPr>
          </a:p>
          <a:p>
            <a:pPr marL="697230" marR="5080" lvl="1" indent="-227329" algn="just">
              <a:lnSpc>
                <a:spcPct val="900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specification</a:t>
            </a:r>
            <a:r>
              <a:rPr sz="2750" spc="2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2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what</a:t>
            </a:r>
            <a:r>
              <a:rPr sz="2750" spc="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2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software</a:t>
            </a:r>
            <a:r>
              <a:rPr sz="2750" spc="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should</a:t>
            </a:r>
            <a:r>
              <a:rPr sz="2750" spc="2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do</a:t>
            </a:r>
            <a:r>
              <a:rPr sz="2750" spc="25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254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owned</a:t>
            </a:r>
            <a:r>
              <a:rPr sz="2750" b="1" spc="26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by</a:t>
            </a:r>
            <a:r>
              <a:rPr sz="2750" b="1" spc="260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the 	</a:t>
            </a:r>
            <a:r>
              <a:rPr sz="2750" b="1" dirty="0">
                <a:latin typeface="Times New Roman"/>
                <a:cs typeface="Times New Roman"/>
              </a:rPr>
              <a:t>software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developer</a:t>
            </a:r>
            <a:r>
              <a:rPr sz="2750" b="1" spc="-8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and</a:t>
            </a:r>
            <a:r>
              <a:rPr sz="2750" b="1" spc="-6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decisions</a:t>
            </a:r>
            <a:r>
              <a:rPr sz="2750" b="1" spc="-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software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change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are</a:t>
            </a:r>
            <a:r>
              <a:rPr sz="2750" b="1" spc="-5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made</a:t>
            </a:r>
            <a:r>
              <a:rPr sz="2750" b="1" spc="-50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by 	</a:t>
            </a:r>
            <a:r>
              <a:rPr sz="2750" b="1" dirty="0">
                <a:latin typeface="Times New Roman"/>
                <a:cs typeface="Times New Roman"/>
              </a:rPr>
              <a:t>the</a:t>
            </a:r>
            <a:r>
              <a:rPr sz="2750" b="1" spc="-15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developer</a:t>
            </a:r>
            <a:r>
              <a:rPr sz="2750" spc="-10" dirty="0">
                <a:latin typeface="Times New Roman"/>
                <a:cs typeface="Times New Roman"/>
              </a:rPr>
              <a:t>.</a:t>
            </a:r>
            <a:endParaRPr sz="2750">
              <a:latin typeface="Times New Roman"/>
              <a:cs typeface="Times New Roman"/>
            </a:endParaRPr>
          </a:p>
          <a:p>
            <a:pPr marL="133985" indent="-130175" algn="just">
              <a:lnSpc>
                <a:spcPct val="100000"/>
              </a:lnSpc>
              <a:spcBef>
                <a:spcPts val="2355"/>
              </a:spcBef>
              <a:buSzPct val="96363"/>
              <a:buFont typeface="Arial MT"/>
              <a:buChar char="•"/>
              <a:tabLst>
                <a:tab pos="133985" algn="l"/>
              </a:tabLst>
            </a:pPr>
            <a:r>
              <a:rPr sz="27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Customized</a:t>
            </a:r>
            <a:r>
              <a:rPr sz="2750" b="1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products</a:t>
            </a:r>
            <a:endParaRPr sz="275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2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specification</a:t>
            </a:r>
            <a:r>
              <a:rPr sz="2750" spc="2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2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what</a:t>
            </a:r>
            <a:r>
              <a:rPr sz="2750" spc="2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2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software</a:t>
            </a:r>
            <a:r>
              <a:rPr sz="2750" spc="2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should</a:t>
            </a:r>
            <a:r>
              <a:rPr sz="2750" spc="2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do</a:t>
            </a:r>
            <a:r>
              <a:rPr sz="2750" spc="2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26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owned</a:t>
            </a:r>
            <a:r>
              <a:rPr sz="2750" b="1" spc="27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by</a:t>
            </a:r>
            <a:r>
              <a:rPr sz="2750" b="1" spc="275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the </a:t>
            </a:r>
            <a:r>
              <a:rPr sz="2750" b="1" dirty="0">
                <a:latin typeface="Times New Roman"/>
                <a:cs typeface="Times New Roman"/>
              </a:rPr>
              <a:t>customer</a:t>
            </a:r>
            <a:r>
              <a:rPr sz="2750" b="1" spc="16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for</a:t>
            </a:r>
            <a:r>
              <a:rPr sz="2750" b="1" spc="16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the</a:t>
            </a:r>
            <a:r>
              <a:rPr sz="2750" b="1" spc="21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software</a:t>
            </a:r>
            <a:r>
              <a:rPr sz="2750" b="1" spc="22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and</a:t>
            </a:r>
            <a:r>
              <a:rPr sz="2750" b="1" spc="19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they</a:t>
            </a:r>
            <a:r>
              <a:rPr sz="2750" b="1" spc="204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make</a:t>
            </a:r>
            <a:r>
              <a:rPr sz="2750" b="1" spc="20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decisions</a:t>
            </a:r>
            <a:r>
              <a:rPr sz="2750" b="1" spc="204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on</a:t>
            </a:r>
            <a:r>
              <a:rPr sz="2750" b="1" spc="21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software </a:t>
            </a:r>
            <a:r>
              <a:rPr sz="2750" dirty="0">
                <a:latin typeface="Times New Roman"/>
                <a:cs typeface="Times New Roman"/>
              </a:rPr>
              <a:t>changes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that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required.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1072" y="412749"/>
            <a:ext cx="10636885" cy="574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4090">
              <a:lnSpc>
                <a:spcPct val="100000"/>
              </a:lnSpc>
              <a:spcBef>
                <a:spcPts val="95"/>
              </a:spcBef>
              <a:tabLst>
                <a:tab pos="2748280" algn="l"/>
              </a:tabLst>
            </a:pPr>
            <a:r>
              <a:rPr sz="40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Applications</a:t>
            </a:r>
            <a:endParaRPr sz="4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19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1.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System</a:t>
            </a:r>
            <a:r>
              <a:rPr sz="2100" b="1" spc="4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software:</a:t>
            </a:r>
            <a:r>
              <a:rPr sz="2100" b="1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such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compilers,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editors,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file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management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utilities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2.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Application</a:t>
            </a:r>
            <a:r>
              <a:rPr sz="2100" b="1" spc="6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software</a:t>
            </a:r>
            <a:r>
              <a:rPr sz="2100" dirty="0">
                <a:latin typeface="Times New Roman"/>
                <a:cs typeface="Times New Roman"/>
              </a:rPr>
              <a:t>: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stand-alone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programs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specific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needs.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395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3.</a:t>
            </a:r>
            <a:r>
              <a:rPr sz="2100" b="1" dirty="0">
                <a:latin typeface="Times New Roman"/>
                <a:cs typeface="Times New Roman"/>
              </a:rPr>
              <a:t>Engineering/scientific</a:t>
            </a:r>
            <a:r>
              <a:rPr sz="2100" b="1" spc="3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software</a:t>
            </a:r>
            <a:r>
              <a:rPr sz="2100" dirty="0">
                <a:solidFill>
                  <a:srgbClr val="944F71"/>
                </a:solidFill>
                <a:latin typeface="Times New Roman"/>
                <a:cs typeface="Times New Roman"/>
              </a:rPr>
              <a:t>:</a:t>
            </a:r>
            <a:r>
              <a:rPr sz="2100" spc="335" dirty="0">
                <a:solidFill>
                  <a:srgbClr val="944F7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Characterized</a:t>
            </a:r>
            <a:r>
              <a:rPr sz="2100" spc="3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3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MS PGothic"/>
                <a:cs typeface="MS PGothic"/>
              </a:rPr>
              <a:t>“</a:t>
            </a:r>
            <a:r>
              <a:rPr sz="2100" dirty="0">
                <a:latin typeface="Times New Roman"/>
                <a:cs typeface="Times New Roman"/>
              </a:rPr>
              <a:t>number</a:t>
            </a:r>
            <a:r>
              <a:rPr sz="2100" spc="3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crunching</a:t>
            </a:r>
            <a:r>
              <a:rPr sz="2100" dirty="0">
                <a:latin typeface="MS PGothic"/>
                <a:cs typeface="MS PGothic"/>
              </a:rPr>
              <a:t>”</a:t>
            </a:r>
            <a:r>
              <a:rPr sz="2100" dirty="0">
                <a:latin typeface="Times New Roman"/>
                <a:cs typeface="Times New Roman"/>
              </a:rPr>
              <a:t>algorithms.</a:t>
            </a:r>
            <a:r>
              <a:rPr sz="2100" spc="3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such</a:t>
            </a:r>
            <a:r>
              <a:rPr sz="2100" spc="34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as</a:t>
            </a:r>
            <a:endParaRPr sz="2100" dirty="0">
              <a:latin typeface="Times New Roman"/>
              <a:cs typeface="Times New Roman"/>
            </a:endParaRPr>
          </a:p>
          <a:p>
            <a:pPr marL="241300">
              <a:lnSpc>
                <a:spcPts val="2395"/>
              </a:lnSpc>
            </a:pPr>
            <a:r>
              <a:rPr sz="2100" dirty="0">
                <a:latin typeface="Times New Roman"/>
                <a:cs typeface="Times New Roman"/>
              </a:rPr>
              <a:t>automotive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stress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analysis,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molecular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biology,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orbital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dynamics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etc</a:t>
            </a:r>
            <a:endParaRPr sz="21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22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dirty="0">
                <a:latin typeface="Times New Roman"/>
                <a:cs typeface="Times New Roman"/>
              </a:rPr>
              <a:t>4.</a:t>
            </a:r>
            <a:r>
              <a:rPr sz="2100" spc="21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Embedded</a:t>
            </a:r>
            <a:r>
              <a:rPr sz="2100" b="1" spc="2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software</a:t>
            </a:r>
            <a:r>
              <a:rPr sz="2100" b="1" spc="229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resid</a:t>
            </a:r>
            <a:r>
              <a:rPr sz="2100" dirty="0">
                <a:latin typeface="Times New Roman"/>
                <a:cs typeface="Times New Roman"/>
              </a:rPr>
              <a:t>es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within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product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system.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(key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pad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control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microwave </a:t>
            </a:r>
            <a:r>
              <a:rPr sz="2100" dirty="0">
                <a:latin typeface="Times New Roman"/>
                <a:cs typeface="Times New Roman"/>
              </a:rPr>
              <a:t>oven,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digital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dashboard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display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car)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405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5.</a:t>
            </a:r>
            <a:r>
              <a:rPr sz="2100" spc="31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Product-line</a:t>
            </a:r>
            <a:r>
              <a:rPr sz="2100" b="1" spc="3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software</a:t>
            </a:r>
            <a:r>
              <a:rPr sz="2100" b="1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focus</a:t>
            </a:r>
            <a:r>
              <a:rPr sz="2100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3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limited</a:t>
            </a:r>
            <a:r>
              <a:rPr sz="2100" spc="3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marketplace</a:t>
            </a:r>
            <a:r>
              <a:rPr sz="2100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3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address</a:t>
            </a:r>
            <a:r>
              <a:rPr sz="2100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mass</a:t>
            </a:r>
            <a:r>
              <a:rPr sz="2100" spc="3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consumer</a:t>
            </a:r>
            <a:r>
              <a:rPr sz="2100" spc="3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market.</a:t>
            </a:r>
            <a:endParaRPr sz="2100" dirty="0">
              <a:latin typeface="Times New Roman"/>
              <a:cs typeface="Times New Roman"/>
            </a:endParaRPr>
          </a:p>
          <a:p>
            <a:pPr marL="241300">
              <a:lnSpc>
                <a:spcPts val="2405"/>
              </a:lnSpc>
            </a:pPr>
            <a:r>
              <a:rPr sz="2100" dirty="0">
                <a:latin typeface="Times New Roman"/>
                <a:cs typeface="Times New Roman"/>
              </a:rPr>
              <a:t>(word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processing,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graphics,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database</a:t>
            </a:r>
            <a:r>
              <a:rPr sz="2100" spc="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management)</a:t>
            </a:r>
            <a:endParaRPr sz="2100" dirty="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912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dirty="0">
                <a:latin typeface="Times New Roman"/>
                <a:cs typeface="Times New Roman"/>
              </a:rPr>
              <a:t>6.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b="1" dirty="0">
                <a:latin typeface="Times New Roman"/>
                <a:cs typeface="Times New Roman"/>
              </a:rPr>
              <a:t>WebApps</a:t>
            </a:r>
            <a:r>
              <a:rPr sz="2100" b="1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(Web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applications)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network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centric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software.</a:t>
            </a:r>
            <a:r>
              <a:rPr sz="2100" spc="13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web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2.0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emerges,</a:t>
            </a:r>
            <a:r>
              <a:rPr sz="2100" spc="135" dirty="0">
                <a:latin typeface="Times New Roman"/>
                <a:cs typeface="Times New Roman"/>
              </a:rPr>
              <a:t>  </a:t>
            </a:r>
            <a:r>
              <a:rPr sz="2100" spc="-20" dirty="0">
                <a:latin typeface="Times New Roman"/>
                <a:cs typeface="Times New Roman"/>
              </a:rPr>
              <a:t>more </a:t>
            </a:r>
            <a:r>
              <a:rPr sz="2100" dirty="0">
                <a:latin typeface="Times New Roman"/>
                <a:cs typeface="Times New Roman"/>
              </a:rPr>
              <a:t>sophisticated</a:t>
            </a:r>
            <a:r>
              <a:rPr sz="2100" spc="12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computing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environments</a:t>
            </a:r>
            <a:r>
              <a:rPr sz="2100" spc="12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supported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integrated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12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remote</a:t>
            </a:r>
            <a:r>
              <a:rPr sz="2100" spc="13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database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business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applications.</a:t>
            </a:r>
            <a:endParaRPr sz="21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2405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dirty="0">
                <a:latin typeface="Times New Roman"/>
                <a:cs typeface="Times New Roman"/>
              </a:rPr>
              <a:t>7.</a:t>
            </a:r>
            <a:r>
              <a:rPr sz="2100" spc="509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AI  software  </a:t>
            </a:r>
            <a:r>
              <a:rPr sz="2100" dirty="0">
                <a:latin typeface="Times New Roman"/>
                <a:cs typeface="Times New Roman"/>
              </a:rPr>
              <a:t>uses</a:t>
            </a:r>
            <a:r>
              <a:rPr sz="2100" spc="5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non-numerical</a:t>
            </a:r>
            <a:r>
              <a:rPr sz="2100" spc="5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algorithm</a:t>
            </a:r>
            <a:r>
              <a:rPr sz="2100" spc="50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5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solve  complex</a:t>
            </a:r>
            <a:r>
              <a:rPr sz="2100" spc="5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problem.</a:t>
            </a:r>
            <a:r>
              <a:rPr sz="2100" spc="5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Robotics,</a:t>
            </a:r>
            <a:r>
              <a:rPr sz="2100" spc="5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expert</a:t>
            </a:r>
            <a:endParaRPr sz="2100" dirty="0">
              <a:latin typeface="Times New Roman"/>
              <a:cs typeface="Times New Roman"/>
            </a:endParaRPr>
          </a:p>
          <a:p>
            <a:pPr marL="241300" algn="just">
              <a:lnSpc>
                <a:spcPts val="2405"/>
              </a:lnSpc>
            </a:pPr>
            <a:r>
              <a:rPr sz="2100" dirty="0">
                <a:latin typeface="Times New Roman"/>
                <a:cs typeface="Times New Roman"/>
              </a:rPr>
              <a:t>system,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pattern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recognition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game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playing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3030" y="331723"/>
            <a:ext cx="10314305" cy="40773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7875">
              <a:lnSpc>
                <a:spcPct val="100000"/>
              </a:lnSpc>
              <a:spcBef>
                <a:spcPts val="95"/>
              </a:spcBef>
              <a:tabLst>
                <a:tab pos="2552065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Changing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Nature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24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Times New Roman"/>
                <a:cs typeface="Times New Roman"/>
              </a:rPr>
              <a:t>Four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broad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categories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evolving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dominate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industry</a:t>
            </a:r>
            <a:endParaRPr sz="3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812800" algn="l"/>
              </a:tabLst>
            </a:pPr>
            <a:r>
              <a:rPr sz="3000" spc="-105" dirty="0">
                <a:solidFill>
                  <a:srgbClr val="FF0000"/>
                </a:solidFill>
                <a:latin typeface="Times New Roman"/>
                <a:cs typeface="Times New Roman"/>
              </a:rPr>
              <a:t>Web</a:t>
            </a:r>
            <a:r>
              <a:rPr sz="30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3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812800" algn="l"/>
              </a:tabLst>
            </a:pP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sz="3000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3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8128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Cloud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Computing</a:t>
            </a:r>
            <a:endParaRPr sz="3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8128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Line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4652" y="534999"/>
            <a:ext cx="10323830" cy="56660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5310">
              <a:lnSpc>
                <a:spcPct val="100000"/>
              </a:lnSpc>
              <a:spcBef>
                <a:spcPts val="95"/>
              </a:spcBef>
              <a:tabLst>
                <a:tab pos="2350135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Engineering?</a:t>
            </a:r>
            <a:endParaRPr sz="40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4079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Definition:</a:t>
            </a:r>
            <a:endParaRPr sz="32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2106930" algn="l"/>
                <a:tab pos="4187190" algn="l"/>
                <a:tab pos="4720590" algn="l"/>
                <a:tab pos="5359400" algn="l"/>
                <a:tab pos="7441565" algn="l"/>
                <a:tab pos="9203690" algn="l"/>
                <a:tab pos="10057130" algn="l"/>
              </a:tabLst>
            </a:pPr>
            <a:r>
              <a:rPr sz="3000" i="1" spc="-10" dirty="0">
                <a:latin typeface="Times New Roman"/>
                <a:cs typeface="Times New Roman"/>
              </a:rPr>
              <a:t>“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discipline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concerned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sz="30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aspects</a:t>
            </a:r>
            <a:r>
              <a:rPr sz="3000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000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000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production</a:t>
            </a:r>
            <a:r>
              <a:rPr sz="3000" spc="-10" dirty="0">
                <a:latin typeface="Times New Roman"/>
                <a:cs typeface="Times New Roman"/>
              </a:rPr>
              <a:t>”.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06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Engineering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discipline</a:t>
            </a:r>
            <a:endParaRPr sz="26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50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4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appropriate</a:t>
            </a:r>
            <a:r>
              <a:rPr sz="2600" spc="4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theories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4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methods</a:t>
            </a:r>
            <a:r>
              <a:rPr sz="2600" spc="4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solve</a:t>
            </a:r>
            <a:r>
              <a:rPr sz="2600" spc="4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problems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bearing</a:t>
            </a:r>
            <a:r>
              <a:rPr sz="2600" spc="4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mind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organizational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financial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constraints.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06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All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aspects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production</a:t>
            </a:r>
            <a:endParaRPr sz="26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8000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Not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just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technical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development.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Also</a:t>
            </a:r>
            <a:r>
              <a:rPr sz="2600" spc="4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management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4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3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24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24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tools,</a:t>
            </a:r>
            <a:r>
              <a:rPr sz="2600" spc="24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methods</a:t>
            </a:r>
            <a:r>
              <a:rPr sz="2600" spc="24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etc.</a:t>
            </a:r>
            <a:r>
              <a:rPr sz="2600" spc="24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4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support</a:t>
            </a:r>
            <a:r>
              <a:rPr sz="2600" spc="245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software production.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838" y="1403680"/>
            <a:ext cx="10648950" cy="4774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seminal</a:t>
            </a:r>
            <a:r>
              <a:rPr sz="2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definition:</a:t>
            </a:r>
            <a:endParaRPr sz="2600" dirty="0">
              <a:latin typeface="Times New Roman"/>
              <a:cs typeface="Times New Roman"/>
            </a:endParaRPr>
          </a:p>
          <a:p>
            <a:pPr marL="469900" marR="5715" algn="just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[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b="1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6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]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establishment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sound</a:t>
            </a:r>
            <a:r>
              <a:rPr sz="26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principles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order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obtain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economically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reliable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works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efficiently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real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machines.</a:t>
            </a:r>
            <a:endParaRPr sz="26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IEEE</a:t>
            </a:r>
            <a:r>
              <a:rPr sz="2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definition:</a:t>
            </a:r>
            <a:endParaRPr sz="2600" dirty="0">
              <a:latin typeface="Times New Roman"/>
              <a:cs typeface="Times New Roman"/>
            </a:endParaRPr>
          </a:p>
          <a:p>
            <a:pPr marL="469900" marR="5080" algn="just">
              <a:lnSpc>
                <a:spcPct val="100000"/>
              </a:lnSpc>
              <a:spcBef>
                <a:spcPts val="300"/>
              </a:spcBef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spc="37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Engineering:</a:t>
            </a:r>
            <a:r>
              <a:rPr sz="2600" spc="3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8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application</a:t>
            </a:r>
            <a:r>
              <a:rPr sz="2600" spc="3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8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380" dirty="0"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systematic,</a:t>
            </a:r>
            <a:r>
              <a:rPr sz="2600" spc="37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disciplined,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quantifiable</a:t>
            </a:r>
            <a:r>
              <a:rPr sz="2600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r>
              <a:rPr sz="2600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9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development,</a:t>
            </a:r>
            <a:r>
              <a:rPr sz="2600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operation,</a:t>
            </a:r>
            <a:r>
              <a:rPr sz="2600" spc="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600" spc="4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r>
              <a:rPr sz="2600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software;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application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engineering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software.</a:t>
            </a:r>
            <a:endParaRPr sz="26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1800"/>
              </a:spcBef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3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engineers</a:t>
            </a:r>
            <a:r>
              <a:rPr sz="2600" b="1" spc="3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should</a:t>
            </a:r>
            <a:r>
              <a:rPr sz="2600" b="1" spc="3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adopt</a:t>
            </a:r>
            <a:r>
              <a:rPr sz="2600" b="1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systematic</a:t>
            </a:r>
            <a:r>
              <a:rPr sz="2600" b="1" spc="3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3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organised</a:t>
            </a:r>
            <a:r>
              <a:rPr sz="2600" b="1" spc="3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approach</a:t>
            </a:r>
            <a:r>
              <a:rPr sz="2600" b="1" spc="3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use</a:t>
            </a:r>
            <a:r>
              <a:rPr sz="2600" spc="9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appropriate</a:t>
            </a:r>
            <a:r>
              <a:rPr sz="2600" b="1" spc="10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tools</a:t>
            </a:r>
            <a:r>
              <a:rPr sz="2600" b="1" spc="9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10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techniques</a:t>
            </a:r>
            <a:r>
              <a:rPr sz="2600" b="1" spc="1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depending</a:t>
            </a:r>
            <a:r>
              <a:rPr sz="2600" spc="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0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problem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solved,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constraints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resources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available.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2326" y="621537"/>
            <a:ext cx="718947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974" y="331723"/>
            <a:ext cx="10282555" cy="21794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5"/>
              </a:spcBef>
              <a:tabLst>
                <a:tab pos="928369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Computer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Science</a:t>
            </a:r>
            <a:r>
              <a:rPr sz="40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Vs.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12700" marR="5080">
              <a:lnSpc>
                <a:spcPts val="3240"/>
              </a:lnSpc>
            </a:pPr>
            <a:r>
              <a:rPr sz="3000" dirty="0">
                <a:latin typeface="Times New Roman"/>
                <a:cs typeface="Times New Roman"/>
              </a:rPr>
              <a:t>“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utilizing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knowledge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computer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science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effective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production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systems.”</a:t>
            </a:r>
            <a:endParaRPr sz="30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57757" y="2645410"/>
          <a:ext cx="10327640" cy="123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Science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Engineering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marL="95250" marR="88900" indent="762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concerned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theories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underlie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computers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89660" marR="168910" indent="-9163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concerned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practical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problems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producing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software.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4107" y="4216463"/>
            <a:ext cx="3987292" cy="1914766"/>
          </a:xfrm>
          <a:prstGeom prst="rect">
            <a:avLst/>
          </a:prstGeom>
        </p:spPr>
      </p:pic>
      <p:pic>
        <p:nvPicPr>
          <p:cNvPr id="5" name="object 5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32445" y="3991355"/>
            <a:ext cx="3619500" cy="23649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995" y="193674"/>
            <a:ext cx="10663555" cy="433965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328420" marR="1303655" indent="-751840">
              <a:lnSpc>
                <a:spcPts val="4320"/>
              </a:lnSpc>
              <a:spcBef>
                <a:spcPts val="640"/>
              </a:spcBef>
              <a:tabLst>
                <a:tab pos="1081405" algn="l"/>
                <a:tab pos="1328420" algn="l"/>
              </a:tabLst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difference</a:t>
            </a:r>
            <a:r>
              <a:rPr sz="4000" u="sng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between </a:t>
            </a:r>
            <a:r>
              <a:rPr sz="4000" u="sng" spc="-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4000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 Engineering</a:t>
            </a:r>
            <a:r>
              <a:rPr sz="3500" spc="-10" dirty="0">
                <a:latin typeface="Times New Roman"/>
                <a:cs typeface="Times New Roman"/>
              </a:rPr>
              <a:t>?</a:t>
            </a:r>
            <a:endParaRPr sz="3500" dirty="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296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“</a:t>
            </a: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engineering</a:t>
            </a:r>
            <a:r>
              <a:rPr sz="3000" b="1" spc="3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concerned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with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3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aspects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3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computer- 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21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2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2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including</a:t>
            </a:r>
            <a:r>
              <a:rPr sz="3000" spc="2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hardware,</a:t>
            </a:r>
            <a:r>
              <a:rPr sz="3000" spc="2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215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7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engineering.</a:t>
            </a:r>
            <a:r>
              <a:rPr sz="3000" spc="7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While</a:t>
            </a:r>
            <a:r>
              <a:rPr sz="3000" spc="7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7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engineering</a:t>
            </a:r>
            <a:r>
              <a:rPr sz="3000" spc="7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7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</a:t>
            </a:r>
            <a:r>
              <a:rPr sz="3000" spc="7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7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this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1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concerned</a:t>
            </a:r>
            <a:r>
              <a:rPr sz="3000" spc="1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1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developing</a:t>
            </a:r>
            <a:r>
              <a:rPr sz="3000" spc="13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125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infrastructure, </a:t>
            </a:r>
            <a:r>
              <a:rPr sz="3000" dirty="0">
                <a:latin typeface="Times New Roman"/>
                <a:cs typeface="Times New Roman"/>
              </a:rPr>
              <a:t>control,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databases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system”.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5410" y="331723"/>
            <a:ext cx="10343515" cy="484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00">
              <a:lnSpc>
                <a:spcPct val="100000"/>
              </a:lnSpc>
              <a:spcBef>
                <a:spcPts val="95"/>
              </a:spcBef>
              <a:tabLst>
                <a:tab pos="1837689" algn="l"/>
              </a:tabLst>
            </a:pP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Importance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8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8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more,</a:t>
            </a:r>
            <a:r>
              <a:rPr sz="3000" spc="9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individuals</a:t>
            </a:r>
            <a:r>
              <a:rPr sz="3000" b="1" spc="8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8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society</a:t>
            </a:r>
            <a:r>
              <a:rPr sz="3000" b="1" spc="8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rely</a:t>
            </a:r>
            <a:r>
              <a:rPr sz="3000" b="1" spc="8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on</a:t>
            </a:r>
            <a:r>
              <a:rPr sz="3000" b="1" spc="85" dirty="0">
                <a:latin typeface="Times New Roman"/>
                <a:cs typeface="Times New Roman"/>
              </a:rPr>
              <a:t>  </a:t>
            </a:r>
            <a:r>
              <a:rPr sz="3000" b="1" spc="-10" dirty="0">
                <a:latin typeface="Times New Roman"/>
                <a:cs typeface="Times New Roman"/>
              </a:rPr>
              <a:t>advanced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43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dirty="0">
                <a:latin typeface="Times New Roman"/>
                <a:cs typeface="Times New Roman"/>
              </a:rPr>
              <a:t>.</a:t>
            </a:r>
            <a:r>
              <a:rPr sz="3000" spc="4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able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produce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reliable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trustworthy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economically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quickly.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It</a:t>
            </a:r>
            <a:r>
              <a:rPr sz="3000" b="1" spc="35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35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usually</a:t>
            </a:r>
            <a:r>
              <a:rPr sz="3000" b="1" spc="35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cheaper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36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35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long</a:t>
            </a:r>
            <a:r>
              <a:rPr sz="3000" spc="36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run,</a:t>
            </a:r>
            <a:r>
              <a:rPr sz="3000" spc="3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35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350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software </a:t>
            </a:r>
            <a:r>
              <a:rPr sz="3000" dirty="0">
                <a:latin typeface="Times New Roman"/>
                <a:cs typeface="Times New Roman"/>
              </a:rPr>
              <a:t>engineering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25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techniques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5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rather </a:t>
            </a: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just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write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programs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was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personal</a:t>
            </a:r>
            <a:r>
              <a:rPr sz="3000" spc="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programming </a:t>
            </a:r>
            <a:r>
              <a:rPr sz="3000" dirty="0">
                <a:latin typeface="Times New Roman"/>
                <a:cs typeface="Times New Roman"/>
              </a:rPr>
              <a:t>project.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1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most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types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system,</a:t>
            </a:r>
            <a:r>
              <a:rPr sz="3000" b="1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majority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costs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costs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changing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after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gone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use.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5" y="547878"/>
            <a:ext cx="84651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Importance</a:t>
            </a:r>
            <a:r>
              <a:rPr sz="4000" b="1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238" y="1478025"/>
            <a:ext cx="10627995" cy="4878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2682" y="419811"/>
            <a:ext cx="10475595" cy="50940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95"/>
              </a:spcBef>
              <a:tabLst>
                <a:tab pos="2409190" algn="l"/>
              </a:tabLst>
            </a:pPr>
            <a:r>
              <a:rPr sz="2700" dirty="0">
                <a:latin typeface="Microsoft Sans Serif"/>
                <a:cs typeface="Microsoft Sans Serif"/>
              </a:rPr>
              <a:t>	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Process?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0100"/>
              </a:lnSpc>
              <a:buFont typeface="Arial MT"/>
              <a:buChar char="•"/>
              <a:tabLst>
                <a:tab pos="241300" algn="l"/>
                <a:tab pos="1649730" algn="l"/>
                <a:tab pos="2966085" algn="l"/>
                <a:tab pos="3843020" algn="l"/>
                <a:tab pos="5452110" algn="l"/>
                <a:tab pos="6878955" algn="l"/>
                <a:tab pos="7590790" algn="l"/>
                <a:tab pos="8027034" algn="l"/>
                <a:tab pos="8849995" algn="l"/>
                <a:tab pos="9323705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Process: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“The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systematic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approach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used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engineering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sometimes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process.”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“A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 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activities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whose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evolution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software”.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2905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Generic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activities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processes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are: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specification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development: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9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validation: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0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evolution: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6136" y="454863"/>
            <a:ext cx="10495915" cy="6011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100"/>
              </a:spcBef>
              <a:tabLst>
                <a:tab pos="2634615" algn="l"/>
              </a:tabLst>
            </a:pP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Activities</a:t>
            </a:r>
            <a:r>
              <a:rPr sz="36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sz="36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Proce</a:t>
            </a:r>
            <a:r>
              <a:rPr sz="3600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s?</a:t>
            </a: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700"/>
              </a:lnSpc>
              <a:spcBef>
                <a:spcPts val="35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Generic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are:</a:t>
            </a:r>
            <a:endParaRPr sz="2400" dirty="0">
              <a:latin typeface="Times New Roman"/>
              <a:cs typeface="Times New Roman"/>
            </a:endParaRPr>
          </a:p>
          <a:p>
            <a:pPr marL="697230" marR="8255" lvl="1" indent="-227329">
              <a:lnSpc>
                <a:spcPct val="70000"/>
              </a:lnSpc>
              <a:spcBef>
                <a:spcPts val="685"/>
              </a:spcBef>
              <a:buFont typeface="Arial MT"/>
              <a:buChar char="•"/>
              <a:tabLst>
                <a:tab pos="698500" algn="l"/>
                <a:tab pos="2023110" algn="l"/>
                <a:tab pos="3859529" algn="l"/>
                <a:tab pos="4123054" algn="l"/>
                <a:tab pos="4878070" algn="l"/>
                <a:tab pos="5409565" algn="l"/>
                <a:tab pos="6417310" algn="l"/>
                <a:tab pos="7392670" algn="l"/>
                <a:tab pos="7859395" algn="l"/>
                <a:tab pos="8459470" algn="l"/>
                <a:tab pos="890905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-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should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do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development 	constraints</a:t>
            </a:r>
            <a:endParaRPr sz="2400" dirty="0">
              <a:latin typeface="Times New Roman"/>
              <a:cs typeface="Times New Roman"/>
            </a:endParaRPr>
          </a:p>
          <a:p>
            <a:pPr marL="1154430" marR="5080" lvl="2" indent="-227329">
              <a:lnSpc>
                <a:spcPct val="70000"/>
              </a:lnSpc>
              <a:spcBef>
                <a:spcPts val="495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produced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operation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695"/>
              </a:lnSpc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Times New Roman"/>
                <a:cs typeface="Times New Roman"/>
              </a:rPr>
              <a:t>where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programmed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Validation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 </a:t>
            </a:r>
            <a:r>
              <a:rPr sz="2400" spc="-10" dirty="0">
                <a:latin typeface="Times New Roman"/>
                <a:cs typeface="Times New Roman"/>
              </a:rPr>
              <a:t>wants</a:t>
            </a:r>
            <a:endParaRPr sz="2400" dirty="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265"/>
              </a:lnSpc>
              <a:buFont typeface="Arial MT"/>
              <a:buChar char="•"/>
              <a:tabLst>
                <a:tab pos="1154430" algn="l"/>
                <a:tab pos="2068830" algn="l"/>
                <a:tab pos="2608580" algn="l"/>
                <a:tab pos="3825875" algn="l"/>
                <a:tab pos="4196080" algn="l"/>
                <a:tab pos="5362575" algn="l"/>
                <a:tab pos="5766435" algn="l"/>
                <a:tab pos="6731000" algn="l"/>
                <a:tab pos="7354570" algn="l"/>
                <a:tab pos="7691755" algn="l"/>
                <a:tab pos="8063230" algn="l"/>
                <a:tab pos="8823960" algn="l"/>
                <a:tab pos="9364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checked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ensure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customer</a:t>
            </a:r>
            <a:endParaRPr sz="2400" dirty="0">
              <a:latin typeface="Times New Roman"/>
              <a:cs typeface="Times New Roman"/>
            </a:endParaRPr>
          </a:p>
          <a:p>
            <a:pPr marL="1155700">
              <a:lnSpc>
                <a:spcPts val="2450"/>
              </a:lnSpc>
            </a:pPr>
            <a:r>
              <a:rPr sz="2400" spc="-10" dirty="0">
                <a:latin typeface="Times New Roman"/>
                <a:cs typeface="Times New Roman"/>
              </a:rPr>
              <a:t>requires.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  <a:tab pos="201358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Evolution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demands</a:t>
            </a:r>
            <a:endParaRPr sz="2400" dirty="0">
              <a:latin typeface="Times New Roman"/>
              <a:cs typeface="Times New Roman"/>
            </a:endParaRPr>
          </a:p>
          <a:p>
            <a:pPr marL="1154430" marR="6350" lvl="2" indent="-227329">
              <a:lnSpc>
                <a:spcPct val="70000"/>
              </a:lnSpc>
              <a:spcBef>
                <a:spcPts val="680"/>
              </a:spcBef>
              <a:buFont typeface="Arial MT"/>
              <a:buChar char="•"/>
              <a:tabLst>
                <a:tab pos="1155700" algn="l"/>
                <a:tab pos="2033270" algn="l"/>
                <a:tab pos="2538095" algn="l"/>
                <a:tab pos="3721100" algn="l"/>
                <a:tab pos="4056379" algn="l"/>
                <a:tab pos="5287645" algn="l"/>
                <a:tab pos="5656580" algn="l"/>
                <a:tab pos="6566534" algn="l"/>
                <a:tab pos="7816215" algn="l"/>
                <a:tab pos="9063355" algn="l"/>
                <a:tab pos="9638030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modified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reflect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changing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customer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market 	requirements.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9855" y="397510"/>
            <a:ext cx="788860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(Simplified)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0" y="5105400"/>
            <a:ext cx="2716530" cy="1066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496570" marR="401320" indent="-86995">
              <a:lnSpc>
                <a:spcPct val="101099"/>
              </a:lnSpc>
              <a:spcBef>
                <a:spcPts val="919"/>
              </a:spcBef>
            </a:pPr>
            <a:r>
              <a:rPr sz="2600" dirty="0">
                <a:latin typeface="Times New Roman"/>
                <a:cs typeface="Times New Roman"/>
              </a:rPr>
              <a:t>Operation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spc="-10" dirty="0">
                <a:latin typeface="Times New Roman"/>
                <a:cs typeface="Times New Roman"/>
              </a:rPr>
              <a:t>Maintenance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5896" y="1524000"/>
            <a:ext cx="3505200" cy="441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2600">
              <a:latin typeface="Times New Roman"/>
              <a:cs typeface="Times New Roman"/>
            </a:endParaRPr>
          </a:p>
          <a:p>
            <a:pPr marL="625475">
              <a:lnSpc>
                <a:spcPct val="100000"/>
              </a:lnSpc>
            </a:pPr>
            <a:r>
              <a:rPr sz="2600" spc="-10" dirty="0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  <a:p>
            <a:pPr marL="782955" marR="603250" indent="429259">
              <a:lnSpc>
                <a:spcPts val="11850"/>
              </a:lnSpc>
              <a:spcBef>
                <a:spcPts val="1405"/>
              </a:spcBef>
            </a:pPr>
            <a:r>
              <a:rPr sz="2600" spc="-10" dirty="0">
                <a:latin typeface="Times New Roman"/>
                <a:cs typeface="Times New Roman"/>
              </a:rPr>
              <a:t>Design Implementation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1280" y="1534667"/>
            <a:ext cx="2716530" cy="1066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751205" marR="377825" indent="-391795">
              <a:lnSpc>
                <a:spcPct val="101200"/>
              </a:lnSpc>
              <a:spcBef>
                <a:spcPts val="910"/>
              </a:spcBef>
            </a:pPr>
            <a:r>
              <a:rPr sz="2600" dirty="0">
                <a:latin typeface="Times New Roman"/>
                <a:cs typeface="Times New Roman"/>
              </a:rPr>
              <a:t>Feasibility</a:t>
            </a:r>
            <a:r>
              <a:rPr sz="2600" spc="-25" dirty="0">
                <a:latin typeface="Times New Roman"/>
                <a:cs typeface="Times New Roman"/>
              </a:rPr>
              <a:t> and </a:t>
            </a:r>
            <a:r>
              <a:rPr sz="2600" spc="-10" dirty="0">
                <a:latin typeface="Times New Roman"/>
                <a:cs typeface="Times New Roman"/>
              </a:rPr>
              <a:t>Planning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5377" y="2152650"/>
            <a:ext cx="350520" cy="76200"/>
          </a:xfrm>
          <a:custGeom>
            <a:avLst/>
            <a:gdLst/>
            <a:ahLst/>
            <a:cxnLst/>
            <a:rect l="l" t="t" r="r" b="b"/>
            <a:pathLst>
              <a:path w="350520" h="76200">
                <a:moveTo>
                  <a:pt x="274320" y="0"/>
                </a:moveTo>
                <a:lnTo>
                  <a:pt x="274320" y="76200"/>
                </a:lnTo>
                <a:lnTo>
                  <a:pt x="341122" y="42799"/>
                </a:lnTo>
                <a:lnTo>
                  <a:pt x="287020" y="42799"/>
                </a:lnTo>
                <a:lnTo>
                  <a:pt x="287020" y="33274"/>
                </a:lnTo>
                <a:lnTo>
                  <a:pt x="340868" y="33274"/>
                </a:lnTo>
                <a:lnTo>
                  <a:pt x="274320" y="0"/>
                </a:lnTo>
                <a:close/>
              </a:path>
              <a:path w="350520" h="76200">
                <a:moveTo>
                  <a:pt x="27432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74320" y="42799"/>
                </a:lnTo>
                <a:lnTo>
                  <a:pt x="274320" y="33274"/>
                </a:lnTo>
                <a:close/>
              </a:path>
              <a:path w="350520" h="76200">
                <a:moveTo>
                  <a:pt x="340868" y="33274"/>
                </a:moveTo>
                <a:lnTo>
                  <a:pt x="287020" y="33274"/>
                </a:lnTo>
                <a:lnTo>
                  <a:pt x="287020" y="42799"/>
                </a:lnTo>
                <a:lnTo>
                  <a:pt x="341122" y="42799"/>
                </a:lnTo>
                <a:lnTo>
                  <a:pt x="350520" y="38100"/>
                </a:lnTo>
                <a:lnTo>
                  <a:pt x="34086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0843" y="5600700"/>
            <a:ext cx="621665" cy="76200"/>
          </a:xfrm>
          <a:custGeom>
            <a:avLst/>
            <a:gdLst/>
            <a:ahLst/>
            <a:cxnLst/>
            <a:rect l="l" t="t" r="r" b="b"/>
            <a:pathLst>
              <a:path w="621665" h="76200">
                <a:moveTo>
                  <a:pt x="544956" y="0"/>
                </a:moveTo>
                <a:lnTo>
                  <a:pt x="544956" y="76200"/>
                </a:lnTo>
                <a:lnTo>
                  <a:pt x="611631" y="42862"/>
                </a:lnTo>
                <a:lnTo>
                  <a:pt x="557656" y="42862"/>
                </a:lnTo>
                <a:lnTo>
                  <a:pt x="557656" y="33337"/>
                </a:lnTo>
                <a:lnTo>
                  <a:pt x="611631" y="33337"/>
                </a:lnTo>
                <a:lnTo>
                  <a:pt x="544956" y="0"/>
                </a:lnTo>
                <a:close/>
              </a:path>
              <a:path w="621665" h="76200">
                <a:moveTo>
                  <a:pt x="544956" y="33337"/>
                </a:moveTo>
                <a:lnTo>
                  <a:pt x="0" y="33337"/>
                </a:lnTo>
                <a:lnTo>
                  <a:pt x="0" y="42862"/>
                </a:lnTo>
                <a:lnTo>
                  <a:pt x="544956" y="42862"/>
                </a:lnTo>
                <a:lnTo>
                  <a:pt x="544956" y="33337"/>
                </a:lnTo>
                <a:close/>
              </a:path>
              <a:path w="621665" h="76200">
                <a:moveTo>
                  <a:pt x="611631" y="33337"/>
                </a:moveTo>
                <a:lnTo>
                  <a:pt x="557656" y="33337"/>
                </a:lnTo>
                <a:lnTo>
                  <a:pt x="557656" y="42862"/>
                </a:lnTo>
                <a:lnTo>
                  <a:pt x="611631" y="42862"/>
                </a:lnTo>
                <a:lnTo>
                  <a:pt x="621156" y="38100"/>
                </a:lnTo>
                <a:lnTo>
                  <a:pt x="611631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338764" y="1690687"/>
            <a:ext cx="3181985" cy="2900680"/>
            <a:chOff x="4338764" y="1690687"/>
            <a:chExt cx="3181985" cy="2900680"/>
          </a:xfrm>
        </p:grpSpPr>
        <p:sp>
          <p:nvSpPr>
            <p:cNvPr id="9" name="object 9"/>
            <p:cNvSpPr/>
            <p:nvPr/>
          </p:nvSpPr>
          <p:spPr>
            <a:xfrm>
              <a:off x="4343527" y="1695450"/>
              <a:ext cx="3067050" cy="990600"/>
            </a:xfrm>
            <a:custGeom>
              <a:avLst/>
              <a:gdLst/>
              <a:ahLst/>
              <a:cxnLst/>
              <a:rect l="l" t="t" r="r" b="b"/>
              <a:pathLst>
                <a:path w="3067050" h="990600">
                  <a:moveTo>
                    <a:pt x="0" y="495300"/>
                  </a:moveTo>
                  <a:lnTo>
                    <a:pt x="6265" y="450215"/>
                  </a:lnTo>
                  <a:lnTo>
                    <a:pt x="24702" y="406266"/>
                  </a:lnTo>
                  <a:lnTo>
                    <a:pt x="54768" y="363625"/>
                  </a:lnTo>
                  <a:lnTo>
                    <a:pt x="95922" y="322469"/>
                  </a:lnTo>
                  <a:lnTo>
                    <a:pt x="147624" y="282971"/>
                  </a:lnTo>
                  <a:lnTo>
                    <a:pt x="209333" y="245307"/>
                  </a:lnTo>
                  <a:lnTo>
                    <a:pt x="243771" y="227217"/>
                  </a:lnTo>
                  <a:lnTo>
                    <a:pt x="280507" y="209652"/>
                  </a:lnTo>
                  <a:lnTo>
                    <a:pt x="319475" y="192632"/>
                  </a:lnTo>
                  <a:lnTo>
                    <a:pt x="360606" y="176179"/>
                  </a:lnTo>
                  <a:lnTo>
                    <a:pt x="403832" y="160317"/>
                  </a:lnTo>
                  <a:lnTo>
                    <a:pt x="449087" y="145065"/>
                  </a:lnTo>
                  <a:lnTo>
                    <a:pt x="496303" y="130447"/>
                  </a:lnTo>
                  <a:lnTo>
                    <a:pt x="545411" y="116484"/>
                  </a:lnTo>
                  <a:lnTo>
                    <a:pt x="596345" y="103198"/>
                  </a:lnTo>
                  <a:lnTo>
                    <a:pt x="649037" y="90611"/>
                  </a:lnTo>
                  <a:lnTo>
                    <a:pt x="703418" y="78744"/>
                  </a:lnTo>
                  <a:lnTo>
                    <a:pt x="759422" y="67620"/>
                  </a:lnTo>
                  <a:lnTo>
                    <a:pt x="816981" y="57260"/>
                  </a:lnTo>
                  <a:lnTo>
                    <a:pt x="876026" y="47687"/>
                  </a:lnTo>
                  <a:lnTo>
                    <a:pt x="936492" y="38921"/>
                  </a:lnTo>
                  <a:lnTo>
                    <a:pt x="998309" y="30985"/>
                  </a:lnTo>
                  <a:lnTo>
                    <a:pt x="1061410" y="23902"/>
                  </a:lnTo>
                  <a:lnTo>
                    <a:pt x="1125728" y="17691"/>
                  </a:lnTo>
                  <a:lnTo>
                    <a:pt x="1191195" y="12377"/>
                  </a:lnTo>
                  <a:lnTo>
                    <a:pt x="1257743" y="7979"/>
                  </a:lnTo>
                  <a:lnTo>
                    <a:pt x="1325305" y="4521"/>
                  </a:lnTo>
                  <a:lnTo>
                    <a:pt x="1393814" y="2024"/>
                  </a:lnTo>
                  <a:lnTo>
                    <a:pt x="1463200" y="509"/>
                  </a:lnTo>
                  <a:lnTo>
                    <a:pt x="1533398" y="0"/>
                  </a:lnTo>
                  <a:lnTo>
                    <a:pt x="1603595" y="509"/>
                  </a:lnTo>
                  <a:lnTo>
                    <a:pt x="1672983" y="2024"/>
                  </a:lnTo>
                  <a:lnTo>
                    <a:pt x="1741492" y="4521"/>
                  </a:lnTo>
                  <a:lnTo>
                    <a:pt x="1809056" y="7979"/>
                  </a:lnTo>
                  <a:lnTo>
                    <a:pt x="1875607" y="12377"/>
                  </a:lnTo>
                  <a:lnTo>
                    <a:pt x="1941076" y="17691"/>
                  </a:lnTo>
                  <a:lnTo>
                    <a:pt x="2005397" y="23902"/>
                  </a:lnTo>
                  <a:lnTo>
                    <a:pt x="2068502" y="30985"/>
                  </a:lnTo>
                  <a:lnTo>
                    <a:pt x="2130323" y="38921"/>
                  </a:lnTo>
                  <a:lnTo>
                    <a:pt x="2190793" y="47687"/>
                  </a:lnTo>
                  <a:lnTo>
                    <a:pt x="2249843" y="57260"/>
                  </a:lnTo>
                  <a:lnTo>
                    <a:pt x="2307406" y="67620"/>
                  </a:lnTo>
                  <a:lnTo>
                    <a:pt x="2363415" y="78744"/>
                  </a:lnTo>
                  <a:lnTo>
                    <a:pt x="2417801" y="90611"/>
                  </a:lnTo>
                  <a:lnTo>
                    <a:pt x="2470498" y="103198"/>
                  </a:lnTo>
                  <a:lnTo>
                    <a:pt x="2521437" y="116484"/>
                  </a:lnTo>
                  <a:lnTo>
                    <a:pt x="2570550" y="130447"/>
                  </a:lnTo>
                  <a:lnTo>
                    <a:pt x="2617771" y="145065"/>
                  </a:lnTo>
                  <a:lnTo>
                    <a:pt x="2663031" y="160317"/>
                  </a:lnTo>
                  <a:lnTo>
                    <a:pt x="2706263" y="176179"/>
                  </a:lnTo>
                  <a:lnTo>
                    <a:pt x="2747400" y="192632"/>
                  </a:lnTo>
                  <a:lnTo>
                    <a:pt x="2786372" y="209652"/>
                  </a:lnTo>
                  <a:lnTo>
                    <a:pt x="2823113" y="227217"/>
                  </a:lnTo>
                  <a:lnTo>
                    <a:pt x="2857556" y="245307"/>
                  </a:lnTo>
                  <a:lnTo>
                    <a:pt x="2919274" y="282971"/>
                  </a:lnTo>
                  <a:lnTo>
                    <a:pt x="2970984" y="322469"/>
                  </a:lnTo>
                  <a:lnTo>
                    <a:pt x="3012145" y="363625"/>
                  </a:lnTo>
                  <a:lnTo>
                    <a:pt x="3042216" y="406266"/>
                  </a:lnTo>
                  <a:lnTo>
                    <a:pt x="3060656" y="450215"/>
                  </a:lnTo>
                  <a:lnTo>
                    <a:pt x="3066923" y="495300"/>
                  </a:lnTo>
                  <a:lnTo>
                    <a:pt x="3065345" y="517972"/>
                  </a:lnTo>
                  <a:lnTo>
                    <a:pt x="3052924" y="562511"/>
                  </a:lnTo>
                  <a:lnTo>
                    <a:pt x="3028601" y="605828"/>
                  </a:lnTo>
                  <a:lnTo>
                    <a:pt x="2992917" y="647748"/>
                  </a:lnTo>
                  <a:lnTo>
                    <a:pt x="2946413" y="688097"/>
                  </a:lnTo>
                  <a:lnTo>
                    <a:pt x="2889632" y="726700"/>
                  </a:lnTo>
                  <a:lnTo>
                    <a:pt x="2823113" y="763382"/>
                  </a:lnTo>
                  <a:lnTo>
                    <a:pt x="2786372" y="780947"/>
                  </a:lnTo>
                  <a:lnTo>
                    <a:pt x="2747400" y="797967"/>
                  </a:lnTo>
                  <a:lnTo>
                    <a:pt x="2706263" y="814420"/>
                  </a:lnTo>
                  <a:lnTo>
                    <a:pt x="2663031" y="830282"/>
                  </a:lnTo>
                  <a:lnTo>
                    <a:pt x="2617771" y="845534"/>
                  </a:lnTo>
                  <a:lnTo>
                    <a:pt x="2570550" y="860152"/>
                  </a:lnTo>
                  <a:lnTo>
                    <a:pt x="2521437" y="874115"/>
                  </a:lnTo>
                  <a:lnTo>
                    <a:pt x="2470498" y="887401"/>
                  </a:lnTo>
                  <a:lnTo>
                    <a:pt x="2417801" y="899988"/>
                  </a:lnTo>
                  <a:lnTo>
                    <a:pt x="2363415" y="911855"/>
                  </a:lnTo>
                  <a:lnTo>
                    <a:pt x="2307406" y="922979"/>
                  </a:lnTo>
                  <a:lnTo>
                    <a:pt x="2249843" y="933339"/>
                  </a:lnTo>
                  <a:lnTo>
                    <a:pt x="2190793" y="942912"/>
                  </a:lnTo>
                  <a:lnTo>
                    <a:pt x="2130323" y="951678"/>
                  </a:lnTo>
                  <a:lnTo>
                    <a:pt x="2068502" y="959614"/>
                  </a:lnTo>
                  <a:lnTo>
                    <a:pt x="2005397" y="966697"/>
                  </a:lnTo>
                  <a:lnTo>
                    <a:pt x="1941076" y="972908"/>
                  </a:lnTo>
                  <a:lnTo>
                    <a:pt x="1875607" y="978222"/>
                  </a:lnTo>
                  <a:lnTo>
                    <a:pt x="1809056" y="982620"/>
                  </a:lnTo>
                  <a:lnTo>
                    <a:pt x="1741492" y="986078"/>
                  </a:lnTo>
                  <a:lnTo>
                    <a:pt x="1672983" y="988575"/>
                  </a:lnTo>
                  <a:lnTo>
                    <a:pt x="1603595" y="990090"/>
                  </a:lnTo>
                  <a:lnTo>
                    <a:pt x="1533398" y="990600"/>
                  </a:lnTo>
                  <a:lnTo>
                    <a:pt x="1463200" y="990090"/>
                  </a:lnTo>
                  <a:lnTo>
                    <a:pt x="1393814" y="988575"/>
                  </a:lnTo>
                  <a:lnTo>
                    <a:pt x="1325305" y="986078"/>
                  </a:lnTo>
                  <a:lnTo>
                    <a:pt x="1257743" y="982620"/>
                  </a:lnTo>
                  <a:lnTo>
                    <a:pt x="1191195" y="978222"/>
                  </a:lnTo>
                  <a:lnTo>
                    <a:pt x="1125728" y="972908"/>
                  </a:lnTo>
                  <a:lnTo>
                    <a:pt x="1061410" y="966697"/>
                  </a:lnTo>
                  <a:lnTo>
                    <a:pt x="998309" y="959614"/>
                  </a:lnTo>
                  <a:lnTo>
                    <a:pt x="936492" y="951678"/>
                  </a:lnTo>
                  <a:lnTo>
                    <a:pt x="876026" y="942912"/>
                  </a:lnTo>
                  <a:lnTo>
                    <a:pt x="816981" y="933339"/>
                  </a:lnTo>
                  <a:lnTo>
                    <a:pt x="759422" y="922979"/>
                  </a:lnTo>
                  <a:lnTo>
                    <a:pt x="703418" y="911855"/>
                  </a:lnTo>
                  <a:lnTo>
                    <a:pt x="649037" y="899988"/>
                  </a:lnTo>
                  <a:lnTo>
                    <a:pt x="596345" y="887401"/>
                  </a:lnTo>
                  <a:lnTo>
                    <a:pt x="545411" y="874115"/>
                  </a:lnTo>
                  <a:lnTo>
                    <a:pt x="496303" y="860152"/>
                  </a:lnTo>
                  <a:lnTo>
                    <a:pt x="449087" y="845534"/>
                  </a:lnTo>
                  <a:lnTo>
                    <a:pt x="403832" y="830282"/>
                  </a:lnTo>
                  <a:lnTo>
                    <a:pt x="360606" y="814420"/>
                  </a:lnTo>
                  <a:lnTo>
                    <a:pt x="319475" y="797967"/>
                  </a:lnTo>
                  <a:lnTo>
                    <a:pt x="280507" y="780947"/>
                  </a:lnTo>
                  <a:lnTo>
                    <a:pt x="243771" y="763382"/>
                  </a:lnTo>
                  <a:lnTo>
                    <a:pt x="209333" y="745292"/>
                  </a:lnTo>
                  <a:lnTo>
                    <a:pt x="147624" y="707628"/>
                  </a:lnTo>
                  <a:lnTo>
                    <a:pt x="95922" y="668130"/>
                  </a:lnTo>
                  <a:lnTo>
                    <a:pt x="54768" y="626974"/>
                  </a:lnTo>
                  <a:lnTo>
                    <a:pt x="24702" y="584333"/>
                  </a:lnTo>
                  <a:lnTo>
                    <a:pt x="6265" y="540384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6577" y="2686049"/>
              <a:ext cx="91440" cy="1905000"/>
            </a:xfrm>
            <a:custGeom>
              <a:avLst/>
              <a:gdLst/>
              <a:ahLst/>
              <a:cxnLst/>
              <a:rect l="l" t="t" r="r" b="b"/>
              <a:pathLst>
                <a:path w="91439" h="1905000">
                  <a:moveTo>
                    <a:pt x="76200" y="381000"/>
                  </a:moveTo>
                  <a:lnTo>
                    <a:pt x="42926" y="381000"/>
                  </a:lnTo>
                  <a:lnTo>
                    <a:pt x="42926" y="0"/>
                  </a:lnTo>
                  <a:lnTo>
                    <a:pt x="33401" y="0"/>
                  </a:lnTo>
                  <a:lnTo>
                    <a:pt x="33401" y="381000"/>
                  </a:lnTo>
                  <a:lnTo>
                    <a:pt x="0" y="381000"/>
                  </a:lnTo>
                  <a:lnTo>
                    <a:pt x="38100" y="457200"/>
                  </a:lnTo>
                  <a:lnTo>
                    <a:pt x="69850" y="393700"/>
                  </a:lnTo>
                  <a:lnTo>
                    <a:pt x="76200" y="381000"/>
                  </a:lnTo>
                  <a:close/>
                </a:path>
                <a:path w="91439" h="1905000">
                  <a:moveTo>
                    <a:pt x="91059" y="1828800"/>
                  </a:moveTo>
                  <a:lnTo>
                    <a:pt x="57785" y="1828800"/>
                  </a:lnTo>
                  <a:lnTo>
                    <a:pt x="57785" y="1447800"/>
                  </a:lnTo>
                  <a:lnTo>
                    <a:pt x="48260" y="1447800"/>
                  </a:lnTo>
                  <a:lnTo>
                    <a:pt x="48260" y="1828800"/>
                  </a:lnTo>
                  <a:lnTo>
                    <a:pt x="14859" y="1828800"/>
                  </a:lnTo>
                  <a:lnTo>
                    <a:pt x="52959" y="1905000"/>
                  </a:lnTo>
                  <a:lnTo>
                    <a:pt x="84709" y="1841500"/>
                  </a:lnTo>
                  <a:lnTo>
                    <a:pt x="91059" y="1828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8683" y="3143250"/>
              <a:ext cx="3067050" cy="990600"/>
            </a:xfrm>
            <a:custGeom>
              <a:avLst/>
              <a:gdLst/>
              <a:ahLst/>
              <a:cxnLst/>
              <a:rect l="l" t="t" r="r" b="b"/>
              <a:pathLst>
                <a:path w="3067050" h="990600">
                  <a:moveTo>
                    <a:pt x="0" y="495300"/>
                  </a:moveTo>
                  <a:lnTo>
                    <a:pt x="6266" y="450215"/>
                  </a:lnTo>
                  <a:lnTo>
                    <a:pt x="24706" y="406266"/>
                  </a:lnTo>
                  <a:lnTo>
                    <a:pt x="54776" y="363625"/>
                  </a:lnTo>
                  <a:lnTo>
                    <a:pt x="95937" y="322469"/>
                  </a:lnTo>
                  <a:lnTo>
                    <a:pt x="147646" y="282971"/>
                  </a:lnTo>
                  <a:lnTo>
                    <a:pt x="209361" y="245307"/>
                  </a:lnTo>
                  <a:lnTo>
                    <a:pt x="243803" y="227217"/>
                  </a:lnTo>
                  <a:lnTo>
                    <a:pt x="280542" y="209652"/>
                  </a:lnTo>
                  <a:lnTo>
                    <a:pt x="319513" y="192632"/>
                  </a:lnTo>
                  <a:lnTo>
                    <a:pt x="360647" y="176179"/>
                  </a:lnTo>
                  <a:lnTo>
                    <a:pt x="403877" y="160317"/>
                  </a:lnTo>
                  <a:lnTo>
                    <a:pt x="449135" y="145065"/>
                  </a:lnTo>
                  <a:lnTo>
                    <a:pt x="496353" y="130447"/>
                  </a:lnTo>
                  <a:lnTo>
                    <a:pt x="545464" y="116484"/>
                  </a:lnTo>
                  <a:lnTo>
                    <a:pt x="596399" y="103198"/>
                  </a:lnTo>
                  <a:lnTo>
                    <a:pt x="649092" y="90611"/>
                  </a:lnTo>
                  <a:lnTo>
                    <a:pt x="703474" y="78744"/>
                  </a:lnTo>
                  <a:lnTo>
                    <a:pt x="759478" y="67620"/>
                  </a:lnTo>
                  <a:lnTo>
                    <a:pt x="817037" y="57260"/>
                  </a:lnTo>
                  <a:lnTo>
                    <a:pt x="876081" y="47687"/>
                  </a:lnTo>
                  <a:lnTo>
                    <a:pt x="936545" y="38921"/>
                  </a:lnTo>
                  <a:lnTo>
                    <a:pt x="998360" y="30985"/>
                  </a:lnTo>
                  <a:lnTo>
                    <a:pt x="1061458" y="23902"/>
                  </a:lnTo>
                  <a:lnTo>
                    <a:pt x="1125772" y="17691"/>
                  </a:lnTo>
                  <a:lnTo>
                    <a:pt x="1191234" y="12377"/>
                  </a:lnTo>
                  <a:lnTo>
                    <a:pt x="1257777" y="7979"/>
                  </a:lnTo>
                  <a:lnTo>
                    <a:pt x="1325332" y="4521"/>
                  </a:lnTo>
                  <a:lnTo>
                    <a:pt x="1393832" y="2024"/>
                  </a:lnTo>
                  <a:lnTo>
                    <a:pt x="1463210" y="509"/>
                  </a:lnTo>
                  <a:lnTo>
                    <a:pt x="1533397" y="0"/>
                  </a:lnTo>
                  <a:lnTo>
                    <a:pt x="1603595" y="509"/>
                  </a:lnTo>
                  <a:lnTo>
                    <a:pt x="1672983" y="2024"/>
                  </a:lnTo>
                  <a:lnTo>
                    <a:pt x="1741492" y="4521"/>
                  </a:lnTo>
                  <a:lnTo>
                    <a:pt x="1809056" y="7979"/>
                  </a:lnTo>
                  <a:lnTo>
                    <a:pt x="1875607" y="12377"/>
                  </a:lnTo>
                  <a:lnTo>
                    <a:pt x="1941076" y="17691"/>
                  </a:lnTo>
                  <a:lnTo>
                    <a:pt x="2005397" y="23902"/>
                  </a:lnTo>
                  <a:lnTo>
                    <a:pt x="2068502" y="30985"/>
                  </a:lnTo>
                  <a:lnTo>
                    <a:pt x="2130323" y="38921"/>
                  </a:lnTo>
                  <a:lnTo>
                    <a:pt x="2190793" y="47687"/>
                  </a:lnTo>
                  <a:lnTo>
                    <a:pt x="2249843" y="57260"/>
                  </a:lnTo>
                  <a:lnTo>
                    <a:pt x="2307406" y="67620"/>
                  </a:lnTo>
                  <a:lnTo>
                    <a:pt x="2363415" y="78744"/>
                  </a:lnTo>
                  <a:lnTo>
                    <a:pt x="2417801" y="90611"/>
                  </a:lnTo>
                  <a:lnTo>
                    <a:pt x="2470498" y="103198"/>
                  </a:lnTo>
                  <a:lnTo>
                    <a:pt x="2521437" y="116484"/>
                  </a:lnTo>
                  <a:lnTo>
                    <a:pt x="2570550" y="130447"/>
                  </a:lnTo>
                  <a:lnTo>
                    <a:pt x="2617771" y="145065"/>
                  </a:lnTo>
                  <a:lnTo>
                    <a:pt x="2663031" y="160317"/>
                  </a:lnTo>
                  <a:lnTo>
                    <a:pt x="2706263" y="176179"/>
                  </a:lnTo>
                  <a:lnTo>
                    <a:pt x="2747400" y="192632"/>
                  </a:lnTo>
                  <a:lnTo>
                    <a:pt x="2786372" y="209652"/>
                  </a:lnTo>
                  <a:lnTo>
                    <a:pt x="2823113" y="227217"/>
                  </a:lnTo>
                  <a:lnTo>
                    <a:pt x="2857556" y="245307"/>
                  </a:lnTo>
                  <a:lnTo>
                    <a:pt x="2919274" y="282971"/>
                  </a:lnTo>
                  <a:lnTo>
                    <a:pt x="2970984" y="322469"/>
                  </a:lnTo>
                  <a:lnTo>
                    <a:pt x="3012145" y="363625"/>
                  </a:lnTo>
                  <a:lnTo>
                    <a:pt x="3042216" y="406266"/>
                  </a:lnTo>
                  <a:lnTo>
                    <a:pt x="3060656" y="450215"/>
                  </a:lnTo>
                  <a:lnTo>
                    <a:pt x="3066922" y="495300"/>
                  </a:lnTo>
                  <a:lnTo>
                    <a:pt x="3065345" y="517972"/>
                  </a:lnTo>
                  <a:lnTo>
                    <a:pt x="3052924" y="562511"/>
                  </a:lnTo>
                  <a:lnTo>
                    <a:pt x="3028601" y="605828"/>
                  </a:lnTo>
                  <a:lnTo>
                    <a:pt x="2992917" y="647748"/>
                  </a:lnTo>
                  <a:lnTo>
                    <a:pt x="2946413" y="688097"/>
                  </a:lnTo>
                  <a:lnTo>
                    <a:pt x="2889632" y="726700"/>
                  </a:lnTo>
                  <a:lnTo>
                    <a:pt x="2823113" y="763382"/>
                  </a:lnTo>
                  <a:lnTo>
                    <a:pt x="2786372" y="780947"/>
                  </a:lnTo>
                  <a:lnTo>
                    <a:pt x="2747400" y="797967"/>
                  </a:lnTo>
                  <a:lnTo>
                    <a:pt x="2706263" y="814420"/>
                  </a:lnTo>
                  <a:lnTo>
                    <a:pt x="2663031" y="830282"/>
                  </a:lnTo>
                  <a:lnTo>
                    <a:pt x="2617771" y="845534"/>
                  </a:lnTo>
                  <a:lnTo>
                    <a:pt x="2570550" y="860152"/>
                  </a:lnTo>
                  <a:lnTo>
                    <a:pt x="2521437" y="874115"/>
                  </a:lnTo>
                  <a:lnTo>
                    <a:pt x="2470498" y="887401"/>
                  </a:lnTo>
                  <a:lnTo>
                    <a:pt x="2417801" y="899988"/>
                  </a:lnTo>
                  <a:lnTo>
                    <a:pt x="2363415" y="911855"/>
                  </a:lnTo>
                  <a:lnTo>
                    <a:pt x="2307406" y="922979"/>
                  </a:lnTo>
                  <a:lnTo>
                    <a:pt x="2249843" y="933339"/>
                  </a:lnTo>
                  <a:lnTo>
                    <a:pt x="2190793" y="942912"/>
                  </a:lnTo>
                  <a:lnTo>
                    <a:pt x="2130323" y="951678"/>
                  </a:lnTo>
                  <a:lnTo>
                    <a:pt x="2068502" y="959614"/>
                  </a:lnTo>
                  <a:lnTo>
                    <a:pt x="2005397" y="966697"/>
                  </a:lnTo>
                  <a:lnTo>
                    <a:pt x="1941076" y="972908"/>
                  </a:lnTo>
                  <a:lnTo>
                    <a:pt x="1875607" y="978222"/>
                  </a:lnTo>
                  <a:lnTo>
                    <a:pt x="1809056" y="982620"/>
                  </a:lnTo>
                  <a:lnTo>
                    <a:pt x="1741492" y="986078"/>
                  </a:lnTo>
                  <a:lnTo>
                    <a:pt x="1672983" y="988575"/>
                  </a:lnTo>
                  <a:lnTo>
                    <a:pt x="1603595" y="990090"/>
                  </a:lnTo>
                  <a:lnTo>
                    <a:pt x="1533397" y="990600"/>
                  </a:lnTo>
                  <a:lnTo>
                    <a:pt x="1463210" y="990090"/>
                  </a:lnTo>
                  <a:lnTo>
                    <a:pt x="1393832" y="988575"/>
                  </a:lnTo>
                  <a:lnTo>
                    <a:pt x="1325332" y="986078"/>
                  </a:lnTo>
                  <a:lnTo>
                    <a:pt x="1257777" y="982620"/>
                  </a:lnTo>
                  <a:lnTo>
                    <a:pt x="1191234" y="978222"/>
                  </a:lnTo>
                  <a:lnTo>
                    <a:pt x="1125772" y="972908"/>
                  </a:lnTo>
                  <a:lnTo>
                    <a:pt x="1061458" y="966697"/>
                  </a:lnTo>
                  <a:lnTo>
                    <a:pt x="998360" y="959614"/>
                  </a:lnTo>
                  <a:lnTo>
                    <a:pt x="936545" y="951678"/>
                  </a:lnTo>
                  <a:lnTo>
                    <a:pt x="876081" y="942912"/>
                  </a:lnTo>
                  <a:lnTo>
                    <a:pt x="817037" y="933339"/>
                  </a:lnTo>
                  <a:lnTo>
                    <a:pt x="759478" y="922979"/>
                  </a:lnTo>
                  <a:lnTo>
                    <a:pt x="703474" y="911855"/>
                  </a:lnTo>
                  <a:lnTo>
                    <a:pt x="649092" y="899988"/>
                  </a:lnTo>
                  <a:lnTo>
                    <a:pt x="596399" y="887401"/>
                  </a:lnTo>
                  <a:lnTo>
                    <a:pt x="545464" y="874115"/>
                  </a:lnTo>
                  <a:lnTo>
                    <a:pt x="496353" y="860152"/>
                  </a:lnTo>
                  <a:lnTo>
                    <a:pt x="449135" y="845534"/>
                  </a:lnTo>
                  <a:lnTo>
                    <a:pt x="403877" y="830282"/>
                  </a:lnTo>
                  <a:lnTo>
                    <a:pt x="360647" y="814420"/>
                  </a:lnTo>
                  <a:lnTo>
                    <a:pt x="319513" y="797967"/>
                  </a:lnTo>
                  <a:lnTo>
                    <a:pt x="280542" y="780947"/>
                  </a:lnTo>
                  <a:lnTo>
                    <a:pt x="243803" y="763382"/>
                  </a:lnTo>
                  <a:lnTo>
                    <a:pt x="209361" y="745292"/>
                  </a:lnTo>
                  <a:lnTo>
                    <a:pt x="147646" y="707628"/>
                  </a:lnTo>
                  <a:lnTo>
                    <a:pt x="95937" y="668130"/>
                  </a:lnTo>
                  <a:lnTo>
                    <a:pt x="54776" y="626974"/>
                  </a:lnTo>
                  <a:lnTo>
                    <a:pt x="24706" y="584333"/>
                  </a:lnTo>
                  <a:lnTo>
                    <a:pt x="6266" y="540384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466209" y="4648200"/>
            <a:ext cx="3067050" cy="990600"/>
          </a:xfrm>
          <a:custGeom>
            <a:avLst/>
            <a:gdLst/>
            <a:ahLst/>
            <a:cxnLst/>
            <a:rect l="l" t="t" r="r" b="b"/>
            <a:pathLst>
              <a:path w="3067050" h="990600">
                <a:moveTo>
                  <a:pt x="0" y="495300"/>
                </a:moveTo>
                <a:lnTo>
                  <a:pt x="6266" y="450215"/>
                </a:lnTo>
                <a:lnTo>
                  <a:pt x="24706" y="406266"/>
                </a:lnTo>
                <a:lnTo>
                  <a:pt x="54776" y="363625"/>
                </a:lnTo>
                <a:lnTo>
                  <a:pt x="95937" y="322469"/>
                </a:lnTo>
                <a:lnTo>
                  <a:pt x="147646" y="282971"/>
                </a:lnTo>
                <a:lnTo>
                  <a:pt x="209361" y="245307"/>
                </a:lnTo>
                <a:lnTo>
                  <a:pt x="243803" y="227217"/>
                </a:lnTo>
                <a:lnTo>
                  <a:pt x="280542" y="209652"/>
                </a:lnTo>
                <a:lnTo>
                  <a:pt x="319513" y="192632"/>
                </a:lnTo>
                <a:lnTo>
                  <a:pt x="360647" y="176179"/>
                </a:lnTo>
                <a:lnTo>
                  <a:pt x="403877" y="160317"/>
                </a:lnTo>
                <a:lnTo>
                  <a:pt x="449135" y="145065"/>
                </a:lnTo>
                <a:lnTo>
                  <a:pt x="496353" y="130447"/>
                </a:lnTo>
                <a:lnTo>
                  <a:pt x="545464" y="116484"/>
                </a:lnTo>
                <a:lnTo>
                  <a:pt x="596399" y="103198"/>
                </a:lnTo>
                <a:lnTo>
                  <a:pt x="649092" y="90611"/>
                </a:lnTo>
                <a:lnTo>
                  <a:pt x="703474" y="78744"/>
                </a:lnTo>
                <a:lnTo>
                  <a:pt x="759478" y="67620"/>
                </a:lnTo>
                <a:lnTo>
                  <a:pt x="817037" y="57260"/>
                </a:lnTo>
                <a:lnTo>
                  <a:pt x="876081" y="47687"/>
                </a:lnTo>
                <a:lnTo>
                  <a:pt x="936545" y="38921"/>
                </a:lnTo>
                <a:lnTo>
                  <a:pt x="998360" y="30985"/>
                </a:lnTo>
                <a:lnTo>
                  <a:pt x="1061458" y="23902"/>
                </a:lnTo>
                <a:lnTo>
                  <a:pt x="1125772" y="17691"/>
                </a:lnTo>
                <a:lnTo>
                  <a:pt x="1191234" y="12377"/>
                </a:lnTo>
                <a:lnTo>
                  <a:pt x="1257777" y="7979"/>
                </a:lnTo>
                <a:lnTo>
                  <a:pt x="1325332" y="4521"/>
                </a:lnTo>
                <a:lnTo>
                  <a:pt x="1393832" y="2024"/>
                </a:lnTo>
                <a:lnTo>
                  <a:pt x="1463210" y="509"/>
                </a:lnTo>
                <a:lnTo>
                  <a:pt x="1533398" y="0"/>
                </a:lnTo>
                <a:lnTo>
                  <a:pt x="1603595" y="509"/>
                </a:lnTo>
                <a:lnTo>
                  <a:pt x="1672983" y="2024"/>
                </a:lnTo>
                <a:lnTo>
                  <a:pt x="1741492" y="4521"/>
                </a:lnTo>
                <a:lnTo>
                  <a:pt x="1809056" y="7979"/>
                </a:lnTo>
                <a:lnTo>
                  <a:pt x="1875607" y="12377"/>
                </a:lnTo>
                <a:lnTo>
                  <a:pt x="1941076" y="17691"/>
                </a:lnTo>
                <a:lnTo>
                  <a:pt x="2005397" y="23902"/>
                </a:lnTo>
                <a:lnTo>
                  <a:pt x="2068502" y="30985"/>
                </a:lnTo>
                <a:lnTo>
                  <a:pt x="2130323" y="38921"/>
                </a:lnTo>
                <a:lnTo>
                  <a:pt x="2190793" y="47687"/>
                </a:lnTo>
                <a:lnTo>
                  <a:pt x="2249843" y="57260"/>
                </a:lnTo>
                <a:lnTo>
                  <a:pt x="2307406" y="67620"/>
                </a:lnTo>
                <a:lnTo>
                  <a:pt x="2363415" y="78744"/>
                </a:lnTo>
                <a:lnTo>
                  <a:pt x="2417801" y="90611"/>
                </a:lnTo>
                <a:lnTo>
                  <a:pt x="2470498" y="103198"/>
                </a:lnTo>
                <a:lnTo>
                  <a:pt x="2521437" y="116484"/>
                </a:lnTo>
                <a:lnTo>
                  <a:pt x="2570550" y="130447"/>
                </a:lnTo>
                <a:lnTo>
                  <a:pt x="2617771" y="145065"/>
                </a:lnTo>
                <a:lnTo>
                  <a:pt x="2663031" y="160317"/>
                </a:lnTo>
                <a:lnTo>
                  <a:pt x="2706263" y="176179"/>
                </a:lnTo>
                <a:lnTo>
                  <a:pt x="2747400" y="192632"/>
                </a:lnTo>
                <a:lnTo>
                  <a:pt x="2786372" y="209652"/>
                </a:lnTo>
                <a:lnTo>
                  <a:pt x="2823113" y="227217"/>
                </a:lnTo>
                <a:lnTo>
                  <a:pt x="2857556" y="245307"/>
                </a:lnTo>
                <a:lnTo>
                  <a:pt x="2919274" y="282971"/>
                </a:lnTo>
                <a:lnTo>
                  <a:pt x="2970984" y="322469"/>
                </a:lnTo>
                <a:lnTo>
                  <a:pt x="3012145" y="363625"/>
                </a:lnTo>
                <a:lnTo>
                  <a:pt x="3042216" y="406266"/>
                </a:lnTo>
                <a:lnTo>
                  <a:pt x="3060656" y="450215"/>
                </a:lnTo>
                <a:lnTo>
                  <a:pt x="3066922" y="495300"/>
                </a:lnTo>
                <a:lnTo>
                  <a:pt x="3065345" y="517972"/>
                </a:lnTo>
                <a:lnTo>
                  <a:pt x="3052924" y="562511"/>
                </a:lnTo>
                <a:lnTo>
                  <a:pt x="3028601" y="605828"/>
                </a:lnTo>
                <a:lnTo>
                  <a:pt x="2992917" y="647748"/>
                </a:lnTo>
                <a:lnTo>
                  <a:pt x="2946413" y="688097"/>
                </a:lnTo>
                <a:lnTo>
                  <a:pt x="2889632" y="726700"/>
                </a:lnTo>
                <a:lnTo>
                  <a:pt x="2823113" y="763382"/>
                </a:lnTo>
                <a:lnTo>
                  <a:pt x="2786372" y="780947"/>
                </a:lnTo>
                <a:lnTo>
                  <a:pt x="2747400" y="797967"/>
                </a:lnTo>
                <a:lnTo>
                  <a:pt x="2706263" y="814420"/>
                </a:lnTo>
                <a:lnTo>
                  <a:pt x="2663031" y="830282"/>
                </a:lnTo>
                <a:lnTo>
                  <a:pt x="2617771" y="845534"/>
                </a:lnTo>
                <a:lnTo>
                  <a:pt x="2570550" y="860152"/>
                </a:lnTo>
                <a:lnTo>
                  <a:pt x="2521437" y="874115"/>
                </a:lnTo>
                <a:lnTo>
                  <a:pt x="2470498" y="887401"/>
                </a:lnTo>
                <a:lnTo>
                  <a:pt x="2417801" y="899988"/>
                </a:lnTo>
                <a:lnTo>
                  <a:pt x="2363415" y="911855"/>
                </a:lnTo>
                <a:lnTo>
                  <a:pt x="2307406" y="922979"/>
                </a:lnTo>
                <a:lnTo>
                  <a:pt x="2249843" y="933339"/>
                </a:lnTo>
                <a:lnTo>
                  <a:pt x="2190793" y="942912"/>
                </a:lnTo>
                <a:lnTo>
                  <a:pt x="2130323" y="951678"/>
                </a:lnTo>
                <a:lnTo>
                  <a:pt x="2068502" y="959614"/>
                </a:lnTo>
                <a:lnTo>
                  <a:pt x="2005397" y="966697"/>
                </a:lnTo>
                <a:lnTo>
                  <a:pt x="1941076" y="972908"/>
                </a:lnTo>
                <a:lnTo>
                  <a:pt x="1875607" y="978222"/>
                </a:lnTo>
                <a:lnTo>
                  <a:pt x="1809056" y="982620"/>
                </a:lnTo>
                <a:lnTo>
                  <a:pt x="1741492" y="986078"/>
                </a:lnTo>
                <a:lnTo>
                  <a:pt x="1672983" y="988575"/>
                </a:lnTo>
                <a:lnTo>
                  <a:pt x="1603595" y="990090"/>
                </a:lnTo>
                <a:lnTo>
                  <a:pt x="1533398" y="990600"/>
                </a:lnTo>
                <a:lnTo>
                  <a:pt x="1463210" y="990090"/>
                </a:lnTo>
                <a:lnTo>
                  <a:pt x="1393832" y="988575"/>
                </a:lnTo>
                <a:lnTo>
                  <a:pt x="1325332" y="986078"/>
                </a:lnTo>
                <a:lnTo>
                  <a:pt x="1257777" y="982620"/>
                </a:lnTo>
                <a:lnTo>
                  <a:pt x="1191234" y="978222"/>
                </a:lnTo>
                <a:lnTo>
                  <a:pt x="1125772" y="972908"/>
                </a:lnTo>
                <a:lnTo>
                  <a:pt x="1061458" y="966697"/>
                </a:lnTo>
                <a:lnTo>
                  <a:pt x="998360" y="959614"/>
                </a:lnTo>
                <a:lnTo>
                  <a:pt x="936545" y="951678"/>
                </a:lnTo>
                <a:lnTo>
                  <a:pt x="876081" y="942912"/>
                </a:lnTo>
                <a:lnTo>
                  <a:pt x="817037" y="933339"/>
                </a:lnTo>
                <a:lnTo>
                  <a:pt x="759478" y="922979"/>
                </a:lnTo>
                <a:lnTo>
                  <a:pt x="703474" y="911855"/>
                </a:lnTo>
                <a:lnTo>
                  <a:pt x="649092" y="899988"/>
                </a:lnTo>
                <a:lnTo>
                  <a:pt x="596399" y="887401"/>
                </a:lnTo>
                <a:lnTo>
                  <a:pt x="545464" y="874115"/>
                </a:lnTo>
                <a:lnTo>
                  <a:pt x="496353" y="860152"/>
                </a:lnTo>
                <a:lnTo>
                  <a:pt x="449135" y="845534"/>
                </a:lnTo>
                <a:lnTo>
                  <a:pt x="403877" y="830282"/>
                </a:lnTo>
                <a:lnTo>
                  <a:pt x="360647" y="814420"/>
                </a:lnTo>
                <a:lnTo>
                  <a:pt x="319513" y="797967"/>
                </a:lnTo>
                <a:lnTo>
                  <a:pt x="280542" y="780947"/>
                </a:lnTo>
                <a:lnTo>
                  <a:pt x="243803" y="763382"/>
                </a:lnTo>
                <a:lnTo>
                  <a:pt x="209361" y="745292"/>
                </a:lnTo>
                <a:lnTo>
                  <a:pt x="147646" y="707628"/>
                </a:lnTo>
                <a:lnTo>
                  <a:pt x="95937" y="668130"/>
                </a:lnTo>
                <a:lnTo>
                  <a:pt x="54776" y="626974"/>
                </a:lnTo>
                <a:lnTo>
                  <a:pt x="24706" y="584333"/>
                </a:lnTo>
                <a:lnTo>
                  <a:pt x="6266" y="540384"/>
                </a:lnTo>
                <a:lnTo>
                  <a:pt x="0" y="495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995" y="542290"/>
            <a:ext cx="10440035" cy="559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1420">
              <a:lnSpc>
                <a:spcPct val="100000"/>
              </a:lnSpc>
              <a:spcBef>
                <a:spcPts val="95"/>
              </a:spcBef>
              <a:tabLst>
                <a:tab pos="170561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Model?</a:t>
            </a:r>
            <a:endParaRPr sz="40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91200"/>
              </a:lnSpc>
              <a:spcBef>
                <a:spcPts val="382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Model: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“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simplified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process, </a:t>
            </a:r>
            <a:r>
              <a:rPr sz="2400" dirty="0">
                <a:latin typeface="Times New Roman"/>
                <a:cs typeface="Times New Roman"/>
              </a:rPr>
              <a:t>presented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perspective”.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Examples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perspectives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306195" lvl="1" indent="-56959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306195" algn="l"/>
              </a:tabLst>
            </a:pP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flow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when?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activities;</a:t>
            </a:r>
            <a:endParaRPr sz="2400" dirty="0">
              <a:latin typeface="Times New Roman"/>
              <a:cs typeface="Times New Roman"/>
            </a:endParaRPr>
          </a:p>
          <a:p>
            <a:pPr marL="1306195" lvl="1" indent="-56959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1306195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flow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where?</a:t>
            </a:r>
            <a:endParaRPr sz="2400" dirty="0">
              <a:latin typeface="Times New Roman"/>
              <a:cs typeface="Times New Roman"/>
            </a:endParaRPr>
          </a:p>
          <a:p>
            <a:pPr marL="1306195" lvl="1" indent="-56959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306195" algn="l"/>
              </a:tabLst>
            </a:pPr>
            <a:r>
              <a:rPr sz="2400" b="1" dirty="0">
                <a:latin typeface="Times New Roman"/>
                <a:cs typeface="Times New Roman"/>
              </a:rPr>
              <a:t>Role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/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what?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Generic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imes New Roman"/>
                <a:cs typeface="Times New Roman"/>
              </a:rPr>
              <a:t>Waterfall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Iterative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Component-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engineering.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7246" y="472567"/>
            <a:ext cx="9949180" cy="52854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5"/>
              </a:spcBef>
              <a:tabLst>
                <a:tab pos="724535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costs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engineering?</a:t>
            </a:r>
            <a:endParaRPr sz="4000" dirty="0">
              <a:latin typeface="Times New Roman"/>
              <a:cs typeface="Times New Roman"/>
            </a:endParaRPr>
          </a:p>
          <a:p>
            <a:pPr marL="239395" marR="6350" indent="-227329" algn="just">
              <a:lnSpc>
                <a:spcPts val="3020"/>
              </a:lnSpc>
              <a:spcBef>
                <a:spcPts val="399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Roughly</a:t>
            </a:r>
            <a:r>
              <a:rPr sz="2800" b="1" spc="3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60%</a:t>
            </a:r>
            <a:r>
              <a:rPr sz="2800" b="1" spc="3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3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costs</a:t>
            </a:r>
            <a:r>
              <a:rPr sz="2800" b="1" spc="3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3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development</a:t>
            </a:r>
            <a:r>
              <a:rPr sz="2800" b="1" spc="3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costs,</a:t>
            </a:r>
            <a:r>
              <a:rPr sz="2800" b="1" spc="3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40%</a:t>
            </a:r>
            <a:r>
              <a:rPr sz="2800" b="1" spc="3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3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testing 	</a:t>
            </a:r>
            <a:r>
              <a:rPr sz="2800" b="1" dirty="0">
                <a:latin typeface="Times New Roman"/>
                <a:cs typeface="Times New Roman"/>
              </a:rPr>
              <a:t>costs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5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custom</a:t>
            </a:r>
            <a:r>
              <a:rPr sz="2800" spc="5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software,</a:t>
            </a:r>
            <a:r>
              <a:rPr sz="2800" spc="5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evolution</a:t>
            </a:r>
            <a:r>
              <a:rPr sz="2800" spc="5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costs</a:t>
            </a:r>
            <a:r>
              <a:rPr sz="2800" spc="5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56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exceed 	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costs.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239395" marR="5715" indent="-227329" algn="just">
              <a:lnSpc>
                <a:spcPts val="302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Costs</a:t>
            </a:r>
            <a:r>
              <a:rPr sz="2800" b="1" spc="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vary</a:t>
            </a:r>
            <a:r>
              <a:rPr sz="2800" b="1" spc="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depending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type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being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developed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attributes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reliability.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02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Distribution</a:t>
            </a:r>
            <a:r>
              <a:rPr sz="2800" b="1" spc="3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3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costs</a:t>
            </a:r>
            <a:r>
              <a:rPr sz="2800" b="1" spc="3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depends</a:t>
            </a:r>
            <a:r>
              <a:rPr sz="2800" b="1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3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3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spc="-10" dirty="0">
                <a:latin typeface="Times New Roman"/>
                <a:cs typeface="Times New Roman"/>
              </a:rPr>
              <a:t>used.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995" y="506348"/>
            <a:ext cx="10799445" cy="580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>
              <a:lnSpc>
                <a:spcPct val="100000"/>
              </a:lnSpc>
              <a:spcBef>
                <a:spcPts val="95"/>
              </a:spcBef>
              <a:tabLst>
                <a:tab pos="1223645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Methods?</a:t>
            </a:r>
            <a:endParaRPr sz="40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ct val="90200"/>
              </a:lnSpc>
              <a:spcBef>
                <a:spcPts val="354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800" spc="3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800" spc="3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Methods:</a:t>
            </a:r>
            <a:r>
              <a:rPr sz="2800" spc="3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600" i="1" dirty="0">
                <a:latin typeface="Times New Roman"/>
                <a:cs typeface="Times New Roman"/>
              </a:rPr>
              <a:t>“</a:t>
            </a:r>
            <a:r>
              <a:rPr sz="2600" b="1" i="1" dirty="0">
                <a:latin typeface="Times New Roman"/>
                <a:cs typeface="Times New Roman"/>
              </a:rPr>
              <a:t>Structured</a:t>
            </a:r>
            <a:r>
              <a:rPr sz="2600" b="1" i="1" spc="330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Times New Roman"/>
                <a:cs typeface="Times New Roman"/>
              </a:rPr>
              <a:t>approaches</a:t>
            </a:r>
            <a:r>
              <a:rPr sz="2600" b="1" i="1" spc="330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Times New Roman"/>
                <a:cs typeface="Times New Roman"/>
              </a:rPr>
              <a:t>to</a:t>
            </a:r>
            <a:r>
              <a:rPr sz="2600" b="1" i="1" spc="335" dirty="0">
                <a:latin typeface="Times New Roman"/>
                <a:cs typeface="Times New Roman"/>
              </a:rPr>
              <a:t>  </a:t>
            </a:r>
            <a:r>
              <a:rPr sz="2600" b="1" i="1" spc="-10" dirty="0">
                <a:latin typeface="Times New Roman"/>
                <a:cs typeface="Times New Roman"/>
              </a:rPr>
              <a:t>software 	</a:t>
            </a:r>
            <a:r>
              <a:rPr sz="2600" b="1" i="1" dirty="0">
                <a:latin typeface="Times New Roman"/>
                <a:cs typeface="Times New Roman"/>
              </a:rPr>
              <a:t>development</a:t>
            </a:r>
            <a:r>
              <a:rPr sz="2600" b="1" i="1" spc="114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which</a:t>
            </a:r>
            <a:r>
              <a:rPr sz="2600" i="1" spc="12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include</a:t>
            </a:r>
            <a:r>
              <a:rPr sz="2600" i="1" spc="114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system</a:t>
            </a:r>
            <a:r>
              <a:rPr sz="2600" i="1" spc="10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models,</a:t>
            </a:r>
            <a:r>
              <a:rPr sz="2600" i="1" spc="10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notations,</a:t>
            </a:r>
            <a:r>
              <a:rPr sz="2600" i="1" spc="10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rules,</a:t>
            </a:r>
            <a:r>
              <a:rPr sz="2600" i="1" spc="11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design</a:t>
            </a:r>
            <a:r>
              <a:rPr sz="2600" i="1" spc="114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advice</a:t>
            </a:r>
            <a:r>
              <a:rPr sz="2600" i="1" spc="100" dirty="0">
                <a:latin typeface="Times New Roman"/>
                <a:cs typeface="Times New Roman"/>
              </a:rPr>
              <a:t> </a:t>
            </a:r>
            <a:r>
              <a:rPr sz="2600" i="1" spc="-25" dirty="0">
                <a:latin typeface="Times New Roman"/>
                <a:cs typeface="Times New Roman"/>
              </a:rPr>
              <a:t>and 	</a:t>
            </a:r>
            <a:r>
              <a:rPr sz="2600" i="1" dirty="0">
                <a:latin typeface="Times New Roman"/>
                <a:cs typeface="Times New Roman"/>
              </a:rPr>
              <a:t>process</a:t>
            </a:r>
            <a:r>
              <a:rPr sz="2600" i="1" spc="-114" dirty="0">
                <a:latin typeface="Times New Roman"/>
                <a:cs typeface="Times New Roman"/>
              </a:rPr>
              <a:t> </a:t>
            </a:r>
            <a:r>
              <a:rPr sz="2600" i="1" spc="-10" dirty="0">
                <a:latin typeface="Times New Roman"/>
                <a:cs typeface="Times New Roman"/>
              </a:rPr>
              <a:t>guidance"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Model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descriptions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Descriptions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graphical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produced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Rules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Constraints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models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Recommendations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Advice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good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design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practice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Process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guidance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What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activities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follow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446" y="153669"/>
            <a:ext cx="10584815" cy="5647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615"/>
              </a:lnSpc>
              <a:spcBef>
                <a:spcPts val="95"/>
              </a:spcBef>
              <a:tabLst>
                <a:tab pos="50419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CASE?</a:t>
            </a:r>
            <a:endParaRPr sz="4000" dirty="0">
              <a:latin typeface="Times New Roman"/>
              <a:cs typeface="Times New Roman"/>
            </a:endParaRPr>
          </a:p>
          <a:p>
            <a:pPr marL="503555" algn="ctr">
              <a:lnSpc>
                <a:spcPts val="3715"/>
              </a:lnSpc>
            </a:pPr>
            <a:r>
              <a:rPr sz="3250" spc="-30" dirty="0">
                <a:latin typeface="Times New Roman"/>
                <a:cs typeface="Times New Roman"/>
              </a:rPr>
              <a:t>(</a:t>
            </a:r>
            <a:r>
              <a:rPr sz="325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Computer-</a:t>
            </a:r>
            <a:r>
              <a:rPr sz="3250" b="1" dirty="0">
                <a:solidFill>
                  <a:srgbClr val="FF0000"/>
                </a:solidFill>
                <a:latin typeface="Times New Roman"/>
                <a:cs typeface="Times New Roman"/>
              </a:rPr>
              <a:t>Aided</a:t>
            </a:r>
            <a:r>
              <a:rPr sz="325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2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3250" spc="-10" dirty="0">
                <a:latin typeface="Times New Roman"/>
                <a:cs typeface="Times New Roman"/>
              </a:rPr>
              <a:t>)</a:t>
            </a:r>
            <a:endParaRPr sz="3250" dirty="0">
              <a:latin typeface="Times New Roman"/>
              <a:cs typeface="Times New Roman"/>
            </a:endParaRPr>
          </a:p>
          <a:p>
            <a:pPr marL="241300" marR="8255" indent="-229235">
              <a:lnSpc>
                <a:spcPts val="3240"/>
              </a:lnSpc>
              <a:spcBef>
                <a:spcPts val="281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CASE:</a:t>
            </a:r>
            <a:r>
              <a:rPr sz="3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“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intended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automated </a:t>
            </a:r>
            <a:r>
              <a:rPr sz="3000" dirty="0">
                <a:latin typeface="Times New Roman"/>
                <a:cs typeface="Times New Roman"/>
              </a:rPr>
              <a:t>support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activities”.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CASE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often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used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method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support.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Upper-</a:t>
            </a:r>
            <a:r>
              <a:rPr sz="3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CASE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  <a:tab pos="1685925" algn="l"/>
                <a:tab pos="2129155" algn="l"/>
                <a:tab pos="3418840" algn="l"/>
                <a:tab pos="4031615" algn="l"/>
                <a:tab pos="5005705" algn="l"/>
                <a:tab pos="6351270" algn="l"/>
                <a:tab pos="7940040" algn="l"/>
                <a:tab pos="8402955" algn="l"/>
              </a:tabLst>
            </a:pPr>
            <a:r>
              <a:rPr sz="3000" spc="-10" dirty="0">
                <a:latin typeface="Times New Roman"/>
                <a:cs typeface="Times New Roman"/>
              </a:rPr>
              <a:t>Tools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support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early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process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activities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of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requirements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design;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Lower-</a:t>
            </a:r>
            <a:r>
              <a:rPr sz="3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CASE</a:t>
            </a:r>
            <a:endParaRPr sz="3000" dirty="0">
              <a:latin typeface="Times New Roman"/>
              <a:cs typeface="Times New Roman"/>
            </a:endParaRPr>
          </a:p>
          <a:p>
            <a:pPr marL="698500" marR="6350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  <a:tab pos="1819910" algn="l"/>
                <a:tab pos="2397760" algn="l"/>
                <a:tab pos="3821429" algn="l"/>
                <a:tab pos="4856480" algn="l"/>
                <a:tab pos="6578600" algn="l"/>
                <a:tab pos="7599680" algn="l"/>
                <a:tab pos="8216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Tools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support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later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activities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such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as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programming, </a:t>
            </a:r>
            <a:r>
              <a:rPr sz="3000" b="1" dirty="0">
                <a:latin typeface="Times New Roman"/>
                <a:cs typeface="Times New Roman"/>
              </a:rPr>
              <a:t>debugging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10" dirty="0">
                <a:latin typeface="Times New Roman"/>
                <a:cs typeface="Times New Roman"/>
              </a:rPr>
              <a:t> testing.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637" y="481711"/>
            <a:ext cx="10429875" cy="5726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95"/>
              </a:spcBef>
              <a:tabLst>
                <a:tab pos="654050" algn="l"/>
              </a:tabLst>
            </a:pPr>
            <a:r>
              <a:rPr sz="40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attributes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endParaRPr sz="4000" dirty="0">
              <a:latin typeface="Times New Roman"/>
              <a:cs typeface="Times New Roman"/>
            </a:endParaRPr>
          </a:p>
          <a:p>
            <a:pPr marL="241300" marR="5715" indent="-229235">
              <a:lnSpc>
                <a:spcPts val="2700"/>
              </a:lnSpc>
              <a:spcBef>
                <a:spcPts val="442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1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software</a:t>
            </a:r>
            <a:r>
              <a:rPr sz="2500" b="1" spc="1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should</a:t>
            </a:r>
            <a:r>
              <a:rPr sz="2500" b="1" spc="1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deliver</a:t>
            </a:r>
            <a:r>
              <a:rPr sz="2500" b="1" spc="1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1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required</a:t>
            </a:r>
            <a:r>
              <a:rPr sz="2500" b="1" spc="1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functionality</a:t>
            </a:r>
            <a:r>
              <a:rPr sz="2500" b="1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performance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should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maintainable,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dependable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acceptable.</a:t>
            </a:r>
            <a:endParaRPr sz="2500" dirty="0">
              <a:latin typeface="Times New Roman"/>
              <a:cs typeface="Times New Roman"/>
            </a:endParaRPr>
          </a:p>
          <a:p>
            <a:pPr marL="184150" lvl="1" indent="-118745">
              <a:lnSpc>
                <a:spcPct val="100000"/>
              </a:lnSpc>
              <a:spcBef>
                <a:spcPts val="670"/>
              </a:spcBef>
              <a:buSzPct val="96000"/>
              <a:buFont typeface="Arial MT"/>
              <a:buChar char="•"/>
              <a:tabLst>
                <a:tab pos="184150" algn="l"/>
              </a:tabLst>
            </a:pP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Maintainability</a:t>
            </a:r>
            <a:endParaRPr sz="2500" dirty="0">
              <a:latin typeface="Times New Roman"/>
              <a:cs typeface="Times New Roman"/>
            </a:endParaRPr>
          </a:p>
          <a:p>
            <a:pPr marL="446405" lvl="2" indent="-28892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46405" algn="l"/>
              </a:tabLst>
            </a:pPr>
            <a:r>
              <a:rPr sz="2500" dirty="0">
                <a:latin typeface="Times New Roman"/>
                <a:cs typeface="Times New Roman"/>
              </a:rPr>
              <a:t>Software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must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evolve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meet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changing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needs</a:t>
            </a:r>
            <a:endParaRPr sz="2500" dirty="0">
              <a:latin typeface="Times New Roman"/>
              <a:cs typeface="Times New Roman"/>
            </a:endParaRPr>
          </a:p>
          <a:p>
            <a:pPr marL="184150" lvl="1" indent="-118745">
              <a:lnSpc>
                <a:spcPct val="100000"/>
              </a:lnSpc>
              <a:spcBef>
                <a:spcPts val="705"/>
              </a:spcBef>
              <a:buSzPct val="96000"/>
              <a:buFont typeface="Arial MT"/>
              <a:buChar char="•"/>
              <a:tabLst>
                <a:tab pos="184150" algn="l"/>
              </a:tabLst>
            </a:pP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Dependability</a:t>
            </a:r>
            <a:endParaRPr sz="2500" dirty="0">
              <a:latin typeface="Times New Roman"/>
              <a:cs typeface="Times New Roman"/>
            </a:endParaRPr>
          </a:p>
          <a:p>
            <a:pPr marL="446405" lvl="2" indent="-28892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46405" algn="l"/>
              </a:tabLst>
            </a:pPr>
            <a:r>
              <a:rPr sz="2500" dirty="0">
                <a:latin typeface="Times New Roman"/>
                <a:cs typeface="Times New Roman"/>
              </a:rPr>
              <a:t>Software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must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trustworthy</a:t>
            </a:r>
            <a:endParaRPr sz="2500" dirty="0">
              <a:latin typeface="Times New Roman"/>
              <a:cs typeface="Times New Roman"/>
            </a:endParaRPr>
          </a:p>
          <a:p>
            <a:pPr marL="184150" lvl="1" indent="-118745">
              <a:lnSpc>
                <a:spcPct val="100000"/>
              </a:lnSpc>
              <a:spcBef>
                <a:spcPts val="705"/>
              </a:spcBef>
              <a:buSzPct val="96000"/>
              <a:buFont typeface="Arial MT"/>
              <a:buChar char="•"/>
              <a:tabLst>
                <a:tab pos="184150" algn="l"/>
              </a:tabLst>
            </a:pP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Efficiency</a:t>
            </a:r>
            <a:endParaRPr sz="2500" dirty="0">
              <a:latin typeface="Times New Roman"/>
              <a:cs typeface="Times New Roman"/>
            </a:endParaRPr>
          </a:p>
          <a:p>
            <a:pPr marL="446405" lvl="2" indent="-28892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46405" algn="l"/>
              </a:tabLst>
            </a:pPr>
            <a:r>
              <a:rPr sz="2500" dirty="0">
                <a:latin typeface="Times New Roman"/>
                <a:cs typeface="Times New Roman"/>
              </a:rPr>
              <a:t>Software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should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make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wasteful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resources</a:t>
            </a:r>
            <a:endParaRPr sz="2500" dirty="0">
              <a:latin typeface="Times New Roman"/>
              <a:cs typeface="Times New Roman"/>
            </a:endParaRPr>
          </a:p>
          <a:p>
            <a:pPr marL="184150" lvl="1" indent="-118745">
              <a:lnSpc>
                <a:spcPct val="100000"/>
              </a:lnSpc>
              <a:spcBef>
                <a:spcPts val="710"/>
              </a:spcBef>
              <a:buSzPct val="96000"/>
              <a:buFont typeface="Arial MT"/>
              <a:buChar char="•"/>
              <a:tabLst>
                <a:tab pos="184150" algn="l"/>
              </a:tabLst>
            </a:pP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Acceptability</a:t>
            </a:r>
            <a:endParaRPr sz="2500" dirty="0">
              <a:latin typeface="Times New Roman"/>
              <a:cs typeface="Times New Roman"/>
            </a:endParaRPr>
          </a:p>
          <a:p>
            <a:pPr marL="447040" marR="5080" lvl="2" indent="-289560">
              <a:lnSpc>
                <a:spcPts val="2700"/>
              </a:lnSpc>
              <a:spcBef>
                <a:spcPts val="530"/>
              </a:spcBef>
              <a:buFont typeface="Arial MT"/>
              <a:buChar char="•"/>
              <a:tabLst>
                <a:tab pos="447040" algn="l"/>
              </a:tabLst>
            </a:pPr>
            <a:r>
              <a:rPr sz="2500" dirty="0">
                <a:latin typeface="Times New Roman"/>
                <a:cs typeface="Times New Roman"/>
              </a:rPr>
              <a:t>Software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must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accepted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which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was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designed.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means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it </a:t>
            </a:r>
            <a:r>
              <a:rPr sz="2500" dirty="0">
                <a:latin typeface="Times New Roman"/>
                <a:cs typeface="Times New Roman"/>
              </a:rPr>
              <a:t>must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understandable,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usable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compatible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other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systems.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5092" y="96392"/>
            <a:ext cx="10598150" cy="6033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0675">
              <a:lnSpc>
                <a:spcPts val="4560"/>
              </a:lnSpc>
              <a:spcBef>
                <a:spcPts val="95"/>
              </a:spcBef>
              <a:tabLst>
                <a:tab pos="82550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key</a:t>
            </a:r>
            <a:r>
              <a:rPr sz="4000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challenges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facing</a:t>
            </a:r>
            <a:r>
              <a:rPr sz="4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 marL="4012565">
              <a:lnSpc>
                <a:spcPts val="4560"/>
              </a:lnSpc>
            </a:pPr>
            <a:r>
              <a:rPr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endParaRPr sz="4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4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challenges</a:t>
            </a:r>
            <a:r>
              <a:rPr sz="2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are: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Heterogeneity,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delivery,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trust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Legacy</a:t>
            </a:r>
            <a:r>
              <a:rPr sz="22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Heterogeneity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51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  <a:tab pos="2193290" algn="l"/>
                <a:tab pos="3580765" algn="l"/>
                <a:tab pos="4097020" algn="l"/>
                <a:tab pos="5220970" algn="l"/>
                <a:tab pos="6372860" algn="l"/>
                <a:tab pos="6985634" algn="l"/>
                <a:tab pos="7564755" algn="l"/>
                <a:tab pos="8282940" algn="l"/>
                <a:tab pos="8971915" algn="l"/>
              </a:tabLst>
            </a:pPr>
            <a:r>
              <a:rPr sz="2200" spc="-10" dirty="0">
                <a:latin typeface="Times New Roman"/>
                <a:cs typeface="Times New Roman"/>
              </a:rPr>
              <a:t>Developing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techniques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building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software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cope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heterogeneous</a:t>
            </a:r>
            <a:endParaRPr sz="2200" dirty="0">
              <a:latin typeface="Times New Roman"/>
              <a:cs typeface="Times New Roman"/>
            </a:endParaRPr>
          </a:p>
          <a:p>
            <a:pPr marL="6985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platforms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environments.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25" dirty="0">
                <a:latin typeface="Times New Roman"/>
                <a:cs typeface="Times New Roman"/>
              </a:rPr>
              <a:t>Large-</a:t>
            </a:r>
            <a:r>
              <a:rPr sz="2200" dirty="0">
                <a:latin typeface="Times New Roman"/>
                <a:cs typeface="Times New Roman"/>
              </a:rPr>
              <a:t>scale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distributed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software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Delivery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delivery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software.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increasing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pressure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delivery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software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Trust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demonstrate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trusted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users.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Legacy</a:t>
            </a:r>
            <a:r>
              <a:rPr sz="2200" b="1" spc="-10" dirty="0">
                <a:latin typeface="Times New Roman"/>
                <a:cs typeface="Times New Roman"/>
              </a:rPr>
              <a:t> systems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30" dirty="0">
                <a:latin typeface="Times New Roman"/>
                <a:cs typeface="Times New Roman"/>
              </a:rPr>
              <a:t>Valuable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maintained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updated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117" y="160731"/>
            <a:ext cx="10322560" cy="607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6020">
              <a:lnSpc>
                <a:spcPts val="4560"/>
              </a:lnSpc>
              <a:spcBef>
                <a:spcPts val="95"/>
              </a:spcBef>
              <a:tabLst>
                <a:tab pos="168021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Stakeholders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  <a:p>
            <a:pPr marL="3865879">
              <a:lnSpc>
                <a:spcPts val="4560"/>
              </a:lnSpc>
            </a:pP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Engineering?</a:t>
            </a:r>
            <a:endParaRPr sz="40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2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  <a:tab pos="2356485" algn="l"/>
                <a:tab pos="391858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Stakeholder: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stakeholder</a:t>
            </a:r>
            <a:r>
              <a:rPr sz="2400" dirty="0">
                <a:latin typeface="Times New Roman"/>
                <a:cs typeface="Times New Roman"/>
              </a:rPr>
              <a:t>	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anyone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 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stake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successful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outcome 	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1. </a:t>
            </a:r>
            <a:r>
              <a:rPr sz="2400" b="1" spc="-10" dirty="0">
                <a:latin typeface="Times New Roman"/>
                <a:cs typeface="Times New Roman"/>
              </a:rPr>
              <a:t>Users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2. </a:t>
            </a:r>
            <a:r>
              <a:rPr sz="2400" b="1" spc="-10" dirty="0">
                <a:latin typeface="Times New Roman"/>
                <a:cs typeface="Times New Roman"/>
              </a:rPr>
              <a:t>Customers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3.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developers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4.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Development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Managers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b="1" dirty="0">
                <a:latin typeface="Times New Roman"/>
                <a:cs typeface="Times New Roman"/>
              </a:rPr>
              <a:t>Note: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four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roles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fulfilled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person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12" y="237490"/>
            <a:ext cx="10238487" cy="46050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590800" marR="5080" indent="-1630045">
              <a:lnSpc>
                <a:spcPts val="4320"/>
              </a:lnSpc>
              <a:spcBef>
                <a:spcPts val="640"/>
              </a:spcBef>
              <a:tabLst>
                <a:tab pos="1465580" algn="l"/>
                <a:tab pos="2590800" algn="l"/>
              </a:tabLst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4000" u="sng" spc="-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Difficulties</a:t>
            </a:r>
            <a:r>
              <a:rPr sz="4000" u="sng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Risks</a:t>
            </a:r>
            <a:r>
              <a:rPr sz="4000" u="sng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5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4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 Engineering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endParaRPr sz="4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070"/>
              </a:spcBef>
              <a:buFont typeface="Times New Roman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Complexity</a:t>
            </a:r>
            <a:r>
              <a:rPr sz="3000" b="1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numbers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details</a:t>
            </a:r>
            <a:endParaRPr sz="3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240665" algn="l"/>
              </a:tabLst>
            </a:pPr>
            <a:r>
              <a:rPr sz="3000" dirty="0">
                <a:latin typeface="Times New Roman"/>
                <a:cs typeface="Times New Roman"/>
              </a:rPr>
              <a:t>Uncertainty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about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technology</a:t>
            </a:r>
            <a:endParaRPr sz="3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Char char="•"/>
              <a:tabLst>
                <a:tab pos="240665" algn="l"/>
              </a:tabLst>
            </a:pPr>
            <a:r>
              <a:rPr sz="3000" dirty="0">
                <a:latin typeface="Times New Roman"/>
                <a:cs typeface="Times New Roman"/>
              </a:rPr>
              <a:t>Uncertainty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about</a:t>
            </a:r>
            <a:r>
              <a:rPr sz="3000" b="1" spc="-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endParaRPr sz="3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Char char="•"/>
              <a:tabLst>
                <a:tab pos="240665" algn="l"/>
              </a:tabLst>
            </a:pPr>
            <a:r>
              <a:rPr sz="3000" dirty="0">
                <a:latin typeface="Times New Roman"/>
                <a:cs typeface="Times New Roman"/>
              </a:rPr>
              <a:t>Uncertainty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1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engineering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skills</a:t>
            </a:r>
            <a:endParaRPr sz="3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Constant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change</a:t>
            </a:r>
            <a:endParaRPr sz="30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Times New Roman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Political</a:t>
            </a:r>
            <a:r>
              <a:rPr sz="3000" b="1" spc="-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risks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1" y="331723"/>
            <a:ext cx="11011154" cy="5383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9850">
              <a:lnSpc>
                <a:spcPct val="100000"/>
              </a:lnSpc>
              <a:spcBef>
                <a:spcPts val="95"/>
              </a:spcBef>
              <a:tabLst>
                <a:tab pos="1844675" algn="l"/>
              </a:tabLst>
            </a:pP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Fundamentals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ts val="324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3000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fundamental</a:t>
            </a:r>
            <a:r>
              <a:rPr sz="3000" spc="2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principles</a:t>
            </a:r>
            <a:r>
              <a:rPr sz="3000" spc="2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apply</a:t>
            </a:r>
            <a:r>
              <a:rPr sz="3000" spc="2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2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00" spc="20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3000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irrespective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techniques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3000" spc="-10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1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Systems</a:t>
            </a:r>
            <a:r>
              <a:rPr sz="2600" b="1" spc="29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should</a:t>
            </a:r>
            <a:r>
              <a:rPr sz="2600" b="1" spc="29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be</a:t>
            </a:r>
            <a:r>
              <a:rPr sz="2600" b="1" spc="29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developed</a:t>
            </a:r>
            <a:r>
              <a:rPr sz="2600" b="1" spc="3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3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managed</a:t>
            </a:r>
            <a:r>
              <a:rPr sz="2600" spc="2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0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understood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process.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course,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different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 are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0" dirty="0">
                <a:latin typeface="Times New Roman"/>
                <a:cs typeface="Times New Roman"/>
              </a:rPr>
              <a:t>different </a:t>
            </a:r>
            <a:r>
              <a:rPr sz="2600" dirty="0">
                <a:latin typeface="Times New Roman"/>
                <a:cs typeface="Times New Roman"/>
              </a:rPr>
              <a:t>types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software.</a:t>
            </a:r>
            <a:r>
              <a:rPr sz="2600" dirty="0">
                <a:latin typeface="Times New Roman"/>
                <a:cs typeface="Times New Roman"/>
              </a:rPr>
              <a:t> </a:t>
            </a:r>
            <a:endParaRPr lang="en-US" sz="26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1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Dependability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performance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important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 dirty="0">
              <a:latin typeface="Times New Roman"/>
              <a:cs typeface="Times New Roman"/>
            </a:endParaRPr>
          </a:p>
          <a:p>
            <a:pPr marL="698500" marR="6350" lvl="1" indent="-228600" algn="just">
              <a:lnSpc>
                <a:spcPts val="281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Understanding</a:t>
            </a:r>
            <a:r>
              <a:rPr sz="2600" b="1" spc="58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57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managing</a:t>
            </a:r>
            <a:r>
              <a:rPr sz="2600" b="1" spc="58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57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57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specification</a:t>
            </a:r>
            <a:r>
              <a:rPr sz="2600" spc="585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(what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do)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important.</a:t>
            </a:r>
            <a:endParaRPr sz="2600" dirty="0">
              <a:latin typeface="Times New Roman"/>
              <a:cs typeface="Times New Roman"/>
            </a:endParaRPr>
          </a:p>
          <a:p>
            <a:pPr marL="698500" marR="6350" lvl="1" indent="-228600" algn="just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Where</a:t>
            </a:r>
            <a:r>
              <a:rPr sz="2600" b="1" spc="2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appropriate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you</a:t>
            </a:r>
            <a:r>
              <a:rPr sz="2600" b="1" spc="29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should</a:t>
            </a:r>
            <a:r>
              <a:rPr sz="2600" b="1" spc="2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reuse</a:t>
            </a:r>
            <a:r>
              <a:rPr sz="2600" b="1" spc="2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2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has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already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been </a:t>
            </a:r>
            <a:r>
              <a:rPr sz="2600" dirty="0">
                <a:latin typeface="Times New Roman"/>
                <a:cs typeface="Times New Roman"/>
              </a:rPr>
              <a:t>developed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rather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write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new</a:t>
            </a:r>
            <a:r>
              <a:rPr sz="2600" spc="-10" dirty="0">
                <a:latin typeface="Times New Roman"/>
                <a:cs typeface="Times New Roman"/>
              </a:rPr>
              <a:t> software.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2842" y="341756"/>
            <a:ext cx="10568940" cy="61343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4839">
              <a:lnSpc>
                <a:spcPct val="100000"/>
              </a:lnSpc>
              <a:spcBef>
                <a:spcPts val="95"/>
              </a:spcBef>
              <a:tabLst>
                <a:tab pos="2399030" algn="l"/>
              </a:tabLst>
            </a:pPr>
            <a:r>
              <a:rPr sz="4000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Web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0665" marR="8890" indent="-228600">
              <a:lnSpc>
                <a:spcPts val="238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2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Web</a:t>
            </a:r>
            <a:r>
              <a:rPr sz="2200" b="1" spc="2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2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now</a:t>
            </a:r>
            <a:r>
              <a:rPr sz="2200" b="1" spc="2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2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platform</a:t>
            </a:r>
            <a:r>
              <a:rPr sz="2200" b="1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running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organizations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increasingly </a:t>
            </a: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web-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rather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reuse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dominant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constructing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web-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systems.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Font typeface="Arial MT"/>
              <a:buChar char="•"/>
            </a:pPr>
            <a:endParaRPr sz="2200" dirty="0">
              <a:latin typeface="Times New Roman"/>
              <a:cs typeface="Times New Roman"/>
            </a:endParaRPr>
          </a:p>
          <a:p>
            <a:pPr marL="240665" marR="6985" indent="-228600">
              <a:lnSpc>
                <a:spcPts val="238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When</a:t>
            </a:r>
            <a:r>
              <a:rPr sz="2200" b="1" spc="3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building</a:t>
            </a:r>
            <a:r>
              <a:rPr sz="2200" b="1" spc="3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these</a:t>
            </a:r>
            <a:r>
              <a:rPr sz="2200" b="1" spc="3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systems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think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assemble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them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pre- </a:t>
            </a: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components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50" dirty="0">
                <a:latin typeface="Times New Roman"/>
                <a:cs typeface="Times New Roman"/>
              </a:rPr>
              <a:t>Web-</a:t>
            </a:r>
            <a:r>
              <a:rPr sz="2200" b="1" dirty="0">
                <a:latin typeface="Times New Roman"/>
                <a:cs typeface="Times New Roman"/>
              </a:rPr>
              <a:t>based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should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developed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delivered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incrementally.</a:t>
            </a:r>
            <a:endParaRPr sz="2200" dirty="0">
              <a:latin typeface="Times New Roman"/>
              <a:cs typeface="Times New Roman"/>
            </a:endParaRPr>
          </a:p>
          <a:p>
            <a:pPr marL="697865" marR="7620" lvl="1" indent="-228600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generally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recognized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impractical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specify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advance.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User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interfaces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constrained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by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capabilities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web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browsers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51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Technologies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AJAX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interfaces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created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browser</a:t>
            </a:r>
            <a:endParaRPr sz="2200" dirty="0">
              <a:latin typeface="Times New Roman"/>
              <a:cs typeface="Times New Roman"/>
            </a:endParaRPr>
          </a:p>
          <a:p>
            <a:pPr marL="697865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difficult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use.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Web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scripting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used.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31723"/>
            <a:ext cx="10342245" cy="4862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9395">
              <a:lnSpc>
                <a:spcPct val="100000"/>
              </a:lnSpc>
              <a:spcBef>
                <a:spcPts val="95"/>
              </a:spcBef>
              <a:tabLst>
                <a:tab pos="2013585" algn="l"/>
              </a:tabLst>
            </a:pPr>
            <a:r>
              <a:rPr sz="4000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Web-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based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55" dirty="0">
                <a:latin typeface="Times New Roman"/>
                <a:cs typeface="Times New Roman"/>
              </a:rPr>
              <a:t>Web-</a:t>
            </a:r>
            <a:r>
              <a:rPr sz="3000" b="1" dirty="0">
                <a:latin typeface="Times New Roman"/>
                <a:cs typeface="Times New Roman"/>
              </a:rPr>
              <a:t>based</a:t>
            </a:r>
            <a:r>
              <a:rPr sz="3000" b="1" spc="7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b="1" spc="7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7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complex</a:t>
            </a:r>
            <a:r>
              <a:rPr sz="3000" b="1" spc="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distributed</a:t>
            </a:r>
            <a:r>
              <a:rPr sz="3000" spc="7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7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but</a:t>
            </a:r>
            <a:r>
              <a:rPr sz="3000" spc="7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fundamental</a:t>
            </a:r>
            <a:r>
              <a:rPr sz="3000" spc="60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principles</a:t>
            </a:r>
            <a:r>
              <a:rPr sz="3000" spc="6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6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6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engineering</a:t>
            </a:r>
            <a:r>
              <a:rPr sz="3000" spc="610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discussed </a:t>
            </a:r>
            <a:r>
              <a:rPr sz="3000" dirty="0">
                <a:latin typeface="Times New Roman"/>
                <a:cs typeface="Times New Roman"/>
              </a:rPr>
              <a:t>previously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applicable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types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45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4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fundamental</a:t>
            </a:r>
            <a:r>
              <a:rPr sz="3000" b="1" spc="4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ideas</a:t>
            </a:r>
            <a:r>
              <a:rPr sz="3000" b="1" spc="4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409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4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engineering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4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discussed</a:t>
            </a:r>
            <a:r>
              <a:rPr sz="3000" spc="4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previous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section,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apply</a:t>
            </a:r>
            <a:r>
              <a:rPr sz="3000" spc="5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web-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5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same </a:t>
            </a:r>
            <a:r>
              <a:rPr sz="3000" dirty="0">
                <a:latin typeface="Times New Roman"/>
                <a:cs typeface="Times New Roman"/>
              </a:rPr>
              <a:t>way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types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9438" y="57657"/>
            <a:ext cx="9986645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Key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Frequently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asked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questions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endParaRPr sz="4000" dirty="0">
              <a:latin typeface="Times New Roman"/>
              <a:cs typeface="Times New Roman"/>
            </a:endParaRPr>
          </a:p>
          <a:p>
            <a:pPr marL="3108325">
              <a:lnSpc>
                <a:spcPts val="4560"/>
              </a:lnSpc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32954" y="1434972"/>
          <a:ext cx="10462894" cy="49142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409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Question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Answer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R w="1270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8382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programs</a:t>
                      </a:r>
                      <a:r>
                        <a:rPr sz="16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associated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documentation.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products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6360" marR="7683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particular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market.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83820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software?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77470" algn="just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deliver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6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6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maintainable,</a:t>
                      </a:r>
                      <a:r>
                        <a:rPr sz="16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dependable</a:t>
                      </a:r>
                      <a:r>
                        <a:rPr sz="16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usable.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8382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engineering?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8105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discipline</a:t>
                      </a:r>
                      <a:r>
                        <a:rPr sz="16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concerned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aspects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production.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83820" marR="78740">
                        <a:lnSpc>
                          <a:spcPts val="1920"/>
                        </a:lnSpc>
                        <a:spcBef>
                          <a:spcPts val="15"/>
                        </a:spcBef>
                        <a:tabLst>
                          <a:tab pos="661670" algn="l"/>
                          <a:tab pos="1048385" algn="l"/>
                          <a:tab pos="1435735" algn="l"/>
                          <a:tab pos="2592705" algn="l"/>
                          <a:tab pos="3432175" algn="l"/>
                        </a:tabLst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fundamental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engineering activities?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76200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specification,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development,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evolution.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8382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difference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science?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875"/>
                        </a:lnSpc>
                        <a:tabLst>
                          <a:tab pos="1029335" algn="l"/>
                          <a:tab pos="1760855" algn="l"/>
                          <a:tab pos="2501900" algn="l"/>
                          <a:tab pos="2837180" algn="l"/>
                          <a:tab pos="3486785" algn="l"/>
                          <a:tab pos="3910329" algn="l"/>
                          <a:tab pos="5198110" algn="l"/>
                        </a:tabLst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theory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fundamentals;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concerned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practicalities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sz="16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useful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2019">
                <a:tc>
                  <a:txBody>
                    <a:bodyPr/>
                    <a:lstStyle/>
                    <a:p>
                      <a:pPr marL="83820" marR="78740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difference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engineering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engineering?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78105" algn="just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concerned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aspects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computer-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600" spc="18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1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600" spc="1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hardware,</a:t>
                      </a:r>
                      <a:r>
                        <a:rPr sz="1600" spc="18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1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18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process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engineering.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part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process.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2682" y="119888"/>
            <a:ext cx="9045575" cy="1064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Key</a:t>
            </a:r>
            <a:r>
              <a:rPr sz="36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Frequently</a:t>
            </a:r>
            <a:r>
              <a:rPr sz="36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asked</a:t>
            </a:r>
            <a:r>
              <a:rPr sz="36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questions</a:t>
            </a:r>
            <a:r>
              <a:rPr sz="36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endParaRPr sz="3600" dirty="0">
              <a:latin typeface="Times New Roman"/>
              <a:cs typeface="Times New Roman"/>
            </a:endParaRPr>
          </a:p>
          <a:p>
            <a:pPr marL="2848610">
              <a:lnSpc>
                <a:spcPts val="4105"/>
              </a:lnSpc>
            </a:pP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u="sng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57757" y="1632204"/>
          <a:ext cx="10245725" cy="4637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Question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Answer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83820" marR="78105">
                        <a:lnSpc>
                          <a:spcPts val="1920"/>
                        </a:lnSpc>
                        <a:spcBef>
                          <a:spcPts val="15"/>
                        </a:spcBef>
                        <a:tabLst>
                          <a:tab pos="669290" algn="l"/>
                          <a:tab pos="1063625" algn="l"/>
                          <a:tab pos="1457325" algn="l"/>
                          <a:tab pos="1894839" algn="l"/>
                          <a:tab pos="2900680" algn="l"/>
                          <a:tab pos="3556000" algn="l"/>
                        </a:tabLst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facing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 engineering?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77470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Coping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increasing diversity, demands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delivery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times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trustworthy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83820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engineering?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Roughly</a:t>
                      </a:r>
                      <a:r>
                        <a:rPr sz="16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60%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costs,</a:t>
                      </a:r>
                      <a:r>
                        <a:rPr sz="1600" spc="4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40%</a:t>
                      </a:r>
                      <a:r>
                        <a:rPr sz="1600" spc="4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4455" marR="7747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costs.</a:t>
                      </a:r>
                      <a:r>
                        <a:rPr sz="16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600" spc="4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software,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evolution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exceed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costs.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5460">
                <a:tc>
                  <a:txBody>
                    <a:bodyPr/>
                    <a:lstStyle/>
                    <a:p>
                      <a:pPr marL="83820" marR="78740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techniques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methods?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74930" algn="just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projects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professionally</a:t>
                      </a:r>
                      <a:r>
                        <a:rPr sz="16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managed</a:t>
                      </a:r>
                      <a:r>
                        <a:rPr sz="16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developed,</a:t>
                      </a:r>
                      <a:r>
                        <a:rPr sz="16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6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appropriate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system.</a:t>
                      </a:r>
                      <a:r>
                        <a:rPr sz="16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example,</a:t>
                      </a:r>
                      <a:r>
                        <a:rPr sz="16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games</a:t>
                      </a:r>
                      <a:r>
                        <a:rPr sz="16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always</a:t>
                      </a:r>
                      <a:r>
                        <a:rPr sz="16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series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prototypes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whereas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4455" marR="76200" algn="just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1600" spc="2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analyzable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specification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2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developed.</a:t>
                      </a:r>
                      <a:r>
                        <a:rPr sz="16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600" spc="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can’t,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therefore,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say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another.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83820" marR="79375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differences</a:t>
                      </a:r>
                      <a:r>
                        <a:rPr sz="16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6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software engineering?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76835" algn="just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60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60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availability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services</a:t>
                      </a:r>
                      <a:r>
                        <a:rPr sz="160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possibility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highly</a:t>
                      </a:r>
                      <a:r>
                        <a:rPr sz="16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sz="1600" spc="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service-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systems.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Web-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6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advances</a:t>
                      </a:r>
                      <a:r>
                        <a:rPr sz="16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4455" algn="just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reuse.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03702" y="331723"/>
            <a:ext cx="79502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Essential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attributes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74013" y="1617472"/>
          <a:ext cx="9899650" cy="4287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905"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6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characteristic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11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R w="1270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530">
                <a:tc>
                  <a:txBody>
                    <a:bodyPr/>
                    <a:lstStyle/>
                    <a:p>
                      <a:pPr marL="62865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Maintainability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way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evolve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meet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00" marR="55244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600" spc="4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4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customers.</a:t>
                      </a:r>
                      <a:r>
                        <a:rPr sz="16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sz="16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sz="16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because</a:t>
                      </a:r>
                      <a:r>
                        <a:rPr sz="16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4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6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4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inevitable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environment.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Dependability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security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 algn="just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dependability</a:t>
                      </a:r>
                      <a:r>
                        <a:rPr sz="1600" spc="4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includes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600" spc="4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characteristics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reliability,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00" marR="55244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safety.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Dependable</a:t>
                      </a:r>
                      <a:r>
                        <a:rPr sz="16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economic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damage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failure.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Malicious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access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damage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519"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Efficiency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00" marR="55244" algn="just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6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wasteful</a:t>
                      </a:r>
                      <a:r>
                        <a:rPr sz="16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resources</a:t>
                      </a:r>
                      <a:r>
                        <a:rPr sz="16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processor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cycles.</a:t>
                      </a:r>
                      <a:r>
                        <a:rPr sz="160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6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therefore</a:t>
                      </a:r>
                      <a:r>
                        <a:rPr sz="1600" spc="4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includes</a:t>
                      </a:r>
                      <a:r>
                        <a:rPr sz="16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responsiveness,</a:t>
                      </a:r>
                      <a:r>
                        <a:rPr sz="160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600" spc="4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 err="1">
                          <a:latin typeface="Times New Roman"/>
                          <a:cs typeface="Times New Roman"/>
                        </a:rPr>
                        <a:t>utilisation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Acceptability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 marR="53975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Software must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acceptable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designed.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means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6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understandable,</a:t>
                      </a:r>
                      <a:r>
                        <a:rPr sz="16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usable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sz="16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6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6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they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ts val="186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use.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331723"/>
            <a:ext cx="10270490" cy="54972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55085">
              <a:lnSpc>
                <a:spcPct val="100000"/>
              </a:lnSpc>
              <a:spcBef>
                <a:spcPts val="95"/>
              </a:spcBef>
              <a:tabLst>
                <a:tab pos="4359275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Key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6985" indent="-228600">
              <a:lnSpc>
                <a:spcPct val="7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engineering</a:t>
            </a:r>
            <a:r>
              <a:rPr sz="2600" b="1" spc="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is</a:t>
            </a:r>
            <a:r>
              <a:rPr sz="2600" b="1" spc="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</a:t>
            </a:r>
            <a:r>
              <a:rPr sz="2600" b="1" spc="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engineering</a:t>
            </a:r>
            <a:r>
              <a:rPr sz="2600" b="1" spc="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discipline</a:t>
            </a:r>
            <a:r>
              <a:rPr sz="2600" b="1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concerned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with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aspects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production.</a:t>
            </a: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Essential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2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product</a:t>
            </a:r>
            <a:r>
              <a:rPr sz="2600" b="1" spc="2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attributes</a:t>
            </a:r>
            <a:r>
              <a:rPr sz="2600" b="1" spc="2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are</a:t>
            </a:r>
            <a:r>
              <a:rPr sz="2600" b="1" spc="2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maintainability,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dependability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security,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efficiency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acceptability.</a:t>
            </a:r>
            <a:endParaRPr sz="2600" dirty="0">
              <a:latin typeface="Times New Roman"/>
              <a:cs typeface="Times New Roman"/>
            </a:endParaRPr>
          </a:p>
          <a:p>
            <a:pPr marL="241300" marR="8255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964565" algn="l"/>
                <a:tab pos="2515235" algn="l"/>
                <a:tab pos="3932554" algn="l"/>
                <a:tab pos="4380865" algn="l"/>
                <a:tab pos="6322695" algn="l"/>
                <a:tab pos="8282305" algn="l"/>
                <a:tab pos="977773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high-</a:t>
            </a:r>
            <a:r>
              <a:rPr sz="2600" b="1" spc="-20" dirty="0">
                <a:latin typeface="Times New Roman"/>
                <a:cs typeface="Times New Roman"/>
              </a:rPr>
              <a:t>level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activities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of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specification,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development,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validation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evolution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processes.</a:t>
            </a:r>
            <a:endParaRPr sz="2600" dirty="0">
              <a:latin typeface="Times New Roman"/>
              <a:cs typeface="Times New Roman"/>
            </a:endParaRPr>
          </a:p>
          <a:p>
            <a:pPr marL="241300" marR="8890" indent="-228600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025525" algn="l"/>
                <a:tab pos="3057525" algn="l"/>
                <a:tab pos="4321175" algn="l"/>
                <a:tab pos="4828540" algn="l"/>
                <a:tab pos="6264910" algn="l"/>
                <a:tab pos="8151495" algn="l"/>
                <a:tab pos="878713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fundamental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notions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of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software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engineering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universally </a:t>
            </a:r>
            <a:r>
              <a:rPr sz="2600" dirty="0">
                <a:latin typeface="Times New Roman"/>
                <a:cs typeface="Times New Roman"/>
              </a:rPr>
              <a:t>applicable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 </a:t>
            </a:r>
            <a:r>
              <a:rPr sz="2600" spc="-10" dirty="0">
                <a:latin typeface="Times New Roman"/>
                <a:cs typeface="Times New Roman"/>
              </a:rPr>
              <a:t>development.</a:t>
            </a:r>
            <a:endParaRPr sz="26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There</a:t>
            </a:r>
            <a:r>
              <a:rPr sz="2600" b="1" spc="1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are</a:t>
            </a:r>
            <a:r>
              <a:rPr sz="2600" b="1" spc="1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many</a:t>
            </a:r>
            <a:r>
              <a:rPr sz="2600" b="1" spc="19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different</a:t>
            </a:r>
            <a:r>
              <a:rPr sz="2600" b="1" spc="19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types</a:t>
            </a:r>
            <a:r>
              <a:rPr sz="2600" b="1" spc="1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1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system</a:t>
            </a:r>
            <a:r>
              <a:rPr sz="2600" b="1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requires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appropriate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engineering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tools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techniques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development.</a:t>
            </a:r>
            <a:endParaRPr sz="2600" dirty="0">
              <a:latin typeface="Times New Roman"/>
              <a:cs typeface="Times New Roman"/>
            </a:endParaRPr>
          </a:p>
          <a:p>
            <a:pPr marL="241300" marR="825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955675" algn="l"/>
                <a:tab pos="2919095" algn="l"/>
                <a:tab pos="3798570" algn="l"/>
                <a:tab pos="4237355" algn="l"/>
                <a:tab pos="5603240" algn="l"/>
                <a:tab pos="7418070" algn="l"/>
                <a:tab pos="7981950" algn="l"/>
                <a:tab pos="9502140" algn="l"/>
                <a:tab pos="992251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fundamental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ideas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of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software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engineering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applicable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types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2650" y="3018278"/>
            <a:ext cx="2984500" cy="562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5"/>
              </a:lnSpc>
            </a:pPr>
            <a:r>
              <a:rPr sz="4000" dirty="0">
                <a:latin typeface="Times New Roman"/>
                <a:cs typeface="Times New Roman"/>
              </a:rPr>
              <a:t>THANK</a:t>
            </a:r>
            <a:r>
              <a:rPr sz="4000" spc="-15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5588" y="1757172"/>
            <a:ext cx="10041890" cy="425618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47927" y="1530349"/>
            <a:ext cx="10498455" cy="4711700"/>
          </a:xfrm>
          <a:custGeom>
            <a:avLst/>
            <a:gdLst/>
            <a:ahLst/>
            <a:cxnLst/>
            <a:rect l="l" t="t" r="r" b="b"/>
            <a:pathLst>
              <a:path w="10498455" h="4711700">
                <a:moveTo>
                  <a:pt x="10315270" y="228727"/>
                </a:moveTo>
                <a:lnTo>
                  <a:pt x="10269550" y="228727"/>
                </a:lnTo>
                <a:lnTo>
                  <a:pt x="10269550" y="4483011"/>
                </a:lnTo>
                <a:lnTo>
                  <a:pt x="10315270" y="4483011"/>
                </a:lnTo>
                <a:lnTo>
                  <a:pt x="10315270" y="228727"/>
                </a:lnTo>
                <a:close/>
              </a:path>
              <a:path w="10498455" h="4711700">
                <a:moveTo>
                  <a:pt x="10315270" y="182880"/>
                </a:moveTo>
                <a:lnTo>
                  <a:pt x="182880" y="182880"/>
                </a:lnTo>
                <a:lnTo>
                  <a:pt x="182880" y="228600"/>
                </a:lnTo>
                <a:lnTo>
                  <a:pt x="182880" y="4483100"/>
                </a:lnTo>
                <a:lnTo>
                  <a:pt x="182880" y="4528820"/>
                </a:lnTo>
                <a:lnTo>
                  <a:pt x="10315270" y="4528820"/>
                </a:lnTo>
                <a:lnTo>
                  <a:pt x="10315270" y="4483100"/>
                </a:lnTo>
                <a:lnTo>
                  <a:pt x="228549" y="4483100"/>
                </a:lnTo>
                <a:lnTo>
                  <a:pt x="228549" y="228600"/>
                </a:lnTo>
                <a:lnTo>
                  <a:pt x="10315270" y="228600"/>
                </a:lnTo>
                <a:lnTo>
                  <a:pt x="10315270" y="182880"/>
                </a:lnTo>
                <a:close/>
              </a:path>
              <a:path w="10498455" h="4711700">
                <a:moveTo>
                  <a:pt x="10498150" y="137287"/>
                </a:moveTo>
                <a:lnTo>
                  <a:pt x="10360990" y="137287"/>
                </a:lnTo>
                <a:lnTo>
                  <a:pt x="10360990" y="4574451"/>
                </a:lnTo>
                <a:lnTo>
                  <a:pt x="10498150" y="4574451"/>
                </a:lnTo>
                <a:lnTo>
                  <a:pt x="10498150" y="137287"/>
                </a:lnTo>
                <a:close/>
              </a:path>
              <a:path w="10498455" h="4711700">
                <a:moveTo>
                  <a:pt x="10498150" y="0"/>
                </a:moveTo>
                <a:lnTo>
                  <a:pt x="0" y="0"/>
                </a:lnTo>
                <a:lnTo>
                  <a:pt x="0" y="137160"/>
                </a:lnTo>
                <a:lnTo>
                  <a:pt x="0" y="4574540"/>
                </a:lnTo>
                <a:lnTo>
                  <a:pt x="0" y="4711700"/>
                </a:lnTo>
                <a:lnTo>
                  <a:pt x="10498150" y="4711700"/>
                </a:lnTo>
                <a:lnTo>
                  <a:pt x="10498150" y="4574540"/>
                </a:lnTo>
                <a:lnTo>
                  <a:pt x="137160" y="4574540"/>
                </a:lnTo>
                <a:lnTo>
                  <a:pt x="137160" y="137160"/>
                </a:lnTo>
                <a:lnTo>
                  <a:pt x="10498150" y="137160"/>
                </a:lnTo>
                <a:lnTo>
                  <a:pt x="10498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9950" y="2950286"/>
            <a:ext cx="3009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u="none" dirty="0">
                <a:latin typeface="Times New Roman"/>
                <a:cs typeface="Times New Roman"/>
              </a:rPr>
              <a:t>THANK</a:t>
            </a:r>
            <a:r>
              <a:rPr sz="4000" b="0" u="none" spc="-155" dirty="0">
                <a:latin typeface="Times New Roman"/>
                <a:cs typeface="Times New Roman"/>
              </a:rPr>
              <a:t> </a:t>
            </a:r>
            <a:r>
              <a:rPr sz="4000" b="0" u="none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23187" y="1360169"/>
            <a:ext cx="10458450" cy="5019040"/>
            <a:chOff x="1223187" y="1360169"/>
            <a:chExt cx="10458450" cy="5019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0848" y="1588007"/>
              <a:ext cx="10002139" cy="45620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23187" y="1360169"/>
              <a:ext cx="10458450" cy="5019040"/>
            </a:xfrm>
            <a:custGeom>
              <a:avLst/>
              <a:gdLst/>
              <a:ahLst/>
              <a:cxnLst/>
              <a:rect l="l" t="t" r="r" b="b"/>
              <a:pathLst>
                <a:path w="10458450" h="5019040">
                  <a:moveTo>
                    <a:pt x="10275519" y="228727"/>
                  </a:moveTo>
                  <a:lnTo>
                    <a:pt x="10229799" y="228727"/>
                  </a:lnTo>
                  <a:lnTo>
                    <a:pt x="10229799" y="4789906"/>
                  </a:lnTo>
                  <a:lnTo>
                    <a:pt x="10275519" y="4789919"/>
                  </a:lnTo>
                  <a:lnTo>
                    <a:pt x="10275519" y="228727"/>
                  </a:lnTo>
                  <a:close/>
                </a:path>
                <a:path w="10458450" h="5019040">
                  <a:moveTo>
                    <a:pt x="10275519" y="182880"/>
                  </a:moveTo>
                  <a:lnTo>
                    <a:pt x="182829" y="182880"/>
                  </a:lnTo>
                  <a:lnTo>
                    <a:pt x="182829" y="228600"/>
                  </a:lnTo>
                  <a:lnTo>
                    <a:pt x="182829" y="4790440"/>
                  </a:lnTo>
                  <a:lnTo>
                    <a:pt x="182829" y="4836160"/>
                  </a:lnTo>
                  <a:lnTo>
                    <a:pt x="10275519" y="4836160"/>
                  </a:lnTo>
                  <a:lnTo>
                    <a:pt x="10275519" y="4790440"/>
                  </a:lnTo>
                  <a:lnTo>
                    <a:pt x="228549" y="4790440"/>
                  </a:lnTo>
                  <a:lnTo>
                    <a:pt x="228549" y="228600"/>
                  </a:lnTo>
                  <a:lnTo>
                    <a:pt x="10275519" y="228600"/>
                  </a:lnTo>
                  <a:lnTo>
                    <a:pt x="10275519" y="182880"/>
                  </a:lnTo>
                  <a:close/>
                </a:path>
                <a:path w="10458450" h="5019040">
                  <a:moveTo>
                    <a:pt x="10458399" y="137287"/>
                  </a:moveTo>
                  <a:lnTo>
                    <a:pt x="10321239" y="137287"/>
                  </a:lnTo>
                  <a:lnTo>
                    <a:pt x="10321239" y="4881346"/>
                  </a:lnTo>
                  <a:lnTo>
                    <a:pt x="10458399" y="4881346"/>
                  </a:lnTo>
                  <a:lnTo>
                    <a:pt x="10458399" y="137287"/>
                  </a:lnTo>
                  <a:close/>
                </a:path>
                <a:path w="10458450" h="5019040">
                  <a:moveTo>
                    <a:pt x="1045839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0" y="4881880"/>
                  </a:lnTo>
                  <a:lnTo>
                    <a:pt x="0" y="5019040"/>
                  </a:lnTo>
                  <a:lnTo>
                    <a:pt x="10458399" y="5019040"/>
                  </a:lnTo>
                  <a:lnTo>
                    <a:pt x="10458399" y="4881880"/>
                  </a:lnTo>
                  <a:lnTo>
                    <a:pt x="137109" y="4881880"/>
                  </a:lnTo>
                  <a:lnTo>
                    <a:pt x="137109" y="137160"/>
                  </a:lnTo>
                  <a:lnTo>
                    <a:pt x="10458399" y="137160"/>
                  </a:lnTo>
                  <a:lnTo>
                    <a:pt x="10458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Concepts</a:t>
            </a:r>
            <a:r>
              <a:rPr spc="10" dirty="0"/>
              <a:t> </a:t>
            </a:r>
            <a:r>
              <a:rPr dirty="0"/>
              <a:t>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40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2322</TotalTime>
  <Words>3296</Words>
  <Application>Microsoft Macintosh PowerPoint</Application>
  <PresentationFormat>Widescreen</PresentationFormat>
  <Paragraphs>390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MS PGothic</vt:lpstr>
      <vt:lpstr>Arial MT</vt:lpstr>
      <vt:lpstr>Calibri</vt:lpstr>
      <vt:lpstr>Microsoft Sans Serif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TehseenRiazAbbasi</dc:creator>
  <cp:lastModifiedBy>(FA24-BSE-042) MUHAMMAD ABDULLAH</cp:lastModifiedBy>
  <cp:revision>10</cp:revision>
  <dcterms:created xsi:type="dcterms:W3CDTF">2025-02-13T06:08:01Z</dcterms:created>
  <dcterms:modified xsi:type="dcterms:W3CDTF">2025-03-18T01:55:52Z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2025-02-13T00:00:00Z</vt:filetime>
  </property>
  <property fmtid="{D5CDD505-2E9C-101B-9397-08002B2CF9AE}" pid="5" name="Producer">
    <vt:lpwstr>Microsoft® PowerPoint® LTSC</vt:lpwstr>
  </property>
</Properties>
</file>