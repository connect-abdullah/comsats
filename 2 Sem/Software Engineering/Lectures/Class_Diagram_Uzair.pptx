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91" r:id="rId1"/>
  </p:sldMasterIdLst>
  <p:notesMasterIdLst>
    <p:notesMasterId r:id="rId55"/>
  </p:notesMasterIdLst>
  <p:handoutMasterIdLst>
    <p:handoutMasterId r:id="rId56"/>
  </p:handoutMasterIdLst>
  <p:sldIdLst>
    <p:sldId id="298" r:id="rId2"/>
    <p:sldId id="299" r:id="rId3"/>
    <p:sldId id="345" r:id="rId4"/>
    <p:sldId id="346" r:id="rId5"/>
    <p:sldId id="375" r:id="rId6"/>
    <p:sldId id="376" r:id="rId7"/>
    <p:sldId id="343" r:id="rId8"/>
    <p:sldId id="356" r:id="rId9"/>
    <p:sldId id="379" r:id="rId10"/>
    <p:sldId id="378" r:id="rId11"/>
    <p:sldId id="357" r:id="rId12"/>
    <p:sldId id="358" r:id="rId13"/>
    <p:sldId id="359" r:id="rId14"/>
    <p:sldId id="362" r:id="rId15"/>
    <p:sldId id="363" r:id="rId16"/>
    <p:sldId id="380" r:id="rId17"/>
    <p:sldId id="360" r:id="rId18"/>
    <p:sldId id="361" r:id="rId19"/>
    <p:sldId id="382" r:id="rId20"/>
    <p:sldId id="365" r:id="rId21"/>
    <p:sldId id="366" r:id="rId22"/>
    <p:sldId id="367" r:id="rId23"/>
    <p:sldId id="381" r:id="rId24"/>
    <p:sldId id="347" r:id="rId25"/>
    <p:sldId id="348" r:id="rId26"/>
    <p:sldId id="349" r:id="rId27"/>
    <p:sldId id="306" r:id="rId28"/>
    <p:sldId id="350" r:id="rId29"/>
    <p:sldId id="311" r:id="rId30"/>
    <p:sldId id="383" r:id="rId31"/>
    <p:sldId id="384" r:id="rId32"/>
    <p:sldId id="312" r:id="rId33"/>
    <p:sldId id="351" r:id="rId34"/>
    <p:sldId id="337" r:id="rId35"/>
    <p:sldId id="316" r:id="rId36"/>
    <p:sldId id="318" r:id="rId37"/>
    <p:sldId id="319" r:id="rId38"/>
    <p:sldId id="320" r:id="rId39"/>
    <p:sldId id="321" r:id="rId40"/>
    <p:sldId id="387" r:id="rId41"/>
    <p:sldId id="352" r:id="rId42"/>
    <p:sldId id="388" r:id="rId43"/>
    <p:sldId id="386" r:id="rId44"/>
    <p:sldId id="353" r:id="rId45"/>
    <p:sldId id="354" r:id="rId46"/>
    <p:sldId id="355" r:id="rId47"/>
    <p:sldId id="368" r:id="rId48"/>
    <p:sldId id="369" r:id="rId49"/>
    <p:sldId id="370" r:id="rId50"/>
    <p:sldId id="371" r:id="rId51"/>
    <p:sldId id="372" r:id="rId52"/>
    <p:sldId id="373" r:id="rId53"/>
    <p:sldId id="374"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9ED6"/>
    <a:srgbClr val="003300"/>
  </p:clrMru>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93" autoAdjust="0"/>
    <p:restoredTop sz="83977" autoAdjust="0"/>
  </p:normalViewPr>
  <p:slideViewPr>
    <p:cSldViewPr>
      <p:cViewPr varScale="1">
        <p:scale>
          <a:sx n="90" d="100"/>
          <a:sy n="90" d="100"/>
        </p:scale>
        <p:origin x="1242" y="78"/>
      </p:cViewPr>
      <p:guideLst>
        <p:guide orient="horz" pos="2160"/>
        <p:guide pos="2880"/>
      </p:guideLst>
    </p:cSldViewPr>
  </p:slideViewPr>
  <p:notesTextViewPr>
    <p:cViewPr>
      <p:scale>
        <a:sx n="100" d="100"/>
        <a:sy n="100" d="100"/>
      </p:scale>
      <p:origin x="0" y="0"/>
    </p:cViewPr>
  </p:notesTextViewPr>
  <p:sorterViewPr>
    <p:cViewPr>
      <p:scale>
        <a:sx n="154" d="100"/>
        <a:sy n="154" d="100"/>
      </p:scale>
      <p:origin x="0" y="0"/>
    </p:cViewPr>
  </p:sorterViewPr>
  <p:notesViewPr>
    <p:cSldViewPr>
      <p:cViewPr varScale="1">
        <p:scale>
          <a:sx n="83" d="100"/>
          <a:sy n="83" d="100"/>
        </p:scale>
        <p:origin x="-3144"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83FDC75-7F73-4A4A-A77C-09AADF00E0EA}" type="datetimeFigureOut">
              <a:rPr lang="en-US" smtClean="0"/>
              <a:pPr/>
              <a:t>5/20/2025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59226BF-1F13-42D3-80DC-373E7ADD1EBC}" type="slidenum">
              <a:rPr lang="en-US" smtClean="0"/>
              <a:pPr/>
              <a:t>‹#›</a:t>
            </a:fld>
            <a:endParaRPr lang="en-US" dirty="0"/>
          </a:p>
        </p:txBody>
      </p:sp>
    </p:spTree>
    <p:extLst>
      <p:ext uri="{BB962C8B-B14F-4D97-AF65-F5344CB8AC3E}">
        <p14:creationId xmlns:p14="http://schemas.microsoft.com/office/powerpoint/2010/main" val="38998661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AEF76B-3757-4A0B-AF93-28494465C1DD}" type="datetimeFigureOut">
              <a:rPr lang="en-US" smtClean="0"/>
              <a:pPr/>
              <a:t>5/20/2025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693FD4-8F83-4EF7-AC3F-0DC0388986B0}" type="slidenum">
              <a:rPr lang="en-US" smtClean="0"/>
              <a:pPr/>
              <a:t>‹#›</a:t>
            </a:fld>
            <a:endParaRPr lang="en-US" dirty="0"/>
          </a:p>
        </p:txBody>
      </p:sp>
    </p:spTree>
    <p:extLst>
      <p:ext uri="{BB962C8B-B14F-4D97-AF65-F5344CB8AC3E}">
        <p14:creationId xmlns:p14="http://schemas.microsoft.com/office/powerpoint/2010/main" val="18832469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1B0520C8-A230-4EED-A793-6589119F1109}" type="datetime1">
              <a:rPr lang="en-US" smtClean="0"/>
              <a:t>5/20/2025</a:t>
            </a:fld>
            <a:endParaRPr lang="en-US" dirty="0"/>
          </a:p>
        </p:txBody>
      </p:sp>
      <p:sp>
        <p:nvSpPr>
          <p:cNvPr id="5" name="Footer Placeholder 4"/>
          <p:cNvSpPr>
            <a:spLocks noGrp="1"/>
          </p:cNvSpPr>
          <p:nvPr>
            <p:ph type="ftr" sz="quarter" idx="11"/>
          </p:nvPr>
        </p:nvSpPr>
        <p:spPr/>
        <p:txBody>
          <a:bodyPr/>
          <a:lstStyle/>
          <a:p>
            <a:r>
              <a:rPr lang="en-US"/>
              <a:t>Chapter 4 Requirements engineering</a:t>
            </a:r>
            <a:endParaRPr lang="en-US" dirty="0"/>
          </a:p>
        </p:txBody>
      </p:sp>
      <p:sp>
        <p:nvSpPr>
          <p:cNvPr id="6" name="Slide Number Placeholder 5"/>
          <p:cNvSpPr>
            <a:spLocks noGrp="1"/>
          </p:cNvSpPr>
          <p:nvPr>
            <p:ph type="sldNum" sz="quarter" idx="12"/>
          </p:nvPr>
        </p:nvSpPr>
        <p:spPr/>
        <p:txBody>
          <a:bodyPr/>
          <a:lstStyle/>
          <a:p>
            <a:fld id="{33D6E5A2-EC83-451F-A719-9AC1370DD5CF}" type="slidenum">
              <a:rPr lang="en-US" smtClean="0"/>
              <a:pPr/>
              <a:t>‹#›</a:t>
            </a:fld>
            <a:endParaRPr lang="en-US" dirty="0"/>
          </a:p>
        </p:txBody>
      </p:sp>
    </p:spTree>
    <p:extLst>
      <p:ext uri="{BB962C8B-B14F-4D97-AF65-F5344CB8AC3E}">
        <p14:creationId xmlns:p14="http://schemas.microsoft.com/office/powerpoint/2010/main" val="260160487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FDAFAB-7B82-4E5C-89C1-C2934395B6B2}" type="datetime1">
              <a:rPr lang="en-US" smtClean="0"/>
              <a:t>5/20/2025</a:t>
            </a:fld>
            <a:endParaRPr lang="en-US" dirty="0"/>
          </a:p>
        </p:txBody>
      </p:sp>
      <p:sp>
        <p:nvSpPr>
          <p:cNvPr id="5" name="Footer Placeholder 4"/>
          <p:cNvSpPr>
            <a:spLocks noGrp="1"/>
          </p:cNvSpPr>
          <p:nvPr>
            <p:ph type="ftr" sz="quarter" idx="11"/>
          </p:nvPr>
        </p:nvSpPr>
        <p:spPr/>
        <p:txBody>
          <a:bodyPr/>
          <a:lstStyle/>
          <a:p>
            <a:r>
              <a:rPr lang="en-US"/>
              <a:t>Chapter 4 Requirements engineering</a:t>
            </a:r>
            <a:endParaRPr lang="en-US" dirty="0"/>
          </a:p>
        </p:txBody>
      </p:sp>
      <p:sp>
        <p:nvSpPr>
          <p:cNvPr id="6" name="Slide Number Placeholder 5"/>
          <p:cNvSpPr>
            <a:spLocks noGrp="1"/>
          </p:cNvSpPr>
          <p:nvPr>
            <p:ph type="sldNum" sz="quarter" idx="12"/>
          </p:nvPr>
        </p:nvSpPr>
        <p:spPr/>
        <p:txBody>
          <a:bodyPr/>
          <a:lstStyle/>
          <a:p>
            <a:fld id="{33D6E5A2-EC83-451F-A719-9AC1370DD5CF}" type="slidenum">
              <a:rPr lang="en-US" smtClean="0"/>
              <a:pPr/>
              <a:t>‹#›</a:t>
            </a:fld>
            <a:endParaRPr lang="en-US" dirty="0"/>
          </a:p>
        </p:txBody>
      </p:sp>
    </p:spTree>
    <p:extLst>
      <p:ext uri="{BB962C8B-B14F-4D97-AF65-F5344CB8AC3E}">
        <p14:creationId xmlns:p14="http://schemas.microsoft.com/office/powerpoint/2010/main" val="2536188114"/>
      </p:ext>
    </p:extLst>
  </p:cSld>
  <p:clrMapOvr>
    <a:masterClrMapping/>
  </p:clrMapOvr>
  <p:transition spd="slow">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0520C8-A230-4EED-A793-6589119F1109}" type="datetime1">
              <a:rPr lang="en-US" smtClean="0"/>
              <a:t>5/20/2025</a:t>
            </a:fld>
            <a:endParaRPr lang="en-US" dirty="0"/>
          </a:p>
        </p:txBody>
      </p:sp>
      <p:sp>
        <p:nvSpPr>
          <p:cNvPr id="5" name="Footer Placeholder 4"/>
          <p:cNvSpPr>
            <a:spLocks noGrp="1"/>
          </p:cNvSpPr>
          <p:nvPr>
            <p:ph type="ftr" sz="quarter" idx="11"/>
          </p:nvPr>
        </p:nvSpPr>
        <p:spPr/>
        <p:txBody>
          <a:bodyPr/>
          <a:lstStyle/>
          <a:p>
            <a:r>
              <a:rPr lang="en-US"/>
              <a:t>Chapter 4 Requirements engineering</a:t>
            </a:r>
            <a:endParaRPr lang="en-US" dirty="0"/>
          </a:p>
        </p:txBody>
      </p:sp>
      <p:sp>
        <p:nvSpPr>
          <p:cNvPr id="6" name="Slide Number Placeholder 5"/>
          <p:cNvSpPr>
            <a:spLocks noGrp="1"/>
          </p:cNvSpPr>
          <p:nvPr>
            <p:ph type="sldNum" sz="quarter" idx="12"/>
          </p:nvPr>
        </p:nvSpPr>
        <p:spPr/>
        <p:txBody>
          <a:bodyPr/>
          <a:lstStyle/>
          <a:p>
            <a:fld id="{33D6E5A2-EC83-451F-A719-9AC1370DD5CF}" type="slidenum">
              <a:rPr lang="en-US" smtClean="0"/>
              <a:pPr/>
              <a:t>‹#›</a:t>
            </a:fld>
            <a:endParaRPr lang="en-US" dirty="0"/>
          </a:p>
        </p:txBody>
      </p:sp>
    </p:spTree>
    <p:extLst>
      <p:ext uri="{BB962C8B-B14F-4D97-AF65-F5344CB8AC3E}">
        <p14:creationId xmlns:p14="http://schemas.microsoft.com/office/powerpoint/2010/main" val="150703074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5CDF210-AE26-42AB-8C10-F130EB9E2BC1}" type="datetime1">
              <a:rPr lang="en-US" smtClean="0"/>
              <a:t>5/20/2025</a:t>
            </a:fld>
            <a:endParaRPr lang="en-US" dirty="0"/>
          </a:p>
        </p:txBody>
      </p:sp>
      <p:sp>
        <p:nvSpPr>
          <p:cNvPr id="6" name="Footer Placeholder 5"/>
          <p:cNvSpPr>
            <a:spLocks noGrp="1"/>
          </p:cNvSpPr>
          <p:nvPr>
            <p:ph type="ftr" sz="quarter" idx="11"/>
          </p:nvPr>
        </p:nvSpPr>
        <p:spPr/>
        <p:txBody>
          <a:bodyPr/>
          <a:lstStyle/>
          <a:p>
            <a:r>
              <a:rPr lang="en-US"/>
              <a:t>Chapter 4 Requirements engineering</a:t>
            </a:r>
            <a:endParaRPr lang="en-US" dirty="0"/>
          </a:p>
        </p:txBody>
      </p:sp>
      <p:sp>
        <p:nvSpPr>
          <p:cNvPr id="7" name="Slide Number Placeholder 6"/>
          <p:cNvSpPr>
            <a:spLocks noGrp="1"/>
          </p:cNvSpPr>
          <p:nvPr>
            <p:ph type="sldNum" sz="quarter" idx="12"/>
          </p:nvPr>
        </p:nvSpPr>
        <p:spPr/>
        <p:txBody>
          <a:bodyPr/>
          <a:lstStyle/>
          <a:p>
            <a:fld id="{33D6E5A2-EC83-451F-A719-9AC1370DD5CF}" type="slidenum">
              <a:rPr lang="en-US" smtClean="0"/>
              <a:pPr/>
              <a:t>‹#›</a:t>
            </a:fld>
            <a:endParaRPr lang="en-US" dirty="0"/>
          </a:p>
        </p:txBody>
      </p:sp>
    </p:spTree>
    <p:extLst>
      <p:ext uri="{BB962C8B-B14F-4D97-AF65-F5344CB8AC3E}">
        <p14:creationId xmlns:p14="http://schemas.microsoft.com/office/powerpoint/2010/main" val="3536065288"/>
      </p:ext>
    </p:extLst>
  </p:cSld>
  <p:clrMapOvr>
    <a:masterClrMapping/>
  </p:clrMapOvr>
  <p:transition spd="slow">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9BA2F49-E294-40E1-8887-34D3A77CBFFB}" type="datetime1">
              <a:rPr lang="en-US" smtClean="0"/>
              <a:t>5/20/2025</a:t>
            </a:fld>
            <a:endParaRPr lang="en-US" dirty="0"/>
          </a:p>
        </p:txBody>
      </p:sp>
      <p:sp>
        <p:nvSpPr>
          <p:cNvPr id="8" name="Footer Placeholder 7"/>
          <p:cNvSpPr>
            <a:spLocks noGrp="1"/>
          </p:cNvSpPr>
          <p:nvPr>
            <p:ph type="ftr" sz="quarter" idx="11"/>
          </p:nvPr>
        </p:nvSpPr>
        <p:spPr/>
        <p:txBody>
          <a:bodyPr/>
          <a:lstStyle/>
          <a:p>
            <a:r>
              <a:rPr lang="en-US"/>
              <a:t>Chapter 4 Requirements engineering</a:t>
            </a:r>
            <a:endParaRPr lang="en-US" dirty="0"/>
          </a:p>
        </p:txBody>
      </p:sp>
      <p:sp>
        <p:nvSpPr>
          <p:cNvPr id="9" name="Slide Number Placeholder 8"/>
          <p:cNvSpPr>
            <a:spLocks noGrp="1"/>
          </p:cNvSpPr>
          <p:nvPr>
            <p:ph type="sldNum" sz="quarter" idx="12"/>
          </p:nvPr>
        </p:nvSpPr>
        <p:spPr/>
        <p:txBody>
          <a:bodyPr/>
          <a:lstStyle/>
          <a:p>
            <a:fld id="{33D6E5A2-EC83-451F-A719-9AC1370DD5CF}" type="slidenum">
              <a:rPr lang="en-US" smtClean="0"/>
              <a:pPr/>
              <a:t>‹#›</a:t>
            </a:fld>
            <a:endParaRPr lang="en-US" dirty="0"/>
          </a:p>
        </p:txBody>
      </p:sp>
    </p:spTree>
    <p:extLst>
      <p:ext uri="{BB962C8B-B14F-4D97-AF65-F5344CB8AC3E}">
        <p14:creationId xmlns:p14="http://schemas.microsoft.com/office/powerpoint/2010/main" val="2094795119"/>
      </p:ext>
    </p:extLst>
  </p:cSld>
  <p:clrMapOvr>
    <a:masterClrMapping/>
  </p:clrMapOvr>
  <p:transition spd="slow">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7B4FA3E-4EC9-41D9-9F46-32F70713E376}" type="datetime1">
              <a:rPr lang="en-US" smtClean="0"/>
              <a:t>5/20/2025</a:t>
            </a:fld>
            <a:endParaRPr lang="en-US" dirty="0"/>
          </a:p>
        </p:txBody>
      </p:sp>
      <p:sp>
        <p:nvSpPr>
          <p:cNvPr id="4" name="Footer Placeholder 3"/>
          <p:cNvSpPr>
            <a:spLocks noGrp="1"/>
          </p:cNvSpPr>
          <p:nvPr>
            <p:ph type="ftr" sz="quarter" idx="11"/>
          </p:nvPr>
        </p:nvSpPr>
        <p:spPr/>
        <p:txBody>
          <a:bodyPr/>
          <a:lstStyle/>
          <a:p>
            <a:r>
              <a:rPr lang="en-US"/>
              <a:t>Chapter 4 Requirements engineering</a:t>
            </a:r>
            <a:endParaRPr lang="en-US" dirty="0"/>
          </a:p>
        </p:txBody>
      </p:sp>
      <p:sp>
        <p:nvSpPr>
          <p:cNvPr id="5" name="Slide Number Placeholder 4"/>
          <p:cNvSpPr>
            <a:spLocks noGrp="1"/>
          </p:cNvSpPr>
          <p:nvPr>
            <p:ph type="sldNum" sz="quarter" idx="12"/>
          </p:nvPr>
        </p:nvSpPr>
        <p:spPr/>
        <p:txBody>
          <a:bodyPr/>
          <a:lstStyle/>
          <a:p>
            <a:fld id="{33D6E5A2-EC83-451F-A719-9AC1370DD5CF}" type="slidenum">
              <a:rPr lang="en-US" smtClean="0"/>
              <a:pPr/>
              <a:t>‹#›</a:t>
            </a:fld>
            <a:endParaRPr lang="en-US" dirty="0"/>
          </a:p>
        </p:txBody>
      </p:sp>
    </p:spTree>
    <p:extLst>
      <p:ext uri="{BB962C8B-B14F-4D97-AF65-F5344CB8AC3E}">
        <p14:creationId xmlns:p14="http://schemas.microsoft.com/office/powerpoint/2010/main" val="4175926768"/>
      </p:ext>
    </p:extLst>
  </p:cSld>
  <p:clrMapOvr>
    <a:masterClrMapping/>
  </p:clrMapOvr>
  <p:transition spd="slow">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20B60D-D476-42A0-9F8D-62F572310F22}" type="datetime1">
              <a:rPr lang="en-US" smtClean="0"/>
              <a:t>5/20/2025</a:t>
            </a:fld>
            <a:endParaRPr lang="en-US" dirty="0"/>
          </a:p>
        </p:txBody>
      </p:sp>
      <p:sp>
        <p:nvSpPr>
          <p:cNvPr id="3" name="Footer Placeholder 2"/>
          <p:cNvSpPr>
            <a:spLocks noGrp="1"/>
          </p:cNvSpPr>
          <p:nvPr>
            <p:ph type="ftr" sz="quarter" idx="11"/>
          </p:nvPr>
        </p:nvSpPr>
        <p:spPr/>
        <p:txBody>
          <a:bodyPr/>
          <a:lstStyle/>
          <a:p>
            <a:r>
              <a:rPr lang="en-US"/>
              <a:t>Chapter 4 Requirements engineering</a:t>
            </a:r>
            <a:endParaRPr lang="en-US" dirty="0"/>
          </a:p>
        </p:txBody>
      </p:sp>
      <p:sp>
        <p:nvSpPr>
          <p:cNvPr id="4" name="Slide Number Placeholder 3"/>
          <p:cNvSpPr>
            <a:spLocks noGrp="1"/>
          </p:cNvSpPr>
          <p:nvPr>
            <p:ph type="sldNum" sz="quarter" idx="12"/>
          </p:nvPr>
        </p:nvSpPr>
        <p:spPr/>
        <p:txBody>
          <a:bodyPr/>
          <a:lstStyle/>
          <a:p>
            <a:fld id="{33D6E5A2-EC83-451F-A719-9AC1370DD5CF}" type="slidenum">
              <a:rPr lang="en-US" smtClean="0"/>
              <a:pPr/>
              <a:t>‹#›</a:t>
            </a:fld>
            <a:endParaRPr lang="en-US" dirty="0"/>
          </a:p>
        </p:txBody>
      </p:sp>
    </p:spTree>
    <p:extLst>
      <p:ext uri="{BB962C8B-B14F-4D97-AF65-F5344CB8AC3E}">
        <p14:creationId xmlns:p14="http://schemas.microsoft.com/office/powerpoint/2010/main" val="1036419645"/>
      </p:ext>
    </p:extLst>
  </p:cSld>
  <p:clrMapOvr>
    <a:masterClrMapping/>
  </p:clrMapOvr>
  <p:transition spd="slow">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A3A49DF-520C-43B6-ADBF-AD6461A835B8}" type="datetime1">
              <a:rPr lang="en-US" smtClean="0"/>
              <a:t>5/20/2025</a:t>
            </a:fld>
            <a:endParaRPr lang="en-US" dirty="0"/>
          </a:p>
        </p:txBody>
      </p:sp>
      <p:sp>
        <p:nvSpPr>
          <p:cNvPr id="6" name="Footer Placeholder 5"/>
          <p:cNvSpPr>
            <a:spLocks noGrp="1"/>
          </p:cNvSpPr>
          <p:nvPr>
            <p:ph type="ftr" sz="quarter" idx="11"/>
          </p:nvPr>
        </p:nvSpPr>
        <p:spPr/>
        <p:txBody>
          <a:bodyPr/>
          <a:lstStyle/>
          <a:p>
            <a:r>
              <a:rPr lang="en-US"/>
              <a:t>Chapter 4 Requirements engineering</a:t>
            </a:r>
            <a:endParaRPr lang="en-US" dirty="0"/>
          </a:p>
        </p:txBody>
      </p:sp>
      <p:sp>
        <p:nvSpPr>
          <p:cNvPr id="7" name="Slide Number Placeholder 6"/>
          <p:cNvSpPr>
            <a:spLocks noGrp="1"/>
          </p:cNvSpPr>
          <p:nvPr>
            <p:ph type="sldNum" sz="quarter" idx="12"/>
          </p:nvPr>
        </p:nvSpPr>
        <p:spPr/>
        <p:txBody>
          <a:bodyPr/>
          <a:lstStyle/>
          <a:p>
            <a:fld id="{33D6E5A2-EC83-451F-A719-9AC1370DD5CF}" type="slidenum">
              <a:rPr lang="en-US" smtClean="0"/>
              <a:pPr/>
              <a:t>‹#›</a:t>
            </a:fld>
            <a:endParaRPr lang="en-US" dirty="0"/>
          </a:p>
        </p:txBody>
      </p:sp>
    </p:spTree>
    <p:extLst>
      <p:ext uri="{BB962C8B-B14F-4D97-AF65-F5344CB8AC3E}">
        <p14:creationId xmlns:p14="http://schemas.microsoft.com/office/powerpoint/2010/main" val="1642833991"/>
      </p:ext>
    </p:extLst>
  </p:cSld>
  <p:clrMapOvr>
    <a:masterClrMapping/>
  </p:clrMapOvr>
  <p:transition spd="slow">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395ACA7-B422-4010-97FD-205412E8514F}" type="datetime1">
              <a:rPr lang="en-US" smtClean="0"/>
              <a:t>5/20/2025</a:t>
            </a:fld>
            <a:endParaRPr lang="en-US" dirty="0"/>
          </a:p>
        </p:txBody>
      </p:sp>
      <p:sp>
        <p:nvSpPr>
          <p:cNvPr id="6" name="Footer Placeholder 5"/>
          <p:cNvSpPr>
            <a:spLocks noGrp="1"/>
          </p:cNvSpPr>
          <p:nvPr>
            <p:ph type="ftr" sz="quarter" idx="11"/>
          </p:nvPr>
        </p:nvSpPr>
        <p:spPr/>
        <p:txBody>
          <a:bodyPr/>
          <a:lstStyle/>
          <a:p>
            <a:r>
              <a:rPr lang="en-US"/>
              <a:t>Chapter 4 Requirements engineering</a:t>
            </a:r>
            <a:endParaRPr lang="en-US" dirty="0"/>
          </a:p>
        </p:txBody>
      </p:sp>
      <p:sp>
        <p:nvSpPr>
          <p:cNvPr id="7" name="Slide Number Placeholder 6"/>
          <p:cNvSpPr>
            <a:spLocks noGrp="1"/>
          </p:cNvSpPr>
          <p:nvPr>
            <p:ph type="sldNum" sz="quarter" idx="12"/>
          </p:nvPr>
        </p:nvSpPr>
        <p:spPr/>
        <p:txBody>
          <a:bodyPr/>
          <a:lstStyle/>
          <a:p>
            <a:fld id="{33D6E5A2-EC83-451F-A719-9AC1370DD5CF}" type="slidenum">
              <a:rPr lang="en-US" smtClean="0"/>
              <a:pPr/>
              <a:t>‹#›</a:t>
            </a:fld>
            <a:endParaRPr lang="en-US" dirty="0"/>
          </a:p>
        </p:txBody>
      </p:sp>
    </p:spTree>
    <p:extLst>
      <p:ext uri="{BB962C8B-B14F-4D97-AF65-F5344CB8AC3E}">
        <p14:creationId xmlns:p14="http://schemas.microsoft.com/office/powerpoint/2010/main" val="3893895066"/>
      </p:ext>
    </p:extLst>
  </p:cSld>
  <p:clrMapOvr>
    <a:masterClrMapping/>
  </p:clrMapOvr>
  <p:transition spd="slow">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4A81E9-506D-49B0-8DDC-FED7D4E6546A}" type="datetime1">
              <a:rPr lang="en-US" smtClean="0"/>
              <a:t>5/20/2025</a:t>
            </a:fld>
            <a:endParaRPr lang="en-US" dirty="0"/>
          </a:p>
        </p:txBody>
      </p:sp>
      <p:sp>
        <p:nvSpPr>
          <p:cNvPr id="5" name="Footer Placeholder 4"/>
          <p:cNvSpPr>
            <a:spLocks noGrp="1"/>
          </p:cNvSpPr>
          <p:nvPr>
            <p:ph type="ftr" sz="quarter" idx="11"/>
          </p:nvPr>
        </p:nvSpPr>
        <p:spPr/>
        <p:txBody>
          <a:bodyPr/>
          <a:lstStyle/>
          <a:p>
            <a:r>
              <a:rPr lang="en-US"/>
              <a:t>Chapter 4 Requirements engineering</a:t>
            </a:r>
            <a:endParaRPr lang="en-US" dirty="0"/>
          </a:p>
        </p:txBody>
      </p:sp>
      <p:sp>
        <p:nvSpPr>
          <p:cNvPr id="6" name="Slide Number Placeholder 5"/>
          <p:cNvSpPr>
            <a:spLocks noGrp="1"/>
          </p:cNvSpPr>
          <p:nvPr>
            <p:ph type="sldNum" sz="quarter" idx="12"/>
          </p:nvPr>
        </p:nvSpPr>
        <p:spPr/>
        <p:txBody>
          <a:bodyPr/>
          <a:lstStyle/>
          <a:p>
            <a:fld id="{33D6E5A2-EC83-451F-A719-9AC1370DD5CF}" type="slidenum">
              <a:rPr lang="en-US" smtClean="0"/>
              <a:pPr/>
              <a:t>‹#›</a:t>
            </a:fld>
            <a:endParaRPr lang="en-US" dirty="0"/>
          </a:p>
        </p:txBody>
      </p:sp>
    </p:spTree>
    <p:extLst>
      <p:ext uri="{BB962C8B-B14F-4D97-AF65-F5344CB8AC3E}">
        <p14:creationId xmlns:p14="http://schemas.microsoft.com/office/powerpoint/2010/main" val="529705680"/>
      </p:ext>
    </p:extLst>
  </p:cSld>
  <p:clrMapOvr>
    <a:masterClrMapping/>
  </p:clrMapOvr>
  <p:transition spd="slow">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DEEDFE-6C2D-4EC7-B378-4771BF04C1A9}" type="datetime1">
              <a:rPr lang="en-US" smtClean="0"/>
              <a:t>5/20/2025</a:t>
            </a:fld>
            <a:endParaRPr lang="en-US" dirty="0"/>
          </a:p>
        </p:txBody>
      </p:sp>
      <p:sp>
        <p:nvSpPr>
          <p:cNvPr id="5" name="Footer Placeholder 4"/>
          <p:cNvSpPr>
            <a:spLocks noGrp="1"/>
          </p:cNvSpPr>
          <p:nvPr>
            <p:ph type="ftr" sz="quarter" idx="11"/>
          </p:nvPr>
        </p:nvSpPr>
        <p:spPr/>
        <p:txBody>
          <a:bodyPr/>
          <a:lstStyle/>
          <a:p>
            <a:r>
              <a:rPr lang="en-US"/>
              <a:t>Chapter 4 Requirements engineering</a:t>
            </a:r>
            <a:endParaRPr lang="en-US" dirty="0"/>
          </a:p>
        </p:txBody>
      </p:sp>
      <p:sp>
        <p:nvSpPr>
          <p:cNvPr id="6" name="Slide Number Placeholder 5"/>
          <p:cNvSpPr>
            <a:spLocks noGrp="1"/>
          </p:cNvSpPr>
          <p:nvPr>
            <p:ph type="sldNum" sz="quarter" idx="12"/>
          </p:nvPr>
        </p:nvSpPr>
        <p:spPr/>
        <p:txBody>
          <a:bodyPr/>
          <a:lstStyle/>
          <a:p>
            <a:fld id="{33D6E5A2-EC83-451F-A719-9AC1370DD5CF}" type="slidenum">
              <a:rPr lang="en-US" smtClean="0"/>
              <a:pPr/>
              <a:t>‹#›</a:t>
            </a:fld>
            <a:endParaRPr lang="en-US" dirty="0"/>
          </a:p>
        </p:txBody>
      </p:sp>
    </p:spTree>
    <p:extLst>
      <p:ext uri="{BB962C8B-B14F-4D97-AF65-F5344CB8AC3E}">
        <p14:creationId xmlns:p14="http://schemas.microsoft.com/office/powerpoint/2010/main" val="4241993076"/>
      </p:ext>
    </p:extLst>
  </p:cSld>
  <p:clrMapOvr>
    <a:masterClrMapping/>
  </p:clrMapOvr>
  <p:transition spd="slow">
    <p:wipe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Section Header">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3" y="0"/>
            <a:ext cx="9100457" cy="6879771"/>
          </a:xfrm>
          <a:prstGeom prst="rect">
            <a:avLst/>
          </a:prstGeom>
        </p:spPr>
      </p:pic>
      <p:pic>
        <p:nvPicPr>
          <p:cNvPr id="8" name="Picture 7"/>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5400000">
            <a:off x="3161049" y="-3176815"/>
            <a:ext cx="2819400" cy="9173031"/>
          </a:xfrm>
          <a:prstGeom prst="rect">
            <a:avLst/>
          </a:prstGeom>
        </p:spPr>
      </p:pic>
      <p:sp>
        <p:nvSpPr>
          <p:cNvPr id="2" name="Title 1"/>
          <p:cNvSpPr>
            <a:spLocks noGrp="1"/>
          </p:cNvSpPr>
          <p:nvPr>
            <p:ph type="title" hasCustomPrompt="1"/>
          </p:nvPr>
        </p:nvSpPr>
        <p:spPr>
          <a:xfrm>
            <a:off x="4572000" y="3048000"/>
            <a:ext cx="4343400" cy="1362075"/>
          </a:xfrm>
        </p:spPr>
        <p:txBody>
          <a:bodyPr anchor="b" anchorCtr="0"/>
          <a:lstStyle>
            <a:lvl1pPr algn="l">
              <a:defRPr sz="4000" b="1" cap="small" baseline="0">
                <a:solidFill>
                  <a:srgbClr val="003300"/>
                </a:solidFill>
              </a:defRPr>
            </a:lvl1pPr>
          </a:lstStyle>
          <a:p>
            <a:r>
              <a:rPr lang="en-US" dirty="0"/>
              <a:t>Click to edit master title style</a:t>
            </a:r>
          </a:p>
        </p:txBody>
      </p:sp>
      <p:sp>
        <p:nvSpPr>
          <p:cNvPr id="4" name="Date Placeholder 3"/>
          <p:cNvSpPr>
            <a:spLocks noGrp="1"/>
          </p:cNvSpPr>
          <p:nvPr>
            <p:ph type="dt" sz="half" idx="10"/>
          </p:nvPr>
        </p:nvSpPr>
        <p:spPr/>
        <p:txBody>
          <a:bodyPr/>
          <a:lstStyle/>
          <a:p>
            <a:fld id="{D794531A-DEA4-4CEB-980C-5E8E8A5D13EF}" type="datetime1">
              <a:rPr lang="en-US" smtClean="0"/>
              <a:t>5/20/2025</a:t>
            </a:fld>
            <a:endParaRPr lang="en-US" dirty="0"/>
          </a:p>
        </p:txBody>
      </p:sp>
      <p:sp>
        <p:nvSpPr>
          <p:cNvPr id="5" name="Footer Placeholder 4"/>
          <p:cNvSpPr>
            <a:spLocks noGrp="1"/>
          </p:cNvSpPr>
          <p:nvPr>
            <p:ph type="ftr" sz="quarter" idx="11"/>
          </p:nvPr>
        </p:nvSpPr>
        <p:spPr/>
        <p:txBody>
          <a:bodyPr/>
          <a:lstStyle/>
          <a:p>
            <a:r>
              <a:rPr lang="en-US"/>
              <a:t>Chapter 4 Requirements engineering</a:t>
            </a:r>
            <a:endParaRPr lang="en-US" dirty="0"/>
          </a:p>
        </p:txBody>
      </p:sp>
      <p:sp>
        <p:nvSpPr>
          <p:cNvPr id="6" name="Slide Number Placeholder 5"/>
          <p:cNvSpPr>
            <a:spLocks noGrp="1"/>
          </p:cNvSpPr>
          <p:nvPr>
            <p:ph type="sldNum" sz="quarter" idx="12"/>
          </p:nvPr>
        </p:nvSpPr>
        <p:spPr/>
        <p:txBody>
          <a:bodyPr/>
          <a:lstStyle/>
          <a:p>
            <a:fld id="{33D6E5A2-EC83-451F-A719-9AC1370DD5CF}" type="slidenum">
              <a:rPr lang="en-US" smtClean="0"/>
              <a:pPr/>
              <a:t>‹#›</a:t>
            </a:fld>
            <a:endParaRPr lang="en-US" dirty="0"/>
          </a:p>
        </p:txBody>
      </p:sp>
      <p:sp>
        <p:nvSpPr>
          <p:cNvPr id="10" name="Picture Placeholder 9"/>
          <p:cNvSpPr>
            <a:spLocks noGrp="1"/>
          </p:cNvSpPr>
          <p:nvPr>
            <p:ph type="pic" sz="quarter" idx="13" hasCustomPrompt="1"/>
          </p:nvPr>
        </p:nvSpPr>
        <p:spPr>
          <a:xfrm>
            <a:off x="6781800" y="5334000"/>
            <a:ext cx="2133600" cy="990600"/>
          </a:xfrm>
        </p:spPr>
        <p:txBody>
          <a:bodyPr>
            <a:normAutofit/>
          </a:bodyPr>
          <a:lstStyle>
            <a:lvl1pPr marL="0" indent="0" algn="ctr">
              <a:buNone/>
              <a:defRPr sz="1800"/>
            </a:lvl1pPr>
          </a:lstStyle>
          <a:p>
            <a:r>
              <a:rPr lang="en-US" dirty="0"/>
              <a:t>Company Logo</a:t>
            </a:r>
          </a:p>
        </p:txBody>
      </p:sp>
    </p:spTree>
    <p:extLst>
      <p:ext uri="{BB962C8B-B14F-4D97-AF65-F5344CB8AC3E}">
        <p14:creationId xmlns:p14="http://schemas.microsoft.com/office/powerpoint/2010/main" val="79525640"/>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3" y="0"/>
            <a:ext cx="9100457" cy="6879771"/>
          </a:xfrm>
          <a:prstGeom prst="rect">
            <a:avLst/>
          </a:prstGeom>
        </p:spPr>
      </p:pic>
      <p:sp>
        <p:nvSpPr>
          <p:cNvPr id="2" name="Title 1"/>
          <p:cNvSpPr>
            <a:spLocks noGrp="1"/>
          </p:cNvSpPr>
          <p:nvPr>
            <p:ph type="ctrTitle" hasCustomPrompt="1"/>
          </p:nvPr>
        </p:nvSpPr>
        <p:spPr>
          <a:xfrm>
            <a:off x="2590800" y="2286000"/>
            <a:ext cx="6180224" cy="1470025"/>
          </a:xfrm>
        </p:spPr>
        <p:txBody>
          <a:bodyPr anchor="t"/>
          <a:lstStyle>
            <a:lvl1pPr algn="r">
              <a:defRPr b="1" cap="small" baseline="0">
                <a:solidFill>
                  <a:srgbClr val="003300"/>
                </a:solidFill>
              </a:defRPr>
            </a:lvl1pPr>
          </a:lstStyle>
          <a:p>
            <a:r>
              <a:rPr lang="en-US" dirty="0"/>
              <a:t>Click to edit master title style</a:t>
            </a:r>
          </a:p>
        </p:txBody>
      </p:sp>
      <p:sp>
        <p:nvSpPr>
          <p:cNvPr id="3" name="Subtitle 2"/>
          <p:cNvSpPr>
            <a:spLocks noGrp="1"/>
          </p:cNvSpPr>
          <p:nvPr>
            <p:ph type="subTitle" idx="1"/>
          </p:nvPr>
        </p:nvSpPr>
        <p:spPr>
          <a:xfrm>
            <a:off x="3962400" y="4038600"/>
            <a:ext cx="4772528" cy="990600"/>
          </a:xfrm>
        </p:spPr>
        <p:txBody>
          <a:bodyPr>
            <a:normAutofit/>
          </a:bodyPr>
          <a:lstStyle>
            <a:lvl1pPr marL="0" indent="0" algn="r">
              <a:buNone/>
              <a:defRPr sz="2000" b="0">
                <a:solidFill>
                  <a:schemeClr val="tx1"/>
                </a:solidFill>
                <a:latin typeface="Georgia"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7" name="Picture 6"/>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0" y="1251"/>
            <a:ext cx="3721618" cy="6858000"/>
          </a:xfrm>
          <a:prstGeom prst="rect">
            <a:avLst/>
          </a:prstGeom>
        </p:spPr>
      </p:pic>
      <p:sp>
        <p:nvSpPr>
          <p:cNvPr id="10" name="Picture Placeholder 9"/>
          <p:cNvSpPr>
            <a:spLocks noGrp="1"/>
          </p:cNvSpPr>
          <p:nvPr>
            <p:ph type="pic" sz="quarter" idx="13" hasCustomPrompt="1"/>
          </p:nvPr>
        </p:nvSpPr>
        <p:spPr>
          <a:xfrm>
            <a:off x="6858000" y="5105400"/>
            <a:ext cx="1828800" cy="990600"/>
          </a:xfrm>
        </p:spPr>
        <p:txBody>
          <a:bodyPr>
            <a:normAutofit/>
          </a:bodyPr>
          <a:lstStyle>
            <a:lvl1pPr marL="0" indent="0" algn="ctr">
              <a:buNone/>
              <a:defRPr sz="2000" baseline="0"/>
            </a:lvl1pPr>
          </a:lstStyle>
          <a:p>
            <a:r>
              <a:rPr lang="en-US" dirty="0"/>
              <a:t>Company Logo</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0" y="269632"/>
            <a:ext cx="8077200" cy="1143000"/>
          </a:xfrm>
        </p:spPr>
        <p:txBody>
          <a:bodyPr anchor="ctr" anchorCtr="0"/>
          <a:lstStyle>
            <a:lvl1pPr algn="l">
              <a:defRPr lang="en-US" dirty="0"/>
            </a:lvl1pPr>
          </a:lstStyle>
          <a:p>
            <a:r>
              <a:rPr lang="en-US" dirty="0"/>
              <a:t>Click To Edit Master Title Style</a:t>
            </a:r>
          </a:p>
        </p:txBody>
      </p:sp>
      <p:sp>
        <p:nvSpPr>
          <p:cNvPr id="3" name="Content Placeholder 2"/>
          <p:cNvSpPr>
            <a:spLocks noGrp="1"/>
          </p:cNvSpPr>
          <p:nvPr>
            <p:ph idx="1"/>
          </p:nvPr>
        </p:nvSpPr>
        <p:spPr>
          <a:xfrm>
            <a:off x="762000" y="1596413"/>
            <a:ext cx="8077200" cy="4297363"/>
          </a:xfrm>
        </p:spPr>
        <p:txBody>
          <a:bodyPr>
            <a:normAutofit/>
          </a:bodyPr>
          <a:lstStyle>
            <a:lvl1pPr>
              <a:defRPr sz="3200">
                <a:latin typeface="+mn-lt"/>
              </a:defRPr>
            </a:lvl1pPr>
            <a:lvl2pPr>
              <a:defRPr sz="2800">
                <a:latin typeface="+mn-lt"/>
              </a:defRPr>
            </a:lvl2pPr>
            <a:lvl3pPr>
              <a:defRPr sz="2400">
                <a:latin typeface="+mn-lt"/>
              </a:defRPr>
            </a:lvl3pPr>
            <a:lvl4pPr>
              <a:defRPr sz="2400">
                <a:latin typeface="+mn-lt"/>
              </a:defRPr>
            </a:lvl4pPr>
            <a:lvl5pPr>
              <a:defRPr sz="2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FDAFAB-7B82-4E5C-89C1-C2934395B6B2}" type="datetime1">
              <a:rPr lang="en-US" smtClean="0"/>
              <a:t>5/20/2025</a:t>
            </a:fld>
            <a:endParaRPr lang="en-US" dirty="0"/>
          </a:p>
        </p:txBody>
      </p:sp>
      <p:sp>
        <p:nvSpPr>
          <p:cNvPr id="5" name="Footer Placeholder 4"/>
          <p:cNvSpPr>
            <a:spLocks noGrp="1"/>
          </p:cNvSpPr>
          <p:nvPr>
            <p:ph type="ftr" sz="quarter" idx="11"/>
          </p:nvPr>
        </p:nvSpPr>
        <p:spPr/>
        <p:txBody>
          <a:bodyPr/>
          <a:lstStyle/>
          <a:p>
            <a:r>
              <a:rPr lang="en-US"/>
              <a:t>Chapter 4 Requirements engineering</a:t>
            </a:r>
            <a:endParaRPr lang="en-US" dirty="0"/>
          </a:p>
        </p:txBody>
      </p:sp>
      <p:sp>
        <p:nvSpPr>
          <p:cNvPr id="6" name="Slide Number Placeholder 5"/>
          <p:cNvSpPr>
            <a:spLocks noGrp="1"/>
          </p:cNvSpPr>
          <p:nvPr>
            <p:ph type="sldNum" sz="quarter" idx="12"/>
          </p:nvPr>
        </p:nvSpPr>
        <p:spPr>
          <a:xfrm>
            <a:off x="6705600" y="6356350"/>
            <a:ext cx="2133600" cy="365125"/>
          </a:xfrm>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Background Only">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3" y="0"/>
            <a:ext cx="9100457" cy="6879771"/>
          </a:xfrm>
          <a:prstGeom prst="rect">
            <a:avLst/>
          </a:prstGeom>
        </p:spPr>
      </p:pic>
      <p:sp>
        <p:nvSpPr>
          <p:cNvPr id="3" name="Date Placeholder 3"/>
          <p:cNvSpPr>
            <a:spLocks noGrp="1"/>
          </p:cNvSpPr>
          <p:nvPr>
            <p:ph type="dt" sz="half" idx="10"/>
          </p:nvPr>
        </p:nvSpPr>
        <p:spPr>
          <a:xfrm>
            <a:off x="762000" y="6356350"/>
            <a:ext cx="2133600" cy="365125"/>
          </a:xfrm>
        </p:spPr>
        <p:txBody>
          <a:bodyPr/>
          <a:lstStyle/>
          <a:p>
            <a:fld id="{16A4B540-8A2E-4FED-B663-54615CAB9BEF}" type="datetime1">
              <a:rPr lang="en-US" smtClean="0"/>
              <a:t>5/20/2025</a:t>
            </a:fld>
            <a:endParaRPr lang="en-US" dirty="0"/>
          </a:p>
        </p:txBody>
      </p:sp>
      <p:sp>
        <p:nvSpPr>
          <p:cNvPr id="4" name="Footer Placeholder 4"/>
          <p:cNvSpPr>
            <a:spLocks noGrp="1"/>
          </p:cNvSpPr>
          <p:nvPr>
            <p:ph type="ftr" sz="quarter" idx="11"/>
          </p:nvPr>
        </p:nvSpPr>
        <p:spPr>
          <a:xfrm>
            <a:off x="3352800" y="6356350"/>
            <a:ext cx="2895600" cy="365125"/>
          </a:xfrm>
        </p:spPr>
        <p:txBody>
          <a:bodyPr/>
          <a:lstStyle/>
          <a:p>
            <a:r>
              <a:rPr lang="en-US"/>
              <a:t>Chapter 4 Requirements engineering</a:t>
            </a:r>
            <a:endParaRPr lang="en-US" dirty="0"/>
          </a:p>
        </p:txBody>
      </p:sp>
      <p:sp>
        <p:nvSpPr>
          <p:cNvPr id="5" name="Slide Number Placeholder 5"/>
          <p:cNvSpPr>
            <a:spLocks noGrp="1"/>
          </p:cNvSpPr>
          <p:nvPr>
            <p:ph type="sldNum" sz="quarter" idx="12"/>
          </p:nvPr>
        </p:nvSpPr>
        <p:spPr>
          <a:xfrm>
            <a:off x="6705600" y="6356350"/>
            <a:ext cx="2133600" cy="365125"/>
          </a:xfrm>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B0520C8-A230-4EED-A793-6589119F1109}" type="datetime1">
              <a:rPr lang="en-US" smtClean="0"/>
              <a:t>5/20/2025</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Chapter 4 Requirements engineering</a:t>
            </a:r>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3D6E5A2-EC83-451F-A719-9AC1370DD5CF}" type="slidenum">
              <a:rPr lang="en-US" smtClean="0"/>
              <a:pPr/>
              <a:t>‹#›</a:t>
            </a:fld>
            <a:endParaRPr lang="en-US" dirty="0"/>
          </a:p>
        </p:txBody>
      </p:sp>
    </p:spTree>
    <p:extLst>
      <p:ext uri="{BB962C8B-B14F-4D97-AF65-F5344CB8AC3E}">
        <p14:creationId xmlns:p14="http://schemas.microsoft.com/office/powerpoint/2010/main" val="642964363"/>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649" r:id="rId13"/>
    <p:sldLayoutId id="2147483650" r:id="rId14"/>
    <p:sldLayoutId id="2147483663" r:id="rId15"/>
  </p:sldLayoutIdLst>
  <p:transition spd="slow">
    <p:wipe dir="d"/>
  </p:transition>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B665011-DF58-4E14-8F2C-58618B84B4B0}"/>
              </a:ext>
            </a:extLst>
          </p:cNvPr>
          <p:cNvSpPr>
            <a:spLocks noGrp="1"/>
          </p:cNvSpPr>
          <p:nvPr>
            <p:ph type="title"/>
          </p:nvPr>
        </p:nvSpPr>
        <p:spPr/>
        <p:txBody>
          <a:bodyPr/>
          <a:lstStyle/>
          <a:p>
            <a:r>
              <a:rPr lang="en-US" dirty="0"/>
              <a:t>Structural Model</a:t>
            </a:r>
          </a:p>
        </p:txBody>
      </p:sp>
    </p:spTree>
    <p:extLst>
      <p:ext uri="{BB962C8B-B14F-4D97-AF65-F5344CB8AC3E}">
        <p14:creationId xmlns:p14="http://schemas.microsoft.com/office/powerpoint/2010/main" val="1505086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Structural Models</a:t>
            </a:r>
          </a:p>
        </p:txBody>
      </p:sp>
      <p:sp>
        <p:nvSpPr>
          <p:cNvPr id="5" name="Content Placeholder 4">
            <a:extLst>
              <a:ext uri="{FF2B5EF4-FFF2-40B4-BE49-F238E27FC236}">
                <a16:creationId xmlns:a16="http://schemas.microsoft.com/office/drawing/2014/main" id="{665304F3-1141-4F81-9649-13122484C22A}"/>
              </a:ext>
            </a:extLst>
          </p:cNvPr>
          <p:cNvSpPr>
            <a:spLocks noGrp="1"/>
          </p:cNvSpPr>
          <p:nvPr>
            <p:ph idx="1"/>
          </p:nvPr>
        </p:nvSpPr>
        <p:spPr>
          <a:xfrm>
            <a:off x="457200" y="1066801"/>
            <a:ext cx="8305800" cy="5105400"/>
          </a:xfrm>
        </p:spPr>
        <p:txBody>
          <a:bodyPr>
            <a:normAutofit/>
          </a:bodyPr>
          <a:lstStyle/>
          <a:p>
            <a:pPr algn="just">
              <a:lnSpc>
                <a:spcPct val="110000"/>
              </a:lnSpc>
              <a:spcBef>
                <a:spcPts val="600"/>
              </a:spcBef>
              <a:spcAft>
                <a:spcPts val="600"/>
              </a:spcAft>
            </a:pPr>
            <a:r>
              <a:rPr lang="en-US" sz="2800" dirty="0"/>
              <a:t>Structural models of software display the organization of a system in terms of the components that make up that system and their relationships.</a:t>
            </a:r>
          </a:p>
          <a:p>
            <a:pPr algn="just">
              <a:lnSpc>
                <a:spcPct val="110000"/>
              </a:lnSpc>
              <a:spcBef>
                <a:spcPts val="600"/>
              </a:spcBef>
              <a:spcAft>
                <a:spcPts val="600"/>
              </a:spcAft>
            </a:pPr>
            <a:r>
              <a:rPr lang="en-US" sz="2800" dirty="0"/>
              <a:t>Structural models may be </a:t>
            </a:r>
          </a:p>
          <a:p>
            <a:pPr lvl="1" algn="just">
              <a:lnSpc>
                <a:spcPct val="110000"/>
              </a:lnSpc>
              <a:spcBef>
                <a:spcPts val="600"/>
              </a:spcBef>
              <a:spcAft>
                <a:spcPts val="600"/>
              </a:spcAft>
            </a:pPr>
            <a:r>
              <a:rPr lang="en-US" sz="2800" b="1" dirty="0">
                <a:solidFill>
                  <a:srgbClr val="7030A0"/>
                </a:solidFill>
              </a:rPr>
              <a:t>Static Models : </a:t>
            </a:r>
            <a:r>
              <a:rPr lang="en-US" sz="2800" dirty="0"/>
              <a:t>structure</a:t>
            </a:r>
            <a:r>
              <a:rPr lang="en-US" sz="2800" b="1" dirty="0">
                <a:solidFill>
                  <a:srgbClr val="7030A0"/>
                </a:solidFill>
              </a:rPr>
              <a:t> </a:t>
            </a:r>
            <a:r>
              <a:rPr lang="en-US" sz="2800" dirty="0"/>
              <a:t>of the system design</a:t>
            </a:r>
          </a:p>
          <a:p>
            <a:pPr lvl="1" algn="just">
              <a:lnSpc>
                <a:spcPct val="110000"/>
              </a:lnSpc>
              <a:spcBef>
                <a:spcPts val="600"/>
              </a:spcBef>
              <a:spcAft>
                <a:spcPts val="600"/>
              </a:spcAft>
            </a:pPr>
            <a:r>
              <a:rPr lang="en-US" sz="2800" b="1" dirty="0">
                <a:solidFill>
                  <a:srgbClr val="00B050"/>
                </a:solidFill>
              </a:rPr>
              <a:t>Dynamic Models: </a:t>
            </a:r>
            <a:r>
              <a:rPr lang="en-US" sz="2800" dirty="0"/>
              <a:t>organization of the system when executing</a:t>
            </a:r>
          </a:p>
          <a:p>
            <a:pPr algn="just">
              <a:lnSpc>
                <a:spcPct val="110000"/>
              </a:lnSpc>
              <a:spcBef>
                <a:spcPts val="600"/>
              </a:spcBef>
              <a:spcAft>
                <a:spcPts val="600"/>
              </a:spcAft>
            </a:pPr>
            <a:r>
              <a:rPr lang="en-US" sz="2800" dirty="0"/>
              <a:t>You create structural models of a system when you are discussing and designing the system architecture.</a:t>
            </a:r>
          </a:p>
        </p:txBody>
      </p:sp>
    </p:spTree>
    <p:extLst>
      <p:ext uri="{BB962C8B-B14F-4D97-AF65-F5344CB8AC3E}">
        <p14:creationId xmlns:p14="http://schemas.microsoft.com/office/powerpoint/2010/main" val="21205620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Class Diagrams</a:t>
            </a:r>
          </a:p>
        </p:txBody>
      </p:sp>
      <p:sp>
        <p:nvSpPr>
          <p:cNvPr id="5" name="Content Placeholder 4">
            <a:extLst>
              <a:ext uri="{FF2B5EF4-FFF2-40B4-BE49-F238E27FC236}">
                <a16:creationId xmlns:a16="http://schemas.microsoft.com/office/drawing/2014/main" id="{665304F3-1141-4F81-9649-13122484C22A}"/>
              </a:ext>
            </a:extLst>
          </p:cNvPr>
          <p:cNvSpPr>
            <a:spLocks noGrp="1"/>
          </p:cNvSpPr>
          <p:nvPr>
            <p:ph idx="1"/>
          </p:nvPr>
        </p:nvSpPr>
        <p:spPr>
          <a:xfrm>
            <a:off x="457200" y="1066801"/>
            <a:ext cx="8305800" cy="5105400"/>
          </a:xfrm>
        </p:spPr>
        <p:txBody>
          <a:bodyPr>
            <a:normAutofit/>
          </a:bodyPr>
          <a:lstStyle/>
          <a:p>
            <a:pPr algn="just">
              <a:lnSpc>
                <a:spcPct val="110000"/>
              </a:lnSpc>
              <a:spcBef>
                <a:spcPts val="600"/>
              </a:spcBef>
              <a:spcAft>
                <a:spcPts val="600"/>
              </a:spcAft>
            </a:pPr>
            <a:r>
              <a:rPr lang="en-US" sz="2800" dirty="0"/>
              <a:t>Class diagrams in UML can be expressed at different level of detail.  </a:t>
            </a:r>
          </a:p>
          <a:p>
            <a:pPr marL="0" indent="0" algn="just">
              <a:lnSpc>
                <a:spcPct val="110000"/>
              </a:lnSpc>
              <a:spcBef>
                <a:spcPts val="600"/>
              </a:spcBef>
              <a:spcAft>
                <a:spcPts val="600"/>
              </a:spcAft>
              <a:buNone/>
            </a:pPr>
            <a:r>
              <a:rPr lang="en-US" sz="2800" dirty="0"/>
              <a:t>At the first stage of developing a model, </a:t>
            </a:r>
          </a:p>
          <a:p>
            <a:pPr lvl="1" algn="just">
              <a:lnSpc>
                <a:spcPct val="110000"/>
              </a:lnSpc>
              <a:spcBef>
                <a:spcPts val="600"/>
              </a:spcBef>
              <a:spcAft>
                <a:spcPts val="600"/>
              </a:spcAft>
            </a:pPr>
            <a:r>
              <a:rPr lang="en-US" sz="2500" dirty="0"/>
              <a:t>Look at the world and identify the essential objects and represent them as class. </a:t>
            </a:r>
          </a:p>
          <a:p>
            <a:pPr algn="just">
              <a:lnSpc>
                <a:spcPct val="110000"/>
              </a:lnSpc>
              <a:spcBef>
                <a:spcPts val="600"/>
              </a:spcBef>
              <a:spcAft>
                <a:spcPts val="600"/>
              </a:spcAft>
            </a:pPr>
            <a:r>
              <a:rPr lang="en-US" sz="2800" dirty="0"/>
              <a:t>The simplest way is to write the name of the class in a box </a:t>
            </a:r>
          </a:p>
        </p:txBody>
      </p:sp>
      <p:pic>
        <p:nvPicPr>
          <p:cNvPr id="6" name="Picture 5">
            <a:extLst>
              <a:ext uri="{FF2B5EF4-FFF2-40B4-BE49-F238E27FC236}">
                <a16:creationId xmlns:a16="http://schemas.microsoft.com/office/drawing/2014/main" id="{B3A234F9-A464-4162-9CE6-64E3A44B55A7}"/>
              </a:ext>
            </a:extLst>
          </p:cNvPr>
          <p:cNvPicPr>
            <a:picLocks noChangeAspect="1"/>
          </p:cNvPicPr>
          <p:nvPr/>
        </p:nvPicPr>
        <p:blipFill>
          <a:blip r:embed="rId2"/>
          <a:stretch>
            <a:fillRect/>
          </a:stretch>
        </p:blipFill>
        <p:spPr>
          <a:xfrm>
            <a:off x="2895600" y="4876800"/>
            <a:ext cx="2933700" cy="990600"/>
          </a:xfrm>
          <a:prstGeom prst="rect">
            <a:avLst/>
          </a:prstGeom>
        </p:spPr>
      </p:pic>
    </p:spTree>
    <p:extLst>
      <p:ext uri="{BB962C8B-B14F-4D97-AF65-F5344CB8AC3E}">
        <p14:creationId xmlns:p14="http://schemas.microsoft.com/office/powerpoint/2010/main" val="9678490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Class Diagrams</a:t>
            </a:r>
          </a:p>
        </p:txBody>
      </p:sp>
      <p:sp>
        <p:nvSpPr>
          <p:cNvPr id="5" name="Content Placeholder 4">
            <a:extLst>
              <a:ext uri="{FF2B5EF4-FFF2-40B4-BE49-F238E27FC236}">
                <a16:creationId xmlns:a16="http://schemas.microsoft.com/office/drawing/2014/main" id="{665304F3-1141-4F81-9649-13122484C22A}"/>
              </a:ext>
            </a:extLst>
          </p:cNvPr>
          <p:cNvSpPr>
            <a:spLocks noGrp="1"/>
          </p:cNvSpPr>
          <p:nvPr>
            <p:ph idx="1"/>
          </p:nvPr>
        </p:nvSpPr>
        <p:spPr>
          <a:xfrm>
            <a:off x="228600" y="777874"/>
            <a:ext cx="8534400" cy="5927726"/>
          </a:xfrm>
        </p:spPr>
        <p:txBody>
          <a:bodyPr>
            <a:normAutofit/>
          </a:bodyPr>
          <a:lstStyle/>
          <a:p>
            <a:pPr marL="0" indent="0" algn="just">
              <a:lnSpc>
                <a:spcPct val="110000"/>
              </a:lnSpc>
              <a:spcBef>
                <a:spcPts val="600"/>
              </a:spcBef>
              <a:spcAft>
                <a:spcPts val="600"/>
              </a:spcAft>
              <a:buNone/>
            </a:pPr>
            <a:r>
              <a:rPr lang="en-US" sz="2800" dirty="0"/>
              <a:t>At the Second stage of developing a model, </a:t>
            </a:r>
          </a:p>
          <a:p>
            <a:pPr algn="just">
              <a:lnSpc>
                <a:spcPct val="110000"/>
              </a:lnSpc>
              <a:spcBef>
                <a:spcPts val="600"/>
              </a:spcBef>
              <a:spcAft>
                <a:spcPts val="600"/>
              </a:spcAft>
            </a:pPr>
            <a:r>
              <a:rPr lang="en-US" sz="2400" dirty="0"/>
              <a:t>You can also note the existence of an association by drawing a line between the classes </a:t>
            </a:r>
          </a:p>
          <a:p>
            <a:pPr marL="0" indent="0" algn="just">
              <a:lnSpc>
                <a:spcPct val="110000"/>
              </a:lnSpc>
              <a:spcBef>
                <a:spcPts val="600"/>
              </a:spcBef>
              <a:spcAft>
                <a:spcPts val="600"/>
              </a:spcAft>
              <a:buNone/>
            </a:pPr>
            <a:endParaRPr lang="en-US" sz="2800" dirty="0"/>
          </a:p>
          <a:p>
            <a:pPr algn="just">
              <a:lnSpc>
                <a:spcPct val="110000"/>
              </a:lnSpc>
              <a:spcBef>
                <a:spcPts val="600"/>
              </a:spcBef>
              <a:spcAft>
                <a:spcPts val="600"/>
              </a:spcAft>
            </a:pPr>
            <a:endParaRPr lang="en-US" sz="2400" dirty="0"/>
          </a:p>
          <a:p>
            <a:pPr algn="just">
              <a:lnSpc>
                <a:spcPct val="110000"/>
              </a:lnSpc>
              <a:spcBef>
                <a:spcPts val="600"/>
              </a:spcBef>
              <a:spcAft>
                <a:spcPts val="600"/>
              </a:spcAft>
            </a:pPr>
            <a:r>
              <a:rPr lang="en-US" sz="2400" b="1" dirty="0"/>
              <a:t>Naming Associations </a:t>
            </a:r>
            <a:r>
              <a:rPr lang="en-US" sz="2400" dirty="0"/>
              <a:t>Every association needs a name, an active verb that describes the relationship of one class to another class, such as "owns" or "opens."</a:t>
            </a:r>
          </a:p>
        </p:txBody>
      </p:sp>
      <p:pic>
        <p:nvPicPr>
          <p:cNvPr id="12" name="Picture 11"/>
          <p:cNvPicPr>
            <a:picLocks noChangeAspect="1"/>
          </p:cNvPicPr>
          <p:nvPr/>
        </p:nvPicPr>
        <p:blipFill>
          <a:blip r:embed="rId2"/>
          <a:stretch>
            <a:fillRect/>
          </a:stretch>
        </p:blipFill>
        <p:spPr>
          <a:xfrm>
            <a:off x="2571750" y="2590800"/>
            <a:ext cx="3848100" cy="619125"/>
          </a:xfrm>
          <a:prstGeom prst="rect">
            <a:avLst/>
          </a:prstGeom>
        </p:spPr>
      </p:pic>
      <p:pic>
        <p:nvPicPr>
          <p:cNvPr id="13" name="Picture 12"/>
          <p:cNvPicPr>
            <a:picLocks noChangeAspect="1"/>
          </p:cNvPicPr>
          <p:nvPr/>
        </p:nvPicPr>
        <p:blipFill>
          <a:blip r:embed="rId3"/>
          <a:stretch>
            <a:fillRect/>
          </a:stretch>
        </p:blipFill>
        <p:spPr>
          <a:xfrm>
            <a:off x="2571750" y="5181600"/>
            <a:ext cx="4011795" cy="609600"/>
          </a:xfrm>
          <a:prstGeom prst="rect">
            <a:avLst/>
          </a:prstGeom>
        </p:spPr>
      </p:pic>
      <p:sp>
        <p:nvSpPr>
          <p:cNvPr id="14" name="TextBox 13"/>
          <p:cNvSpPr txBox="1"/>
          <p:nvPr/>
        </p:nvSpPr>
        <p:spPr>
          <a:xfrm>
            <a:off x="4343400" y="5431983"/>
            <a:ext cx="713657" cy="369332"/>
          </a:xfrm>
          <a:prstGeom prst="rect">
            <a:avLst/>
          </a:prstGeom>
          <a:noFill/>
        </p:spPr>
        <p:txBody>
          <a:bodyPr wrap="none" rtlCol="0">
            <a:spAutoFit/>
          </a:bodyPr>
          <a:lstStyle/>
          <a:p>
            <a:r>
              <a:rPr lang="en-US" dirty="0"/>
              <a:t>Owns</a:t>
            </a:r>
          </a:p>
        </p:txBody>
      </p:sp>
    </p:spTree>
    <p:extLst>
      <p:ext uri="{BB962C8B-B14F-4D97-AF65-F5344CB8AC3E}">
        <p14:creationId xmlns:p14="http://schemas.microsoft.com/office/powerpoint/2010/main" val="38585613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Class Diagrams</a:t>
            </a:r>
          </a:p>
        </p:txBody>
      </p:sp>
      <p:sp>
        <p:nvSpPr>
          <p:cNvPr id="5" name="Content Placeholder 4">
            <a:extLst>
              <a:ext uri="{FF2B5EF4-FFF2-40B4-BE49-F238E27FC236}">
                <a16:creationId xmlns:a16="http://schemas.microsoft.com/office/drawing/2014/main" id="{665304F3-1141-4F81-9649-13122484C22A}"/>
              </a:ext>
            </a:extLst>
          </p:cNvPr>
          <p:cNvSpPr>
            <a:spLocks noGrp="1"/>
          </p:cNvSpPr>
          <p:nvPr>
            <p:ph idx="1"/>
          </p:nvPr>
        </p:nvSpPr>
        <p:spPr>
          <a:xfrm>
            <a:off x="228600" y="777874"/>
            <a:ext cx="8534400" cy="5927726"/>
          </a:xfrm>
        </p:spPr>
        <p:txBody>
          <a:bodyPr>
            <a:normAutofit/>
          </a:bodyPr>
          <a:lstStyle/>
          <a:p>
            <a:pPr marL="0" indent="0" algn="just">
              <a:lnSpc>
                <a:spcPct val="110000"/>
              </a:lnSpc>
              <a:spcBef>
                <a:spcPts val="600"/>
              </a:spcBef>
              <a:spcAft>
                <a:spcPts val="600"/>
              </a:spcAft>
              <a:buNone/>
            </a:pPr>
            <a:r>
              <a:rPr lang="en-US" sz="2800" dirty="0"/>
              <a:t>At the Second stage of developing a model, </a:t>
            </a:r>
          </a:p>
          <a:p>
            <a:pPr algn="just">
              <a:lnSpc>
                <a:spcPct val="110000"/>
              </a:lnSpc>
              <a:spcBef>
                <a:spcPts val="600"/>
              </a:spcBef>
              <a:spcAft>
                <a:spcPts val="600"/>
              </a:spcAft>
            </a:pPr>
            <a:r>
              <a:rPr lang="en-US" sz="2000" b="1" dirty="0"/>
              <a:t>Multiplicity</a:t>
            </a:r>
            <a:r>
              <a:rPr lang="en-US" sz="2000" dirty="0"/>
              <a:t> </a:t>
            </a:r>
            <a:r>
              <a:rPr lang="en-US" sz="2000" b="1" dirty="0"/>
              <a:t>Associations </a:t>
            </a:r>
            <a:r>
              <a:rPr lang="en-US" sz="2000" dirty="0"/>
              <a:t>: A number of objects of each class may be associated. For example, a customer may open many accounts, and an order may include many items. The number of participating objects is called the multiplicity, and it must be set for each end of the association.</a:t>
            </a:r>
          </a:p>
          <a:p>
            <a:pPr algn="just">
              <a:lnSpc>
                <a:spcPct val="110000"/>
              </a:lnSpc>
              <a:spcBef>
                <a:spcPts val="600"/>
              </a:spcBef>
              <a:spcAft>
                <a:spcPts val="600"/>
              </a:spcAft>
            </a:pPr>
            <a:r>
              <a:rPr lang="en-US" sz="2000" dirty="0"/>
              <a:t>The notation for multiplicity is as follows:</a:t>
            </a:r>
          </a:p>
          <a:p>
            <a:pPr lvl="1" algn="just">
              <a:lnSpc>
                <a:spcPct val="110000"/>
              </a:lnSpc>
              <a:spcBef>
                <a:spcPts val="600"/>
              </a:spcBef>
              <a:spcAft>
                <a:spcPts val="600"/>
              </a:spcAft>
            </a:pPr>
            <a:r>
              <a:rPr lang="en-US" sz="1700" dirty="0"/>
              <a:t>Asterisk (*) when used alone means zero or more, no lower or upper limit.</a:t>
            </a:r>
          </a:p>
          <a:p>
            <a:pPr lvl="1" algn="just">
              <a:lnSpc>
                <a:spcPct val="110000"/>
              </a:lnSpc>
              <a:spcBef>
                <a:spcPts val="600"/>
              </a:spcBef>
              <a:spcAft>
                <a:spcPts val="600"/>
              </a:spcAft>
            </a:pPr>
            <a:r>
              <a:rPr lang="en-US" sz="1700" dirty="0"/>
              <a:t>Asterisk (*) when used in a range (1..*) means no upper limit.</a:t>
            </a:r>
          </a:p>
          <a:p>
            <a:pPr lvl="1" algn="just">
              <a:lnSpc>
                <a:spcPct val="110000"/>
              </a:lnSpc>
              <a:spcBef>
                <a:spcPts val="600"/>
              </a:spcBef>
              <a:spcAft>
                <a:spcPts val="600"/>
              </a:spcAft>
            </a:pPr>
            <a:r>
              <a:rPr lang="en-US" sz="1700" dirty="0"/>
              <a:t>Values separated by two periods (..) mean a range.</a:t>
            </a:r>
          </a:p>
          <a:p>
            <a:pPr lvl="1" algn="just">
              <a:lnSpc>
                <a:spcPct val="110000"/>
              </a:lnSpc>
              <a:spcBef>
                <a:spcPts val="600"/>
              </a:spcBef>
              <a:spcAft>
                <a:spcPts val="600"/>
              </a:spcAft>
            </a:pPr>
            <a:r>
              <a:rPr lang="en-US" sz="1700" dirty="0"/>
              <a:t>Values separated by commas mean an enumerated list of values.</a:t>
            </a:r>
          </a:p>
        </p:txBody>
      </p:sp>
      <p:grpSp>
        <p:nvGrpSpPr>
          <p:cNvPr id="3" name="Group 2"/>
          <p:cNvGrpSpPr/>
          <p:nvPr/>
        </p:nvGrpSpPr>
        <p:grpSpPr>
          <a:xfrm>
            <a:off x="2381250" y="5562600"/>
            <a:ext cx="4343400" cy="914400"/>
            <a:chOff x="2819400" y="5715001"/>
            <a:chExt cx="4343400" cy="914400"/>
          </a:xfrm>
        </p:grpSpPr>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5715001"/>
              <a:ext cx="4343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4629150" y="6102039"/>
              <a:ext cx="838200" cy="369332"/>
            </a:xfrm>
            <a:prstGeom prst="rect">
              <a:avLst/>
            </a:prstGeom>
            <a:noFill/>
          </p:spPr>
          <p:txBody>
            <a:bodyPr wrap="square" rtlCol="0">
              <a:spAutoFit/>
            </a:bodyPr>
            <a:lstStyle/>
            <a:p>
              <a:r>
                <a:rPr lang="en-US" dirty="0"/>
                <a:t>Owns</a:t>
              </a:r>
            </a:p>
          </p:txBody>
        </p:sp>
      </p:grpSp>
    </p:spTree>
    <p:extLst>
      <p:ext uri="{BB962C8B-B14F-4D97-AF65-F5344CB8AC3E}">
        <p14:creationId xmlns:p14="http://schemas.microsoft.com/office/powerpoint/2010/main" val="9687968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Class Diagrams</a:t>
            </a:r>
          </a:p>
        </p:txBody>
      </p:sp>
      <p:pic>
        <p:nvPicPr>
          <p:cNvPr id="8" name="Picture 7"/>
          <p:cNvPicPr>
            <a:picLocks noChangeAspect="1"/>
          </p:cNvPicPr>
          <p:nvPr/>
        </p:nvPicPr>
        <p:blipFill>
          <a:blip r:embed="rId2"/>
          <a:stretch>
            <a:fillRect/>
          </a:stretch>
        </p:blipFill>
        <p:spPr>
          <a:xfrm>
            <a:off x="304800" y="1143000"/>
            <a:ext cx="7924800" cy="5520000"/>
          </a:xfrm>
          <a:prstGeom prst="rect">
            <a:avLst/>
          </a:prstGeom>
        </p:spPr>
      </p:pic>
    </p:spTree>
    <p:extLst>
      <p:ext uri="{BB962C8B-B14F-4D97-AF65-F5344CB8AC3E}">
        <p14:creationId xmlns:p14="http://schemas.microsoft.com/office/powerpoint/2010/main" val="17631381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533399"/>
            <a:ext cx="7886700" cy="990601"/>
          </a:xfrm>
        </p:spPr>
        <p:txBody>
          <a:bodyPr>
            <a:normAutofit/>
          </a:bodyPr>
          <a:lstStyle/>
          <a:p>
            <a:r>
              <a:rPr lang="en-US" sz="3200" b="1" dirty="0">
                <a:latin typeface="Arial Black" panose="020B0A04020102020204" pitchFamily="34" charset="0"/>
              </a:rPr>
              <a:t>Classes and associations in the MHC-PMS</a:t>
            </a:r>
            <a:endParaRPr lang="da-DK" sz="3200" b="1" dirty="0">
              <a:latin typeface="Arial Black" panose="020B0A04020102020204" pitchFamily="34" charset="0"/>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447800"/>
            <a:ext cx="7543800" cy="5287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4831680"/>
      </p:ext>
    </p:extLst>
  </p:cSld>
  <p:clrMapOvr>
    <a:masterClrMapping/>
  </p:clrMapOvr>
  <p:transition spd="slow">
    <p:wipe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457200" y="381000"/>
            <a:ext cx="8458200" cy="396874"/>
          </a:xfrm>
        </p:spPr>
        <p:txBody>
          <a:bodyPr>
            <a:noAutofit/>
          </a:bodyPr>
          <a:lstStyle/>
          <a:p>
            <a:r>
              <a:rPr lang="en-US" sz="2800" b="1" dirty="0">
                <a:latin typeface="Arial Black" panose="020B0A04020102020204" pitchFamily="34" charset="0"/>
              </a:rPr>
              <a:t>Classes and associations in the MHC-PMS</a:t>
            </a:r>
          </a:p>
        </p:txBody>
      </p:sp>
      <p:sp>
        <p:nvSpPr>
          <p:cNvPr id="5" name="Content Placeholder 4">
            <a:extLst>
              <a:ext uri="{FF2B5EF4-FFF2-40B4-BE49-F238E27FC236}">
                <a16:creationId xmlns:a16="http://schemas.microsoft.com/office/drawing/2014/main" id="{665304F3-1141-4F81-9649-13122484C22A}"/>
              </a:ext>
            </a:extLst>
          </p:cNvPr>
          <p:cNvSpPr>
            <a:spLocks noGrp="1"/>
          </p:cNvSpPr>
          <p:nvPr>
            <p:ph idx="1"/>
          </p:nvPr>
        </p:nvSpPr>
        <p:spPr>
          <a:xfrm>
            <a:off x="457200" y="1066800"/>
            <a:ext cx="8305800" cy="5410199"/>
          </a:xfrm>
        </p:spPr>
        <p:txBody>
          <a:bodyPr>
            <a:normAutofit fontScale="92500" lnSpcReduction="20000"/>
          </a:bodyPr>
          <a:lstStyle/>
          <a:p>
            <a:pPr marL="0" indent="0">
              <a:buNone/>
            </a:pPr>
            <a:r>
              <a:rPr lang="en-US" sz="2600" b="1" dirty="0"/>
              <a:t>Entities (Classes) and Their Relationships:</a:t>
            </a:r>
          </a:p>
          <a:p>
            <a:r>
              <a:rPr lang="en-US" b="1" dirty="0"/>
              <a:t>Patient</a:t>
            </a:r>
            <a:endParaRPr lang="en-US" dirty="0"/>
          </a:p>
          <a:p>
            <a:pPr lvl="1"/>
            <a:r>
              <a:rPr lang="en-US" dirty="0"/>
              <a:t>Central to the diagram.</a:t>
            </a:r>
          </a:p>
          <a:p>
            <a:pPr lvl="1"/>
            <a:r>
              <a:rPr lang="en-US" b="1" dirty="0"/>
              <a:t>Diagnosed-with</a:t>
            </a:r>
            <a:r>
              <a:rPr lang="en-US" dirty="0"/>
              <a:t> → Multiple conditions (1..* on both sides):</a:t>
            </a:r>
            <a:br>
              <a:rPr lang="en-US" dirty="0"/>
            </a:br>
            <a:r>
              <a:rPr lang="en-US" dirty="0"/>
              <a:t>Each patient has one or more conditions; each condition is associated with one or more patients.</a:t>
            </a:r>
          </a:p>
          <a:p>
            <a:pPr lvl="1"/>
            <a:r>
              <a:rPr lang="en-US" b="1" dirty="0"/>
              <a:t>Referred-by</a:t>
            </a:r>
            <a:r>
              <a:rPr lang="en-US" dirty="0"/>
              <a:t> ← 1 General Practitioner:</a:t>
            </a:r>
            <a:br>
              <a:rPr lang="en-US" dirty="0"/>
            </a:br>
            <a:r>
              <a:rPr lang="en-US" dirty="0"/>
              <a:t>A patient is referred by one general practitioner (GP), and each GP can refer multiple patients.</a:t>
            </a:r>
          </a:p>
          <a:p>
            <a:pPr lvl="1"/>
            <a:r>
              <a:rPr lang="en-US" b="1" dirty="0"/>
              <a:t>Referred-to</a:t>
            </a:r>
            <a:r>
              <a:rPr lang="en-US" dirty="0"/>
              <a:t> → 1 Consultant:</a:t>
            </a:r>
            <a:br>
              <a:rPr lang="en-US" dirty="0"/>
            </a:br>
            <a:r>
              <a:rPr lang="en-US" dirty="0"/>
              <a:t>A patient is referred to exactly one consultant; each consultant can have many referred patients.</a:t>
            </a:r>
          </a:p>
          <a:p>
            <a:pPr lvl="1"/>
            <a:r>
              <a:rPr lang="en-US" b="1" dirty="0"/>
              <a:t>Attends</a:t>
            </a:r>
            <a:r>
              <a:rPr lang="en-US" dirty="0"/>
              <a:t> → Consultations (1..*):</a:t>
            </a:r>
            <a:br>
              <a:rPr lang="en-US" dirty="0"/>
            </a:br>
            <a:r>
              <a:rPr lang="en-US" dirty="0"/>
              <a:t>A patient attends one or more consultations.</a:t>
            </a:r>
          </a:p>
          <a:p>
            <a:r>
              <a:rPr lang="en-US" b="1" dirty="0"/>
              <a:t>Consultation</a:t>
            </a:r>
            <a:endParaRPr lang="en-US" dirty="0"/>
          </a:p>
          <a:p>
            <a:pPr lvl="1"/>
            <a:r>
              <a:rPr lang="en-US" b="1" dirty="0"/>
              <a:t>Prescribes</a:t>
            </a:r>
            <a:r>
              <a:rPr lang="en-US" dirty="0"/>
              <a:t> → Medication (1..* on both sides):</a:t>
            </a:r>
            <a:br>
              <a:rPr lang="en-US" dirty="0"/>
            </a:br>
            <a:r>
              <a:rPr lang="en-US" dirty="0"/>
              <a:t>Each consultation can result in one or more medications being prescribed; each medication can be prescribed in multiple consultations.</a:t>
            </a:r>
          </a:p>
          <a:p>
            <a:pPr lvl="1"/>
            <a:r>
              <a:rPr lang="en-US" b="1" dirty="0"/>
              <a:t>Prescribes</a:t>
            </a:r>
            <a:r>
              <a:rPr lang="en-US" dirty="0"/>
              <a:t> → Treatment (1..* on both sides):</a:t>
            </a:r>
            <a:br>
              <a:rPr lang="en-US" dirty="0"/>
            </a:br>
            <a:r>
              <a:rPr lang="en-US" dirty="0"/>
              <a:t>Similar to medications, multiple treatments can be prescribed.</a:t>
            </a:r>
          </a:p>
          <a:p>
            <a:pPr lvl="1"/>
            <a:r>
              <a:rPr lang="en-US" b="1" dirty="0"/>
              <a:t>Runs</a:t>
            </a:r>
            <a:r>
              <a:rPr lang="en-US" dirty="0"/>
              <a:t> ← 1 to 4 Hospital Doctors:</a:t>
            </a:r>
            <a:br>
              <a:rPr lang="en-US" dirty="0"/>
            </a:br>
            <a:r>
              <a:rPr lang="en-US" dirty="0"/>
              <a:t>A consultation is run by 1 to 4 hospital doctors, and each hospital doctor can run multiple consultations.</a:t>
            </a:r>
          </a:p>
          <a:p>
            <a:pPr algn="just">
              <a:lnSpc>
                <a:spcPct val="110000"/>
              </a:lnSpc>
              <a:spcBef>
                <a:spcPts val="600"/>
              </a:spcBef>
              <a:spcAft>
                <a:spcPts val="600"/>
              </a:spcAft>
            </a:pPr>
            <a:endParaRPr lang="en-US" sz="2800" dirty="0"/>
          </a:p>
        </p:txBody>
      </p:sp>
    </p:spTree>
    <p:extLst>
      <p:ext uri="{BB962C8B-B14F-4D97-AF65-F5344CB8AC3E}">
        <p14:creationId xmlns:p14="http://schemas.microsoft.com/office/powerpoint/2010/main" val="4444641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457200" y="381000"/>
            <a:ext cx="8458200" cy="396874"/>
          </a:xfrm>
        </p:spPr>
        <p:txBody>
          <a:bodyPr>
            <a:noAutofit/>
          </a:bodyPr>
          <a:lstStyle/>
          <a:p>
            <a:r>
              <a:rPr lang="en-US" sz="2800" b="1" dirty="0">
                <a:latin typeface="Arial Black" panose="020B0A04020102020204" pitchFamily="34" charset="0"/>
              </a:rPr>
              <a:t>Classes and associations in the MHC-PMS</a:t>
            </a:r>
          </a:p>
        </p:txBody>
      </p:sp>
      <p:sp>
        <p:nvSpPr>
          <p:cNvPr id="5" name="Content Placeholder 4">
            <a:extLst>
              <a:ext uri="{FF2B5EF4-FFF2-40B4-BE49-F238E27FC236}">
                <a16:creationId xmlns:a16="http://schemas.microsoft.com/office/drawing/2014/main" id="{665304F3-1141-4F81-9649-13122484C22A}"/>
              </a:ext>
            </a:extLst>
          </p:cNvPr>
          <p:cNvSpPr>
            <a:spLocks noGrp="1"/>
          </p:cNvSpPr>
          <p:nvPr>
            <p:ph idx="1"/>
          </p:nvPr>
        </p:nvSpPr>
        <p:spPr>
          <a:xfrm>
            <a:off x="457200" y="1066801"/>
            <a:ext cx="8305800" cy="5105400"/>
          </a:xfrm>
        </p:spPr>
        <p:txBody>
          <a:bodyPr>
            <a:normAutofit/>
          </a:bodyPr>
          <a:lstStyle/>
          <a:p>
            <a:pPr marL="0" indent="0">
              <a:buNone/>
            </a:pPr>
            <a:r>
              <a:rPr lang="en-US" sz="2600" b="1" dirty="0"/>
              <a:t>Entities (Classes) and Their Relationships:</a:t>
            </a:r>
          </a:p>
          <a:p>
            <a:pPr marL="342900" lvl="1" indent="0" defTabSz="914400" eaLnBrk="0" fontAlgn="base" hangingPunct="0">
              <a:lnSpc>
                <a:spcPct val="100000"/>
              </a:lnSpc>
              <a:spcBef>
                <a:spcPct val="0"/>
              </a:spcBef>
              <a:spcAft>
                <a:spcPct val="0"/>
              </a:spcAft>
              <a:buFontTx/>
              <a:buChar char="•"/>
            </a:pPr>
            <a:r>
              <a:rPr lang="en-US" sz="2000" b="1" dirty="0"/>
              <a:t>Hospital Doctor</a:t>
            </a:r>
          </a:p>
          <a:p>
            <a:pPr marL="685800" lvl="2" indent="0" defTabSz="914400" eaLnBrk="0" fontAlgn="base" hangingPunct="0">
              <a:lnSpc>
                <a:spcPct val="100000"/>
              </a:lnSpc>
              <a:spcBef>
                <a:spcPct val="0"/>
              </a:spcBef>
              <a:spcAft>
                <a:spcPct val="0"/>
              </a:spcAft>
              <a:buFontTx/>
              <a:buChar char="•"/>
            </a:pPr>
            <a:r>
              <a:rPr lang="en-US" sz="1800" dirty="0"/>
              <a:t>Associated with consultations through the "Runs" relationship.</a:t>
            </a:r>
          </a:p>
          <a:p>
            <a:pPr marL="342900" lvl="1" indent="0" defTabSz="914400" eaLnBrk="0" fontAlgn="base" hangingPunct="0">
              <a:lnSpc>
                <a:spcPct val="100000"/>
              </a:lnSpc>
              <a:spcBef>
                <a:spcPct val="0"/>
              </a:spcBef>
              <a:spcAft>
                <a:spcPct val="0"/>
              </a:spcAft>
              <a:buFontTx/>
              <a:buChar char="•"/>
            </a:pPr>
            <a:r>
              <a:rPr lang="en-US" sz="2000" b="1" dirty="0"/>
              <a:t>General Practitioner</a:t>
            </a:r>
          </a:p>
          <a:p>
            <a:pPr marL="685800" lvl="2" indent="0" defTabSz="914400" eaLnBrk="0" fontAlgn="base" hangingPunct="0">
              <a:lnSpc>
                <a:spcPct val="100000"/>
              </a:lnSpc>
              <a:spcBef>
                <a:spcPct val="0"/>
              </a:spcBef>
              <a:spcAft>
                <a:spcPct val="0"/>
              </a:spcAft>
              <a:buFontTx/>
              <a:buChar char="•"/>
            </a:pPr>
            <a:r>
              <a:rPr lang="en-US" sz="1800" dirty="0"/>
              <a:t>Refers patients (1 to many relationship).</a:t>
            </a:r>
          </a:p>
          <a:p>
            <a:pPr marL="342900" lvl="1" indent="0" defTabSz="914400" eaLnBrk="0" fontAlgn="base" hangingPunct="0">
              <a:lnSpc>
                <a:spcPct val="100000"/>
              </a:lnSpc>
              <a:spcBef>
                <a:spcPct val="0"/>
              </a:spcBef>
              <a:spcAft>
                <a:spcPct val="0"/>
              </a:spcAft>
              <a:buFontTx/>
              <a:buChar char="•"/>
            </a:pPr>
            <a:r>
              <a:rPr lang="en-US" sz="2000" b="1" dirty="0"/>
              <a:t>Consultant</a:t>
            </a:r>
          </a:p>
          <a:p>
            <a:pPr marL="685800" lvl="2" indent="0" defTabSz="914400" eaLnBrk="0" fontAlgn="base" hangingPunct="0">
              <a:lnSpc>
                <a:spcPct val="100000"/>
              </a:lnSpc>
              <a:spcBef>
                <a:spcPct val="0"/>
              </a:spcBef>
              <a:spcAft>
                <a:spcPct val="0"/>
              </a:spcAft>
              <a:buFontTx/>
              <a:buChar char="•"/>
            </a:pPr>
            <a:r>
              <a:rPr lang="en-US" sz="1800" dirty="0"/>
              <a:t>Patients are referred to consultants (1 to many relationship).</a:t>
            </a:r>
          </a:p>
          <a:p>
            <a:pPr marL="342900" lvl="1" indent="0" defTabSz="914400" eaLnBrk="0" fontAlgn="base" hangingPunct="0">
              <a:lnSpc>
                <a:spcPct val="100000"/>
              </a:lnSpc>
              <a:spcBef>
                <a:spcPct val="0"/>
              </a:spcBef>
              <a:spcAft>
                <a:spcPct val="0"/>
              </a:spcAft>
              <a:buFontTx/>
              <a:buChar char="•"/>
            </a:pPr>
            <a:r>
              <a:rPr lang="en-US" sz="2000" b="1" dirty="0"/>
              <a:t>Condition</a:t>
            </a:r>
          </a:p>
          <a:p>
            <a:pPr marL="685800" lvl="2" indent="0" defTabSz="914400" eaLnBrk="0" fontAlgn="base" hangingPunct="0">
              <a:lnSpc>
                <a:spcPct val="100000"/>
              </a:lnSpc>
              <a:spcBef>
                <a:spcPct val="0"/>
              </a:spcBef>
              <a:spcAft>
                <a:spcPct val="0"/>
              </a:spcAft>
              <a:buFontTx/>
              <a:buChar char="•"/>
            </a:pPr>
            <a:r>
              <a:rPr lang="en-US" sz="1800" dirty="0"/>
              <a:t>Associated with patients via "Diagnosed-with".</a:t>
            </a:r>
          </a:p>
          <a:p>
            <a:pPr marL="342900" lvl="1" indent="0" defTabSz="914400" eaLnBrk="0" fontAlgn="base" hangingPunct="0">
              <a:lnSpc>
                <a:spcPct val="100000"/>
              </a:lnSpc>
              <a:spcBef>
                <a:spcPct val="0"/>
              </a:spcBef>
              <a:spcAft>
                <a:spcPct val="0"/>
              </a:spcAft>
              <a:buFontTx/>
              <a:buChar char="•"/>
            </a:pPr>
            <a:r>
              <a:rPr lang="en-US" sz="2000" b="1" dirty="0"/>
              <a:t>Medication and Treatment</a:t>
            </a:r>
          </a:p>
          <a:p>
            <a:pPr marL="685800" lvl="2" indent="0" defTabSz="914400" eaLnBrk="0" fontAlgn="base" hangingPunct="0">
              <a:lnSpc>
                <a:spcPct val="100000"/>
              </a:lnSpc>
              <a:spcBef>
                <a:spcPct val="0"/>
              </a:spcBef>
              <a:spcAft>
                <a:spcPct val="0"/>
              </a:spcAft>
              <a:buFontTx/>
              <a:buChar char="•"/>
            </a:pPr>
            <a:r>
              <a:rPr lang="en-US" sz="1800" dirty="0"/>
              <a:t>Both are prescribed in consultations (many-to-many relationships).</a:t>
            </a:r>
          </a:p>
          <a:p>
            <a:pPr marL="0" lvl="0" indent="0" defTabSz="914400" eaLnBrk="0" fontAlgn="base" hangingPunct="0">
              <a:lnSpc>
                <a:spcPct val="100000"/>
              </a:lnSpc>
              <a:spcBef>
                <a:spcPct val="0"/>
              </a:spcBef>
              <a:spcAft>
                <a:spcPct val="0"/>
              </a:spcAft>
              <a:buNone/>
            </a:pPr>
            <a:endParaRPr lang="en-US" sz="2800" dirty="0">
              <a:latin typeface="Arial" panose="020B0604020202020204" pitchFamily="34" charset="0"/>
            </a:endParaRPr>
          </a:p>
          <a:p>
            <a:pPr algn="just">
              <a:lnSpc>
                <a:spcPct val="110000"/>
              </a:lnSpc>
              <a:spcBef>
                <a:spcPts val="600"/>
              </a:spcBef>
              <a:spcAft>
                <a:spcPts val="600"/>
              </a:spcAft>
            </a:pPr>
            <a:endParaRPr lang="en-US" sz="1700" dirty="0"/>
          </a:p>
        </p:txBody>
      </p:sp>
      <p:sp>
        <p:nvSpPr>
          <p:cNvPr id="6" name="Rectangle 5"/>
          <p:cNvSpPr/>
          <p:nvPr/>
        </p:nvSpPr>
        <p:spPr>
          <a:xfrm>
            <a:off x="762000" y="4800600"/>
            <a:ext cx="4572000" cy="1323439"/>
          </a:xfrm>
          <a:prstGeom prst="rect">
            <a:avLst/>
          </a:prstGeom>
        </p:spPr>
        <p:txBody>
          <a:bodyPr>
            <a:spAutoFit/>
          </a:bodyPr>
          <a:lstStyle/>
          <a:p>
            <a:r>
              <a:rPr lang="en-US" sz="2600" b="1" dirty="0"/>
              <a:t>Cardinalities Summary:</a:t>
            </a:r>
          </a:p>
          <a:p>
            <a:pPr>
              <a:buFont typeface="Arial" panose="020B0604020202020204" pitchFamily="34" charset="0"/>
              <a:buChar char="•"/>
            </a:pPr>
            <a:r>
              <a:rPr lang="en-US" b="1" dirty="0"/>
              <a:t>1..</a:t>
            </a:r>
            <a:r>
              <a:rPr lang="en-US" dirty="0"/>
              <a:t>*: One or more.</a:t>
            </a:r>
          </a:p>
          <a:p>
            <a:pPr>
              <a:buFont typeface="Arial" panose="020B0604020202020204" pitchFamily="34" charset="0"/>
              <a:buChar char="•"/>
            </a:pPr>
            <a:r>
              <a:rPr lang="en-US" b="1" dirty="0"/>
              <a:t>1</a:t>
            </a:r>
            <a:r>
              <a:rPr lang="en-US" dirty="0"/>
              <a:t>: Exactly one.</a:t>
            </a:r>
          </a:p>
          <a:p>
            <a:pPr>
              <a:buFont typeface="Arial" panose="020B0604020202020204" pitchFamily="34" charset="0"/>
              <a:buChar char="•"/>
            </a:pPr>
            <a:r>
              <a:rPr lang="en-US" b="1" dirty="0"/>
              <a:t>1..4</a:t>
            </a:r>
            <a:r>
              <a:rPr lang="en-US" dirty="0"/>
              <a:t>: Between one and four</a:t>
            </a:r>
          </a:p>
        </p:txBody>
      </p:sp>
    </p:spTree>
    <p:extLst>
      <p:ext uri="{BB962C8B-B14F-4D97-AF65-F5344CB8AC3E}">
        <p14:creationId xmlns:p14="http://schemas.microsoft.com/office/powerpoint/2010/main" val="14228162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Class Diagrams</a:t>
            </a:r>
          </a:p>
        </p:txBody>
      </p:sp>
      <p:sp>
        <p:nvSpPr>
          <p:cNvPr id="5" name="Content Placeholder 4">
            <a:extLst>
              <a:ext uri="{FF2B5EF4-FFF2-40B4-BE49-F238E27FC236}">
                <a16:creationId xmlns:a16="http://schemas.microsoft.com/office/drawing/2014/main" id="{665304F3-1141-4F81-9649-13122484C22A}"/>
              </a:ext>
            </a:extLst>
          </p:cNvPr>
          <p:cNvSpPr>
            <a:spLocks noGrp="1"/>
          </p:cNvSpPr>
          <p:nvPr>
            <p:ph idx="1"/>
          </p:nvPr>
        </p:nvSpPr>
        <p:spPr>
          <a:xfrm>
            <a:off x="457200" y="1066801"/>
            <a:ext cx="8305800" cy="5105400"/>
          </a:xfrm>
        </p:spPr>
        <p:txBody>
          <a:bodyPr>
            <a:normAutofit/>
          </a:bodyPr>
          <a:lstStyle/>
          <a:p>
            <a:pPr algn="just">
              <a:lnSpc>
                <a:spcPct val="110000"/>
              </a:lnSpc>
              <a:spcBef>
                <a:spcPts val="600"/>
              </a:spcBef>
              <a:spcAft>
                <a:spcPts val="600"/>
              </a:spcAft>
            </a:pPr>
            <a:r>
              <a:rPr lang="en-US" sz="2800" dirty="0"/>
              <a:t>The main elements of a class diagram are boxes, which are the icons used to represent classes and interfaces. Each box is divided into horizontal parts. </a:t>
            </a:r>
          </a:p>
          <a:p>
            <a:pPr algn="just">
              <a:lnSpc>
                <a:spcPct val="110000"/>
              </a:lnSpc>
              <a:spcBef>
                <a:spcPts val="600"/>
              </a:spcBef>
              <a:spcAft>
                <a:spcPts val="600"/>
              </a:spcAft>
            </a:pPr>
            <a:r>
              <a:rPr lang="en-US" sz="2800" dirty="0"/>
              <a:t>The top part contains the name of the class. </a:t>
            </a:r>
          </a:p>
          <a:p>
            <a:pPr algn="just">
              <a:lnSpc>
                <a:spcPct val="110000"/>
              </a:lnSpc>
              <a:spcBef>
                <a:spcPts val="600"/>
              </a:spcBef>
              <a:spcAft>
                <a:spcPts val="600"/>
              </a:spcAft>
            </a:pPr>
            <a:r>
              <a:rPr lang="en-US" sz="2800" dirty="0"/>
              <a:t>The middle section lists the attributes of the class. Attributes can be values that the class can compute from its instance variables or values that the class can get from other objects of which it is composed.</a:t>
            </a:r>
          </a:p>
          <a:p>
            <a:pPr marL="0" indent="0" algn="just">
              <a:lnSpc>
                <a:spcPct val="110000"/>
              </a:lnSpc>
              <a:spcBef>
                <a:spcPts val="600"/>
              </a:spcBef>
              <a:spcAft>
                <a:spcPts val="600"/>
              </a:spcAft>
              <a:buNone/>
            </a:pPr>
            <a:r>
              <a:rPr lang="en-US" sz="2800" dirty="0"/>
              <a:t> </a:t>
            </a:r>
          </a:p>
        </p:txBody>
      </p:sp>
    </p:spTree>
    <p:extLst>
      <p:ext uri="{BB962C8B-B14F-4D97-AF65-F5344CB8AC3E}">
        <p14:creationId xmlns:p14="http://schemas.microsoft.com/office/powerpoint/2010/main" val="14583117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Class Diagrams</a:t>
            </a:r>
          </a:p>
        </p:txBody>
      </p:sp>
      <p:sp>
        <p:nvSpPr>
          <p:cNvPr id="5" name="Content Placeholder 4">
            <a:extLst>
              <a:ext uri="{FF2B5EF4-FFF2-40B4-BE49-F238E27FC236}">
                <a16:creationId xmlns:a16="http://schemas.microsoft.com/office/drawing/2014/main" id="{665304F3-1141-4F81-9649-13122484C22A}"/>
              </a:ext>
            </a:extLst>
          </p:cNvPr>
          <p:cNvSpPr>
            <a:spLocks noGrp="1"/>
          </p:cNvSpPr>
          <p:nvPr>
            <p:ph idx="1"/>
          </p:nvPr>
        </p:nvSpPr>
        <p:spPr>
          <a:xfrm>
            <a:off x="457200" y="1066801"/>
            <a:ext cx="8305800" cy="5105400"/>
          </a:xfrm>
        </p:spPr>
        <p:txBody>
          <a:bodyPr>
            <a:normAutofit/>
          </a:bodyPr>
          <a:lstStyle/>
          <a:p>
            <a:pPr algn="just">
              <a:lnSpc>
                <a:spcPct val="110000"/>
              </a:lnSpc>
              <a:spcBef>
                <a:spcPts val="600"/>
              </a:spcBef>
              <a:spcAft>
                <a:spcPts val="600"/>
              </a:spcAft>
            </a:pPr>
            <a:r>
              <a:rPr lang="en-US" sz="2800" dirty="0"/>
              <a:t>The third section of the class diagram contains the operations or behaviors of the class. An operation refers to what objects of the class can do. It is usually implemented as a method of the class. </a:t>
            </a:r>
          </a:p>
        </p:txBody>
      </p:sp>
      <p:pic>
        <p:nvPicPr>
          <p:cNvPr id="2" name="Picture 1"/>
          <p:cNvPicPr>
            <a:picLocks noChangeAspect="1"/>
          </p:cNvPicPr>
          <p:nvPr/>
        </p:nvPicPr>
        <p:blipFill>
          <a:blip r:embed="rId2"/>
          <a:stretch>
            <a:fillRect/>
          </a:stretch>
        </p:blipFill>
        <p:spPr>
          <a:xfrm>
            <a:off x="2209800" y="2901696"/>
            <a:ext cx="5181600" cy="3822954"/>
          </a:xfrm>
          <a:prstGeom prst="rect">
            <a:avLst/>
          </a:prstGeom>
        </p:spPr>
      </p:pic>
      <p:sp>
        <p:nvSpPr>
          <p:cNvPr id="3" name="Rectangle 2"/>
          <p:cNvSpPr/>
          <p:nvPr/>
        </p:nvSpPr>
        <p:spPr>
          <a:xfrm>
            <a:off x="914400" y="5715000"/>
            <a:ext cx="1378904" cy="369332"/>
          </a:xfrm>
          <a:prstGeom prst="rect">
            <a:avLst/>
          </a:prstGeom>
        </p:spPr>
        <p:txBody>
          <a:bodyPr wrap="none">
            <a:spAutoFit/>
          </a:bodyPr>
          <a:lstStyle/>
          <a:p>
            <a:r>
              <a:rPr lang="en-US" b="1" dirty="0">
                <a:solidFill>
                  <a:srgbClr val="FF0000"/>
                </a:solidFill>
              </a:rPr>
              <a:t>FIGURE A1.1</a:t>
            </a:r>
          </a:p>
        </p:txBody>
      </p:sp>
    </p:spTree>
    <p:extLst>
      <p:ext uri="{BB962C8B-B14F-4D97-AF65-F5344CB8AC3E}">
        <p14:creationId xmlns:p14="http://schemas.microsoft.com/office/powerpoint/2010/main" val="34645349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Class Diagrams</a:t>
            </a:r>
          </a:p>
        </p:txBody>
      </p:sp>
      <p:sp>
        <p:nvSpPr>
          <p:cNvPr id="5" name="Content Placeholder 4">
            <a:extLst>
              <a:ext uri="{FF2B5EF4-FFF2-40B4-BE49-F238E27FC236}">
                <a16:creationId xmlns:a16="http://schemas.microsoft.com/office/drawing/2014/main" id="{665304F3-1141-4F81-9649-13122484C22A}"/>
              </a:ext>
            </a:extLst>
          </p:cNvPr>
          <p:cNvSpPr>
            <a:spLocks noGrp="1"/>
          </p:cNvSpPr>
          <p:nvPr>
            <p:ph idx="1"/>
          </p:nvPr>
        </p:nvSpPr>
        <p:spPr>
          <a:xfrm>
            <a:off x="457200" y="1066801"/>
            <a:ext cx="8305800" cy="5105400"/>
          </a:xfrm>
        </p:spPr>
        <p:txBody>
          <a:bodyPr>
            <a:normAutofit fontScale="92500" lnSpcReduction="20000"/>
          </a:bodyPr>
          <a:lstStyle/>
          <a:p>
            <a:pPr algn="just">
              <a:lnSpc>
                <a:spcPct val="110000"/>
              </a:lnSpc>
              <a:spcBef>
                <a:spcPts val="600"/>
              </a:spcBef>
              <a:spcAft>
                <a:spcPts val="600"/>
              </a:spcAft>
            </a:pPr>
            <a:r>
              <a:rPr lang="en-US" sz="2800" dirty="0"/>
              <a:t>Figure A1.1 presents a simple example of a Thoroughbred class that models thoroughbred horses. </a:t>
            </a:r>
          </a:p>
          <a:p>
            <a:pPr algn="just">
              <a:lnSpc>
                <a:spcPct val="110000"/>
              </a:lnSpc>
              <a:spcBef>
                <a:spcPts val="600"/>
              </a:spcBef>
              <a:spcAft>
                <a:spcPts val="600"/>
              </a:spcAft>
            </a:pPr>
            <a:r>
              <a:rPr lang="en-US" sz="2800" dirty="0"/>
              <a:t>It has three attributes displayed— mother, father, and birth year. </a:t>
            </a:r>
          </a:p>
          <a:p>
            <a:pPr algn="just">
              <a:lnSpc>
                <a:spcPct val="110000"/>
              </a:lnSpc>
              <a:spcBef>
                <a:spcPts val="600"/>
              </a:spcBef>
              <a:spcAft>
                <a:spcPts val="600"/>
              </a:spcAft>
            </a:pPr>
            <a:r>
              <a:rPr lang="en-US" sz="2800" dirty="0"/>
              <a:t>The diagram also shows three operations: </a:t>
            </a:r>
            <a:r>
              <a:rPr lang="en-US" sz="2800" dirty="0" err="1"/>
              <a:t>getCurrentAge</a:t>
            </a:r>
            <a:r>
              <a:rPr lang="en-US" sz="2800" dirty="0"/>
              <a:t>(), </a:t>
            </a:r>
            <a:r>
              <a:rPr lang="en-US" sz="2800" dirty="0" err="1"/>
              <a:t>getFather</a:t>
            </a:r>
            <a:r>
              <a:rPr lang="en-US" sz="2800" dirty="0"/>
              <a:t>(), and </a:t>
            </a:r>
            <a:r>
              <a:rPr lang="en-US" sz="2800" dirty="0" err="1"/>
              <a:t>getMother</a:t>
            </a:r>
            <a:r>
              <a:rPr lang="en-US" sz="2800" dirty="0"/>
              <a:t>(). </a:t>
            </a:r>
          </a:p>
          <a:p>
            <a:pPr algn="just">
              <a:lnSpc>
                <a:spcPct val="110000"/>
              </a:lnSpc>
              <a:spcBef>
                <a:spcPts val="600"/>
              </a:spcBef>
              <a:spcAft>
                <a:spcPts val="600"/>
              </a:spcAft>
            </a:pPr>
            <a:r>
              <a:rPr lang="en-US" sz="2800" dirty="0"/>
              <a:t>There may be other suppressed attributes and operations not shown in the diagram. </a:t>
            </a:r>
          </a:p>
          <a:p>
            <a:pPr algn="just">
              <a:lnSpc>
                <a:spcPct val="110000"/>
              </a:lnSpc>
              <a:spcBef>
                <a:spcPts val="600"/>
              </a:spcBef>
              <a:spcAft>
                <a:spcPts val="600"/>
              </a:spcAft>
            </a:pPr>
            <a:r>
              <a:rPr lang="en-US" sz="2800" dirty="0"/>
              <a:t>Each attribute can have a name, a type, and a level of visibility. </a:t>
            </a:r>
            <a:r>
              <a:rPr lang="en-US" sz="2800" b="1" dirty="0"/>
              <a:t>The type and visibility are optional</a:t>
            </a:r>
            <a:r>
              <a:rPr lang="en-US" sz="2800" dirty="0"/>
              <a:t>. The type follows the name and is separated from the name by a colon. </a:t>
            </a:r>
          </a:p>
        </p:txBody>
      </p:sp>
    </p:spTree>
    <p:extLst>
      <p:ext uri="{BB962C8B-B14F-4D97-AF65-F5344CB8AC3E}">
        <p14:creationId xmlns:p14="http://schemas.microsoft.com/office/powerpoint/2010/main" val="30395882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Class Diagrams</a:t>
            </a:r>
          </a:p>
        </p:txBody>
      </p:sp>
      <p:sp>
        <p:nvSpPr>
          <p:cNvPr id="5" name="Content Placeholder 4">
            <a:extLst>
              <a:ext uri="{FF2B5EF4-FFF2-40B4-BE49-F238E27FC236}">
                <a16:creationId xmlns:a16="http://schemas.microsoft.com/office/drawing/2014/main" id="{665304F3-1141-4F81-9649-13122484C22A}"/>
              </a:ext>
            </a:extLst>
          </p:cNvPr>
          <p:cNvSpPr>
            <a:spLocks noGrp="1"/>
          </p:cNvSpPr>
          <p:nvPr>
            <p:ph idx="1"/>
          </p:nvPr>
        </p:nvSpPr>
        <p:spPr>
          <a:xfrm>
            <a:off x="457200" y="1066801"/>
            <a:ext cx="8305800" cy="5105400"/>
          </a:xfrm>
        </p:spPr>
        <p:txBody>
          <a:bodyPr>
            <a:normAutofit/>
          </a:bodyPr>
          <a:lstStyle/>
          <a:p>
            <a:pPr algn="just">
              <a:lnSpc>
                <a:spcPct val="110000"/>
              </a:lnSpc>
              <a:spcBef>
                <a:spcPts val="600"/>
              </a:spcBef>
              <a:spcAft>
                <a:spcPts val="600"/>
              </a:spcAft>
            </a:pPr>
            <a:r>
              <a:rPr lang="en-US" sz="2800" dirty="0"/>
              <a:t>The visibility is indicated by a preceding –, #, ~, or +, indicating, respectively, private, protected, package, or public visibility. </a:t>
            </a:r>
          </a:p>
          <a:p>
            <a:pPr algn="just">
              <a:lnSpc>
                <a:spcPct val="110000"/>
              </a:lnSpc>
              <a:spcBef>
                <a:spcPts val="600"/>
              </a:spcBef>
              <a:spcAft>
                <a:spcPts val="600"/>
              </a:spcAft>
            </a:pPr>
            <a:r>
              <a:rPr lang="en-US" sz="2800" dirty="0"/>
              <a:t>In Figure A1.1, all attributes have private visibility, as indicated by the leading minus sign (–). </a:t>
            </a:r>
          </a:p>
          <a:p>
            <a:pPr algn="just">
              <a:lnSpc>
                <a:spcPct val="110000"/>
              </a:lnSpc>
              <a:spcBef>
                <a:spcPts val="600"/>
              </a:spcBef>
              <a:spcAft>
                <a:spcPts val="600"/>
              </a:spcAft>
            </a:pPr>
            <a:r>
              <a:rPr lang="en-US" sz="2800" dirty="0"/>
              <a:t>You can also specify that an attribute is a static or class attribute by underlining it. Each operation can also be displayed with a level of visibility, parameters with names and types, and a return type.</a:t>
            </a:r>
          </a:p>
        </p:txBody>
      </p:sp>
    </p:spTree>
    <p:extLst>
      <p:ext uri="{BB962C8B-B14F-4D97-AF65-F5344CB8AC3E}">
        <p14:creationId xmlns:p14="http://schemas.microsoft.com/office/powerpoint/2010/main" val="14125619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Class Diagrams</a:t>
            </a:r>
          </a:p>
        </p:txBody>
      </p:sp>
      <p:pic>
        <p:nvPicPr>
          <p:cNvPr id="6" name="Picture 5"/>
          <p:cNvPicPr>
            <a:picLocks noChangeAspect="1"/>
          </p:cNvPicPr>
          <p:nvPr/>
        </p:nvPicPr>
        <p:blipFill>
          <a:blip r:embed="rId2"/>
          <a:stretch>
            <a:fillRect/>
          </a:stretch>
        </p:blipFill>
        <p:spPr>
          <a:xfrm>
            <a:off x="228600" y="4343400"/>
            <a:ext cx="8639175" cy="2390775"/>
          </a:xfrm>
          <a:prstGeom prst="rect">
            <a:avLst/>
          </a:prstGeom>
        </p:spPr>
      </p:pic>
      <p:pic>
        <p:nvPicPr>
          <p:cNvPr id="3" name="Picture 2"/>
          <p:cNvPicPr>
            <a:picLocks noChangeAspect="1"/>
          </p:cNvPicPr>
          <p:nvPr/>
        </p:nvPicPr>
        <p:blipFill>
          <a:blip r:embed="rId3"/>
          <a:stretch>
            <a:fillRect/>
          </a:stretch>
        </p:blipFill>
        <p:spPr>
          <a:xfrm>
            <a:off x="188471" y="1066800"/>
            <a:ext cx="8719431" cy="3643313"/>
          </a:xfrm>
          <a:prstGeom prst="rect">
            <a:avLst/>
          </a:prstGeom>
        </p:spPr>
      </p:pic>
    </p:spTree>
    <p:extLst>
      <p:ext uri="{BB962C8B-B14F-4D97-AF65-F5344CB8AC3E}">
        <p14:creationId xmlns:p14="http://schemas.microsoft.com/office/powerpoint/2010/main" val="27026311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Class Diagrams</a:t>
            </a:r>
          </a:p>
        </p:txBody>
      </p:sp>
      <p:pic>
        <p:nvPicPr>
          <p:cNvPr id="3" name="Picture 2"/>
          <p:cNvPicPr>
            <a:picLocks noChangeAspect="1"/>
          </p:cNvPicPr>
          <p:nvPr/>
        </p:nvPicPr>
        <p:blipFill>
          <a:blip r:embed="rId2"/>
          <a:stretch>
            <a:fillRect/>
          </a:stretch>
        </p:blipFill>
        <p:spPr>
          <a:xfrm>
            <a:off x="1295400" y="914400"/>
            <a:ext cx="6024562" cy="5705682"/>
          </a:xfrm>
          <a:prstGeom prst="rect">
            <a:avLst/>
          </a:prstGeom>
        </p:spPr>
      </p:pic>
    </p:spTree>
    <p:extLst>
      <p:ext uri="{BB962C8B-B14F-4D97-AF65-F5344CB8AC3E}">
        <p14:creationId xmlns:p14="http://schemas.microsoft.com/office/powerpoint/2010/main" val="13531392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Class Diagrams</a:t>
            </a:r>
          </a:p>
        </p:txBody>
      </p:sp>
      <p:pic>
        <p:nvPicPr>
          <p:cNvPr id="3" name="Picture 2"/>
          <p:cNvPicPr>
            <a:picLocks noChangeAspect="1"/>
          </p:cNvPicPr>
          <p:nvPr/>
        </p:nvPicPr>
        <p:blipFill>
          <a:blip r:embed="rId2"/>
          <a:stretch>
            <a:fillRect/>
          </a:stretch>
        </p:blipFill>
        <p:spPr>
          <a:xfrm>
            <a:off x="533400" y="2209800"/>
            <a:ext cx="8267700" cy="4114800"/>
          </a:xfrm>
          <a:prstGeom prst="rect">
            <a:avLst/>
          </a:prstGeom>
        </p:spPr>
      </p:pic>
    </p:spTree>
    <p:extLst>
      <p:ext uri="{BB962C8B-B14F-4D97-AF65-F5344CB8AC3E}">
        <p14:creationId xmlns:p14="http://schemas.microsoft.com/office/powerpoint/2010/main" val="31385930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Class Diagrams</a:t>
            </a:r>
          </a:p>
        </p:txBody>
      </p:sp>
      <p:sp>
        <p:nvSpPr>
          <p:cNvPr id="5" name="Content Placeholder 4">
            <a:extLst>
              <a:ext uri="{FF2B5EF4-FFF2-40B4-BE49-F238E27FC236}">
                <a16:creationId xmlns:a16="http://schemas.microsoft.com/office/drawing/2014/main" id="{665304F3-1141-4F81-9649-13122484C22A}"/>
              </a:ext>
            </a:extLst>
          </p:cNvPr>
          <p:cNvSpPr>
            <a:spLocks noGrp="1"/>
          </p:cNvSpPr>
          <p:nvPr>
            <p:ph idx="1"/>
          </p:nvPr>
        </p:nvSpPr>
        <p:spPr>
          <a:xfrm>
            <a:off x="457200" y="1066801"/>
            <a:ext cx="8305800" cy="5105400"/>
          </a:xfrm>
        </p:spPr>
        <p:txBody>
          <a:bodyPr>
            <a:normAutofit/>
          </a:bodyPr>
          <a:lstStyle/>
          <a:p>
            <a:pPr algn="just">
              <a:lnSpc>
                <a:spcPct val="110000"/>
              </a:lnSpc>
              <a:spcBef>
                <a:spcPts val="600"/>
              </a:spcBef>
              <a:spcAft>
                <a:spcPts val="600"/>
              </a:spcAft>
            </a:pPr>
            <a:r>
              <a:rPr lang="en-US" sz="2800" dirty="0"/>
              <a:t>An abstract class or abstract method is indicated by the use of italics for the name in the class diagram. See the Horse class in Figure A1.2 for an example. </a:t>
            </a:r>
          </a:p>
          <a:p>
            <a:pPr algn="just">
              <a:lnSpc>
                <a:spcPct val="110000"/>
              </a:lnSpc>
              <a:spcBef>
                <a:spcPts val="600"/>
              </a:spcBef>
              <a:spcAft>
                <a:spcPts val="600"/>
              </a:spcAft>
            </a:pPr>
            <a:r>
              <a:rPr lang="en-US" sz="2800" dirty="0"/>
              <a:t>An interface is indicated by adding the phrase “«interface»” (called a stereotype ) above the name. See the </a:t>
            </a:r>
            <a:r>
              <a:rPr lang="en-US" sz="2800" dirty="0" err="1"/>
              <a:t>OwnedObject</a:t>
            </a:r>
            <a:r>
              <a:rPr lang="en-US" sz="2800" dirty="0"/>
              <a:t> interface in Figure A1.2. </a:t>
            </a:r>
          </a:p>
          <a:p>
            <a:pPr algn="just">
              <a:lnSpc>
                <a:spcPct val="110000"/>
              </a:lnSpc>
              <a:spcBef>
                <a:spcPts val="600"/>
              </a:spcBef>
              <a:spcAft>
                <a:spcPts val="600"/>
              </a:spcAft>
            </a:pPr>
            <a:r>
              <a:rPr lang="en-US" sz="2800" dirty="0"/>
              <a:t>An interface can also be represented graphically by a hollow circle. </a:t>
            </a:r>
          </a:p>
        </p:txBody>
      </p:sp>
    </p:spTree>
    <p:extLst>
      <p:ext uri="{BB962C8B-B14F-4D97-AF65-F5344CB8AC3E}">
        <p14:creationId xmlns:p14="http://schemas.microsoft.com/office/powerpoint/2010/main" val="18641569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Class Diagrams</a:t>
            </a:r>
          </a:p>
        </p:txBody>
      </p:sp>
      <p:pic>
        <p:nvPicPr>
          <p:cNvPr id="2" name="Picture 1"/>
          <p:cNvPicPr>
            <a:picLocks noChangeAspect="1"/>
          </p:cNvPicPr>
          <p:nvPr/>
        </p:nvPicPr>
        <p:blipFill>
          <a:blip r:embed="rId2"/>
          <a:stretch>
            <a:fillRect/>
          </a:stretch>
        </p:blipFill>
        <p:spPr>
          <a:xfrm>
            <a:off x="614362" y="947737"/>
            <a:ext cx="7915275" cy="4962525"/>
          </a:xfrm>
          <a:prstGeom prst="rect">
            <a:avLst/>
          </a:prstGeom>
        </p:spPr>
      </p:pic>
      <p:sp>
        <p:nvSpPr>
          <p:cNvPr id="3" name="Rectangle 2"/>
          <p:cNvSpPr/>
          <p:nvPr/>
        </p:nvSpPr>
        <p:spPr>
          <a:xfrm>
            <a:off x="838200" y="2590800"/>
            <a:ext cx="1431802" cy="369332"/>
          </a:xfrm>
          <a:prstGeom prst="rect">
            <a:avLst/>
          </a:prstGeom>
        </p:spPr>
        <p:txBody>
          <a:bodyPr wrap="none">
            <a:spAutoFit/>
          </a:bodyPr>
          <a:lstStyle/>
          <a:p>
            <a:r>
              <a:rPr lang="en-US" b="1" dirty="0"/>
              <a:t>FIGURE A1.2 </a:t>
            </a:r>
          </a:p>
        </p:txBody>
      </p:sp>
    </p:spTree>
    <p:extLst>
      <p:ext uri="{BB962C8B-B14F-4D97-AF65-F5344CB8AC3E}">
        <p14:creationId xmlns:p14="http://schemas.microsoft.com/office/powerpoint/2010/main" val="28283146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Class Diagrams</a:t>
            </a:r>
          </a:p>
        </p:txBody>
      </p:sp>
      <p:pic>
        <p:nvPicPr>
          <p:cNvPr id="6" name="Picture 5">
            <a:extLst>
              <a:ext uri="{FF2B5EF4-FFF2-40B4-BE49-F238E27FC236}">
                <a16:creationId xmlns:a16="http://schemas.microsoft.com/office/drawing/2014/main" id="{A50997C8-FF35-3086-B048-17F99DFA3E31}"/>
              </a:ext>
            </a:extLst>
          </p:cNvPr>
          <p:cNvPicPr>
            <a:picLocks noChangeAspect="1"/>
          </p:cNvPicPr>
          <p:nvPr/>
        </p:nvPicPr>
        <p:blipFill>
          <a:blip r:embed="rId2"/>
          <a:stretch>
            <a:fillRect/>
          </a:stretch>
        </p:blipFill>
        <p:spPr>
          <a:xfrm>
            <a:off x="1685925" y="1147762"/>
            <a:ext cx="5772150" cy="4562475"/>
          </a:xfrm>
          <a:prstGeom prst="rect">
            <a:avLst/>
          </a:prstGeom>
        </p:spPr>
      </p:pic>
    </p:spTree>
    <p:extLst>
      <p:ext uri="{BB962C8B-B14F-4D97-AF65-F5344CB8AC3E}">
        <p14:creationId xmlns:p14="http://schemas.microsoft.com/office/powerpoint/2010/main" val="32428383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Class Diagrams: </a:t>
            </a:r>
            <a:r>
              <a:rPr lang="en-US" sz="3200" dirty="0"/>
              <a:t>interfaces </a:t>
            </a:r>
            <a:endParaRPr lang="en-US" sz="3200" b="1" dirty="0">
              <a:latin typeface="Arial Black" panose="020B0A04020102020204" pitchFamily="34" charset="0"/>
            </a:endParaRPr>
          </a:p>
        </p:txBody>
      </p:sp>
      <p:sp>
        <p:nvSpPr>
          <p:cNvPr id="2" name="Content Placeholder 1"/>
          <p:cNvSpPr>
            <a:spLocks noGrp="1"/>
          </p:cNvSpPr>
          <p:nvPr>
            <p:ph idx="1"/>
          </p:nvPr>
        </p:nvSpPr>
        <p:spPr/>
        <p:txBody>
          <a:bodyPr/>
          <a:lstStyle/>
          <a:p>
            <a:endParaRPr lang="en-US"/>
          </a:p>
        </p:txBody>
      </p:sp>
      <p:pic>
        <p:nvPicPr>
          <p:cNvPr id="3" name="Picture 2"/>
          <p:cNvPicPr>
            <a:picLocks noChangeAspect="1"/>
          </p:cNvPicPr>
          <p:nvPr/>
        </p:nvPicPr>
        <p:blipFill>
          <a:blip r:embed="rId2"/>
          <a:stretch>
            <a:fillRect/>
          </a:stretch>
        </p:blipFill>
        <p:spPr>
          <a:xfrm>
            <a:off x="371475" y="914400"/>
            <a:ext cx="8401050" cy="5776912"/>
          </a:xfrm>
          <a:prstGeom prst="rect">
            <a:avLst/>
          </a:prstGeom>
        </p:spPr>
      </p:pic>
    </p:spTree>
    <p:extLst>
      <p:ext uri="{BB962C8B-B14F-4D97-AF65-F5344CB8AC3E}">
        <p14:creationId xmlns:p14="http://schemas.microsoft.com/office/powerpoint/2010/main" val="33516450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Class Diagrams</a:t>
            </a:r>
          </a:p>
        </p:txBody>
      </p:sp>
      <p:pic>
        <p:nvPicPr>
          <p:cNvPr id="3" name="Picture 2"/>
          <p:cNvPicPr>
            <a:picLocks noChangeAspect="1"/>
          </p:cNvPicPr>
          <p:nvPr/>
        </p:nvPicPr>
        <p:blipFill>
          <a:blip r:embed="rId2"/>
          <a:stretch>
            <a:fillRect/>
          </a:stretch>
        </p:blipFill>
        <p:spPr>
          <a:xfrm>
            <a:off x="457200" y="1271586"/>
            <a:ext cx="8382000" cy="5586413"/>
          </a:xfrm>
          <a:prstGeom prst="rect">
            <a:avLst/>
          </a:prstGeom>
        </p:spPr>
      </p:pic>
    </p:spTree>
    <p:extLst>
      <p:ext uri="{BB962C8B-B14F-4D97-AF65-F5344CB8AC3E}">
        <p14:creationId xmlns:p14="http://schemas.microsoft.com/office/powerpoint/2010/main" val="22418171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Class Diagrams</a:t>
            </a:r>
          </a:p>
        </p:txBody>
      </p:sp>
      <p:pic>
        <p:nvPicPr>
          <p:cNvPr id="2" name="Picture 1"/>
          <p:cNvPicPr>
            <a:picLocks noChangeAspect="1"/>
          </p:cNvPicPr>
          <p:nvPr/>
        </p:nvPicPr>
        <p:blipFill>
          <a:blip r:embed="rId2"/>
          <a:stretch>
            <a:fillRect/>
          </a:stretch>
        </p:blipFill>
        <p:spPr>
          <a:xfrm>
            <a:off x="1371600" y="1066800"/>
            <a:ext cx="6229350" cy="5318126"/>
          </a:xfrm>
          <a:prstGeom prst="rect">
            <a:avLst/>
          </a:prstGeom>
        </p:spPr>
      </p:pic>
    </p:spTree>
    <p:extLst>
      <p:ext uri="{BB962C8B-B14F-4D97-AF65-F5344CB8AC3E}">
        <p14:creationId xmlns:p14="http://schemas.microsoft.com/office/powerpoint/2010/main" val="20018464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381000" y="381000"/>
            <a:ext cx="8534400" cy="396874"/>
          </a:xfrm>
        </p:spPr>
        <p:txBody>
          <a:bodyPr>
            <a:noAutofit/>
          </a:bodyPr>
          <a:lstStyle/>
          <a:p>
            <a:r>
              <a:rPr lang="en-US" sz="3200" b="1" dirty="0">
                <a:latin typeface="Arial Black" panose="020B0A04020102020204" pitchFamily="34" charset="0"/>
              </a:rPr>
              <a:t>Class Diagrams </a:t>
            </a:r>
            <a:r>
              <a:rPr lang="en-US" sz="1800" b="1" dirty="0">
                <a:latin typeface="Arial Black" panose="020B0A04020102020204" pitchFamily="34" charset="0"/>
              </a:rPr>
              <a:t>an example of abstract class in java</a:t>
            </a:r>
          </a:p>
        </p:txBody>
      </p:sp>
      <p:pic>
        <p:nvPicPr>
          <p:cNvPr id="3" name="Picture 2"/>
          <p:cNvPicPr>
            <a:picLocks noChangeAspect="1"/>
          </p:cNvPicPr>
          <p:nvPr/>
        </p:nvPicPr>
        <p:blipFill>
          <a:blip r:embed="rId2"/>
          <a:stretch>
            <a:fillRect/>
          </a:stretch>
        </p:blipFill>
        <p:spPr>
          <a:xfrm>
            <a:off x="685800" y="990600"/>
            <a:ext cx="7924800" cy="5686944"/>
          </a:xfrm>
          <a:prstGeom prst="rect">
            <a:avLst/>
          </a:prstGeom>
        </p:spPr>
      </p:pic>
    </p:spTree>
    <p:extLst>
      <p:ext uri="{BB962C8B-B14F-4D97-AF65-F5344CB8AC3E}">
        <p14:creationId xmlns:p14="http://schemas.microsoft.com/office/powerpoint/2010/main" val="17996318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Adding details to class diagram</a:t>
            </a:r>
          </a:p>
        </p:txBody>
      </p:sp>
      <p:sp>
        <p:nvSpPr>
          <p:cNvPr id="5" name="Content Placeholder 4">
            <a:extLst>
              <a:ext uri="{FF2B5EF4-FFF2-40B4-BE49-F238E27FC236}">
                <a16:creationId xmlns:a16="http://schemas.microsoft.com/office/drawing/2014/main" id="{665304F3-1141-4F81-9649-13122484C22A}"/>
              </a:ext>
            </a:extLst>
          </p:cNvPr>
          <p:cNvSpPr>
            <a:spLocks noGrp="1"/>
          </p:cNvSpPr>
          <p:nvPr>
            <p:ph idx="1"/>
          </p:nvPr>
        </p:nvSpPr>
        <p:spPr>
          <a:xfrm>
            <a:off x="457200" y="1066801"/>
            <a:ext cx="8305800" cy="5105400"/>
          </a:xfrm>
        </p:spPr>
        <p:txBody>
          <a:bodyPr>
            <a:normAutofit/>
          </a:bodyPr>
          <a:lstStyle/>
          <a:p>
            <a:pPr algn="just">
              <a:lnSpc>
                <a:spcPct val="110000"/>
              </a:lnSpc>
              <a:spcBef>
                <a:spcPts val="600"/>
              </a:spcBef>
              <a:spcAft>
                <a:spcPts val="600"/>
              </a:spcAft>
            </a:pPr>
            <a:r>
              <a:rPr lang="en-US" sz="2800" dirty="0"/>
              <a:t>attributes (fields, instance variables)</a:t>
            </a:r>
          </a:p>
          <a:p>
            <a:pPr algn="just">
              <a:lnSpc>
                <a:spcPct val="110000"/>
              </a:lnSpc>
              <a:spcBef>
                <a:spcPts val="600"/>
              </a:spcBef>
              <a:spcAft>
                <a:spcPts val="600"/>
              </a:spcAft>
            </a:pPr>
            <a:r>
              <a:rPr lang="en-US" sz="2800" dirty="0"/>
              <a:t>visibility: </a:t>
            </a:r>
          </a:p>
          <a:p>
            <a:pPr lvl="1" algn="just">
              <a:lnSpc>
                <a:spcPct val="110000"/>
              </a:lnSpc>
              <a:spcBef>
                <a:spcPts val="600"/>
              </a:spcBef>
              <a:spcAft>
                <a:spcPts val="600"/>
              </a:spcAft>
            </a:pPr>
            <a:r>
              <a:rPr lang="en-US" sz="2500" dirty="0"/>
              <a:t>+ public, # protected, - private,~ package (default), / derived</a:t>
            </a:r>
          </a:p>
          <a:p>
            <a:pPr algn="just">
              <a:lnSpc>
                <a:spcPct val="110000"/>
              </a:lnSpc>
              <a:spcBef>
                <a:spcPts val="600"/>
              </a:spcBef>
              <a:spcAft>
                <a:spcPts val="600"/>
              </a:spcAft>
            </a:pPr>
            <a:endParaRPr lang="en-US" sz="2800" dirty="0"/>
          </a:p>
        </p:txBody>
      </p:sp>
      <p:pic>
        <p:nvPicPr>
          <p:cNvPr id="6" name="Picture 5">
            <a:extLst>
              <a:ext uri="{FF2B5EF4-FFF2-40B4-BE49-F238E27FC236}">
                <a16:creationId xmlns:a16="http://schemas.microsoft.com/office/drawing/2014/main" id="{631ABA87-09CF-40EF-92D3-265C0616F9A8}"/>
              </a:ext>
            </a:extLst>
          </p:cNvPr>
          <p:cNvPicPr>
            <a:picLocks noChangeAspect="1"/>
          </p:cNvPicPr>
          <p:nvPr/>
        </p:nvPicPr>
        <p:blipFill>
          <a:blip r:embed="rId2"/>
          <a:stretch>
            <a:fillRect/>
          </a:stretch>
        </p:blipFill>
        <p:spPr>
          <a:xfrm>
            <a:off x="6400800" y="3338844"/>
            <a:ext cx="2438400" cy="3043424"/>
          </a:xfrm>
          <a:prstGeom prst="rect">
            <a:avLst/>
          </a:prstGeom>
        </p:spPr>
      </p:pic>
      <p:pic>
        <p:nvPicPr>
          <p:cNvPr id="9" name="Picture 8">
            <a:extLst>
              <a:ext uri="{FF2B5EF4-FFF2-40B4-BE49-F238E27FC236}">
                <a16:creationId xmlns:a16="http://schemas.microsoft.com/office/drawing/2014/main" id="{C5DB3A3B-ADC8-4DBB-B787-11868A210B6C}"/>
              </a:ext>
            </a:extLst>
          </p:cNvPr>
          <p:cNvPicPr>
            <a:picLocks noChangeAspect="1"/>
          </p:cNvPicPr>
          <p:nvPr/>
        </p:nvPicPr>
        <p:blipFill>
          <a:blip r:embed="rId3"/>
          <a:stretch>
            <a:fillRect/>
          </a:stretch>
        </p:blipFill>
        <p:spPr>
          <a:xfrm>
            <a:off x="990600" y="3886200"/>
            <a:ext cx="2952750" cy="1676400"/>
          </a:xfrm>
          <a:prstGeom prst="rect">
            <a:avLst/>
          </a:prstGeom>
        </p:spPr>
      </p:pic>
      <p:pic>
        <p:nvPicPr>
          <p:cNvPr id="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6476" y="3366756"/>
            <a:ext cx="2314324" cy="3015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00307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Relationships between classes</a:t>
            </a:r>
          </a:p>
        </p:txBody>
      </p:sp>
      <p:sp>
        <p:nvSpPr>
          <p:cNvPr id="5" name="Content Placeholder 4">
            <a:extLst>
              <a:ext uri="{FF2B5EF4-FFF2-40B4-BE49-F238E27FC236}">
                <a16:creationId xmlns:a16="http://schemas.microsoft.com/office/drawing/2014/main" id="{665304F3-1141-4F81-9649-13122484C22A}"/>
              </a:ext>
            </a:extLst>
          </p:cNvPr>
          <p:cNvSpPr>
            <a:spLocks noGrp="1"/>
          </p:cNvSpPr>
          <p:nvPr>
            <p:ph idx="1"/>
          </p:nvPr>
        </p:nvSpPr>
        <p:spPr>
          <a:xfrm>
            <a:off x="457200" y="1066801"/>
            <a:ext cx="8305800" cy="5105400"/>
          </a:xfrm>
        </p:spPr>
        <p:txBody>
          <a:bodyPr>
            <a:normAutofit/>
          </a:bodyPr>
          <a:lstStyle/>
          <a:p>
            <a:pPr algn="just">
              <a:lnSpc>
                <a:spcPct val="110000"/>
              </a:lnSpc>
              <a:spcBef>
                <a:spcPts val="600"/>
              </a:spcBef>
              <a:spcAft>
                <a:spcPts val="600"/>
              </a:spcAft>
            </a:pPr>
            <a:r>
              <a:rPr lang="en-US" sz="2800" b="1" dirty="0">
                <a:solidFill>
                  <a:srgbClr val="002060"/>
                </a:solidFill>
              </a:rPr>
              <a:t>Generalization: </a:t>
            </a:r>
            <a:r>
              <a:rPr lang="en-US" sz="2800" dirty="0"/>
              <a:t>an inheritance relationship </a:t>
            </a:r>
          </a:p>
          <a:p>
            <a:pPr lvl="1" algn="just">
              <a:lnSpc>
                <a:spcPct val="110000"/>
              </a:lnSpc>
              <a:spcBef>
                <a:spcPts val="600"/>
              </a:spcBef>
              <a:spcAft>
                <a:spcPts val="600"/>
              </a:spcAft>
            </a:pPr>
            <a:r>
              <a:rPr lang="en-US" sz="2500" dirty="0"/>
              <a:t>inheritance between classes </a:t>
            </a:r>
          </a:p>
          <a:p>
            <a:pPr lvl="1" algn="just">
              <a:lnSpc>
                <a:spcPct val="110000"/>
              </a:lnSpc>
              <a:spcBef>
                <a:spcPts val="600"/>
              </a:spcBef>
              <a:spcAft>
                <a:spcPts val="600"/>
              </a:spcAft>
            </a:pPr>
            <a:r>
              <a:rPr lang="en-US" sz="2500" dirty="0"/>
              <a:t>interface implementation</a:t>
            </a:r>
          </a:p>
          <a:p>
            <a:pPr algn="just">
              <a:lnSpc>
                <a:spcPct val="110000"/>
              </a:lnSpc>
              <a:spcBef>
                <a:spcPts val="600"/>
              </a:spcBef>
              <a:spcAft>
                <a:spcPts val="600"/>
              </a:spcAft>
            </a:pPr>
            <a:r>
              <a:rPr lang="en-US" sz="2800" b="1" dirty="0">
                <a:solidFill>
                  <a:srgbClr val="00B050"/>
                </a:solidFill>
              </a:rPr>
              <a:t>Association: </a:t>
            </a:r>
            <a:r>
              <a:rPr lang="en-US" sz="2800" dirty="0"/>
              <a:t>a usage relationship</a:t>
            </a:r>
          </a:p>
          <a:p>
            <a:pPr lvl="1" algn="just">
              <a:lnSpc>
                <a:spcPct val="110000"/>
              </a:lnSpc>
              <a:spcBef>
                <a:spcPts val="600"/>
              </a:spcBef>
              <a:spcAft>
                <a:spcPts val="600"/>
              </a:spcAft>
            </a:pPr>
            <a:r>
              <a:rPr lang="en-US" sz="2500" dirty="0"/>
              <a:t>dependency </a:t>
            </a:r>
          </a:p>
          <a:p>
            <a:pPr lvl="1" algn="just">
              <a:lnSpc>
                <a:spcPct val="110000"/>
              </a:lnSpc>
              <a:spcBef>
                <a:spcPts val="600"/>
              </a:spcBef>
              <a:spcAft>
                <a:spcPts val="600"/>
              </a:spcAft>
            </a:pPr>
            <a:r>
              <a:rPr lang="en-US" sz="2500" dirty="0"/>
              <a:t>aggregation </a:t>
            </a:r>
          </a:p>
          <a:p>
            <a:pPr lvl="1" algn="just">
              <a:lnSpc>
                <a:spcPct val="110000"/>
              </a:lnSpc>
              <a:spcBef>
                <a:spcPts val="600"/>
              </a:spcBef>
              <a:spcAft>
                <a:spcPts val="600"/>
              </a:spcAft>
            </a:pPr>
            <a:r>
              <a:rPr lang="en-US" sz="2500" dirty="0"/>
              <a:t>composition</a:t>
            </a:r>
          </a:p>
          <a:p>
            <a:pPr algn="just">
              <a:lnSpc>
                <a:spcPct val="110000"/>
              </a:lnSpc>
              <a:spcBef>
                <a:spcPts val="600"/>
              </a:spcBef>
              <a:spcAft>
                <a:spcPts val="600"/>
              </a:spcAft>
            </a:pPr>
            <a:endParaRPr lang="en-US" sz="2800" dirty="0"/>
          </a:p>
          <a:p>
            <a:pPr algn="just">
              <a:lnSpc>
                <a:spcPct val="110000"/>
              </a:lnSpc>
              <a:spcBef>
                <a:spcPts val="600"/>
              </a:spcBef>
              <a:spcAft>
                <a:spcPts val="600"/>
              </a:spcAft>
            </a:pPr>
            <a:endParaRPr lang="en-US" sz="2800" dirty="0"/>
          </a:p>
          <a:p>
            <a:pPr algn="just">
              <a:lnSpc>
                <a:spcPct val="110000"/>
              </a:lnSpc>
              <a:spcBef>
                <a:spcPts val="600"/>
              </a:spcBef>
              <a:spcAft>
                <a:spcPts val="600"/>
              </a:spcAft>
            </a:pPr>
            <a:endParaRPr lang="en-US" sz="2800" dirty="0"/>
          </a:p>
          <a:p>
            <a:pPr marL="0" indent="0" algn="just">
              <a:lnSpc>
                <a:spcPct val="110000"/>
              </a:lnSpc>
              <a:spcBef>
                <a:spcPts val="600"/>
              </a:spcBef>
              <a:spcAft>
                <a:spcPts val="600"/>
              </a:spcAft>
              <a:buNone/>
            </a:pPr>
            <a:endParaRPr lang="en-US" sz="2800" dirty="0"/>
          </a:p>
        </p:txBody>
      </p:sp>
    </p:spTree>
    <p:extLst>
      <p:ext uri="{BB962C8B-B14F-4D97-AF65-F5344CB8AC3E}">
        <p14:creationId xmlns:p14="http://schemas.microsoft.com/office/powerpoint/2010/main" val="9488086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5927A02-B2FF-424D-B79A-E59D2C5E0E9A}"/>
              </a:ext>
            </a:extLst>
          </p:cNvPr>
          <p:cNvPicPr>
            <a:picLocks noChangeAspect="1"/>
          </p:cNvPicPr>
          <p:nvPr/>
        </p:nvPicPr>
        <p:blipFill>
          <a:blip r:embed="rId2"/>
          <a:stretch>
            <a:fillRect/>
          </a:stretch>
        </p:blipFill>
        <p:spPr>
          <a:xfrm>
            <a:off x="2286000" y="2895600"/>
            <a:ext cx="6649034" cy="3657600"/>
          </a:xfrm>
          <a:prstGeom prst="rect">
            <a:avLst/>
          </a:prstGeom>
        </p:spPr>
      </p:pic>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Generalization (inheritance) relationships</a:t>
            </a:r>
          </a:p>
        </p:txBody>
      </p:sp>
      <p:sp>
        <p:nvSpPr>
          <p:cNvPr id="5" name="Content Placeholder 4">
            <a:extLst>
              <a:ext uri="{FF2B5EF4-FFF2-40B4-BE49-F238E27FC236}">
                <a16:creationId xmlns:a16="http://schemas.microsoft.com/office/drawing/2014/main" id="{665304F3-1141-4F81-9649-13122484C22A}"/>
              </a:ext>
            </a:extLst>
          </p:cNvPr>
          <p:cNvSpPr>
            <a:spLocks noGrp="1"/>
          </p:cNvSpPr>
          <p:nvPr>
            <p:ph idx="1"/>
          </p:nvPr>
        </p:nvSpPr>
        <p:spPr>
          <a:xfrm>
            <a:off x="457200" y="1066801"/>
            <a:ext cx="8305800" cy="5105400"/>
          </a:xfrm>
        </p:spPr>
        <p:txBody>
          <a:bodyPr>
            <a:normAutofit/>
          </a:bodyPr>
          <a:lstStyle/>
          <a:p>
            <a:pPr algn="just">
              <a:lnSpc>
                <a:spcPct val="110000"/>
              </a:lnSpc>
              <a:spcBef>
                <a:spcPts val="600"/>
              </a:spcBef>
              <a:spcAft>
                <a:spcPts val="600"/>
              </a:spcAft>
            </a:pPr>
            <a:r>
              <a:rPr lang="en-US" sz="2800" dirty="0"/>
              <a:t>Hierarchies drawn top-down</a:t>
            </a:r>
          </a:p>
          <a:p>
            <a:pPr algn="just">
              <a:lnSpc>
                <a:spcPct val="110000"/>
              </a:lnSpc>
              <a:spcBef>
                <a:spcPts val="600"/>
              </a:spcBef>
              <a:spcAft>
                <a:spcPts val="600"/>
              </a:spcAft>
            </a:pPr>
            <a:r>
              <a:rPr lang="en-US" sz="2800" dirty="0"/>
              <a:t>arrows point upward to parent</a:t>
            </a:r>
          </a:p>
          <a:p>
            <a:pPr algn="just">
              <a:lnSpc>
                <a:spcPct val="110000"/>
              </a:lnSpc>
              <a:spcBef>
                <a:spcPts val="600"/>
              </a:spcBef>
              <a:spcAft>
                <a:spcPts val="600"/>
              </a:spcAft>
            </a:pPr>
            <a:r>
              <a:rPr lang="en-US" sz="2800" dirty="0"/>
              <a:t>line/arrow styles indicate whether parent is a(n):</a:t>
            </a:r>
          </a:p>
          <a:p>
            <a:pPr lvl="1" algn="just">
              <a:lnSpc>
                <a:spcPct val="110000"/>
              </a:lnSpc>
              <a:spcBef>
                <a:spcPts val="600"/>
              </a:spcBef>
              <a:spcAft>
                <a:spcPts val="600"/>
              </a:spcAft>
            </a:pPr>
            <a:r>
              <a:rPr lang="en-US" sz="2500" dirty="0"/>
              <a:t>class: solid line, black arrow</a:t>
            </a:r>
          </a:p>
          <a:p>
            <a:pPr algn="just">
              <a:lnSpc>
                <a:spcPct val="110000"/>
              </a:lnSpc>
              <a:spcBef>
                <a:spcPts val="600"/>
              </a:spcBef>
              <a:spcAft>
                <a:spcPts val="600"/>
              </a:spcAft>
            </a:pPr>
            <a:endParaRPr lang="en-US" sz="2800" dirty="0"/>
          </a:p>
          <a:p>
            <a:pPr algn="just">
              <a:lnSpc>
                <a:spcPct val="110000"/>
              </a:lnSpc>
              <a:spcBef>
                <a:spcPts val="600"/>
              </a:spcBef>
              <a:spcAft>
                <a:spcPts val="600"/>
              </a:spcAft>
            </a:pPr>
            <a:endParaRPr lang="en-US" sz="2800" dirty="0"/>
          </a:p>
          <a:p>
            <a:pPr algn="just">
              <a:lnSpc>
                <a:spcPct val="110000"/>
              </a:lnSpc>
              <a:spcBef>
                <a:spcPts val="600"/>
              </a:spcBef>
              <a:spcAft>
                <a:spcPts val="600"/>
              </a:spcAft>
            </a:pPr>
            <a:endParaRPr lang="en-US" sz="2800" dirty="0"/>
          </a:p>
          <a:p>
            <a:pPr marL="0" indent="0" algn="just">
              <a:lnSpc>
                <a:spcPct val="110000"/>
              </a:lnSpc>
              <a:spcBef>
                <a:spcPts val="600"/>
              </a:spcBef>
              <a:spcAft>
                <a:spcPts val="600"/>
              </a:spcAft>
              <a:buNone/>
            </a:pPr>
            <a:endParaRPr lang="en-US" sz="2800" dirty="0"/>
          </a:p>
        </p:txBody>
      </p:sp>
    </p:spTree>
    <p:extLst>
      <p:ext uri="{BB962C8B-B14F-4D97-AF65-F5344CB8AC3E}">
        <p14:creationId xmlns:p14="http://schemas.microsoft.com/office/powerpoint/2010/main" val="21220757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F1C8C3-C69B-4FFF-B298-F7D425C726A4}"/>
              </a:ext>
            </a:extLst>
          </p:cNvPr>
          <p:cNvPicPr>
            <a:picLocks noChangeAspect="1"/>
          </p:cNvPicPr>
          <p:nvPr/>
        </p:nvPicPr>
        <p:blipFill>
          <a:blip r:embed="rId2"/>
          <a:stretch>
            <a:fillRect/>
          </a:stretch>
        </p:blipFill>
        <p:spPr>
          <a:xfrm>
            <a:off x="1447800" y="1417638"/>
            <a:ext cx="6019800" cy="5226359"/>
          </a:xfrm>
          <a:prstGeom prst="rect">
            <a:avLst/>
          </a:prstGeom>
        </p:spPr>
      </p:pic>
      <p:sp>
        <p:nvSpPr>
          <p:cNvPr id="4" name="Title 3">
            <a:extLst>
              <a:ext uri="{FF2B5EF4-FFF2-40B4-BE49-F238E27FC236}">
                <a16:creationId xmlns:a16="http://schemas.microsoft.com/office/drawing/2014/main" id="{B19D193D-0041-42EE-B51B-4AFC0C6DD2EF}"/>
              </a:ext>
            </a:extLst>
          </p:cNvPr>
          <p:cNvSpPr txBox="1">
            <a:spLocks/>
          </p:cNvSpPr>
          <p:nvPr/>
        </p:nvSpPr>
        <p:spPr>
          <a:xfrm>
            <a:off x="609600" y="381000"/>
            <a:ext cx="7886700" cy="396874"/>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b="1" dirty="0">
                <a:latin typeface="Arial Black" panose="020B0A04020102020204" pitchFamily="34" charset="0"/>
              </a:rPr>
              <a:t>Generalization (inheritance) relationships</a:t>
            </a:r>
          </a:p>
        </p:txBody>
      </p:sp>
    </p:spTree>
    <p:extLst>
      <p:ext uri="{BB962C8B-B14F-4D97-AF65-F5344CB8AC3E}">
        <p14:creationId xmlns:p14="http://schemas.microsoft.com/office/powerpoint/2010/main" val="31491234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EC3766A-3B7F-4652-88FD-F6F9E2B31D65}"/>
              </a:ext>
            </a:extLst>
          </p:cNvPr>
          <p:cNvPicPr>
            <a:picLocks noChangeAspect="1"/>
          </p:cNvPicPr>
          <p:nvPr/>
        </p:nvPicPr>
        <p:blipFill>
          <a:blip r:embed="rId2"/>
          <a:stretch>
            <a:fillRect/>
          </a:stretch>
        </p:blipFill>
        <p:spPr>
          <a:xfrm>
            <a:off x="1143000" y="4362449"/>
            <a:ext cx="7353300" cy="2286002"/>
          </a:xfrm>
          <a:prstGeom prst="rect">
            <a:avLst/>
          </a:prstGeom>
        </p:spPr>
      </p:pic>
      <p:grpSp>
        <p:nvGrpSpPr>
          <p:cNvPr id="6" name="Group 5">
            <a:extLst>
              <a:ext uri="{FF2B5EF4-FFF2-40B4-BE49-F238E27FC236}">
                <a16:creationId xmlns:a16="http://schemas.microsoft.com/office/drawing/2014/main" id="{FBB1ED02-B300-4F88-83D4-409F1B456306}"/>
              </a:ext>
            </a:extLst>
          </p:cNvPr>
          <p:cNvGrpSpPr/>
          <p:nvPr/>
        </p:nvGrpSpPr>
        <p:grpSpPr>
          <a:xfrm>
            <a:off x="3771900" y="1904999"/>
            <a:ext cx="4752976" cy="1981199"/>
            <a:chOff x="2743200" y="3413737"/>
            <a:chExt cx="4752976" cy="1409700"/>
          </a:xfrm>
        </p:grpSpPr>
        <p:pic>
          <p:nvPicPr>
            <p:cNvPr id="7" name="Picture 6">
              <a:extLst>
                <a:ext uri="{FF2B5EF4-FFF2-40B4-BE49-F238E27FC236}">
                  <a16:creationId xmlns:a16="http://schemas.microsoft.com/office/drawing/2014/main" id="{44516A6D-333B-4242-8469-49C641FEB417}"/>
                </a:ext>
              </a:extLst>
            </p:cNvPr>
            <p:cNvPicPr>
              <a:picLocks noChangeAspect="1"/>
            </p:cNvPicPr>
            <p:nvPr/>
          </p:nvPicPr>
          <p:blipFill>
            <a:blip r:embed="rId3"/>
            <a:stretch>
              <a:fillRect/>
            </a:stretch>
          </p:blipFill>
          <p:spPr>
            <a:xfrm>
              <a:off x="2743200" y="3413737"/>
              <a:ext cx="4752976" cy="1409700"/>
            </a:xfrm>
            <a:prstGeom prst="rect">
              <a:avLst/>
            </a:prstGeom>
          </p:spPr>
        </p:pic>
        <p:sp>
          <p:nvSpPr>
            <p:cNvPr id="8" name="Rectangle 7">
              <a:extLst>
                <a:ext uri="{FF2B5EF4-FFF2-40B4-BE49-F238E27FC236}">
                  <a16:creationId xmlns:a16="http://schemas.microsoft.com/office/drawing/2014/main" id="{A0B16BE9-AE12-429F-BF8F-AB96A848E04C}"/>
                </a:ext>
              </a:extLst>
            </p:cNvPr>
            <p:cNvSpPr/>
            <p:nvPr/>
          </p:nvSpPr>
          <p:spPr>
            <a:xfrm>
              <a:off x="2743200" y="3413737"/>
              <a:ext cx="259080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Multiplicity of associations</a:t>
            </a:r>
          </a:p>
        </p:txBody>
      </p:sp>
      <p:sp>
        <p:nvSpPr>
          <p:cNvPr id="5" name="Content Placeholder 4">
            <a:extLst>
              <a:ext uri="{FF2B5EF4-FFF2-40B4-BE49-F238E27FC236}">
                <a16:creationId xmlns:a16="http://schemas.microsoft.com/office/drawing/2014/main" id="{665304F3-1141-4F81-9649-13122484C22A}"/>
              </a:ext>
            </a:extLst>
          </p:cNvPr>
          <p:cNvSpPr>
            <a:spLocks noGrp="1"/>
          </p:cNvSpPr>
          <p:nvPr>
            <p:ph idx="1"/>
          </p:nvPr>
        </p:nvSpPr>
        <p:spPr>
          <a:xfrm>
            <a:off x="457200" y="1066801"/>
            <a:ext cx="8305800" cy="5105400"/>
          </a:xfrm>
        </p:spPr>
        <p:txBody>
          <a:bodyPr>
            <a:normAutofit/>
          </a:bodyPr>
          <a:lstStyle/>
          <a:p>
            <a:pPr algn="just">
              <a:lnSpc>
                <a:spcPct val="110000"/>
              </a:lnSpc>
              <a:spcBef>
                <a:spcPts val="600"/>
              </a:spcBef>
              <a:spcAft>
                <a:spcPts val="600"/>
              </a:spcAft>
            </a:pPr>
            <a:r>
              <a:rPr lang="en-US" sz="2800" dirty="0"/>
              <a:t>one-to-one</a:t>
            </a:r>
          </a:p>
          <a:p>
            <a:pPr lvl="1" algn="just">
              <a:lnSpc>
                <a:spcPct val="110000"/>
              </a:lnSpc>
              <a:spcBef>
                <a:spcPts val="600"/>
              </a:spcBef>
              <a:spcAft>
                <a:spcPts val="600"/>
              </a:spcAft>
            </a:pPr>
            <a:r>
              <a:rPr lang="en-US" sz="2500" dirty="0"/>
              <a:t>each student must carry exactly one ID card</a:t>
            </a:r>
          </a:p>
          <a:p>
            <a:pPr lvl="1" algn="just">
              <a:lnSpc>
                <a:spcPct val="110000"/>
              </a:lnSpc>
              <a:spcBef>
                <a:spcPts val="600"/>
              </a:spcBef>
              <a:spcAft>
                <a:spcPts val="600"/>
              </a:spcAft>
            </a:pPr>
            <a:endParaRPr lang="en-US" sz="2500" dirty="0"/>
          </a:p>
          <a:p>
            <a:pPr lvl="1" algn="just">
              <a:lnSpc>
                <a:spcPct val="110000"/>
              </a:lnSpc>
              <a:spcBef>
                <a:spcPts val="600"/>
              </a:spcBef>
              <a:spcAft>
                <a:spcPts val="600"/>
              </a:spcAft>
            </a:pPr>
            <a:endParaRPr lang="en-US" sz="2500" dirty="0"/>
          </a:p>
          <a:p>
            <a:pPr algn="just">
              <a:lnSpc>
                <a:spcPct val="110000"/>
              </a:lnSpc>
              <a:spcBef>
                <a:spcPts val="600"/>
              </a:spcBef>
              <a:spcAft>
                <a:spcPts val="600"/>
              </a:spcAft>
            </a:pPr>
            <a:r>
              <a:rPr lang="en-US" sz="2800" dirty="0"/>
              <a:t>one-to-many</a:t>
            </a:r>
          </a:p>
          <a:p>
            <a:pPr lvl="1" algn="just">
              <a:lnSpc>
                <a:spcPct val="110000"/>
              </a:lnSpc>
              <a:spcBef>
                <a:spcPts val="600"/>
              </a:spcBef>
              <a:spcAft>
                <a:spcPts val="600"/>
              </a:spcAft>
            </a:pPr>
            <a:r>
              <a:rPr lang="en-US" sz="2500" dirty="0"/>
              <a:t>one rectangle list can contain many rectangles</a:t>
            </a:r>
          </a:p>
          <a:p>
            <a:pPr algn="just">
              <a:lnSpc>
                <a:spcPct val="110000"/>
              </a:lnSpc>
              <a:spcBef>
                <a:spcPts val="600"/>
              </a:spcBef>
              <a:spcAft>
                <a:spcPts val="600"/>
              </a:spcAft>
            </a:pPr>
            <a:endParaRPr lang="en-US" sz="2800" dirty="0"/>
          </a:p>
          <a:p>
            <a:pPr algn="just">
              <a:lnSpc>
                <a:spcPct val="110000"/>
              </a:lnSpc>
              <a:spcBef>
                <a:spcPts val="600"/>
              </a:spcBef>
              <a:spcAft>
                <a:spcPts val="600"/>
              </a:spcAft>
            </a:pPr>
            <a:endParaRPr lang="en-US" sz="2800" dirty="0"/>
          </a:p>
          <a:p>
            <a:pPr algn="just">
              <a:lnSpc>
                <a:spcPct val="110000"/>
              </a:lnSpc>
              <a:spcBef>
                <a:spcPts val="600"/>
              </a:spcBef>
              <a:spcAft>
                <a:spcPts val="600"/>
              </a:spcAft>
            </a:pPr>
            <a:endParaRPr lang="en-US" sz="2800" dirty="0"/>
          </a:p>
          <a:p>
            <a:pPr marL="0" indent="0" algn="just">
              <a:lnSpc>
                <a:spcPct val="110000"/>
              </a:lnSpc>
              <a:spcBef>
                <a:spcPts val="600"/>
              </a:spcBef>
              <a:spcAft>
                <a:spcPts val="600"/>
              </a:spcAft>
              <a:buNone/>
            </a:pPr>
            <a:endParaRPr lang="en-US" sz="2800" dirty="0"/>
          </a:p>
        </p:txBody>
      </p:sp>
    </p:spTree>
    <p:extLst>
      <p:ext uri="{BB962C8B-B14F-4D97-AF65-F5344CB8AC3E}">
        <p14:creationId xmlns:p14="http://schemas.microsoft.com/office/powerpoint/2010/main" val="23472044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6CE68E-3229-4ED1-B26E-8CA6971933C9}"/>
              </a:ext>
            </a:extLst>
          </p:cNvPr>
          <p:cNvSpPr>
            <a:spLocks noGrp="1"/>
          </p:cNvSpPr>
          <p:nvPr>
            <p:ph idx="1"/>
          </p:nvPr>
        </p:nvSpPr>
        <p:spPr>
          <a:xfrm>
            <a:off x="304800" y="1291613"/>
            <a:ext cx="5715000" cy="5032987"/>
          </a:xfrm>
        </p:spPr>
        <p:txBody>
          <a:bodyPr>
            <a:normAutofit/>
          </a:bodyPr>
          <a:lstStyle/>
          <a:p>
            <a:pPr>
              <a:spcBef>
                <a:spcPts val="600"/>
              </a:spcBef>
              <a:spcAft>
                <a:spcPts val="600"/>
              </a:spcAft>
            </a:pPr>
            <a:r>
              <a:rPr lang="en-US" sz="2800" dirty="0">
                <a:solidFill>
                  <a:srgbClr val="00B050"/>
                </a:solidFill>
              </a:rPr>
              <a:t>Aggregation: “is part of”</a:t>
            </a:r>
          </a:p>
          <a:p>
            <a:pPr lvl="1">
              <a:spcBef>
                <a:spcPts val="600"/>
              </a:spcBef>
              <a:spcAft>
                <a:spcPts val="600"/>
              </a:spcAft>
            </a:pPr>
            <a:r>
              <a:rPr lang="en-US" sz="2400" dirty="0">
                <a:solidFill>
                  <a:srgbClr val="7030A0"/>
                </a:solidFill>
              </a:rPr>
              <a:t>symbolized by a clear white diamond</a:t>
            </a:r>
          </a:p>
          <a:p>
            <a:pPr>
              <a:spcBef>
                <a:spcPts val="600"/>
              </a:spcBef>
              <a:spcAft>
                <a:spcPts val="600"/>
              </a:spcAft>
            </a:pPr>
            <a:r>
              <a:rPr lang="en-US" sz="2800" dirty="0">
                <a:solidFill>
                  <a:srgbClr val="7030A0"/>
                </a:solidFill>
              </a:rPr>
              <a:t>Composition: “is entirely made of”</a:t>
            </a:r>
          </a:p>
          <a:p>
            <a:pPr lvl="1">
              <a:spcBef>
                <a:spcPts val="600"/>
              </a:spcBef>
              <a:spcAft>
                <a:spcPts val="600"/>
              </a:spcAft>
            </a:pPr>
            <a:r>
              <a:rPr lang="en-US" sz="2400" dirty="0">
                <a:solidFill>
                  <a:srgbClr val="7030A0"/>
                </a:solidFill>
              </a:rPr>
              <a:t>stronger version of aggregation</a:t>
            </a:r>
          </a:p>
          <a:p>
            <a:pPr lvl="1">
              <a:spcBef>
                <a:spcPts val="600"/>
              </a:spcBef>
              <a:spcAft>
                <a:spcPts val="600"/>
              </a:spcAft>
            </a:pPr>
            <a:r>
              <a:rPr lang="en-US" sz="2400" dirty="0">
                <a:solidFill>
                  <a:srgbClr val="7030A0"/>
                </a:solidFill>
              </a:rPr>
              <a:t>the parts live and die with the whole</a:t>
            </a:r>
          </a:p>
          <a:p>
            <a:pPr lvl="1">
              <a:spcBef>
                <a:spcPts val="600"/>
              </a:spcBef>
              <a:spcAft>
                <a:spcPts val="600"/>
              </a:spcAft>
            </a:pPr>
            <a:r>
              <a:rPr lang="en-US" sz="2400" dirty="0">
                <a:solidFill>
                  <a:srgbClr val="7030A0"/>
                </a:solidFill>
              </a:rPr>
              <a:t>symbolized by a black diamond</a:t>
            </a:r>
          </a:p>
          <a:p>
            <a:pPr>
              <a:spcBef>
                <a:spcPts val="600"/>
              </a:spcBef>
              <a:spcAft>
                <a:spcPts val="600"/>
              </a:spcAft>
            </a:pPr>
            <a:r>
              <a:rPr lang="en-US" sz="2800" dirty="0">
                <a:solidFill>
                  <a:srgbClr val="FFC000"/>
                </a:solidFill>
              </a:rPr>
              <a:t>Dependency: “uses temporarily”</a:t>
            </a:r>
          </a:p>
          <a:p>
            <a:pPr lvl="1">
              <a:spcBef>
                <a:spcPts val="600"/>
              </a:spcBef>
              <a:spcAft>
                <a:spcPts val="600"/>
              </a:spcAft>
            </a:pPr>
            <a:r>
              <a:rPr lang="en-US" sz="2400" dirty="0">
                <a:solidFill>
                  <a:srgbClr val="FFC000"/>
                </a:solidFill>
              </a:rPr>
              <a:t>symbolized by dotted line</a:t>
            </a:r>
          </a:p>
          <a:p>
            <a:pPr lvl="1">
              <a:spcBef>
                <a:spcPts val="600"/>
              </a:spcBef>
              <a:spcAft>
                <a:spcPts val="600"/>
              </a:spcAft>
            </a:pPr>
            <a:r>
              <a:rPr lang="en-US" sz="2400" dirty="0">
                <a:solidFill>
                  <a:srgbClr val="FFC000"/>
                </a:solidFill>
              </a:rPr>
              <a:t>often is an implementation detail, not an intrinsic part of that object's state</a:t>
            </a:r>
          </a:p>
        </p:txBody>
      </p:sp>
      <p:pic>
        <p:nvPicPr>
          <p:cNvPr id="4" name="Picture 3">
            <a:extLst>
              <a:ext uri="{FF2B5EF4-FFF2-40B4-BE49-F238E27FC236}">
                <a16:creationId xmlns:a16="http://schemas.microsoft.com/office/drawing/2014/main" id="{F55833ED-8645-4772-9354-10E5EA7DE8FA}"/>
              </a:ext>
            </a:extLst>
          </p:cNvPr>
          <p:cNvPicPr>
            <a:picLocks noChangeAspect="1"/>
          </p:cNvPicPr>
          <p:nvPr/>
        </p:nvPicPr>
        <p:blipFill>
          <a:blip r:embed="rId2"/>
          <a:stretch>
            <a:fillRect/>
          </a:stretch>
        </p:blipFill>
        <p:spPr>
          <a:xfrm>
            <a:off x="6172200" y="454217"/>
            <a:ext cx="2286000" cy="2219602"/>
          </a:xfrm>
          <a:prstGeom prst="rect">
            <a:avLst/>
          </a:prstGeom>
        </p:spPr>
      </p:pic>
      <p:pic>
        <p:nvPicPr>
          <p:cNvPr id="5" name="Picture 4">
            <a:extLst>
              <a:ext uri="{FF2B5EF4-FFF2-40B4-BE49-F238E27FC236}">
                <a16:creationId xmlns:a16="http://schemas.microsoft.com/office/drawing/2014/main" id="{136DDEE0-BA7A-4AE6-8B58-CA3216961B04}"/>
              </a:ext>
            </a:extLst>
          </p:cNvPr>
          <p:cNvPicPr>
            <a:picLocks noChangeAspect="1"/>
          </p:cNvPicPr>
          <p:nvPr/>
        </p:nvPicPr>
        <p:blipFill>
          <a:blip r:embed="rId3"/>
          <a:stretch>
            <a:fillRect/>
          </a:stretch>
        </p:blipFill>
        <p:spPr>
          <a:xfrm>
            <a:off x="6039465" y="2899192"/>
            <a:ext cx="2924175" cy="2476500"/>
          </a:xfrm>
          <a:prstGeom prst="rect">
            <a:avLst/>
          </a:prstGeom>
        </p:spPr>
      </p:pic>
      <p:pic>
        <p:nvPicPr>
          <p:cNvPr id="6" name="Picture 5">
            <a:extLst>
              <a:ext uri="{FF2B5EF4-FFF2-40B4-BE49-F238E27FC236}">
                <a16:creationId xmlns:a16="http://schemas.microsoft.com/office/drawing/2014/main" id="{2ED3524C-465C-48BC-978E-99CB1B6B38EB}"/>
              </a:ext>
            </a:extLst>
          </p:cNvPr>
          <p:cNvPicPr>
            <a:picLocks noChangeAspect="1"/>
          </p:cNvPicPr>
          <p:nvPr/>
        </p:nvPicPr>
        <p:blipFill>
          <a:blip r:embed="rId4"/>
          <a:stretch>
            <a:fillRect/>
          </a:stretch>
        </p:blipFill>
        <p:spPr>
          <a:xfrm>
            <a:off x="5667375" y="5794919"/>
            <a:ext cx="2771775" cy="1082131"/>
          </a:xfrm>
          <a:prstGeom prst="rect">
            <a:avLst/>
          </a:prstGeom>
        </p:spPr>
      </p:pic>
      <p:sp>
        <p:nvSpPr>
          <p:cNvPr id="7" name="Title 3">
            <a:extLst>
              <a:ext uri="{FF2B5EF4-FFF2-40B4-BE49-F238E27FC236}">
                <a16:creationId xmlns:a16="http://schemas.microsoft.com/office/drawing/2014/main" id="{B19D193D-0041-42EE-B51B-4AFC0C6DD2EF}"/>
              </a:ext>
            </a:extLst>
          </p:cNvPr>
          <p:cNvSpPr txBox="1">
            <a:spLocks/>
          </p:cNvSpPr>
          <p:nvPr/>
        </p:nvSpPr>
        <p:spPr>
          <a:xfrm>
            <a:off x="609600" y="381000"/>
            <a:ext cx="7886700" cy="396874"/>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b="1" dirty="0">
                <a:latin typeface="Arial Black" panose="020B0A04020102020204" pitchFamily="34" charset="0"/>
              </a:rPr>
              <a:t>Association types</a:t>
            </a:r>
          </a:p>
        </p:txBody>
      </p:sp>
    </p:spTree>
    <p:extLst>
      <p:ext uri="{BB962C8B-B14F-4D97-AF65-F5344CB8AC3E}">
        <p14:creationId xmlns:p14="http://schemas.microsoft.com/office/powerpoint/2010/main" val="3613150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6CE68E-3229-4ED1-B26E-8CA6971933C9}"/>
              </a:ext>
            </a:extLst>
          </p:cNvPr>
          <p:cNvSpPr>
            <a:spLocks noGrp="1"/>
          </p:cNvSpPr>
          <p:nvPr>
            <p:ph idx="1"/>
          </p:nvPr>
        </p:nvSpPr>
        <p:spPr>
          <a:xfrm>
            <a:off x="304800" y="1291613"/>
            <a:ext cx="8534400" cy="5032987"/>
          </a:xfrm>
        </p:spPr>
        <p:txBody>
          <a:bodyPr>
            <a:normAutofit/>
          </a:bodyPr>
          <a:lstStyle/>
          <a:p>
            <a:pPr marL="0" indent="0">
              <a:buNone/>
            </a:pPr>
            <a:r>
              <a:rPr lang="en-US" sz="2000" dirty="0"/>
              <a:t>In a </a:t>
            </a:r>
            <a:r>
              <a:rPr lang="en-US" sz="2000" b="1" dirty="0"/>
              <a:t>class diagram</a:t>
            </a:r>
            <a:r>
              <a:rPr lang="en-US" sz="2000" dirty="0"/>
              <a:t> (used in UML – Unified Modeling Language), a </a:t>
            </a:r>
            <a:r>
              <a:rPr lang="en-US" sz="2000" b="1" dirty="0"/>
              <a:t>dependency</a:t>
            </a:r>
            <a:r>
              <a:rPr lang="en-US" sz="2000" dirty="0"/>
              <a:t> represents a relationship between two classes where </a:t>
            </a:r>
            <a:r>
              <a:rPr lang="en-US" sz="2000" b="1" dirty="0"/>
              <a:t>one class depends on another</a:t>
            </a:r>
            <a:r>
              <a:rPr lang="en-US" sz="2000" dirty="0"/>
              <a:t>. This means that </a:t>
            </a:r>
            <a:r>
              <a:rPr lang="en-US" sz="2000" b="1" dirty="0"/>
              <a:t>a change in the supplier class may affect the client class</a:t>
            </a:r>
            <a:r>
              <a:rPr lang="en-US" sz="2000" dirty="0"/>
              <a:t>.</a:t>
            </a:r>
          </a:p>
          <a:p>
            <a:pPr marL="0" indent="0">
              <a:buNone/>
            </a:pPr>
            <a:r>
              <a:rPr lang="en-US" sz="2000" b="1" dirty="0"/>
              <a:t>Key Points:</a:t>
            </a:r>
          </a:p>
          <a:p>
            <a:pPr>
              <a:buFont typeface="Arial" panose="020B0604020202020204" pitchFamily="34" charset="0"/>
              <a:buChar char="•"/>
            </a:pPr>
            <a:r>
              <a:rPr lang="en-US" sz="2000" b="1" dirty="0"/>
              <a:t>Dependency is a weak relationship</a:t>
            </a:r>
            <a:r>
              <a:rPr lang="en-US" sz="2000" dirty="0"/>
              <a:t>.</a:t>
            </a:r>
          </a:p>
          <a:p>
            <a:pPr>
              <a:buFont typeface="Arial" panose="020B0604020202020204" pitchFamily="34" charset="0"/>
              <a:buChar char="•"/>
            </a:pPr>
            <a:r>
              <a:rPr lang="en-US" sz="2000" dirty="0"/>
              <a:t>It shows that </a:t>
            </a:r>
            <a:r>
              <a:rPr lang="en-US" sz="2000" b="1" dirty="0"/>
              <a:t>one class uses another class</a:t>
            </a:r>
            <a:r>
              <a:rPr lang="en-US" sz="2000" dirty="0"/>
              <a:t>, usually as a parameter or local variable.</a:t>
            </a:r>
          </a:p>
          <a:p>
            <a:pPr>
              <a:buFont typeface="Arial" panose="020B0604020202020204" pitchFamily="34" charset="0"/>
              <a:buChar char="•"/>
            </a:pPr>
            <a:r>
              <a:rPr lang="en-US" sz="2000" dirty="0"/>
              <a:t>It is represented by a </a:t>
            </a:r>
            <a:r>
              <a:rPr lang="en-US" sz="2000" b="1" dirty="0"/>
              <a:t>dashed arrow</a:t>
            </a:r>
            <a:r>
              <a:rPr lang="en-US" sz="2000" dirty="0"/>
              <a:t> pointing from the </a:t>
            </a:r>
            <a:r>
              <a:rPr lang="en-US" sz="2000" b="1" dirty="0"/>
              <a:t>dependent (client)</a:t>
            </a:r>
            <a:r>
              <a:rPr lang="en-US" sz="2000" dirty="0"/>
              <a:t> class to the </a:t>
            </a:r>
            <a:r>
              <a:rPr lang="en-US" sz="2000" b="1" dirty="0"/>
              <a:t>independent (supplier)</a:t>
            </a:r>
            <a:r>
              <a:rPr lang="en-US" sz="2000" dirty="0"/>
              <a:t> class.</a:t>
            </a:r>
          </a:p>
          <a:p>
            <a:pPr>
              <a:buFont typeface="Arial" panose="020B0604020202020204" pitchFamily="34" charset="0"/>
              <a:buChar char="•"/>
            </a:pPr>
            <a:r>
              <a:rPr lang="en-US" sz="2000" dirty="0"/>
              <a:t>It is often used to show </a:t>
            </a:r>
            <a:r>
              <a:rPr lang="en-US" sz="2000" b="1" dirty="0"/>
              <a:t>"uses"</a:t>
            </a:r>
            <a:r>
              <a:rPr lang="en-US" sz="2000" dirty="0"/>
              <a:t>, </a:t>
            </a:r>
            <a:r>
              <a:rPr lang="en-US" sz="2000" b="1" dirty="0"/>
              <a:t>"calls"</a:t>
            </a:r>
            <a:r>
              <a:rPr lang="en-US" sz="2000" dirty="0"/>
              <a:t>, or </a:t>
            </a:r>
            <a:r>
              <a:rPr lang="en-US" sz="2000" b="1" dirty="0"/>
              <a:t>"creates"</a:t>
            </a:r>
            <a:r>
              <a:rPr lang="en-US" sz="2000" dirty="0"/>
              <a:t> relationships.</a:t>
            </a:r>
          </a:p>
          <a:p>
            <a:pPr marL="0" indent="0">
              <a:buNone/>
            </a:pPr>
            <a:r>
              <a:rPr lang="en-US" sz="2000" b="1" dirty="0"/>
              <a:t>Example:</a:t>
            </a:r>
          </a:p>
          <a:p>
            <a:r>
              <a:rPr lang="en-US" sz="2000" dirty="0"/>
              <a:t>If Class A uses Class B inside one of its methods (e.g., it creates an object of Class B or calls a method of Class B), then </a:t>
            </a:r>
            <a:r>
              <a:rPr lang="en-US" sz="2000" b="1" dirty="0"/>
              <a:t>Class A depends on Class B</a:t>
            </a:r>
            <a:r>
              <a:rPr lang="en-US" sz="2000" dirty="0"/>
              <a:t>.</a:t>
            </a:r>
          </a:p>
        </p:txBody>
      </p:sp>
      <p:sp>
        <p:nvSpPr>
          <p:cNvPr id="7" name="Title 3">
            <a:extLst>
              <a:ext uri="{FF2B5EF4-FFF2-40B4-BE49-F238E27FC236}">
                <a16:creationId xmlns:a16="http://schemas.microsoft.com/office/drawing/2014/main" id="{B19D193D-0041-42EE-B51B-4AFC0C6DD2EF}"/>
              </a:ext>
            </a:extLst>
          </p:cNvPr>
          <p:cNvSpPr txBox="1">
            <a:spLocks/>
          </p:cNvSpPr>
          <p:nvPr/>
        </p:nvSpPr>
        <p:spPr>
          <a:xfrm>
            <a:off x="609600" y="381000"/>
            <a:ext cx="7886700" cy="396874"/>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b="1" dirty="0">
                <a:latin typeface="Arial Black" panose="020B0A04020102020204" pitchFamily="34" charset="0"/>
              </a:rPr>
              <a:t>Association types: </a:t>
            </a:r>
            <a:r>
              <a:rPr lang="en-US" sz="3200" dirty="0">
                <a:solidFill>
                  <a:srgbClr val="FFC000"/>
                </a:solidFill>
              </a:rPr>
              <a:t>Dependency</a:t>
            </a:r>
            <a:endParaRPr lang="en-US" sz="3200" b="1" dirty="0">
              <a:latin typeface="Arial Black" panose="020B0A04020102020204" pitchFamily="34" charset="0"/>
            </a:endParaRPr>
          </a:p>
        </p:txBody>
      </p:sp>
    </p:spTree>
    <p:extLst>
      <p:ext uri="{BB962C8B-B14F-4D97-AF65-F5344CB8AC3E}">
        <p14:creationId xmlns:p14="http://schemas.microsoft.com/office/powerpoint/2010/main" val="19890542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B19D193D-0041-42EE-B51B-4AFC0C6DD2EF}"/>
              </a:ext>
            </a:extLst>
          </p:cNvPr>
          <p:cNvSpPr txBox="1">
            <a:spLocks/>
          </p:cNvSpPr>
          <p:nvPr/>
        </p:nvSpPr>
        <p:spPr>
          <a:xfrm>
            <a:off x="609600" y="381000"/>
            <a:ext cx="7886700" cy="396874"/>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b="1" dirty="0">
                <a:latin typeface="Arial Black" panose="020B0A04020102020204" pitchFamily="34" charset="0"/>
              </a:rPr>
              <a:t>Association types: </a:t>
            </a:r>
            <a:r>
              <a:rPr lang="en-US" sz="3200" dirty="0">
                <a:solidFill>
                  <a:srgbClr val="FFC000"/>
                </a:solidFill>
              </a:rPr>
              <a:t>Dependency</a:t>
            </a:r>
            <a:endParaRPr lang="en-US" sz="3200" b="1" dirty="0">
              <a:latin typeface="Arial Black" panose="020B0A04020102020204" pitchFamily="34" charset="0"/>
            </a:endParaRPr>
          </a:p>
        </p:txBody>
      </p:sp>
      <p:sp>
        <p:nvSpPr>
          <p:cNvPr id="3" name="TextBox 2">
            <a:extLst>
              <a:ext uri="{FF2B5EF4-FFF2-40B4-BE49-F238E27FC236}">
                <a16:creationId xmlns:a16="http://schemas.microsoft.com/office/drawing/2014/main" id="{DAD43C33-3DAB-FFFB-8247-24D09EEF3429}"/>
              </a:ext>
            </a:extLst>
          </p:cNvPr>
          <p:cNvSpPr txBox="1"/>
          <p:nvPr/>
        </p:nvSpPr>
        <p:spPr>
          <a:xfrm>
            <a:off x="381000" y="1443841"/>
            <a:ext cx="7391400" cy="4524315"/>
          </a:xfrm>
          <a:prstGeom prst="rect">
            <a:avLst/>
          </a:prstGeom>
          <a:noFill/>
        </p:spPr>
        <p:txBody>
          <a:bodyPr wrap="square">
            <a:spAutoFit/>
          </a:bodyPr>
          <a:lstStyle/>
          <a:p>
            <a:r>
              <a:rPr lang="en-US" dirty="0"/>
              <a:t>class </a:t>
            </a:r>
            <a:r>
              <a:rPr lang="en-US" dirty="0" err="1"/>
              <a:t>CreditCard</a:t>
            </a:r>
            <a:r>
              <a:rPr lang="en-US" dirty="0"/>
              <a:t> </a:t>
            </a:r>
          </a:p>
          <a:p>
            <a:r>
              <a:rPr lang="en-US" dirty="0"/>
              <a:t>{</a:t>
            </a:r>
          </a:p>
          <a:p>
            <a:r>
              <a:rPr lang="en-US" dirty="0"/>
              <a:t>    void authorize(double amount) </a:t>
            </a:r>
          </a:p>
          <a:p>
            <a:r>
              <a:rPr lang="en-US" dirty="0"/>
              <a:t>	{</a:t>
            </a:r>
          </a:p>
          <a:p>
            <a:r>
              <a:rPr lang="en-US" dirty="0"/>
              <a:t>     	   </a:t>
            </a:r>
            <a:r>
              <a:rPr lang="en-US" dirty="0" err="1"/>
              <a:t>System.out.println</a:t>
            </a:r>
            <a:r>
              <a:rPr lang="en-US" dirty="0"/>
              <a:t>("Authorized payment of $" + amount);</a:t>
            </a:r>
          </a:p>
          <a:p>
            <a:r>
              <a:rPr lang="en-US" dirty="0"/>
              <a:t>   	 }</a:t>
            </a:r>
          </a:p>
          <a:p>
            <a:r>
              <a:rPr lang="en-US" dirty="0"/>
              <a:t>}</a:t>
            </a:r>
          </a:p>
          <a:p>
            <a:endParaRPr lang="en-US" dirty="0"/>
          </a:p>
          <a:p>
            <a:r>
              <a:rPr lang="en-US" dirty="0"/>
              <a:t>class </a:t>
            </a:r>
            <a:r>
              <a:rPr lang="en-US" dirty="0" err="1"/>
              <a:t>PaymentService</a:t>
            </a:r>
            <a:r>
              <a:rPr lang="en-US" dirty="0"/>
              <a:t> </a:t>
            </a:r>
          </a:p>
          <a:p>
            <a:r>
              <a:rPr lang="en-US" dirty="0"/>
              <a:t>{</a:t>
            </a:r>
          </a:p>
          <a:p>
            <a:r>
              <a:rPr lang="en-US" dirty="0"/>
              <a:t>    void </a:t>
            </a:r>
            <a:r>
              <a:rPr lang="en-US" dirty="0" err="1"/>
              <a:t>makePayment</a:t>
            </a:r>
            <a:r>
              <a:rPr lang="en-US" dirty="0"/>
              <a:t>(</a:t>
            </a:r>
            <a:r>
              <a:rPr lang="en-US" dirty="0" err="1"/>
              <a:t>CreditCard</a:t>
            </a:r>
            <a:r>
              <a:rPr lang="en-US" dirty="0"/>
              <a:t> card, double amount)</a:t>
            </a:r>
          </a:p>
          <a:p>
            <a:r>
              <a:rPr lang="en-US" dirty="0"/>
              <a:t>	 {</a:t>
            </a:r>
          </a:p>
          <a:p>
            <a:r>
              <a:rPr lang="en-US" dirty="0"/>
              <a:t>      	  // Temporary use of </a:t>
            </a:r>
            <a:r>
              <a:rPr lang="en-US" dirty="0" err="1"/>
              <a:t>CreditCard</a:t>
            </a:r>
            <a:r>
              <a:rPr lang="en-US" dirty="0"/>
              <a:t> object</a:t>
            </a:r>
          </a:p>
          <a:p>
            <a:r>
              <a:rPr lang="en-US" dirty="0"/>
              <a:t>    	    </a:t>
            </a:r>
            <a:r>
              <a:rPr lang="en-US" dirty="0" err="1"/>
              <a:t>card.authorize</a:t>
            </a:r>
            <a:r>
              <a:rPr lang="en-US" dirty="0"/>
              <a:t>(amount);</a:t>
            </a:r>
          </a:p>
          <a:p>
            <a:r>
              <a:rPr lang="en-US" dirty="0"/>
              <a:t>   	 }</a:t>
            </a:r>
          </a:p>
          <a:p>
            <a:r>
              <a:rPr lang="en-US" dirty="0"/>
              <a:t>}</a:t>
            </a:r>
          </a:p>
        </p:txBody>
      </p:sp>
    </p:spTree>
    <p:extLst>
      <p:ext uri="{BB962C8B-B14F-4D97-AF65-F5344CB8AC3E}">
        <p14:creationId xmlns:p14="http://schemas.microsoft.com/office/powerpoint/2010/main" val="31143438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FAA01E-9B3A-4553-98C1-6DDCC52D3937}"/>
              </a:ext>
            </a:extLst>
          </p:cNvPr>
          <p:cNvSpPr>
            <a:spLocks noGrp="1"/>
          </p:cNvSpPr>
          <p:nvPr>
            <p:ph idx="1"/>
          </p:nvPr>
        </p:nvSpPr>
        <p:spPr>
          <a:xfrm>
            <a:off x="762000" y="5029200"/>
            <a:ext cx="8077200" cy="1323975"/>
          </a:xfrm>
        </p:spPr>
        <p:txBody>
          <a:bodyPr>
            <a:normAutofit/>
          </a:bodyPr>
          <a:lstStyle/>
          <a:p>
            <a:r>
              <a:rPr lang="en-US" sz="2800" dirty="0"/>
              <a:t>If the movie theater goes away</a:t>
            </a:r>
          </a:p>
          <a:p>
            <a:pPr lvl="1"/>
            <a:r>
              <a:rPr lang="en-US" sz="2500" dirty="0"/>
              <a:t>so does the box office =&gt; composition</a:t>
            </a:r>
          </a:p>
          <a:p>
            <a:pPr lvl="1"/>
            <a:r>
              <a:rPr lang="en-US" sz="2500" dirty="0"/>
              <a:t>but movies may still exist =&gt; aggregation</a:t>
            </a:r>
          </a:p>
        </p:txBody>
      </p:sp>
      <p:pic>
        <p:nvPicPr>
          <p:cNvPr id="4" name="Picture 3">
            <a:extLst>
              <a:ext uri="{FF2B5EF4-FFF2-40B4-BE49-F238E27FC236}">
                <a16:creationId xmlns:a16="http://schemas.microsoft.com/office/drawing/2014/main" id="{52160CA3-1445-4F2C-9086-94AF69DE53EA}"/>
              </a:ext>
            </a:extLst>
          </p:cNvPr>
          <p:cNvPicPr>
            <a:picLocks noChangeAspect="1"/>
          </p:cNvPicPr>
          <p:nvPr/>
        </p:nvPicPr>
        <p:blipFill>
          <a:blip r:embed="rId2"/>
          <a:stretch>
            <a:fillRect/>
          </a:stretch>
        </p:blipFill>
        <p:spPr>
          <a:xfrm>
            <a:off x="962025" y="838200"/>
            <a:ext cx="7677150" cy="3752850"/>
          </a:xfrm>
          <a:prstGeom prst="rect">
            <a:avLst/>
          </a:prstGeom>
        </p:spPr>
      </p:pic>
      <p:sp>
        <p:nvSpPr>
          <p:cNvPr id="6" name="Title 3">
            <a:extLst>
              <a:ext uri="{FF2B5EF4-FFF2-40B4-BE49-F238E27FC236}">
                <a16:creationId xmlns:a16="http://schemas.microsoft.com/office/drawing/2014/main" id="{B19D193D-0041-42EE-B51B-4AFC0C6DD2EF}"/>
              </a:ext>
            </a:extLst>
          </p:cNvPr>
          <p:cNvSpPr txBox="1">
            <a:spLocks/>
          </p:cNvSpPr>
          <p:nvPr/>
        </p:nvSpPr>
        <p:spPr>
          <a:xfrm>
            <a:off x="609600" y="381000"/>
            <a:ext cx="7886700" cy="396874"/>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b="1" dirty="0">
                <a:latin typeface="Arial Black" panose="020B0A04020102020204" pitchFamily="34" charset="0"/>
              </a:rPr>
              <a:t>Association types</a:t>
            </a:r>
          </a:p>
        </p:txBody>
      </p:sp>
    </p:spTree>
    <p:extLst>
      <p:ext uri="{BB962C8B-B14F-4D97-AF65-F5344CB8AC3E}">
        <p14:creationId xmlns:p14="http://schemas.microsoft.com/office/powerpoint/2010/main" val="4599903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B19D193D-0041-42EE-B51B-4AFC0C6DD2EF}"/>
              </a:ext>
            </a:extLst>
          </p:cNvPr>
          <p:cNvSpPr txBox="1">
            <a:spLocks/>
          </p:cNvSpPr>
          <p:nvPr/>
        </p:nvSpPr>
        <p:spPr>
          <a:xfrm>
            <a:off x="609600" y="381000"/>
            <a:ext cx="7886700" cy="396874"/>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b="1" dirty="0">
                <a:latin typeface="Arial Black" panose="020B0A04020102020204" pitchFamily="34" charset="0"/>
              </a:rPr>
              <a:t>Identifying Analysis Classes</a:t>
            </a:r>
          </a:p>
        </p:txBody>
      </p:sp>
      <p:pic>
        <p:nvPicPr>
          <p:cNvPr id="7" name="Picture 6">
            <a:extLst>
              <a:ext uri="{FF2B5EF4-FFF2-40B4-BE49-F238E27FC236}">
                <a16:creationId xmlns:a16="http://schemas.microsoft.com/office/drawing/2014/main" id="{6CD49062-A307-45D4-AE71-A078CD07BE9A}"/>
              </a:ext>
            </a:extLst>
          </p:cNvPr>
          <p:cNvPicPr>
            <a:picLocks noChangeAspect="1"/>
          </p:cNvPicPr>
          <p:nvPr/>
        </p:nvPicPr>
        <p:blipFill>
          <a:blip r:embed="rId2"/>
          <a:stretch>
            <a:fillRect/>
          </a:stretch>
        </p:blipFill>
        <p:spPr>
          <a:xfrm>
            <a:off x="304800" y="1295400"/>
            <a:ext cx="8534400" cy="4876799"/>
          </a:xfrm>
          <a:prstGeom prst="rect">
            <a:avLst/>
          </a:prstGeom>
        </p:spPr>
      </p:pic>
    </p:spTree>
    <p:extLst>
      <p:ext uri="{BB962C8B-B14F-4D97-AF65-F5344CB8AC3E}">
        <p14:creationId xmlns:p14="http://schemas.microsoft.com/office/powerpoint/2010/main" val="29810571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659957-CC2D-4BA5-9459-07984A82D48A}"/>
              </a:ext>
            </a:extLst>
          </p:cNvPr>
          <p:cNvSpPr>
            <a:spLocks noGrp="1"/>
          </p:cNvSpPr>
          <p:nvPr>
            <p:ph idx="1"/>
          </p:nvPr>
        </p:nvSpPr>
        <p:spPr>
          <a:xfrm>
            <a:off x="381000" y="990600"/>
            <a:ext cx="8458200" cy="5638800"/>
          </a:xfrm>
        </p:spPr>
        <p:txBody>
          <a:bodyPr>
            <a:normAutofit lnSpcReduction="10000"/>
          </a:bodyPr>
          <a:lstStyle/>
          <a:p>
            <a:pPr marL="0" indent="0">
              <a:buNone/>
            </a:pPr>
            <a:r>
              <a:rPr lang="en-US" sz="2800" b="1" dirty="0"/>
              <a:t>Classes are found in following forms:</a:t>
            </a:r>
          </a:p>
          <a:p>
            <a:pPr algn="just"/>
            <a:r>
              <a:rPr lang="en-US" sz="2300" b="1" dirty="0"/>
              <a:t>External entities:</a:t>
            </a:r>
            <a:r>
              <a:rPr lang="en-US" sz="2300" dirty="0"/>
              <a:t> The system, people or the device generates the information that is used by the computer-based system.</a:t>
            </a:r>
          </a:p>
          <a:p>
            <a:pPr algn="just"/>
            <a:r>
              <a:rPr lang="en-US" sz="2300" b="1" dirty="0"/>
              <a:t>Things:</a:t>
            </a:r>
            <a:r>
              <a:rPr lang="en-US" sz="2300" dirty="0"/>
              <a:t> The reports, displays, letter, signal are the part of the information domain or the problem.</a:t>
            </a:r>
          </a:p>
          <a:p>
            <a:pPr algn="just"/>
            <a:r>
              <a:rPr lang="en-US" sz="2300" b="1" dirty="0"/>
              <a:t>Occurrences or events:</a:t>
            </a:r>
            <a:r>
              <a:rPr lang="en-US" sz="2300" dirty="0"/>
              <a:t> A property transfer or the completion of a series or robot movements occurs in the context of the system operation.</a:t>
            </a:r>
          </a:p>
          <a:p>
            <a:pPr algn="just"/>
            <a:r>
              <a:rPr lang="en-US" sz="2300" b="1" dirty="0"/>
              <a:t>Roles:</a:t>
            </a:r>
            <a:r>
              <a:rPr lang="en-US" sz="2300" dirty="0"/>
              <a:t> The people like manager, engineer, salesperson are interacting with the system.</a:t>
            </a:r>
          </a:p>
          <a:p>
            <a:pPr algn="just"/>
            <a:r>
              <a:rPr lang="en-US" sz="2300" b="1" dirty="0"/>
              <a:t>Organizational units:</a:t>
            </a:r>
            <a:r>
              <a:rPr lang="en-US" sz="2300" dirty="0"/>
              <a:t> The division, group, team are suitable for an application.</a:t>
            </a:r>
          </a:p>
          <a:p>
            <a:pPr algn="just"/>
            <a:r>
              <a:rPr lang="en-US" sz="2300" b="1" dirty="0"/>
              <a:t>Places:</a:t>
            </a:r>
            <a:r>
              <a:rPr lang="en-US" sz="2300" dirty="0"/>
              <a:t> The manufacturing floor or loading dock from the context of the problem and the overall function of the system.</a:t>
            </a:r>
          </a:p>
          <a:p>
            <a:pPr algn="just"/>
            <a:r>
              <a:rPr lang="en-US" sz="2300" b="1" dirty="0"/>
              <a:t>Structures:</a:t>
            </a:r>
            <a:r>
              <a:rPr lang="en-US" sz="2300" dirty="0"/>
              <a:t> The sensors, computers are defined a class of objects or related classes of objects.</a:t>
            </a:r>
          </a:p>
          <a:p>
            <a:endParaRPr lang="en-US" dirty="0"/>
          </a:p>
        </p:txBody>
      </p:sp>
      <p:sp>
        <p:nvSpPr>
          <p:cNvPr id="5" name="Title 3">
            <a:extLst>
              <a:ext uri="{FF2B5EF4-FFF2-40B4-BE49-F238E27FC236}">
                <a16:creationId xmlns:a16="http://schemas.microsoft.com/office/drawing/2014/main" id="{B19D193D-0041-42EE-B51B-4AFC0C6DD2EF}"/>
              </a:ext>
            </a:extLst>
          </p:cNvPr>
          <p:cNvSpPr txBox="1">
            <a:spLocks/>
          </p:cNvSpPr>
          <p:nvPr/>
        </p:nvSpPr>
        <p:spPr>
          <a:xfrm>
            <a:off x="609600" y="381000"/>
            <a:ext cx="7886700" cy="396874"/>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b="1" dirty="0">
                <a:latin typeface="Arial Black" panose="020B0A04020102020204" pitchFamily="34" charset="0"/>
              </a:rPr>
              <a:t>Identifying Classes</a:t>
            </a:r>
          </a:p>
        </p:txBody>
      </p:sp>
    </p:spTree>
    <p:extLst>
      <p:ext uri="{BB962C8B-B14F-4D97-AF65-F5344CB8AC3E}">
        <p14:creationId xmlns:p14="http://schemas.microsoft.com/office/powerpoint/2010/main" val="33993089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142B116-A29D-4AD4-930E-9C9C40D970AE}"/>
              </a:ext>
            </a:extLst>
          </p:cNvPr>
          <p:cNvPicPr>
            <a:picLocks noChangeAspect="1"/>
          </p:cNvPicPr>
          <p:nvPr/>
        </p:nvPicPr>
        <p:blipFill>
          <a:blip r:embed="rId2"/>
          <a:stretch>
            <a:fillRect/>
          </a:stretch>
        </p:blipFill>
        <p:spPr>
          <a:xfrm>
            <a:off x="457200" y="1371600"/>
            <a:ext cx="8186186" cy="4858357"/>
          </a:xfrm>
          <a:prstGeom prst="rect">
            <a:avLst/>
          </a:prstGeom>
        </p:spPr>
      </p:pic>
      <p:sp>
        <p:nvSpPr>
          <p:cNvPr id="6" name="Title 3">
            <a:extLst>
              <a:ext uri="{FF2B5EF4-FFF2-40B4-BE49-F238E27FC236}">
                <a16:creationId xmlns:a16="http://schemas.microsoft.com/office/drawing/2014/main" id="{B19D193D-0041-42EE-B51B-4AFC0C6DD2EF}"/>
              </a:ext>
            </a:extLst>
          </p:cNvPr>
          <p:cNvSpPr txBox="1">
            <a:spLocks/>
          </p:cNvSpPr>
          <p:nvPr/>
        </p:nvSpPr>
        <p:spPr>
          <a:xfrm>
            <a:off x="457200" y="381000"/>
            <a:ext cx="8490986" cy="396874"/>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100" b="1" dirty="0">
                <a:latin typeface="Arial Black" panose="020B0A04020102020204" pitchFamily="34" charset="0"/>
              </a:rPr>
              <a:t>Noun Identification :A Library System</a:t>
            </a:r>
          </a:p>
        </p:txBody>
      </p:sp>
    </p:spTree>
    <p:extLst>
      <p:ext uri="{BB962C8B-B14F-4D97-AF65-F5344CB8AC3E}">
        <p14:creationId xmlns:p14="http://schemas.microsoft.com/office/powerpoint/2010/main" val="20661404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1A0EF5-3DF5-487D-9890-9BF81F227783}"/>
              </a:ext>
            </a:extLst>
          </p:cNvPr>
          <p:cNvPicPr>
            <a:picLocks noChangeAspect="1"/>
          </p:cNvPicPr>
          <p:nvPr/>
        </p:nvPicPr>
        <p:blipFill>
          <a:blip r:embed="rId2"/>
          <a:stretch>
            <a:fillRect/>
          </a:stretch>
        </p:blipFill>
        <p:spPr>
          <a:xfrm>
            <a:off x="381000" y="1066800"/>
            <a:ext cx="8027688" cy="5029200"/>
          </a:xfrm>
          <a:prstGeom prst="rect">
            <a:avLst/>
          </a:prstGeom>
        </p:spPr>
      </p:pic>
      <p:sp>
        <p:nvSpPr>
          <p:cNvPr id="4" name="Title 3">
            <a:extLst>
              <a:ext uri="{FF2B5EF4-FFF2-40B4-BE49-F238E27FC236}">
                <a16:creationId xmlns:a16="http://schemas.microsoft.com/office/drawing/2014/main" id="{B19D193D-0041-42EE-B51B-4AFC0C6DD2EF}"/>
              </a:ext>
            </a:extLst>
          </p:cNvPr>
          <p:cNvSpPr txBox="1">
            <a:spLocks/>
          </p:cNvSpPr>
          <p:nvPr/>
        </p:nvSpPr>
        <p:spPr>
          <a:xfrm>
            <a:off x="457200" y="381000"/>
            <a:ext cx="8490986" cy="396874"/>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100" b="1" dirty="0">
                <a:latin typeface="Arial Black" panose="020B0A04020102020204" pitchFamily="34" charset="0"/>
              </a:rPr>
              <a:t>Candidate Classes</a:t>
            </a:r>
          </a:p>
        </p:txBody>
      </p:sp>
    </p:spTree>
    <p:extLst>
      <p:ext uri="{BB962C8B-B14F-4D97-AF65-F5344CB8AC3E}">
        <p14:creationId xmlns:p14="http://schemas.microsoft.com/office/powerpoint/2010/main" val="15214092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C4FBAA-9735-41A2-8993-BF57C2DBEEA1}"/>
              </a:ext>
            </a:extLst>
          </p:cNvPr>
          <p:cNvPicPr>
            <a:picLocks noChangeAspect="1"/>
          </p:cNvPicPr>
          <p:nvPr/>
        </p:nvPicPr>
        <p:blipFill>
          <a:blip r:embed="rId2"/>
          <a:stretch>
            <a:fillRect/>
          </a:stretch>
        </p:blipFill>
        <p:spPr>
          <a:xfrm>
            <a:off x="621082" y="1397042"/>
            <a:ext cx="8359036" cy="3784557"/>
          </a:xfrm>
          <a:prstGeom prst="rect">
            <a:avLst/>
          </a:prstGeom>
        </p:spPr>
      </p:pic>
      <p:sp>
        <p:nvSpPr>
          <p:cNvPr id="5" name="Title 3">
            <a:extLst>
              <a:ext uri="{FF2B5EF4-FFF2-40B4-BE49-F238E27FC236}">
                <a16:creationId xmlns:a16="http://schemas.microsoft.com/office/drawing/2014/main" id="{B19D193D-0041-42EE-B51B-4AFC0C6DD2EF}"/>
              </a:ext>
            </a:extLst>
          </p:cNvPr>
          <p:cNvSpPr txBox="1">
            <a:spLocks/>
          </p:cNvSpPr>
          <p:nvPr/>
        </p:nvSpPr>
        <p:spPr>
          <a:xfrm>
            <a:off x="457200" y="381000"/>
            <a:ext cx="8490986" cy="396874"/>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100" b="1" dirty="0">
                <a:latin typeface="Arial Black" panose="020B0A04020102020204" pitchFamily="34" charset="0"/>
              </a:rPr>
              <a:t>Candidate Classes</a:t>
            </a:r>
          </a:p>
        </p:txBody>
      </p:sp>
    </p:spTree>
    <p:extLst>
      <p:ext uri="{BB962C8B-B14F-4D97-AF65-F5344CB8AC3E}">
        <p14:creationId xmlns:p14="http://schemas.microsoft.com/office/powerpoint/2010/main" val="42473600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9CFA6A-144A-4E25-9FF7-C90E32047F94}"/>
              </a:ext>
            </a:extLst>
          </p:cNvPr>
          <p:cNvPicPr>
            <a:picLocks noChangeAspect="1"/>
          </p:cNvPicPr>
          <p:nvPr/>
        </p:nvPicPr>
        <p:blipFill>
          <a:blip r:embed="rId2"/>
          <a:stretch>
            <a:fillRect/>
          </a:stretch>
        </p:blipFill>
        <p:spPr>
          <a:xfrm>
            <a:off x="678014" y="1905000"/>
            <a:ext cx="8245171" cy="3124200"/>
          </a:xfrm>
          <a:prstGeom prst="rect">
            <a:avLst/>
          </a:prstGeom>
        </p:spPr>
      </p:pic>
      <p:sp>
        <p:nvSpPr>
          <p:cNvPr id="4" name="Title 3">
            <a:extLst>
              <a:ext uri="{FF2B5EF4-FFF2-40B4-BE49-F238E27FC236}">
                <a16:creationId xmlns:a16="http://schemas.microsoft.com/office/drawing/2014/main" id="{B19D193D-0041-42EE-B51B-4AFC0C6DD2EF}"/>
              </a:ext>
            </a:extLst>
          </p:cNvPr>
          <p:cNvSpPr txBox="1">
            <a:spLocks/>
          </p:cNvSpPr>
          <p:nvPr/>
        </p:nvSpPr>
        <p:spPr>
          <a:xfrm>
            <a:off x="457200" y="381000"/>
            <a:ext cx="8490986" cy="396874"/>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100" b="1" dirty="0">
                <a:latin typeface="Arial Black" panose="020B0A04020102020204" pitchFamily="34" charset="0"/>
              </a:rPr>
              <a:t>Methods</a:t>
            </a:r>
          </a:p>
        </p:txBody>
      </p:sp>
    </p:spTree>
    <p:extLst>
      <p:ext uri="{BB962C8B-B14F-4D97-AF65-F5344CB8AC3E}">
        <p14:creationId xmlns:p14="http://schemas.microsoft.com/office/powerpoint/2010/main" val="4851140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62DD9-3CE1-4918-A3BD-38623B18F1E7}"/>
              </a:ext>
            </a:extLst>
          </p:cNvPr>
          <p:cNvSpPr>
            <a:spLocks noGrp="1"/>
          </p:cNvSpPr>
          <p:nvPr>
            <p:ph type="title"/>
          </p:nvPr>
        </p:nvSpPr>
        <p:spPr/>
        <p:txBody>
          <a:bodyPr/>
          <a:lstStyle/>
          <a:p>
            <a:r>
              <a:rPr lang="en-US" dirty="0"/>
              <a:t>Possible Class Diagram</a:t>
            </a:r>
          </a:p>
        </p:txBody>
      </p:sp>
      <p:pic>
        <p:nvPicPr>
          <p:cNvPr id="3" name="Picture 2">
            <a:extLst>
              <a:ext uri="{FF2B5EF4-FFF2-40B4-BE49-F238E27FC236}">
                <a16:creationId xmlns:a16="http://schemas.microsoft.com/office/drawing/2014/main" id="{CE395C06-85C8-46CD-A055-9C41C3E91489}"/>
              </a:ext>
            </a:extLst>
          </p:cNvPr>
          <p:cNvPicPr>
            <a:picLocks noChangeAspect="1"/>
          </p:cNvPicPr>
          <p:nvPr/>
        </p:nvPicPr>
        <p:blipFill>
          <a:blip r:embed="rId2"/>
          <a:stretch>
            <a:fillRect/>
          </a:stretch>
        </p:blipFill>
        <p:spPr>
          <a:xfrm>
            <a:off x="1114425" y="1676400"/>
            <a:ext cx="6915150" cy="3505200"/>
          </a:xfrm>
          <a:prstGeom prst="rect">
            <a:avLst/>
          </a:prstGeom>
        </p:spPr>
      </p:pic>
    </p:spTree>
    <p:extLst>
      <p:ext uri="{BB962C8B-B14F-4D97-AF65-F5344CB8AC3E}">
        <p14:creationId xmlns:p14="http://schemas.microsoft.com/office/powerpoint/2010/main" val="40696441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Class Diagrams</a:t>
            </a:r>
          </a:p>
        </p:txBody>
      </p:sp>
      <p:sp>
        <p:nvSpPr>
          <p:cNvPr id="5" name="Content Placeholder 4">
            <a:extLst>
              <a:ext uri="{FF2B5EF4-FFF2-40B4-BE49-F238E27FC236}">
                <a16:creationId xmlns:a16="http://schemas.microsoft.com/office/drawing/2014/main" id="{665304F3-1141-4F81-9649-13122484C22A}"/>
              </a:ext>
            </a:extLst>
          </p:cNvPr>
          <p:cNvSpPr>
            <a:spLocks noGrp="1"/>
          </p:cNvSpPr>
          <p:nvPr>
            <p:ph idx="1"/>
          </p:nvPr>
        </p:nvSpPr>
        <p:spPr>
          <a:xfrm>
            <a:off x="457200" y="1066801"/>
            <a:ext cx="8305800" cy="5105400"/>
          </a:xfrm>
        </p:spPr>
        <p:txBody>
          <a:bodyPr>
            <a:normAutofit/>
          </a:bodyPr>
          <a:lstStyle/>
          <a:p>
            <a:pPr marL="0" indent="0">
              <a:buNone/>
            </a:pPr>
            <a:r>
              <a:rPr lang="en-US" sz="2000" b="1" dirty="0"/>
              <a:t>Scenario:</a:t>
            </a:r>
          </a:p>
          <a:p>
            <a:pPr marL="0" indent="0">
              <a:buNone/>
            </a:pPr>
            <a:r>
              <a:rPr lang="en-US" sz="2000" b="1" dirty="0"/>
              <a:t>"A </a:t>
            </a:r>
            <a:r>
              <a:rPr lang="en-US" sz="2000" b="1" dirty="0">
                <a:solidFill>
                  <a:srgbClr val="FFC000"/>
                </a:solidFill>
              </a:rPr>
              <a:t>Student</a:t>
            </a:r>
            <a:r>
              <a:rPr lang="en-US" sz="2000" b="1" dirty="0"/>
              <a:t> enrolls in many </a:t>
            </a:r>
            <a:r>
              <a:rPr lang="en-US" sz="2000" b="1" dirty="0">
                <a:solidFill>
                  <a:srgbClr val="002060"/>
                </a:solidFill>
              </a:rPr>
              <a:t>Courses</a:t>
            </a:r>
            <a:r>
              <a:rPr lang="en-US" sz="2000" b="1" dirty="0"/>
              <a:t>. Each </a:t>
            </a:r>
            <a:r>
              <a:rPr lang="en-US" sz="2000" b="1" dirty="0">
                <a:solidFill>
                  <a:srgbClr val="FFC000"/>
                </a:solidFill>
              </a:rPr>
              <a:t>Student</a:t>
            </a:r>
            <a:r>
              <a:rPr lang="en-US" sz="2000" b="1" dirty="0"/>
              <a:t> has a name, student ID, and email. Each </a:t>
            </a:r>
            <a:r>
              <a:rPr lang="en-US" sz="2000" b="1" dirty="0">
                <a:solidFill>
                  <a:srgbClr val="002060"/>
                </a:solidFill>
              </a:rPr>
              <a:t>Course</a:t>
            </a:r>
            <a:r>
              <a:rPr lang="en-US" sz="2000" b="1" dirty="0"/>
              <a:t> has a course name, course code, and number of credits.“</a:t>
            </a:r>
          </a:p>
          <a:p>
            <a:r>
              <a:rPr lang="en-US" sz="2000" b="1" dirty="0"/>
              <a:t>Step 1: Find Nouns</a:t>
            </a:r>
          </a:p>
          <a:p>
            <a:pPr>
              <a:buFont typeface="Arial" panose="020B0604020202020204" pitchFamily="34" charset="0"/>
              <a:buChar char="•"/>
            </a:pPr>
            <a:r>
              <a:rPr lang="en-US" sz="1600" dirty="0"/>
              <a:t>Student</a:t>
            </a:r>
          </a:p>
          <a:p>
            <a:pPr>
              <a:buFont typeface="Arial" panose="020B0604020202020204" pitchFamily="34" charset="0"/>
              <a:buChar char="•"/>
            </a:pPr>
            <a:r>
              <a:rPr lang="en-US" sz="1600" dirty="0"/>
              <a:t>Courses</a:t>
            </a:r>
          </a:p>
          <a:p>
            <a:pPr>
              <a:buFont typeface="Arial" panose="020B0604020202020204" pitchFamily="34" charset="0"/>
              <a:buChar char="•"/>
            </a:pPr>
            <a:r>
              <a:rPr lang="en-US" sz="1600" dirty="0"/>
              <a:t>Name</a:t>
            </a:r>
          </a:p>
          <a:p>
            <a:pPr>
              <a:buFont typeface="Arial" panose="020B0604020202020204" pitchFamily="34" charset="0"/>
              <a:buChar char="•"/>
            </a:pPr>
            <a:r>
              <a:rPr lang="en-US" sz="1600" dirty="0"/>
              <a:t>Student ID</a:t>
            </a:r>
          </a:p>
          <a:p>
            <a:pPr>
              <a:buFont typeface="Arial" panose="020B0604020202020204" pitchFamily="34" charset="0"/>
              <a:buChar char="•"/>
            </a:pPr>
            <a:r>
              <a:rPr lang="en-US" sz="1600" dirty="0"/>
              <a:t>Email</a:t>
            </a:r>
          </a:p>
          <a:p>
            <a:pPr>
              <a:buFont typeface="Arial" panose="020B0604020202020204" pitchFamily="34" charset="0"/>
              <a:buChar char="•"/>
            </a:pPr>
            <a:r>
              <a:rPr lang="en-US" sz="1600" dirty="0"/>
              <a:t>Course name</a:t>
            </a:r>
          </a:p>
          <a:p>
            <a:pPr>
              <a:buFont typeface="Arial" panose="020B0604020202020204" pitchFamily="34" charset="0"/>
              <a:buChar char="•"/>
            </a:pPr>
            <a:r>
              <a:rPr lang="en-US" sz="1600" dirty="0"/>
              <a:t>Course code</a:t>
            </a:r>
          </a:p>
          <a:p>
            <a:pPr>
              <a:buFont typeface="Arial" panose="020B0604020202020204" pitchFamily="34" charset="0"/>
              <a:buChar char="•"/>
            </a:pPr>
            <a:r>
              <a:rPr lang="en-US" sz="1600" dirty="0"/>
              <a:t>Number of credits</a:t>
            </a:r>
          </a:p>
          <a:p>
            <a:pPr marL="0" indent="0">
              <a:buNone/>
            </a:pPr>
            <a:endParaRPr lang="en-US" sz="2000" dirty="0"/>
          </a:p>
        </p:txBody>
      </p:sp>
    </p:spTree>
    <p:extLst>
      <p:ext uri="{BB962C8B-B14F-4D97-AF65-F5344CB8AC3E}">
        <p14:creationId xmlns:p14="http://schemas.microsoft.com/office/powerpoint/2010/main" val="21100195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 calcmode="lin" valueType="num">
                                      <p:cBhvr additive="base">
                                        <p:cTn id="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anim calcmode="lin" valueType="num">
                                      <p:cBhvr additive="base">
                                        <p:cTn id="1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anim calcmode="lin" valueType="num">
                                      <p:cBhvr additive="base">
                                        <p:cTn id="15"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anim calcmode="lin" valueType="num">
                                      <p:cBhvr additive="base">
                                        <p:cTn id="19"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anim calcmode="lin" valueType="num">
                                      <p:cBhvr additive="base">
                                        <p:cTn id="23"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7" end="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anim calcmode="lin" valueType="num">
                                      <p:cBhvr additive="base">
                                        <p:cTn id="27"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8" end="8"/>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anim calcmode="lin" valueType="num">
                                      <p:cBhvr additive="base">
                                        <p:cTn id="31"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9" end="9"/>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5">
                                            <p:txEl>
                                              <p:pRg st="10" end="10"/>
                                            </p:txEl>
                                          </p:spTgt>
                                        </p:tgtEl>
                                        <p:attrNameLst>
                                          <p:attrName>style.visibility</p:attrName>
                                        </p:attrNameLst>
                                      </p:cBhvr>
                                      <p:to>
                                        <p:strVal val="visible"/>
                                      </p:to>
                                    </p:set>
                                    <p:anim calcmode="lin" valueType="num">
                                      <p:cBhvr additive="base">
                                        <p:cTn id="35"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Class Diagrams</a:t>
            </a:r>
          </a:p>
        </p:txBody>
      </p:sp>
      <p:sp>
        <p:nvSpPr>
          <p:cNvPr id="5" name="Content Placeholder 4">
            <a:extLst>
              <a:ext uri="{FF2B5EF4-FFF2-40B4-BE49-F238E27FC236}">
                <a16:creationId xmlns:a16="http://schemas.microsoft.com/office/drawing/2014/main" id="{665304F3-1141-4F81-9649-13122484C22A}"/>
              </a:ext>
            </a:extLst>
          </p:cNvPr>
          <p:cNvSpPr>
            <a:spLocks noGrp="1"/>
          </p:cNvSpPr>
          <p:nvPr>
            <p:ph idx="1"/>
          </p:nvPr>
        </p:nvSpPr>
        <p:spPr>
          <a:xfrm>
            <a:off x="457200" y="1066801"/>
            <a:ext cx="8305800" cy="5105400"/>
          </a:xfrm>
        </p:spPr>
        <p:txBody>
          <a:bodyPr>
            <a:normAutofit/>
          </a:bodyPr>
          <a:lstStyle/>
          <a:p>
            <a:r>
              <a:rPr lang="en-US" b="1" dirty="0"/>
              <a:t>Step 2: Identify Attributes for each main class</a:t>
            </a:r>
          </a:p>
          <a:p>
            <a:pPr>
              <a:buFont typeface="Arial" panose="020B0604020202020204" pitchFamily="34" charset="0"/>
              <a:buChar char="•"/>
            </a:pPr>
            <a:r>
              <a:rPr lang="en-US" b="1" dirty="0"/>
              <a:t>Student</a:t>
            </a:r>
            <a:endParaRPr lang="en-US" dirty="0"/>
          </a:p>
          <a:p>
            <a:pPr marL="742950" lvl="1" indent="-285750">
              <a:buFont typeface="Arial" panose="020B0604020202020204" pitchFamily="34" charset="0"/>
              <a:buChar char="•"/>
            </a:pPr>
            <a:r>
              <a:rPr lang="en-US" dirty="0"/>
              <a:t>name</a:t>
            </a:r>
          </a:p>
          <a:p>
            <a:pPr marL="742950" lvl="1" indent="-285750">
              <a:buFont typeface="Arial" panose="020B0604020202020204" pitchFamily="34" charset="0"/>
              <a:buChar char="•"/>
            </a:pPr>
            <a:r>
              <a:rPr lang="en-US" dirty="0" err="1"/>
              <a:t>student_id</a:t>
            </a:r>
            <a:endParaRPr lang="en-US" dirty="0"/>
          </a:p>
          <a:p>
            <a:pPr marL="742950" lvl="1" indent="-285750">
              <a:buFont typeface="Arial" panose="020B0604020202020204" pitchFamily="34" charset="0"/>
              <a:buChar char="•"/>
            </a:pPr>
            <a:r>
              <a:rPr lang="en-US" dirty="0"/>
              <a:t>email</a:t>
            </a:r>
          </a:p>
          <a:p>
            <a:pPr>
              <a:buFont typeface="Arial" panose="020B0604020202020204" pitchFamily="34" charset="0"/>
              <a:buChar char="•"/>
            </a:pPr>
            <a:r>
              <a:rPr lang="en-US" b="1" dirty="0"/>
              <a:t>Course</a:t>
            </a:r>
            <a:endParaRPr lang="en-US" dirty="0"/>
          </a:p>
          <a:p>
            <a:pPr marL="742950" lvl="1" indent="-285750">
              <a:buFont typeface="Arial" panose="020B0604020202020204" pitchFamily="34" charset="0"/>
              <a:buChar char="•"/>
            </a:pPr>
            <a:r>
              <a:rPr lang="en-US" dirty="0" err="1"/>
              <a:t>course_name</a:t>
            </a:r>
            <a:endParaRPr lang="en-US" dirty="0"/>
          </a:p>
          <a:p>
            <a:pPr marL="742950" lvl="1" indent="-285750">
              <a:buFont typeface="Arial" panose="020B0604020202020204" pitchFamily="34" charset="0"/>
              <a:buChar char="•"/>
            </a:pPr>
            <a:r>
              <a:rPr lang="en-US" dirty="0" err="1"/>
              <a:t>course_code</a:t>
            </a:r>
            <a:endParaRPr lang="en-US" dirty="0"/>
          </a:p>
          <a:p>
            <a:pPr marL="742950" lvl="1" indent="-285750">
              <a:buFont typeface="Arial" panose="020B0604020202020204" pitchFamily="34" charset="0"/>
              <a:buChar char="•"/>
            </a:pPr>
            <a:r>
              <a:rPr lang="en-US" dirty="0"/>
              <a:t>credits</a:t>
            </a:r>
          </a:p>
        </p:txBody>
      </p:sp>
    </p:spTree>
    <p:extLst>
      <p:ext uri="{BB962C8B-B14F-4D97-AF65-F5344CB8AC3E}">
        <p14:creationId xmlns:p14="http://schemas.microsoft.com/office/powerpoint/2010/main" val="30649961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anim calcmode="lin" valueType="num">
                                      <p:cBhvr additive="base">
                                        <p:cTn id="11"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anim calcmode="lin" valueType="num">
                                      <p:cBhvr additive="base">
                                        <p:cTn id="1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anim calcmode="lin" valueType="num">
                                      <p:cBhvr additive="base">
                                        <p:cTn id="23"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 calcmode="lin" valueType="num">
                                      <p:cBhvr additive="base">
                                        <p:cTn id="27"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anim calcmode="lin" valueType="num">
                                      <p:cBhvr additive="base">
                                        <p:cTn id="31"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anim calcmode="lin" valueType="num">
                                      <p:cBhvr additive="base">
                                        <p:cTn id="3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Class Diagrams</a:t>
            </a:r>
          </a:p>
        </p:txBody>
      </p:sp>
      <p:pic>
        <p:nvPicPr>
          <p:cNvPr id="7" name="Picture 6">
            <a:extLst>
              <a:ext uri="{FF2B5EF4-FFF2-40B4-BE49-F238E27FC236}">
                <a16:creationId xmlns:a16="http://schemas.microsoft.com/office/drawing/2014/main" id="{8E15272A-FCF9-447A-97A6-421A674D8F59}"/>
              </a:ext>
            </a:extLst>
          </p:cNvPr>
          <p:cNvPicPr>
            <a:picLocks noChangeAspect="1"/>
          </p:cNvPicPr>
          <p:nvPr/>
        </p:nvPicPr>
        <p:blipFill>
          <a:blip r:embed="rId2"/>
          <a:stretch>
            <a:fillRect/>
          </a:stretch>
        </p:blipFill>
        <p:spPr>
          <a:xfrm>
            <a:off x="788238" y="1700212"/>
            <a:ext cx="7288962" cy="4395788"/>
          </a:xfrm>
          <a:prstGeom prst="rect">
            <a:avLst/>
          </a:prstGeom>
        </p:spPr>
      </p:pic>
    </p:spTree>
    <p:extLst>
      <p:ext uri="{BB962C8B-B14F-4D97-AF65-F5344CB8AC3E}">
        <p14:creationId xmlns:p14="http://schemas.microsoft.com/office/powerpoint/2010/main" val="28191704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Class Diagrams</a:t>
            </a:r>
          </a:p>
        </p:txBody>
      </p:sp>
      <p:sp>
        <p:nvSpPr>
          <p:cNvPr id="5" name="Content Placeholder 4">
            <a:extLst>
              <a:ext uri="{FF2B5EF4-FFF2-40B4-BE49-F238E27FC236}">
                <a16:creationId xmlns:a16="http://schemas.microsoft.com/office/drawing/2014/main" id="{665304F3-1141-4F81-9649-13122484C22A}"/>
              </a:ext>
            </a:extLst>
          </p:cNvPr>
          <p:cNvSpPr>
            <a:spLocks noGrp="1"/>
          </p:cNvSpPr>
          <p:nvPr>
            <p:ph idx="1"/>
          </p:nvPr>
        </p:nvSpPr>
        <p:spPr>
          <a:xfrm>
            <a:off x="457200" y="1066801"/>
            <a:ext cx="8305800" cy="5105400"/>
          </a:xfrm>
        </p:spPr>
        <p:txBody>
          <a:bodyPr>
            <a:normAutofit fontScale="85000" lnSpcReduction="20000"/>
          </a:bodyPr>
          <a:lstStyle/>
          <a:p>
            <a:pPr algn="just">
              <a:lnSpc>
                <a:spcPct val="110000"/>
              </a:lnSpc>
              <a:spcBef>
                <a:spcPts val="600"/>
              </a:spcBef>
              <a:spcAft>
                <a:spcPts val="600"/>
              </a:spcAft>
            </a:pPr>
            <a:r>
              <a:rPr lang="en-US" sz="2800" b="1" dirty="0"/>
              <a:t>Class-based elements. </a:t>
            </a:r>
            <a:r>
              <a:rPr lang="en-US" sz="2800" dirty="0"/>
              <a:t>Each usage scenario implies a set of objects that are manipulated as an actor interacts with the system. </a:t>
            </a:r>
          </a:p>
          <a:p>
            <a:pPr algn="just">
              <a:lnSpc>
                <a:spcPct val="110000"/>
              </a:lnSpc>
              <a:spcBef>
                <a:spcPts val="600"/>
              </a:spcBef>
              <a:spcAft>
                <a:spcPts val="600"/>
              </a:spcAft>
            </a:pPr>
            <a:r>
              <a:rPr lang="en-US" sz="2800" dirty="0"/>
              <a:t>These objects are categorized into classes: </a:t>
            </a:r>
            <a:r>
              <a:rPr lang="en-US" sz="2800" i="1" dirty="0">
                <a:solidFill>
                  <a:srgbClr val="00B0F0"/>
                </a:solidFill>
              </a:rPr>
              <a:t>a collection of things that have similar attributes and common behaviors.</a:t>
            </a:r>
          </a:p>
          <a:p>
            <a:pPr algn="just">
              <a:lnSpc>
                <a:spcPct val="110000"/>
              </a:lnSpc>
              <a:spcBef>
                <a:spcPts val="600"/>
              </a:spcBef>
              <a:spcAft>
                <a:spcPts val="600"/>
              </a:spcAft>
            </a:pPr>
            <a:r>
              <a:rPr lang="en-US" sz="2800" dirty="0"/>
              <a:t>For example, a UML class diagram can be used to depict a Sensor class for the SafeHome security function ( Figure 8.4 ). Note that the diagram lists the attributes of sensors (e.g., name, type) and the operations (e.g., identify, enable) that can be applied to modify these attributes. In addition to class diagrams, other analysis modeling elements depict the manner in which classes collaborate with one another and the relationships and interactions between classes</a:t>
            </a:r>
          </a:p>
        </p:txBody>
      </p:sp>
    </p:spTree>
    <p:extLst>
      <p:ext uri="{BB962C8B-B14F-4D97-AF65-F5344CB8AC3E}">
        <p14:creationId xmlns:p14="http://schemas.microsoft.com/office/powerpoint/2010/main" val="29522299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Class Diagrams</a:t>
            </a:r>
          </a:p>
        </p:txBody>
      </p:sp>
      <p:pic>
        <p:nvPicPr>
          <p:cNvPr id="3" name="Picture 2"/>
          <p:cNvPicPr>
            <a:picLocks noChangeAspect="1"/>
          </p:cNvPicPr>
          <p:nvPr/>
        </p:nvPicPr>
        <p:blipFill>
          <a:blip r:embed="rId2"/>
          <a:stretch>
            <a:fillRect/>
          </a:stretch>
        </p:blipFill>
        <p:spPr>
          <a:xfrm>
            <a:off x="2600325" y="1066800"/>
            <a:ext cx="3943350" cy="5091112"/>
          </a:xfrm>
          <a:prstGeom prst="rect">
            <a:avLst/>
          </a:prstGeom>
        </p:spPr>
      </p:pic>
    </p:spTree>
    <p:extLst>
      <p:ext uri="{BB962C8B-B14F-4D97-AF65-F5344CB8AC3E}">
        <p14:creationId xmlns:p14="http://schemas.microsoft.com/office/powerpoint/2010/main" val="29279136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SPECIFYING ATTRIBUTES</a:t>
            </a:r>
          </a:p>
        </p:txBody>
      </p:sp>
      <p:sp>
        <p:nvSpPr>
          <p:cNvPr id="5" name="Content Placeholder 4">
            <a:extLst>
              <a:ext uri="{FF2B5EF4-FFF2-40B4-BE49-F238E27FC236}">
                <a16:creationId xmlns:a16="http://schemas.microsoft.com/office/drawing/2014/main" id="{665304F3-1141-4F81-9649-13122484C22A}"/>
              </a:ext>
            </a:extLst>
          </p:cNvPr>
          <p:cNvSpPr>
            <a:spLocks noGrp="1"/>
          </p:cNvSpPr>
          <p:nvPr>
            <p:ph idx="1"/>
          </p:nvPr>
        </p:nvSpPr>
        <p:spPr>
          <a:xfrm>
            <a:off x="457200" y="1066801"/>
            <a:ext cx="8305800" cy="5105400"/>
          </a:xfrm>
        </p:spPr>
        <p:txBody>
          <a:bodyPr>
            <a:noAutofit/>
          </a:bodyPr>
          <a:lstStyle/>
          <a:p>
            <a:pPr algn="just">
              <a:lnSpc>
                <a:spcPct val="110000"/>
              </a:lnSpc>
              <a:spcBef>
                <a:spcPts val="600"/>
              </a:spcBef>
              <a:spcAft>
                <a:spcPts val="600"/>
              </a:spcAft>
            </a:pPr>
            <a:r>
              <a:rPr lang="en-US" sz="2400" dirty="0"/>
              <a:t>Attributes describe a class that has been selected for inclusion in the analysis model. In essence, it is the attributes that define the class—that clarify what is meant by the class in the context of the problem space. </a:t>
            </a:r>
          </a:p>
          <a:p>
            <a:pPr algn="just">
              <a:lnSpc>
                <a:spcPct val="110000"/>
              </a:lnSpc>
              <a:spcBef>
                <a:spcPts val="600"/>
              </a:spcBef>
              <a:spcAft>
                <a:spcPts val="600"/>
              </a:spcAft>
            </a:pPr>
            <a:r>
              <a:rPr lang="en-US" sz="2400" dirty="0"/>
              <a:t>For example, if we were  to build a system that tracks baseball statistics for professional baseball players,  the attributes of the class Player would be quite different than the attributes of the same class when it is used in the context of the professional baseball pension  system.</a:t>
            </a:r>
          </a:p>
          <a:p>
            <a:pPr algn="just">
              <a:lnSpc>
                <a:spcPct val="110000"/>
              </a:lnSpc>
              <a:spcBef>
                <a:spcPts val="600"/>
              </a:spcBef>
              <a:spcAft>
                <a:spcPts val="600"/>
              </a:spcAft>
            </a:pPr>
            <a:r>
              <a:rPr lang="en-US" sz="2400" dirty="0"/>
              <a:t>In the former, attributes such as name, position, batting average, fielding percentage, years played, and games played might be relevant </a:t>
            </a:r>
            <a:r>
              <a:rPr lang="en-US" sz="2400" b="1" dirty="0">
                <a:solidFill>
                  <a:srgbClr val="FFC000"/>
                </a:solidFill>
              </a:rPr>
              <a:t>(next slide).</a:t>
            </a:r>
          </a:p>
        </p:txBody>
      </p:sp>
    </p:spTree>
    <p:extLst>
      <p:ext uri="{BB962C8B-B14F-4D97-AF65-F5344CB8AC3E}">
        <p14:creationId xmlns:p14="http://schemas.microsoft.com/office/powerpoint/2010/main" val="27455264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SPECIFYING ATTRIBUTES</a:t>
            </a:r>
          </a:p>
        </p:txBody>
      </p:sp>
      <p:sp>
        <p:nvSpPr>
          <p:cNvPr id="5" name="Content Placeholder 4">
            <a:extLst>
              <a:ext uri="{FF2B5EF4-FFF2-40B4-BE49-F238E27FC236}">
                <a16:creationId xmlns:a16="http://schemas.microsoft.com/office/drawing/2014/main" id="{665304F3-1141-4F81-9649-13122484C22A}"/>
              </a:ext>
            </a:extLst>
          </p:cNvPr>
          <p:cNvSpPr>
            <a:spLocks noGrp="1"/>
          </p:cNvSpPr>
          <p:nvPr>
            <p:ph idx="1"/>
          </p:nvPr>
        </p:nvSpPr>
        <p:spPr>
          <a:xfrm>
            <a:off x="457200" y="1066801"/>
            <a:ext cx="8305800" cy="5105400"/>
          </a:xfrm>
        </p:spPr>
        <p:txBody>
          <a:bodyPr>
            <a:normAutofit fontScale="92500" lnSpcReduction="10000"/>
          </a:bodyPr>
          <a:lstStyle/>
          <a:p>
            <a:pPr algn="just">
              <a:lnSpc>
                <a:spcPct val="110000"/>
              </a:lnSpc>
              <a:spcBef>
                <a:spcPts val="600"/>
              </a:spcBef>
              <a:spcAft>
                <a:spcPts val="600"/>
              </a:spcAft>
            </a:pPr>
            <a:r>
              <a:rPr lang="en-US" sz="2800" dirty="0"/>
              <a:t>For the latter,  some of these attributes would be meaningful, but others would be replaced (or augmented) by attributes like average salary, credit toward full vesting, pension plan options chosen, mailing address, and the like.</a:t>
            </a:r>
          </a:p>
          <a:p>
            <a:pPr algn="just">
              <a:lnSpc>
                <a:spcPct val="110000"/>
              </a:lnSpc>
              <a:spcBef>
                <a:spcPts val="600"/>
              </a:spcBef>
              <a:spcAft>
                <a:spcPts val="600"/>
              </a:spcAft>
            </a:pPr>
            <a:r>
              <a:rPr lang="en-US" sz="2800" dirty="0"/>
              <a:t>To develop a meaningful set of attributes for an analysis class, you should study each use case and select those “things” that reasonably “belong” to the class.</a:t>
            </a:r>
          </a:p>
          <a:p>
            <a:pPr algn="just">
              <a:lnSpc>
                <a:spcPct val="110000"/>
              </a:lnSpc>
              <a:spcBef>
                <a:spcPts val="600"/>
              </a:spcBef>
              <a:spcAft>
                <a:spcPts val="600"/>
              </a:spcAft>
            </a:pPr>
            <a:r>
              <a:rPr lang="en-US" sz="2800" dirty="0"/>
              <a:t> In addition, the following question should be answered for each class: What data items (composite and/or elementary) fully define this class in the context of the problem at hand?</a:t>
            </a:r>
          </a:p>
        </p:txBody>
      </p:sp>
    </p:spTree>
    <p:extLst>
      <p:ext uri="{BB962C8B-B14F-4D97-AF65-F5344CB8AC3E}">
        <p14:creationId xmlns:p14="http://schemas.microsoft.com/office/powerpoint/2010/main" val="10929219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Noun Identification </a:t>
            </a:r>
          </a:p>
        </p:txBody>
      </p:sp>
      <p:sp>
        <p:nvSpPr>
          <p:cNvPr id="5" name="Content Placeholder 4">
            <a:extLst>
              <a:ext uri="{FF2B5EF4-FFF2-40B4-BE49-F238E27FC236}">
                <a16:creationId xmlns:a16="http://schemas.microsoft.com/office/drawing/2014/main" id="{665304F3-1141-4F81-9649-13122484C22A}"/>
              </a:ext>
            </a:extLst>
          </p:cNvPr>
          <p:cNvSpPr>
            <a:spLocks noGrp="1"/>
          </p:cNvSpPr>
          <p:nvPr>
            <p:ph idx="1"/>
          </p:nvPr>
        </p:nvSpPr>
        <p:spPr>
          <a:xfrm>
            <a:off x="457200" y="1066801"/>
            <a:ext cx="8305800" cy="5105400"/>
          </a:xfrm>
        </p:spPr>
        <p:txBody>
          <a:bodyPr>
            <a:normAutofit lnSpcReduction="10000"/>
          </a:bodyPr>
          <a:lstStyle/>
          <a:p>
            <a:pPr algn="just">
              <a:lnSpc>
                <a:spcPct val="110000"/>
              </a:lnSpc>
              <a:spcBef>
                <a:spcPts val="600"/>
              </a:spcBef>
              <a:spcAft>
                <a:spcPts val="600"/>
              </a:spcAft>
            </a:pPr>
            <a:r>
              <a:rPr lang="en-US" sz="2800" dirty="0"/>
              <a:t>The </a:t>
            </a:r>
            <a:r>
              <a:rPr lang="en-US" sz="2800" u="sng" dirty="0"/>
              <a:t>SafeHome security function </a:t>
            </a:r>
            <a:r>
              <a:rPr lang="en-US" sz="2800" dirty="0"/>
              <a:t>enables the </a:t>
            </a:r>
            <a:r>
              <a:rPr lang="en-US" sz="2800" u="sng" dirty="0"/>
              <a:t>homeowner</a:t>
            </a:r>
            <a:r>
              <a:rPr lang="en-US" sz="2800" dirty="0"/>
              <a:t> to configure the </a:t>
            </a:r>
            <a:r>
              <a:rPr lang="en-US" sz="2800" u="sng" dirty="0"/>
              <a:t>security system </a:t>
            </a:r>
            <a:r>
              <a:rPr lang="en-US" sz="2800" dirty="0"/>
              <a:t>when it is installed, monitors all </a:t>
            </a:r>
            <a:r>
              <a:rPr lang="en-US" sz="2800" u="sng" dirty="0"/>
              <a:t>sensors</a:t>
            </a:r>
            <a:r>
              <a:rPr lang="en-US" sz="2800" dirty="0"/>
              <a:t> connected to the </a:t>
            </a:r>
            <a:r>
              <a:rPr lang="en-US" sz="2800" u="sng" dirty="0"/>
              <a:t>security system</a:t>
            </a:r>
            <a:r>
              <a:rPr lang="en-US" sz="2800" dirty="0"/>
              <a:t>, and interacts with the homeowner through the </a:t>
            </a:r>
            <a:r>
              <a:rPr lang="en-US" sz="2800" u="sng" dirty="0"/>
              <a:t>Internet</a:t>
            </a:r>
            <a:r>
              <a:rPr lang="en-US" sz="2800" dirty="0"/>
              <a:t> , a </a:t>
            </a:r>
            <a:r>
              <a:rPr lang="en-US" sz="2800" u="sng" dirty="0"/>
              <a:t>PC </a:t>
            </a:r>
            <a:r>
              <a:rPr lang="en-US" sz="2800" dirty="0"/>
              <a:t>or a </a:t>
            </a:r>
            <a:r>
              <a:rPr lang="en-US" sz="2800" u="sng" dirty="0"/>
              <a:t>control panel . </a:t>
            </a:r>
          </a:p>
          <a:p>
            <a:pPr algn="just">
              <a:lnSpc>
                <a:spcPct val="110000"/>
              </a:lnSpc>
              <a:spcBef>
                <a:spcPts val="600"/>
              </a:spcBef>
              <a:spcAft>
                <a:spcPts val="600"/>
              </a:spcAft>
            </a:pPr>
            <a:r>
              <a:rPr lang="en-US" sz="2800" dirty="0"/>
              <a:t>During </a:t>
            </a:r>
            <a:r>
              <a:rPr lang="en-US" sz="2800" u="sng" dirty="0"/>
              <a:t>installation</a:t>
            </a:r>
            <a:r>
              <a:rPr lang="en-US" sz="2800" dirty="0"/>
              <a:t> , the SafeHome PC is used to program and configure the </a:t>
            </a:r>
            <a:r>
              <a:rPr lang="en-US" sz="2800" u="sng" dirty="0"/>
              <a:t>system</a:t>
            </a:r>
            <a:r>
              <a:rPr lang="en-US" sz="2800" dirty="0"/>
              <a:t> . Each sensor is assigned a </a:t>
            </a:r>
            <a:r>
              <a:rPr lang="en-US" sz="2800" u="sng" dirty="0"/>
              <a:t>number</a:t>
            </a:r>
            <a:r>
              <a:rPr lang="en-US" sz="2800" dirty="0"/>
              <a:t> and </a:t>
            </a:r>
            <a:r>
              <a:rPr lang="en-US" sz="2800" u="sng" dirty="0"/>
              <a:t>type</a:t>
            </a:r>
            <a:r>
              <a:rPr lang="en-US" sz="2800" dirty="0"/>
              <a:t> , a </a:t>
            </a:r>
            <a:r>
              <a:rPr lang="en-US" sz="2800" u="sng" dirty="0"/>
              <a:t>master password </a:t>
            </a:r>
            <a:r>
              <a:rPr lang="en-US" sz="2800" dirty="0"/>
              <a:t>is programmed for arming and disarming the system, and </a:t>
            </a:r>
            <a:r>
              <a:rPr lang="en-US" sz="2800" u="sng" dirty="0"/>
              <a:t>telephone number(s) </a:t>
            </a:r>
            <a:r>
              <a:rPr lang="en-US" sz="2800" dirty="0"/>
              <a:t>are input for dialing when a </a:t>
            </a:r>
            <a:r>
              <a:rPr lang="en-US" sz="2800" u="sng" dirty="0"/>
              <a:t>sensor event </a:t>
            </a:r>
            <a:r>
              <a:rPr lang="en-US" sz="2800" dirty="0"/>
              <a:t>occurs. </a:t>
            </a:r>
          </a:p>
        </p:txBody>
      </p:sp>
    </p:spTree>
    <p:extLst>
      <p:ext uri="{BB962C8B-B14F-4D97-AF65-F5344CB8AC3E}">
        <p14:creationId xmlns:p14="http://schemas.microsoft.com/office/powerpoint/2010/main" val="12019629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Noun Identification </a:t>
            </a:r>
          </a:p>
        </p:txBody>
      </p:sp>
      <p:sp>
        <p:nvSpPr>
          <p:cNvPr id="5" name="Content Placeholder 4">
            <a:extLst>
              <a:ext uri="{FF2B5EF4-FFF2-40B4-BE49-F238E27FC236}">
                <a16:creationId xmlns:a16="http://schemas.microsoft.com/office/drawing/2014/main" id="{665304F3-1141-4F81-9649-13122484C22A}"/>
              </a:ext>
            </a:extLst>
          </p:cNvPr>
          <p:cNvSpPr>
            <a:spLocks noGrp="1"/>
          </p:cNvSpPr>
          <p:nvPr>
            <p:ph idx="1"/>
          </p:nvPr>
        </p:nvSpPr>
        <p:spPr>
          <a:xfrm>
            <a:off x="457200" y="1066801"/>
            <a:ext cx="8305800" cy="5105400"/>
          </a:xfrm>
        </p:spPr>
        <p:txBody>
          <a:bodyPr>
            <a:normAutofit fontScale="85000" lnSpcReduction="10000"/>
          </a:bodyPr>
          <a:lstStyle/>
          <a:p>
            <a:pPr algn="just">
              <a:lnSpc>
                <a:spcPct val="110000"/>
              </a:lnSpc>
              <a:spcBef>
                <a:spcPts val="600"/>
              </a:spcBef>
              <a:spcAft>
                <a:spcPts val="600"/>
              </a:spcAft>
            </a:pPr>
            <a:r>
              <a:rPr lang="en-US" sz="2800" dirty="0"/>
              <a:t>When a sensor event is recognized, the software invokes an </a:t>
            </a:r>
            <a:r>
              <a:rPr lang="en-US" sz="2800" u="sng" dirty="0"/>
              <a:t>audible alarm </a:t>
            </a:r>
            <a:r>
              <a:rPr lang="en-US" sz="2800" dirty="0"/>
              <a:t>attached to the system. After a </a:t>
            </a:r>
            <a:r>
              <a:rPr lang="en-US" sz="2800" u="sng" dirty="0"/>
              <a:t>delay time </a:t>
            </a:r>
            <a:r>
              <a:rPr lang="en-US" sz="2800" dirty="0"/>
              <a:t>that is specified by the homeowner during system configuration activities, the software dials a telephone number of a </a:t>
            </a:r>
            <a:r>
              <a:rPr lang="en-US" sz="2800" u="sng" dirty="0"/>
              <a:t>monitoring service</a:t>
            </a:r>
            <a:r>
              <a:rPr lang="en-US" sz="2800" dirty="0"/>
              <a:t>, provides </a:t>
            </a:r>
            <a:r>
              <a:rPr lang="en-US" sz="2800" u="sng" dirty="0"/>
              <a:t>information</a:t>
            </a:r>
            <a:r>
              <a:rPr lang="en-US" sz="2800" dirty="0"/>
              <a:t> about the </a:t>
            </a:r>
            <a:r>
              <a:rPr lang="en-US" sz="2800" u="sng" dirty="0"/>
              <a:t>location</a:t>
            </a:r>
            <a:r>
              <a:rPr lang="en-US" sz="2800" dirty="0"/>
              <a:t>, reporting the nature of the event that has been detected. The telephone number will be redialed every 20 seconds until </a:t>
            </a:r>
            <a:r>
              <a:rPr lang="en-US" sz="2800" u="sng" dirty="0"/>
              <a:t>telephone connection </a:t>
            </a:r>
            <a:r>
              <a:rPr lang="en-US" sz="2800" dirty="0"/>
              <a:t>is obtained.</a:t>
            </a:r>
          </a:p>
          <a:p>
            <a:pPr algn="just">
              <a:lnSpc>
                <a:spcPct val="110000"/>
              </a:lnSpc>
              <a:spcBef>
                <a:spcPts val="600"/>
              </a:spcBef>
              <a:spcAft>
                <a:spcPts val="600"/>
              </a:spcAft>
            </a:pPr>
            <a:r>
              <a:rPr lang="en-US" sz="2800" dirty="0"/>
              <a:t>The homeowner receives </a:t>
            </a:r>
            <a:r>
              <a:rPr lang="en-US" sz="2800" u="sng" dirty="0"/>
              <a:t>security information </a:t>
            </a:r>
            <a:r>
              <a:rPr lang="en-US" sz="2800" dirty="0"/>
              <a:t>via a control panel, the PC, or a browser, collectively called an interface. The </a:t>
            </a:r>
            <a:r>
              <a:rPr lang="en-US" sz="2800" u="sng" dirty="0"/>
              <a:t>interface</a:t>
            </a:r>
            <a:r>
              <a:rPr lang="en-US" sz="2800" dirty="0"/>
              <a:t> displays </a:t>
            </a:r>
            <a:r>
              <a:rPr lang="en-US" sz="2800" u="sng" dirty="0"/>
              <a:t>prompting messages </a:t>
            </a:r>
            <a:r>
              <a:rPr lang="en-US" sz="2800" dirty="0"/>
              <a:t>and </a:t>
            </a:r>
            <a:r>
              <a:rPr lang="en-US" sz="2800" u="sng" dirty="0"/>
              <a:t>system status information</a:t>
            </a:r>
            <a:r>
              <a:rPr lang="en-US" sz="2800" dirty="0"/>
              <a:t> on the control panel, the PC, or the browser window.  Homeowner interaction takes the following form . . . </a:t>
            </a:r>
          </a:p>
        </p:txBody>
      </p:sp>
    </p:spTree>
    <p:extLst>
      <p:ext uri="{BB962C8B-B14F-4D97-AF65-F5344CB8AC3E}">
        <p14:creationId xmlns:p14="http://schemas.microsoft.com/office/powerpoint/2010/main" val="35629369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Noun Identification </a:t>
            </a:r>
          </a:p>
        </p:txBody>
      </p:sp>
      <p:pic>
        <p:nvPicPr>
          <p:cNvPr id="3" name="Picture 2"/>
          <p:cNvPicPr>
            <a:picLocks noChangeAspect="1"/>
          </p:cNvPicPr>
          <p:nvPr/>
        </p:nvPicPr>
        <p:blipFill>
          <a:blip r:embed="rId2"/>
          <a:stretch>
            <a:fillRect/>
          </a:stretch>
        </p:blipFill>
        <p:spPr>
          <a:xfrm>
            <a:off x="152400" y="838200"/>
            <a:ext cx="8382000" cy="5838825"/>
          </a:xfrm>
          <a:prstGeom prst="rect">
            <a:avLst/>
          </a:prstGeom>
        </p:spPr>
      </p:pic>
    </p:spTree>
    <p:extLst>
      <p:ext uri="{BB962C8B-B14F-4D97-AF65-F5344CB8AC3E}">
        <p14:creationId xmlns:p14="http://schemas.microsoft.com/office/powerpoint/2010/main" val="20646886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Noun Identification </a:t>
            </a:r>
          </a:p>
        </p:txBody>
      </p:sp>
      <p:sp>
        <p:nvSpPr>
          <p:cNvPr id="5" name="Content Placeholder 4">
            <a:extLst>
              <a:ext uri="{FF2B5EF4-FFF2-40B4-BE49-F238E27FC236}">
                <a16:creationId xmlns:a16="http://schemas.microsoft.com/office/drawing/2014/main" id="{665304F3-1141-4F81-9649-13122484C22A}"/>
              </a:ext>
            </a:extLst>
          </p:cNvPr>
          <p:cNvSpPr>
            <a:spLocks noGrp="1"/>
          </p:cNvSpPr>
          <p:nvPr>
            <p:ph idx="1"/>
          </p:nvPr>
        </p:nvSpPr>
        <p:spPr>
          <a:xfrm>
            <a:off x="457200" y="1066801"/>
            <a:ext cx="8305800" cy="5105400"/>
          </a:xfrm>
        </p:spPr>
        <p:txBody>
          <a:bodyPr>
            <a:normAutofit fontScale="77500" lnSpcReduction="20000"/>
          </a:bodyPr>
          <a:lstStyle/>
          <a:p>
            <a:pPr algn="just">
              <a:lnSpc>
                <a:spcPct val="110000"/>
              </a:lnSpc>
              <a:spcBef>
                <a:spcPts val="600"/>
              </a:spcBef>
              <a:spcAft>
                <a:spcPts val="600"/>
              </a:spcAft>
            </a:pPr>
            <a:r>
              <a:rPr lang="en-US" sz="2800" dirty="0"/>
              <a:t>Coad and Yourdon [Coa91] suggest six selection characteristics that should  be used as you consider each potential class for inclusion in the analysis model:</a:t>
            </a:r>
          </a:p>
          <a:p>
            <a:pPr marL="514350" indent="-514350" algn="just">
              <a:lnSpc>
                <a:spcPct val="110000"/>
              </a:lnSpc>
              <a:spcBef>
                <a:spcPts val="600"/>
              </a:spcBef>
              <a:spcAft>
                <a:spcPts val="600"/>
              </a:spcAft>
              <a:buFont typeface="+mj-lt"/>
              <a:buAutoNum type="arabicPeriod"/>
            </a:pPr>
            <a:r>
              <a:rPr lang="en-US" sz="3600" b="1" dirty="0"/>
              <a:t>Retained information. </a:t>
            </a:r>
            <a:r>
              <a:rPr lang="en-US" sz="2800" dirty="0"/>
              <a:t>The potential class will be useful during analysis only if information about it must be remembered so that the system can function. </a:t>
            </a:r>
          </a:p>
          <a:p>
            <a:pPr marL="514350" indent="-514350" algn="just">
              <a:lnSpc>
                <a:spcPct val="110000"/>
              </a:lnSpc>
              <a:spcBef>
                <a:spcPts val="600"/>
              </a:spcBef>
              <a:spcAft>
                <a:spcPts val="600"/>
              </a:spcAft>
              <a:buFont typeface="+mj-lt"/>
              <a:buAutoNum type="arabicPeriod"/>
            </a:pPr>
            <a:r>
              <a:rPr lang="en-US" sz="3600" b="1" dirty="0"/>
              <a:t>Needed services</a:t>
            </a:r>
            <a:r>
              <a:rPr lang="en-US" sz="2800" dirty="0"/>
              <a:t>. The potential class must have a set of identifiable operations that can change the value of its attributes in some way. </a:t>
            </a:r>
          </a:p>
          <a:p>
            <a:pPr marL="514350" indent="-514350" algn="just">
              <a:lnSpc>
                <a:spcPct val="110000"/>
              </a:lnSpc>
              <a:spcBef>
                <a:spcPts val="600"/>
              </a:spcBef>
              <a:spcAft>
                <a:spcPts val="600"/>
              </a:spcAft>
              <a:buFont typeface="+mj-lt"/>
              <a:buAutoNum type="arabicPeriod"/>
            </a:pPr>
            <a:r>
              <a:rPr lang="en-US" sz="3600" b="1" dirty="0"/>
              <a:t>Multiple attributes. </a:t>
            </a:r>
            <a:r>
              <a:rPr lang="en-US" sz="2800" dirty="0"/>
              <a:t>During requirement analysis, the focus should be  on “major” information; a class with a single attribute may, in fact, be  useful during design, but is probably better represented as an attribute of another class during the analysis activity. </a:t>
            </a:r>
          </a:p>
          <a:p>
            <a:pPr marL="0" indent="0" algn="just">
              <a:lnSpc>
                <a:spcPct val="110000"/>
              </a:lnSpc>
              <a:spcBef>
                <a:spcPts val="600"/>
              </a:spcBef>
              <a:spcAft>
                <a:spcPts val="600"/>
              </a:spcAft>
              <a:buNone/>
            </a:pPr>
            <a:endParaRPr lang="en-US" sz="2800" dirty="0"/>
          </a:p>
        </p:txBody>
      </p:sp>
    </p:spTree>
    <p:extLst>
      <p:ext uri="{BB962C8B-B14F-4D97-AF65-F5344CB8AC3E}">
        <p14:creationId xmlns:p14="http://schemas.microsoft.com/office/powerpoint/2010/main" val="31362955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Noun Identification </a:t>
            </a:r>
          </a:p>
        </p:txBody>
      </p:sp>
      <p:sp>
        <p:nvSpPr>
          <p:cNvPr id="5" name="Content Placeholder 4">
            <a:extLst>
              <a:ext uri="{FF2B5EF4-FFF2-40B4-BE49-F238E27FC236}">
                <a16:creationId xmlns:a16="http://schemas.microsoft.com/office/drawing/2014/main" id="{665304F3-1141-4F81-9649-13122484C22A}"/>
              </a:ext>
            </a:extLst>
          </p:cNvPr>
          <p:cNvSpPr>
            <a:spLocks noGrp="1"/>
          </p:cNvSpPr>
          <p:nvPr>
            <p:ph idx="1"/>
          </p:nvPr>
        </p:nvSpPr>
        <p:spPr>
          <a:xfrm>
            <a:off x="457200" y="1066801"/>
            <a:ext cx="8305800" cy="5105400"/>
          </a:xfrm>
        </p:spPr>
        <p:txBody>
          <a:bodyPr>
            <a:normAutofit/>
          </a:bodyPr>
          <a:lstStyle/>
          <a:p>
            <a:pPr marL="514350" indent="-514350" algn="just">
              <a:lnSpc>
                <a:spcPct val="100000"/>
              </a:lnSpc>
              <a:spcBef>
                <a:spcPts val="600"/>
              </a:spcBef>
              <a:spcAft>
                <a:spcPts val="600"/>
              </a:spcAft>
              <a:buFont typeface="+mj-lt"/>
              <a:buAutoNum type="arabicPeriod" startAt="4"/>
            </a:pPr>
            <a:r>
              <a:rPr lang="en-US" sz="2800" b="1" dirty="0"/>
              <a:t>Common attributes. </a:t>
            </a:r>
            <a:r>
              <a:rPr lang="en-US" sz="2800" dirty="0"/>
              <a:t>A set of attributes can be defined for the potential class and these attributes apply to all instances of the class. </a:t>
            </a:r>
          </a:p>
          <a:p>
            <a:pPr marL="514350" indent="-514350" algn="just">
              <a:lnSpc>
                <a:spcPct val="100000"/>
              </a:lnSpc>
              <a:spcBef>
                <a:spcPts val="600"/>
              </a:spcBef>
              <a:spcAft>
                <a:spcPts val="600"/>
              </a:spcAft>
              <a:buFont typeface="+mj-lt"/>
              <a:buAutoNum type="arabicPeriod" startAt="4"/>
            </a:pPr>
            <a:r>
              <a:rPr lang="en-US" sz="2800" b="1" dirty="0"/>
              <a:t>Common operations. </a:t>
            </a:r>
            <a:r>
              <a:rPr lang="en-US" sz="2800" dirty="0"/>
              <a:t>A set of operations can be defined for the potential class and these operations apply to all instances of the class. </a:t>
            </a:r>
          </a:p>
          <a:p>
            <a:pPr marL="514350" indent="-514350" algn="just">
              <a:lnSpc>
                <a:spcPct val="100000"/>
              </a:lnSpc>
              <a:spcBef>
                <a:spcPts val="600"/>
              </a:spcBef>
              <a:spcAft>
                <a:spcPts val="600"/>
              </a:spcAft>
              <a:buFont typeface="+mj-lt"/>
              <a:buAutoNum type="arabicPeriod" startAt="4"/>
            </a:pPr>
            <a:r>
              <a:rPr lang="en-US" sz="2800" b="1" dirty="0"/>
              <a:t>Essential requirements. </a:t>
            </a:r>
            <a:r>
              <a:rPr lang="en-US" sz="2800" dirty="0"/>
              <a:t>External entities that appear in the problem space and produce or consume information essential to the operation of any solution for the system will almost always be defined as classes in the requirements model.</a:t>
            </a:r>
          </a:p>
        </p:txBody>
      </p:sp>
    </p:spTree>
    <p:extLst>
      <p:ext uri="{BB962C8B-B14F-4D97-AF65-F5344CB8AC3E}">
        <p14:creationId xmlns:p14="http://schemas.microsoft.com/office/powerpoint/2010/main" val="1915334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Noun Identification </a:t>
            </a:r>
          </a:p>
        </p:txBody>
      </p:sp>
      <p:sp>
        <p:nvSpPr>
          <p:cNvPr id="5" name="Content Placeholder 4">
            <a:extLst>
              <a:ext uri="{FF2B5EF4-FFF2-40B4-BE49-F238E27FC236}">
                <a16:creationId xmlns:a16="http://schemas.microsoft.com/office/drawing/2014/main" id="{665304F3-1141-4F81-9649-13122484C22A}"/>
              </a:ext>
            </a:extLst>
          </p:cNvPr>
          <p:cNvSpPr>
            <a:spLocks noGrp="1"/>
          </p:cNvSpPr>
          <p:nvPr>
            <p:ph idx="1"/>
          </p:nvPr>
        </p:nvSpPr>
        <p:spPr>
          <a:xfrm>
            <a:off x="457200" y="1066801"/>
            <a:ext cx="8305800" cy="5105400"/>
          </a:xfrm>
        </p:spPr>
        <p:txBody>
          <a:bodyPr>
            <a:normAutofit/>
          </a:bodyPr>
          <a:lstStyle/>
          <a:p>
            <a:pPr marL="0" indent="0" algn="just">
              <a:lnSpc>
                <a:spcPct val="150000"/>
              </a:lnSpc>
              <a:spcBef>
                <a:spcPts val="600"/>
              </a:spcBef>
              <a:spcAft>
                <a:spcPts val="600"/>
              </a:spcAft>
              <a:buNone/>
            </a:pPr>
            <a:r>
              <a:rPr lang="en-US" sz="2200" dirty="0"/>
              <a:t>To be considered a legitimate class for inclusion in the requirements model, a potential object should satisfy all (or almost all) of these characteristics. The decision for inclusion of potential classes in the analysis model is somewhat subjective, and later evaluation may cause an object to be discarded or reinstated. However, the first step of class-based modeling is the definition of classes, and decisions (even subjective ones) must be made. With this in mind, you should apply the selection characteristics to the list of potential SafeHome classes:</a:t>
            </a:r>
          </a:p>
          <a:p>
            <a:pPr marL="0" indent="0" algn="just">
              <a:lnSpc>
                <a:spcPct val="100000"/>
              </a:lnSpc>
              <a:spcBef>
                <a:spcPts val="600"/>
              </a:spcBef>
              <a:spcAft>
                <a:spcPts val="600"/>
              </a:spcAft>
              <a:buNone/>
            </a:pPr>
            <a:endParaRPr lang="en-US" dirty="0"/>
          </a:p>
        </p:txBody>
      </p:sp>
    </p:spTree>
    <p:extLst>
      <p:ext uri="{BB962C8B-B14F-4D97-AF65-F5344CB8AC3E}">
        <p14:creationId xmlns:p14="http://schemas.microsoft.com/office/powerpoint/2010/main" val="42251282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9D193D-0041-42EE-B51B-4AFC0C6DD2EF}"/>
              </a:ext>
            </a:extLst>
          </p:cNvPr>
          <p:cNvSpPr>
            <a:spLocks noGrp="1"/>
          </p:cNvSpPr>
          <p:nvPr>
            <p:ph type="title"/>
          </p:nvPr>
        </p:nvSpPr>
        <p:spPr>
          <a:xfrm>
            <a:off x="609600" y="381000"/>
            <a:ext cx="7886700" cy="396874"/>
          </a:xfrm>
        </p:spPr>
        <p:txBody>
          <a:bodyPr>
            <a:noAutofit/>
          </a:bodyPr>
          <a:lstStyle/>
          <a:p>
            <a:r>
              <a:rPr lang="en-US" sz="3200" b="1" dirty="0">
                <a:latin typeface="Arial Black" panose="020B0A04020102020204" pitchFamily="34" charset="0"/>
              </a:rPr>
              <a:t>Noun Identification </a:t>
            </a:r>
          </a:p>
        </p:txBody>
      </p:sp>
      <p:pic>
        <p:nvPicPr>
          <p:cNvPr id="3" name="Picture 2"/>
          <p:cNvPicPr>
            <a:picLocks noChangeAspect="1"/>
          </p:cNvPicPr>
          <p:nvPr/>
        </p:nvPicPr>
        <p:blipFill>
          <a:blip r:embed="rId2"/>
          <a:stretch>
            <a:fillRect/>
          </a:stretch>
        </p:blipFill>
        <p:spPr>
          <a:xfrm>
            <a:off x="1027839" y="1219200"/>
            <a:ext cx="7125561" cy="5162016"/>
          </a:xfrm>
          <a:prstGeom prst="rect">
            <a:avLst/>
          </a:prstGeom>
        </p:spPr>
      </p:pic>
    </p:spTree>
    <p:extLst>
      <p:ext uri="{BB962C8B-B14F-4D97-AF65-F5344CB8AC3E}">
        <p14:creationId xmlns:p14="http://schemas.microsoft.com/office/powerpoint/2010/main" val="41817549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2609</Words>
  <Application>Microsoft Office PowerPoint</Application>
  <PresentationFormat>On-screen Show (4:3)</PresentationFormat>
  <Paragraphs>231</Paragraphs>
  <Slides>53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Arial Black</vt:lpstr>
      <vt:lpstr>Calibri</vt:lpstr>
      <vt:lpstr>Calibri Light</vt:lpstr>
      <vt:lpstr>Georgia</vt:lpstr>
      <vt:lpstr>Office Theme</vt:lpstr>
      <vt:lpstr>Structural Model</vt:lpstr>
      <vt:lpstr>Structural Models</vt:lpstr>
      <vt:lpstr>Class Diagrams</vt:lpstr>
      <vt:lpstr>Class Diagrams</vt:lpstr>
      <vt:lpstr>Class Diagrams</vt:lpstr>
      <vt:lpstr>Class Diagrams</vt:lpstr>
      <vt:lpstr>Classes and associations in the MHC-PMS</vt:lpstr>
      <vt:lpstr>Classes and associations in the MHC-PMS</vt:lpstr>
      <vt:lpstr>Classes and associations in the MHC-PMS</vt:lpstr>
      <vt:lpstr>Class Diagrams</vt:lpstr>
      <vt:lpstr>Class Diagrams</vt:lpstr>
      <vt:lpstr>Class Diagrams</vt:lpstr>
      <vt:lpstr>Class Diagrams</vt:lpstr>
      <vt:lpstr>Class Diagrams</vt:lpstr>
      <vt:lpstr>Class Diagrams</vt:lpstr>
      <vt:lpstr>Class Diagrams</vt:lpstr>
      <vt:lpstr>Class Diagrams</vt:lpstr>
      <vt:lpstr>Class Diagrams</vt:lpstr>
      <vt:lpstr>Class Diagrams</vt:lpstr>
      <vt:lpstr>Class Diagrams: interfaces </vt:lpstr>
      <vt:lpstr>Class Diagrams</vt:lpstr>
      <vt:lpstr>Class Diagrams</vt:lpstr>
      <vt:lpstr>Class Diagrams an example of abstract class in java</vt:lpstr>
      <vt:lpstr>Adding details to class diagram</vt:lpstr>
      <vt:lpstr>Relationships between classes</vt:lpstr>
      <vt:lpstr>Generalization (inheritance) relationships</vt:lpstr>
      <vt:lpstr>PowerPoint Presentation</vt:lpstr>
      <vt:lpstr>Multiplicity of associations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Possible Class Diagram</vt:lpstr>
      <vt:lpstr>Class Diagrams</vt:lpstr>
      <vt:lpstr>Class Diagrams</vt:lpstr>
      <vt:lpstr>Class Diagrams</vt:lpstr>
      <vt:lpstr>Class Diagrams</vt:lpstr>
      <vt:lpstr>Class Diagrams</vt:lpstr>
      <vt:lpstr>SPECIFYING ATTRIBUTES</vt:lpstr>
      <vt:lpstr>SPECIFYING ATTRIBUTES</vt:lpstr>
      <vt:lpstr>Noun Identification </vt:lpstr>
      <vt:lpstr>Noun Identification </vt:lpstr>
      <vt:lpstr>Noun Identification </vt:lpstr>
      <vt:lpstr>Noun Identification </vt:lpstr>
      <vt:lpstr>Noun Identification </vt:lpstr>
      <vt:lpstr>Noun Identification </vt:lpstr>
      <vt:lpstr>Noun Identification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2013-02-13T09:48:02Z</dcterms:created>
  <dcterms:modified xsi:type="dcterms:W3CDTF">2025-05-20T07:34:59Z</dcterms:modified>
</cp:coreProperties>
</file>