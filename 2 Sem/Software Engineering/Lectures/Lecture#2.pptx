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62" r:id="rId4"/>
    <p:sldId id="263" r:id="rId5"/>
    <p:sldId id="266" r:id="rId6"/>
    <p:sldId id="267" r:id="rId7"/>
    <p:sldId id="268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2" r:id="rId26"/>
    <p:sldId id="293" r:id="rId27"/>
    <p:sldId id="294" r:id="rId28"/>
    <p:sldId id="295" r:id="rId29"/>
    <p:sldId id="296" r:id="rId30"/>
    <p:sldId id="297" r:id="rId31"/>
    <p:sldId id="300" r:id="rId32"/>
    <p:sldId id="301" r:id="rId33"/>
    <p:sldId id="302" r:id="rId34"/>
    <p:sldId id="303" r:id="rId35"/>
    <p:sldId id="357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6" r:id="rId75"/>
    <p:sldId id="347" r:id="rId76"/>
    <p:sldId id="348" r:id="rId77"/>
    <p:sldId id="354" r:id="rId78"/>
    <p:sldId id="355" r:id="rId79"/>
    <p:sldId id="356" r:id="rId8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8898" y="331723"/>
            <a:ext cx="6684645" cy="772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7857" y="6464680"/>
            <a:ext cx="3538346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08263" y="6464680"/>
            <a:ext cx="1601978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0201" y="373761"/>
            <a:ext cx="7840345" cy="3782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lang="en-US"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(CSC291)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R="382270" algn="ctr">
              <a:lnSpc>
                <a:spcPct val="100000"/>
              </a:lnSpc>
            </a:pPr>
            <a:r>
              <a:rPr sz="4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sz="4000" b="1" u="sng" spc="-2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02</a:t>
            </a:r>
            <a:endParaRPr sz="4000" dirty="0">
              <a:latin typeface="Times New Roman"/>
              <a:cs typeface="Times New Roman"/>
            </a:endParaRPr>
          </a:p>
          <a:p>
            <a:pPr marR="382905" algn="ctr">
              <a:lnSpc>
                <a:spcPct val="100000"/>
              </a:lnSpc>
              <a:spcBef>
                <a:spcPts val="3840"/>
              </a:spcBef>
            </a:pPr>
            <a:r>
              <a:rPr sz="4000" dirty="0">
                <a:latin typeface="Times New Roman"/>
                <a:cs typeface="Times New Roman"/>
              </a:rPr>
              <a:t>Process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Models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339" y="366776"/>
            <a:ext cx="9674861" cy="586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0">
              <a:lnSpc>
                <a:spcPct val="100000"/>
              </a:lnSpc>
              <a:spcBef>
                <a:spcPts val="100"/>
              </a:spcBef>
              <a:tabLst>
                <a:tab pos="3978275" algn="l"/>
              </a:tabLst>
            </a:pPr>
            <a:r>
              <a:rPr sz="3600" b="1" u="sng" spc="-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opics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Covered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Steps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Software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Development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Process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Software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Models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515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Sequential</a:t>
            </a:r>
            <a:r>
              <a:rPr sz="2200" b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22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Model: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265"/>
              </a:lnSpc>
              <a:buFont typeface="Arial MT"/>
              <a:buChar char="•"/>
              <a:tabLst>
                <a:tab pos="697865" algn="l"/>
              </a:tabLst>
            </a:pPr>
            <a:r>
              <a:rPr sz="2100" spc="-20" dirty="0">
                <a:latin typeface="Times New Roman"/>
                <a:cs typeface="Times New Roman"/>
              </a:rPr>
              <a:t>Waterfall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Model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265"/>
              </a:lnSpc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latin typeface="Times New Roman"/>
                <a:cs typeface="Times New Roman"/>
              </a:rPr>
              <a:t>Incremental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Model</a:t>
            </a:r>
            <a:endParaRPr sz="21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395"/>
              </a:lnSpc>
              <a:buFont typeface="Arial MT"/>
              <a:buChar char="•"/>
              <a:tabLst>
                <a:tab pos="697865" algn="l"/>
              </a:tabLst>
            </a:pPr>
            <a:r>
              <a:rPr sz="2100" spc="-114" dirty="0">
                <a:latin typeface="Times New Roman"/>
                <a:cs typeface="Times New Roman"/>
              </a:rPr>
              <a:t>V-</a:t>
            </a:r>
            <a:r>
              <a:rPr sz="2100" spc="-10" dirty="0">
                <a:latin typeface="Times New Roman"/>
                <a:cs typeface="Times New Roman"/>
              </a:rPr>
              <a:t>Model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490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</a:t>
            </a:r>
            <a:r>
              <a:rPr sz="2200" b="1" u="sng" spc="-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Development: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10" dirty="0">
                <a:latin typeface="Times New Roman"/>
                <a:cs typeface="Times New Roman"/>
              </a:rPr>
              <a:t>Prototyping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49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Spiral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Model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49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22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22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Model: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35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25" dirty="0">
                <a:latin typeface="Times New Roman"/>
                <a:cs typeface="Times New Roman"/>
              </a:rPr>
              <a:t>RUP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249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25" dirty="0">
                <a:latin typeface="Times New Roman"/>
                <a:cs typeface="Times New Roman"/>
              </a:rPr>
              <a:t>RAD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Process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iteration</a:t>
            </a:r>
            <a:endParaRPr sz="21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Agile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SDLC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Models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752" y="366776"/>
            <a:ext cx="10715448" cy="4365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5485">
              <a:lnSpc>
                <a:spcPct val="100000"/>
              </a:lnSpc>
              <a:spcBef>
                <a:spcPts val="100"/>
              </a:spcBef>
              <a:tabLst>
                <a:tab pos="374967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Build and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Fix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Problems</a:t>
            </a:r>
            <a:endParaRPr sz="25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specifications</a:t>
            </a:r>
            <a:endParaRPr sz="25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500" dirty="0">
                <a:latin typeface="Times New Roman"/>
                <a:cs typeface="Times New Roman"/>
              </a:rPr>
              <a:t>No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design</a:t>
            </a:r>
            <a:endParaRPr sz="25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Totally</a:t>
            </a:r>
            <a:r>
              <a:rPr sz="25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unsatisfactory</a:t>
            </a:r>
            <a:endParaRPr sz="25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Need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life-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r>
              <a:rPr sz="25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5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500" spc="-10" dirty="0">
                <a:latin typeface="Times New Roman"/>
                <a:cs typeface="Times New Roman"/>
              </a:rPr>
              <a:t>Phases</a:t>
            </a:r>
            <a:endParaRPr sz="25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500" spc="-10" dirty="0">
                <a:latin typeface="Times New Roman"/>
                <a:cs typeface="Times New Roman"/>
              </a:rPr>
              <a:t>Milestones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488871"/>
            <a:ext cx="5360415" cy="4857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2682" y="419811"/>
            <a:ext cx="10475595" cy="50940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95"/>
              </a:spcBef>
              <a:tabLst>
                <a:tab pos="2409190" algn="l"/>
              </a:tabLst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40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Process?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0100"/>
              </a:lnSpc>
              <a:buFont typeface="Arial MT"/>
              <a:buChar char="•"/>
              <a:tabLst>
                <a:tab pos="241300" algn="l"/>
                <a:tab pos="1649730" algn="l"/>
                <a:tab pos="2966085" algn="l"/>
                <a:tab pos="3843020" algn="l"/>
                <a:tab pos="5452110" algn="l"/>
                <a:tab pos="6878955" algn="l"/>
                <a:tab pos="7590790" algn="l"/>
                <a:tab pos="8027034" algn="l"/>
                <a:tab pos="8849995" algn="l"/>
                <a:tab pos="9323705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Process: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“The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systematic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approach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used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engineering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sometimes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process.”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“A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 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activities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whose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evolution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software”.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2905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Generic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activities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processes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are: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specification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development: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9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validation: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0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Software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evolution: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6136" y="454863"/>
            <a:ext cx="10495915" cy="6011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100"/>
              </a:spcBef>
              <a:tabLst>
                <a:tab pos="2634615" algn="l"/>
              </a:tabLst>
            </a:pP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Activities</a:t>
            </a:r>
            <a:r>
              <a:rPr sz="36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sz="36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Proce</a:t>
            </a:r>
            <a:r>
              <a:rPr sz="3600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s?</a:t>
            </a: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700"/>
              </a:lnSpc>
              <a:spcBef>
                <a:spcPts val="35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Generic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are:</a:t>
            </a:r>
            <a:endParaRPr sz="2400" dirty="0">
              <a:latin typeface="Times New Roman"/>
              <a:cs typeface="Times New Roman"/>
            </a:endParaRPr>
          </a:p>
          <a:p>
            <a:pPr marL="697230" marR="8255" lvl="1" indent="-227329">
              <a:lnSpc>
                <a:spcPct val="70000"/>
              </a:lnSpc>
              <a:spcBef>
                <a:spcPts val="685"/>
              </a:spcBef>
              <a:buFont typeface="Arial MT"/>
              <a:buChar char="•"/>
              <a:tabLst>
                <a:tab pos="698500" algn="l"/>
                <a:tab pos="2023110" algn="l"/>
                <a:tab pos="3859529" algn="l"/>
                <a:tab pos="4123054" algn="l"/>
                <a:tab pos="4878070" algn="l"/>
                <a:tab pos="5409565" algn="l"/>
                <a:tab pos="6417310" algn="l"/>
                <a:tab pos="7392670" algn="l"/>
                <a:tab pos="7859395" algn="l"/>
                <a:tab pos="8459470" algn="l"/>
                <a:tab pos="890905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-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should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do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development 	constraints</a:t>
            </a:r>
            <a:endParaRPr sz="2400" dirty="0">
              <a:latin typeface="Times New Roman"/>
              <a:cs typeface="Times New Roman"/>
            </a:endParaRPr>
          </a:p>
          <a:p>
            <a:pPr marL="1154430" marR="5080" lvl="2" indent="-227329">
              <a:lnSpc>
                <a:spcPct val="70000"/>
              </a:lnSpc>
              <a:spcBef>
                <a:spcPts val="495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produced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operation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695"/>
              </a:lnSpc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Times New Roman"/>
                <a:cs typeface="Times New Roman"/>
              </a:rPr>
              <a:t>where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programmed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Validation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 </a:t>
            </a:r>
            <a:r>
              <a:rPr sz="2400" spc="-10" dirty="0">
                <a:latin typeface="Times New Roman"/>
                <a:cs typeface="Times New Roman"/>
              </a:rPr>
              <a:t>wants</a:t>
            </a:r>
            <a:endParaRPr sz="2400" dirty="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265"/>
              </a:lnSpc>
              <a:buFont typeface="Arial MT"/>
              <a:buChar char="•"/>
              <a:tabLst>
                <a:tab pos="1154430" algn="l"/>
                <a:tab pos="2068830" algn="l"/>
                <a:tab pos="2608580" algn="l"/>
                <a:tab pos="3825875" algn="l"/>
                <a:tab pos="4196080" algn="l"/>
                <a:tab pos="5362575" algn="l"/>
                <a:tab pos="5766435" algn="l"/>
                <a:tab pos="6731000" algn="l"/>
                <a:tab pos="7354570" algn="l"/>
                <a:tab pos="7691755" algn="l"/>
                <a:tab pos="8063230" algn="l"/>
                <a:tab pos="8823960" algn="l"/>
                <a:tab pos="9364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checked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ensure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customer</a:t>
            </a:r>
            <a:endParaRPr sz="2400" dirty="0">
              <a:latin typeface="Times New Roman"/>
              <a:cs typeface="Times New Roman"/>
            </a:endParaRPr>
          </a:p>
          <a:p>
            <a:pPr marL="1155700">
              <a:lnSpc>
                <a:spcPts val="2450"/>
              </a:lnSpc>
            </a:pPr>
            <a:r>
              <a:rPr sz="2400" spc="-10" dirty="0">
                <a:latin typeface="Times New Roman"/>
                <a:cs typeface="Times New Roman"/>
              </a:rPr>
              <a:t>requires.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95"/>
              </a:lnSpc>
              <a:spcBef>
                <a:spcPts val="2160"/>
              </a:spcBef>
              <a:buFont typeface="Arial MT"/>
              <a:buChar char="•"/>
              <a:tabLst>
                <a:tab pos="697230" algn="l"/>
                <a:tab pos="201358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Evolution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demands</a:t>
            </a:r>
            <a:endParaRPr sz="2400" dirty="0">
              <a:latin typeface="Times New Roman"/>
              <a:cs typeface="Times New Roman"/>
            </a:endParaRPr>
          </a:p>
          <a:p>
            <a:pPr marL="1154430" marR="6350" lvl="2" indent="-227329">
              <a:lnSpc>
                <a:spcPct val="70000"/>
              </a:lnSpc>
              <a:spcBef>
                <a:spcPts val="680"/>
              </a:spcBef>
              <a:buFont typeface="Arial MT"/>
              <a:buChar char="•"/>
              <a:tabLst>
                <a:tab pos="1155700" algn="l"/>
                <a:tab pos="2033270" algn="l"/>
                <a:tab pos="2538095" algn="l"/>
                <a:tab pos="3721100" algn="l"/>
                <a:tab pos="4056379" algn="l"/>
                <a:tab pos="5287645" algn="l"/>
                <a:tab pos="5656580" algn="l"/>
                <a:tab pos="6566534" algn="l"/>
                <a:tab pos="7816215" algn="l"/>
                <a:tab pos="9063355" algn="l"/>
                <a:tab pos="9638030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modified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reflect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changing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customer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market 	requirements.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9855" y="397510"/>
            <a:ext cx="788860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4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4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(Simplified)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0" y="5105400"/>
            <a:ext cx="2716530" cy="1066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496570" marR="401320" indent="-86995">
              <a:lnSpc>
                <a:spcPct val="101099"/>
              </a:lnSpc>
              <a:spcBef>
                <a:spcPts val="919"/>
              </a:spcBef>
            </a:pPr>
            <a:r>
              <a:rPr sz="2600" dirty="0">
                <a:latin typeface="Times New Roman"/>
                <a:cs typeface="Times New Roman"/>
              </a:rPr>
              <a:t>Operation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spc="-10" dirty="0">
                <a:latin typeface="Times New Roman"/>
                <a:cs typeface="Times New Roman"/>
              </a:rPr>
              <a:t>Maintenance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5896" y="1524000"/>
            <a:ext cx="3505200" cy="441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2600">
              <a:latin typeface="Times New Roman"/>
              <a:cs typeface="Times New Roman"/>
            </a:endParaRPr>
          </a:p>
          <a:p>
            <a:pPr marL="625475">
              <a:lnSpc>
                <a:spcPct val="100000"/>
              </a:lnSpc>
            </a:pPr>
            <a:r>
              <a:rPr sz="2600" spc="-10" dirty="0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  <a:p>
            <a:pPr marL="782955" marR="603250" indent="429259">
              <a:lnSpc>
                <a:spcPts val="11850"/>
              </a:lnSpc>
              <a:spcBef>
                <a:spcPts val="1405"/>
              </a:spcBef>
            </a:pPr>
            <a:r>
              <a:rPr sz="2600" spc="-10" dirty="0">
                <a:latin typeface="Times New Roman"/>
                <a:cs typeface="Times New Roman"/>
              </a:rPr>
              <a:t>Design Implementation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1280" y="1534667"/>
            <a:ext cx="2716530" cy="1066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751205" marR="377825" indent="-391795">
              <a:lnSpc>
                <a:spcPct val="101200"/>
              </a:lnSpc>
              <a:spcBef>
                <a:spcPts val="910"/>
              </a:spcBef>
            </a:pPr>
            <a:r>
              <a:rPr sz="2600" dirty="0">
                <a:latin typeface="Times New Roman"/>
                <a:cs typeface="Times New Roman"/>
              </a:rPr>
              <a:t>Feasibility</a:t>
            </a:r>
            <a:r>
              <a:rPr sz="2600" spc="-25" dirty="0">
                <a:latin typeface="Times New Roman"/>
                <a:cs typeface="Times New Roman"/>
              </a:rPr>
              <a:t> and </a:t>
            </a:r>
            <a:r>
              <a:rPr sz="2600" spc="-10" dirty="0">
                <a:latin typeface="Times New Roman"/>
                <a:cs typeface="Times New Roman"/>
              </a:rPr>
              <a:t>Planning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5377" y="2152650"/>
            <a:ext cx="350520" cy="76200"/>
          </a:xfrm>
          <a:custGeom>
            <a:avLst/>
            <a:gdLst/>
            <a:ahLst/>
            <a:cxnLst/>
            <a:rect l="l" t="t" r="r" b="b"/>
            <a:pathLst>
              <a:path w="350520" h="76200">
                <a:moveTo>
                  <a:pt x="274320" y="0"/>
                </a:moveTo>
                <a:lnTo>
                  <a:pt x="274320" y="76200"/>
                </a:lnTo>
                <a:lnTo>
                  <a:pt x="341122" y="42799"/>
                </a:lnTo>
                <a:lnTo>
                  <a:pt x="287020" y="42799"/>
                </a:lnTo>
                <a:lnTo>
                  <a:pt x="287020" y="33274"/>
                </a:lnTo>
                <a:lnTo>
                  <a:pt x="340868" y="33274"/>
                </a:lnTo>
                <a:lnTo>
                  <a:pt x="274320" y="0"/>
                </a:lnTo>
                <a:close/>
              </a:path>
              <a:path w="350520" h="76200">
                <a:moveTo>
                  <a:pt x="27432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74320" y="42799"/>
                </a:lnTo>
                <a:lnTo>
                  <a:pt x="274320" y="33274"/>
                </a:lnTo>
                <a:close/>
              </a:path>
              <a:path w="350520" h="76200">
                <a:moveTo>
                  <a:pt x="340868" y="33274"/>
                </a:moveTo>
                <a:lnTo>
                  <a:pt x="287020" y="33274"/>
                </a:lnTo>
                <a:lnTo>
                  <a:pt x="287020" y="42799"/>
                </a:lnTo>
                <a:lnTo>
                  <a:pt x="341122" y="42799"/>
                </a:lnTo>
                <a:lnTo>
                  <a:pt x="350520" y="38100"/>
                </a:lnTo>
                <a:lnTo>
                  <a:pt x="34086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0843" y="5600700"/>
            <a:ext cx="621665" cy="76200"/>
          </a:xfrm>
          <a:custGeom>
            <a:avLst/>
            <a:gdLst/>
            <a:ahLst/>
            <a:cxnLst/>
            <a:rect l="l" t="t" r="r" b="b"/>
            <a:pathLst>
              <a:path w="621665" h="76200">
                <a:moveTo>
                  <a:pt x="544956" y="0"/>
                </a:moveTo>
                <a:lnTo>
                  <a:pt x="544956" y="76200"/>
                </a:lnTo>
                <a:lnTo>
                  <a:pt x="611631" y="42862"/>
                </a:lnTo>
                <a:lnTo>
                  <a:pt x="557656" y="42862"/>
                </a:lnTo>
                <a:lnTo>
                  <a:pt x="557656" y="33337"/>
                </a:lnTo>
                <a:lnTo>
                  <a:pt x="611631" y="33337"/>
                </a:lnTo>
                <a:lnTo>
                  <a:pt x="544956" y="0"/>
                </a:lnTo>
                <a:close/>
              </a:path>
              <a:path w="621665" h="76200">
                <a:moveTo>
                  <a:pt x="544956" y="33337"/>
                </a:moveTo>
                <a:lnTo>
                  <a:pt x="0" y="33337"/>
                </a:lnTo>
                <a:lnTo>
                  <a:pt x="0" y="42862"/>
                </a:lnTo>
                <a:lnTo>
                  <a:pt x="544956" y="42862"/>
                </a:lnTo>
                <a:lnTo>
                  <a:pt x="544956" y="33337"/>
                </a:lnTo>
                <a:close/>
              </a:path>
              <a:path w="621665" h="76200">
                <a:moveTo>
                  <a:pt x="611631" y="33337"/>
                </a:moveTo>
                <a:lnTo>
                  <a:pt x="557656" y="33337"/>
                </a:lnTo>
                <a:lnTo>
                  <a:pt x="557656" y="42862"/>
                </a:lnTo>
                <a:lnTo>
                  <a:pt x="611631" y="42862"/>
                </a:lnTo>
                <a:lnTo>
                  <a:pt x="621156" y="38100"/>
                </a:lnTo>
                <a:lnTo>
                  <a:pt x="611631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338764" y="1690687"/>
            <a:ext cx="3181985" cy="2900680"/>
            <a:chOff x="4338764" y="1690687"/>
            <a:chExt cx="3181985" cy="2900680"/>
          </a:xfrm>
        </p:grpSpPr>
        <p:sp>
          <p:nvSpPr>
            <p:cNvPr id="9" name="object 9"/>
            <p:cNvSpPr/>
            <p:nvPr/>
          </p:nvSpPr>
          <p:spPr>
            <a:xfrm>
              <a:off x="4343527" y="1695450"/>
              <a:ext cx="3067050" cy="990600"/>
            </a:xfrm>
            <a:custGeom>
              <a:avLst/>
              <a:gdLst/>
              <a:ahLst/>
              <a:cxnLst/>
              <a:rect l="l" t="t" r="r" b="b"/>
              <a:pathLst>
                <a:path w="3067050" h="990600">
                  <a:moveTo>
                    <a:pt x="0" y="495300"/>
                  </a:moveTo>
                  <a:lnTo>
                    <a:pt x="6265" y="450215"/>
                  </a:lnTo>
                  <a:lnTo>
                    <a:pt x="24702" y="406266"/>
                  </a:lnTo>
                  <a:lnTo>
                    <a:pt x="54768" y="363625"/>
                  </a:lnTo>
                  <a:lnTo>
                    <a:pt x="95922" y="322469"/>
                  </a:lnTo>
                  <a:lnTo>
                    <a:pt x="147624" y="282971"/>
                  </a:lnTo>
                  <a:lnTo>
                    <a:pt x="209333" y="245307"/>
                  </a:lnTo>
                  <a:lnTo>
                    <a:pt x="243771" y="227217"/>
                  </a:lnTo>
                  <a:lnTo>
                    <a:pt x="280507" y="209652"/>
                  </a:lnTo>
                  <a:lnTo>
                    <a:pt x="319475" y="192632"/>
                  </a:lnTo>
                  <a:lnTo>
                    <a:pt x="360606" y="176179"/>
                  </a:lnTo>
                  <a:lnTo>
                    <a:pt x="403832" y="160317"/>
                  </a:lnTo>
                  <a:lnTo>
                    <a:pt x="449087" y="145065"/>
                  </a:lnTo>
                  <a:lnTo>
                    <a:pt x="496303" y="130447"/>
                  </a:lnTo>
                  <a:lnTo>
                    <a:pt x="545411" y="116484"/>
                  </a:lnTo>
                  <a:lnTo>
                    <a:pt x="596345" y="103198"/>
                  </a:lnTo>
                  <a:lnTo>
                    <a:pt x="649037" y="90611"/>
                  </a:lnTo>
                  <a:lnTo>
                    <a:pt x="703418" y="78744"/>
                  </a:lnTo>
                  <a:lnTo>
                    <a:pt x="759422" y="67620"/>
                  </a:lnTo>
                  <a:lnTo>
                    <a:pt x="816981" y="57260"/>
                  </a:lnTo>
                  <a:lnTo>
                    <a:pt x="876026" y="47687"/>
                  </a:lnTo>
                  <a:lnTo>
                    <a:pt x="936492" y="38921"/>
                  </a:lnTo>
                  <a:lnTo>
                    <a:pt x="998309" y="30985"/>
                  </a:lnTo>
                  <a:lnTo>
                    <a:pt x="1061410" y="23902"/>
                  </a:lnTo>
                  <a:lnTo>
                    <a:pt x="1125728" y="17691"/>
                  </a:lnTo>
                  <a:lnTo>
                    <a:pt x="1191195" y="12377"/>
                  </a:lnTo>
                  <a:lnTo>
                    <a:pt x="1257743" y="7979"/>
                  </a:lnTo>
                  <a:lnTo>
                    <a:pt x="1325305" y="4521"/>
                  </a:lnTo>
                  <a:lnTo>
                    <a:pt x="1393814" y="2024"/>
                  </a:lnTo>
                  <a:lnTo>
                    <a:pt x="1463200" y="509"/>
                  </a:lnTo>
                  <a:lnTo>
                    <a:pt x="1533398" y="0"/>
                  </a:lnTo>
                  <a:lnTo>
                    <a:pt x="1603595" y="509"/>
                  </a:lnTo>
                  <a:lnTo>
                    <a:pt x="1672983" y="2024"/>
                  </a:lnTo>
                  <a:lnTo>
                    <a:pt x="1741492" y="4521"/>
                  </a:lnTo>
                  <a:lnTo>
                    <a:pt x="1809056" y="7979"/>
                  </a:lnTo>
                  <a:lnTo>
                    <a:pt x="1875607" y="12377"/>
                  </a:lnTo>
                  <a:lnTo>
                    <a:pt x="1941076" y="17691"/>
                  </a:lnTo>
                  <a:lnTo>
                    <a:pt x="2005397" y="23902"/>
                  </a:lnTo>
                  <a:lnTo>
                    <a:pt x="2068502" y="30985"/>
                  </a:lnTo>
                  <a:lnTo>
                    <a:pt x="2130323" y="38921"/>
                  </a:lnTo>
                  <a:lnTo>
                    <a:pt x="2190793" y="47687"/>
                  </a:lnTo>
                  <a:lnTo>
                    <a:pt x="2249843" y="57260"/>
                  </a:lnTo>
                  <a:lnTo>
                    <a:pt x="2307406" y="67620"/>
                  </a:lnTo>
                  <a:lnTo>
                    <a:pt x="2363415" y="78744"/>
                  </a:lnTo>
                  <a:lnTo>
                    <a:pt x="2417801" y="90611"/>
                  </a:lnTo>
                  <a:lnTo>
                    <a:pt x="2470498" y="103198"/>
                  </a:lnTo>
                  <a:lnTo>
                    <a:pt x="2521437" y="116484"/>
                  </a:lnTo>
                  <a:lnTo>
                    <a:pt x="2570550" y="130447"/>
                  </a:lnTo>
                  <a:lnTo>
                    <a:pt x="2617771" y="145065"/>
                  </a:lnTo>
                  <a:lnTo>
                    <a:pt x="2663031" y="160317"/>
                  </a:lnTo>
                  <a:lnTo>
                    <a:pt x="2706263" y="176179"/>
                  </a:lnTo>
                  <a:lnTo>
                    <a:pt x="2747400" y="192632"/>
                  </a:lnTo>
                  <a:lnTo>
                    <a:pt x="2786372" y="209652"/>
                  </a:lnTo>
                  <a:lnTo>
                    <a:pt x="2823113" y="227217"/>
                  </a:lnTo>
                  <a:lnTo>
                    <a:pt x="2857556" y="245307"/>
                  </a:lnTo>
                  <a:lnTo>
                    <a:pt x="2919274" y="282971"/>
                  </a:lnTo>
                  <a:lnTo>
                    <a:pt x="2970984" y="322469"/>
                  </a:lnTo>
                  <a:lnTo>
                    <a:pt x="3012145" y="363625"/>
                  </a:lnTo>
                  <a:lnTo>
                    <a:pt x="3042216" y="406266"/>
                  </a:lnTo>
                  <a:lnTo>
                    <a:pt x="3060656" y="450215"/>
                  </a:lnTo>
                  <a:lnTo>
                    <a:pt x="3066923" y="495300"/>
                  </a:lnTo>
                  <a:lnTo>
                    <a:pt x="3065345" y="517972"/>
                  </a:lnTo>
                  <a:lnTo>
                    <a:pt x="3052924" y="562511"/>
                  </a:lnTo>
                  <a:lnTo>
                    <a:pt x="3028601" y="605828"/>
                  </a:lnTo>
                  <a:lnTo>
                    <a:pt x="2992917" y="647748"/>
                  </a:lnTo>
                  <a:lnTo>
                    <a:pt x="2946413" y="688097"/>
                  </a:lnTo>
                  <a:lnTo>
                    <a:pt x="2889632" y="726700"/>
                  </a:lnTo>
                  <a:lnTo>
                    <a:pt x="2823113" y="763382"/>
                  </a:lnTo>
                  <a:lnTo>
                    <a:pt x="2786372" y="780947"/>
                  </a:lnTo>
                  <a:lnTo>
                    <a:pt x="2747400" y="797967"/>
                  </a:lnTo>
                  <a:lnTo>
                    <a:pt x="2706263" y="814420"/>
                  </a:lnTo>
                  <a:lnTo>
                    <a:pt x="2663031" y="830282"/>
                  </a:lnTo>
                  <a:lnTo>
                    <a:pt x="2617771" y="845534"/>
                  </a:lnTo>
                  <a:lnTo>
                    <a:pt x="2570550" y="860152"/>
                  </a:lnTo>
                  <a:lnTo>
                    <a:pt x="2521437" y="874115"/>
                  </a:lnTo>
                  <a:lnTo>
                    <a:pt x="2470498" y="887401"/>
                  </a:lnTo>
                  <a:lnTo>
                    <a:pt x="2417801" y="899988"/>
                  </a:lnTo>
                  <a:lnTo>
                    <a:pt x="2363415" y="911855"/>
                  </a:lnTo>
                  <a:lnTo>
                    <a:pt x="2307406" y="922979"/>
                  </a:lnTo>
                  <a:lnTo>
                    <a:pt x="2249843" y="933339"/>
                  </a:lnTo>
                  <a:lnTo>
                    <a:pt x="2190793" y="942912"/>
                  </a:lnTo>
                  <a:lnTo>
                    <a:pt x="2130323" y="951678"/>
                  </a:lnTo>
                  <a:lnTo>
                    <a:pt x="2068502" y="959614"/>
                  </a:lnTo>
                  <a:lnTo>
                    <a:pt x="2005397" y="966697"/>
                  </a:lnTo>
                  <a:lnTo>
                    <a:pt x="1941076" y="972908"/>
                  </a:lnTo>
                  <a:lnTo>
                    <a:pt x="1875607" y="978222"/>
                  </a:lnTo>
                  <a:lnTo>
                    <a:pt x="1809056" y="982620"/>
                  </a:lnTo>
                  <a:lnTo>
                    <a:pt x="1741492" y="986078"/>
                  </a:lnTo>
                  <a:lnTo>
                    <a:pt x="1672983" y="988575"/>
                  </a:lnTo>
                  <a:lnTo>
                    <a:pt x="1603595" y="990090"/>
                  </a:lnTo>
                  <a:lnTo>
                    <a:pt x="1533398" y="990600"/>
                  </a:lnTo>
                  <a:lnTo>
                    <a:pt x="1463200" y="990090"/>
                  </a:lnTo>
                  <a:lnTo>
                    <a:pt x="1393814" y="988575"/>
                  </a:lnTo>
                  <a:lnTo>
                    <a:pt x="1325305" y="986078"/>
                  </a:lnTo>
                  <a:lnTo>
                    <a:pt x="1257743" y="982620"/>
                  </a:lnTo>
                  <a:lnTo>
                    <a:pt x="1191195" y="978222"/>
                  </a:lnTo>
                  <a:lnTo>
                    <a:pt x="1125728" y="972908"/>
                  </a:lnTo>
                  <a:lnTo>
                    <a:pt x="1061410" y="966697"/>
                  </a:lnTo>
                  <a:lnTo>
                    <a:pt x="998309" y="959614"/>
                  </a:lnTo>
                  <a:lnTo>
                    <a:pt x="936492" y="951678"/>
                  </a:lnTo>
                  <a:lnTo>
                    <a:pt x="876026" y="942912"/>
                  </a:lnTo>
                  <a:lnTo>
                    <a:pt x="816981" y="933339"/>
                  </a:lnTo>
                  <a:lnTo>
                    <a:pt x="759422" y="922979"/>
                  </a:lnTo>
                  <a:lnTo>
                    <a:pt x="703418" y="911855"/>
                  </a:lnTo>
                  <a:lnTo>
                    <a:pt x="649037" y="899988"/>
                  </a:lnTo>
                  <a:lnTo>
                    <a:pt x="596345" y="887401"/>
                  </a:lnTo>
                  <a:lnTo>
                    <a:pt x="545411" y="874115"/>
                  </a:lnTo>
                  <a:lnTo>
                    <a:pt x="496303" y="860152"/>
                  </a:lnTo>
                  <a:lnTo>
                    <a:pt x="449087" y="845534"/>
                  </a:lnTo>
                  <a:lnTo>
                    <a:pt x="403832" y="830282"/>
                  </a:lnTo>
                  <a:lnTo>
                    <a:pt x="360606" y="814420"/>
                  </a:lnTo>
                  <a:lnTo>
                    <a:pt x="319475" y="797967"/>
                  </a:lnTo>
                  <a:lnTo>
                    <a:pt x="280507" y="780947"/>
                  </a:lnTo>
                  <a:lnTo>
                    <a:pt x="243771" y="763382"/>
                  </a:lnTo>
                  <a:lnTo>
                    <a:pt x="209333" y="745292"/>
                  </a:lnTo>
                  <a:lnTo>
                    <a:pt x="147624" y="707628"/>
                  </a:lnTo>
                  <a:lnTo>
                    <a:pt x="95922" y="668130"/>
                  </a:lnTo>
                  <a:lnTo>
                    <a:pt x="54768" y="626974"/>
                  </a:lnTo>
                  <a:lnTo>
                    <a:pt x="24702" y="584333"/>
                  </a:lnTo>
                  <a:lnTo>
                    <a:pt x="6265" y="540384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6577" y="2686049"/>
              <a:ext cx="91440" cy="1905000"/>
            </a:xfrm>
            <a:custGeom>
              <a:avLst/>
              <a:gdLst/>
              <a:ahLst/>
              <a:cxnLst/>
              <a:rect l="l" t="t" r="r" b="b"/>
              <a:pathLst>
                <a:path w="91439" h="1905000">
                  <a:moveTo>
                    <a:pt x="76200" y="381000"/>
                  </a:moveTo>
                  <a:lnTo>
                    <a:pt x="42926" y="381000"/>
                  </a:lnTo>
                  <a:lnTo>
                    <a:pt x="42926" y="0"/>
                  </a:lnTo>
                  <a:lnTo>
                    <a:pt x="33401" y="0"/>
                  </a:lnTo>
                  <a:lnTo>
                    <a:pt x="33401" y="381000"/>
                  </a:lnTo>
                  <a:lnTo>
                    <a:pt x="0" y="381000"/>
                  </a:lnTo>
                  <a:lnTo>
                    <a:pt x="38100" y="457200"/>
                  </a:lnTo>
                  <a:lnTo>
                    <a:pt x="69850" y="393700"/>
                  </a:lnTo>
                  <a:lnTo>
                    <a:pt x="76200" y="381000"/>
                  </a:lnTo>
                  <a:close/>
                </a:path>
                <a:path w="91439" h="1905000">
                  <a:moveTo>
                    <a:pt x="91059" y="1828800"/>
                  </a:moveTo>
                  <a:lnTo>
                    <a:pt x="57785" y="1828800"/>
                  </a:lnTo>
                  <a:lnTo>
                    <a:pt x="57785" y="1447800"/>
                  </a:lnTo>
                  <a:lnTo>
                    <a:pt x="48260" y="1447800"/>
                  </a:lnTo>
                  <a:lnTo>
                    <a:pt x="48260" y="1828800"/>
                  </a:lnTo>
                  <a:lnTo>
                    <a:pt x="14859" y="1828800"/>
                  </a:lnTo>
                  <a:lnTo>
                    <a:pt x="52959" y="1905000"/>
                  </a:lnTo>
                  <a:lnTo>
                    <a:pt x="84709" y="1841500"/>
                  </a:lnTo>
                  <a:lnTo>
                    <a:pt x="91059" y="1828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8683" y="3143250"/>
              <a:ext cx="3067050" cy="990600"/>
            </a:xfrm>
            <a:custGeom>
              <a:avLst/>
              <a:gdLst/>
              <a:ahLst/>
              <a:cxnLst/>
              <a:rect l="l" t="t" r="r" b="b"/>
              <a:pathLst>
                <a:path w="3067050" h="990600">
                  <a:moveTo>
                    <a:pt x="0" y="495300"/>
                  </a:moveTo>
                  <a:lnTo>
                    <a:pt x="6266" y="450215"/>
                  </a:lnTo>
                  <a:lnTo>
                    <a:pt x="24706" y="406266"/>
                  </a:lnTo>
                  <a:lnTo>
                    <a:pt x="54776" y="363625"/>
                  </a:lnTo>
                  <a:lnTo>
                    <a:pt x="95937" y="322469"/>
                  </a:lnTo>
                  <a:lnTo>
                    <a:pt x="147646" y="282971"/>
                  </a:lnTo>
                  <a:lnTo>
                    <a:pt x="209361" y="245307"/>
                  </a:lnTo>
                  <a:lnTo>
                    <a:pt x="243803" y="227217"/>
                  </a:lnTo>
                  <a:lnTo>
                    <a:pt x="280542" y="209652"/>
                  </a:lnTo>
                  <a:lnTo>
                    <a:pt x="319513" y="192632"/>
                  </a:lnTo>
                  <a:lnTo>
                    <a:pt x="360647" y="176179"/>
                  </a:lnTo>
                  <a:lnTo>
                    <a:pt x="403877" y="160317"/>
                  </a:lnTo>
                  <a:lnTo>
                    <a:pt x="449135" y="145065"/>
                  </a:lnTo>
                  <a:lnTo>
                    <a:pt x="496353" y="130447"/>
                  </a:lnTo>
                  <a:lnTo>
                    <a:pt x="545464" y="116484"/>
                  </a:lnTo>
                  <a:lnTo>
                    <a:pt x="596399" y="103198"/>
                  </a:lnTo>
                  <a:lnTo>
                    <a:pt x="649092" y="90611"/>
                  </a:lnTo>
                  <a:lnTo>
                    <a:pt x="703474" y="78744"/>
                  </a:lnTo>
                  <a:lnTo>
                    <a:pt x="759478" y="67620"/>
                  </a:lnTo>
                  <a:lnTo>
                    <a:pt x="817037" y="57260"/>
                  </a:lnTo>
                  <a:lnTo>
                    <a:pt x="876081" y="47687"/>
                  </a:lnTo>
                  <a:lnTo>
                    <a:pt x="936545" y="38921"/>
                  </a:lnTo>
                  <a:lnTo>
                    <a:pt x="998360" y="30985"/>
                  </a:lnTo>
                  <a:lnTo>
                    <a:pt x="1061458" y="23902"/>
                  </a:lnTo>
                  <a:lnTo>
                    <a:pt x="1125772" y="17691"/>
                  </a:lnTo>
                  <a:lnTo>
                    <a:pt x="1191234" y="12377"/>
                  </a:lnTo>
                  <a:lnTo>
                    <a:pt x="1257777" y="7979"/>
                  </a:lnTo>
                  <a:lnTo>
                    <a:pt x="1325332" y="4521"/>
                  </a:lnTo>
                  <a:lnTo>
                    <a:pt x="1393832" y="2024"/>
                  </a:lnTo>
                  <a:lnTo>
                    <a:pt x="1463210" y="509"/>
                  </a:lnTo>
                  <a:lnTo>
                    <a:pt x="1533397" y="0"/>
                  </a:lnTo>
                  <a:lnTo>
                    <a:pt x="1603595" y="509"/>
                  </a:lnTo>
                  <a:lnTo>
                    <a:pt x="1672983" y="2024"/>
                  </a:lnTo>
                  <a:lnTo>
                    <a:pt x="1741492" y="4521"/>
                  </a:lnTo>
                  <a:lnTo>
                    <a:pt x="1809056" y="7979"/>
                  </a:lnTo>
                  <a:lnTo>
                    <a:pt x="1875607" y="12377"/>
                  </a:lnTo>
                  <a:lnTo>
                    <a:pt x="1941076" y="17691"/>
                  </a:lnTo>
                  <a:lnTo>
                    <a:pt x="2005397" y="23902"/>
                  </a:lnTo>
                  <a:lnTo>
                    <a:pt x="2068502" y="30985"/>
                  </a:lnTo>
                  <a:lnTo>
                    <a:pt x="2130323" y="38921"/>
                  </a:lnTo>
                  <a:lnTo>
                    <a:pt x="2190793" y="47687"/>
                  </a:lnTo>
                  <a:lnTo>
                    <a:pt x="2249843" y="57260"/>
                  </a:lnTo>
                  <a:lnTo>
                    <a:pt x="2307406" y="67620"/>
                  </a:lnTo>
                  <a:lnTo>
                    <a:pt x="2363415" y="78744"/>
                  </a:lnTo>
                  <a:lnTo>
                    <a:pt x="2417801" y="90611"/>
                  </a:lnTo>
                  <a:lnTo>
                    <a:pt x="2470498" y="103198"/>
                  </a:lnTo>
                  <a:lnTo>
                    <a:pt x="2521437" y="116484"/>
                  </a:lnTo>
                  <a:lnTo>
                    <a:pt x="2570550" y="130447"/>
                  </a:lnTo>
                  <a:lnTo>
                    <a:pt x="2617771" y="145065"/>
                  </a:lnTo>
                  <a:lnTo>
                    <a:pt x="2663031" y="160317"/>
                  </a:lnTo>
                  <a:lnTo>
                    <a:pt x="2706263" y="176179"/>
                  </a:lnTo>
                  <a:lnTo>
                    <a:pt x="2747400" y="192632"/>
                  </a:lnTo>
                  <a:lnTo>
                    <a:pt x="2786372" y="209652"/>
                  </a:lnTo>
                  <a:lnTo>
                    <a:pt x="2823113" y="227217"/>
                  </a:lnTo>
                  <a:lnTo>
                    <a:pt x="2857556" y="245307"/>
                  </a:lnTo>
                  <a:lnTo>
                    <a:pt x="2919274" y="282971"/>
                  </a:lnTo>
                  <a:lnTo>
                    <a:pt x="2970984" y="322469"/>
                  </a:lnTo>
                  <a:lnTo>
                    <a:pt x="3012145" y="363625"/>
                  </a:lnTo>
                  <a:lnTo>
                    <a:pt x="3042216" y="406266"/>
                  </a:lnTo>
                  <a:lnTo>
                    <a:pt x="3060656" y="450215"/>
                  </a:lnTo>
                  <a:lnTo>
                    <a:pt x="3066922" y="495300"/>
                  </a:lnTo>
                  <a:lnTo>
                    <a:pt x="3065345" y="517972"/>
                  </a:lnTo>
                  <a:lnTo>
                    <a:pt x="3052924" y="562511"/>
                  </a:lnTo>
                  <a:lnTo>
                    <a:pt x="3028601" y="605828"/>
                  </a:lnTo>
                  <a:lnTo>
                    <a:pt x="2992917" y="647748"/>
                  </a:lnTo>
                  <a:lnTo>
                    <a:pt x="2946413" y="688097"/>
                  </a:lnTo>
                  <a:lnTo>
                    <a:pt x="2889632" y="726700"/>
                  </a:lnTo>
                  <a:lnTo>
                    <a:pt x="2823113" y="763382"/>
                  </a:lnTo>
                  <a:lnTo>
                    <a:pt x="2786372" y="780947"/>
                  </a:lnTo>
                  <a:lnTo>
                    <a:pt x="2747400" y="797967"/>
                  </a:lnTo>
                  <a:lnTo>
                    <a:pt x="2706263" y="814420"/>
                  </a:lnTo>
                  <a:lnTo>
                    <a:pt x="2663031" y="830282"/>
                  </a:lnTo>
                  <a:lnTo>
                    <a:pt x="2617771" y="845534"/>
                  </a:lnTo>
                  <a:lnTo>
                    <a:pt x="2570550" y="860152"/>
                  </a:lnTo>
                  <a:lnTo>
                    <a:pt x="2521437" y="874115"/>
                  </a:lnTo>
                  <a:lnTo>
                    <a:pt x="2470498" y="887401"/>
                  </a:lnTo>
                  <a:lnTo>
                    <a:pt x="2417801" y="899988"/>
                  </a:lnTo>
                  <a:lnTo>
                    <a:pt x="2363415" y="911855"/>
                  </a:lnTo>
                  <a:lnTo>
                    <a:pt x="2307406" y="922979"/>
                  </a:lnTo>
                  <a:lnTo>
                    <a:pt x="2249843" y="933339"/>
                  </a:lnTo>
                  <a:lnTo>
                    <a:pt x="2190793" y="942912"/>
                  </a:lnTo>
                  <a:lnTo>
                    <a:pt x="2130323" y="951678"/>
                  </a:lnTo>
                  <a:lnTo>
                    <a:pt x="2068502" y="959614"/>
                  </a:lnTo>
                  <a:lnTo>
                    <a:pt x="2005397" y="966697"/>
                  </a:lnTo>
                  <a:lnTo>
                    <a:pt x="1941076" y="972908"/>
                  </a:lnTo>
                  <a:lnTo>
                    <a:pt x="1875607" y="978222"/>
                  </a:lnTo>
                  <a:lnTo>
                    <a:pt x="1809056" y="982620"/>
                  </a:lnTo>
                  <a:lnTo>
                    <a:pt x="1741492" y="986078"/>
                  </a:lnTo>
                  <a:lnTo>
                    <a:pt x="1672983" y="988575"/>
                  </a:lnTo>
                  <a:lnTo>
                    <a:pt x="1603595" y="990090"/>
                  </a:lnTo>
                  <a:lnTo>
                    <a:pt x="1533397" y="990600"/>
                  </a:lnTo>
                  <a:lnTo>
                    <a:pt x="1463210" y="990090"/>
                  </a:lnTo>
                  <a:lnTo>
                    <a:pt x="1393832" y="988575"/>
                  </a:lnTo>
                  <a:lnTo>
                    <a:pt x="1325332" y="986078"/>
                  </a:lnTo>
                  <a:lnTo>
                    <a:pt x="1257777" y="982620"/>
                  </a:lnTo>
                  <a:lnTo>
                    <a:pt x="1191234" y="978222"/>
                  </a:lnTo>
                  <a:lnTo>
                    <a:pt x="1125772" y="972908"/>
                  </a:lnTo>
                  <a:lnTo>
                    <a:pt x="1061458" y="966697"/>
                  </a:lnTo>
                  <a:lnTo>
                    <a:pt x="998360" y="959614"/>
                  </a:lnTo>
                  <a:lnTo>
                    <a:pt x="936545" y="951678"/>
                  </a:lnTo>
                  <a:lnTo>
                    <a:pt x="876081" y="942912"/>
                  </a:lnTo>
                  <a:lnTo>
                    <a:pt x="817037" y="933339"/>
                  </a:lnTo>
                  <a:lnTo>
                    <a:pt x="759478" y="922979"/>
                  </a:lnTo>
                  <a:lnTo>
                    <a:pt x="703474" y="911855"/>
                  </a:lnTo>
                  <a:lnTo>
                    <a:pt x="649092" y="899988"/>
                  </a:lnTo>
                  <a:lnTo>
                    <a:pt x="596399" y="887401"/>
                  </a:lnTo>
                  <a:lnTo>
                    <a:pt x="545464" y="874115"/>
                  </a:lnTo>
                  <a:lnTo>
                    <a:pt x="496353" y="860152"/>
                  </a:lnTo>
                  <a:lnTo>
                    <a:pt x="449135" y="845534"/>
                  </a:lnTo>
                  <a:lnTo>
                    <a:pt x="403877" y="830282"/>
                  </a:lnTo>
                  <a:lnTo>
                    <a:pt x="360647" y="814420"/>
                  </a:lnTo>
                  <a:lnTo>
                    <a:pt x="319513" y="797967"/>
                  </a:lnTo>
                  <a:lnTo>
                    <a:pt x="280542" y="780947"/>
                  </a:lnTo>
                  <a:lnTo>
                    <a:pt x="243803" y="763382"/>
                  </a:lnTo>
                  <a:lnTo>
                    <a:pt x="209361" y="745292"/>
                  </a:lnTo>
                  <a:lnTo>
                    <a:pt x="147646" y="707628"/>
                  </a:lnTo>
                  <a:lnTo>
                    <a:pt x="95937" y="668130"/>
                  </a:lnTo>
                  <a:lnTo>
                    <a:pt x="54776" y="626974"/>
                  </a:lnTo>
                  <a:lnTo>
                    <a:pt x="24706" y="584333"/>
                  </a:lnTo>
                  <a:lnTo>
                    <a:pt x="6266" y="540384"/>
                  </a:lnTo>
                  <a:lnTo>
                    <a:pt x="0" y="495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466209" y="4648200"/>
            <a:ext cx="3067050" cy="990600"/>
          </a:xfrm>
          <a:custGeom>
            <a:avLst/>
            <a:gdLst/>
            <a:ahLst/>
            <a:cxnLst/>
            <a:rect l="l" t="t" r="r" b="b"/>
            <a:pathLst>
              <a:path w="3067050" h="990600">
                <a:moveTo>
                  <a:pt x="0" y="495300"/>
                </a:moveTo>
                <a:lnTo>
                  <a:pt x="6266" y="450215"/>
                </a:lnTo>
                <a:lnTo>
                  <a:pt x="24706" y="406266"/>
                </a:lnTo>
                <a:lnTo>
                  <a:pt x="54776" y="363625"/>
                </a:lnTo>
                <a:lnTo>
                  <a:pt x="95937" y="322469"/>
                </a:lnTo>
                <a:lnTo>
                  <a:pt x="147646" y="282971"/>
                </a:lnTo>
                <a:lnTo>
                  <a:pt x="209361" y="245307"/>
                </a:lnTo>
                <a:lnTo>
                  <a:pt x="243803" y="227217"/>
                </a:lnTo>
                <a:lnTo>
                  <a:pt x="280542" y="209652"/>
                </a:lnTo>
                <a:lnTo>
                  <a:pt x="319513" y="192632"/>
                </a:lnTo>
                <a:lnTo>
                  <a:pt x="360647" y="176179"/>
                </a:lnTo>
                <a:lnTo>
                  <a:pt x="403877" y="160317"/>
                </a:lnTo>
                <a:lnTo>
                  <a:pt x="449135" y="145065"/>
                </a:lnTo>
                <a:lnTo>
                  <a:pt x="496353" y="130447"/>
                </a:lnTo>
                <a:lnTo>
                  <a:pt x="545464" y="116484"/>
                </a:lnTo>
                <a:lnTo>
                  <a:pt x="596399" y="103198"/>
                </a:lnTo>
                <a:lnTo>
                  <a:pt x="649092" y="90611"/>
                </a:lnTo>
                <a:lnTo>
                  <a:pt x="703474" y="78744"/>
                </a:lnTo>
                <a:lnTo>
                  <a:pt x="759478" y="67620"/>
                </a:lnTo>
                <a:lnTo>
                  <a:pt x="817037" y="57260"/>
                </a:lnTo>
                <a:lnTo>
                  <a:pt x="876081" y="47687"/>
                </a:lnTo>
                <a:lnTo>
                  <a:pt x="936545" y="38921"/>
                </a:lnTo>
                <a:lnTo>
                  <a:pt x="998360" y="30985"/>
                </a:lnTo>
                <a:lnTo>
                  <a:pt x="1061458" y="23902"/>
                </a:lnTo>
                <a:lnTo>
                  <a:pt x="1125772" y="17691"/>
                </a:lnTo>
                <a:lnTo>
                  <a:pt x="1191234" y="12377"/>
                </a:lnTo>
                <a:lnTo>
                  <a:pt x="1257777" y="7979"/>
                </a:lnTo>
                <a:lnTo>
                  <a:pt x="1325332" y="4521"/>
                </a:lnTo>
                <a:lnTo>
                  <a:pt x="1393832" y="2024"/>
                </a:lnTo>
                <a:lnTo>
                  <a:pt x="1463210" y="509"/>
                </a:lnTo>
                <a:lnTo>
                  <a:pt x="1533398" y="0"/>
                </a:lnTo>
                <a:lnTo>
                  <a:pt x="1603595" y="509"/>
                </a:lnTo>
                <a:lnTo>
                  <a:pt x="1672983" y="2024"/>
                </a:lnTo>
                <a:lnTo>
                  <a:pt x="1741492" y="4521"/>
                </a:lnTo>
                <a:lnTo>
                  <a:pt x="1809056" y="7979"/>
                </a:lnTo>
                <a:lnTo>
                  <a:pt x="1875607" y="12377"/>
                </a:lnTo>
                <a:lnTo>
                  <a:pt x="1941076" y="17691"/>
                </a:lnTo>
                <a:lnTo>
                  <a:pt x="2005397" y="23902"/>
                </a:lnTo>
                <a:lnTo>
                  <a:pt x="2068502" y="30985"/>
                </a:lnTo>
                <a:lnTo>
                  <a:pt x="2130323" y="38921"/>
                </a:lnTo>
                <a:lnTo>
                  <a:pt x="2190793" y="47687"/>
                </a:lnTo>
                <a:lnTo>
                  <a:pt x="2249843" y="57260"/>
                </a:lnTo>
                <a:lnTo>
                  <a:pt x="2307406" y="67620"/>
                </a:lnTo>
                <a:lnTo>
                  <a:pt x="2363415" y="78744"/>
                </a:lnTo>
                <a:lnTo>
                  <a:pt x="2417801" y="90611"/>
                </a:lnTo>
                <a:lnTo>
                  <a:pt x="2470498" y="103198"/>
                </a:lnTo>
                <a:lnTo>
                  <a:pt x="2521437" y="116484"/>
                </a:lnTo>
                <a:lnTo>
                  <a:pt x="2570550" y="130447"/>
                </a:lnTo>
                <a:lnTo>
                  <a:pt x="2617771" y="145065"/>
                </a:lnTo>
                <a:lnTo>
                  <a:pt x="2663031" y="160317"/>
                </a:lnTo>
                <a:lnTo>
                  <a:pt x="2706263" y="176179"/>
                </a:lnTo>
                <a:lnTo>
                  <a:pt x="2747400" y="192632"/>
                </a:lnTo>
                <a:lnTo>
                  <a:pt x="2786372" y="209652"/>
                </a:lnTo>
                <a:lnTo>
                  <a:pt x="2823113" y="227217"/>
                </a:lnTo>
                <a:lnTo>
                  <a:pt x="2857556" y="245307"/>
                </a:lnTo>
                <a:lnTo>
                  <a:pt x="2919274" y="282971"/>
                </a:lnTo>
                <a:lnTo>
                  <a:pt x="2970984" y="322469"/>
                </a:lnTo>
                <a:lnTo>
                  <a:pt x="3012145" y="363625"/>
                </a:lnTo>
                <a:lnTo>
                  <a:pt x="3042216" y="406266"/>
                </a:lnTo>
                <a:lnTo>
                  <a:pt x="3060656" y="450215"/>
                </a:lnTo>
                <a:lnTo>
                  <a:pt x="3066922" y="495300"/>
                </a:lnTo>
                <a:lnTo>
                  <a:pt x="3065345" y="517972"/>
                </a:lnTo>
                <a:lnTo>
                  <a:pt x="3052924" y="562511"/>
                </a:lnTo>
                <a:lnTo>
                  <a:pt x="3028601" y="605828"/>
                </a:lnTo>
                <a:lnTo>
                  <a:pt x="2992917" y="647748"/>
                </a:lnTo>
                <a:lnTo>
                  <a:pt x="2946413" y="688097"/>
                </a:lnTo>
                <a:lnTo>
                  <a:pt x="2889632" y="726700"/>
                </a:lnTo>
                <a:lnTo>
                  <a:pt x="2823113" y="763382"/>
                </a:lnTo>
                <a:lnTo>
                  <a:pt x="2786372" y="780947"/>
                </a:lnTo>
                <a:lnTo>
                  <a:pt x="2747400" y="797967"/>
                </a:lnTo>
                <a:lnTo>
                  <a:pt x="2706263" y="814420"/>
                </a:lnTo>
                <a:lnTo>
                  <a:pt x="2663031" y="830282"/>
                </a:lnTo>
                <a:lnTo>
                  <a:pt x="2617771" y="845534"/>
                </a:lnTo>
                <a:lnTo>
                  <a:pt x="2570550" y="860152"/>
                </a:lnTo>
                <a:lnTo>
                  <a:pt x="2521437" y="874115"/>
                </a:lnTo>
                <a:lnTo>
                  <a:pt x="2470498" y="887401"/>
                </a:lnTo>
                <a:lnTo>
                  <a:pt x="2417801" y="899988"/>
                </a:lnTo>
                <a:lnTo>
                  <a:pt x="2363415" y="911855"/>
                </a:lnTo>
                <a:lnTo>
                  <a:pt x="2307406" y="922979"/>
                </a:lnTo>
                <a:lnTo>
                  <a:pt x="2249843" y="933339"/>
                </a:lnTo>
                <a:lnTo>
                  <a:pt x="2190793" y="942912"/>
                </a:lnTo>
                <a:lnTo>
                  <a:pt x="2130323" y="951678"/>
                </a:lnTo>
                <a:lnTo>
                  <a:pt x="2068502" y="959614"/>
                </a:lnTo>
                <a:lnTo>
                  <a:pt x="2005397" y="966697"/>
                </a:lnTo>
                <a:lnTo>
                  <a:pt x="1941076" y="972908"/>
                </a:lnTo>
                <a:lnTo>
                  <a:pt x="1875607" y="978222"/>
                </a:lnTo>
                <a:lnTo>
                  <a:pt x="1809056" y="982620"/>
                </a:lnTo>
                <a:lnTo>
                  <a:pt x="1741492" y="986078"/>
                </a:lnTo>
                <a:lnTo>
                  <a:pt x="1672983" y="988575"/>
                </a:lnTo>
                <a:lnTo>
                  <a:pt x="1603595" y="990090"/>
                </a:lnTo>
                <a:lnTo>
                  <a:pt x="1533398" y="990600"/>
                </a:lnTo>
                <a:lnTo>
                  <a:pt x="1463210" y="990090"/>
                </a:lnTo>
                <a:lnTo>
                  <a:pt x="1393832" y="988575"/>
                </a:lnTo>
                <a:lnTo>
                  <a:pt x="1325332" y="986078"/>
                </a:lnTo>
                <a:lnTo>
                  <a:pt x="1257777" y="982620"/>
                </a:lnTo>
                <a:lnTo>
                  <a:pt x="1191234" y="978222"/>
                </a:lnTo>
                <a:lnTo>
                  <a:pt x="1125772" y="972908"/>
                </a:lnTo>
                <a:lnTo>
                  <a:pt x="1061458" y="966697"/>
                </a:lnTo>
                <a:lnTo>
                  <a:pt x="998360" y="959614"/>
                </a:lnTo>
                <a:lnTo>
                  <a:pt x="936545" y="951678"/>
                </a:lnTo>
                <a:lnTo>
                  <a:pt x="876081" y="942912"/>
                </a:lnTo>
                <a:lnTo>
                  <a:pt x="817037" y="933339"/>
                </a:lnTo>
                <a:lnTo>
                  <a:pt x="759478" y="922979"/>
                </a:lnTo>
                <a:lnTo>
                  <a:pt x="703474" y="911855"/>
                </a:lnTo>
                <a:lnTo>
                  <a:pt x="649092" y="899988"/>
                </a:lnTo>
                <a:lnTo>
                  <a:pt x="596399" y="887401"/>
                </a:lnTo>
                <a:lnTo>
                  <a:pt x="545464" y="874115"/>
                </a:lnTo>
                <a:lnTo>
                  <a:pt x="496353" y="860152"/>
                </a:lnTo>
                <a:lnTo>
                  <a:pt x="449135" y="845534"/>
                </a:lnTo>
                <a:lnTo>
                  <a:pt x="403877" y="830282"/>
                </a:lnTo>
                <a:lnTo>
                  <a:pt x="360647" y="814420"/>
                </a:lnTo>
                <a:lnTo>
                  <a:pt x="319513" y="797967"/>
                </a:lnTo>
                <a:lnTo>
                  <a:pt x="280542" y="780947"/>
                </a:lnTo>
                <a:lnTo>
                  <a:pt x="243803" y="763382"/>
                </a:lnTo>
                <a:lnTo>
                  <a:pt x="209361" y="745292"/>
                </a:lnTo>
                <a:lnTo>
                  <a:pt x="147646" y="707628"/>
                </a:lnTo>
                <a:lnTo>
                  <a:pt x="95937" y="668130"/>
                </a:lnTo>
                <a:lnTo>
                  <a:pt x="54776" y="626974"/>
                </a:lnTo>
                <a:lnTo>
                  <a:pt x="24706" y="584333"/>
                </a:lnTo>
                <a:lnTo>
                  <a:pt x="6266" y="540384"/>
                </a:lnTo>
                <a:lnTo>
                  <a:pt x="0" y="495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0">
              <a:lnSpc>
                <a:spcPct val="100000"/>
              </a:lnSpc>
              <a:spcBef>
                <a:spcPts val="95"/>
              </a:spcBef>
            </a:pPr>
            <a:r>
              <a:rPr sz="4000" u="none" dirty="0">
                <a:solidFill>
                  <a:srgbClr val="FF0000"/>
                </a:solidFill>
              </a:rPr>
              <a:t>Iterative</a:t>
            </a:r>
            <a:r>
              <a:rPr sz="4000" u="none" spc="-150" dirty="0">
                <a:solidFill>
                  <a:srgbClr val="FF0000"/>
                </a:solidFill>
              </a:rPr>
              <a:t> </a:t>
            </a:r>
            <a:r>
              <a:rPr sz="4000" u="none" dirty="0">
                <a:solidFill>
                  <a:srgbClr val="FF0000"/>
                </a:solidFill>
              </a:rPr>
              <a:t>Process</a:t>
            </a:r>
            <a:r>
              <a:rPr sz="4000" u="none" spc="-135" dirty="0">
                <a:solidFill>
                  <a:srgbClr val="FF0000"/>
                </a:solidFill>
              </a:rPr>
              <a:t> </a:t>
            </a:r>
            <a:r>
              <a:rPr sz="4000" u="none" spc="-20" dirty="0">
                <a:solidFill>
                  <a:srgbClr val="FF0000"/>
                </a:solidFill>
              </a:rPr>
              <a:t>Flow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895" y="1888744"/>
            <a:ext cx="11270234" cy="30806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1652" y="3625596"/>
            <a:ext cx="6567805" cy="973455"/>
            <a:chOff x="3311652" y="3625596"/>
            <a:chExt cx="6567805" cy="97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1652" y="3822192"/>
              <a:ext cx="544829" cy="6423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1608" y="3625596"/>
              <a:ext cx="6157722" cy="973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8308" y="4236680"/>
              <a:ext cx="5624322" cy="8309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10969" y="523443"/>
            <a:ext cx="10281920" cy="57243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3390">
              <a:lnSpc>
                <a:spcPct val="100000"/>
              </a:lnSpc>
              <a:spcBef>
                <a:spcPts val="100"/>
              </a:spcBef>
              <a:tabLst>
                <a:tab pos="3497579" algn="l"/>
              </a:tabLst>
            </a:pPr>
            <a:r>
              <a:rPr lang="en-US"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438784" indent="-31940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38784" algn="l"/>
              </a:tabLst>
            </a:pPr>
            <a:r>
              <a:rPr sz="3000" b="1" dirty="0">
                <a:latin typeface="Times New Roman"/>
                <a:cs typeface="Times New Roman"/>
              </a:rPr>
              <a:t>Fundamental</a:t>
            </a:r>
            <a:r>
              <a:rPr sz="3000" b="1" spc="-18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Assumption:</a:t>
            </a:r>
            <a:endParaRPr sz="3000" dirty="0">
              <a:latin typeface="Times New Roman"/>
              <a:cs typeface="Times New Roman"/>
            </a:endParaRPr>
          </a:p>
          <a:p>
            <a:pPr marL="757555" lvl="1" indent="-318770">
              <a:lnSpc>
                <a:spcPct val="100000"/>
              </a:lnSpc>
              <a:spcBef>
                <a:spcPts val="220"/>
              </a:spcBef>
              <a:buSzPct val="44000"/>
              <a:buFont typeface="Wingdings"/>
              <a:buChar char=""/>
              <a:tabLst>
                <a:tab pos="757555" algn="l"/>
              </a:tabLst>
            </a:pPr>
            <a:r>
              <a:rPr sz="2500" dirty="0">
                <a:latin typeface="Times New Roman"/>
                <a:cs typeface="Times New Roman"/>
              </a:rPr>
              <a:t>Good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lead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5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endParaRPr sz="2500" dirty="0">
              <a:latin typeface="Times New Roman"/>
              <a:cs typeface="Times New Roman"/>
            </a:endParaRPr>
          </a:p>
          <a:p>
            <a:pPr marL="757555" lvl="1" indent="-318770">
              <a:lnSpc>
                <a:spcPct val="100000"/>
              </a:lnSpc>
              <a:spcBef>
                <a:spcPts val="204"/>
              </a:spcBef>
              <a:buSzPct val="44000"/>
              <a:buFont typeface="Wingdings"/>
              <a:buChar char=""/>
              <a:tabLst>
                <a:tab pos="757555" algn="l"/>
              </a:tabLst>
            </a:pPr>
            <a:r>
              <a:rPr sz="2500" dirty="0">
                <a:latin typeface="Times New Roman"/>
                <a:cs typeface="Times New Roman"/>
              </a:rPr>
              <a:t>Good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reduce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endParaRPr sz="2500" dirty="0">
              <a:latin typeface="Times New Roman"/>
              <a:cs typeface="Times New Roman"/>
            </a:endParaRPr>
          </a:p>
          <a:p>
            <a:pPr marL="757555" lvl="1" indent="-318770">
              <a:lnSpc>
                <a:spcPct val="100000"/>
              </a:lnSpc>
              <a:spcBef>
                <a:spcPts val="195"/>
              </a:spcBef>
              <a:buSzPct val="44000"/>
              <a:buFont typeface="Wingdings"/>
              <a:buChar char=""/>
              <a:tabLst>
                <a:tab pos="757555" algn="l"/>
              </a:tabLst>
            </a:pPr>
            <a:r>
              <a:rPr sz="2500" dirty="0">
                <a:latin typeface="Times New Roman"/>
                <a:cs typeface="Times New Roman"/>
              </a:rPr>
              <a:t>Good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enhance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visibility</a:t>
            </a:r>
            <a:endParaRPr sz="2500" dirty="0">
              <a:latin typeface="Times New Roman"/>
              <a:cs typeface="Times New Roman"/>
            </a:endParaRPr>
          </a:p>
          <a:p>
            <a:pPr marL="757555" lvl="1" indent="-318770">
              <a:lnSpc>
                <a:spcPct val="100000"/>
              </a:lnSpc>
              <a:spcBef>
                <a:spcPts val="204"/>
              </a:spcBef>
              <a:buSzPct val="44000"/>
              <a:buFont typeface="Wingdings"/>
              <a:buChar char=""/>
              <a:tabLst>
                <a:tab pos="757555" algn="l"/>
              </a:tabLst>
            </a:pPr>
            <a:r>
              <a:rPr sz="2500" dirty="0">
                <a:latin typeface="Times New Roman"/>
                <a:cs typeface="Times New Roman"/>
              </a:rPr>
              <a:t>Good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enable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teamwork</a:t>
            </a:r>
            <a:endParaRPr sz="2500" dirty="0">
              <a:latin typeface="Times New Roman"/>
              <a:cs typeface="Times New Roman"/>
            </a:endParaRPr>
          </a:p>
          <a:p>
            <a:pPr marL="2094864">
              <a:lnSpc>
                <a:spcPct val="100000"/>
              </a:lnSpc>
              <a:spcBef>
                <a:spcPts val="45"/>
              </a:spcBef>
              <a:tabLst>
                <a:tab pos="2599055" algn="l"/>
              </a:tabLst>
            </a:pPr>
            <a:r>
              <a:rPr sz="3500" b="1" u="sng" spc="-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ariety</a:t>
            </a:r>
            <a:r>
              <a:rPr sz="35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5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</a:t>
            </a:r>
            <a:r>
              <a:rPr sz="35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5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35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5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ocesses</a:t>
            </a:r>
            <a:endParaRPr sz="35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ts val="2695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350" dirty="0">
                <a:latin typeface="Times New Roman"/>
                <a:cs typeface="Times New Roman"/>
              </a:rPr>
              <a:t>Software</a:t>
            </a:r>
            <a:r>
              <a:rPr sz="2350" spc="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products</a:t>
            </a:r>
            <a:r>
              <a:rPr sz="2350" spc="2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are</a:t>
            </a:r>
            <a:r>
              <a:rPr sz="2350" spc="2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very</a:t>
            </a:r>
            <a:r>
              <a:rPr sz="2350" spc="2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varied.</a:t>
            </a:r>
            <a:r>
              <a:rPr sz="2350" spc="2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Therefore</a:t>
            </a:r>
            <a:r>
              <a:rPr sz="2350" dirty="0">
                <a:solidFill>
                  <a:srgbClr val="812528"/>
                </a:solidFill>
                <a:latin typeface="Times New Roman"/>
                <a:cs typeface="Times New Roman"/>
              </a:rPr>
              <a:t>,</a:t>
            </a:r>
            <a:r>
              <a:rPr sz="2350" spc="260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there</a:t>
            </a:r>
            <a:r>
              <a:rPr sz="235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35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235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standard</a:t>
            </a:r>
            <a:r>
              <a:rPr sz="235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35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35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endParaRPr sz="2350" dirty="0">
              <a:latin typeface="Times New Roman"/>
              <a:cs typeface="Times New Roman"/>
            </a:endParaRPr>
          </a:p>
          <a:p>
            <a:pPr marL="241300" algn="just">
              <a:lnSpc>
                <a:spcPts val="2695"/>
              </a:lnSpc>
            </a:pP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35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35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projects</a:t>
            </a:r>
            <a:endParaRPr sz="235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9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350" dirty="0">
                <a:latin typeface="Times New Roman"/>
                <a:cs typeface="Times New Roman"/>
              </a:rPr>
              <a:t>BUT</a:t>
            </a:r>
            <a:r>
              <a:rPr sz="2350" spc="50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successful</a:t>
            </a:r>
            <a:r>
              <a:rPr sz="2350" spc="5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software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development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projects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always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address</a:t>
            </a:r>
            <a:r>
              <a:rPr sz="2350" spc="56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similar </a:t>
            </a:r>
            <a:r>
              <a:rPr sz="2350" dirty="0">
                <a:latin typeface="Times New Roman"/>
                <a:cs typeface="Times New Roman"/>
              </a:rPr>
              <a:t>issues.</a:t>
            </a:r>
            <a:r>
              <a:rPr sz="2350" spc="2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This</a:t>
            </a:r>
            <a:r>
              <a:rPr sz="2350" spc="2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creates</a:t>
            </a:r>
            <a:r>
              <a:rPr sz="2350" spc="2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25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number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245" dirty="0"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35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steps</a:t>
            </a:r>
            <a:r>
              <a:rPr sz="235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</a:t>
            </a:r>
            <a:r>
              <a:rPr sz="2350" spc="25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should</a:t>
            </a:r>
            <a:r>
              <a:rPr sz="2350" spc="25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2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part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25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all</a:t>
            </a:r>
            <a:r>
              <a:rPr sz="2350" spc="254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software projects.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233" y="434085"/>
            <a:ext cx="9935210" cy="164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Basic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Steps in a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509270" lvl="1" indent="-318770">
              <a:lnSpc>
                <a:spcPct val="100000"/>
              </a:lnSpc>
              <a:buSzPct val="43636"/>
              <a:buFont typeface="Wingdings"/>
              <a:buChar char=""/>
              <a:tabLst>
                <a:tab pos="509270" algn="l"/>
              </a:tabLst>
            </a:pPr>
            <a:r>
              <a:rPr sz="2750" b="1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Feasibility</a:t>
            </a:r>
            <a:r>
              <a:rPr sz="2750" spc="-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Planning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1541" y="2529916"/>
            <a:ext cx="4633595" cy="204406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770"/>
              </a:spcBef>
              <a:buSzPct val="43636"/>
              <a:buFont typeface="Wingdings"/>
              <a:buChar char=""/>
              <a:tabLst>
                <a:tab pos="330835" algn="l"/>
              </a:tabLst>
            </a:pPr>
            <a:r>
              <a:rPr sz="2750" b="1" dirty="0">
                <a:latin typeface="Times New Roman"/>
                <a:cs typeface="Times New Roman"/>
              </a:rPr>
              <a:t>2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-2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Requirements</a:t>
            </a:r>
            <a:endParaRPr sz="2750">
              <a:latin typeface="Times New Roman"/>
              <a:cs typeface="Times New Roman"/>
            </a:endParaRPr>
          </a:p>
          <a:p>
            <a:pPr marL="330835" indent="-318135">
              <a:lnSpc>
                <a:spcPct val="100000"/>
              </a:lnSpc>
              <a:spcBef>
                <a:spcPts val="675"/>
              </a:spcBef>
              <a:buSzPct val="43636"/>
              <a:buFont typeface="Wingdings"/>
              <a:buChar char=""/>
              <a:tabLst>
                <a:tab pos="330835" algn="l"/>
              </a:tabLst>
            </a:pPr>
            <a:r>
              <a:rPr sz="2750" b="1" dirty="0">
                <a:latin typeface="Times New Roman"/>
                <a:cs typeface="Times New Roman"/>
              </a:rPr>
              <a:t>3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Program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design</a:t>
            </a:r>
            <a:endParaRPr sz="2750">
              <a:latin typeface="Times New Roman"/>
              <a:cs typeface="Times New Roman"/>
            </a:endParaRPr>
          </a:p>
          <a:p>
            <a:pPr marL="330835" indent="-318135">
              <a:lnSpc>
                <a:spcPct val="100000"/>
              </a:lnSpc>
              <a:spcBef>
                <a:spcPts val="670"/>
              </a:spcBef>
              <a:buSzPct val="43636"/>
              <a:buFont typeface="Wingdings"/>
              <a:buChar char=""/>
              <a:tabLst>
                <a:tab pos="330835" algn="l"/>
              </a:tabLst>
            </a:pPr>
            <a:r>
              <a:rPr sz="2750" b="1" dirty="0">
                <a:latin typeface="Times New Roman"/>
                <a:cs typeface="Times New Roman"/>
              </a:rPr>
              <a:t>4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-2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Implementation</a:t>
            </a:r>
            <a:endParaRPr sz="2750">
              <a:latin typeface="Times New Roman"/>
              <a:cs typeface="Times New Roman"/>
            </a:endParaRPr>
          </a:p>
          <a:p>
            <a:pPr marL="330835" indent="-318135">
              <a:lnSpc>
                <a:spcPct val="100000"/>
              </a:lnSpc>
              <a:spcBef>
                <a:spcPts val="675"/>
              </a:spcBef>
              <a:buSzPct val="43636"/>
              <a:buFont typeface="Wingdings"/>
              <a:buChar char=""/>
              <a:tabLst>
                <a:tab pos="330835" algn="l"/>
              </a:tabLst>
            </a:pPr>
            <a:r>
              <a:rPr sz="2750" b="1" spc="-10" dirty="0">
                <a:latin typeface="Times New Roman"/>
                <a:cs typeface="Times New Roman"/>
              </a:rPr>
              <a:t>5</a:t>
            </a:r>
            <a:r>
              <a:rPr sz="2750" spc="-10" dirty="0">
                <a:latin typeface="Times New Roman"/>
                <a:cs typeface="Times New Roman"/>
              </a:rPr>
              <a:t>-</a:t>
            </a:r>
            <a:r>
              <a:rPr sz="2750" spc="-1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Acceptance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Release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1541" y="5138165"/>
            <a:ext cx="460438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95"/>
              </a:spcBef>
              <a:buSzPct val="43636"/>
              <a:buFont typeface="Wingdings"/>
              <a:buChar char=""/>
              <a:tabLst>
                <a:tab pos="330835" algn="l"/>
              </a:tabLst>
            </a:pPr>
            <a:r>
              <a:rPr sz="2750" b="1" dirty="0">
                <a:latin typeface="Times New Roman"/>
                <a:cs typeface="Times New Roman"/>
              </a:rPr>
              <a:t>6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-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Operation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Maintenance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7263" y="2296795"/>
            <a:ext cx="9576435" cy="1905"/>
          </a:xfrm>
          <a:custGeom>
            <a:avLst/>
            <a:gdLst/>
            <a:ahLst/>
            <a:cxnLst/>
            <a:rect l="l" t="t" r="r" b="b"/>
            <a:pathLst>
              <a:path w="9576435" h="1905">
                <a:moveTo>
                  <a:pt x="0" y="0"/>
                </a:moveTo>
                <a:lnTo>
                  <a:pt x="9576308" y="1524"/>
                </a:lnTo>
              </a:path>
            </a:pathLst>
          </a:custGeom>
          <a:ln w="35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7846" y="4949316"/>
            <a:ext cx="10007600" cy="4445"/>
          </a:xfrm>
          <a:custGeom>
            <a:avLst/>
            <a:gdLst/>
            <a:ahLst/>
            <a:cxnLst/>
            <a:rect l="l" t="t" r="r" b="b"/>
            <a:pathLst>
              <a:path w="10007600" h="4445">
                <a:moveTo>
                  <a:pt x="0" y="2539"/>
                </a:moveTo>
                <a:lnTo>
                  <a:pt x="9576308" y="3936"/>
                </a:lnTo>
              </a:path>
              <a:path w="10007600" h="4445">
                <a:moveTo>
                  <a:pt x="430910" y="0"/>
                </a:moveTo>
                <a:lnTo>
                  <a:pt x="10007219" y="1396"/>
                </a:lnTo>
              </a:path>
            </a:pathLst>
          </a:custGeom>
          <a:ln w="35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01635" y="2730880"/>
            <a:ext cx="3756025" cy="1633220"/>
          </a:xfrm>
          <a:prstGeom prst="rect">
            <a:avLst/>
          </a:prstGeom>
          <a:ln w="36634">
            <a:solidFill>
              <a:srgbClr val="8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2000">
              <a:latin typeface="Times New Roman"/>
              <a:cs typeface="Times New Roman"/>
            </a:endParaRPr>
          </a:p>
          <a:p>
            <a:pPr marL="107314" marR="97790" algn="ctr">
              <a:lnSpc>
                <a:spcPct val="100000"/>
              </a:lnSpc>
            </a:pP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These</a:t>
            </a:r>
            <a:r>
              <a:rPr sz="2000" b="1" spc="-3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steps</a:t>
            </a:r>
            <a:r>
              <a:rPr sz="2000" b="1" spc="-35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may</a:t>
            </a:r>
            <a:r>
              <a:rPr sz="2000" b="1" spc="-2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12528"/>
                </a:solidFill>
                <a:latin typeface="Arial"/>
                <a:cs typeface="Arial"/>
              </a:rPr>
              <a:t>repeated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many</a:t>
            </a:r>
            <a:r>
              <a:rPr sz="2000" b="1" spc="-4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times</a:t>
            </a:r>
            <a:r>
              <a:rPr sz="2000" b="1" spc="-5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during</a:t>
            </a:r>
            <a:r>
              <a:rPr sz="2000" b="1" spc="-3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812528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812528"/>
                </a:solidFill>
                <a:latin typeface="Arial"/>
                <a:cs typeface="Arial"/>
              </a:rPr>
              <a:t>development</a:t>
            </a:r>
            <a:r>
              <a:rPr sz="2000" b="1" spc="-80" dirty="0">
                <a:solidFill>
                  <a:srgbClr val="812528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812528"/>
                </a:solidFill>
                <a:latin typeface="Arial"/>
                <a:cs typeface="Arial"/>
              </a:rPr>
              <a:t>cycle.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4639" y="430148"/>
            <a:ext cx="56508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Feasibility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800" y="1999659"/>
            <a:ext cx="8126095" cy="360235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feasibility</a:t>
            </a:r>
            <a:r>
              <a:rPr sz="26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study</a:t>
            </a:r>
            <a:r>
              <a:rPr sz="26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precedes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decision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begin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project.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What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scope</a:t>
            </a:r>
            <a:r>
              <a:rPr sz="2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proposed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project?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technically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feasible</a:t>
            </a:r>
            <a:r>
              <a:rPr sz="2600" spc="-10" dirty="0"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What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projected</a:t>
            </a:r>
            <a:r>
              <a:rPr sz="26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benefits</a:t>
            </a:r>
            <a:r>
              <a:rPr sz="2600" spc="-10" dirty="0"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What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Numerable?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resources</a:t>
            </a:r>
            <a:r>
              <a:rPr sz="2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available</a:t>
            </a:r>
            <a:r>
              <a:rPr sz="2600" spc="-10" dirty="0"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What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r>
              <a:rPr sz="2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managed</a:t>
            </a:r>
            <a:r>
              <a:rPr sz="2600" spc="-10" dirty="0"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feasibility</a:t>
            </a:r>
            <a:r>
              <a:rPr sz="26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study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leads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6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decision: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no-</a:t>
            </a:r>
            <a:r>
              <a:rPr sz="2600" spc="-20" dirty="0">
                <a:latin typeface="Times New Roman"/>
                <a:cs typeface="Times New Roman"/>
              </a:rPr>
              <a:t>‐go.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6474" y="546557"/>
            <a:ext cx="10038080" cy="50988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5430">
              <a:lnSpc>
                <a:spcPct val="100000"/>
              </a:lnSpc>
              <a:spcBef>
                <a:spcPts val="100"/>
              </a:spcBef>
              <a:tabLst>
                <a:tab pos="203962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Requi</a:t>
            </a:r>
            <a:r>
              <a:rPr sz="36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ements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1625" marR="6985" indent="-289560" algn="just">
              <a:lnSpc>
                <a:spcPts val="3240"/>
              </a:lnSpc>
              <a:buFont typeface="Arial MT"/>
              <a:buChar char="•"/>
              <a:tabLst>
                <a:tab pos="30162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13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define</a:t>
            </a:r>
            <a:r>
              <a:rPr sz="3000" spc="13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3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function</a:t>
            </a:r>
            <a:r>
              <a:rPr sz="3000" spc="13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3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3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130" dirty="0"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3000" spc="1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client's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viewpoint.</a:t>
            </a:r>
            <a:endParaRPr sz="3000" dirty="0">
              <a:latin typeface="Times New Roman"/>
              <a:cs typeface="Times New Roman"/>
            </a:endParaRPr>
          </a:p>
          <a:p>
            <a:pPr marL="301625" marR="7620" indent="-289560" algn="just">
              <a:lnSpc>
                <a:spcPct val="90000"/>
              </a:lnSpc>
              <a:spcBef>
                <a:spcPts val="2825"/>
              </a:spcBef>
              <a:buFont typeface="Arial MT"/>
              <a:buChar char="•"/>
              <a:tabLst>
                <a:tab pos="301625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9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29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establish</a:t>
            </a:r>
            <a:r>
              <a:rPr sz="3000" spc="30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9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system's</a:t>
            </a:r>
            <a:r>
              <a:rPr sz="3000" spc="300" dirty="0">
                <a:latin typeface="Times New Roman"/>
                <a:cs typeface="Times New Roman"/>
              </a:rPr>
              <a:t>   </a:t>
            </a:r>
            <a:r>
              <a:rPr sz="3000" spc="-10" dirty="0">
                <a:latin typeface="Times New Roman"/>
                <a:cs typeface="Times New Roman"/>
              </a:rPr>
              <a:t>functionality, </a:t>
            </a:r>
            <a:r>
              <a:rPr sz="3000" dirty="0">
                <a:latin typeface="Times New Roman"/>
                <a:cs typeface="Times New Roman"/>
              </a:rPr>
              <a:t>constraints,</a:t>
            </a:r>
            <a:r>
              <a:rPr sz="3000" spc="509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509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goals</a:t>
            </a:r>
            <a:r>
              <a:rPr sz="3000" spc="50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51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consultation</a:t>
            </a:r>
            <a:r>
              <a:rPr sz="3000" spc="509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50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15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client, </a:t>
            </a:r>
            <a:r>
              <a:rPr sz="3000" dirty="0">
                <a:latin typeface="Times New Roman"/>
                <a:cs typeface="Times New Roman"/>
              </a:rPr>
              <a:t>customers,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users.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301625" marR="5080" indent="-289560" algn="just">
              <a:lnSpc>
                <a:spcPts val="3240"/>
              </a:lnSpc>
              <a:buFont typeface="Arial MT"/>
              <a:buChar char="•"/>
              <a:tabLst>
                <a:tab pos="301625" algn="l"/>
              </a:tabLst>
            </a:pP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must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manner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understandable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by </a:t>
            </a:r>
            <a:r>
              <a:rPr sz="3000" dirty="0">
                <a:latin typeface="Times New Roman"/>
                <a:cs typeface="Times New Roman"/>
              </a:rPr>
              <a:t>both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client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staff.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6552" y="524383"/>
            <a:ext cx="10209530" cy="5234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4970">
              <a:lnSpc>
                <a:spcPct val="100000"/>
              </a:lnSpc>
              <a:spcBef>
                <a:spcPts val="100"/>
              </a:spcBef>
              <a:tabLst>
                <a:tab pos="2169795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00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b="1" dirty="0">
                <a:latin typeface="Times New Roman"/>
                <a:cs typeface="Times New Roman"/>
              </a:rPr>
              <a:t>This</a:t>
            </a:r>
            <a:r>
              <a:rPr sz="2750" b="1" spc="-3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step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is</a:t>
            </a:r>
            <a:r>
              <a:rPr sz="2750" b="1" spc="-4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occasionally</a:t>
            </a:r>
            <a:r>
              <a:rPr sz="2750" b="1" spc="-4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divided</a:t>
            </a:r>
            <a:r>
              <a:rPr sz="2750" b="1" spc="-6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into:</a:t>
            </a:r>
            <a:endParaRPr sz="2750" dirty="0">
              <a:latin typeface="Times New Roman"/>
              <a:cs typeface="Times New Roman"/>
            </a:endParaRPr>
          </a:p>
          <a:p>
            <a:pPr marL="1358265" lvl="1" indent="-297180">
              <a:lnSpc>
                <a:spcPct val="100000"/>
              </a:lnSpc>
              <a:spcBef>
                <a:spcPts val="670"/>
              </a:spcBef>
              <a:buClr>
                <a:srgbClr val="000000"/>
              </a:buClr>
              <a:buFont typeface="Times New Roman"/>
              <a:buChar char="•"/>
              <a:tabLst>
                <a:tab pos="1358265" algn="l"/>
              </a:tabLst>
            </a:pP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Gathering</a:t>
            </a:r>
            <a:endParaRPr sz="2750" dirty="0">
              <a:latin typeface="Times New Roman"/>
              <a:cs typeface="Times New Roman"/>
            </a:endParaRPr>
          </a:p>
          <a:p>
            <a:pPr marL="1358265" lvl="1" indent="-297180">
              <a:lnSpc>
                <a:spcPct val="100000"/>
              </a:lnSpc>
              <a:spcBef>
                <a:spcPts val="660"/>
              </a:spcBef>
              <a:buChar char="•"/>
              <a:tabLst>
                <a:tab pos="1358265" algn="l"/>
              </a:tabLst>
            </a:pPr>
            <a:r>
              <a:rPr sz="275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endParaRPr sz="2750" dirty="0">
              <a:latin typeface="Times New Roman"/>
              <a:cs typeface="Times New Roman"/>
            </a:endParaRPr>
          </a:p>
          <a:p>
            <a:pPr marL="1358265" lvl="1" indent="-297180">
              <a:lnSpc>
                <a:spcPct val="100000"/>
              </a:lnSpc>
              <a:spcBef>
                <a:spcPts val="675"/>
              </a:spcBef>
              <a:buChar char="•"/>
              <a:tabLst>
                <a:tab pos="1358265" algn="l"/>
              </a:tabLst>
            </a:pP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Definition</a:t>
            </a:r>
            <a:endParaRPr sz="2750" dirty="0">
              <a:latin typeface="Times New Roman"/>
              <a:cs typeface="Times New Roman"/>
            </a:endParaRPr>
          </a:p>
          <a:p>
            <a:pPr marL="1358265" lvl="1" indent="-297180">
              <a:lnSpc>
                <a:spcPct val="100000"/>
              </a:lnSpc>
              <a:spcBef>
                <a:spcPts val="670"/>
              </a:spcBef>
              <a:buChar char="•"/>
              <a:tabLst>
                <a:tab pos="1358265" algn="l"/>
              </a:tabLst>
            </a:pP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endParaRPr sz="2750" dirty="0">
              <a:latin typeface="Times New Roman"/>
              <a:cs typeface="Times New Roman"/>
            </a:endParaRPr>
          </a:p>
          <a:p>
            <a:pPr marL="240029" marR="6985" indent="-227329">
              <a:lnSpc>
                <a:spcPts val="296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  <a:tab pos="946785" algn="l"/>
                <a:tab pos="2931160" algn="l"/>
                <a:tab pos="3695065" algn="l"/>
                <a:tab pos="4187190" algn="l"/>
                <a:tab pos="5784850" algn="l"/>
                <a:tab pos="6216015" algn="l"/>
                <a:tab pos="6532880" algn="l"/>
                <a:tab pos="7683500" algn="l"/>
                <a:tab pos="8892540" algn="l"/>
                <a:tab pos="9142095" algn="l"/>
                <a:tab pos="9596755" algn="l"/>
              </a:tabLst>
            </a:pPr>
            <a:r>
              <a:rPr sz="2750" spc="-25" dirty="0">
                <a:latin typeface="Times New Roman"/>
                <a:cs typeface="Times New Roman"/>
              </a:rPr>
              <a:t>The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requirements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latin typeface="Times New Roman"/>
                <a:cs typeface="Times New Roman"/>
              </a:rPr>
              <a:t>may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latin typeface="Times New Roman"/>
                <a:cs typeface="Times New Roman"/>
              </a:rPr>
              <a:t>be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developed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latin typeface="Times New Roman"/>
                <a:cs typeface="Times New Roman"/>
              </a:rPr>
              <a:t>in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Times New Roman"/>
                <a:cs typeface="Times New Roman"/>
              </a:rPr>
              <a:t>a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limited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manner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Times New Roman"/>
                <a:cs typeface="Times New Roman"/>
              </a:rPr>
              <a:t>,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latin typeface="Times New Roman"/>
                <a:cs typeface="Times New Roman"/>
              </a:rPr>
              <a:t>or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30" dirty="0">
                <a:latin typeface="Times New Roman"/>
                <a:cs typeface="Times New Roman"/>
              </a:rPr>
              <a:t>may 	</a:t>
            </a:r>
            <a:r>
              <a:rPr sz="2750" dirty="0">
                <a:latin typeface="Times New Roman"/>
                <a:cs typeface="Times New Roman"/>
              </a:rPr>
              <a:t>emerge</a:t>
            </a:r>
            <a:r>
              <a:rPr sz="2750" spc="-13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incrementally.</a:t>
            </a:r>
            <a:endParaRPr sz="275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98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Failure</a:t>
            </a:r>
            <a:r>
              <a:rPr sz="27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agree</a:t>
            </a:r>
            <a:r>
              <a:rPr sz="2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define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them</a:t>
            </a:r>
            <a:r>
              <a:rPr sz="27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adequately</a:t>
            </a:r>
            <a:r>
              <a:rPr sz="27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 one 	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7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7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biggest</a:t>
            </a:r>
            <a:r>
              <a:rPr sz="27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cause</a:t>
            </a: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7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projects</a:t>
            </a:r>
            <a:r>
              <a:rPr sz="27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Times New Roman"/>
                <a:cs typeface="Times New Roman"/>
              </a:rPr>
              <a:t>failing.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6474" y="377774"/>
            <a:ext cx="10247630" cy="5178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4335">
              <a:lnSpc>
                <a:spcPct val="100000"/>
              </a:lnSpc>
              <a:spcBef>
                <a:spcPts val="100"/>
              </a:spcBef>
              <a:tabLst>
                <a:tab pos="216916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System Design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2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describes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system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2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developers'</a:t>
            </a: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 viewpoint</a:t>
            </a:r>
            <a:endParaRPr sz="225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800" b="1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design: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43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  <a:tab pos="1473835" algn="l"/>
                <a:tab pos="1784985" algn="l"/>
                <a:tab pos="2761615" algn="l"/>
                <a:tab pos="4368165" algn="l"/>
                <a:tab pos="5061585" algn="l"/>
                <a:tab pos="6311265" algn="l"/>
                <a:tab pos="6907530" algn="l"/>
                <a:tab pos="8147050" algn="l"/>
                <a:tab pos="8761095" algn="l"/>
                <a:tab pos="9881235" algn="l"/>
              </a:tabLst>
            </a:pPr>
            <a:r>
              <a:rPr sz="2250" spc="-10" dirty="0">
                <a:latin typeface="Times New Roman"/>
                <a:cs typeface="Times New Roman"/>
              </a:rPr>
              <a:t>Establish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a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system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architecture,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both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hardware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and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software,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that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matches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the</a:t>
            </a:r>
            <a:endParaRPr sz="2250" dirty="0">
              <a:latin typeface="Times New Roman"/>
              <a:cs typeface="Times New Roman"/>
            </a:endParaRPr>
          </a:p>
          <a:p>
            <a:pPr marL="241300">
              <a:lnSpc>
                <a:spcPts val="2430"/>
              </a:lnSpc>
            </a:pPr>
            <a:r>
              <a:rPr sz="2250" spc="-10" dirty="0">
                <a:latin typeface="Times New Roman"/>
                <a:cs typeface="Times New Roman"/>
              </a:rPr>
              <a:t>requirements</a:t>
            </a:r>
            <a:endParaRPr sz="225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Program</a:t>
            </a:r>
            <a:r>
              <a:rPr sz="2800" b="1" u="sng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design:</a:t>
            </a:r>
            <a:endParaRPr sz="2800" dirty="0">
              <a:latin typeface="Times New Roman"/>
              <a:cs typeface="Times New Roman"/>
            </a:endParaRPr>
          </a:p>
          <a:p>
            <a:pPr marL="241300" marR="10160" indent="-22860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50" dirty="0">
                <a:latin typeface="Times New Roman"/>
                <a:cs typeface="Times New Roman"/>
              </a:rPr>
              <a:t>Represent</a:t>
            </a:r>
            <a:r>
              <a:rPr sz="2250" spc="20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20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software</a:t>
            </a:r>
            <a:r>
              <a:rPr sz="2250" spc="19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functions</a:t>
            </a:r>
            <a:r>
              <a:rPr sz="2250" spc="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in</a:t>
            </a:r>
            <a:r>
              <a:rPr sz="2250" spc="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</a:t>
            </a:r>
            <a:r>
              <a:rPr sz="2250" spc="19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form</a:t>
            </a:r>
            <a:r>
              <a:rPr sz="2250" spc="17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that</a:t>
            </a:r>
            <a:r>
              <a:rPr sz="2250" spc="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can</a:t>
            </a:r>
            <a:r>
              <a:rPr sz="2250" spc="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be</a:t>
            </a:r>
            <a:r>
              <a:rPr sz="2250" spc="2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transformed</a:t>
            </a:r>
            <a:r>
              <a:rPr sz="2250" spc="19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into</a:t>
            </a:r>
            <a:r>
              <a:rPr sz="2250" spc="2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one</a:t>
            </a:r>
            <a:r>
              <a:rPr sz="2250" spc="2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or</a:t>
            </a:r>
            <a:r>
              <a:rPr sz="2250" spc="22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more </a:t>
            </a:r>
            <a:r>
              <a:rPr sz="2250" dirty="0">
                <a:latin typeface="Times New Roman"/>
                <a:cs typeface="Times New Roman"/>
              </a:rPr>
              <a:t>executable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programs</a:t>
            </a:r>
            <a:endParaRPr sz="22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latin typeface="Times New Roman"/>
                <a:cs typeface="Times New Roman"/>
              </a:rPr>
              <a:t>Preliminary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22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2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is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often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carried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out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as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part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of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design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step</a:t>
            </a:r>
            <a:r>
              <a:rPr sz="2250" spc="-10" dirty="0">
                <a:solidFill>
                  <a:srgbClr val="812528"/>
                </a:solidFill>
                <a:latin typeface="Times New Roman"/>
                <a:cs typeface="Times New Roman"/>
              </a:rPr>
              <a:t>.</a:t>
            </a:r>
            <a:endParaRPr sz="225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1246505" algn="l"/>
                <a:tab pos="1743710" algn="l"/>
                <a:tab pos="2416175" algn="l"/>
                <a:tab pos="2786380" algn="l"/>
                <a:tab pos="3980815" algn="l"/>
                <a:tab pos="4478020" algn="l"/>
                <a:tab pos="6191250" algn="l"/>
                <a:tab pos="7131684" algn="l"/>
                <a:tab pos="8701405" algn="l"/>
                <a:tab pos="9262110" algn="l"/>
              </a:tabLst>
            </a:pP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Models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are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used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to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represent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the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requirements,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system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architecture,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and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program design.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5974" y="463422"/>
            <a:ext cx="10229850" cy="52142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2260">
              <a:lnSpc>
                <a:spcPct val="100000"/>
              </a:lnSpc>
              <a:spcBef>
                <a:spcPts val="100"/>
              </a:spcBef>
              <a:tabLst>
                <a:tab pos="207645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Implementation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Implementation</a:t>
            </a:r>
            <a:r>
              <a:rPr sz="2800" b="1" u="sng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(coding)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software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design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is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realized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as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set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of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programs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or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program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units.</a:t>
            </a:r>
            <a:endParaRPr sz="225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42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250" dirty="0">
                <a:latin typeface="Times New Roman"/>
                <a:cs typeface="Times New Roman"/>
              </a:rPr>
              <a:t>These</a:t>
            </a:r>
            <a:r>
              <a:rPr sz="2250" spc="16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software</a:t>
            </a:r>
            <a:r>
              <a:rPr sz="2250" spc="18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components</a:t>
            </a:r>
            <a:r>
              <a:rPr sz="2250" spc="20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may</a:t>
            </a:r>
            <a:r>
              <a:rPr sz="2250" spc="18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be</a:t>
            </a:r>
            <a:r>
              <a:rPr sz="2250" spc="18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written</a:t>
            </a:r>
            <a:r>
              <a:rPr sz="2250" spc="18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by</a:t>
            </a:r>
            <a:r>
              <a:rPr sz="2250" spc="2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18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development</a:t>
            </a:r>
            <a:r>
              <a:rPr sz="2250" spc="19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team,</a:t>
            </a:r>
            <a:r>
              <a:rPr sz="2250" spc="19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acquired</a:t>
            </a:r>
            <a:r>
              <a:rPr sz="2250" spc="180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from </a:t>
            </a:r>
            <a:r>
              <a:rPr sz="2250" dirty="0">
                <a:latin typeface="Times New Roman"/>
                <a:cs typeface="Times New Roman"/>
              </a:rPr>
              <a:t>elsewhere,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or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modified</a:t>
            </a:r>
            <a:r>
              <a:rPr sz="2250" spc="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from</a:t>
            </a:r>
            <a:r>
              <a:rPr sz="2250" spc="-4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existing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components.</a:t>
            </a:r>
            <a:endParaRPr sz="2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5"/>
              </a:spcBef>
              <a:buFont typeface="Arial MT"/>
              <a:buChar char="•"/>
            </a:pPr>
            <a:endParaRPr sz="225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Program</a:t>
            </a:r>
            <a:r>
              <a:rPr sz="2800" b="1" u="sng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testing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latin typeface="Times New Roman"/>
                <a:cs typeface="Times New Roman"/>
              </a:rPr>
              <a:t>Program</a:t>
            </a:r>
            <a:r>
              <a:rPr sz="2250" spc="-5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testing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by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2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staff</a:t>
            </a:r>
            <a:r>
              <a:rPr sz="22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is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an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integral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part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of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implementation.</a:t>
            </a:r>
            <a:endParaRPr sz="22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latin typeface="Times New Roman"/>
                <a:cs typeface="Times New Roman"/>
              </a:rPr>
              <a:t>Individual</a:t>
            </a:r>
            <a:r>
              <a:rPr sz="2250" spc="-4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components</a:t>
            </a:r>
            <a:r>
              <a:rPr sz="2250" spc="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are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tested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against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250" spc="-10" dirty="0">
                <a:latin typeface="Times New Roman"/>
                <a:cs typeface="Times New Roman"/>
              </a:rPr>
              <a:t>.</a:t>
            </a:r>
            <a:endParaRPr sz="225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4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components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are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integrated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and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tested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against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2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as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complete</a:t>
            </a:r>
            <a:r>
              <a:rPr sz="2250" spc="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system.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0969" y="512775"/>
            <a:ext cx="10444480" cy="41883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100"/>
              </a:spcBef>
              <a:tabLst>
                <a:tab pos="102108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5: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Acceptance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Release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Acceptance</a:t>
            </a:r>
            <a:r>
              <a:rPr sz="2800" b="1" u="sng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testing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44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859790" algn="l"/>
                <a:tab pos="1826260" algn="l"/>
                <a:tab pos="2190750" algn="l"/>
                <a:tab pos="3030220" algn="l"/>
                <a:tab pos="4015104" algn="l"/>
                <a:tab pos="4537710" algn="l"/>
                <a:tab pos="6205220" algn="l"/>
                <a:tab pos="6665595" algn="l"/>
                <a:tab pos="7188200" algn="l"/>
                <a:tab pos="8067675" algn="l"/>
                <a:tab pos="8828405" algn="l"/>
                <a:tab pos="9511030" algn="l"/>
              </a:tabLst>
            </a:pPr>
            <a:r>
              <a:rPr sz="2250" spc="-25" dirty="0">
                <a:latin typeface="Times New Roman"/>
                <a:cs typeface="Times New Roman"/>
              </a:rPr>
              <a:t>The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system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is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tested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against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the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50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50" spc="-2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50" spc="-10" dirty="0">
                <a:solidFill>
                  <a:srgbClr val="FF0000"/>
                </a:solidFill>
                <a:latin typeface="Times New Roman"/>
                <a:cs typeface="Times New Roman"/>
              </a:rPr>
              <a:t>client</a:t>
            </a:r>
            <a:r>
              <a:rPr sz="2250" spc="-10" dirty="0">
                <a:latin typeface="Times New Roman"/>
                <a:cs typeface="Times New Roman"/>
              </a:rPr>
              <a:t>,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often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with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10" dirty="0">
                <a:latin typeface="Times New Roman"/>
                <a:cs typeface="Times New Roman"/>
              </a:rPr>
              <a:t>selected </a:t>
            </a:r>
            <a:r>
              <a:rPr sz="2250" dirty="0">
                <a:latin typeface="Times New Roman"/>
                <a:cs typeface="Times New Roman"/>
              </a:rPr>
              <a:t>customers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and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users.</a:t>
            </a:r>
            <a:endParaRPr sz="2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Arial MT"/>
              <a:buChar char="•"/>
            </a:pPr>
            <a:endParaRPr sz="225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Delivery</a:t>
            </a:r>
            <a:r>
              <a:rPr sz="28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28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release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420"/>
              </a:lnSpc>
              <a:spcBef>
                <a:spcPts val="1065"/>
              </a:spcBef>
              <a:buFont typeface="Arial MT"/>
              <a:buChar char="•"/>
              <a:tabLst>
                <a:tab pos="241300" algn="l"/>
              </a:tabLst>
            </a:pPr>
            <a:r>
              <a:rPr sz="2250" dirty="0">
                <a:latin typeface="Times New Roman"/>
                <a:cs typeface="Times New Roman"/>
              </a:rPr>
              <a:t>After</a:t>
            </a:r>
            <a:r>
              <a:rPr sz="2250" spc="3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successful</a:t>
            </a:r>
            <a:r>
              <a:rPr sz="2250" spc="30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acceptance</a:t>
            </a:r>
            <a:r>
              <a:rPr sz="2250" spc="3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testing,</a:t>
            </a:r>
            <a:r>
              <a:rPr sz="2250" spc="3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3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system</a:t>
            </a:r>
            <a:r>
              <a:rPr sz="2250" spc="29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is</a:t>
            </a:r>
            <a:r>
              <a:rPr sz="2250" spc="3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delivered</a:t>
            </a:r>
            <a:r>
              <a:rPr sz="2250" spc="3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to</a:t>
            </a:r>
            <a:r>
              <a:rPr sz="2250" spc="3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the</a:t>
            </a:r>
            <a:r>
              <a:rPr sz="2250" spc="3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client</a:t>
            </a:r>
            <a:r>
              <a:rPr sz="2250" spc="3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and</a:t>
            </a:r>
            <a:r>
              <a:rPr sz="2250" spc="33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released </a:t>
            </a:r>
            <a:r>
              <a:rPr sz="2250" dirty="0">
                <a:latin typeface="Times New Roman"/>
                <a:cs typeface="Times New Roman"/>
              </a:rPr>
              <a:t>into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production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or</a:t>
            </a:r>
            <a:r>
              <a:rPr sz="2250" spc="-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marketed</a:t>
            </a:r>
            <a:r>
              <a:rPr sz="2250" spc="2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to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customers.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091" y="512775"/>
            <a:ext cx="10499725" cy="560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Step-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Ope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ation and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Maintenance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96545" lvl="1" indent="-228600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Operation:</a:t>
            </a:r>
            <a:endParaRPr sz="2200" dirty="0">
              <a:latin typeface="Times New Roman"/>
              <a:cs typeface="Times New Roman"/>
            </a:endParaRPr>
          </a:p>
          <a:p>
            <a:pPr marL="205104">
              <a:lnSpc>
                <a:spcPct val="100000"/>
              </a:lnSpc>
              <a:spcBef>
                <a:spcPts val="73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practical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use.</a:t>
            </a:r>
            <a:endParaRPr sz="2200" dirty="0">
              <a:latin typeface="Times New Roman"/>
              <a:cs typeface="Times New Roman"/>
            </a:endParaRPr>
          </a:p>
          <a:p>
            <a:pPr marL="296545" lvl="1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96545" algn="l"/>
              </a:tabLst>
            </a:pP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Maintenance:</a:t>
            </a:r>
            <a:endParaRPr sz="2200" dirty="0">
              <a:latin typeface="Times New Roman"/>
              <a:cs typeface="Times New Roman"/>
            </a:endParaRPr>
          </a:p>
          <a:p>
            <a:pPr marL="205104">
              <a:lnSpc>
                <a:spcPct val="100000"/>
              </a:lnSpc>
              <a:spcBef>
                <a:spcPts val="730"/>
              </a:spcBef>
            </a:pPr>
            <a:r>
              <a:rPr sz="2200" dirty="0">
                <a:latin typeface="Times New Roman"/>
                <a:cs typeface="Times New Roman"/>
              </a:rPr>
              <a:t>Errors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identified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fixed.</a:t>
            </a:r>
            <a:endParaRPr sz="2200" dirty="0">
              <a:latin typeface="Times New Roman"/>
              <a:cs typeface="Times New Roman"/>
            </a:endParaRPr>
          </a:p>
          <a:p>
            <a:pPr marL="296545" lvl="1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96545" algn="l"/>
              </a:tabLst>
            </a:pP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Evolution:</a:t>
            </a:r>
            <a:endParaRPr sz="2200" dirty="0">
              <a:latin typeface="Times New Roman"/>
              <a:cs typeface="Times New Roman"/>
            </a:endParaRPr>
          </a:p>
          <a:p>
            <a:pPr marL="205104" marR="5080">
              <a:lnSpc>
                <a:spcPts val="2380"/>
              </a:lnSpc>
              <a:spcBef>
                <a:spcPts val="104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evolves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change,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functions,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adapt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changing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technical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environment.</a:t>
            </a:r>
            <a:endParaRPr sz="2200" dirty="0">
              <a:latin typeface="Times New Roman"/>
              <a:cs typeface="Times New Roman"/>
            </a:endParaRPr>
          </a:p>
          <a:p>
            <a:pPr marL="296545" lvl="1" indent="-22860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965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Phase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out:</a:t>
            </a:r>
            <a:endParaRPr sz="2200" dirty="0">
              <a:latin typeface="Times New Roman"/>
              <a:cs typeface="Times New Roman"/>
            </a:endParaRPr>
          </a:p>
          <a:p>
            <a:pPr marL="205104">
              <a:lnSpc>
                <a:spcPct val="100000"/>
              </a:lnSpc>
              <a:spcBef>
                <a:spcPts val="735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withdrawn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96545" lvl="1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6545" algn="l"/>
              </a:tabLst>
            </a:pPr>
            <a:r>
              <a:rPr sz="2200" b="1" dirty="0">
                <a:latin typeface="Times New Roman"/>
                <a:cs typeface="Times New Roman"/>
              </a:rPr>
              <a:t>This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called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Life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8966" y="503301"/>
            <a:ext cx="10084435" cy="3829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5335">
              <a:lnSpc>
                <a:spcPct val="100000"/>
              </a:lnSpc>
              <a:spcBef>
                <a:spcPts val="100"/>
              </a:spcBef>
              <a:tabLst>
                <a:tab pos="254952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Sequence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Steps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960"/>
              </a:lnSpc>
              <a:buFont typeface="Arial MT"/>
              <a:buChar char="•"/>
              <a:tabLst>
                <a:tab pos="241300" algn="l"/>
                <a:tab pos="1228725" algn="l"/>
                <a:tab pos="2581910" algn="l"/>
                <a:tab pos="3707129" algn="l"/>
                <a:tab pos="4403725" algn="l"/>
                <a:tab pos="5586095" algn="l"/>
                <a:tab pos="6456680" algn="l"/>
                <a:tab pos="7328534" algn="l"/>
                <a:tab pos="8910955" algn="l"/>
                <a:tab pos="9335770" algn="l"/>
              </a:tabLst>
            </a:pPr>
            <a:r>
              <a:rPr sz="2750" spc="-10" dirty="0">
                <a:latin typeface="Times New Roman"/>
                <a:cs typeface="Times New Roman"/>
              </a:rPr>
              <a:t>Every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software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project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0" dirty="0">
                <a:latin typeface="Times New Roman"/>
                <a:cs typeface="Times New Roman"/>
              </a:rPr>
              <a:t>will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include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these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basic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processes,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some 	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shape</a:t>
            </a: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7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form</a:t>
            </a:r>
            <a:r>
              <a:rPr sz="2750" dirty="0">
                <a:latin typeface="Times New Roman"/>
                <a:cs typeface="Times New Roman"/>
              </a:rPr>
              <a:t>,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but:</a:t>
            </a: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buFont typeface="Arial MT"/>
              <a:buChar char="•"/>
            </a:pPr>
            <a:endParaRPr sz="275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steps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may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be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formal or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informal</a:t>
            </a:r>
            <a:endParaRPr sz="25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steps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may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carried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out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various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sequences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526796"/>
            <a:ext cx="11186159" cy="492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3585">
              <a:lnSpc>
                <a:spcPct val="100000"/>
              </a:lnSpc>
              <a:spcBef>
                <a:spcPts val="100"/>
              </a:spcBef>
              <a:tabLst>
                <a:tab pos="251777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Sequence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Steps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65"/>
              </a:spcBef>
              <a:tabLst>
                <a:tab pos="2406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Major</a:t>
            </a:r>
            <a:r>
              <a:rPr sz="2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alternatives</a:t>
            </a:r>
            <a:endParaRPr lang="en-US" sz="2200" dirty="0">
              <a:latin typeface="Times New Roman"/>
              <a:cs typeface="Times New Roman"/>
            </a:endParaRPr>
          </a:p>
          <a:p>
            <a:pPr marL="12700" lvl="4">
              <a:spcBef>
                <a:spcPts val="735"/>
              </a:spcBef>
              <a:tabLst>
                <a:tab pos="240665" algn="l"/>
              </a:tabLst>
            </a:pPr>
            <a:r>
              <a:rPr lang="en-US" sz="2200" spc="-85" dirty="0">
                <a:latin typeface="Times New Roman"/>
                <a:cs typeface="Times New Roman"/>
              </a:rPr>
              <a:t>We</a:t>
            </a:r>
            <a:r>
              <a:rPr lang="en-US" sz="2200" spc="-5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will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look</a:t>
            </a:r>
            <a:r>
              <a:rPr lang="en-US" sz="2200" spc="-6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at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three</a:t>
            </a:r>
            <a:r>
              <a:rPr lang="en-US" sz="2200" spc="-5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categories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of</a:t>
            </a:r>
            <a:r>
              <a:rPr lang="en-US" sz="2200" spc="-5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software</a:t>
            </a:r>
            <a:r>
              <a:rPr lang="en-US" sz="2200" spc="-4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development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processes:</a:t>
            </a:r>
            <a:endParaRPr lang="en-US" sz="2200" dirty="0">
              <a:latin typeface="Times New Roman"/>
              <a:cs typeface="Times New Roman"/>
            </a:endParaRPr>
          </a:p>
          <a:p>
            <a:pPr marL="469900" lvl="4" indent="-457200">
              <a:spcBef>
                <a:spcPts val="745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Sequential: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beginning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812528"/>
                </a:solidFill>
                <a:latin typeface="Times New Roman"/>
                <a:cs typeface="Times New Roman"/>
              </a:rPr>
              <a:t>Waterfall</a:t>
            </a:r>
            <a:r>
              <a:rPr sz="2200" spc="-15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812528"/>
                </a:solidFill>
                <a:latin typeface="Times New Roman"/>
                <a:cs typeface="Times New Roman"/>
              </a:rPr>
              <a:t>model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35"/>
              </a:spcBef>
              <a:buFont typeface="+mj-lt"/>
              <a:buAutoNum type="arabicPeriod" startAt="2"/>
              <a:tabLst>
                <a:tab pos="24066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Iterative:</a:t>
            </a:r>
            <a:endParaRPr sz="22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38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722630" algn="l"/>
                <a:tab pos="1703070" algn="l"/>
                <a:tab pos="2713355" algn="l"/>
                <a:tab pos="3132455" algn="l"/>
                <a:tab pos="4107815" algn="l"/>
                <a:tab pos="4805680" algn="l"/>
                <a:tab pos="5163820" algn="l"/>
                <a:tab pos="5969000" algn="l"/>
                <a:tab pos="6234430" algn="l"/>
                <a:tab pos="7028180" algn="l"/>
                <a:tab pos="8013065" algn="l"/>
                <a:tab pos="8634730" algn="l"/>
                <a:tab pos="9456420" algn="l"/>
                <a:tab pos="10154285" algn="l"/>
              </a:tabLst>
            </a:pPr>
            <a:r>
              <a:rPr sz="2200" spc="-25" dirty="0">
                <a:latin typeface="Times New Roman"/>
                <a:cs typeface="Times New Roman"/>
              </a:rPr>
              <a:t>Go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quickly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through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process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steps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create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rough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system,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then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repeat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them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812528"/>
                </a:solidFill>
                <a:latin typeface="Times New Roman"/>
                <a:cs typeface="Times New Roman"/>
              </a:rPr>
              <a:t>Iterative</a:t>
            </a:r>
            <a:r>
              <a:rPr sz="2200" spc="-45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812528"/>
                </a:solidFill>
                <a:latin typeface="Times New Roman"/>
                <a:cs typeface="Times New Roman"/>
              </a:rPr>
              <a:t>refinement</a:t>
            </a:r>
            <a:r>
              <a:rPr sz="2200" spc="-10" dirty="0">
                <a:solidFill>
                  <a:srgbClr val="943735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90"/>
              </a:spcBef>
              <a:buFont typeface="+mj-lt"/>
              <a:buAutoNum type="arabicPeriod" startAt="3"/>
              <a:tabLst>
                <a:tab pos="240665" algn="l"/>
              </a:tabLst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Incremental:</a:t>
            </a:r>
            <a:endParaRPr sz="22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variant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iterative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refinement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increments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software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3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placed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production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(sprints).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812528"/>
                </a:solidFill>
                <a:latin typeface="Times New Roman"/>
                <a:cs typeface="Times New Roman"/>
              </a:rPr>
              <a:t>Agile</a:t>
            </a:r>
            <a:r>
              <a:rPr sz="2200" spc="-40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812528"/>
                </a:solidFill>
                <a:latin typeface="Times New Roman"/>
                <a:cs typeface="Times New Roman"/>
              </a:rPr>
              <a:t>development</a:t>
            </a:r>
            <a:r>
              <a:rPr sz="2200" spc="-10" dirty="0">
                <a:solidFill>
                  <a:srgbClr val="0000C0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2160" y="2446096"/>
            <a:ext cx="7752715" cy="15627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indent="929640">
              <a:lnSpc>
                <a:spcPts val="3890"/>
              </a:lnSpc>
              <a:spcBef>
                <a:spcPts val="590"/>
              </a:spcBef>
              <a:tabLst>
                <a:tab pos="1446530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Mod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ls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Heavyweight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Lightweight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endParaRPr sz="3600" dirty="0">
              <a:latin typeface="Times New Roman"/>
              <a:cs typeface="Times New Roman"/>
            </a:endParaRPr>
          </a:p>
          <a:p>
            <a:pPr marL="2594610">
              <a:lnSpc>
                <a:spcPts val="3829"/>
              </a:lnSpc>
            </a:pP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6591" y="531063"/>
            <a:ext cx="10400030" cy="5149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algn="just">
              <a:lnSpc>
                <a:spcPct val="100000"/>
              </a:lnSpc>
              <a:spcBef>
                <a:spcPts val="95"/>
              </a:spcBef>
            </a:pPr>
            <a:r>
              <a:rPr sz="3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Heavyweight</a:t>
            </a:r>
            <a:r>
              <a:rPr sz="3400" b="1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3400" b="1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Lightweight</a:t>
            </a:r>
            <a:r>
              <a:rPr sz="3400" b="1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4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b="1" u="sng" spc="-2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ts val="2700"/>
              </a:lnSpc>
              <a:buFont typeface="Arial MT"/>
              <a:buChar char="•"/>
              <a:tabLst>
                <a:tab pos="241300" algn="l"/>
              </a:tabLst>
            </a:pP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heavyweight</a:t>
            </a:r>
            <a:r>
              <a:rPr sz="25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development</a:t>
            </a:r>
            <a:r>
              <a:rPr sz="2500" spc="3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team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works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process </a:t>
            </a:r>
            <a:r>
              <a:rPr sz="2500" dirty="0">
                <a:latin typeface="Times New Roman"/>
                <a:cs typeface="Times New Roman"/>
              </a:rPr>
              <a:t>steps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slowly</a:t>
            </a:r>
            <a:r>
              <a:rPr sz="25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systematically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aim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fully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completing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process </a:t>
            </a:r>
            <a:r>
              <a:rPr sz="2500" dirty="0">
                <a:latin typeface="Times New Roman"/>
                <a:cs typeface="Times New Roman"/>
              </a:rPr>
              <a:t>step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deliverables for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step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will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minimal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changes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revision.</a:t>
            </a:r>
            <a:endParaRPr sz="25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dirty="0">
                <a:latin typeface="Times New Roman"/>
                <a:cs typeface="Times New Roman"/>
              </a:rPr>
              <a:t>Example: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Modified</a:t>
            </a:r>
            <a:r>
              <a:rPr sz="25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Waterfall</a:t>
            </a:r>
            <a:r>
              <a:rPr sz="25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0"/>
              </a:spcBef>
              <a:buFont typeface="Arial MT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700"/>
              </a:lnSpc>
              <a:buFont typeface="Arial MT"/>
              <a:buChar char="•"/>
              <a:tabLst>
                <a:tab pos="241300" algn="l"/>
              </a:tabLst>
            </a:pP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27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lightweight</a:t>
            </a:r>
            <a:r>
              <a:rPr sz="25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development</a:t>
            </a:r>
            <a:r>
              <a:rPr sz="2500" spc="2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team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releases</a:t>
            </a:r>
            <a:r>
              <a:rPr sz="2500" spc="2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working</a:t>
            </a:r>
            <a:r>
              <a:rPr sz="2500" spc="2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software</a:t>
            </a:r>
            <a:r>
              <a:rPr sz="2500" spc="27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in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25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increments,</a:t>
            </a:r>
            <a:r>
              <a:rPr sz="25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develops</a:t>
            </a:r>
            <a:r>
              <a:rPr sz="25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500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plans</a:t>
            </a:r>
            <a:r>
              <a:rPr sz="250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incrementally,</a:t>
            </a:r>
            <a:r>
              <a:rPr sz="25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2500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5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experience</a:t>
            </a:r>
            <a:r>
              <a:rPr sz="2500" spc="-10" dirty="0">
                <a:latin typeface="Times New Roman"/>
                <a:cs typeface="Times New Roman"/>
              </a:rPr>
              <a:t>.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4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increment</a:t>
            </a:r>
            <a:r>
              <a:rPr sz="2500" spc="4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includes</a:t>
            </a:r>
            <a:r>
              <a:rPr sz="2500" spc="48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all</a:t>
            </a:r>
            <a:r>
              <a:rPr sz="2500" spc="4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4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</a:t>
            </a:r>
            <a:r>
              <a:rPr sz="2500" spc="4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steps.</a:t>
            </a:r>
            <a:r>
              <a:rPr sz="2500" spc="4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There</a:t>
            </a:r>
            <a:r>
              <a:rPr sz="2500" spc="4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48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4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expectation</a:t>
            </a:r>
            <a:r>
              <a:rPr sz="2500" spc="49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that </a:t>
            </a:r>
            <a:r>
              <a:rPr sz="2500" dirty="0">
                <a:latin typeface="Times New Roman"/>
                <a:cs typeface="Times New Roman"/>
              </a:rPr>
              <a:t>changes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will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made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based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experience.</a:t>
            </a:r>
            <a:endParaRPr sz="25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b="1" dirty="0">
                <a:latin typeface="Times New Roman"/>
                <a:cs typeface="Times New Roman"/>
              </a:rPr>
              <a:t>Example: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Agile</a:t>
            </a:r>
            <a:r>
              <a:rPr sz="25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5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0941" y="441705"/>
            <a:ext cx="10369550" cy="4634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0">
              <a:lnSpc>
                <a:spcPct val="100000"/>
              </a:lnSpc>
              <a:spcBef>
                <a:spcPts val="100"/>
              </a:spcBef>
              <a:tabLst>
                <a:tab pos="3812540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Deliverables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75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Deliverables</a:t>
            </a:r>
            <a:endParaRPr sz="275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spc="-20" dirty="0">
                <a:latin typeface="Times New Roman"/>
                <a:cs typeface="Times New Roman"/>
              </a:rPr>
              <a:t>A</a:t>
            </a:r>
            <a:r>
              <a:rPr sz="2750" spc="-1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deliverable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some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work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product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that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delivered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client.</a:t>
            </a:r>
            <a:endParaRPr sz="2750" dirty="0">
              <a:latin typeface="Times New Roman"/>
              <a:cs typeface="Times New Roman"/>
            </a:endParaRPr>
          </a:p>
          <a:p>
            <a:pPr marL="240029" marR="6985" indent="-227329">
              <a:lnSpc>
                <a:spcPts val="298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  <a:tab pos="722630" algn="l"/>
                <a:tab pos="1068705" algn="l"/>
                <a:tab pos="3048635" algn="l"/>
                <a:tab pos="4374515" algn="l"/>
                <a:tab pos="5208270" algn="l"/>
                <a:tab pos="6449060" algn="l"/>
                <a:tab pos="7203440" algn="l"/>
                <a:tab pos="8366125" algn="l"/>
                <a:tab pos="8714105" algn="l"/>
              </a:tabLst>
            </a:pPr>
            <a:r>
              <a:rPr sz="2750" spc="-25" dirty="0">
                <a:latin typeface="Times New Roman"/>
                <a:cs typeface="Times New Roman"/>
              </a:rPr>
              <a:t>In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Times New Roman"/>
                <a:cs typeface="Times New Roman"/>
              </a:rPr>
              <a:t>a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Times New Roman"/>
                <a:cs typeface="Times New Roman"/>
              </a:rPr>
              <a:t>heavyweight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750" spc="-10" dirty="0">
                <a:latin typeface="Times New Roman"/>
                <a:cs typeface="Times New Roman"/>
              </a:rPr>
              <a:t>,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0" dirty="0">
                <a:latin typeface="Times New Roman"/>
                <a:cs typeface="Times New Roman"/>
              </a:rPr>
              <a:t>each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process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20" dirty="0">
                <a:latin typeface="Times New Roman"/>
                <a:cs typeface="Times New Roman"/>
              </a:rPr>
              <a:t>step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creates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Times New Roman"/>
                <a:cs typeface="Times New Roman"/>
              </a:rPr>
              <a:t>a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deliverable, 	</a:t>
            </a:r>
            <a:r>
              <a:rPr sz="2750" dirty="0">
                <a:latin typeface="Times New Roman"/>
                <a:cs typeface="Times New Roman"/>
              </a:rPr>
              <a:t>usually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documentation,</a:t>
            </a:r>
            <a:endParaRPr sz="2750" dirty="0">
              <a:latin typeface="Times New Roman"/>
              <a:cs typeface="Times New Roman"/>
            </a:endParaRPr>
          </a:p>
          <a:p>
            <a:pPr marL="449580">
              <a:lnSpc>
                <a:spcPct val="100000"/>
              </a:lnSpc>
              <a:spcBef>
                <a:spcPts val="625"/>
              </a:spcBef>
            </a:pPr>
            <a:r>
              <a:rPr sz="2750" dirty="0">
                <a:latin typeface="Times New Roman"/>
                <a:cs typeface="Times New Roman"/>
              </a:rPr>
              <a:t>e.g.,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requirements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specification.</a:t>
            </a:r>
            <a:endParaRPr sz="275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96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dirty="0">
                <a:latin typeface="Times New Roman"/>
                <a:cs typeface="Times New Roman"/>
              </a:rPr>
              <a:t>In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-15" dirty="0"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lightweight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750" dirty="0">
                <a:latin typeface="Times New Roman"/>
                <a:cs typeface="Times New Roman"/>
              </a:rPr>
              <a:t>,</a:t>
            </a:r>
            <a:r>
              <a:rPr sz="2750" spc="-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deliverables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are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incremental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working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code, 	</a:t>
            </a:r>
            <a:r>
              <a:rPr sz="2750" dirty="0">
                <a:latin typeface="Times New Roman"/>
                <a:cs typeface="Times New Roman"/>
              </a:rPr>
              <a:t>with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minimal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supporting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documentation.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9945" y="2940558"/>
            <a:ext cx="53898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Models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613" y="553339"/>
            <a:ext cx="10189845" cy="3159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7575">
              <a:lnSpc>
                <a:spcPct val="100000"/>
              </a:lnSpc>
              <a:spcBef>
                <a:spcPts val="100"/>
              </a:spcBef>
              <a:tabLst>
                <a:tab pos="2691765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Life-Cycle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Models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spc="-20" dirty="0">
                <a:latin typeface="Times New Roman"/>
                <a:cs typeface="Times New Roman"/>
              </a:rPr>
              <a:t>Life-</a:t>
            </a:r>
            <a:r>
              <a:rPr sz="3000" dirty="0">
                <a:latin typeface="Times New Roman"/>
                <a:cs typeface="Times New Roman"/>
              </a:rPr>
              <a:t>cycle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model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(formerly,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model)</a:t>
            </a:r>
            <a:endParaRPr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  <a:buFont typeface="Arial MT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  <a:tab pos="1513205" algn="l"/>
                <a:tab pos="2914015" algn="l"/>
                <a:tab pos="3469004" algn="l"/>
                <a:tab pos="5441315" algn="l"/>
                <a:tab pos="6311265" algn="l"/>
                <a:tab pos="8030845" algn="l"/>
                <a:tab pos="8796020" algn="l"/>
              </a:tabLst>
            </a:pP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SDLC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3000" spc="-10" dirty="0">
                <a:latin typeface="Times New Roman"/>
                <a:cs typeface="Times New Roman"/>
              </a:rPr>
              <a:t>: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framework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describes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activities </a:t>
            </a:r>
            <a:r>
              <a:rPr sz="3000" dirty="0">
                <a:latin typeface="Times New Roman"/>
                <a:cs typeface="Times New Roman"/>
              </a:rPr>
              <a:t>performed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stage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project.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3538" y="426542"/>
            <a:ext cx="8657590" cy="485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9205">
              <a:lnSpc>
                <a:spcPct val="100000"/>
              </a:lnSpc>
              <a:spcBef>
                <a:spcPts val="100"/>
              </a:spcBef>
              <a:tabLst>
                <a:tab pos="176339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is a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Model?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12700" marR="479425">
              <a:lnSpc>
                <a:spcPts val="3240"/>
              </a:lnSpc>
              <a:tabLst>
                <a:tab pos="241300" algn="l"/>
              </a:tabLst>
            </a:pPr>
            <a:r>
              <a:rPr sz="3000" i="1" dirty="0">
                <a:latin typeface="Times New Roman"/>
                <a:cs typeface="Times New Roman"/>
              </a:rPr>
              <a:t>“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i="1" spc="-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simplified</a:t>
            </a:r>
            <a:r>
              <a:rPr sz="30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r>
              <a:rPr sz="30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process,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30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30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30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perspective</a:t>
            </a:r>
            <a:r>
              <a:rPr sz="3000" i="1" spc="-10" dirty="0">
                <a:latin typeface="Times New Roman"/>
                <a:cs typeface="Times New Roman"/>
              </a:rPr>
              <a:t>”.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Generic</a:t>
            </a:r>
            <a:r>
              <a:rPr sz="3000" b="1" spc="-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process</a:t>
            </a:r>
            <a:r>
              <a:rPr sz="3000" b="1" spc="-9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models: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10" dirty="0">
                <a:latin typeface="Times New Roman"/>
                <a:cs typeface="Times New Roman"/>
              </a:rPr>
              <a:t>Waterfall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Evolutionary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-25" dirty="0">
                <a:latin typeface="Times New Roman"/>
                <a:cs typeface="Times New Roman"/>
              </a:rPr>
              <a:t>Component-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engineering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Iterative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8092" y="3187445"/>
            <a:ext cx="75958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Sequential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Models: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1966" y="317372"/>
            <a:ext cx="65747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SzPct val="67187"/>
              <a:buFont typeface="Wingdings"/>
              <a:buChar char=""/>
              <a:tabLst>
                <a:tab pos="440690" algn="l"/>
              </a:tabLst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Sequential</a:t>
            </a:r>
            <a:r>
              <a:rPr sz="32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Model:</a:t>
            </a:r>
            <a:r>
              <a:rPr sz="3200" b="1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2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158" y="1567307"/>
            <a:ext cx="10331196" cy="47890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980" y="457961"/>
            <a:ext cx="10348595" cy="4969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3040">
              <a:lnSpc>
                <a:spcPct val="100000"/>
              </a:lnSpc>
              <a:spcBef>
                <a:spcPts val="100"/>
              </a:spcBef>
              <a:tabLst>
                <a:tab pos="3237865" algn="l"/>
              </a:tabLst>
            </a:pPr>
            <a:r>
              <a:rPr sz="3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5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5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definition</a:t>
            </a:r>
            <a:endParaRPr sz="2500" dirty="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5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5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endParaRPr sz="2500" dirty="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25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unit</a:t>
            </a:r>
            <a:r>
              <a:rPr sz="25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endParaRPr sz="2500" dirty="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Integration</a:t>
            </a:r>
            <a:r>
              <a:rPr sz="25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5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endParaRPr sz="2500" dirty="0">
              <a:latin typeface="Times New Roman"/>
              <a:cs typeface="Times New Roman"/>
            </a:endParaRPr>
          </a:p>
          <a:p>
            <a:pPr marL="697865" indent="-22796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Operation</a:t>
            </a:r>
            <a:r>
              <a:rPr sz="25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75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50" b="1" dirty="0">
                <a:solidFill>
                  <a:srgbClr val="FF0000"/>
                </a:solidFill>
                <a:latin typeface="Times New Roman"/>
                <a:cs typeface="Times New Roman"/>
              </a:rPr>
              <a:t>main</a:t>
            </a:r>
            <a:r>
              <a:rPr sz="2750" b="1" spc="1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50" b="1" dirty="0">
                <a:solidFill>
                  <a:srgbClr val="FF0000"/>
                </a:solidFill>
                <a:latin typeface="Times New Roman"/>
                <a:cs typeface="Times New Roman"/>
              </a:rPr>
              <a:t>drawback</a:t>
            </a:r>
            <a:r>
              <a:rPr sz="275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14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15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waterfall</a:t>
            </a:r>
            <a:r>
              <a:rPr sz="2750" spc="16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model</a:t>
            </a:r>
            <a:r>
              <a:rPr sz="2750" spc="15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15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15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difficulty</a:t>
            </a:r>
            <a:r>
              <a:rPr sz="2750" spc="155" dirty="0">
                <a:latin typeface="Times New Roman"/>
                <a:cs typeface="Times New Roman"/>
              </a:rPr>
              <a:t>  </a:t>
            </a:r>
            <a:r>
              <a:rPr sz="2750" spc="-25" dirty="0">
                <a:latin typeface="Times New Roman"/>
                <a:cs typeface="Times New Roman"/>
              </a:rPr>
              <a:t>of 	</a:t>
            </a:r>
            <a:r>
              <a:rPr sz="2750" dirty="0">
                <a:latin typeface="Times New Roman"/>
                <a:cs typeface="Times New Roman"/>
              </a:rPr>
              <a:t>accommodating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change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after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process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underway.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phase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to 	</a:t>
            </a:r>
            <a:r>
              <a:rPr sz="2750" dirty="0">
                <a:latin typeface="Times New Roman"/>
                <a:cs typeface="Times New Roman"/>
              </a:rPr>
              <a:t>be</a:t>
            </a:r>
            <a:r>
              <a:rPr sz="2750" spc="-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complete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before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moving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onto</a:t>
            </a:r>
            <a:r>
              <a:rPr sz="2750" spc="-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next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phase.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25544" y="470661"/>
            <a:ext cx="37426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263" y="1628775"/>
            <a:ext cx="4381373" cy="4095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90996" y="1656079"/>
            <a:ext cx="4523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  <a:tab pos="2836545" algn="l"/>
                <a:tab pos="3482975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–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defines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19596" y="1656079"/>
            <a:ext cx="576707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4735195">
              <a:lnSpc>
                <a:spcPts val="3020"/>
              </a:lnSpc>
              <a:spcBef>
                <a:spcPts val="480"/>
              </a:spcBef>
              <a:tabLst>
                <a:tab pos="2469515" algn="l"/>
                <a:tab pos="4434205" algn="l"/>
              </a:tabLst>
            </a:pPr>
            <a:r>
              <a:rPr sz="2800" spc="-10" dirty="0">
                <a:latin typeface="Times New Roman"/>
                <a:cs typeface="Times New Roman"/>
              </a:rPr>
              <a:t>needed information,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function,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behavior,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0996" y="2338476"/>
            <a:ext cx="5994400" cy="2712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interfaces.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800" b="1" spc="50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509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50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structures,</a:t>
            </a:r>
            <a:r>
              <a:rPr sz="2800" spc="50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software 	</a:t>
            </a:r>
            <a:r>
              <a:rPr sz="2800" dirty="0">
                <a:latin typeface="Times New Roman"/>
                <a:cs typeface="Times New Roman"/>
              </a:rPr>
              <a:t>architecture,</a:t>
            </a:r>
            <a:r>
              <a:rPr sz="2800" spc="2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interface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representations, 	</a:t>
            </a:r>
            <a:r>
              <a:rPr sz="2800" dirty="0">
                <a:latin typeface="Times New Roman"/>
                <a:cs typeface="Times New Roman"/>
              </a:rPr>
              <a:t>algorithmic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details.</a:t>
            </a:r>
            <a:endParaRPr sz="2800">
              <a:latin typeface="Times New Roman"/>
              <a:cs typeface="Times New Roman"/>
            </a:endParaRPr>
          </a:p>
          <a:p>
            <a:pPr marL="240029" marR="6350" indent="-227329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2800" b="1" spc="545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54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540" dirty="0">
                <a:latin typeface="Times New Roman"/>
                <a:cs typeface="Times New Roman"/>
              </a:rPr>
              <a:t>   </a:t>
            </a:r>
            <a:r>
              <a:rPr sz="2800" spc="-10" dirty="0">
                <a:latin typeface="Times New Roman"/>
                <a:cs typeface="Times New Roman"/>
              </a:rPr>
              <a:t>code, 	</a:t>
            </a:r>
            <a:r>
              <a:rPr sz="2800" dirty="0">
                <a:latin typeface="Times New Roman"/>
                <a:cs typeface="Times New Roman"/>
              </a:rPr>
              <a:t>database,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documentation,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testing.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735" y="1644650"/>
            <a:ext cx="4286250" cy="44386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25544" y="470661"/>
            <a:ext cx="7475220" cy="39934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1656080" marR="5080" lvl="1" indent="-227329" algn="just">
              <a:lnSpc>
                <a:spcPts val="2690"/>
              </a:lnSpc>
              <a:buClr>
                <a:srgbClr val="000000"/>
              </a:buClr>
              <a:buFont typeface="Arial MT"/>
              <a:buChar char="•"/>
              <a:tabLst>
                <a:tab pos="165735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Test</a:t>
            </a:r>
            <a:r>
              <a:rPr sz="28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–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check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if</a:t>
            </a:r>
            <a:r>
              <a:rPr sz="2800" b="1" spc="1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all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modules</a:t>
            </a:r>
            <a:r>
              <a:rPr sz="2800" b="1" spc="1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work 	</a:t>
            </a:r>
            <a:r>
              <a:rPr sz="2800" b="1" dirty="0">
                <a:latin typeface="Times New Roman"/>
                <a:cs typeface="Times New Roman"/>
              </a:rPr>
              <a:t>together</a:t>
            </a:r>
            <a:r>
              <a:rPr sz="2800" b="1" spc="1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2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if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2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</a:t>
            </a:r>
            <a:r>
              <a:rPr sz="2800" b="1" spc="2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2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whole 	</a:t>
            </a:r>
            <a:r>
              <a:rPr sz="2800" b="1" dirty="0">
                <a:latin typeface="Times New Roman"/>
                <a:cs typeface="Times New Roman"/>
              </a:rPr>
              <a:t>behaves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per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specifications.</a:t>
            </a:r>
            <a:endParaRPr sz="2800" dirty="0">
              <a:latin typeface="Times New Roman"/>
              <a:cs typeface="Times New Roman"/>
            </a:endParaRPr>
          </a:p>
          <a:p>
            <a:pPr marL="1656080" marR="7620" lvl="1" indent="-227329" algn="just">
              <a:lnSpc>
                <a:spcPts val="2690"/>
              </a:lnSpc>
              <a:spcBef>
                <a:spcPts val="1005"/>
              </a:spcBef>
              <a:buClr>
                <a:srgbClr val="000000"/>
              </a:buClr>
              <a:buFont typeface="Arial MT"/>
              <a:buChar char="•"/>
              <a:tabLst>
                <a:tab pos="165735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Installation</a:t>
            </a:r>
            <a:r>
              <a:rPr sz="2800" b="1" spc="5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–</a:t>
            </a:r>
            <a:r>
              <a:rPr sz="2800" b="1" spc="6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deployment</a:t>
            </a:r>
            <a:r>
              <a:rPr sz="2800" b="1" spc="6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5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system, 	</a:t>
            </a:r>
            <a:r>
              <a:rPr sz="2800" b="1" spc="-35" dirty="0">
                <a:latin typeface="Times New Roman"/>
                <a:cs typeface="Times New Roman"/>
              </a:rPr>
              <a:t>user-</a:t>
            </a:r>
            <a:r>
              <a:rPr sz="2800" b="1" spc="-10" dirty="0">
                <a:latin typeface="Times New Roman"/>
                <a:cs typeface="Times New Roman"/>
              </a:rPr>
              <a:t>training.</a:t>
            </a:r>
            <a:endParaRPr sz="2800" dirty="0">
              <a:latin typeface="Times New Roman"/>
              <a:cs typeface="Times New Roman"/>
            </a:endParaRPr>
          </a:p>
          <a:p>
            <a:pPr marL="1656080" marR="6350" lvl="1" indent="-227329" algn="just">
              <a:lnSpc>
                <a:spcPts val="2690"/>
              </a:lnSpc>
              <a:spcBef>
                <a:spcPts val="990"/>
              </a:spcBef>
              <a:buClr>
                <a:srgbClr val="000000"/>
              </a:buClr>
              <a:buFont typeface="Arial MT"/>
              <a:buChar char="•"/>
              <a:tabLst>
                <a:tab pos="165735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r>
              <a:rPr sz="2800" b="1" spc="6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–</a:t>
            </a:r>
            <a:r>
              <a:rPr sz="2800" b="1" spc="63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bug</a:t>
            </a:r>
            <a:r>
              <a:rPr sz="2800" b="1" spc="62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fixes,</a:t>
            </a:r>
            <a:r>
              <a:rPr sz="2800" b="1" spc="620" dirty="0">
                <a:latin typeface="Times New Roman"/>
                <a:cs typeface="Times New Roman"/>
              </a:rPr>
              <a:t>  </a:t>
            </a:r>
            <a:r>
              <a:rPr sz="2800" b="1" spc="-10" dirty="0">
                <a:latin typeface="Times New Roman"/>
                <a:cs typeface="Times New Roman"/>
              </a:rPr>
              <a:t>added 	</a:t>
            </a:r>
            <a:r>
              <a:rPr sz="2800" b="1" dirty="0">
                <a:latin typeface="Times New Roman"/>
                <a:cs typeface="Times New Roman"/>
              </a:rPr>
              <a:t>functionality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(an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on-</a:t>
            </a:r>
            <a:r>
              <a:rPr sz="2800" b="1" dirty="0">
                <a:latin typeface="Times New Roman"/>
                <a:cs typeface="Times New Roman"/>
              </a:rPr>
              <a:t>going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process).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5126" y="514553"/>
            <a:ext cx="48437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</a:t>
            </a:r>
            <a:r>
              <a:rPr sz="36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 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6341" y="1486280"/>
            <a:ext cx="4655820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865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0035" y="2250186"/>
            <a:ext cx="4489450" cy="28816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6350" indent="-227965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  <a:tab pos="1109980" algn="l"/>
                <a:tab pos="1565275" algn="l"/>
                <a:tab pos="3391535" algn="l"/>
                <a:tab pos="4201160" algn="l"/>
              </a:tabLst>
            </a:pPr>
            <a:r>
              <a:rPr sz="2800" spc="-20" dirty="0">
                <a:latin typeface="Times New Roman"/>
                <a:cs typeface="Times New Roman"/>
              </a:rPr>
              <a:t>Easy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understand,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easy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5" dirty="0">
                <a:latin typeface="Times New Roman"/>
                <a:cs typeface="Times New Roman"/>
              </a:rPr>
              <a:t>to 	</a:t>
            </a:r>
            <a:r>
              <a:rPr sz="2800" spc="-25" dirty="0">
                <a:latin typeface="Times New Roman"/>
                <a:cs typeface="Times New Roman"/>
              </a:rPr>
              <a:t>use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965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  <a:tab pos="2220595" algn="l"/>
                <a:tab pos="4199255" algn="l"/>
              </a:tabLst>
            </a:pPr>
            <a:r>
              <a:rPr sz="2800" spc="-10" dirty="0">
                <a:latin typeface="Times New Roman"/>
                <a:cs typeface="Times New Roman"/>
              </a:rPr>
              <a:t>Provides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structure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inexperienced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staff</a:t>
            </a:r>
            <a:endParaRPr sz="2800">
              <a:latin typeface="Times New Roman"/>
              <a:cs typeface="Times New Roman"/>
            </a:endParaRPr>
          </a:p>
          <a:p>
            <a:pPr marL="240029" marR="5715" indent="-227965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  <a:tab pos="2614295" algn="l"/>
                <a:tab pos="3863975" algn="l"/>
              </a:tabLst>
            </a:pPr>
            <a:r>
              <a:rPr sz="2800" spc="-10" dirty="0">
                <a:latin typeface="Times New Roman"/>
                <a:cs typeface="Times New Roman"/>
              </a:rPr>
              <a:t>Milestones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well 	</a:t>
            </a:r>
            <a:r>
              <a:rPr sz="2800" spc="-10" dirty="0">
                <a:latin typeface="Times New Roman"/>
                <a:cs typeface="Times New Roman"/>
              </a:rPr>
              <a:t>understood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Sets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stability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0035" y="5149341"/>
            <a:ext cx="4486275" cy="793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029" marR="5080" indent="-227965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  <a:tab pos="1638935" algn="l"/>
                <a:tab pos="2661920" algn="l"/>
              </a:tabLst>
            </a:pPr>
            <a:r>
              <a:rPr sz="2800" spc="-20" dirty="0">
                <a:latin typeface="Times New Roman"/>
                <a:cs typeface="Times New Roman"/>
              </a:rPr>
              <a:t>Good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management 	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(plan,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staff,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track)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1093" y="1500377"/>
            <a:ext cx="4657725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870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Disadvantages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0138" y="2247392"/>
            <a:ext cx="4306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  <a:tab pos="932815" algn="l"/>
                <a:tab pos="3027045" algn="l"/>
                <a:tab pos="3956685" algn="l"/>
              </a:tabLst>
            </a:pPr>
            <a:r>
              <a:rPr sz="2800" spc="-25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must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8738" y="2546095"/>
            <a:ext cx="2131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upfront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0138" y="2844799"/>
            <a:ext cx="4303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8738" y="3143199"/>
            <a:ext cx="4074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59205" algn="l"/>
                <a:tab pos="2208530" algn="l"/>
              </a:tabLst>
            </a:pPr>
            <a:r>
              <a:rPr sz="2800" spc="-10" dirty="0">
                <a:latin typeface="Times New Roman"/>
                <a:cs typeface="Times New Roman"/>
              </a:rPr>
              <a:t>state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8738" y="3441903"/>
            <a:ext cx="1367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explicitly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00138" y="3741165"/>
            <a:ext cx="4305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  <a:tab pos="1949450" algn="l"/>
                <a:tab pos="2336800" algn="l"/>
                <a:tab pos="2997835" algn="l"/>
                <a:tab pos="3601720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Integration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one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big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bang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1438" y="4039870"/>
            <a:ext cx="1379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12838" y="4338573"/>
            <a:ext cx="4291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3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27329" algn="l"/>
                <a:tab pos="1601470" algn="l"/>
                <a:tab pos="3863340" algn="l"/>
              </a:tabLst>
            </a:pPr>
            <a:r>
              <a:rPr sz="2800" spc="-10" dirty="0">
                <a:latin typeface="Times New Roman"/>
                <a:cs typeface="Times New Roman"/>
              </a:rPr>
              <a:t>Little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opportunity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28738" y="4637278"/>
            <a:ext cx="4075429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95"/>
              </a:spcBef>
              <a:tabLst>
                <a:tab pos="1610995" algn="l"/>
                <a:tab pos="2184400" algn="l"/>
                <a:tab pos="3627754" algn="l"/>
              </a:tabLst>
            </a:pPr>
            <a:r>
              <a:rPr sz="2800" spc="-10" dirty="0">
                <a:latin typeface="Times New Roman"/>
                <a:cs typeface="Times New Roman"/>
              </a:rPr>
              <a:t>customer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preview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70100"/>
              </a:lnSpc>
              <a:spcBef>
                <a:spcPts val="500"/>
              </a:spcBef>
              <a:tabLst>
                <a:tab pos="1135380" algn="l"/>
                <a:tab pos="2047239" algn="l"/>
                <a:tab pos="2383790" algn="l"/>
                <a:tab pos="3133725" algn="l"/>
                <a:tab pos="3607435" algn="l"/>
              </a:tabLst>
            </a:pPr>
            <a:r>
              <a:rPr sz="2800" spc="-10" dirty="0">
                <a:latin typeface="Times New Roman"/>
                <a:cs typeface="Times New Roman"/>
              </a:rPr>
              <a:t>system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(until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may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too </a:t>
            </a:r>
            <a:r>
              <a:rPr sz="2800" spc="-10" dirty="0">
                <a:latin typeface="Times New Roman"/>
                <a:cs typeface="Times New Roman"/>
              </a:rPr>
              <a:t>late)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00618" y="6335369"/>
            <a:ext cx="739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1607" y="6335369"/>
            <a:ext cx="34118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CUI-Software</a:t>
            </a:r>
            <a:r>
              <a:rPr sz="1200" spc="11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9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  <a:p>
            <a:pPr marL="2059305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8428355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735">
              <a:lnSpc>
                <a:spcPct val="100000"/>
              </a:lnSpc>
              <a:spcBef>
                <a:spcPts val="100"/>
              </a:spcBef>
              <a:tabLst>
                <a:tab pos="244792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</a:t>
            </a:r>
            <a:r>
              <a:rPr sz="36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Fall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very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well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When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it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possible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to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produce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stable</a:t>
            </a:r>
            <a:r>
              <a:rPr sz="3000" spc="-10" dirty="0">
                <a:latin typeface="Times New Roman"/>
                <a:cs typeface="Times New Roman"/>
              </a:rPr>
              <a:t> design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E.g.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version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existing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product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E.g.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existing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0664" y="535381"/>
            <a:ext cx="56273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Modified</a:t>
            </a:r>
            <a:r>
              <a:rPr sz="3600" b="1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Waterfall</a:t>
            </a:r>
            <a:r>
              <a:rPr sz="3600" b="1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066" y="1589024"/>
            <a:ext cx="10028301" cy="48994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00618" y="6335369"/>
            <a:ext cx="739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1607" y="6335369"/>
            <a:ext cx="34118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CUI-Software</a:t>
            </a:r>
            <a:r>
              <a:rPr sz="1200" spc="11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9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  <a:p>
            <a:pPr marL="2059305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2550" y="3099638"/>
            <a:ext cx="97193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Seque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tial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Models: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nc</a:t>
            </a:r>
            <a:r>
              <a:rPr sz="36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emental</a:t>
            </a:r>
            <a:r>
              <a:rPr sz="3600" b="1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8310" y="389001"/>
            <a:ext cx="58477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969" y="1517141"/>
            <a:ext cx="10245471" cy="48392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8310" y="389001"/>
            <a:ext cx="58477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AB818BCA-A780-F487-BA01-B1AD67C36ED3}"/>
              </a:ext>
            </a:extLst>
          </p:cNvPr>
          <p:cNvGrpSpPr/>
          <p:nvPr/>
        </p:nvGrpSpPr>
        <p:grpSpPr>
          <a:xfrm>
            <a:off x="685800" y="1724025"/>
            <a:ext cx="10820400" cy="4476750"/>
            <a:chOff x="685800" y="1724025"/>
            <a:chExt cx="10820400" cy="447675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17A44D63-007F-9FB0-3B9A-96931014348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5" y="1733550"/>
              <a:ext cx="10801350" cy="445770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8768F412-0AD6-2334-58EB-21F39E8C3D32}"/>
                </a:ext>
              </a:extLst>
            </p:cNvPr>
            <p:cNvSpPr/>
            <p:nvPr/>
          </p:nvSpPr>
          <p:spPr>
            <a:xfrm>
              <a:off x="690562" y="1728787"/>
              <a:ext cx="10810875" cy="4467225"/>
            </a:xfrm>
            <a:custGeom>
              <a:avLst/>
              <a:gdLst/>
              <a:ahLst/>
              <a:cxnLst/>
              <a:rect l="l" t="t" r="r" b="b"/>
              <a:pathLst>
                <a:path w="10810875" h="4467225">
                  <a:moveTo>
                    <a:pt x="0" y="4467225"/>
                  </a:moveTo>
                  <a:lnTo>
                    <a:pt x="10810875" y="4467225"/>
                  </a:lnTo>
                  <a:lnTo>
                    <a:pt x="10810875" y="0"/>
                  </a:lnTo>
                  <a:lnTo>
                    <a:pt x="0" y="0"/>
                  </a:lnTo>
                  <a:lnTo>
                    <a:pt x="0" y="4467225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878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594486"/>
            <a:ext cx="10224135" cy="374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8220">
              <a:lnSpc>
                <a:spcPct val="100000"/>
              </a:lnSpc>
              <a:spcBef>
                <a:spcPts val="100"/>
              </a:spcBef>
              <a:tabLst>
                <a:tab pos="277241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3595"/>
              </a:spcBef>
              <a:buFont typeface="Arial MT"/>
              <a:buChar char="•"/>
              <a:tabLst>
                <a:tab pos="241300" algn="l"/>
                <a:tab pos="2025650" algn="l"/>
                <a:tab pos="3620135" algn="l"/>
                <a:tab pos="4175125" algn="l"/>
                <a:tab pos="4879340" algn="l"/>
                <a:tab pos="6577330" algn="l"/>
                <a:tab pos="7809865" algn="l"/>
                <a:tab pos="9253855" algn="l"/>
                <a:tab pos="980821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Combines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waterfall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applied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an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iterative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fashion.</a:t>
            </a:r>
            <a:endParaRPr sz="3000" dirty="0">
              <a:latin typeface="Times New Roman"/>
              <a:cs typeface="Times New Roman"/>
            </a:endParaRPr>
          </a:p>
          <a:p>
            <a:pPr marL="241300" marR="7620" indent="-228600">
              <a:lnSpc>
                <a:spcPts val="324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2443480" algn="l"/>
                <a:tab pos="3804920" algn="l"/>
                <a:tab pos="4972050" algn="l"/>
                <a:tab pos="6798309" algn="l"/>
                <a:tab pos="7334884" algn="l"/>
                <a:tab pos="8018780" algn="l"/>
                <a:tab pos="953071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Incremental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applies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linear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sequences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calendar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time </a:t>
            </a:r>
            <a:r>
              <a:rPr sz="3000" spc="-10" dirty="0">
                <a:latin typeface="Times New Roman"/>
                <a:cs typeface="Times New Roman"/>
              </a:rPr>
              <a:t>progress.</a:t>
            </a:r>
            <a:endParaRPr sz="3000" dirty="0">
              <a:latin typeface="Times New Roman"/>
              <a:cs typeface="Times New Roman"/>
            </a:endParaRPr>
          </a:p>
          <a:p>
            <a:pPr marL="241300" marR="6985" indent="-228600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Limited</a:t>
            </a:r>
            <a:r>
              <a:rPr sz="3000" b="1" spc="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functionalities</a:t>
            </a:r>
            <a:r>
              <a:rPr sz="3000" b="1" spc="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expands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functionalities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later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release.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1125" y="366776"/>
            <a:ext cx="10347325" cy="58682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8810">
              <a:lnSpc>
                <a:spcPct val="100000"/>
              </a:lnSpc>
              <a:spcBef>
                <a:spcPts val="100"/>
              </a:spcBef>
              <a:tabLst>
                <a:tab pos="3683635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Each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linear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sequence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produces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deliverable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increment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software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E.g.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Word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software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increment</a:t>
            </a:r>
            <a:r>
              <a:rPr sz="2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often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core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endParaRPr sz="26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05865" algn="l"/>
                <a:tab pos="3294379" algn="l"/>
                <a:tab pos="3958590" algn="l"/>
                <a:tab pos="5553075" algn="l"/>
                <a:tab pos="6186805" algn="l"/>
                <a:tab pos="7133590" algn="l"/>
                <a:tab pos="928878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Basic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requirements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are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addressed,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but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many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supplementary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remains undelivered.</a:t>
            </a:r>
            <a:endParaRPr sz="2600" dirty="0">
              <a:latin typeface="Times New Roman"/>
              <a:cs typeface="Times New Roman"/>
            </a:endParaRPr>
          </a:p>
          <a:p>
            <a:pPr marL="241300" marR="8890" indent="-2286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Customers</a:t>
            </a:r>
            <a:r>
              <a:rPr sz="2600" b="1" spc="2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evaluate</a:t>
            </a:r>
            <a:r>
              <a:rPr sz="2600" b="1" spc="3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core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product,</a:t>
            </a:r>
            <a:r>
              <a:rPr sz="2600" spc="3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3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increment</a:t>
            </a:r>
            <a:r>
              <a:rPr sz="2600" spc="3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3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planned </a:t>
            </a:r>
            <a:r>
              <a:rPr sz="2600" dirty="0">
                <a:latin typeface="Times New Roman"/>
                <a:cs typeface="Times New Roman"/>
              </a:rPr>
              <a:t>based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suggestions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features</a:t>
            </a: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956310" algn="l"/>
                <a:tab pos="1742439" algn="l"/>
                <a:tab pos="3256279" algn="l"/>
                <a:tab pos="3822700" algn="l"/>
                <a:tab pos="5671820" algn="l"/>
                <a:tab pos="6110605" algn="l"/>
                <a:tab pos="6838950" algn="l"/>
                <a:tab pos="8009890" algn="l"/>
                <a:tab pos="8649970" algn="l"/>
                <a:tab pos="1005713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plan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addresses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modification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of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core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product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delivery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additional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features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functionalities.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6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repeated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until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complete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2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produced.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650" y="1539875"/>
            <a:ext cx="5695696" cy="464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63415" y="470661"/>
            <a:ext cx="7680959" cy="5258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182620" marR="5080" lvl="1" indent="-227329" algn="just">
              <a:lnSpc>
                <a:spcPts val="2590"/>
              </a:lnSpc>
              <a:buFont typeface="Arial MT"/>
              <a:buChar char="•"/>
              <a:tabLst>
                <a:tab pos="3183890" algn="l"/>
              </a:tabLst>
            </a:pPr>
            <a:r>
              <a:rPr sz="2400" dirty="0">
                <a:latin typeface="Times New Roman"/>
                <a:cs typeface="Times New Roman"/>
              </a:rPr>
              <a:t>Construct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partial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implementation 	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182620" marR="8890" lvl="1" indent="-227329" algn="just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318389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Then</a:t>
            </a:r>
            <a:r>
              <a:rPr sz="2400" spc="350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slowly</a:t>
            </a:r>
            <a:r>
              <a:rPr sz="2400" spc="350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add</a:t>
            </a:r>
            <a:r>
              <a:rPr sz="2400" spc="350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increased 	functionality</a:t>
            </a:r>
            <a:endParaRPr sz="2400" dirty="0">
              <a:latin typeface="Times New Roman"/>
              <a:cs typeface="Times New Roman"/>
            </a:endParaRPr>
          </a:p>
          <a:p>
            <a:pPr marL="3182620" marR="6985" lvl="1" indent="-227329" algn="just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318389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incremental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15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prioritizes 	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then 	</a:t>
            </a:r>
            <a:r>
              <a:rPr sz="2400" dirty="0">
                <a:latin typeface="Times New Roman"/>
                <a:cs typeface="Times New Roman"/>
              </a:rPr>
              <a:t>implements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groups.</a:t>
            </a:r>
            <a:endParaRPr sz="2400" dirty="0">
              <a:latin typeface="Times New Roman"/>
              <a:cs typeface="Times New Roman"/>
            </a:endParaRPr>
          </a:p>
          <a:p>
            <a:pPr marL="3182620" marR="6350" lvl="1" indent="-227329" algn="just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318389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4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subsequent</a:t>
            </a:r>
            <a:r>
              <a:rPr sz="2400" spc="4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release</a:t>
            </a:r>
            <a:r>
              <a:rPr sz="2400" spc="4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2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previous 	</a:t>
            </a:r>
            <a:r>
              <a:rPr sz="2400" dirty="0">
                <a:latin typeface="Times New Roman"/>
                <a:cs typeface="Times New Roman"/>
              </a:rPr>
              <a:t>release,</a:t>
            </a:r>
            <a:r>
              <a:rPr sz="2400" spc="44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459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455" dirty="0">
                <a:latin typeface="Times New Roman"/>
                <a:cs typeface="Times New Roman"/>
              </a:rPr>
              <a:t>    </a:t>
            </a:r>
            <a:r>
              <a:rPr sz="2400" spc="-10" dirty="0">
                <a:latin typeface="Times New Roman"/>
                <a:cs typeface="Times New Roman"/>
              </a:rPr>
              <a:t>designed 	</a:t>
            </a:r>
            <a:r>
              <a:rPr sz="2400" dirty="0">
                <a:latin typeface="Times New Roman"/>
                <a:cs typeface="Times New Roman"/>
              </a:rPr>
              <a:t>functionality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implemented.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117" y="509981"/>
            <a:ext cx="8484235" cy="5468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50">
              <a:lnSpc>
                <a:spcPct val="100000"/>
              </a:lnSpc>
              <a:spcBef>
                <a:spcPts val="100"/>
              </a:spcBef>
              <a:tabLst>
                <a:tab pos="274574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emental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engths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Develop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high-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major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functions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release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delivers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operational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Customer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respond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build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  <a:tab pos="1170940" algn="l"/>
              </a:tabLst>
            </a:pPr>
            <a:r>
              <a:rPr sz="3000" spc="-20" dirty="0">
                <a:latin typeface="Times New Roman"/>
                <a:cs typeface="Times New Roman"/>
              </a:rPr>
              <a:t>Uses</a:t>
            </a:r>
            <a:r>
              <a:rPr sz="3000" dirty="0">
                <a:latin typeface="Times New Roman"/>
                <a:cs typeface="Times New Roman"/>
              </a:rPr>
              <a:t>	“divide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conquer”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breakdown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tasks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Lowers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initial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delivery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cost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Initial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delivery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faster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Customers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important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functionality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changing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7492" y="366776"/>
            <a:ext cx="9636760" cy="419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2639">
              <a:lnSpc>
                <a:spcPct val="100000"/>
              </a:lnSpc>
              <a:spcBef>
                <a:spcPts val="100"/>
              </a:spcBef>
              <a:tabLst>
                <a:tab pos="2577465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Weaknesses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Requires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planning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endParaRPr sz="30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ts val="324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Requires</a:t>
            </a:r>
            <a:r>
              <a:rPr sz="30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definition</a:t>
            </a:r>
            <a:r>
              <a:rPr sz="30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complete</a:t>
            </a:r>
            <a:r>
              <a:rPr sz="30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fully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functional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definition 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increments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2388870" algn="l"/>
                <a:tab pos="3696335" algn="l"/>
                <a:tab pos="5344160" algn="l"/>
                <a:tab pos="5974715" algn="l"/>
                <a:tab pos="7410450" algn="l"/>
                <a:tab pos="8505190" algn="l"/>
                <a:tab pos="9264015" algn="l"/>
              </a:tabLst>
            </a:pP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Well-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defined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required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(some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will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be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long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before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others)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20" dirty="0">
                <a:latin typeface="Times New Roman"/>
                <a:cs typeface="Times New Roman"/>
              </a:rPr>
              <a:t>Total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cost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complete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lower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9609" y="500888"/>
            <a:ext cx="42684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5133" y="1524253"/>
            <a:ext cx="4655820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002030">
              <a:lnSpc>
                <a:spcPct val="100000"/>
              </a:lnSpc>
              <a:spcBef>
                <a:spcPts val="865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3058" y="2326386"/>
            <a:ext cx="46659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2004695" algn="l"/>
                <a:tab pos="351536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Generates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working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software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1658" y="2603754"/>
            <a:ext cx="4436745" cy="6997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  <a:tabLst>
                <a:tab pos="1259205" algn="l"/>
                <a:tab pos="1989455" algn="l"/>
                <a:tab pos="2901950" algn="l"/>
                <a:tab pos="4019550" algn="l"/>
              </a:tabLst>
            </a:pPr>
            <a:r>
              <a:rPr sz="2600" spc="-10" dirty="0">
                <a:latin typeface="Times New Roman"/>
                <a:cs typeface="Times New Roman"/>
              </a:rPr>
              <a:t>quickly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early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during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life</a:t>
            </a:r>
            <a:r>
              <a:rPr sz="2600" spc="-10" dirty="0">
                <a:latin typeface="Times New Roman"/>
                <a:cs typeface="Times New Roman"/>
              </a:rPr>
              <a:t> cycle.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3058" y="3284982"/>
            <a:ext cx="4665980" cy="274574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658495" algn="l"/>
                <a:tab pos="1059815" algn="l"/>
                <a:tab pos="2059305" algn="l"/>
                <a:tab pos="2515235" algn="l"/>
                <a:tab pos="3188970" algn="l"/>
                <a:tab pos="384556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It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is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easier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to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test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debug </a:t>
            </a: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smaller</a:t>
            </a:r>
            <a:r>
              <a:rPr sz="2600" spc="-10" dirty="0">
                <a:latin typeface="Times New Roman"/>
                <a:cs typeface="Times New Roman"/>
              </a:rPr>
              <a:t> iteration.</a:t>
            </a:r>
            <a:endParaRPr sz="260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2391410" algn="l"/>
                <a:tab pos="3656965" algn="l"/>
                <a:tab pos="4048760" algn="l"/>
              </a:tabLst>
            </a:pPr>
            <a:r>
              <a:rPr sz="2600" b="1" dirty="0">
                <a:latin typeface="Times New Roman"/>
                <a:cs typeface="Times New Roman"/>
              </a:rPr>
              <a:t>Customer</a:t>
            </a:r>
            <a:r>
              <a:rPr sz="2600" b="1" spc="32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can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respond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each </a:t>
            </a:r>
            <a:r>
              <a:rPr sz="2600" spc="-10" dirty="0">
                <a:latin typeface="Times New Roman"/>
                <a:cs typeface="Times New Roman"/>
              </a:rPr>
              <a:t>built.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Lowers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initial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delivery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cost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655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  <a:tab pos="1271270" algn="l"/>
                <a:tab pos="1682750" algn="l"/>
                <a:tab pos="2922270" algn="l"/>
                <a:tab pos="36068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Easier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to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manage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risk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because</a:t>
            </a:r>
            <a:endParaRPr sz="2600">
              <a:latin typeface="Times New Roman"/>
              <a:cs typeface="Times New Roman"/>
            </a:endParaRPr>
          </a:p>
          <a:p>
            <a:pPr marL="241300" marR="5080">
              <a:lnSpc>
                <a:spcPct val="70000"/>
              </a:lnSpc>
              <a:spcBef>
                <a:spcPts val="470"/>
              </a:spcBef>
              <a:tabLst>
                <a:tab pos="1097915" algn="l"/>
                <a:tab pos="2115820" algn="l"/>
                <a:tab pos="2713355" algn="l"/>
                <a:tab pos="4175125" algn="l"/>
              </a:tabLst>
            </a:pPr>
            <a:r>
              <a:rPr sz="2600" spc="-10" dirty="0">
                <a:latin typeface="Times New Roman"/>
                <a:cs typeface="Times New Roman"/>
              </a:rPr>
              <a:t>risky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pieces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identified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handled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iteration.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2503" y="1524253"/>
            <a:ext cx="4657725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264920">
              <a:lnSpc>
                <a:spcPct val="100000"/>
              </a:lnSpc>
              <a:spcBef>
                <a:spcPts val="865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Disadvantages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0170" y="2326894"/>
            <a:ext cx="4664710" cy="13061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5080" indent="-2286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1437005" algn="l"/>
                <a:tab pos="2441575" algn="l"/>
                <a:tab pos="410146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Needs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good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planning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design.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195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Needs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clear</a:t>
            </a:r>
            <a:r>
              <a:rPr sz="3000" b="1" spc="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complete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8770" y="3561715"/>
            <a:ext cx="4434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0555" algn="l"/>
                <a:tab pos="2621915" algn="l"/>
                <a:tab pos="3490595" algn="l"/>
              </a:tabLst>
            </a:pPr>
            <a:r>
              <a:rPr sz="3000" spc="-10" dirty="0">
                <a:latin typeface="Times New Roman"/>
                <a:cs typeface="Times New Roman"/>
              </a:rPr>
              <a:t>definition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whole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8770" y="3973195"/>
            <a:ext cx="4434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0015" algn="l"/>
                <a:tab pos="2682875" algn="l"/>
                <a:tab pos="3214370" algn="l"/>
                <a:tab pos="406209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before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can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be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8770" y="4384370"/>
            <a:ext cx="44348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075" algn="l"/>
                <a:tab pos="2753995" algn="l"/>
                <a:tab pos="3723640" algn="l"/>
              </a:tabLst>
            </a:pPr>
            <a:r>
              <a:rPr sz="3000" spc="-10" dirty="0">
                <a:latin typeface="Times New Roman"/>
                <a:cs typeface="Times New Roman"/>
              </a:rPr>
              <a:t>broken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down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built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8770" y="4796408"/>
            <a:ext cx="2189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Times New Roman"/>
                <a:cs typeface="Times New Roman"/>
              </a:rPr>
              <a:t>incrementally.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0170" y="5207914"/>
            <a:ext cx="2292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164465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Total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cost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8113" y="5207914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</a:tabLst>
            </a:pP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higher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8770" y="5619394"/>
            <a:ext cx="23323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waterfall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1607" y="6335369"/>
            <a:ext cx="4818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4078604" algn="l"/>
              </a:tabLst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CUI-Software</a:t>
            </a:r>
            <a:r>
              <a:rPr sz="1200" spc="11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9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2024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endParaRPr sz="12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13" y="584961"/>
            <a:ext cx="10297160" cy="52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4475">
              <a:lnSpc>
                <a:spcPct val="100000"/>
              </a:lnSpc>
              <a:spcBef>
                <a:spcPts val="100"/>
              </a:spcBef>
              <a:tabLst>
                <a:tab pos="2018664" algn="l"/>
              </a:tabLst>
            </a:pP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  <a:tab pos="1030605" algn="l"/>
                <a:tab pos="2192020" algn="l"/>
                <a:tab pos="3469640" algn="l"/>
                <a:tab pos="4638040" algn="l"/>
                <a:tab pos="6188710" algn="l"/>
                <a:tab pos="6612255" algn="l"/>
                <a:tab pos="7343775" algn="l"/>
                <a:tab pos="7863840" algn="l"/>
                <a:tab pos="8629015" algn="l"/>
                <a:tab pos="10039985" algn="l"/>
              </a:tabLst>
            </a:pPr>
            <a:r>
              <a:rPr sz="2300" spc="-10" dirty="0">
                <a:latin typeface="Times New Roman"/>
                <a:cs typeface="Times New Roman"/>
              </a:rPr>
              <a:t>Risk,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funding,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schedule,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program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complexity,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or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0" dirty="0">
                <a:latin typeface="Times New Roman"/>
                <a:cs typeface="Times New Roman"/>
              </a:rPr>
              <a:t>need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for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realization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benefits</a:t>
            </a:r>
            <a:r>
              <a:rPr sz="2300" spc="-1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sz="23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Times New Roman"/>
                <a:cs typeface="Times New Roman"/>
              </a:rPr>
              <a:t>Most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requirements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known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up-front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expected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evolve</a:t>
            </a:r>
            <a:r>
              <a:rPr sz="23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over</a:t>
            </a:r>
            <a:r>
              <a:rPr sz="23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endParaRPr sz="23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240029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get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basic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functionality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market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endParaRPr sz="23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projects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which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lengthy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 schedules</a:t>
            </a:r>
            <a:endParaRPr sz="23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project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3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2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23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59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dirty="0">
                <a:solidFill>
                  <a:srgbClr val="FF0000"/>
                </a:solidFill>
                <a:latin typeface="Times New Roman"/>
                <a:cs typeface="Times New Roman"/>
              </a:rPr>
              <a:t>Useful</a:t>
            </a:r>
            <a:r>
              <a:rPr sz="23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when</a:t>
            </a:r>
            <a:endParaRPr sz="23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430"/>
              </a:lnSpc>
              <a:buFont typeface="Arial MT"/>
              <a:buChar char="•"/>
              <a:tabLst>
                <a:tab pos="697230" algn="l"/>
                <a:tab pos="6691630" algn="l"/>
              </a:tabLst>
            </a:pPr>
            <a:r>
              <a:rPr sz="2300" b="1" dirty="0">
                <a:latin typeface="Times New Roman"/>
                <a:cs typeface="Times New Roman"/>
              </a:rPr>
              <a:t>Staff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is</a:t>
            </a:r>
            <a:r>
              <a:rPr sz="2300" b="1" spc="-1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unavailable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complete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implementation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deadline is</a:t>
            </a:r>
            <a:r>
              <a:rPr sz="2300" spc="-10" dirty="0">
                <a:latin typeface="Times New Roman"/>
                <a:cs typeface="Times New Roman"/>
              </a:rPr>
              <a:t> tight</a:t>
            </a:r>
            <a:endParaRPr sz="2300" dirty="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5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b="1" dirty="0">
                <a:latin typeface="Times New Roman"/>
                <a:cs typeface="Times New Roman"/>
              </a:rPr>
              <a:t>If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core</a:t>
            </a:r>
            <a:r>
              <a:rPr sz="2300" b="1" spc="-3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product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is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well</a:t>
            </a:r>
            <a:r>
              <a:rPr sz="2300" b="1" spc="-1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received</a:t>
            </a:r>
            <a:r>
              <a:rPr sz="2300" dirty="0">
                <a:latin typeface="Times New Roman"/>
                <a:cs typeface="Times New Roman"/>
              </a:rPr>
              <a:t>,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additional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staff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implement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next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increment</a:t>
            </a:r>
            <a:endParaRPr sz="2300" dirty="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b="1" dirty="0">
                <a:latin typeface="Times New Roman"/>
                <a:cs typeface="Times New Roman"/>
              </a:rPr>
              <a:t>Increment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can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be</a:t>
            </a:r>
            <a:r>
              <a:rPr sz="2300" b="1" spc="-3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planned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manage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technical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risks</a:t>
            </a:r>
            <a:endParaRPr sz="2300" dirty="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59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b="1" dirty="0">
                <a:latin typeface="Times New Roman"/>
                <a:cs typeface="Times New Roman"/>
              </a:rPr>
              <a:t>Partial</a:t>
            </a:r>
            <a:r>
              <a:rPr sz="2300" b="1" spc="-3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functionaliti</a:t>
            </a:r>
            <a:r>
              <a:rPr sz="2300" dirty="0">
                <a:latin typeface="Times New Roman"/>
                <a:cs typeface="Times New Roman"/>
              </a:rPr>
              <a:t>es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delivered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–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without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inordinate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delay.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1228" y="605790"/>
            <a:ext cx="10071735" cy="450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6520">
              <a:lnSpc>
                <a:spcPct val="100000"/>
              </a:lnSpc>
              <a:spcBef>
                <a:spcPts val="100"/>
              </a:spcBef>
              <a:tabLst>
                <a:tab pos="1870710" algn="l"/>
              </a:tabLst>
            </a:pP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Incremental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Customer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delivered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increment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 </a:t>
            </a:r>
            <a:r>
              <a:rPr sz="3000" dirty="0">
                <a:latin typeface="Times New Roman"/>
                <a:cs typeface="Times New Roman"/>
              </a:rPr>
              <a:t>functionality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earlier.</a:t>
            </a:r>
            <a:endParaRPr sz="30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ts val="324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30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increments</a:t>
            </a:r>
            <a:r>
              <a:rPr sz="30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act</a:t>
            </a:r>
            <a:r>
              <a:rPr sz="30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r>
              <a:rPr sz="30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help</a:t>
            </a:r>
            <a:r>
              <a:rPr sz="3000" spc="25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elicit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later</a:t>
            </a:r>
            <a:r>
              <a:rPr sz="3000" spc="-10" dirty="0">
                <a:latin typeface="Times New Roman"/>
                <a:cs typeface="Times New Roman"/>
              </a:rPr>
              <a:t> increments.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Lower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overall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failure.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992505" algn="l"/>
                <a:tab pos="2251710" algn="l"/>
                <a:tab pos="3556000" algn="l"/>
                <a:tab pos="4773930" algn="l"/>
                <a:tab pos="6160770" algn="l"/>
                <a:tab pos="6976109" algn="l"/>
                <a:tab pos="7430770" algn="l"/>
                <a:tab pos="8692515" algn="l"/>
                <a:tab pos="9317355" algn="l"/>
              </a:tabLst>
            </a:pP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highest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priority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tend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receive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most </a:t>
            </a:r>
            <a:r>
              <a:rPr sz="3000" spc="-10" dirty="0">
                <a:latin typeface="Times New Roman"/>
                <a:cs typeface="Times New Roman"/>
              </a:rPr>
              <a:t>testing.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3092" y="2234260"/>
            <a:ext cx="37858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V-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Shaped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816" y="1628775"/>
            <a:ext cx="5257546" cy="40957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14776" y="470661"/>
            <a:ext cx="8100695" cy="2545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>
                <a:latin typeface="Microsoft Sans Serif"/>
                <a:cs typeface="Microsoft Sans Serif"/>
              </a:rPr>
              <a:t>🞂</a:t>
            </a:r>
            <a:r>
              <a:rPr sz="2450">
                <a:latin typeface="Microsoft Sans Serif"/>
                <a:cs typeface="Microsoft Sans Serif"/>
              </a:rPr>
              <a:t>​</a:t>
            </a:r>
            <a:r>
              <a:rPr sz="3600" b="1" u="sng" spc="-1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V-</a:t>
            </a:r>
            <a:r>
              <a:rPr sz="3600" b="1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Shaped</a:t>
            </a:r>
            <a:r>
              <a:rPr sz="3600" b="1" u="sng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525520" marR="5080" lvl="1" indent="-227329" algn="just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3526790" algn="l"/>
              </a:tabLst>
            </a:pP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75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variant</a:t>
            </a:r>
            <a:r>
              <a:rPr sz="275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50" spc="4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50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Waterfall</a:t>
            </a:r>
            <a:r>
              <a:rPr sz="2750" spc="4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that 	</a:t>
            </a:r>
            <a:r>
              <a:rPr sz="2750" dirty="0">
                <a:latin typeface="Calibri"/>
                <a:cs typeface="Calibri"/>
              </a:rPr>
              <a:t>emphasizes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verification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and 	</a:t>
            </a:r>
            <a:r>
              <a:rPr sz="2750" spc="-10" dirty="0">
                <a:latin typeface="Calibri"/>
                <a:cs typeface="Calibri"/>
              </a:rPr>
              <a:t>validation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of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product.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00519" y="3046857"/>
            <a:ext cx="1407795" cy="8210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296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10" dirty="0">
                <a:solidFill>
                  <a:srgbClr val="FF0000"/>
                </a:solidFill>
                <a:latin typeface="Calibri"/>
                <a:cs typeface="Calibri"/>
              </a:rPr>
              <a:t>Testing 	</a:t>
            </a:r>
            <a:r>
              <a:rPr sz="2750" spc="-10" dirty="0">
                <a:latin typeface="Calibri"/>
                <a:cs typeface="Calibri"/>
              </a:rPr>
              <a:t>planned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7004" y="3046857"/>
            <a:ext cx="1783080" cy="8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30"/>
              </a:lnSpc>
              <a:spcBef>
                <a:spcPts val="95"/>
              </a:spcBef>
              <a:tabLst>
                <a:tab pos="671195" algn="l"/>
              </a:tabLst>
            </a:pPr>
            <a:r>
              <a:rPr sz="2750" spc="-2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50" spc="-2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endParaRPr sz="2750">
              <a:latin typeface="Calibri"/>
              <a:cs typeface="Calibri"/>
            </a:endParaRPr>
          </a:p>
          <a:p>
            <a:pPr marL="135890">
              <a:lnSpc>
                <a:spcPts val="3130"/>
              </a:lnSpc>
              <a:tabLst>
                <a:tab pos="724535" algn="l"/>
              </a:tabLst>
            </a:pPr>
            <a:r>
              <a:rPr sz="2750" spc="-25" dirty="0">
                <a:latin typeface="Calibri"/>
                <a:cs typeface="Calibri"/>
              </a:rPr>
              <a:t>in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spc="-10" dirty="0">
                <a:latin typeface="Calibri"/>
                <a:cs typeface="Calibri"/>
              </a:rPr>
              <a:t>parallel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9042" y="3423284"/>
            <a:ext cx="65405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20" dirty="0">
                <a:latin typeface="Calibri"/>
                <a:cs typeface="Calibri"/>
              </a:rPr>
              <a:t>with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63430" y="3801236"/>
            <a:ext cx="871219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10" dirty="0">
                <a:latin typeface="Calibri"/>
                <a:cs typeface="Calibri"/>
              </a:rPr>
              <a:t>phase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88397" y="3046857"/>
            <a:ext cx="1728470" cy="11988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23670" marR="5080" indent="-1411605" algn="just">
              <a:lnSpc>
                <a:spcPct val="90000"/>
              </a:lnSpc>
              <a:spcBef>
                <a:spcPts val="425"/>
              </a:spcBef>
            </a:pPr>
            <a:r>
              <a:rPr sz="2750" dirty="0">
                <a:solidFill>
                  <a:srgbClr val="FF0000"/>
                </a:solidFill>
                <a:latin typeface="Calibri"/>
                <a:cs typeface="Calibri"/>
              </a:rPr>
              <a:t>product</a:t>
            </a:r>
            <a:r>
              <a:rPr sz="2750" spc="300" dirty="0">
                <a:solidFill>
                  <a:srgbClr val="FF0000"/>
                </a:solidFill>
                <a:latin typeface="Calibri"/>
                <a:cs typeface="Calibri"/>
              </a:rPr>
              <a:t>   </a:t>
            </a:r>
            <a:r>
              <a:rPr sz="2750" spc="-25" dirty="0">
                <a:latin typeface="Calibri"/>
                <a:cs typeface="Calibri"/>
              </a:rPr>
              <a:t>is </a:t>
            </a:r>
            <a:r>
              <a:rPr sz="2750" spc="-50" dirty="0">
                <a:latin typeface="Calibri"/>
                <a:cs typeface="Calibri"/>
              </a:rPr>
              <a:t>a </a:t>
            </a:r>
            <a:r>
              <a:rPr sz="2750" spc="-25" dirty="0">
                <a:latin typeface="Calibri"/>
                <a:cs typeface="Calibri"/>
              </a:rPr>
              <a:t>of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9119" y="3801236"/>
            <a:ext cx="2068195" cy="8210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480"/>
              </a:spcBef>
            </a:pPr>
            <a:r>
              <a:rPr sz="2750" spc="-10" dirty="0">
                <a:latin typeface="Calibri"/>
                <a:cs typeface="Calibri"/>
              </a:rPr>
              <a:t>corresponding development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661" rIns="0" bIns="0" rtlCol="0">
            <a:spAutoFit/>
          </a:bodyPr>
          <a:lstStyle/>
          <a:p>
            <a:pPr marL="166179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V-</a:t>
            </a:r>
            <a:r>
              <a:rPr dirty="0"/>
              <a:t>Shaped</a:t>
            </a:r>
            <a:r>
              <a:rPr spc="-10" dirty="0"/>
              <a:t> 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0113" y="1454277"/>
            <a:ext cx="42786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Planning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7050" y="1824456"/>
            <a:ext cx="2226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allocate</a:t>
            </a:r>
            <a:r>
              <a:rPr sz="2200" spc="-3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resources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0113" y="2311984"/>
            <a:ext cx="3289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7294" y="2513837"/>
            <a:ext cx="3831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2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complete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7294" y="2872740"/>
            <a:ext cx="40506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specification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the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software</a:t>
            </a:r>
            <a:r>
              <a:rPr sz="2200" spc="-2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system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0113" y="3370326"/>
            <a:ext cx="44526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High-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Desig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n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7671" y="3651250"/>
            <a:ext cx="35312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defines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how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software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 functions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7671" y="3953002"/>
            <a:ext cx="18764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fulfill</a:t>
            </a:r>
            <a:r>
              <a:rPr sz="2200" spc="-1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design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0113" y="4429759"/>
            <a:ext cx="32931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Detailed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develop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250" y="4821226"/>
            <a:ext cx="3668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algorithms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for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each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architectural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7294" y="5201069"/>
            <a:ext cx="12674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component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92493" y="1433575"/>
            <a:ext cx="4334510" cy="56134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09245" marR="5080" indent="-297180">
              <a:lnSpc>
                <a:spcPct val="60000"/>
              </a:lnSpc>
              <a:spcBef>
                <a:spcPts val="1150"/>
              </a:spcBef>
              <a:buChar char="⚫"/>
              <a:tabLst>
                <a:tab pos="309245" algn="l"/>
                <a:tab pos="362585" algn="l"/>
              </a:tabLst>
            </a:pPr>
            <a:r>
              <a:rPr sz="1900" dirty="0">
                <a:solidFill>
                  <a:srgbClr val="A4A4A4"/>
                </a:solidFill>
                <a:latin typeface="Segoe UI Symbol"/>
                <a:cs typeface="Segoe UI Symbol"/>
              </a:rPr>
              <a:t>	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6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transform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algorithms</a:t>
            </a:r>
            <a:r>
              <a:rPr sz="2200" spc="-5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12A35"/>
                </a:solidFill>
                <a:latin typeface="Times New Roman"/>
                <a:cs typeface="Times New Roman"/>
              </a:rPr>
              <a:t>into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software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2493" y="2291587"/>
            <a:ext cx="3632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Unit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3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check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12A35"/>
                </a:solidFill>
                <a:latin typeface="Times New Roman"/>
                <a:cs typeface="Times New Roman"/>
              </a:rPr>
              <a:t>each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89672" y="2592475"/>
            <a:ext cx="27292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module</a:t>
            </a:r>
            <a:r>
              <a:rPr sz="2200" spc="-2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acts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as</a:t>
            </a:r>
            <a:r>
              <a:rPr sz="2200" spc="-4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expected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92493" y="3148329"/>
            <a:ext cx="43256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Integration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6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check</a:t>
            </a:r>
            <a:r>
              <a:rPr sz="2200" spc="-7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12A35"/>
                </a:solidFill>
                <a:latin typeface="Times New Roman"/>
                <a:cs typeface="Times New Roman"/>
              </a:rPr>
              <a:t>that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9672" y="3440597"/>
            <a:ext cx="35515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6010" algn="l"/>
              </a:tabLst>
            </a:pP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modules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	interconnect</a:t>
            </a:r>
            <a:r>
              <a:rPr sz="2200" spc="-9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correctly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2493" y="4006037"/>
            <a:ext cx="3936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acceptance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89672" y="4286425"/>
            <a:ext cx="39566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check</a:t>
            </a:r>
            <a:r>
              <a:rPr sz="2200" spc="-3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entire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software</a:t>
            </a:r>
            <a:r>
              <a:rPr sz="2200" spc="-2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system</a:t>
            </a:r>
            <a:r>
              <a:rPr sz="2200" spc="-4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12A35"/>
                </a:solidFill>
                <a:latin typeface="Times New Roman"/>
                <a:cs typeface="Times New Roman"/>
              </a:rPr>
              <a:t>in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89672" y="4604638"/>
            <a:ext cx="17691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its</a:t>
            </a:r>
            <a:r>
              <a:rPr sz="2200" spc="-3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environment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2493" y="5065902"/>
            <a:ext cx="32156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95"/>
              </a:spcBef>
              <a:buClr>
                <a:srgbClr val="A4A4A4"/>
              </a:buClr>
              <a:buFont typeface="Segoe UI Symbol"/>
              <a:buChar char="⚫"/>
              <a:tabLst>
                <a:tab pos="309245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Production,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operation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89672" y="5386885"/>
            <a:ext cx="29660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–</a:t>
            </a:r>
            <a:r>
              <a:rPr sz="2200" spc="-7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provide</a:t>
            </a:r>
            <a:r>
              <a:rPr sz="2200" spc="-7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12A35"/>
                </a:solidFill>
                <a:latin typeface="Times New Roman"/>
                <a:cs typeface="Times New Roman"/>
              </a:rPr>
              <a:t>for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0470" y="5689721"/>
            <a:ext cx="32804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enhancement</a:t>
            </a:r>
            <a:r>
              <a:rPr sz="2200" spc="-70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12A35"/>
                </a:solidFill>
                <a:latin typeface="Times New Roman"/>
                <a:cs typeface="Times New Roman"/>
              </a:rPr>
              <a:t>and</a:t>
            </a:r>
            <a:r>
              <a:rPr sz="2200" spc="-75" dirty="0">
                <a:solidFill>
                  <a:srgbClr val="212A35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12A35"/>
                </a:solidFill>
                <a:latin typeface="Times New Roman"/>
                <a:cs typeface="Times New Roman"/>
              </a:rPr>
              <a:t>corrections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341610" cy="367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6880">
              <a:lnSpc>
                <a:spcPct val="100000"/>
              </a:lnSpc>
              <a:spcBef>
                <a:spcPts val="100"/>
              </a:spcBef>
              <a:tabLst>
                <a:tab pos="3481070" algn="l"/>
              </a:tabLst>
            </a:pPr>
            <a:r>
              <a:rPr sz="3600" b="1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V-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Shaped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Strengths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marR="5080" indent="-306070">
              <a:lnSpc>
                <a:spcPts val="3240"/>
              </a:lnSpc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Emphasize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planning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verification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validation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product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early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stages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00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deliverable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testable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35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management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track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progress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milestones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40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Easy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8995410" cy="276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0">
              <a:lnSpc>
                <a:spcPct val="100000"/>
              </a:lnSpc>
              <a:spcBef>
                <a:spcPts val="100"/>
              </a:spcBef>
              <a:tabLst>
                <a:tab pos="3266440" algn="l"/>
              </a:tabLst>
            </a:pPr>
            <a:r>
              <a:rPr sz="3600" b="1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V-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Shaped</a:t>
            </a:r>
            <a:r>
              <a:rPr sz="3600" b="1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Weaknesses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buClr>
                <a:srgbClr val="0D0D0D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Does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easily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concurrent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events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50"/>
              </a:spcBef>
              <a:buClr>
                <a:srgbClr val="0D0D0D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Does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iterations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phases</a:t>
            </a:r>
            <a:endParaRPr sz="3000" dirty="0">
              <a:latin typeface="Times New Roman"/>
              <a:cs typeface="Times New Roman"/>
            </a:endParaRPr>
          </a:p>
          <a:p>
            <a:pPr marL="309245" indent="-306070">
              <a:lnSpc>
                <a:spcPct val="100000"/>
              </a:lnSpc>
              <a:spcBef>
                <a:spcPts val="635"/>
              </a:spcBef>
              <a:buClr>
                <a:srgbClr val="0D0D0D"/>
              </a:buClr>
              <a:buSzPct val="91666"/>
              <a:buFont typeface="Segoe UI Symbol"/>
              <a:buChar char="⚫"/>
              <a:tabLst>
                <a:tab pos="309245" algn="l"/>
              </a:tabLst>
            </a:pPr>
            <a:r>
              <a:rPr sz="3000" dirty="0">
                <a:latin typeface="Times New Roman"/>
                <a:cs typeface="Times New Roman"/>
              </a:rPr>
              <a:t>Does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easily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dynamic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changes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613105"/>
            <a:ext cx="10341610" cy="3424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  <a:tabLst>
                <a:tab pos="1557655" algn="l"/>
              </a:tabLst>
            </a:pP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V-</a:t>
            </a: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Shaped</a:t>
            </a: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3290"/>
              </a:spcBef>
              <a:buClr>
                <a:srgbClr val="0D0D0D"/>
              </a:buClr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Excellent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choice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r>
              <a:rPr sz="30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requiring</a:t>
            </a:r>
            <a:r>
              <a:rPr sz="3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high</a:t>
            </a:r>
            <a:r>
              <a:rPr sz="300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reliability</a:t>
            </a:r>
            <a:r>
              <a:rPr sz="3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hospital </a:t>
            </a:r>
            <a:r>
              <a:rPr sz="3000" dirty="0">
                <a:latin typeface="Times New Roman"/>
                <a:cs typeface="Times New Roman"/>
              </a:rPr>
              <a:t>patient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control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applications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up-front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0D0D0D"/>
              </a:buClr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stable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lr>
                <a:srgbClr val="0D0D0D"/>
              </a:buClr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7920" y="3187445"/>
            <a:ext cx="57734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9390" cy="532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5510">
              <a:lnSpc>
                <a:spcPct val="100000"/>
              </a:lnSpc>
              <a:spcBef>
                <a:spcPts val="100"/>
              </a:spcBef>
              <a:tabLst>
                <a:tab pos="2679700" algn="l"/>
              </a:tabLst>
            </a:pP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models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more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suited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object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oriented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systems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iterative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40029" marR="5715" indent="-227329" algn="just">
              <a:lnSpc>
                <a:spcPts val="346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enable</a:t>
            </a:r>
            <a:r>
              <a:rPr sz="3200" b="1" spc="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software</a:t>
            </a:r>
            <a:r>
              <a:rPr sz="3200" b="1" spc="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developer</a:t>
            </a:r>
            <a:r>
              <a:rPr sz="3200" b="1" spc="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increasingly 	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complex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versions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software</a:t>
            </a:r>
            <a:endParaRPr sz="32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latin typeface="Times New Roman"/>
                <a:cs typeface="Times New Roman"/>
              </a:rPr>
              <a:t>Like</a:t>
            </a:r>
            <a:r>
              <a:rPr sz="3200" b="1" spc="3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all</a:t>
            </a:r>
            <a:r>
              <a:rPr sz="3200" b="1" spc="3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complex</a:t>
            </a:r>
            <a:r>
              <a:rPr sz="3200" b="1" spc="3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systems,</a:t>
            </a:r>
            <a:r>
              <a:rPr sz="3200" b="1" spc="3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software</a:t>
            </a:r>
            <a:r>
              <a:rPr sz="3200" b="1" spc="3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evolves</a:t>
            </a:r>
            <a:r>
              <a:rPr sz="3200" b="1" spc="3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over</a:t>
            </a:r>
            <a:r>
              <a:rPr sz="3200" b="1" spc="2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3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period 	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6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hence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evolutionary</a:t>
            </a:r>
            <a:r>
              <a:rPr sz="3200" spc="6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models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6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suited</a:t>
            </a:r>
            <a:r>
              <a:rPr sz="3200" spc="6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	</a:t>
            </a:r>
            <a:r>
              <a:rPr sz="3200" dirty="0">
                <a:latin typeface="Times New Roman"/>
                <a:cs typeface="Times New Roman"/>
              </a:rPr>
              <a:t>software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development.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b="1" dirty="0">
                <a:latin typeface="Times New Roman"/>
                <a:cs typeface="Times New Roman"/>
              </a:rPr>
              <a:t>Requirements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change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software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developed.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6603" y="366776"/>
            <a:ext cx="10443210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7940">
              <a:lnSpc>
                <a:spcPct val="100000"/>
              </a:lnSpc>
              <a:spcBef>
                <a:spcPts val="100"/>
              </a:spcBef>
              <a:tabLst>
                <a:tab pos="307276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imes New Roman"/>
                <a:cs typeface="Times New Roman"/>
              </a:rPr>
              <a:t>Exploratory</a:t>
            </a:r>
            <a:r>
              <a:rPr sz="2750" b="1" spc="-105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development</a:t>
            </a:r>
            <a:endParaRPr sz="2750" dirty="0">
              <a:latin typeface="Times New Roman"/>
              <a:cs typeface="Times New Roman"/>
            </a:endParaRPr>
          </a:p>
          <a:p>
            <a:pPr marL="697230" marR="5080" lvl="1" indent="-227329" algn="just">
              <a:lnSpc>
                <a:spcPct val="900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r>
              <a:rPr sz="275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750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750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2750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750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customers</a:t>
            </a:r>
            <a:r>
              <a:rPr sz="2750" spc="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43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43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evolve</a:t>
            </a:r>
            <a:r>
              <a:rPr sz="2750" spc="4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4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final</a:t>
            </a:r>
            <a:r>
              <a:rPr sz="2750" spc="4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system 	</a:t>
            </a:r>
            <a:r>
              <a:rPr sz="2750" dirty="0">
                <a:latin typeface="Times New Roman"/>
                <a:cs typeface="Times New Roman"/>
              </a:rPr>
              <a:t>from</a:t>
            </a:r>
            <a:r>
              <a:rPr sz="2750" spc="33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an</a:t>
            </a:r>
            <a:r>
              <a:rPr sz="2750" spc="355" dirty="0">
                <a:latin typeface="Times New Roman"/>
                <a:cs typeface="Times New Roman"/>
              </a:rPr>
              <a:t> 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initial</a:t>
            </a:r>
            <a:r>
              <a:rPr sz="2750" spc="35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outline</a:t>
            </a:r>
            <a:r>
              <a:rPr sz="2750" spc="35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750" dirty="0">
                <a:latin typeface="Times New Roman"/>
                <a:cs typeface="Times New Roman"/>
              </a:rPr>
              <a:t>.</a:t>
            </a:r>
            <a:r>
              <a:rPr sz="2750" spc="34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Should</a:t>
            </a:r>
            <a:r>
              <a:rPr sz="2750" spc="35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start</a:t>
            </a:r>
            <a:r>
              <a:rPr sz="2750" spc="35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Times New Roman"/>
                <a:cs typeface="Times New Roman"/>
              </a:rPr>
              <a:t>with</a:t>
            </a:r>
            <a:r>
              <a:rPr sz="2750" spc="350" dirty="0">
                <a:latin typeface="Times New Roman"/>
                <a:cs typeface="Times New Roman"/>
              </a:rPr>
              <a:t>  </a:t>
            </a:r>
            <a:r>
              <a:rPr sz="2750" spc="-10" dirty="0">
                <a:latin typeface="Times New Roman"/>
                <a:cs typeface="Times New Roman"/>
              </a:rPr>
              <a:t>well- 	</a:t>
            </a:r>
            <a:r>
              <a:rPr sz="2750" dirty="0">
                <a:latin typeface="Times New Roman"/>
                <a:cs typeface="Times New Roman"/>
              </a:rPr>
              <a:t>understood</a:t>
            </a:r>
            <a:r>
              <a:rPr sz="2750" spc="3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requirements</a:t>
            </a:r>
            <a:r>
              <a:rPr sz="2750" spc="4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3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add</a:t>
            </a:r>
            <a:r>
              <a:rPr sz="2750" spc="3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new</a:t>
            </a:r>
            <a:r>
              <a:rPr sz="2750" spc="3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features</a:t>
            </a:r>
            <a:r>
              <a:rPr sz="2750" spc="4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as</a:t>
            </a:r>
            <a:r>
              <a:rPr sz="2750" spc="4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proposed</a:t>
            </a:r>
            <a:r>
              <a:rPr sz="2750" spc="4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by</a:t>
            </a:r>
            <a:r>
              <a:rPr sz="2750" spc="390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the 	</a:t>
            </a:r>
            <a:r>
              <a:rPr sz="2750" spc="-10" dirty="0">
                <a:latin typeface="Times New Roman"/>
                <a:cs typeface="Times New Roman"/>
              </a:rPr>
              <a:t>customer.</a:t>
            </a:r>
            <a:endParaRPr sz="275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spc="-35" dirty="0">
                <a:latin typeface="Times New Roman"/>
                <a:cs typeface="Times New Roman"/>
              </a:rPr>
              <a:t>Throw-</a:t>
            </a:r>
            <a:r>
              <a:rPr sz="2750" b="1" dirty="0">
                <a:latin typeface="Times New Roman"/>
                <a:cs typeface="Times New Roman"/>
              </a:rPr>
              <a:t>away</a:t>
            </a:r>
            <a:r>
              <a:rPr sz="2750" b="1" spc="15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prototyping</a:t>
            </a:r>
            <a:endParaRPr sz="2750" dirty="0">
              <a:latin typeface="Times New Roman"/>
              <a:cs typeface="Times New Roman"/>
            </a:endParaRPr>
          </a:p>
          <a:p>
            <a:pPr marL="698500" marR="6985" lvl="1" indent="-228600" algn="just">
              <a:lnSpc>
                <a:spcPts val="298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r>
              <a:rPr sz="27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75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7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understand</a:t>
            </a:r>
            <a:r>
              <a:rPr sz="27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7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7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50" dirty="0">
                <a:latin typeface="Times New Roman"/>
                <a:cs typeface="Times New Roman"/>
              </a:rPr>
              <a:t>.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Should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start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with </a:t>
            </a:r>
            <a:r>
              <a:rPr sz="2750" dirty="0">
                <a:latin typeface="Times New Roman"/>
                <a:cs typeface="Times New Roman"/>
              </a:rPr>
              <a:t>poorly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understood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requirements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clarify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what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really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needed.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2352" y="366776"/>
            <a:ext cx="5697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9752" y="1497075"/>
            <a:ext cx="9923780" cy="4859655"/>
            <a:chOff x="1579752" y="1497075"/>
            <a:chExt cx="9923780" cy="4859655"/>
          </a:xfrm>
        </p:grpSpPr>
        <p:sp>
          <p:nvSpPr>
            <p:cNvPr id="4" name="object 4"/>
            <p:cNvSpPr/>
            <p:nvPr/>
          </p:nvSpPr>
          <p:spPr>
            <a:xfrm>
              <a:off x="1579752" y="1497075"/>
              <a:ext cx="9923780" cy="4859655"/>
            </a:xfrm>
            <a:custGeom>
              <a:avLst/>
              <a:gdLst/>
              <a:ahLst/>
              <a:cxnLst/>
              <a:rect l="l" t="t" r="r" b="b"/>
              <a:pathLst>
                <a:path w="9923780" h="4859655">
                  <a:moveTo>
                    <a:pt x="9923780" y="0"/>
                  </a:moveTo>
                  <a:lnTo>
                    <a:pt x="0" y="0"/>
                  </a:lnTo>
                  <a:lnTo>
                    <a:pt x="0" y="4859274"/>
                  </a:lnTo>
                  <a:lnTo>
                    <a:pt x="9923780" y="4859274"/>
                  </a:lnTo>
                  <a:lnTo>
                    <a:pt x="992378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0666" y="1730349"/>
              <a:ext cx="9409938" cy="404406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7566" y="325882"/>
            <a:ext cx="9692640" cy="551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2595">
              <a:lnSpc>
                <a:spcPct val="100000"/>
              </a:lnSpc>
              <a:spcBef>
                <a:spcPts val="100"/>
              </a:spcBef>
              <a:tabLst>
                <a:tab pos="221678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Problems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Lack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visibility;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poorly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structured</a:t>
            </a:r>
            <a:r>
              <a:rPr sz="3000" spc="-10" dirty="0"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Special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skills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(e.g.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languages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rapid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prototyping)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may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Applicability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medium-</a:t>
            </a:r>
            <a:r>
              <a:rPr sz="3000" dirty="0">
                <a:latin typeface="Times New Roman"/>
                <a:cs typeface="Times New Roman"/>
              </a:rPr>
              <a:t>size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interactive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(e.g.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interface);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short-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lifetime</a:t>
            </a:r>
            <a:r>
              <a:rPr sz="3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8284209" cy="2749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5339">
              <a:lnSpc>
                <a:spcPct val="100000"/>
              </a:lnSpc>
              <a:spcBef>
                <a:spcPts val="100"/>
              </a:spcBef>
              <a:tabLst>
                <a:tab pos="258953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Evolutionary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Evolutionary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Process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Models</a:t>
            </a:r>
            <a:endParaRPr sz="3000" dirty="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11557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Prototyping</a:t>
            </a:r>
            <a:endParaRPr sz="3000" dirty="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11557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Spiral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56684" y="2234260"/>
            <a:ext cx="42189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206990" cy="5634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5940">
              <a:lnSpc>
                <a:spcPct val="100000"/>
              </a:lnSpc>
              <a:spcBef>
                <a:spcPts val="100"/>
              </a:spcBef>
              <a:tabLst>
                <a:tab pos="3580129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Developers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build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during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phase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9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Prototype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evaluated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end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endParaRPr sz="3000" dirty="0">
              <a:latin typeface="Times New Roman"/>
              <a:cs typeface="Times New Roman"/>
            </a:endParaRPr>
          </a:p>
          <a:p>
            <a:pPr marL="308610" marR="5080" indent="-306705">
              <a:lnSpc>
                <a:spcPts val="2690"/>
              </a:lnSpc>
              <a:spcBef>
                <a:spcPts val="980"/>
              </a:spcBef>
              <a:buSzPct val="98214"/>
              <a:buFont typeface="Segoe UI Symbol"/>
              <a:buChar char="⚫"/>
              <a:tabLst>
                <a:tab pos="30988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Developer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unsure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efficiency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adaptability 	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human-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</a:t>
            </a:r>
            <a:endParaRPr sz="28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9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give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corrective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feedback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85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Developers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further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refine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endParaRPr sz="3000" dirty="0">
              <a:latin typeface="Times New Roman"/>
              <a:cs typeface="Times New Roman"/>
            </a:endParaRPr>
          </a:p>
          <a:p>
            <a:pPr marL="309880" marR="6985" indent="-306705">
              <a:lnSpc>
                <a:spcPts val="2880"/>
              </a:lnSpc>
              <a:spcBef>
                <a:spcPts val="975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0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satisfied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prototype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brought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standards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needed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product.</a:t>
            </a:r>
            <a:endParaRPr sz="30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13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standalone</a:t>
            </a:r>
            <a:r>
              <a:rPr sz="2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27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technique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implemented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any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340975" cy="56092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6270">
              <a:lnSpc>
                <a:spcPct val="100000"/>
              </a:lnSpc>
              <a:spcBef>
                <a:spcPts val="100"/>
              </a:spcBef>
              <a:tabLst>
                <a:tab pos="3681095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Steps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preliminary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plan</a:t>
            </a:r>
            <a:r>
              <a:rPr sz="25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developed</a:t>
            </a:r>
            <a:endParaRPr sz="25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409"/>
              </a:spcBef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partial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high-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paper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model is</a:t>
            </a:r>
            <a:r>
              <a:rPr sz="25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created</a:t>
            </a:r>
            <a:endParaRPr sz="25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395"/>
              </a:spcBef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model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source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partial</a:t>
            </a:r>
            <a:r>
              <a:rPr sz="25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requirements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endParaRPr sz="25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395"/>
              </a:spcBef>
              <a:buFont typeface="Segoe UI Symbol"/>
              <a:buChar char="⚫"/>
              <a:tabLst>
                <a:tab pos="309880" algn="l"/>
                <a:tab pos="680085" algn="l"/>
              </a:tabLst>
            </a:pPr>
            <a:r>
              <a:rPr sz="2500" spc="-50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	prototype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built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basic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5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critical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 functions</a:t>
            </a:r>
            <a:endParaRPr sz="2500" dirty="0">
              <a:latin typeface="Times New Roman"/>
              <a:cs typeface="Times New Roman"/>
            </a:endParaRPr>
          </a:p>
          <a:p>
            <a:pPr marL="309880" indent="-297180">
              <a:lnSpc>
                <a:spcPts val="2945"/>
              </a:lnSpc>
              <a:spcBef>
                <a:spcPts val="409"/>
              </a:spcBef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5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designer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builds</a:t>
            </a:r>
            <a:endParaRPr sz="2500" dirty="0">
              <a:latin typeface="Times New Roman"/>
              <a:cs typeface="Times New Roman"/>
            </a:endParaRPr>
          </a:p>
          <a:p>
            <a:pPr marL="706755" lvl="1" indent="-281305">
              <a:lnSpc>
                <a:spcPts val="2900"/>
              </a:lnSpc>
              <a:buFont typeface="Segoe UI Symbol"/>
              <a:buChar char="⚫"/>
              <a:tabLst>
                <a:tab pos="706755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database</a:t>
            </a:r>
            <a:endParaRPr sz="2500" dirty="0">
              <a:latin typeface="Times New Roman"/>
              <a:cs typeface="Times New Roman"/>
            </a:endParaRPr>
          </a:p>
          <a:p>
            <a:pPr marL="706755" lvl="1" indent="-281305">
              <a:lnSpc>
                <a:spcPts val="2905"/>
              </a:lnSpc>
              <a:buFont typeface="Segoe UI Symbol"/>
              <a:buChar char="⚫"/>
              <a:tabLst>
                <a:tab pos="706755" algn="l"/>
              </a:tabLst>
            </a:pP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interface</a:t>
            </a:r>
            <a:endParaRPr sz="2500" dirty="0">
              <a:latin typeface="Times New Roman"/>
              <a:cs typeface="Times New Roman"/>
            </a:endParaRPr>
          </a:p>
          <a:p>
            <a:pPr marL="706755" lvl="1" indent="-281305">
              <a:lnSpc>
                <a:spcPts val="2950"/>
              </a:lnSpc>
              <a:buFont typeface="Segoe UI Symbol"/>
              <a:buChar char="⚫"/>
              <a:tabLst>
                <a:tab pos="706755" algn="l"/>
              </a:tabLst>
            </a:pPr>
            <a:r>
              <a:rPr sz="2500" dirty="0">
                <a:latin typeface="Times New Roman"/>
                <a:cs typeface="Times New Roman"/>
              </a:rPr>
              <a:t>algorithmic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functions</a:t>
            </a:r>
            <a:endParaRPr sz="2500" dirty="0">
              <a:latin typeface="Times New Roman"/>
              <a:cs typeface="Times New Roman"/>
            </a:endParaRPr>
          </a:p>
          <a:p>
            <a:pPr marL="309880" marR="5080" indent="-297180">
              <a:lnSpc>
                <a:spcPts val="2400"/>
              </a:lnSpc>
              <a:spcBef>
                <a:spcPts val="980"/>
              </a:spcBef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designer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demonstrates</a:t>
            </a:r>
            <a:r>
              <a:rPr sz="25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5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r>
              <a:rPr sz="2500" dirty="0">
                <a:latin typeface="Times New Roman"/>
                <a:cs typeface="Times New Roman"/>
              </a:rPr>
              <a:t>,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evaluates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problems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and </a:t>
            </a:r>
            <a:r>
              <a:rPr sz="2500" dirty="0">
                <a:latin typeface="Times New Roman"/>
                <a:cs typeface="Times New Roman"/>
              </a:rPr>
              <a:t>suggests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improvements.</a:t>
            </a:r>
            <a:endParaRPr sz="25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spcBef>
                <a:spcPts val="415"/>
              </a:spcBef>
              <a:buFont typeface="Segoe UI Symbol"/>
              <a:buChar char="⚫"/>
              <a:tabLst>
                <a:tab pos="309880" algn="l"/>
              </a:tabLst>
            </a:pP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loop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continues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until</a:t>
            </a:r>
            <a:r>
              <a:rPr sz="25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25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5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satisfied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6429" y="590245"/>
            <a:ext cx="6178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81120" algn="l"/>
              </a:tabLst>
            </a:pP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Process</a:t>
            </a:r>
            <a:r>
              <a:rPr sz="3200" u="sng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Of</a:t>
            </a:r>
            <a:r>
              <a:rPr sz="3200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32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Prototype</a:t>
            </a: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	</a:t>
            </a:r>
            <a:r>
              <a:rPr sz="32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Development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542351" y="2170112"/>
            <a:ext cx="9991090" cy="2967355"/>
            <a:chOff x="1542351" y="2170112"/>
            <a:chExt cx="9991090" cy="2967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1939" y="2179574"/>
              <a:ext cx="9971532" cy="29480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7113" y="2174875"/>
              <a:ext cx="9981565" cy="2957830"/>
            </a:xfrm>
            <a:custGeom>
              <a:avLst/>
              <a:gdLst/>
              <a:ahLst/>
              <a:cxnLst/>
              <a:rect l="l" t="t" r="r" b="b"/>
              <a:pathLst>
                <a:path w="9981565" h="2957829">
                  <a:moveTo>
                    <a:pt x="0" y="2957576"/>
                  </a:moveTo>
                  <a:lnTo>
                    <a:pt x="9981057" y="2957576"/>
                  </a:lnTo>
                  <a:lnTo>
                    <a:pt x="9981057" y="0"/>
                  </a:lnTo>
                  <a:lnTo>
                    <a:pt x="0" y="0"/>
                  </a:lnTo>
                  <a:lnTo>
                    <a:pt x="0" y="295757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0959" y="555193"/>
            <a:ext cx="38106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del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329" y="1411312"/>
            <a:ext cx="5492114" cy="48469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556386"/>
            <a:ext cx="10206355" cy="51526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0280">
              <a:lnSpc>
                <a:spcPct val="100000"/>
              </a:lnSpc>
              <a:spcBef>
                <a:spcPts val="100"/>
              </a:spcBef>
              <a:tabLst>
                <a:tab pos="2744470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Strengths</a:t>
            </a:r>
            <a:endParaRPr sz="3600" dirty="0">
              <a:latin typeface="Times New Roman"/>
              <a:cs typeface="Times New Roman"/>
            </a:endParaRPr>
          </a:p>
          <a:p>
            <a:pPr marL="309880" marR="237490" indent="-306070">
              <a:lnSpc>
                <a:spcPct val="80000"/>
              </a:lnSpc>
              <a:spcBef>
                <a:spcPts val="369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Customers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“see”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being gathered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85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Developers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learn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customers</a:t>
            </a:r>
            <a:endParaRPr sz="3000" dirty="0">
              <a:latin typeface="Times New Roman"/>
              <a:cs typeface="Times New Roman"/>
            </a:endParaRPr>
          </a:p>
          <a:p>
            <a:pPr marL="309245" indent="-306070">
              <a:lnSpc>
                <a:spcPct val="100000"/>
              </a:lnSpc>
              <a:spcBef>
                <a:spcPts val="275"/>
              </a:spcBef>
              <a:buSzPct val="91666"/>
              <a:buFont typeface="Segoe UI Symbol"/>
              <a:buChar char="⚫"/>
              <a:tabLst>
                <a:tab pos="309245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accurate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end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8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Unexpected</a:t>
            </a:r>
            <a:r>
              <a:rPr sz="3000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accommodated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29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flexible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  <a:p>
            <a:pPr marL="309245" indent="-306070">
              <a:lnSpc>
                <a:spcPct val="100000"/>
              </a:lnSpc>
              <a:spcBef>
                <a:spcPts val="275"/>
              </a:spcBef>
              <a:buSzPct val="91666"/>
              <a:buFont typeface="Segoe UI Symbol"/>
              <a:buChar char="⚫"/>
              <a:tabLst>
                <a:tab pos="309245" algn="l"/>
              </a:tabLst>
            </a:pPr>
            <a:r>
              <a:rPr sz="3000" spc="-20" dirty="0">
                <a:latin typeface="Times New Roman"/>
                <a:cs typeface="Times New Roman"/>
              </a:rPr>
              <a:t>Steady,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visible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signs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progress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produced</a:t>
            </a:r>
            <a:endParaRPr sz="3000" dirty="0">
              <a:latin typeface="Times New Roman"/>
              <a:cs typeface="Times New Roman"/>
            </a:endParaRPr>
          </a:p>
          <a:p>
            <a:pPr marL="309880" marR="5080" indent="-306070">
              <a:lnSpc>
                <a:spcPts val="2880"/>
              </a:lnSpc>
              <a:spcBef>
                <a:spcPts val="975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Interaction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prototype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stimulates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awareness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additional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needed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functionality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307955" cy="421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0"/>
              </a:spcBef>
              <a:tabLst>
                <a:tab pos="310197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r>
              <a:rPr sz="3600" b="1" u="sng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Weaknesses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marR="5080" indent="-306070">
              <a:lnSpc>
                <a:spcPts val="3240"/>
              </a:lnSpc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spc="-25" dirty="0">
                <a:latin typeface="Times New Roman"/>
                <a:cs typeface="Times New Roman"/>
              </a:rPr>
              <a:t>Tendency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abandon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structured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“code-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and-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fix”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0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Bad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reputation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“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quick-and-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dirty</a:t>
            </a:r>
            <a:r>
              <a:rPr sz="3000" dirty="0">
                <a:latin typeface="Times New Roman"/>
                <a:cs typeface="Times New Roman"/>
              </a:rPr>
              <a:t>”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methods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35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Overall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maintainability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overlooked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40"/>
              </a:spcBef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continue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forever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(scope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creep)</a:t>
            </a:r>
            <a:endParaRPr sz="3000" dirty="0">
              <a:latin typeface="Times New Roman"/>
              <a:cs typeface="Times New Roman"/>
            </a:endParaRPr>
          </a:p>
          <a:p>
            <a:pPr marL="309245" indent="-306070">
              <a:lnSpc>
                <a:spcPct val="100000"/>
              </a:lnSpc>
              <a:spcBef>
                <a:spcPts val="645"/>
              </a:spcBef>
              <a:buSzPct val="91666"/>
              <a:buFont typeface="Segoe UI Symbol"/>
              <a:buChar char="⚫"/>
              <a:tabLst>
                <a:tab pos="30924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thrown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away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when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confused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25" dirty="0">
                <a:latin typeface="Times New Roman"/>
                <a:cs typeface="Times New Roman"/>
              </a:rPr>
              <a:t> it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9396730" cy="3300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0470">
              <a:lnSpc>
                <a:spcPct val="100000"/>
              </a:lnSpc>
              <a:spcBef>
                <a:spcPts val="100"/>
              </a:spcBef>
              <a:tabLst>
                <a:tab pos="2995295" algn="l"/>
              </a:tabLst>
            </a:pP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Prototyping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unstable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clarified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50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clarification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stage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waterfall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model</a:t>
            </a:r>
            <a:endParaRPr sz="3000" dirty="0">
              <a:latin typeface="Times New Roman"/>
              <a:cs typeface="Times New Roman"/>
            </a:endParaRPr>
          </a:p>
          <a:p>
            <a:pPr marL="309245" indent="-306070">
              <a:lnSpc>
                <a:spcPct val="100000"/>
              </a:lnSpc>
              <a:spcBef>
                <a:spcPts val="635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245" algn="l"/>
              </a:tabLst>
            </a:pPr>
            <a:r>
              <a:rPr sz="3000" dirty="0">
                <a:latin typeface="Times New Roman"/>
                <a:cs typeface="Times New Roman"/>
              </a:rPr>
              <a:t>Develop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interfaces</a:t>
            </a:r>
            <a:endParaRPr sz="3000" dirty="0">
              <a:latin typeface="Times New Roman"/>
              <a:cs typeface="Times New Roman"/>
            </a:endParaRPr>
          </a:p>
          <a:p>
            <a:pPr marL="309880" indent="-306070">
              <a:lnSpc>
                <a:spcPct val="100000"/>
              </a:lnSpc>
              <a:spcBef>
                <a:spcPts val="640"/>
              </a:spcBef>
              <a:buClr>
                <a:srgbClr val="A4A4A4"/>
              </a:buClr>
              <a:buSzPct val="91666"/>
              <a:buFont typeface="Segoe UI Symbol"/>
              <a:buChar char="⚫"/>
              <a:tabLst>
                <a:tab pos="309880" algn="l"/>
              </a:tabLst>
            </a:pPr>
            <a:r>
              <a:rPr sz="3000" spc="-20" dirty="0">
                <a:latin typeface="Times New Roman"/>
                <a:cs typeface="Times New Roman"/>
              </a:rPr>
              <a:t>New,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original</a:t>
            </a:r>
            <a:r>
              <a:rPr sz="30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25136" y="2234260"/>
            <a:ext cx="30829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8755" cy="532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0615">
              <a:lnSpc>
                <a:spcPct val="100000"/>
              </a:lnSpc>
              <a:spcBef>
                <a:spcPts val="100"/>
              </a:spcBef>
              <a:tabLst>
                <a:tab pos="41554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Proposed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Barry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Boehm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Evolutionary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Couples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Iterative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nature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prototyping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waterfall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Potential</a:t>
            </a:r>
            <a:r>
              <a:rPr sz="28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rapid</a:t>
            </a:r>
            <a:r>
              <a:rPr sz="2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increasingly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version 	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software</a:t>
            </a:r>
            <a:endParaRPr sz="2800">
              <a:latin typeface="Times New Roman"/>
              <a:cs typeface="Times New Roman"/>
            </a:endParaRPr>
          </a:p>
          <a:p>
            <a:pPr marL="240029" marR="6985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1286510" algn="l"/>
                <a:tab pos="2408555" algn="l"/>
                <a:tab pos="2722245" algn="l"/>
                <a:tab pos="4140200" algn="l"/>
                <a:tab pos="4572635" algn="l"/>
                <a:tab pos="6228080" algn="l"/>
                <a:tab pos="6700520" algn="l"/>
                <a:tab pos="7052945" algn="l"/>
                <a:tab pos="8055609" algn="l"/>
                <a:tab pos="8547735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Spiral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software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developed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series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evolutionary 	releases.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iteration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Paper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prototype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(trial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product)</a:t>
            </a:r>
            <a:endParaRPr sz="2800">
              <a:latin typeface="Times New Roman"/>
              <a:cs typeface="Times New Roman"/>
            </a:endParaRPr>
          </a:p>
          <a:p>
            <a:pPr marL="240029" marR="5715" indent="-227329">
              <a:lnSpc>
                <a:spcPts val="302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1128395" algn="l"/>
                <a:tab pos="3002915" algn="l"/>
                <a:tab pos="3870325" algn="l"/>
                <a:tab pos="5311775" algn="l"/>
                <a:tab pos="6496685" algn="l"/>
                <a:tab pos="6932295" algn="l"/>
                <a:tab pos="8745855" algn="l"/>
                <a:tab pos="10107295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Later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increasingly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more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complete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version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engineering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software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spc="-10" dirty="0">
                <a:latin typeface="Times New Roman"/>
                <a:cs typeface="Times New Roman"/>
              </a:rPr>
              <a:t>produced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664" y="366776"/>
            <a:ext cx="10207625" cy="4658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2595">
              <a:lnSpc>
                <a:spcPct val="100000"/>
              </a:lnSpc>
              <a:spcBef>
                <a:spcPts val="100"/>
              </a:spcBef>
              <a:tabLst>
                <a:tab pos="348678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85"/>
              </a:spcBef>
            </a:pPr>
            <a:endParaRPr sz="36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buFont typeface="Arial MT"/>
              <a:buChar char="•"/>
              <a:tabLst>
                <a:tab pos="240665" algn="l"/>
                <a:tab pos="1558290" algn="l"/>
                <a:tab pos="1966595" algn="l"/>
                <a:tab pos="3877945" algn="l"/>
                <a:tab pos="4350385" algn="l"/>
                <a:tab pos="4674870" algn="l"/>
                <a:tab pos="5674995" algn="l"/>
                <a:tab pos="6718934" algn="l"/>
                <a:tab pos="7531100" algn="l"/>
                <a:tab pos="8002270" algn="l"/>
                <a:tab pos="8325484" algn="l"/>
                <a:tab pos="987679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represented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spiral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rather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sequence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activities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backtracking.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loop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spiral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represents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phase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process.</a:t>
            </a:r>
            <a:endParaRPr sz="3000">
              <a:latin typeface="Times New Roman"/>
              <a:cs typeface="Times New Roman"/>
            </a:endParaRPr>
          </a:p>
          <a:p>
            <a:pPr marL="240665" marR="6985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  <a:tab pos="861060" algn="l"/>
                <a:tab pos="1797050" algn="l"/>
                <a:tab pos="2966085" algn="l"/>
                <a:tab pos="3818254" algn="l"/>
                <a:tab pos="4289425" algn="l"/>
                <a:tab pos="6395720" algn="l"/>
                <a:tab pos="6866890" algn="l"/>
                <a:tab pos="8016240" algn="l"/>
                <a:tab pos="8296275" algn="l"/>
                <a:tab pos="9276715" algn="l"/>
                <a:tab pos="9726295" algn="l"/>
              </a:tabLst>
            </a:pP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fixed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phases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such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specification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design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-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loops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spiral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chosen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depending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240665" marR="7620" indent="-228600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1362710" algn="l"/>
                <a:tab pos="2103755" algn="l"/>
                <a:tab pos="3821429" algn="l"/>
                <a:tab pos="5386705" algn="l"/>
                <a:tab pos="6212840" algn="l"/>
                <a:tab pos="7779384" algn="l"/>
                <a:tab pos="9726295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explicitly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assessed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resolved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throughout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process.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6252" y="470661"/>
            <a:ext cx="7207250" cy="445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3600">
              <a:latin typeface="Times New Roman"/>
              <a:cs typeface="Times New Roman"/>
            </a:endParaRPr>
          </a:p>
          <a:p>
            <a:pPr marL="2752725" marR="5080" lvl="1" indent="-228600" algn="just">
              <a:lnSpc>
                <a:spcPts val="3240"/>
              </a:lnSpc>
              <a:buFont typeface="Arial MT"/>
              <a:buChar char="•"/>
              <a:tabLst>
                <a:tab pos="2752725" algn="l"/>
              </a:tabLst>
            </a:pPr>
            <a:r>
              <a:rPr sz="3000" dirty="0">
                <a:latin typeface="Calibri"/>
                <a:cs typeface="Calibri"/>
              </a:rPr>
              <a:t>Adds</a:t>
            </a:r>
            <a:r>
              <a:rPr sz="3000" spc="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risk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analysis,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4gl </a:t>
            </a:r>
            <a:r>
              <a:rPr sz="3000" dirty="0">
                <a:latin typeface="Calibri"/>
                <a:cs typeface="Calibri"/>
              </a:rPr>
              <a:t>RAD</a:t>
            </a:r>
            <a:r>
              <a:rPr sz="3000" spc="7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prototyping</a:t>
            </a:r>
            <a:r>
              <a:rPr sz="3000" spc="7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71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waterfall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85"/>
              </a:spcBef>
              <a:buFont typeface="Arial MT"/>
              <a:buChar char="•"/>
            </a:pPr>
            <a:endParaRPr sz="3000">
              <a:latin typeface="Calibri"/>
              <a:cs typeface="Calibri"/>
            </a:endParaRPr>
          </a:p>
          <a:p>
            <a:pPr marL="2752725" marR="6985" lvl="1" indent="-228600" algn="just">
              <a:lnSpc>
                <a:spcPts val="3240"/>
              </a:lnSpc>
              <a:buFont typeface="Arial MT"/>
              <a:buChar char="•"/>
              <a:tabLst>
                <a:tab pos="2752725" algn="l"/>
              </a:tabLst>
            </a:pPr>
            <a:r>
              <a:rPr sz="3000" b="1" dirty="0">
                <a:latin typeface="Calibri"/>
                <a:cs typeface="Calibri"/>
              </a:rPr>
              <a:t>Each</a:t>
            </a:r>
            <a:r>
              <a:rPr sz="3000" b="1" spc="710" dirty="0">
                <a:latin typeface="Calibri"/>
                <a:cs typeface="Calibri"/>
              </a:rPr>
              <a:t>  </a:t>
            </a:r>
            <a:r>
              <a:rPr sz="3000" b="1" dirty="0">
                <a:latin typeface="Calibri"/>
                <a:cs typeface="Calibri"/>
              </a:rPr>
              <a:t>cycle</a:t>
            </a:r>
            <a:r>
              <a:rPr sz="3000" b="1" spc="720" dirty="0">
                <a:latin typeface="Calibri"/>
                <a:cs typeface="Calibri"/>
              </a:rPr>
              <a:t>  </a:t>
            </a:r>
            <a:r>
              <a:rPr sz="3000" b="1" dirty="0">
                <a:latin typeface="Calibri"/>
                <a:cs typeface="Calibri"/>
              </a:rPr>
              <a:t>involves</a:t>
            </a:r>
            <a:r>
              <a:rPr sz="3000" b="1" spc="725" dirty="0">
                <a:latin typeface="Calibri"/>
                <a:cs typeface="Calibri"/>
              </a:rPr>
              <a:t>  </a:t>
            </a:r>
            <a:r>
              <a:rPr sz="3000" b="1" spc="-25" dirty="0">
                <a:latin typeface="Calibri"/>
                <a:cs typeface="Calibri"/>
              </a:rPr>
              <a:t>the </a:t>
            </a:r>
            <a:r>
              <a:rPr sz="3000" b="1" dirty="0">
                <a:latin typeface="Calibri"/>
                <a:cs typeface="Calibri"/>
              </a:rPr>
              <a:t>same</a:t>
            </a:r>
            <a:r>
              <a:rPr sz="3000" b="1" spc="4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sequence</a:t>
            </a:r>
            <a:r>
              <a:rPr sz="3000" b="1" spc="4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4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steps</a:t>
            </a:r>
            <a:r>
              <a:rPr sz="3000" b="1" spc="430" dirty="0"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as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waterfall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process</a:t>
            </a:r>
            <a:r>
              <a:rPr sz="3000" b="1" spc="-7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726" y="1771650"/>
            <a:ext cx="5695696" cy="3657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1240"/>
              </a:lnSpc>
            </a:pPr>
            <a:r>
              <a:rPr spc="-10" dirty="0"/>
              <a:t>CUI-Software</a:t>
            </a:r>
            <a:r>
              <a:rPr spc="65" dirty="0"/>
              <a:t> </a:t>
            </a:r>
            <a:r>
              <a:rPr dirty="0"/>
              <a:t>Engineering</a:t>
            </a:r>
            <a:r>
              <a:rPr spc="4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0578" y="366776"/>
            <a:ext cx="3082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960" y="1538452"/>
            <a:ext cx="8723121" cy="46296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749" y="366776"/>
            <a:ext cx="10252075" cy="539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4180">
              <a:lnSpc>
                <a:spcPct val="100000"/>
              </a:lnSpc>
              <a:spcBef>
                <a:spcPts val="100"/>
              </a:spcBef>
              <a:tabLst>
                <a:tab pos="3469004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Sectors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b="1" dirty="0">
                <a:latin typeface="Times New Roman"/>
                <a:cs typeface="Times New Roman"/>
              </a:rPr>
              <a:t>Objective</a:t>
            </a:r>
            <a:r>
              <a:rPr sz="2750" b="1" spc="-7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setting</a:t>
            </a:r>
            <a:endParaRPr sz="275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7230" algn="l"/>
              </a:tabLst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75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objectives</a:t>
            </a:r>
            <a:r>
              <a:rPr sz="27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for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phase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are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identified.</a:t>
            </a:r>
            <a:endParaRPr sz="275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b="1" dirty="0">
                <a:latin typeface="Times New Roman"/>
                <a:cs typeface="Times New Roman"/>
              </a:rPr>
              <a:t>Risk</a:t>
            </a:r>
            <a:r>
              <a:rPr sz="2750" b="1" spc="-6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assessment</a:t>
            </a:r>
            <a:r>
              <a:rPr sz="2750" b="1" spc="-4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and</a:t>
            </a:r>
            <a:r>
              <a:rPr sz="2750" b="1" spc="-65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reduction</a:t>
            </a:r>
            <a:endParaRPr sz="275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r>
              <a:rPr sz="27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7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assessed</a:t>
            </a:r>
            <a:r>
              <a:rPr sz="27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activities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put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place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reduce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key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risks.</a:t>
            </a:r>
            <a:endParaRPr sz="275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b="1" dirty="0">
                <a:latin typeface="Times New Roman"/>
                <a:cs typeface="Times New Roman"/>
              </a:rPr>
              <a:t>Development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and</a:t>
            </a:r>
            <a:r>
              <a:rPr sz="2750" b="1" spc="-45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validation</a:t>
            </a:r>
            <a:endParaRPr sz="2750">
              <a:latin typeface="Times New Roman"/>
              <a:cs typeface="Times New Roman"/>
            </a:endParaRPr>
          </a:p>
          <a:p>
            <a:pPr marL="697230" marR="27305" lvl="1" indent="-227329">
              <a:lnSpc>
                <a:spcPts val="296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  <a:tab pos="7403465" algn="l"/>
              </a:tabLst>
            </a:pP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750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75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for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chosen</a:t>
            </a:r>
            <a:r>
              <a:rPr sz="2750" dirty="0">
                <a:latin typeface="Times New Roman"/>
                <a:cs typeface="Times New Roman"/>
              </a:rPr>
              <a:t>	which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can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any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of 	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generic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models.</a:t>
            </a:r>
            <a:endParaRPr sz="275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sz="2750" b="1" spc="-10" dirty="0">
                <a:latin typeface="Times New Roman"/>
                <a:cs typeface="Times New Roman"/>
              </a:rPr>
              <a:t>Planning</a:t>
            </a:r>
            <a:endParaRPr sz="275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275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7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reviewed</a:t>
            </a:r>
            <a:r>
              <a:rPr sz="27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and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next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phase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spiral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-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planned.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0416" y="356361"/>
            <a:ext cx="3082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4253" y="1545971"/>
            <a:ext cx="5396865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870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Advantage: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1076" y="2519298"/>
            <a:ext cx="5654040" cy="36607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Realistic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 	scale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Developer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0" dirty="0">
                <a:latin typeface="Times New Roman"/>
                <a:cs typeface="Times New Roman"/>
              </a:rPr>
              <a:t> satisfaction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Reacts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evolutionary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Uses prototype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mechanism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Enables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prototype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any 	</a:t>
            </a:r>
            <a:r>
              <a:rPr sz="2400" spc="-10" dirty="0">
                <a:latin typeface="Times New Roman"/>
                <a:cs typeface="Times New Roman"/>
              </a:rPr>
              <a:t>stage</a:t>
            </a:r>
            <a:endParaRPr sz="2400">
              <a:latin typeface="Times New Roman"/>
              <a:cs typeface="Times New Roman"/>
            </a:endParaRPr>
          </a:p>
          <a:p>
            <a:pPr marL="240029" marR="5715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Direct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consideration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technical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all 	</a:t>
            </a:r>
            <a:r>
              <a:rPr sz="2400" spc="-10" dirty="0">
                <a:latin typeface="Times New Roman"/>
                <a:cs typeface="Times New Roman"/>
              </a:rPr>
              <a:t>step.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5973" y="1573783"/>
            <a:ext cx="5398770" cy="772160"/>
          </a:xfrm>
          <a:prstGeom prst="rect">
            <a:avLst/>
          </a:prstGeom>
          <a:solidFill>
            <a:srgbClr val="4471C4"/>
          </a:solidFill>
          <a:ln w="3175">
            <a:solidFill>
              <a:srgbClr val="4471C4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865"/>
              </a:spcBef>
            </a:pP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Disadvantage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49306" y="3019170"/>
            <a:ext cx="1264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Times New Roman"/>
                <a:cs typeface="Times New Roman"/>
              </a:rPr>
              <a:t>assessment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0428" y="2430297"/>
            <a:ext cx="3778250" cy="12846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Difficult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convince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customers</a:t>
            </a:r>
            <a:endParaRPr sz="2200">
              <a:latin typeface="Times New Roman"/>
              <a:cs typeface="Times New Roman"/>
            </a:endParaRPr>
          </a:p>
          <a:p>
            <a:pPr marL="241300" marR="74295" indent="-22860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1579245" algn="l"/>
                <a:tab pos="3277235" algn="l"/>
              </a:tabLst>
            </a:pPr>
            <a:r>
              <a:rPr sz="2200" spc="-10" dirty="0">
                <a:latin typeface="Times New Roman"/>
                <a:cs typeface="Times New Roman"/>
              </a:rPr>
              <a:t>Demands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considerable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risk </a:t>
            </a:r>
            <a:r>
              <a:rPr sz="2200" spc="-10" dirty="0">
                <a:latin typeface="Times New Roman"/>
                <a:cs typeface="Times New Roman"/>
              </a:rPr>
              <a:t>expertise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0428" y="3818001"/>
            <a:ext cx="5232400" cy="1157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been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widely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linear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sequential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prototype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paradigm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small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projects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0618" y="6335369"/>
            <a:ext cx="739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1607" y="6335369"/>
            <a:ext cx="34118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CUI-Software</a:t>
            </a:r>
            <a:r>
              <a:rPr sz="1200" spc="11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9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  <a:p>
            <a:pPr marL="2059305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061575" cy="528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9220">
              <a:lnSpc>
                <a:spcPct val="100000"/>
              </a:lnSpc>
              <a:spcBef>
                <a:spcPts val="100"/>
              </a:spcBef>
              <a:tabLst>
                <a:tab pos="315341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Strengths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indication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insurmountable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risks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without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much cost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early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rapid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prototyping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tools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Critical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high-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functions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first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does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perfect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closely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lifecycle</a:t>
            </a:r>
            <a:r>
              <a:rPr sz="3000" spc="-10" dirty="0">
                <a:latin typeface="Times New Roman"/>
                <a:cs typeface="Times New Roman"/>
              </a:rPr>
              <a:t> steps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Early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frequent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feedback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Cumulative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sessed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frequently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3113" y="432561"/>
            <a:ext cx="10176510" cy="5365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4539">
              <a:lnSpc>
                <a:spcPct val="100000"/>
              </a:lnSpc>
              <a:spcBef>
                <a:spcPts val="100"/>
              </a:spcBef>
              <a:tabLst>
                <a:tab pos="2538730" algn="l"/>
              </a:tabLst>
            </a:pP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Weaknesses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spent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6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evaluating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risks too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small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low-risk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projects</a:t>
            </a:r>
            <a:endParaRPr sz="2600" dirty="0">
              <a:latin typeface="Times New Roman"/>
              <a:cs typeface="Times New Roman"/>
            </a:endParaRPr>
          </a:p>
          <a:p>
            <a:pPr marL="241300" marR="8890" indent="-228600">
              <a:lnSpc>
                <a:spcPts val="283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  <a:tab pos="1165860" algn="l"/>
                <a:tab pos="2105025" algn="l"/>
                <a:tab pos="2620010" algn="l"/>
                <a:tab pos="3587750" algn="l"/>
                <a:tab pos="4970145" algn="l"/>
                <a:tab pos="6637655" algn="l"/>
                <a:tab pos="7634605" algn="l"/>
                <a:tab pos="8369300" algn="l"/>
                <a:tab pos="9677400" algn="l"/>
              </a:tabLst>
            </a:pPr>
            <a:r>
              <a:rPr sz="2600" spc="-20" dirty="0">
                <a:latin typeface="Times New Roman"/>
                <a:cs typeface="Times New Roman"/>
              </a:rPr>
              <a:t>Time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spent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planning,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resetting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objectives,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doing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risk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analysis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 </a:t>
            </a:r>
            <a:r>
              <a:rPr sz="2600" dirty="0">
                <a:latin typeface="Times New Roman"/>
                <a:cs typeface="Times New Roman"/>
              </a:rPr>
              <a:t>prototyping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may</a:t>
            </a:r>
            <a:r>
              <a:rPr sz="2600" dirty="0">
                <a:latin typeface="Times New Roman"/>
                <a:cs typeface="Times New Roman"/>
              </a:rPr>
              <a:t>	be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excessive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complex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assessment</a:t>
            </a:r>
            <a:r>
              <a:rPr sz="26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expertise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Spiral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continue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indefinitely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Developers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must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reassigned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non-development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phase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activities</a:t>
            </a: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3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  <a:tab pos="1048385" algn="l"/>
                <a:tab pos="1557655" algn="l"/>
                <a:tab pos="2345690" algn="l"/>
                <a:tab pos="2799715" algn="l"/>
                <a:tab pos="3825875" algn="l"/>
                <a:tab pos="5325745" algn="l"/>
                <a:tab pos="6796405" algn="l"/>
                <a:tab pos="8415020" algn="l"/>
                <a:tab pos="9107170" algn="l"/>
              </a:tabLst>
            </a:pPr>
            <a:r>
              <a:rPr sz="2600" spc="-25" dirty="0">
                <a:latin typeface="Times New Roman"/>
                <a:cs typeface="Times New Roman"/>
              </a:rPr>
              <a:t>May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be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hard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define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objective,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verifiable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milestones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indicate </a:t>
            </a:r>
            <a:r>
              <a:rPr sz="2600" dirty="0">
                <a:latin typeface="Times New Roman"/>
                <a:cs typeface="Times New Roman"/>
              </a:rPr>
              <a:t>readiness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proceed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through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iteration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9385935" cy="5493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9345">
              <a:lnSpc>
                <a:spcPct val="100000"/>
              </a:lnSpc>
              <a:spcBef>
                <a:spcPts val="100"/>
              </a:spcBef>
              <a:tabLst>
                <a:tab pos="288353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Spiral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prototype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appropriate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risk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evaluation</a:t>
            </a:r>
            <a:r>
              <a:rPr sz="3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important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medium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high-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projects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Long-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term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commitment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unwise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potential </a:t>
            </a:r>
            <a:r>
              <a:rPr sz="3000" dirty="0">
                <a:latin typeface="Times New Roman"/>
                <a:cs typeface="Times New Roman"/>
              </a:rPr>
              <a:t>changes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economic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priorities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unsure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their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needs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complex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line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Significant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expected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(research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exploration)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0578" y="513334"/>
            <a:ext cx="10570845" cy="542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6880">
              <a:lnSpc>
                <a:spcPct val="100000"/>
              </a:lnSpc>
              <a:spcBef>
                <a:spcPts val="100"/>
              </a:spcBef>
              <a:tabLst>
                <a:tab pos="221170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Choo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ing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Changes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during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expensive.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1010"/>
              </a:spcBef>
              <a:buFont typeface="Times New Roman"/>
              <a:buChar char="•"/>
              <a:tabLst>
                <a:tab pos="241300" algn="l"/>
                <a:tab pos="280035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If</a:t>
            </a:r>
            <a:r>
              <a:rPr sz="2800" b="1" spc="3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3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requirements</a:t>
            </a:r>
            <a:r>
              <a:rPr sz="2800" b="1" spc="3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3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poorly</a:t>
            </a:r>
            <a:r>
              <a:rPr sz="2800" b="1" spc="3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understood,</a:t>
            </a:r>
            <a:r>
              <a:rPr sz="2800" b="1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expected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change, </a:t>
            </a:r>
            <a:r>
              <a:rPr sz="2800" dirty="0">
                <a:latin typeface="Times New Roman"/>
                <a:cs typeface="Times New Roman"/>
              </a:rPr>
              <a:t>select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keeps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flexibility.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Iterative</a:t>
            </a:r>
            <a:r>
              <a:rPr sz="2800" spc="75" dirty="0">
                <a:solidFill>
                  <a:srgbClr val="812528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refinement,</a:t>
            </a:r>
            <a:r>
              <a:rPr sz="2800" spc="80" dirty="0">
                <a:solidFill>
                  <a:srgbClr val="812528"/>
                </a:solidFill>
                <a:latin typeface="Times New Roman"/>
                <a:cs typeface="Times New Roman"/>
              </a:rPr>
              <a:t>  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sprints,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phased</a:t>
            </a:r>
            <a:r>
              <a:rPr sz="2800" spc="-40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implementation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1300" marR="6350" indent="-229235" algn="just">
              <a:lnSpc>
                <a:spcPts val="3020"/>
              </a:lnSpc>
              <a:spcBef>
                <a:spcPts val="1045"/>
              </a:spcBef>
              <a:buFont typeface="Times New Roman"/>
              <a:buChar char="•"/>
              <a:tabLst>
                <a:tab pos="241300" algn="l"/>
                <a:tab pos="243204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If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big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systems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has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many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inter-</a:t>
            </a:r>
            <a:r>
              <a:rPr sz="2800" b="1" dirty="0">
                <a:latin typeface="Times New Roman"/>
                <a:cs typeface="Times New Roman"/>
              </a:rPr>
              <a:t>related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components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avoid </a:t>
            </a:r>
            <a:r>
              <a:rPr sz="2800" dirty="0">
                <a:latin typeface="Times New Roman"/>
                <a:cs typeface="Times New Roman"/>
              </a:rPr>
              <a:t>major changes to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Sequential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process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modified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waterfall</a:t>
            </a:r>
            <a:r>
              <a:rPr sz="2800" spc="-15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model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1300" marR="6985" indent="-229235" algn="just">
              <a:lnSpc>
                <a:spcPts val="3020"/>
              </a:lnSpc>
              <a:spcBef>
                <a:spcPts val="1010"/>
              </a:spcBef>
              <a:buFont typeface="Times New Roman"/>
              <a:buChar char="•"/>
              <a:tabLst>
                <a:tab pos="241300" algn="l"/>
                <a:tab pos="269240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If</a:t>
            </a:r>
            <a:r>
              <a:rPr sz="2800" b="1" spc="3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3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market</a:t>
            </a:r>
            <a:r>
              <a:rPr sz="2800" b="1" spc="3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3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3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3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poorly</a:t>
            </a:r>
            <a:r>
              <a:rPr sz="2800" b="1" spc="3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understood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gets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operational</a:t>
            </a:r>
            <a:r>
              <a:rPr sz="2800" spc="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front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customers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quickly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possible.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812528"/>
                </a:solidFill>
                <a:latin typeface="Times New Roman"/>
                <a:cs typeface="Times New Roman"/>
              </a:rPr>
              <a:t>Incremental,</a:t>
            </a:r>
            <a:r>
              <a:rPr sz="2800" spc="-30" dirty="0">
                <a:solidFill>
                  <a:srgbClr val="812528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812528"/>
                </a:solidFill>
                <a:latin typeface="Times New Roman"/>
                <a:cs typeface="Times New Roman"/>
              </a:rPr>
              <a:t>sprints.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0411" y="366776"/>
            <a:ext cx="10318115" cy="4980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0810">
              <a:lnSpc>
                <a:spcPct val="100000"/>
              </a:lnSpc>
              <a:spcBef>
                <a:spcPts val="100"/>
              </a:spcBef>
              <a:tabLst>
                <a:tab pos="3175000" algn="l"/>
              </a:tabLst>
            </a:pPr>
            <a:r>
              <a:rPr sz="36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Tailored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SDLC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single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fits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projects</a:t>
            </a:r>
            <a:endParaRPr sz="3000" dirty="0">
              <a:latin typeface="Times New Roman"/>
              <a:cs typeface="Times New Roman"/>
            </a:endParaRPr>
          </a:p>
          <a:p>
            <a:pPr marL="241300" marR="23495" indent="-228600">
              <a:lnSpc>
                <a:spcPts val="288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  <a:tab pos="524002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there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suitable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a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particular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pick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model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close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modify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your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needs.</a:t>
            </a:r>
            <a:endParaRPr sz="3000" dirty="0">
              <a:latin typeface="Times New Roman"/>
              <a:cs typeface="Times New Roman"/>
            </a:endParaRPr>
          </a:p>
          <a:p>
            <a:pPr marL="698500" marR="37465" lvl="1" indent="-228600">
              <a:lnSpc>
                <a:spcPts val="288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consider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complete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spiral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model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too </a:t>
            </a:r>
            <a:r>
              <a:rPr sz="3000" dirty="0">
                <a:latin typeface="Times New Roman"/>
                <a:cs typeface="Times New Roman"/>
              </a:rPr>
              <a:t>much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start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spiral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it</a:t>
            </a:r>
            <a:endParaRPr sz="3000" dirty="0">
              <a:latin typeface="Times New Roman"/>
              <a:cs typeface="Times New Roman"/>
            </a:endParaRPr>
          </a:p>
          <a:p>
            <a:pPr marL="698500" marR="530860" lvl="1" indent="-228600">
              <a:lnSpc>
                <a:spcPts val="288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delivered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increments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are </a:t>
            </a:r>
            <a:r>
              <a:rPr sz="3000" dirty="0">
                <a:latin typeface="Times New Roman"/>
                <a:cs typeface="Times New Roman"/>
              </a:rPr>
              <a:t>serious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reliability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issues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combine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incremental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model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with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45" dirty="0">
                <a:latin typeface="Times New Roman"/>
                <a:cs typeface="Times New Roman"/>
              </a:rPr>
              <a:t>V-</a:t>
            </a:r>
            <a:r>
              <a:rPr sz="3000" dirty="0">
                <a:latin typeface="Times New Roman"/>
                <a:cs typeface="Times New Roman"/>
              </a:rPr>
              <a:t>shaped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model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pick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customize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SDLC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model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project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4510" y="513334"/>
            <a:ext cx="45250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Corporate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Processes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0941" y="1737741"/>
            <a:ext cx="9848850" cy="402780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5080" indent="-228600" algn="just">
              <a:lnSpc>
                <a:spcPts val="2570"/>
              </a:lnSpc>
              <a:spcBef>
                <a:spcPts val="420"/>
              </a:spcBef>
            </a:pP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3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35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3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organizations</a:t>
            </a:r>
            <a:r>
              <a:rPr sz="235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235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235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own</a:t>
            </a:r>
            <a:r>
              <a:rPr sz="23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internal</a:t>
            </a:r>
            <a:r>
              <a:rPr sz="23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processes</a:t>
            </a:r>
            <a:r>
              <a:rPr sz="23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FF0000"/>
                </a:solidFill>
                <a:latin typeface="Times New Roman"/>
                <a:cs typeface="Times New Roman"/>
              </a:rPr>
              <a:t>that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3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designed</a:t>
            </a:r>
            <a:r>
              <a:rPr sz="23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3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23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needs.</a:t>
            </a:r>
            <a:r>
              <a:rPr sz="235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35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35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570"/>
              </a:lnSpc>
              <a:spcBef>
                <a:spcPts val="994"/>
              </a:spcBef>
              <a:buChar char="•"/>
              <a:tabLst>
                <a:tab pos="241300" algn="l"/>
                <a:tab pos="300355" algn="l"/>
              </a:tabLst>
            </a:pP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dirty="0">
                <a:solidFill>
                  <a:srgbClr val="375F92"/>
                </a:solidFill>
                <a:latin typeface="Times New Roman"/>
                <a:cs typeface="Times New Roman"/>
              </a:rPr>
              <a:t>Amazon.com</a:t>
            </a:r>
            <a:r>
              <a:rPr sz="2350" spc="160" dirty="0">
                <a:solidFill>
                  <a:srgbClr val="375F92"/>
                </a:solidFill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(Internet</a:t>
            </a:r>
            <a:r>
              <a:rPr sz="2350" spc="1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commerce)</a:t>
            </a:r>
            <a:r>
              <a:rPr sz="2350" spc="16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makes</a:t>
            </a:r>
            <a:r>
              <a:rPr sz="2350" spc="15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extensive</a:t>
            </a:r>
            <a:r>
              <a:rPr sz="2350" spc="16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use</a:t>
            </a:r>
            <a:r>
              <a:rPr sz="2350" spc="15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1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sprints.</a:t>
            </a:r>
            <a:r>
              <a:rPr sz="2350" spc="155" dirty="0">
                <a:latin typeface="Times New Roman"/>
                <a:cs typeface="Times New Roman"/>
              </a:rPr>
              <a:t>  </a:t>
            </a:r>
            <a:r>
              <a:rPr sz="2350" spc="-20" dirty="0">
                <a:latin typeface="Times New Roman"/>
                <a:cs typeface="Times New Roman"/>
              </a:rPr>
              <a:t>Most </a:t>
            </a:r>
            <a:r>
              <a:rPr sz="2350" dirty="0">
                <a:latin typeface="Times New Roman"/>
                <a:cs typeface="Times New Roman"/>
              </a:rPr>
              <a:t>software</a:t>
            </a:r>
            <a:r>
              <a:rPr sz="2350" spc="2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development</a:t>
            </a:r>
            <a:r>
              <a:rPr sz="2350" spc="2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2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divided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increments</a:t>
            </a:r>
            <a:r>
              <a:rPr sz="2350" spc="2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about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four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weeks</a:t>
            </a:r>
            <a:r>
              <a:rPr sz="2350" spc="26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elapsed time.</a:t>
            </a:r>
            <a:endParaRPr sz="235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900"/>
              </a:lnSpc>
              <a:spcBef>
                <a:spcPts val="950"/>
              </a:spcBef>
              <a:buChar char="•"/>
              <a:tabLst>
                <a:tab pos="241300" algn="l"/>
                <a:tab pos="260350" algn="l"/>
              </a:tabLst>
            </a:pP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dirty="0">
                <a:solidFill>
                  <a:srgbClr val="2B4B7E"/>
                </a:solidFill>
                <a:latin typeface="Times New Roman"/>
                <a:cs typeface="Times New Roman"/>
              </a:rPr>
              <a:t>SAP</a:t>
            </a:r>
            <a:r>
              <a:rPr sz="2350" spc="484" dirty="0">
                <a:solidFill>
                  <a:srgbClr val="2B4B7E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(business</a:t>
            </a:r>
            <a:r>
              <a:rPr sz="2350" spc="5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software)</a:t>
            </a:r>
            <a:r>
              <a:rPr sz="2350" spc="5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emphasizes</a:t>
            </a:r>
            <a:r>
              <a:rPr sz="2350" spc="5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functionality</a:t>
            </a:r>
            <a:r>
              <a:rPr sz="2350" spc="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that</a:t>
            </a:r>
            <a:r>
              <a:rPr sz="2350" spc="5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5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seen</a:t>
            </a:r>
            <a:r>
              <a:rPr sz="2350" spc="5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by  </a:t>
            </a:r>
            <a:r>
              <a:rPr sz="2350" spc="-10" dirty="0">
                <a:latin typeface="Times New Roman"/>
                <a:cs typeface="Times New Roman"/>
              </a:rPr>
              <a:t>their </a:t>
            </a:r>
            <a:r>
              <a:rPr sz="2350" dirty="0">
                <a:latin typeface="Times New Roman"/>
                <a:cs typeface="Times New Roman"/>
              </a:rPr>
              <a:t>business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customers.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Much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development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is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suitable</a:t>
            </a:r>
            <a:r>
              <a:rPr sz="2350" spc="4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40" dirty="0">
                <a:latin typeface="Times New Roman"/>
                <a:cs typeface="Times New Roman"/>
              </a:rPr>
              <a:t>  </a:t>
            </a:r>
            <a:r>
              <a:rPr sz="2350" spc="-10" dirty="0">
                <a:latin typeface="Times New Roman"/>
                <a:cs typeface="Times New Roman"/>
              </a:rPr>
              <a:t>sequential process.</a:t>
            </a:r>
            <a:endParaRPr sz="235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ts val="2570"/>
              </a:lnSpc>
              <a:spcBef>
                <a:spcPts val="1040"/>
              </a:spcBef>
              <a:buChar char="•"/>
              <a:tabLst>
                <a:tab pos="241300" algn="l"/>
                <a:tab pos="245110" algn="l"/>
              </a:tabLst>
            </a:pPr>
            <a:r>
              <a:rPr sz="2350" dirty="0">
                <a:solidFill>
                  <a:srgbClr val="2B4B7E"/>
                </a:solidFill>
                <a:latin typeface="Times New Roman"/>
                <a:cs typeface="Times New Roman"/>
              </a:rPr>
              <a:t>	Microsoft</a:t>
            </a:r>
            <a:r>
              <a:rPr sz="2350" spc="465" dirty="0">
                <a:solidFill>
                  <a:srgbClr val="2B4B7E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(PC</a:t>
            </a:r>
            <a:r>
              <a:rPr sz="2350" spc="45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software)</a:t>
            </a:r>
            <a:r>
              <a:rPr sz="2350" spc="45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places</a:t>
            </a:r>
            <a:r>
              <a:rPr sz="2350" spc="4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great</a:t>
            </a:r>
            <a:r>
              <a:rPr sz="2350" spc="4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emphasis</a:t>
            </a:r>
            <a:r>
              <a:rPr sz="2350" spc="4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45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testing</a:t>
            </a:r>
            <a:r>
              <a:rPr sz="2350" spc="4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with</a:t>
            </a:r>
            <a:r>
              <a:rPr sz="2350" spc="45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4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very</a:t>
            </a:r>
            <a:r>
              <a:rPr sz="2350" spc="47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wide </a:t>
            </a:r>
            <a:r>
              <a:rPr sz="2350" dirty="0">
                <a:latin typeface="Times New Roman"/>
                <a:cs typeface="Times New Roman"/>
              </a:rPr>
              <a:t>variety</a:t>
            </a:r>
            <a:r>
              <a:rPr sz="2350" spc="4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3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equipment</a:t>
            </a:r>
            <a:r>
              <a:rPr sz="2350" spc="39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3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backward</a:t>
            </a:r>
            <a:r>
              <a:rPr sz="2350" spc="3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compatibility.</a:t>
            </a:r>
            <a:r>
              <a:rPr sz="2350" spc="3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Much</a:t>
            </a:r>
            <a:r>
              <a:rPr sz="2350" spc="3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3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39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development </a:t>
            </a:r>
            <a:r>
              <a:rPr sz="2350" dirty="0">
                <a:latin typeface="Times New Roman"/>
                <a:cs typeface="Times New Roman"/>
              </a:rPr>
              <a:t>uses</a:t>
            </a:r>
            <a:r>
              <a:rPr sz="2350" spc="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spiral</a:t>
            </a:r>
            <a:r>
              <a:rPr sz="2350" spc="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process.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366776"/>
            <a:ext cx="6677659" cy="491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0">
              <a:lnSpc>
                <a:spcPct val="100000"/>
              </a:lnSpc>
              <a:spcBef>
                <a:spcPts val="100"/>
              </a:spcBef>
              <a:tabLst>
                <a:tab pos="4301490" algn="l"/>
              </a:tabLst>
            </a:pP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845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life-cycle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strengths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weaknesses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84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Criteria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deciding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include: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organization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1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Skills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employees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product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2840"/>
              </a:lnSpc>
              <a:spcBef>
                <a:spcPts val="43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Best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suggestion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“Mix-</a:t>
            </a:r>
            <a:r>
              <a:rPr sz="2400" spc="-10" dirty="0">
                <a:latin typeface="Times New Roman"/>
                <a:cs typeface="Times New Roman"/>
              </a:rPr>
              <a:t>and-</a:t>
            </a:r>
            <a:r>
              <a:rPr sz="2400" dirty="0">
                <a:latin typeface="Times New Roman"/>
                <a:cs typeface="Times New Roman"/>
              </a:rPr>
              <a:t>match”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life-</a:t>
            </a:r>
            <a:r>
              <a:rPr sz="2400" dirty="0">
                <a:latin typeface="Times New Roman"/>
                <a:cs typeface="Times New Roman"/>
              </a:rPr>
              <a:t>cycle</a:t>
            </a:r>
            <a:r>
              <a:rPr sz="2400" spc="-10" dirty="0">
                <a:latin typeface="Times New Roman"/>
                <a:cs typeface="Times New Roman"/>
              </a:rPr>
              <a:t> model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3642" y="1838960"/>
            <a:ext cx="10086975" cy="4319270"/>
          </a:xfrm>
          <a:prstGeom prst="rect">
            <a:avLst/>
          </a:prstGeom>
          <a:ln w="45720">
            <a:solidFill>
              <a:srgbClr val="000000"/>
            </a:solidFill>
          </a:ln>
        </p:spPr>
        <p:txBody>
          <a:bodyPr vert="horz" wrap="square" lIns="0" tIns="539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45"/>
              </a:spcBef>
            </a:pPr>
            <a:endParaRPr sz="4000">
              <a:latin typeface="Times New Roman"/>
              <a:cs typeface="Times New Roman"/>
            </a:endParaRPr>
          </a:p>
          <a:p>
            <a:pPr marR="216535" algn="ctr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latin typeface="Times New Roman"/>
                <a:cs typeface="Times New Roman"/>
              </a:rPr>
              <a:t>THANK</a:t>
            </a:r>
            <a:r>
              <a:rPr sz="4000" spc="-15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927" y="1633220"/>
            <a:ext cx="10498455" cy="4730750"/>
            <a:chOff x="1047927" y="1633220"/>
            <a:chExt cx="10498455" cy="4730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588" y="1860804"/>
              <a:ext cx="10041890" cy="42745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7927" y="1633219"/>
              <a:ext cx="10498455" cy="4730750"/>
            </a:xfrm>
            <a:custGeom>
              <a:avLst/>
              <a:gdLst/>
              <a:ahLst/>
              <a:cxnLst/>
              <a:rect l="l" t="t" r="r" b="b"/>
              <a:pathLst>
                <a:path w="10498455" h="4730750">
                  <a:moveTo>
                    <a:pt x="10498150" y="137541"/>
                  </a:moveTo>
                  <a:lnTo>
                    <a:pt x="10360990" y="137553"/>
                  </a:lnTo>
                  <a:lnTo>
                    <a:pt x="10360990" y="4593552"/>
                  </a:lnTo>
                  <a:lnTo>
                    <a:pt x="10498150" y="4593564"/>
                  </a:lnTo>
                  <a:lnTo>
                    <a:pt x="10498150" y="137541"/>
                  </a:lnTo>
                  <a:close/>
                </a:path>
                <a:path w="10498455" h="4730750">
                  <a:moveTo>
                    <a:pt x="1049815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0" y="4593590"/>
                  </a:lnTo>
                  <a:lnTo>
                    <a:pt x="0" y="4730750"/>
                  </a:lnTo>
                  <a:lnTo>
                    <a:pt x="10498150" y="4730750"/>
                  </a:lnTo>
                  <a:lnTo>
                    <a:pt x="10498150" y="4593590"/>
                  </a:lnTo>
                  <a:lnTo>
                    <a:pt x="137160" y="4593590"/>
                  </a:lnTo>
                  <a:lnTo>
                    <a:pt x="137160" y="137160"/>
                  </a:lnTo>
                  <a:lnTo>
                    <a:pt x="10498150" y="137160"/>
                  </a:lnTo>
                  <a:lnTo>
                    <a:pt x="10498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9950" y="2950286"/>
            <a:ext cx="3009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u="none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4000" b="0" u="none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u="none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23187" y="1360169"/>
            <a:ext cx="10458450" cy="5019040"/>
            <a:chOff x="1223187" y="1360169"/>
            <a:chExt cx="10458450" cy="5019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0848" y="1588007"/>
              <a:ext cx="10002139" cy="45620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23187" y="1360169"/>
              <a:ext cx="10458450" cy="5019040"/>
            </a:xfrm>
            <a:custGeom>
              <a:avLst/>
              <a:gdLst/>
              <a:ahLst/>
              <a:cxnLst/>
              <a:rect l="l" t="t" r="r" b="b"/>
              <a:pathLst>
                <a:path w="10458450" h="5019040">
                  <a:moveTo>
                    <a:pt x="10275519" y="228727"/>
                  </a:moveTo>
                  <a:lnTo>
                    <a:pt x="10229799" y="228727"/>
                  </a:lnTo>
                  <a:lnTo>
                    <a:pt x="10229799" y="4789906"/>
                  </a:lnTo>
                  <a:lnTo>
                    <a:pt x="10275519" y="4789919"/>
                  </a:lnTo>
                  <a:lnTo>
                    <a:pt x="10275519" y="228727"/>
                  </a:lnTo>
                  <a:close/>
                </a:path>
                <a:path w="10458450" h="5019040">
                  <a:moveTo>
                    <a:pt x="10275519" y="182880"/>
                  </a:moveTo>
                  <a:lnTo>
                    <a:pt x="182829" y="182880"/>
                  </a:lnTo>
                  <a:lnTo>
                    <a:pt x="182829" y="228600"/>
                  </a:lnTo>
                  <a:lnTo>
                    <a:pt x="182829" y="4790440"/>
                  </a:lnTo>
                  <a:lnTo>
                    <a:pt x="182829" y="4836160"/>
                  </a:lnTo>
                  <a:lnTo>
                    <a:pt x="10275519" y="4836160"/>
                  </a:lnTo>
                  <a:lnTo>
                    <a:pt x="10275519" y="4790440"/>
                  </a:lnTo>
                  <a:lnTo>
                    <a:pt x="228549" y="4790440"/>
                  </a:lnTo>
                  <a:lnTo>
                    <a:pt x="228549" y="228600"/>
                  </a:lnTo>
                  <a:lnTo>
                    <a:pt x="10275519" y="228600"/>
                  </a:lnTo>
                  <a:lnTo>
                    <a:pt x="10275519" y="182880"/>
                  </a:lnTo>
                  <a:close/>
                </a:path>
                <a:path w="10458450" h="5019040">
                  <a:moveTo>
                    <a:pt x="10458399" y="137287"/>
                  </a:moveTo>
                  <a:lnTo>
                    <a:pt x="10321239" y="137287"/>
                  </a:lnTo>
                  <a:lnTo>
                    <a:pt x="10321239" y="4881346"/>
                  </a:lnTo>
                  <a:lnTo>
                    <a:pt x="10458399" y="4881346"/>
                  </a:lnTo>
                  <a:lnTo>
                    <a:pt x="10458399" y="137287"/>
                  </a:lnTo>
                  <a:close/>
                </a:path>
                <a:path w="10458450" h="5019040">
                  <a:moveTo>
                    <a:pt x="1045839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0" y="4881880"/>
                  </a:lnTo>
                  <a:lnTo>
                    <a:pt x="0" y="5019040"/>
                  </a:lnTo>
                  <a:lnTo>
                    <a:pt x="10458399" y="5019040"/>
                  </a:lnTo>
                  <a:lnTo>
                    <a:pt x="10458399" y="4881880"/>
                  </a:lnTo>
                  <a:lnTo>
                    <a:pt x="137109" y="4881880"/>
                  </a:lnTo>
                  <a:lnTo>
                    <a:pt x="137109" y="137160"/>
                  </a:lnTo>
                  <a:lnTo>
                    <a:pt x="10458399" y="137160"/>
                  </a:lnTo>
                  <a:lnTo>
                    <a:pt x="10458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CUI-Software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15" dirty="0"/>
              <a:t> </a:t>
            </a:r>
            <a:r>
              <a:rPr spc="-25" dirty="0"/>
              <a:t>Tehseen</a:t>
            </a:r>
            <a:r>
              <a:rPr spc="-20" dirty="0"/>
              <a:t> </a:t>
            </a:r>
            <a:r>
              <a:rPr dirty="0"/>
              <a:t>Riaz</a:t>
            </a:r>
            <a:r>
              <a:rPr spc="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4502</Words>
  <Application>Microsoft Office PowerPoint</Application>
  <PresentationFormat>Widescreen</PresentationFormat>
  <Paragraphs>702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Arial</vt:lpstr>
      <vt:lpstr>Arial MT</vt:lpstr>
      <vt:lpstr>Calibri</vt:lpstr>
      <vt:lpstr>Microsoft Sans Serif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Iterative Process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V-Shaped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Of Prototype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TehseenRiazAbbasi</dc:creator>
  <cp:lastModifiedBy>Admin</cp:lastModifiedBy>
  <cp:revision>15</cp:revision>
  <dcterms:created xsi:type="dcterms:W3CDTF">2025-02-18T07:53:53Z</dcterms:created>
  <dcterms:modified xsi:type="dcterms:W3CDTF">2025-02-25T07:57:59Z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PowerPoint® LTSC</vt:lpwstr>
  </property>
</Properties>
</file>