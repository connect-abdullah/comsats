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2.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1.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1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346" r:id="rId3"/>
    <p:sldId id="420" r:id="rId4"/>
    <p:sldId id="389" r:id="rId5"/>
    <p:sldId id="257" r:id="rId6"/>
    <p:sldId id="258" r:id="rId7"/>
    <p:sldId id="261" r:id="rId8"/>
    <p:sldId id="263" r:id="rId9"/>
    <p:sldId id="264" r:id="rId10"/>
    <p:sldId id="260" r:id="rId11"/>
    <p:sldId id="262"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417" r:id="rId33"/>
    <p:sldId id="418" r:id="rId34"/>
    <p:sldId id="419" r:id="rId35"/>
    <p:sldId id="412" r:id="rId36"/>
    <p:sldId id="413" r:id="rId37"/>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9" d="100"/>
          <a:sy n="89" d="100"/>
        </p:scale>
        <p:origin x="17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45"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C4A774-3F21-436D-ADFA-91004F10D1CC}" type="datetimeFigureOut">
              <a:rPr lang="x-none" smtClean="0"/>
              <a:t>6/10/2025</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6F0B3F-E5ED-4DA1-B35B-F72847E9B8AD}" type="slidenum">
              <a:rPr lang="x-none" smtClean="0"/>
              <a:t>‹#›</a:t>
            </a:fld>
            <a:endParaRPr lang="x-none"/>
          </a:p>
        </p:txBody>
      </p:sp>
    </p:spTree>
    <p:extLst>
      <p:ext uri="{BB962C8B-B14F-4D97-AF65-F5344CB8AC3E}">
        <p14:creationId xmlns:p14="http://schemas.microsoft.com/office/powerpoint/2010/main" val="1893420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9F2F85-D290-49FC-B039-D4D6D04451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a16="http://schemas.microsoft.com/office/drawing/2014/main" xmlns="" id="{2E64E38C-B293-498B-A74C-E7F231BAC8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xmlns="" id="{AE22937E-19BD-480E-A9B4-C0BECDEA01C1}"/>
              </a:ext>
            </a:extLst>
          </p:cNvPr>
          <p:cNvSpPr>
            <a:spLocks noGrp="1"/>
          </p:cNvSpPr>
          <p:nvPr>
            <p:ph type="dt" sz="half" idx="10"/>
          </p:nvPr>
        </p:nvSpPr>
        <p:spPr/>
        <p:txBody>
          <a:bodyPr/>
          <a:lstStyle/>
          <a:p>
            <a:fld id="{4938FA0E-D8E2-48D1-8DFE-E3AAB1B1B2A4}" type="datetimeFigureOut">
              <a:rPr lang="x-none" smtClean="0"/>
              <a:t>6/10/2025</a:t>
            </a:fld>
            <a:endParaRPr lang="x-none"/>
          </a:p>
        </p:txBody>
      </p:sp>
      <p:sp>
        <p:nvSpPr>
          <p:cNvPr id="5" name="Footer Placeholder 4">
            <a:extLst>
              <a:ext uri="{FF2B5EF4-FFF2-40B4-BE49-F238E27FC236}">
                <a16:creationId xmlns:a16="http://schemas.microsoft.com/office/drawing/2014/main" xmlns="" id="{E4FA88D4-66D4-4BEC-8621-6543D8198996}"/>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BFEB685E-5046-46A8-94FE-BE53DA3B6C67}"/>
              </a:ext>
            </a:extLst>
          </p:cNvPr>
          <p:cNvSpPr>
            <a:spLocks noGrp="1"/>
          </p:cNvSpPr>
          <p:nvPr>
            <p:ph type="sldNum" sz="quarter" idx="12"/>
          </p:nvPr>
        </p:nvSpPr>
        <p:spPr/>
        <p:txBody>
          <a:bodyPr/>
          <a:lstStyle/>
          <a:p>
            <a:fld id="{ED1EBE21-57CC-4989-BDE9-FD083794974C}" type="slidenum">
              <a:rPr lang="x-none" smtClean="0"/>
              <a:t>‹#›</a:t>
            </a:fld>
            <a:endParaRPr lang="x-none"/>
          </a:p>
        </p:txBody>
      </p:sp>
    </p:spTree>
    <p:extLst>
      <p:ext uri="{BB962C8B-B14F-4D97-AF65-F5344CB8AC3E}">
        <p14:creationId xmlns:p14="http://schemas.microsoft.com/office/powerpoint/2010/main" val="1194276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ED1C2F-C907-48EC-B8C3-6003FA72AB8A}"/>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DF2FE6B8-D4C9-4AB2-A4E4-E8E51D041E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D26C18CC-FDC4-4C9D-8405-A761B95E853B}"/>
              </a:ext>
            </a:extLst>
          </p:cNvPr>
          <p:cNvSpPr>
            <a:spLocks noGrp="1"/>
          </p:cNvSpPr>
          <p:nvPr>
            <p:ph type="dt" sz="half" idx="10"/>
          </p:nvPr>
        </p:nvSpPr>
        <p:spPr/>
        <p:txBody>
          <a:bodyPr/>
          <a:lstStyle/>
          <a:p>
            <a:fld id="{4938FA0E-D8E2-48D1-8DFE-E3AAB1B1B2A4}" type="datetimeFigureOut">
              <a:rPr lang="x-none" smtClean="0"/>
              <a:t>6/10/2025</a:t>
            </a:fld>
            <a:endParaRPr lang="x-none"/>
          </a:p>
        </p:txBody>
      </p:sp>
      <p:sp>
        <p:nvSpPr>
          <p:cNvPr id="5" name="Footer Placeholder 4">
            <a:extLst>
              <a:ext uri="{FF2B5EF4-FFF2-40B4-BE49-F238E27FC236}">
                <a16:creationId xmlns:a16="http://schemas.microsoft.com/office/drawing/2014/main" xmlns="" id="{B51FD233-E868-403C-9A63-E2C90387E6AD}"/>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937B7A04-2780-4BBB-9D7B-819946E94F9D}"/>
              </a:ext>
            </a:extLst>
          </p:cNvPr>
          <p:cNvSpPr>
            <a:spLocks noGrp="1"/>
          </p:cNvSpPr>
          <p:nvPr>
            <p:ph type="sldNum" sz="quarter" idx="12"/>
          </p:nvPr>
        </p:nvSpPr>
        <p:spPr/>
        <p:txBody>
          <a:bodyPr/>
          <a:lstStyle/>
          <a:p>
            <a:fld id="{ED1EBE21-57CC-4989-BDE9-FD083794974C}" type="slidenum">
              <a:rPr lang="x-none" smtClean="0"/>
              <a:t>‹#›</a:t>
            </a:fld>
            <a:endParaRPr lang="x-none"/>
          </a:p>
        </p:txBody>
      </p:sp>
    </p:spTree>
    <p:extLst>
      <p:ext uri="{BB962C8B-B14F-4D97-AF65-F5344CB8AC3E}">
        <p14:creationId xmlns:p14="http://schemas.microsoft.com/office/powerpoint/2010/main" val="3083357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DE13B6-C0EF-4878-BB2F-E5E6DD7609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41EE853A-0124-40E3-98D0-F7F5D8410A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B09B341F-D12C-4B83-B4AD-9E103C8591DB}"/>
              </a:ext>
            </a:extLst>
          </p:cNvPr>
          <p:cNvSpPr>
            <a:spLocks noGrp="1"/>
          </p:cNvSpPr>
          <p:nvPr>
            <p:ph type="dt" sz="half" idx="10"/>
          </p:nvPr>
        </p:nvSpPr>
        <p:spPr/>
        <p:txBody>
          <a:bodyPr/>
          <a:lstStyle/>
          <a:p>
            <a:fld id="{4938FA0E-D8E2-48D1-8DFE-E3AAB1B1B2A4}" type="datetimeFigureOut">
              <a:rPr lang="x-none" smtClean="0"/>
              <a:t>6/10/2025</a:t>
            </a:fld>
            <a:endParaRPr lang="x-none"/>
          </a:p>
        </p:txBody>
      </p:sp>
      <p:sp>
        <p:nvSpPr>
          <p:cNvPr id="5" name="Footer Placeholder 4">
            <a:extLst>
              <a:ext uri="{FF2B5EF4-FFF2-40B4-BE49-F238E27FC236}">
                <a16:creationId xmlns:a16="http://schemas.microsoft.com/office/drawing/2014/main" xmlns="" id="{9113F0D5-11FF-4493-ADEB-8BB15324D6BC}"/>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7B5FE9D8-F0F2-44D9-85BE-336F9A677AA5}"/>
              </a:ext>
            </a:extLst>
          </p:cNvPr>
          <p:cNvSpPr>
            <a:spLocks noGrp="1"/>
          </p:cNvSpPr>
          <p:nvPr>
            <p:ph type="sldNum" sz="quarter" idx="12"/>
          </p:nvPr>
        </p:nvSpPr>
        <p:spPr/>
        <p:txBody>
          <a:bodyPr/>
          <a:lstStyle/>
          <a:p>
            <a:fld id="{ED1EBE21-57CC-4989-BDE9-FD083794974C}" type="slidenum">
              <a:rPr lang="x-none" smtClean="0"/>
              <a:t>‹#›</a:t>
            </a:fld>
            <a:endParaRPr lang="x-none"/>
          </a:p>
        </p:txBody>
      </p:sp>
    </p:spTree>
    <p:extLst>
      <p:ext uri="{BB962C8B-B14F-4D97-AF65-F5344CB8AC3E}">
        <p14:creationId xmlns:p14="http://schemas.microsoft.com/office/powerpoint/2010/main" val="583884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FE138A-2BC9-40F7-9F4A-E4AE7770E8A3}"/>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C4CAE85B-FA92-44D6-B858-A50A30BB63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xmlns="" id="{A751D18B-A56C-4B4C-AD71-90BC0EF22F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xmlns="" id="{6227ECFA-5EA8-4F16-BB01-36F80D13EA37}"/>
              </a:ext>
            </a:extLst>
          </p:cNvPr>
          <p:cNvSpPr>
            <a:spLocks noGrp="1"/>
          </p:cNvSpPr>
          <p:nvPr>
            <p:ph type="dt" sz="half" idx="10"/>
          </p:nvPr>
        </p:nvSpPr>
        <p:spPr/>
        <p:txBody>
          <a:bodyPr/>
          <a:lstStyle/>
          <a:p>
            <a:fld id="{4938FA0E-D8E2-48D1-8DFE-E3AAB1B1B2A4}" type="datetimeFigureOut">
              <a:rPr lang="x-none" smtClean="0"/>
              <a:t>6/10/2025</a:t>
            </a:fld>
            <a:endParaRPr lang="x-none"/>
          </a:p>
        </p:txBody>
      </p:sp>
      <p:sp>
        <p:nvSpPr>
          <p:cNvPr id="6" name="Footer Placeholder 5">
            <a:extLst>
              <a:ext uri="{FF2B5EF4-FFF2-40B4-BE49-F238E27FC236}">
                <a16:creationId xmlns:a16="http://schemas.microsoft.com/office/drawing/2014/main" xmlns="" id="{BA028B6E-3691-4F1F-AF10-47E90C16ABFD}"/>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9F000A40-7990-44A7-9A39-16049B10FBD8}"/>
              </a:ext>
            </a:extLst>
          </p:cNvPr>
          <p:cNvSpPr>
            <a:spLocks noGrp="1"/>
          </p:cNvSpPr>
          <p:nvPr>
            <p:ph type="sldNum" sz="quarter" idx="12"/>
          </p:nvPr>
        </p:nvSpPr>
        <p:spPr/>
        <p:txBody>
          <a:bodyPr/>
          <a:lstStyle/>
          <a:p>
            <a:fld id="{ED1EBE21-57CC-4989-BDE9-FD083794974C}" type="slidenum">
              <a:rPr lang="x-none" smtClean="0"/>
              <a:t>‹#›</a:t>
            </a:fld>
            <a:endParaRPr lang="x-none"/>
          </a:p>
        </p:txBody>
      </p:sp>
    </p:spTree>
    <p:extLst>
      <p:ext uri="{BB962C8B-B14F-4D97-AF65-F5344CB8AC3E}">
        <p14:creationId xmlns:p14="http://schemas.microsoft.com/office/powerpoint/2010/main" val="390678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721051-A3E5-4C06-90C8-EED1658DC3A7}"/>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1BDAA16C-DF90-4601-928B-EDEEDAAED5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58737878-6EA1-432B-B2F5-EE4832163A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xmlns="" id="{78FCD5FA-FC56-4DE6-9F93-56F73134A0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91B04E95-9B6B-4909-B1D0-5E00B0B899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xmlns="" id="{56553A85-8455-42BC-BCD9-8CC2324D8A3C}"/>
              </a:ext>
            </a:extLst>
          </p:cNvPr>
          <p:cNvSpPr>
            <a:spLocks noGrp="1"/>
          </p:cNvSpPr>
          <p:nvPr>
            <p:ph type="dt" sz="half" idx="10"/>
          </p:nvPr>
        </p:nvSpPr>
        <p:spPr/>
        <p:txBody>
          <a:bodyPr/>
          <a:lstStyle/>
          <a:p>
            <a:fld id="{4938FA0E-D8E2-48D1-8DFE-E3AAB1B1B2A4}" type="datetimeFigureOut">
              <a:rPr lang="x-none" smtClean="0"/>
              <a:t>6/10/2025</a:t>
            </a:fld>
            <a:endParaRPr lang="x-none"/>
          </a:p>
        </p:txBody>
      </p:sp>
      <p:sp>
        <p:nvSpPr>
          <p:cNvPr id="8" name="Footer Placeholder 7">
            <a:extLst>
              <a:ext uri="{FF2B5EF4-FFF2-40B4-BE49-F238E27FC236}">
                <a16:creationId xmlns:a16="http://schemas.microsoft.com/office/drawing/2014/main" xmlns="" id="{72E071C4-0677-49F3-AED2-B8A87BFDFD8C}"/>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xmlns="" id="{4AAAE6E9-96D3-4AB4-B6B6-BE4A6BC3915D}"/>
              </a:ext>
            </a:extLst>
          </p:cNvPr>
          <p:cNvSpPr>
            <a:spLocks noGrp="1"/>
          </p:cNvSpPr>
          <p:nvPr>
            <p:ph type="sldNum" sz="quarter" idx="12"/>
          </p:nvPr>
        </p:nvSpPr>
        <p:spPr/>
        <p:txBody>
          <a:bodyPr/>
          <a:lstStyle/>
          <a:p>
            <a:fld id="{ED1EBE21-57CC-4989-BDE9-FD083794974C}" type="slidenum">
              <a:rPr lang="x-none" smtClean="0"/>
              <a:t>‹#›</a:t>
            </a:fld>
            <a:endParaRPr lang="x-none"/>
          </a:p>
        </p:txBody>
      </p:sp>
    </p:spTree>
    <p:extLst>
      <p:ext uri="{BB962C8B-B14F-4D97-AF65-F5344CB8AC3E}">
        <p14:creationId xmlns:p14="http://schemas.microsoft.com/office/powerpoint/2010/main" val="2401538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622624-3FC8-4FBB-9057-13DA480AB94F}"/>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xmlns="" id="{CC4DF660-3FAA-41DA-A4CD-60771A7AC31B}"/>
              </a:ext>
            </a:extLst>
          </p:cNvPr>
          <p:cNvSpPr>
            <a:spLocks noGrp="1"/>
          </p:cNvSpPr>
          <p:nvPr>
            <p:ph type="dt" sz="half" idx="10"/>
          </p:nvPr>
        </p:nvSpPr>
        <p:spPr/>
        <p:txBody>
          <a:bodyPr/>
          <a:lstStyle/>
          <a:p>
            <a:fld id="{4938FA0E-D8E2-48D1-8DFE-E3AAB1B1B2A4}" type="datetimeFigureOut">
              <a:rPr lang="x-none" smtClean="0"/>
              <a:t>6/10/2025</a:t>
            </a:fld>
            <a:endParaRPr lang="x-none"/>
          </a:p>
        </p:txBody>
      </p:sp>
      <p:sp>
        <p:nvSpPr>
          <p:cNvPr id="4" name="Footer Placeholder 3">
            <a:extLst>
              <a:ext uri="{FF2B5EF4-FFF2-40B4-BE49-F238E27FC236}">
                <a16:creationId xmlns:a16="http://schemas.microsoft.com/office/drawing/2014/main" xmlns="" id="{6A7C96B0-FA4C-46B1-915A-D0EC490CECD8}"/>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xmlns="" id="{86E2EA30-4EFC-457C-8BE5-549F2A9AFE11}"/>
              </a:ext>
            </a:extLst>
          </p:cNvPr>
          <p:cNvSpPr>
            <a:spLocks noGrp="1"/>
          </p:cNvSpPr>
          <p:nvPr>
            <p:ph type="sldNum" sz="quarter" idx="12"/>
          </p:nvPr>
        </p:nvSpPr>
        <p:spPr/>
        <p:txBody>
          <a:bodyPr/>
          <a:lstStyle/>
          <a:p>
            <a:fld id="{ED1EBE21-57CC-4989-BDE9-FD083794974C}" type="slidenum">
              <a:rPr lang="x-none" smtClean="0"/>
              <a:t>‹#›</a:t>
            </a:fld>
            <a:endParaRPr lang="x-none"/>
          </a:p>
        </p:txBody>
      </p:sp>
    </p:spTree>
    <p:extLst>
      <p:ext uri="{BB962C8B-B14F-4D97-AF65-F5344CB8AC3E}">
        <p14:creationId xmlns:p14="http://schemas.microsoft.com/office/powerpoint/2010/main" val="2170095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CFB7E67-EA76-430A-81B6-43ADCF811ABE}"/>
              </a:ext>
            </a:extLst>
          </p:cNvPr>
          <p:cNvSpPr>
            <a:spLocks noGrp="1"/>
          </p:cNvSpPr>
          <p:nvPr>
            <p:ph type="dt" sz="half" idx="10"/>
          </p:nvPr>
        </p:nvSpPr>
        <p:spPr/>
        <p:txBody>
          <a:bodyPr/>
          <a:lstStyle/>
          <a:p>
            <a:fld id="{4938FA0E-D8E2-48D1-8DFE-E3AAB1B1B2A4}" type="datetimeFigureOut">
              <a:rPr lang="x-none" smtClean="0"/>
              <a:t>6/10/2025</a:t>
            </a:fld>
            <a:endParaRPr lang="x-none"/>
          </a:p>
        </p:txBody>
      </p:sp>
      <p:sp>
        <p:nvSpPr>
          <p:cNvPr id="3" name="Footer Placeholder 2">
            <a:extLst>
              <a:ext uri="{FF2B5EF4-FFF2-40B4-BE49-F238E27FC236}">
                <a16:creationId xmlns:a16="http://schemas.microsoft.com/office/drawing/2014/main" xmlns="" id="{5E6354F4-4009-477B-9746-6F6F94E01E8D}"/>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xmlns="" id="{C1826DB0-8B02-436F-A195-8E3BE3B5687C}"/>
              </a:ext>
            </a:extLst>
          </p:cNvPr>
          <p:cNvSpPr>
            <a:spLocks noGrp="1"/>
          </p:cNvSpPr>
          <p:nvPr>
            <p:ph type="sldNum" sz="quarter" idx="12"/>
          </p:nvPr>
        </p:nvSpPr>
        <p:spPr/>
        <p:txBody>
          <a:bodyPr/>
          <a:lstStyle/>
          <a:p>
            <a:fld id="{ED1EBE21-57CC-4989-BDE9-FD083794974C}" type="slidenum">
              <a:rPr lang="x-none" smtClean="0"/>
              <a:t>‹#›</a:t>
            </a:fld>
            <a:endParaRPr lang="x-none"/>
          </a:p>
        </p:txBody>
      </p:sp>
    </p:spTree>
    <p:extLst>
      <p:ext uri="{BB962C8B-B14F-4D97-AF65-F5344CB8AC3E}">
        <p14:creationId xmlns:p14="http://schemas.microsoft.com/office/powerpoint/2010/main" val="2869609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217C68-4170-4AA7-A541-05406A3202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xmlns="" id="{1AB67830-411A-4308-86BE-2986C0DE21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xmlns="" id="{486764BB-A21F-495C-84C9-4110BD5306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4B01A91-E1E5-4116-9DE8-2524110475AC}"/>
              </a:ext>
            </a:extLst>
          </p:cNvPr>
          <p:cNvSpPr>
            <a:spLocks noGrp="1"/>
          </p:cNvSpPr>
          <p:nvPr>
            <p:ph type="dt" sz="half" idx="10"/>
          </p:nvPr>
        </p:nvSpPr>
        <p:spPr/>
        <p:txBody>
          <a:bodyPr/>
          <a:lstStyle/>
          <a:p>
            <a:fld id="{4938FA0E-D8E2-48D1-8DFE-E3AAB1B1B2A4}" type="datetimeFigureOut">
              <a:rPr lang="x-none" smtClean="0"/>
              <a:t>6/10/2025</a:t>
            </a:fld>
            <a:endParaRPr lang="x-none"/>
          </a:p>
        </p:txBody>
      </p:sp>
      <p:sp>
        <p:nvSpPr>
          <p:cNvPr id="6" name="Footer Placeholder 5">
            <a:extLst>
              <a:ext uri="{FF2B5EF4-FFF2-40B4-BE49-F238E27FC236}">
                <a16:creationId xmlns:a16="http://schemas.microsoft.com/office/drawing/2014/main" xmlns="" id="{D543AC38-FE73-488C-8D19-37AF28657CF1}"/>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1EB3FFB3-5DB7-4D72-9998-9E7F2FE0FF1C}"/>
              </a:ext>
            </a:extLst>
          </p:cNvPr>
          <p:cNvSpPr>
            <a:spLocks noGrp="1"/>
          </p:cNvSpPr>
          <p:nvPr>
            <p:ph type="sldNum" sz="quarter" idx="12"/>
          </p:nvPr>
        </p:nvSpPr>
        <p:spPr/>
        <p:txBody>
          <a:bodyPr/>
          <a:lstStyle/>
          <a:p>
            <a:fld id="{ED1EBE21-57CC-4989-BDE9-FD083794974C}" type="slidenum">
              <a:rPr lang="x-none" smtClean="0"/>
              <a:t>‹#›</a:t>
            </a:fld>
            <a:endParaRPr lang="x-none"/>
          </a:p>
        </p:txBody>
      </p:sp>
    </p:spTree>
    <p:extLst>
      <p:ext uri="{BB962C8B-B14F-4D97-AF65-F5344CB8AC3E}">
        <p14:creationId xmlns:p14="http://schemas.microsoft.com/office/powerpoint/2010/main" val="1129904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03ECE1-CB83-41AB-B9DF-CAB9D50F36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xmlns="" id="{9CC14CB3-763E-4883-91AE-04AD59F84B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a16="http://schemas.microsoft.com/office/drawing/2014/main" xmlns="" id="{D795769E-944F-4328-8BDE-35E244A642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8BB23BE-080B-4D6D-91C0-F1B605DA53F5}"/>
              </a:ext>
            </a:extLst>
          </p:cNvPr>
          <p:cNvSpPr>
            <a:spLocks noGrp="1"/>
          </p:cNvSpPr>
          <p:nvPr>
            <p:ph type="dt" sz="half" idx="10"/>
          </p:nvPr>
        </p:nvSpPr>
        <p:spPr/>
        <p:txBody>
          <a:bodyPr/>
          <a:lstStyle/>
          <a:p>
            <a:fld id="{4938FA0E-D8E2-48D1-8DFE-E3AAB1B1B2A4}" type="datetimeFigureOut">
              <a:rPr lang="x-none" smtClean="0"/>
              <a:t>6/10/2025</a:t>
            </a:fld>
            <a:endParaRPr lang="x-none"/>
          </a:p>
        </p:txBody>
      </p:sp>
      <p:sp>
        <p:nvSpPr>
          <p:cNvPr id="6" name="Footer Placeholder 5">
            <a:extLst>
              <a:ext uri="{FF2B5EF4-FFF2-40B4-BE49-F238E27FC236}">
                <a16:creationId xmlns:a16="http://schemas.microsoft.com/office/drawing/2014/main" xmlns="" id="{51D7735B-C6A5-49D4-9900-54A9120AC087}"/>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xmlns="" id="{6DF4FA29-5A68-48AD-96D0-1C07ECBB4A0C}"/>
              </a:ext>
            </a:extLst>
          </p:cNvPr>
          <p:cNvSpPr>
            <a:spLocks noGrp="1"/>
          </p:cNvSpPr>
          <p:nvPr>
            <p:ph type="sldNum" sz="quarter" idx="12"/>
          </p:nvPr>
        </p:nvSpPr>
        <p:spPr/>
        <p:txBody>
          <a:bodyPr/>
          <a:lstStyle/>
          <a:p>
            <a:fld id="{ED1EBE21-57CC-4989-BDE9-FD083794974C}" type="slidenum">
              <a:rPr lang="x-none" smtClean="0"/>
              <a:t>‹#›</a:t>
            </a:fld>
            <a:endParaRPr lang="x-none"/>
          </a:p>
        </p:txBody>
      </p:sp>
    </p:spTree>
    <p:extLst>
      <p:ext uri="{BB962C8B-B14F-4D97-AF65-F5344CB8AC3E}">
        <p14:creationId xmlns:p14="http://schemas.microsoft.com/office/powerpoint/2010/main" val="1798859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D1DA77-5483-4E00-9292-FE80C4C50EE7}"/>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4E937ED6-2E75-4974-B282-8D3068111A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4091F50F-A34B-4DA1-B111-2D7D982B29EC}"/>
              </a:ext>
            </a:extLst>
          </p:cNvPr>
          <p:cNvSpPr>
            <a:spLocks noGrp="1"/>
          </p:cNvSpPr>
          <p:nvPr>
            <p:ph type="dt" sz="half" idx="10"/>
          </p:nvPr>
        </p:nvSpPr>
        <p:spPr/>
        <p:txBody>
          <a:bodyPr/>
          <a:lstStyle/>
          <a:p>
            <a:fld id="{4938FA0E-D8E2-48D1-8DFE-E3AAB1B1B2A4}" type="datetimeFigureOut">
              <a:rPr lang="x-none" smtClean="0"/>
              <a:t>6/10/2025</a:t>
            </a:fld>
            <a:endParaRPr lang="x-none"/>
          </a:p>
        </p:txBody>
      </p:sp>
      <p:sp>
        <p:nvSpPr>
          <p:cNvPr id="5" name="Footer Placeholder 4">
            <a:extLst>
              <a:ext uri="{FF2B5EF4-FFF2-40B4-BE49-F238E27FC236}">
                <a16:creationId xmlns:a16="http://schemas.microsoft.com/office/drawing/2014/main" xmlns="" id="{56B02398-05D5-4278-A90D-30AE6B2D6C07}"/>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3A8F6EFF-4B1E-431E-878A-2F576B7A6C96}"/>
              </a:ext>
            </a:extLst>
          </p:cNvPr>
          <p:cNvSpPr>
            <a:spLocks noGrp="1"/>
          </p:cNvSpPr>
          <p:nvPr>
            <p:ph type="sldNum" sz="quarter" idx="12"/>
          </p:nvPr>
        </p:nvSpPr>
        <p:spPr/>
        <p:txBody>
          <a:bodyPr/>
          <a:lstStyle/>
          <a:p>
            <a:fld id="{ED1EBE21-57CC-4989-BDE9-FD083794974C}" type="slidenum">
              <a:rPr lang="x-none" smtClean="0"/>
              <a:t>‹#›</a:t>
            </a:fld>
            <a:endParaRPr lang="x-none"/>
          </a:p>
        </p:txBody>
      </p:sp>
    </p:spTree>
    <p:extLst>
      <p:ext uri="{BB962C8B-B14F-4D97-AF65-F5344CB8AC3E}">
        <p14:creationId xmlns:p14="http://schemas.microsoft.com/office/powerpoint/2010/main" val="3864199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943414A4-F480-42B5-9FAA-412CEF6E7C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xmlns="" id="{9F28DF8C-4422-483F-AF55-C021A87490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84902F79-A77E-4652-B9D5-0D3DE75FF4F4}"/>
              </a:ext>
            </a:extLst>
          </p:cNvPr>
          <p:cNvSpPr>
            <a:spLocks noGrp="1"/>
          </p:cNvSpPr>
          <p:nvPr>
            <p:ph type="dt" sz="half" idx="10"/>
          </p:nvPr>
        </p:nvSpPr>
        <p:spPr/>
        <p:txBody>
          <a:bodyPr/>
          <a:lstStyle/>
          <a:p>
            <a:fld id="{4938FA0E-D8E2-48D1-8DFE-E3AAB1B1B2A4}" type="datetimeFigureOut">
              <a:rPr lang="x-none" smtClean="0"/>
              <a:t>6/10/2025</a:t>
            </a:fld>
            <a:endParaRPr lang="x-none"/>
          </a:p>
        </p:txBody>
      </p:sp>
      <p:sp>
        <p:nvSpPr>
          <p:cNvPr id="5" name="Footer Placeholder 4">
            <a:extLst>
              <a:ext uri="{FF2B5EF4-FFF2-40B4-BE49-F238E27FC236}">
                <a16:creationId xmlns:a16="http://schemas.microsoft.com/office/drawing/2014/main" xmlns="" id="{1170A003-1FB4-45C5-B9D3-97E3DB97C0FB}"/>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xmlns="" id="{1E2AF785-F234-4BEA-A82D-E37E117862C7}"/>
              </a:ext>
            </a:extLst>
          </p:cNvPr>
          <p:cNvSpPr>
            <a:spLocks noGrp="1"/>
          </p:cNvSpPr>
          <p:nvPr>
            <p:ph type="sldNum" sz="quarter" idx="12"/>
          </p:nvPr>
        </p:nvSpPr>
        <p:spPr/>
        <p:txBody>
          <a:bodyPr/>
          <a:lstStyle/>
          <a:p>
            <a:fld id="{ED1EBE21-57CC-4989-BDE9-FD083794974C}" type="slidenum">
              <a:rPr lang="x-none" smtClean="0"/>
              <a:t>‹#›</a:t>
            </a:fld>
            <a:endParaRPr lang="x-none"/>
          </a:p>
        </p:txBody>
      </p:sp>
    </p:spTree>
    <p:extLst>
      <p:ext uri="{BB962C8B-B14F-4D97-AF65-F5344CB8AC3E}">
        <p14:creationId xmlns:p14="http://schemas.microsoft.com/office/powerpoint/2010/main" val="817368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81E48952-DBBE-4C5C-8D77-F99B9A6CBC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a16="http://schemas.microsoft.com/office/drawing/2014/main" xmlns="" id="{F9821459-26C5-4334-ABEA-CB1A07F91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xmlns="" id="{E607AB21-83E4-42DB-BEFE-851AFD70F1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38FA0E-D8E2-48D1-8DFE-E3AAB1B1B2A4}" type="datetimeFigureOut">
              <a:rPr lang="x-none" smtClean="0"/>
              <a:t>6/10/2025</a:t>
            </a:fld>
            <a:endParaRPr lang="x-none"/>
          </a:p>
        </p:txBody>
      </p:sp>
      <p:sp>
        <p:nvSpPr>
          <p:cNvPr id="5" name="Footer Placeholder 4">
            <a:extLst>
              <a:ext uri="{FF2B5EF4-FFF2-40B4-BE49-F238E27FC236}">
                <a16:creationId xmlns:a16="http://schemas.microsoft.com/office/drawing/2014/main" xmlns="" id="{2C66FBA8-A9D9-46BB-A38A-015D07D136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xmlns="" id="{2577EE6B-7A20-43BF-8E7F-1133906CA8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1EBE21-57CC-4989-BDE9-FD083794974C}" type="slidenum">
              <a:rPr lang="x-none" smtClean="0"/>
              <a:t>‹#›</a:t>
            </a:fld>
            <a:endParaRPr lang="x-none"/>
          </a:p>
        </p:txBody>
      </p:sp>
    </p:spTree>
    <p:extLst>
      <p:ext uri="{BB962C8B-B14F-4D97-AF65-F5344CB8AC3E}">
        <p14:creationId xmlns:p14="http://schemas.microsoft.com/office/powerpoint/2010/main" val="3041390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7BC80E-F74D-4FB9-9B63-6ACC86097E14}"/>
              </a:ext>
            </a:extLst>
          </p:cNvPr>
          <p:cNvSpPr>
            <a:spLocks noGrp="1"/>
          </p:cNvSpPr>
          <p:nvPr>
            <p:ph type="ctrTitle"/>
          </p:nvPr>
        </p:nvSpPr>
        <p:spPr/>
        <p:txBody>
          <a:bodyPr/>
          <a:lstStyle/>
          <a:p>
            <a:r>
              <a:rPr lang="en-US" b="1" dirty="0">
                <a:latin typeface="Arial Black" panose="020B0A04020102020204" pitchFamily="34" charset="0"/>
              </a:rPr>
              <a:t>Critical Path Model</a:t>
            </a:r>
            <a:endParaRPr lang="x-none" b="1" dirty="0">
              <a:latin typeface="Arial Black" panose="020B0A04020102020204" pitchFamily="34" charset="0"/>
            </a:endParaRPr>
          </a:p>
        </p:txBody>
      </p:sp>
      <p:sp>
        <p:nvSpPr>
          <p:cNvPr id="3" name="Subtitle 2">
            <a:extLst>
              <a:ext uri="{FF2B5EF4-FFF2-40B4-BE49-F238E27FC236}">
                <a16:creationId xmlns:a16="http://schemas.microsoft.com/office/drawing/2014/main" xmlns="" id="{997C04ED-C58D-4168-8483-3709EF6D9F14}"/>
              </a:ext>
            </a:extLst>
          </p:cNvPr>
          <p:cNvSpPr>
            <a:spLocks noGrp="1"/>
          </p:cNvSpPr>
          <p:nvPr>
            <p:ph type="subTitle" idx="1"/>
          </p:nvPr>
        </p:nvSpPr>
        <p:spPr/>
        <p:txBody>
          <a:bodyPr>
            <a:normAutofit fontScale="77500" lnSpcReduction="20000"/>
          </a:bodyPr>
          <a:lstStyle/>
          <a:p>
            <a:r>
              <a:rPr lang="en-US" b="1" dirty="0"/>
              <a:t>Dr Uzair Iqbal Janjua</a:t>
            </a:r>
          </a:p>
          <a:p>
            <a:r>
              <a:rPr lang="en-US" b="1" dirty="0"/>
              <a:t>Associate Professor</a:t>
            </a:r>
          </a:p>
          <a:p>
            <a:r>
              <a:rPr lang="en-US" b="1" dirty="0"/>
              <a:t>Computer Science Department </a:t>
            </a:r>
          </a:p>
          <a:p>
            <a:r>
              <a:rPr lang="en-US" b="1" dirty="0"/>
              <a:t>CUI, Islamabad</a:t>
            </a:r>
          </a:p>
          <a:p>
            <a:r>
              <a:rPr lang="en-US" b="1" dirty="0"/>
              <a:t>uzair_Iqbal@comsats.edu.pk</a:t>
            </a:r>
            <a:endParaRPr lang="x-none" b="1" dirty="0"/>
          </a:p>
        </p:txBody>
      </p:sp>
    </p:spTree>
    <p:extLst>
      <p:ext uri="{BB962C8B-B14F-4D97-AF65-F5344CB8AC3E}">
        <p14:creationId xmlns:p14="http://schemas.microsoft.com/office/powerpoint/2010/main" val="2867647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p:txBody>
          <a:bodyPr/>
          <a:lstStyle/>
          <a:p>
            <a:pPr algn="just"/>
            <a:r>
              <a:rPr lang="en-US" dirty="0"/>
              <a:t>Network diagrams are the preferred technique for showing activity sequencing</a:t>
            </a:r>
          </a:p>
          <a:p>
            <a:pPr algn="just"/>
            <a:r>
              <a:rPr lang="en-US" dirty="0"/>
              <a:t>A </a:t>
            </a:r>
            <a:r>
              <a:rPr lang="en-US" b="1" dirty="0"/>
              <a:t>network diagram</a:t>
            </a:r>
            <a:r>
              <a:rPr lang="en-US" dirty="0"/>
              <a:t> is a schematic display of the logical relationships among, or sequencing of, project activities</a:t>
            </a:r>
          </a:p>
          <a:p>
            <a:pPr algn="just"/>
            <a:r>
              <a:rPr lang="en-US" dirty="0"/>
              <a:t>Two main formats are the arrow and precedence diagramming methods</a:t>
            </a:r>
          </a:p>
        </p:txBody>
      </p:sp>
      <p:sp>
        <p:nvSpPr>
          <p:cNvPr id="22530" name="Rectangle 2"/>
          <p:cNvSpPr>
            <a:spLocks noGrp="1" noChangeArrowheads="1"/>
          </p:cNvSpPr>
          <p:nvPr>
            <p:ph type="title"/>
          </p:nvPr>
        </p:nvSpPr>
        <p:spPr>
          <a:xfrm>
            <a:off x="1905000" y="274638"/>
            <a:ext cx="8305800" cy="868362"/>
          </a:xfrm>
        </p:spPr>
        <p:txBody>
          <a:bodyPr/>
          <a:lstStyle/>
          <a:p>
            <a:r>
              <a:rPr lang="en-US" dirty="0"/>
              <a:t>Network Diagrams</a:t>
            </a:r>
          </a:p>
        </p:txBody>
      </p:sp>
      <p:sp>
        <p:nvSpPr>
          <p:cNvPr id="6" name="Slide Number Placeholder 5"/>
          <p:cNvSpPr>
            <a:spLocks noGrp="1"/>
          </p:cNvSpPr>
          <p:nvPr>
            <p:ph type="sldNum" sz="quarter" idx="11"/>
          </p:nvPr>
        </p:nvSpPr>
        <p:spPr/>
        <p:txBody>
          <a:bodyPr/>
          <a:lstStyle/>
          <a:p>
            <a:pPr>
              <a:defRPr/>
            </a:pPr>
            <a:fld id="{F9398F04-7328-4D9A-BC8C-7399E9F9A343}"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xmlns="" id="{C5B1B089-F841-048F-569B-EDE27EC39576}"/>
              </a:ext>
            </a:extLst>
          </p:cNvPr>
          <p:cNvGraphicFramePr>
            <a:graphicFrameLocks noGrp="1"/>
          </p:cNvGraphicFramePr>
          <p:nvPr>
            <p:extLst>
              <p:ext uri="{D42A27DB-BD31-4B8C-83A1-F6EECF244321}">
                <p14:modId xmlns:p14="http://schemas.microsoft.com/office/powerpoint/2010/main" val="4180925695"/>
              </p:ext>
            </p:extLst>
          </p:nvPr>
        </p:nvGraphicFramePr>
        <p:xfrm>
          <a:off x="2032000" y="719666"/>
          <a:ext cx="8127999" cy="37490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xmlns="" val="4018384010"/>
                    </a:ext>
                  </a:extLst>
                </a:gridCol>
                <a:gridCol w="2709333">
                  <a:extLst>
                    <a:ext uri="{9D8B030D-6E8A-4147-A177-3AD203B41FA5}">
                      <a16:colId xmlns:a16="http://schemas.microsoft.com/office/drawing/2014/main" xmlns="" val="2982967055"/>
                    </a:ext>
                  </a:extLst>
                </a:gridCol>
                <a:gridCol w="2709333">
                  <a:extLst>
                    <a:ext uri="{9D8B030D-6E8A-4147-A177-3AD203B41FA5}">
                      <a16:colId xmlns:a16="http://schemas.microsoft.com/office/drawing/2014/main" xmlns="" val="2197023868"/>
                    </a:ext>
                  </a:extLst>
                </a:gridCol>
              </a:tblGrid>
              <a:tr h="370840">
                <a:tc>
                  <a:txBody>
                    <a:bodyPr/>
                    <a:lstStyle/>
                    <a:p>
                      <a:r>
                        <a:rPr lang="en-US" sz="3600" dirty="0"/>
                        <a:t>Activity</a:t>
                      </a:r>
                    </a:p>
                  </a:txBody>
                  <a:tcPr/>
                </a:tc>
                <a:tc>
                  <a:txBody>
                    <a:bodyPr/>
                    <a:lstStyle/>
                    <a:p>
                      <a:r>
                        <a:rPr lang="en-US" sz="3600" dirty="0"/>
                        <a:t>Duration</a:t>
                      </a:r>
                    </a:p>
                  </a:txBody>
                  <a:tcPr/>
                </a:tc>
                <a:tc>
                  <a:txBody>
                    <a:bodyPr/>
                    <a:lstStyle/>
                    <a:p>
                      <a:r>
                        <a:rPr lang="en-US" sz="3600" dirty="0"/>
                        <a:t>Predecessor</a:t>
                      </a:r>
                    </a:p>
                  </a:txBody>
                  <a:tcPr/>
                </a:tc>
                <a:extLst>
                  <a:ext uri="{0D108BD9-81ED-4DB2-BD59-A6C34878D82A}">
                    <a16:rowId xmlns:a16="http://schemas.microsoft.com/office/drawing/2014/main" xmlns="" val="2296443568"/>
                  </a:ext>
                </a:extLst>
              </a:tr>
              <a:tr h="370840">
                <a:tc>
                  <a:txBody>
                    <a:bodyPr/>
                    <a:lstStyle/>
                    <a:p>
                      <a:r>
                        <a:rPr lang="en-US" sz="3600" dirty="0"/>
                        <a:t>A</a:t>
                      </a:r>
                    </a:p>
                  </a:txBody>
                  <a:tcPr/>
                </a:tc>
                <a:tc>
                  <a:txBody>
                    <a:bodyPr/>
                    <a:lstStyle/>
                    <a:p>
                      <a:r>
                        <a:rPr lang="en-US" sz="3600" dirty="0"/>
                        <a:t>5</a:t>
                      </a:r>
                    </a:p>
                  </a:txBody>
                  <a:tcPr/>
                </a:tc>
                <a:tc>
                  <a:txBody>
                    <a:bodyPr/>
                    <a:lstStyle/>
                    <a:p>
                      <a:r>
                        <a:rPr lang="en-US" sz="3600" dirty="0" smtClean="0"/>
                        <a:t>None</a:t>
                      </a:r>
                      <a:endParaRPr lang="en-US" sz="3600" dirty="0"/>
                    </a:p>
                  </a:txBody>
                  <a:tcPr/>
                </a:tc>
                <a:extLst>
                  <a:ext uri="{0D108BD9-81ED-4DB2-BD59-A6C34878D82A}">
                    <a16:rowId xmlns:a16="http://schemas.microsoft.com/office/drawing/2014/main" xmlns="" val="2559112736"/>
                  </a:ext>
                </a:extLst>
              </a:tr>
              <a:tr h="370840">
                <a:tc>
                  <a:txBody>
                    <a:bodyPr/>
                    <a:lstStyle/>
                    <a:p>
                      <a:r>
                        <a:rPr lang="en-US" sz="3600" dirty="0"/>
                        <a:t>B</a:t>
                      </a:r>
                    </a:p>
                  </a:txBody>
                  <a:tcPr/>
                </a:tc>
                <a:tc>
                  <a:txBody>
                    <a:bodyPr/>
                    <a:lstStyle/>
                    <a:p>
                      <a:r>
                        <a:rPr lang="en-US" sz="3600" dirty="0"/>
                        <a:t>5</a:t>
                      </a:r>
                    </a:p>
                  </a:txBody>
                  <a:tcPr/>
                </a:tc>
                <a:tc>
                  <a:txBody>
                    <a:bodyPr/>
                    <a:lstStyle/>
                    <a:p>
                      <a:r>
                        <a:rPr lang="en-US" sz="3600" dirty="0"/>
                        <a:t>A</a:t>
                      </a:r>
                    </a:p>
                  </a:txBody>
                  <a:tcPr/>
                </a:tc>
                <a:extLst>
                  <a:ext uri="{0D108BD9-81ED-4DB2-BD59-A6C34878D82A}">
                    <a16:rowId xmlns:a16="http://schemas.microsoft.com/office/drawing/2014/main" xmlns="" val="3828295784"/>
                  </a:ext>
                </a:extLst>
              </a:tr>
              <a:tr h="370840">
                <a:tc>
                  <a:txBody>
                    <a:bodyPr/>
                    <a:lstStyle/>
                    <a:p>
                      <a:r>
                        <a:rPr lang="en-US" sz="3600" dirty="0"/>
                        <a:t>C</a:t>
                      </a:r>
                    </a:p>
                  </a:txBody>
                  <a:tcPr/>
                </a:tc>
                <a:tc>
                  <a:txBody>
                    <a:bodyPr/>
                    <a:lstStyle/>
                    <a:p>
                      <a:r>
                        <a:rPr lang="en-US" sz="3600" dirty="0"/>
                        <a:t>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smtClean="0"/>
                        <a:t>A</a:t>
                      </a:r>
                      <a:endParaRPr lang="en-US" sz="3600" dirty="0"/>
                    </a:p>
                  </a:txBody>
                  <a:tcPr/>
                </a:tc>
                <a:extLst>
                  <a:ext uri="{0D108BD9-81ED-4DB2-BD59-A6C34878D82A}">
                    <a16:rowId xmlns:a16="http://schemas.microsoft.com/office/drawing/2014/main" xmlns="" val="802656237"/>
                  </a:ext>
                </a:extLst>
              </a:tr>
              <a:tr h="370840">
                <a:tc>
                  <a:txBody>
                    <a:bodyPr/>
                    <a:lstStyle/>
                    <a:p>
                      <a:r>
                        <a:rPr lang="en-US" sz="3600" dirty="0"/>
                        <a:t>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15</a:t>
                      </a:r>
                    </a:p>
                    <a:p>
                      <a:endParaRPr lang="en-US" sz="3600" dirty="0"/>
                    </a:p>
                  </a:txBody>
                  <a:tcPr/>
                </a:tc>
                <a:tc>
                  <a:txBody>
                    <a:bodyPr/>
                    <a:lstStyle/>
                    <a:p>
                      <a:r>
                        <a:rPr lang="en-US" sz="3600" dirty="0" smtClean="0"/>
                        <a:t>B,C</a:t>
                      </a:r>
                      <a:endParaRPr lang="en-US" sz="3600" dirty="0"/>
                    </a:p>
                  </a:txBody>
                  <a:tcPr/>
                </a:tc>
                <a:extLst>
                  <a:ext uri="{0D108BD9-81ED-4DB2-BD59-A6C34878D82A}">
                    <a16:rowId xmlns:a16="http://schemas.microsoft.com/office/drawing/2014/main" xmlns="" val="3142639397"/>
                  </a:ext>
                </a:extLst>
              </a:tr>
            </a:tbl>
          </a:graphicData>
        </a:graphic>
      </p:graphicFrame>
      <p:sp>
        <p:nvSpPr>
          <p:cNvPr id="5" name="TextBox 4">
            <a:extLst>
              <a:ext uri="{FF2B5EF4-FFF2-40B4-BE49-F238E27FC236}">
                <a16:creationId xmlns:a16="http://schemas.microsoft.com/office/drawing/2014/main" xmlns="" id="{A4587421-0434-E29C-9816-90AF75311455}"/>
              </a:ext>
            </a:extLst>
          </p:cNvPr>
          <p:cNvSpPr txBox="1"/>
          <p:nvPr/>
        </p:nvSpPr>
        <p:spPr>
          <a:xfrm>
            <a:off x="3364089" y="5136444"/>
            <a:ext cx="5215467" cy="923330"/>
          </a:xfrm>
          <a:prstGeom prst="rect">
            <a:avLst/>
          </a:prstGeom>
          <a:noFill/>
        </p:spPr>
        <p:txBody>
          <a:bodyPr wrap="square" rtlCol="0">
            <a:spAutoFit/>
          </a:bodyPr>
          <a:lstStyle/>
          <a:p>
            <a:r>
              <a:rPr lang="en-US" dirty="0"/>
              <a:t>Suppose the project is starting from 1</a:t>
            </a:r>
            <a:r>
              <a:rPr lang="en-US" baseline="30000" dirty="0"/>
              <a:t>st</a:t>
            </a:r>
            <a:r>
              <a:rPr lang="en-US" dirty="0"/>
              <a:t> of the March. If Date has not been given, then usually we start it from 1.</a:t>
            </a:r>
          </a:p>
        </p:txBody>
      </p:sp>
    </p:spTree>
    <p:extLst>
      <p:ext uri="{BB962C8B-B14F-4D97-AF65-F5344CB8AC3E}">
        <p14:creationId xmlns:p14="http://schemas.microsoft.com/office/powerpoint/2010/main" val="106648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solved Example </a:t>
            </a:r>
          </a:p>
        </p:txBody>
      </p:sp>
      <p:sp>
        <p:nvSpPr>
          <p:cNvPr id="3" name="Content Placeholder 2"/>
          <p:cNvSpPr>
            <a:spLocks noGrp="1"/>
          </p:cNvSpPr>
          <p:nvPr>
            <p:ph idx="1"/>
          </p:nvPr>
        </p:nvSpPr>
        <p:spPr/>
        <p:txBody>
          <a:bodyPr>
            <a:normAutofit lnSpcReduction="10000"/>
          </a:bodyPr>
          <a:lstStyle/>
          <a:p>
            <a:pPr algn="just"/>
            <a:r>
              <a:rPr lang="en-US" dirty="0"/>
              <a:t>Schedule network analysis</a:t>
            </a:r>
          </a:p>
          <a:p>
            <a:pPr algn="just"/>
            <a:r>
              <a:rPr lang="en-US" dirty="0"/>
              <a:t>Critical path method</a:t>
            </a:r>
          </a:p>
          <a:p>
            <a:pPr lvl="1" algn="just"/>
            <a:r>
              <a:rPr lang="en-US" dirty="0"/>
              <a:t>Estimate the minimum project duration and determine the amount of scheduling ﬂexibility on the logical network paths within the schedule model</a:t>
            </a:r>
          </a:p>
          <a:p>
            <a:pPr lvl="1" algn="just"/>
            <a:r>
              <a:rPr lang="en-US" dirty="0"/>
              <a:t>Calculates the early start, early finish, late start, and late finish dates for all activities</a:t>
            </a:r>
          </a:p>
          <a:p>
            <a:pPr lvl="1" algn="just"/>
            <a:r>
              <a:rPr lang="en-US" dirty="0"/>
              <a:t>The longest path is the critical path</a:t>
            </a:r>
          </a:p>
          <a:p>
            <a:pPr lvl="1" algn="just"/>
            <a:r>
              <a:rPr lang="en-US" dirty="0"/>
              <a:t>The shortest possible project duration</a:t>
            </a:r>
          </a:p>
          <a:p>
            <a:pPr lvl="1" algn="just"/>
            <a:r>
              <a:rPr lang="en-US" dirty="0"/>
              <a:t>Critical path is normally characterized by zero total ﬂoat</a:t>
            </a:r>
          </a:p>
          <a:p>
            <a:pPr lvl="1" algn="just"/>
            <a:r>
              <a:rPr lang="en-US" dirty="0"/>
              <a:t> Activity on the critical path: critical path activity</a:t>
            </a:r>
          </a:p>
          <a:p>
            <a:pPr lvl="1" algn="just"/>
            <a:r>
              <a:rPr lang="en-US" dirty="0"/>
              <a:t>Free float: free time that an activity can be delayed </a:t>
            </a:r>
          </a:p>
          <a:p>
            <a:pPr marL="457200" lvl="1" indent="0" algn="just">
              <a:buNone/>
            </a:pPr>
            <a:r>
              <a:rPr lang="en-US" dirty="0"/>
              <a:t>     without delaying the early start date of any successor</a:t>
            </a:r>
          </a:p>
          <a:p>
            <a:pPr lvl="1" algn="just"/>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4</a:t>
            </a:fld>
            <a:endParaRPr lang="en-US"/>
          </a:p>
        </p:txBody>
      </p:sp>
      <p:pic>
        <p:nvPicPr>
          <p:cNvPr id="5" name="Picture 4"/>
          <p:cNvPicPr>
            <a:picLocks noChangeAspect="1"/>
          </p:cNvPicPr>
          <p:nvPr/>
        </p:nvPicPr>
        <p:blipFill>
          <a:blip r:embed="rId2"/>
          <a:stretch>
            <a:fillRect/>
          </a:stretch>
        </p:blipFill>
        <p:spPr>
          <a:xfrm>
            <a:off x="484909" y="1500465"/>
            <a:ext cx="10868891" cy="4766192"/>
          </a:xfrm>
          <a:prstGeom prst="rect">
            <a:avLst/>
          </a:prstGeom>
        </p:spPr>
      </p:pic>
      <p:sp>
        <p:nvSpPr>
          <p:cNvPr id="6" name="TextBox 5"/>
          <p:cNvSpPr txBox="1"/>
          <p:nvPr/>
        </p:nvSpPr>
        <p:spPr>
          <a:xfrm>
            <a:off x="225287" y="6515792"/>
            <a:ext cx="3576620" cy="246221"/>
          </a:xfrm>
          <a:prstGeom prst="rect">
            <a:avLst/>
          </a:prstGeom>
          <a:noFill/>
        </p:spPr>
        <p:txBody>
          <a:bodyPr wrap="none" rtlCol="0">
            <a:spAutoFit/>
          </a:bodyPr>
          <a:lstStyle/>
          <a:p>
            <a:r>
              <a:rPr lang="en-US" sz="1000" dirty="0"/>
              <a:t>Figure source: PMBOK® Guide – Fifth Edition, PMI, 2013, pp.  177</a:t>
            </a:r>
          </a:p>
        </p:txBody>
      </p:sp>
    </p:spTree>
    <p:extLst>
      <p:ext uri="{BB962C8B-B14F-4D97-AF65-F5344CB8AC3E}">
        <p14:creationId xmlns:p14="http://schemas.microsoft.com/office/powerpoint/2010/main" val="1590619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additive="base">
                                        <p:cTn id="49" dur="500" fill="hold"/>
                                        <p:tgtEl>
                                          <p:spTgt spid="5"/>
                                        </p:tgtEl>
                                        <p:attrNameLst>
                                          <p:attrName>ppt_x</p:attrName>
                                        </p:attrNameLst>
                                      </p:cBhvr>
                                      <p:tavLst>
                                        <p:tav tm="0">
                                          <p:val>
                                            <p:strVal val="#ppt_x"/>
                                          </p:val>
                                        </p:tav>
                                        <p:tav tm="100000">
                                          <p:val>
                                            <p:strVal val="#ppt_x"/>
                                          </p:val>
                                        </p:tav>
                                      </p:tavLst>
                                    </p:anim>
                                    <p:anim calcmode="lin" valueType="num">
                                      <p:cBhvr additive="base">
                                        <p:cTn id="5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610350-4E9D-4856-8BD1-CB2A00293336}"/>
              </a:ext>
            </a:extLst>
          </p:cNvPr>
          <p:cNvSpPr>
            <a:spLocks noGrp="1"/>
          </p:cNvSpPr>
          <p:nvPr>
            <p:ph type="title"/>
          </p:nvPr>
        </p:nvSpPr>
        <p:spPr>
          <a:xfrm>
            <a:off x="838200" y="697584"/>
            <a:ext cx="10515600" cy="993104"/>
          </a:xfrm>
        </p:spPr>
        <p:txBody>
          <a:bodyPr>
            <a:normAutofit fontScale="90000"/>
          </a:bodyPr>
          <a:lstStyle/>
          <a:p>
            <a:r>
              <a:rPr lang="en-US" b="1" dirty="0"/>
              <a:t>Critical Path</a:t>
            </a:r>
            <a:r>
              <a:rPr lang="x-none" dirty="0"/>
              <a:t/>
            </a:r>
            <a:br>
              <a:rPr lang="x-none" dirty="0"/>
            </a:br>
            <a:endParaRPr lang="x-none" dirty="0"/>
          </a:p>
        </p:txBody>
      </p:sp>
      <p:sp>
        <p:nvSpPr>
          <p:cNvPr id="3" name="Content Placeholder 2">
            <a:extLst>
              <a:ext uri="{FF2B5EF4-FFF2-40B4-BE49-F238E27FC236}">
                <a16:creationId xmlns:a16="http://schemas.microsoft.com/office/drawing/2014/main" xmlns="" id="{BE6C256B-AA43-42E4-860B-3086A47C3BEC}"/>
              </a:ext>
            </a:extLst>
          </p:cNvPr>
          <p:cNvSpPr>
            <a:spLocks noGrp="1"/>
          </p:cNvSpPr>
          <p:nvPr>
            <p:ph idx="1"/>
          </p:nvPr>
        </p:nvSpPr>
        <p:spPr>
          <a:xfrm>
            <a:off x="575035" y="1593410"/>
            <a:ext cx="11067068" cy="4826243"/>
          </a:xfrm>
        </p:spPr>
        <p:txBody>
          <a:bodyPr>
            <a:normAutofit/>
          </a:bodyPr>
          <a:lstStyle/>
          <a:p>
            <a:pPr algn="just"/>
            <a:r>
              <a:rPr lang="en-US" dirty="0"/>
              <a:t>If you look at any network diagram, you will notice many paths originating from one point and ending at another point. </a:t>
            </a:r>
          </a:p>
          <a:p>
            <a:pPr algn="just"/>
            <a:r>
              <a:rPr lang="en-US" dirty="0"/>
              <a:t>Every path will have some duration. The path with the longest duration is known as the critical path.</a:t>
            </a:r>
            <a:endParaRPr lang="x-none" dirty="0"/>
          </a:p>
          <a:p>
            <a:pPr algn="just"/>
            <a:r>
              <a:rPr lang="en-US" dirty="0"/>
              <a:t>The critical path can be defined in many ways including:</a:t>
            </a:r>
            <a:endParaRPr lang="x-none" dirty="0"/>
          </a:p>
          <a:p>
            <a:pPr marL="0" lvl="0" indent="0" algn="ctr">
              <a:buNone/>
            </a:pPr>
            <a:endParaRPr lang="en-US" dirty="0"/>
          </a:p>
          <a:p>
            <a:pPr marL="0" lvl="0" indent="0" algn="ctr">
              <a:buNone/>
            </a:pPr>
            <a:r>
              <a:rPr lang="en-US" b="1" i="1" dirty="0">
                <a:solidFill>
                  <a:srgbClr val="0070C0"/>
                </a:solidFill>
                <a:latin typeface="Arial Black" panose="020B0A04020102020204" pitchFamily="34" charset="0"/>
              </a:rPr>
              <a:t>The longest path in the network diagram, </a:t>
            </a:r>
          </a:p>
          <a:p>
            <a:pPr marL="0" lvl="0" indent="0" algn="ctr">
              <a:buNone/>
            </a:pPr>
            <a:r>
              <a:rPr lang="en-US" dirty="0">
                <a:solidFill>
                  <a:schemeClr val="accent1"/>
                </a:solidFill>
              </a:rPr>
              <a:t>or</a:t>
            </a:r>
            <a:endParaRPr lang="x-none" dirty="0">
              <a:solidFill>
                <a:schemeClr val="accent1"/>
              </a:solidFill>
            </a:endParaRPr>
          </a:p>
          <a:p>
            <a:pPr marL="0" lvl="0" indent="0" algn="ctr">
              <a:buNone/>
            </a:pPr>
            <a:r>
              <a:rPr lang="en-US" b="1" i="1" dirty="0">
                <a:solidFill>
                  <a:schemeClr val="accent4"/>
                </a:solidFill>
                <a:latin typeface="Arial Black" panose="020B0A04020102020204" pitchFamily="34" charset="0"/>
              </a:rPr>
              <a:t>The shortest duration in which the project can be completed.</a:t>
            </a:r>
            <a:endParaRPr lang="x-none" b="1" i="1" dirty="0">
              <a:solidFill>
                <a:schemeClr val="accent4"/>
              </a:solidFill>
              <a:latin typeface="Arial Black" panose="020B0A04020102020204" pitchFamily="34" charset="0"/>
            </a:endParaRPr>
          </a:p>
        </p:txBody>
      </p:sp>
    </p:spTree>
    <p:extLst>
      <p:ext uri="{BB962C8B-B14F-4D97-AF65-F5344CB8AC3E}">
        <p14:creationId xmlns:p14="http://schemas.microsoft.com/office/powerpoint/2010/main" val="2862038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1F3685-1320-4204-9BFB-7A55D0504FAF}"/>
              </a:ext>
            </a:extLst>
          </p:cNvPr>
          <p:cNvSpPr>
            <a:spLocks noGrp="1"/>
          </p:cNvSpPr>
          <p:nvPr>
            <p:ph type="title"/>
          </p:nvPr>
        </p:nvSpPr>
        <p:spPr>
          <a:xfrm>
            <a:off x="838200" y="681037"/>
            <a:ext cx="10515600" cy="1009651"/>
          </a:xfrm>
        </p:spPr>
        <p:txBody>
          <a:bodyPr>
            <a:normAutofit fontScale="90000"/>
          </a:bodyPr>
          <a:lstStyle/>
          <a:p>
            <a:r>
              <a:rPr lang="en-US" b="1" dirty="0"/>
              <a:t>…Critical Path</a:t>
            </a:r>
            <a:r>
              <a:rPr lang="x-none" dirty="0"/>
              <a:t/>
            </a:r>
            <a:br>
              <a:rPr lang="x-none" dirty="0"/>
            </a:br>
            <a:endParaRPr lang="x-none" dirty="0"/>
          </a:p>
        </p:txBody>
      </p:sp>
      <p:sp>
        <p:nvSpPr>
          <p:cNvPr id="3" name="Content Placeholder 2">
            <a:extLst>
              <a:ext uri="{FF2B5EF4-FFF2-40B4-BE49-F238E27FC236}">
                <a16:creationId xmlns:a16="http://schemas.microsoft.com/office/drawing/2014/main" xmlns="" id="{165D5752-1F37-4F2C-8C04-61EB21E34315}"/>
              </a:ext>
            </a:extLst>
          </p:cNvPr>
          <p:cNvSpPr>
            <a:spLocks noGrp="1"/>
          </p:cNvSpPr>
          <p:nvPr>
            <p:ph idx="1"/>
          </p:nvPr>
        </p:nvSpPr>
        <p:spPr>
          <a:xfrm>
            <a:off x="838199" y="1825625"/>
            <a:ext cx="10709635" cy="4351338"/>
          </a:xfrm>
        </p:spPr>
        <p:txBody>
          <a:bodyPr>
            <a:normAutofit/>
          </a:bodyPr>
          <a:lstStyle/>
          <a:p>
            <a:pPr marL="0" indent="0" algn="just">
              <a:buNone/>
            </a:pPr>
            <a:r>
              <a:rPr lang="en-US" dirty="0"/>
              <a:t>Q. </a:t>
            </a:r>
            <a:r>
              <a:rPr lang="en-US" dirty="0">
                <a:sym typeface="Wingdings" panose="05000000000000000000" pitchFamily="2" charset="2"/>
              </a:rPr>
              <a:t></a:t>
            </a:r>
            <a:r>
              <a:rPr lang="en-US" dirty="0"/>
              <a:t>Now, are these two definitions similar, or opposite to each other?</a:t>
            </a:r>
          </a:p>
          <a:p>
            <a:pPr marL="0" indent="0">
              <a:buNone/>
            </a:pPr>
            <a:r>
              <a:rPr lang="en-US" dirty="0">
                <a:solidFill>
                  <a:schemeClr val="accent4"/>
                </a:solidFill>
              </a:rPr>
              <a:t>Ans </a:t>
            </a:r>
            <a:r>
              <a:rPr lang="en-US" dirty="0">
                <a:solidFill>
                  <a:schemeClr val="accent4"/>
                </a:solidFill>
                <a:sym typeface="Wingdings" panose="05000000000000000000" pitchFamily="2" charset="2"/>
              </a:rPr>
              <a:t> </a:t>
            </a:r>
            <a:r>
              <a:rPr lang="en-US" dirty="0">
                <a:solidFill>
                  <a:schemeClr val="accent4"/>
                </a:solidFill>
              </a:rPr>
              <a:t>Yes both are the same</a:t>
            </a:r>
            <a:r>
              <a:rPr lang="x-none" dirty="0"/>
              <a:t/>
            </a:r>
            <a:br>
              <a:rPr lang="x-none" dirty="0"/>
            </a:br>
            <a:endParaRPr lang="en-US" dirty="0"/>
          </a:p>
          <a:p>
            <a:pPr algn="just"/>
            <a:r>
              <a:rPr lang="en-US" dirty="0"/>
              <a:t>For example, let’s say you received a project to build three buildings in one location. The first building is the largest building, the second building is a medium-sized building, and the third building is the smallest building.</a:t>
            </a:r>
            <a:endParaRPr lang="x-none" dirty="0"/>
          </a:p>
          <a:p>
            <a:pPr algn="just"/>
            <a:r>
              <a:rPr lang="en-US" dirty="0"/>
              <a:t>You develop the network diagram which consists of three paths; each path resembles each building.</a:t>
            </a:r>
            <a:endParaRPr lang="x-none" dirty="0"/>
          </a:p>
          <a:p>
            <a:pPr marL="0" indent="0" algn="just">
              <a:buNone/>
            </a:pPr>
            <a:endParaRPr lang="x-none" dirty="0"/>
          </a:p>
        </p:txBody>
      </p:sp>
    </p:spTree>
    <p:extLst>
      <p:ext uri="{BB962C8B-B14F-4D97-AF65-F5344CB8AC3E}">
        <p14:creationId xmlns:p14="http://schemas.microsoft.com/office/powerpoint/2010/main" val="2071532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pm diagram for blog post">
            <a:extLst>
              <a:ext uri="{FF2B5EF4-FFF2-40B4-BE49-F238E27FC236}">
                <a16:creationId xmlns:a16="http://schemas.microsoft.com/office/drawing/2014/main" xmlns="" id="{C29CABF7-DEDB-4D3F-831D-B5BAFC59A71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92228" y="1885361"/>
            <a:ext cx="11462993" cy="4752975"/>
          </a:xfrm>
          <a:prstGeom prst="rect">
            <a:avLst/>
          </a:prstGeom>
          <a:noFill/>
          <a:ln>
            <a:noFill/>
          </a:ln>
        </p:spPr>
      </p:pic>
      <p:sp>
        <p:nvSpPr>
          <p:cNvPr id="3" name="Content Placeholder 2">
            <a:extLst>
              <a:ext uri="{FF2B5EF4-FFF2-40B4-BE49-F238E27FC236}">
                <a16:creationId xmlns:a16="http://schemas.microsoft.com/office/drawing/2014/main" xmlns="" id="{58AD589F-1173-4E58-AB12-A61393690FE6}"/>
              </a:ext>
            </a:extLst>
          </p:cNvPr>
          <p:cNvSpPr>
            <a:spLocks noGrp="1"/>
          </p:cNvSpPr>
          <p:nvPr>
            <p:ph idx="1"/>
          </p:nvPr>
        </p:nvSpPr>
        <p:spPr>
          <a:xfrm>
            <a:off x="339365" y="1348033"/>
            <a:ext cx="11462994" cy="5137608"/>
          </a:xfrm>
        </p:spPr>
        <p:txBody>
          <a:bodyPr>
            <a:normAutofit/>
          </a:bodyPr>
          <a:lstStyle/>
          <a:p>
            <a:pPr algn="just"/>
            <a:r>
              <a:rPr lang="en-US" sz="3200" dirty="0"/>
              <a:t>The first path represents the largest building; the second path represents the medium-sized building, and the third path, the smallest building.</a:t>
            </a:r>
            <a:endParaRPr lang="x-none" sz="3200" dirty="0"/>
          </a:p>
        </p:txBody>
      </p:sp>
      <p:sp>
        <p:nvSpPr>
          <p:cNvPr id="5" name="Title 1">
            <a:extLst>
              <a:ext uri="{FF2B5EF4-FFF2-40B4-BE49-F238E27FC236}">
                <a16:creationId xmlns:a16="http://schemas.microsoft.com/office/drawing/2014/main" xmlns="" id="{121D88A6-14C8-48BC-B346-B49E5755FE19}"/>
              </a:ext>
            </a:extLst>
          </p:cNvPr>
          <p:cNvSpPr>
            <a:spLocks noGrp="1"/>
          </p:cNvSpPr>
          <p:nvPr>
            <p:ph type="title"/>
          </p:nvPr>
        </p:nvSpPr>
        <p:spPr>
          <a:xfrm>
            <a:off x="838200" y="681037"/>
            <a:ext cx="10515600" cy="1009651"/>
          </a:xfrm>
        </p:spPr>
        <p:txBody>
          <a:bodyPr>
            <a:normAutofit fontScale="90000"/>
          </a:bodyPr>
          <a:lstStyle/>
          <a:p>
            <a:r>
              <a:rPr lang="en-US" b="1" dirty="0"/>
              <a:t>Critical Path</a:t>
            </a:r>
            <a:r>
              <a:rPr lang="x-none" dirty="0"/>
              <a:t/>
            </a:r>
            <a:br>
              <a:rPr lang="x-none" dirty="0"/>
            </a:br>
            <a:endParaRPr lang="x-none" dirty="0"/>
          </a:p>
        </p:txBody>
      </p:sp>
    </p:spTree>
    <p:extLst>
      <p:ext uri="{BB962C8B-B14F-4D97-AF65-F5344CB8AC3E}">
        <p14:creationId xmlns:p14="http://schemas.microsoft.com/office/powerpoint/2010/main" val="3788312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8AD589F-1173-4E58-AB12-A61393690FE6}"/>
              </a:ext>
            </a:extLst>
          </p:cNvPr>
          <p:cNvSpPr>
            <a:spLocks noGrp="1"/>
          </p:cNvSpPr>
          <p:nvPr>
            <p:ph idx="1"/>
          </p:nvPr>
        </p:nvSpPr>
        <p:spPr>
          <a:xfrm>
            <a:off x="339365" y="1348033"/>
            <a:ext cx="11462994" cy="5137608"/>
          </a:xfrm>
        </p:spPr>
        <p:txBody>
          <a:bodyPr>
            <a:normAutofit/>
          </a:bodyPr>
          <a:lstStyle/>
          <a:p>
            <a:pPr algn="just"/>
            <a:r>
              <a:rPr lang="en-US" sz="3600" b="1" dirty="0"/>
              <a:t>Float </a:t>
            </a:r>
          </a:p>
          <a:p>
            <a:pPr algn="just"/>
            <a:r>
              <a:rPr lang="en-US" sz="3200" dirty="0"/>
              <a:t>Did you notice that the path for the first building is the longest duration of all three?</a:t>
            </a:r>
          </a:p>
          <a:p>
            <a:pPr algn="just"/>
            <a:r>
              <a:rPr lang="en-US" sz="3200" dirty="0"/>
              <a:t> It is thirteen months longer than the second path, and 18 months longer than the third path. </a:t>
            </a:r>
          </a:p>
          <a:p>
            <a:pPr algn="just"/>
            <a:r>
              <a:rPr lang="en-US" sz="3200" dirty="0"/>
              <a:t>This means that you can wait 13 months before working on the second building if you start working on the first building because you can complete the second building in 18 months.</a:t>
            </a:r>
            <a:endParaRPr lang="x-none" sz="3200" dirty="0"/>
          </a:p>
          <a:p>
            <a:pPr algn="just"/>
            <a:endParaRPr lang="x-none" sz="3600" b="1" dirty="0"/>
          </a:p>
        </p:txBody>
      </p:sp>
      <p:sp>
        <p:nvSpPr>
          <p:cNvPr id="5" name="Title 1">
            <a:extLst>
              <a:ext uri="{FF2B5EF4-FFF2-40B4-BE49-F238E27FC236}">
                <a16:creationId xmlns:a16="http://schemas.microsoft.com/office/drawing/2014/main" xmlns="" id="{121D88A6-14C8-48BC-B346-B49E5755FE19}"/>
              </a:ext>
            </a:extLst>
          </p:cNvPr>
          <p:cNvSpPr>
            <a:spLocks noGrp="1"/>
          </p:cNvSpPr>
          <p:nvPr>
            <p:ph type="title"/>
          </p:nvPr>
        </p:nvSpPr>
        <p:spPr>
          <a:xfrm>
            <a:off x="838200" y="681037"/>
            <a:ext cx="10515600" cy="1009651"/>
          </a:xfrm>
        </p:spPr>
        <p:txBody>
          <a:bodyPr>
            <a:normAutofit fontScale="90000"/>
          </a:bodyPr>
          <a:lstStyle/>
          <a:p>
            <a:r>
              <a:rPr lang="en-US" b="1" dirty="0"/>
              <a:t>…Critical Path</a:t>
            </a:r>
            <a:r>
              <a:rPr lang="x-none" dirty="0"/>
              <a:t/>
            </a:r>
            <a:br>
              <a:rPr lang="x-none" dirty="0"/>
            </a:br>
            <a:endParaRPr lang="x-none" dirty="0"/>
          </a:p>
        </p:txBody>
      </p:sp>
    </p:spTree>
    <p:extLst>
      <p:ext uri="{BB962C8B-B14F-4D97-AF65-F5344CB8AC3E}">
        <p14:creationId xmlns:p14="http://schemas.microsoft.com/office/powerpoint/2010/main" val="2268165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8AD589F-1173-4E58-AB12-A61393690FE6}"/>
              </a:ext>
            </a:extLst>
          </p:cNvPr>
          <p:cNvSpPr>
            <a:spLocks noGrp="1"/>
          </p:cNvSpPr>
          <p:nvPr>
            <p:ph idx="1"/>
          </p:nvPr>
        </p:nvSpPr>
        <p:spPr>
          <a:xfrm>
            <a:off x="339365" y="1225486"/>
            <a:ext cx="11462994" cy="5392130"/>
          </a:xfrm>
        </p:spPr>
        <p:txBody>
          <a:bodyPr>
            <a:normAutofit fontScale="92500" lnSpcReduction="20000"/>
          </a:bodyPr>
          <a:lstStyle/>
          <a:p>
            <a:pPr algn="just"/>
            <a:r>
              <a:rPr lang="en-US" sz="3600" b="1" dirty="0"/>
              <a:t>Float </a:t>
            </a:r>
            <a:endParaRPr lang="x-none" dirty="0"/>
          </a:p>
          <a:p>
            <a:pPr algn="just"/>
            <a:r>
              <a:rPr lang="en-US" sz="3200" dirty="0"/>
              <a:t>Likewise, you could wait 18 months to start working on the third building because it will take only 13 months to complete. </a:t>
            </a:r>
          </a:p>
          <a:p>
            <a:pPr algn="just"/>
            <a:r>
              <a:rPr lang="en-US" sz="3200" dirty="0"/>
              <a:t>This means that even if you start working on the third building after 18 months from the project start date, you can finish it on time.</a:t>
            </a:r>
            <a:endParaRPr lang="x-none" sz="3200" dirty="0"/>
          </a:p>
          <a:p>
            <a:pPr algn="just"/>
            <a:r>
              <a:rPr lang="en-US" sz="3200" dirty="0"/>
              <a:t>This waiting period is known as the float or slack.</a:t>
            </a:r>
          </a:p>
          <a:p>
            <a:pPr marL="0" indent="0" algn="just">
              <a:buNone/>
            </a:pPr>
            <a:r>
              <a:rPr lang="en-US" sz="3200" dirty="0"/>
              <a:t>	A</a:t>
            </a:r>
            <a:r>
              <a:rPr lang="en-US" sz="3200" dirty="0">
                <a:sym typeface="Wingdings" panose="05000000000000000000" pitchFamily="2" charset="2"/>
              </a:rPr>
              <a:t> 31 Months   B18 Months       C 13 Months</a:t>
            </a:r>
            <a:endParaRPr lang="x-none" sz="3200" dirty="0"/>
          </a:p>
          <a:p>
            <a:pPr algn="just"/>
            <a:r>
              <a:rPr lang="en-US" sz="3200" dirty="0"/>
              <a:t>Float for B =  Longest Path (A) – Current Path (B)</a:t>
            </a:r>
          </a:p>
          <a:p>
            <a:pPr marL="1828800" lvl="4" indent="0" algn="just">
              <a:buNone/>
            </a:pPr>
            <a:r>
              <a:rPr lang="en-US" sz="3200" dirty="0"/>
              <a:t>=      31  -	18	</a:t>
            </a:r>
          </a:p>
          <a:p>
            <a:pPr marL="1828800" lvl="4" indent="0" algn="just">
              <a:buNone/>
            </a:pPr>
            <a:r>
              <a:rPr lang="en-US" sz="3200" dirty="0"/>
              <a:t>=	13</a:t>
            </a:r>
          </a:p>
          <a:p>
            <a:pPr algn="just"/>
            <a:r>
              <a:rPr lang="en-US" sz="3200" dirty="0"/>
              <a:t>Float for C =  Longest Path (A) – Current Path (C)</a:t>
            </a:r>
          </a:p>
          <a:p>
            <a:pPr marL="1828800" lvl="4" indent="0" algn="just">
              <a:buNone/>
            </a:pPr>
            <a:r>
              <a:rPr lang="en-US" sz="3200" dirty="0"/>
              <a:t>=	31 – 13</a:t>
            </a:r>
          </a:p>
          <a:p>
            <a:pPr marL="1828800" lvl="4" indent="0" algn="just">
              <a:buNone/>
            </a:pPr>
            <a:r>
              <a:rPr lang="en-US" sz="3200" dirty="0"/>
              <a:t>= 	18</a:t>
            </a:r>
            <a:endParaRPr lang="x-none" sz="3200" dirty="0"/>
          </a:p>
        </p:txBody>
      </p:sp>
      <p:sp>
        <p:nvSpPr>
          <p:cNvPr id="5" name="Title 1">
            <a:extLst>
              <a:ext uri="{FF2B5EF4-FFF2-40B4-BE49-F238E27FC236}">
                <a16:creationId xmlns:a16="http://schemas.microsoft.com/office/drawing/2014/main" xmlns="" id="{121D88A6-14C8-48BC-B346-B49E5755FE19}"/>
              </a:ext>
            </a:extLst>
          </p:cNvPr>
          <p:cNvSpPr>
            <a:spLocks noGrp="1"/>
          </p:cNvSpPr>
          <p:nvPr>
            <p:ph type="title"/>
          </p:nvPr>
        </p:nvSpPr>
        <p:spPr>
          <a:xfrm>
            <a:off x="838200" y="681037"/>
            <a:ext cx="10515600" cy="544449"/>
          </a:xfrm>
        </p:spPr>
        <p:txBody>
          <a:bodyPr>
            <a:normAutofit fontScale="90000"/>
          </a:bodyPr>
          <a:lstStyle/>
          <a:p>
            <a:r>
              <a:rPr lang="en-US" b="1" dirty="0"/>
              <a:t>…Critical Path</a:t>
            </a:r>
            <a:r>
              <a:rPr lang="x-none" dirty="0"/>
              <a:t/>
            </a:r>
            <a:br>
              <a:rPr lang="x-none" dirty="0"/>
            </a:br>
            <a:endParaRPr lang="x-none" dirty="0"/>
          </a:p>
        </p:txBody>
      </p:sp>
    </p:spTree>
    <p:extLst>
      <p:ext uri="{BB962C8B-B14F-4D97-AF65-F5344CB8AC3E}">
        <p14:creationId xmlns:p14="http://schemas.microsoft.com/office/powerpoint/2010/main" val="3336324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8AD589F-1173-4E58-AB12-A61393690FE6}"/>
              </a:ext>
            </a:extLst>
          </p:cNvPr>
          <p:cNvSpPr>
            <a:spLocks noGrp="1"/>
          </p:cNvSpPr>
          <p:nvPr>
            <p:ph idx="1"/>
          </p:nvPr>
        </p:nvSpPr>
        <p:spPr>
          <a:xfrm>
            <a:off x="339365" y="1348033"/>
            <a:ext cx="11462994" cy="5137608"/>
          </a:xfrm>
        </p:spPr>
        <p:txBody>
          <a:bodyPr>
            <a:normAutofit/>
          </a:bodyPr>
          <a:lstStyle/>
          <a:p>
            <a:pPr algn="just"/>
            <a:r>
              <a:rPr lang="en-US" sz="3200" dirty="0"/>
              <a:t>So, which is the critical path in this network diagram of three paths?</a:t>
            </a:r>
            <a:endParaRPr lang="x-none" sz="3200" dirty="0"/>
          </a:p>
          <a:p>
            <a:pPr algn="just"/>
            <a:r>
              <a:rPr lang="en-US" sz="3200" dirty="0"/>
              <a:t>Of course, it is the </a:t>
            </a:r>
            <a:r>
              <a:rPr lang="en-US" sz="3200" b="1" dirty="0">
                <a:solidFill>
                  <a:srgbClr val="0070C0"/>
                </a:solidFill>
              </a:rPr>
              <a:t>longest path </a:t>
            </a:r>
            <a:r>
              <a:rPr lang="en-US" sz="3200" dirty="0"/>
              <a:t>on the network diagram, because you cannot complete your project before constructing the first building. Although you can complete the other two buildings quickly, your project is not considered complete until you complete the first building.</a:t>
            </a:r>
            <a:endParaRPr lang="x-none" sz="3200" dirty="0"/>
          </a:p>
          <a:p>
            <a:pPr algn="just"/>
            <a:r>
              <a:rPr lang="en-US" sz="3200" dirty="0"/>
              <a:t>Hence, the critical path is the </a:t>
            </a:r>
            <a:r>
              <a:rPr lang="en-US" sz="3200" dirty="0">
                <a:solidFill>
                  <a:srgbClr val="0070C0"/>
                </a:solidFill>
              </a:rPr>
              <a:t>longest path </a:t>
            </a:r>
            <a:r>
              <a:rPr lang="en-US" sz="3200" dirty="0"/>
              <a:t>on the network diagram.</a:t>
            </a:r>
            <a:endParaRPr lang="x-none" sz="3200" dirty="0"/>
          </a:p>
        </p:txBody>
      </p:sp>
      <p:sp>
        <p:nvSpPr>
          <p:cNvPr id="5" name="Title 1">
            <a:extLst>
              <a:ext uri="{FF2B5EF4-FFF2-40B4-BE49-F238E27FC236}">
                <a16:creationId xmlns:a16="http://schemas.microsoft.com/office/drawing/2014/main" xmlns="" id="{121D88A6-14C8-48BC-B346-B49E5755FE19}"/>
              </a:ext>
            </a:extLst>
          </p:cNvPr>
          <p:cNvSpPr>
            <a:spLocks noGrp="1"/>
          </p:cNvSpPr>
          <p:nvPr>
            <p:ph type="title"/>
          </p:nvPr>
        </p:nvSpPr>
        <p:spPr>
          <a:xfrm>
            <a:off x="838200" y="681037"/>
            <a:ext cx="10515600" cy="1009651"/>
          </a:xfrm>
        </p:spPr>
        <p:txBody>
          <a:bodyPr>
            <a:normAutofit fontScale="90000"/>
          </a:bodyPr>
          <a:lstStyle/>
          <a:p>
            <a:r>
              <a:rPr lang="en-US" b="1" dirty="0"/>
              <a:t>…Critical Path</a:t>
            </a:r>
            <a:r>
              <a:rPr lang="x-none" dirty="0"/>
              <a:t/>
            </a:r>
            <a:br>
              <a:rPr lang="x-none" dirty="0"/>
            </a:br>
            <a:endParaRPr lang="x-none" dirty="0"/>
          </a:p>
        </p:txBody>
      </p:sp>
    </p:spTree>
    <p:extLst>
      <p:ext uri="{BB962C8B-B14F-4D97-AF65-F5344CB8AC3E}">
        <p14:creationId xmlns:p14="http://schemas.microsoft.com/office/powerpoint/2010/main" val="2629650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8AD589F-1173-4E58-AB12-A61393690FE6}"/>
              </a:ext>
            </a:extLst>
          </p:cNvPr>
          <p:cNvSpPr>
            <a:spLocks noGrp="1"/>
          </p:cNvSpPr>
          <p:nvPr>
            <p:ph idx="1"/>
          </p:nvPr>
        </p:nvSpPr>
        <p:spPr>
          <a:xfrm>
            <a:off x="339365" y="1348033"/>
            <a:ext cx="11462994" cy="5137608"/>
          </a:xfrm>
        </p:spPr>
        <p:txBody>
          <a:bodyPr>
            <a:normAutofit/>
          </a:bodyPr>
          <a:lstStyle/>
          <a:p>
            <a:pPr algn="just"/>
            <a:r>
              <a:rPr lang="en-US" sz="3200" dirty="0"/>
              <a:t>Now, what is the shortest duration in which you can complete the project?</a:t>
            </a:r>
            <a:endParaRPr lang="x-none" sz="3200" dirty="0"/>
          </a:p>
          <a:p>
            <a:pPr algn="just"/>
            <a:r>
              <a:rPr lang="en-US" sz="3200" dirty="0"/>
              <a:t>Sure enough, it is 31 months, because you cannot complete your project before 31 months, and this is the duration of the critical path.</a:t>
            </a:r>
            <a:endParaRPr lang="x-none" sz="3200" dirty="0"/>
          </a:p>
          <a:p>
            <a:pPr algn="just"/>
            <a:r>
              <a:rPr lang="en-US" sz="3200" dirty="0"/>
              <a:t>Hence, the critical path is the </a:t>
            </a:r>
            <a:r>
              <a:rPr lang="en-US" sz="3200" b="1" dirty="0">
                <a:solidFill>
                  <a:schemeClr val="accent4"/>
                </a:solidFill>
              </a:rPr>
              <a:t>shortest duration </a:t>
            </a:r>
            <a:r>
              <a:rPr lang="en-US" sz="3200" dirty="0"/>
              <a:t>in which you can complete the project.</a:t>
            </a:r>
            <a:endParaRPr lang="x-none" sz="3200" dirty="0"/>
          </a:p>
          <a:p>
            <a:pPr algn="just"/>
            <a:r>
              <a:rPr lang="en-US" sz="3200" dirty="0"/>
              <a:t>So, you see that both definitions are the same.</a:t>
            </a:r>
            <a:endParaRPr lang="x-none" sz="3200" dirty="0"/>
          </a:p>
        </p:txBody>
      </p:sp>
      <p:sp>
        <p:nvSpPr>
          <p:cNvPr id="5" name="Title 1">
            <a:extLst>
              <a:ext uri="{FF2B5EF4-FFF2-40B4-BE49-F238E27FC236}">
                <a16:creationId xmlns:a16="http://schemas.microsoft.com/office/drawing/2014/main" xmlns="" id="{121D88A6-14C8-48BC-B346-B49E5755FE19}"/>
              </a:ext>
            </a:extLst>
          </p:cNvPr>
          <p:cNvSpPr>
            <a:spLocks noGrp="1"/>
          </p:cNvSpPr>
          <p:nvPr>
            <p:ph type="title"/>
          </p:nvPr>
        </p:nvSpPr>
        <p:spPr>
          <a:xfrm>
            <a:off x="838200" y="681037"/>
            <a:ext cx="10515600" cy="1009651"/>
          </a:xfrm>
        </p:spPr>
        <p:txBody>
          <a:bodyPr>
            <a:normAutofit fontScale="90000"/>
          </a:bodyPr>
          <a:lstStyle/>
          <a:p>
            <a:r>
              <a:rPr lang="en-US" b="1" dirty="0"/>
              <a:t>…Critical Path</a:t>
            </a:r>
            <a:r>
              <a:rPr lang="x-none" dirty="0"/>
              <a:t/>
            </a:r>
            <a:br>
              <a:rPr lang="x-none" dirty="0"/>
            </a:br>
            <a:endParaRPr lang="x-none" dirty="0"/>
          </a:p>
        </p:txBody>
      </p:sp>
    </p:spTree>
    <p:extLst>
      <p:ext uri="{BB962C8B-B14F-4D97-AF65-F5344CB8AC3E}">
        <p14:creationId xmlns:p14="http://schemas.microsoft.com/office/powerpoint/2010/main" val="3609309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0565CE-8362-4683-922A-F9541B39632D}"/>
              </a:ext>
            </a:extLst>
          </p:cNvPr>
          <p:cNvSpPr>
            <a:spLocks noGrp="1"/>
          </p:cNvSpPr>
          <p:nvPr>
            <p:ph type="title"/>
          </p:nvPr>
        </p:nvSpPr>
        <p:spPr>
          <a:xfrm>
            <a:off x="179109" y="563088"/>
            <a:ext cx="11830639" cy="662397"/>
          </a:xfrm>
        </p:spPr>
        <p:txBody>
          <a:bodyPr>
            <a:noAutofit/>
          </a:bodyPr>
          <a:lstStyle/>
          <a:p>
            <a:r>
              <a:rPr lang="en-US" sz="3800" b="1" dirty="0"/>
              <a:t>Procedure for Finding the Critical Path in a Network Diagram</a:t>
            </a:r>
            <a:r>
              <a:rPr lang="x-none" sz="3800" dirty="0"/>
              <a:t/>
            </a:r>
            <a:br>
              <a:rPr lang="x-none" sz="3800" dirty="0"/>
            </a:br>
            <a:endParaRPr lang="x-none" sz="3800" dirty="0"/>
          </a:p>
        </p:txBody>
      </p:sp>
      <p:sp>
        <p:nvSpPr>
          <p:cNvPr id="3" name="Content Placeholder 2">
            <a:extLst>
              <a:ext uri="{FF2B5EF4-FFF2-40B4-BE49-F238E27FC236}">
                <a16:creationId xmlns:a16="http://schemas.microsoft.com/office/drawing/2014/main" xmlns="" id="{25454DC0-16B7-4720-941E-2DF383D68D85}"/>
              </a:ext>
            </a:extLst>
          </p:cNvPr>
          <p:cNvSpPr>
            <a:spLocks noGrp="1"/>
          </p:cNvSpPr>
          <p:nvPr>
            <p:ph idx="1"/>
          </p:nvPr>
        </p:nvSpPr>
        <p:spPr>
          <a:xfrm>
            <a:off x="320511" y="1140642"/>
            <a:ext cx="11453567" cy="5326145"/>
          </a:xfrm>
        </p:spPr>
        <p:txBody>
          <a:bodyPr>
            <a:normAutofit/>
          </a:bodyPr>
          <a:lstStyle/>
          <a:p>
            <a:endParaRPr lang="en-US" sz="4000" dirty="0"/>
          </a:p>
          <a:p>
            <a:r>
              <a:rPr lang="en-US" sz="4000" dirty="0"/>
              <a:t>The following are the procedures to find the critical path on a network diagram:</a:t>
            </a:r>
            <a:endParaRPr lang="x-none" sz="4000" dirty="0"/>
          </a:p>
          <a:p>
            <a:pPr lvl="1"/>
            <a:r>
              <a:rPr lang="en-US" sz="3600" dirty="0"/>
              <a:t>Draw the network diagram.</a:t>
            </a:r>
            <a:endParaRPr lang="x-none" sz="3600" dirty="0"/>
          </a:p>
          <a:p>
            <a:pPr lvl="1"/>
            <a:r>
              <a:rPr lang="en-US" sz="3600" dirty="0"/>
              <a:t>Identify all paths in the network diagram.</a:t>
            </a:r>
            <a:endParaRPr lang="x-none" sz="3600" dirty="0"/>
          </a:p>
          <a:p>
            <a:pPr lvl="1"/>
            <a:r>
              <a:rPr lang="en-US" sz="3600" dirty="0"/>
              <a:t>Find the duration of each path.</a:t>
            </a:r>
            <a:endParaRPr lang="x-none" sz="3600" dirty="0"/>
          </a:p>
          <a:p>
            <a:pPr lvl="1"/>
            <a:r>
              <a:rPr lang="en-US" sz="3600" dirty="0"/>
              <a:t>The path with the largest duration is the critical path.</a:t>
            </a:r>
            <a:endParaRPr lang="x-none" sz="3600" dirty="0"/>
          </a:p>
          <a:p>
            <a:pPr marL="0" indent="0">
              <a:buNone/>
            </a:pPr>
            <a:endParaRPr lang="x-none" sz="4000" dirty="0"/>
          </a:p>
        </p:txBody>
      </p:sp>
    </p:spTree>
    <p:extLst>
      <p:ext uri="{BB962C8B-B14F-4D97-AF65-F5344CB8AC3E}">
        <p14:creationId xmlns:p14="http://schemas.microsoft.com/office/powerpoint/2010/main" val="2959734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0565CE-8362-4683-922A-F9541B39632D}"/>
              </a:ext>
            </a:extLst>
          </p:cNvPr>
          <p:cNvSpPr>
            <a:spLocks noGrp="1"/>
          </p:cNvSpPr>
          <p:nvPr>
            <p:ph type="title"/>
          </p:nvPr>
        </p:nvSpPr>
        <p:spPr>
          <a:xfrm>
            <a:off x="179109" y="563088"/>
            <a:ext cx="11830639" cy="662397"/>
          </a:xfrm>
        </p:spPr>
        <p:txBody>
          <a:bodyPr>
            <a:noAutofit/>
          </a:bodyPr>
          <a:lstStyle/>
          <a:p>
            <a:r>
              <a:rPr lang="en-US" sz="3600" b="1" dirty="0"/>
              <a:t>…Procedure for Finding the Critical Path in a Network Diagram</a:t>
            </a:r>
            <a:r>
              <a:rPr lang="x-none" sz="3800" dirty="0"/>
              <a:t/>
            </a:r>
            <a:br>
              <a:rPr lang="x-none" sz="3800" dirty="0"/>
            </a:br>
            <a:endParaRPr lang="x-none" sz="3800" dirty="0"/>
          </a:p>
        </p:txBody>
      </p:sp>
      <p:pic>
        <p:nvPicPr>
          <p:cNvPr id="4" name="Content Placeholder 3" descr="CPM Diagram for blog post2">
            <a:extLst>
              <a:ext uri="{FF2B5EF4-FFF2-40B4-BE49-F238E27FC236}">
                <a16:creationId xmlns:a16="http://schemas.microsoft.com/office/drawing/2014/main" xmlns="" id="{21FBB7D9-DF0F-43B7-8D8B-858F5690EDDD}"/>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8792" y="1225486"/>
            <a:ext cx="11104775" cy="5194168"/>
          </a:xfrm>
          <a:prstGeom prst="rect">
            <a:avLst/>
          </a:prstGeom>
          <a:noFill/>
          <a:ln>
            <a:noFill/>
          </a:ln>
        </p:spPr>
      </p:pic>
    </p:spTree>
    <p:extLst>
      <p:ext uri="{BB962C8B-B14F-4D97-AF65-F5344CB8AC3E}">
        <p14:creationId xmlns:p14="http://schemas.microsoft.com/office/powerpoint/2010/main" val="2864783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0565CE-8362-4683-922A-F9541B39632D}"/>
              </a:ext>
            </a:extLst>
          </p:cNvPr>
          <p:cNvSpPr>
            <a:spLocks noGrp="1"/>
          </p:cNvSpPr>
          <p:nvPr>
            <p:ph type="title"/>
          </p:nvPr>
        </p:nvSpPr>
        <p:spPr>
          <a:xfrm>
            <a:off x="179109" y="534154"/>
            <a:ext cx="11830639" cy="691331"/>
          </a:xfrm>
        </p:spPr>
        <p:txBody>
          <a:bodyPr>
            <a:noAutofit/>
          </a:bodyPr>
          <a:lstStyle/>
          <a:p>
            <a:r>
              <a:rPr lang="en-US" sz="3600" dirty="0"/>
              <a:t>…Procedure for Finding the Critical Path in a Network Diagram</a:t>
            </a:r>
            <a:r>
              <a:rPr lang="x-none" sz="3600" dirty="0"/>
              <a:t/>
            </a:r>
            <a:br>
              <a:rPr lang="x-none" sz="3600" dirty="0"/>
            </a:br>
            <a:endParaRPr lang="x-none" sz="3600" dirty="0"/>
          </a:p>
        </p:txBody>
      </p:sp>
      <p:sp>
        <p:nvSpPr>
          <p:cNvPr id="5" name="Content Placeholder 4">
            <a:extLst>
              <a:ext uri="{FF2B5EF4-FFF2-40B4-BE49-F238E27FC236}">
                <a16:creationId xmlns:a16="http://schemas.microsoft.com/office/drawing/2014/main" xmlns="" id="{1B4DB2AC-E646-4254-879E-88617D295DC0}"/>
              </a:ext>
            </a:extLst>
          </p:cNvPr>
          <p:cNvSpPr>
            <a:spLocks noGrp="1"/>
          </p:cNvSpPr>
          <p:nvPr>
            <p:ph idx="1"/>
          </p:nvPr>
        </p:nvSpPr>
        <p:spPr>
          <a:xfrm>
            <a:off x="320511" y="1319753"/>
            <a:ext cx="11547835" cy="5231876"/>
          </a:xfrm>
        </p:spPr>
        <p:txBody>
          <a:bodyPr>
            <a:normAutofit fontScale="85000" lnSpcReduction="20000"/>
          </a:bodyPr>
          <a:lstStyle/>
          <a:p>
            <a:pPr>
              <a:lnSpc>
                <a:spcPct val="115000"/>
              </a:lnSpc>
              <a:spcBef>
                <a:spcPts val="600"/>
              </a:spcBef>
              <a:spcAft>
                <a:spcPts val="1200"/>
              </a:spcAft>
            </a:pPr>
            <a:r>
              <a:rPr lang="en-US" dirty="0">
                <a:solidFill>
                  <a:srgbClr val="3A3A3A"/>
                </a:solidFill>
                <a:latin typeface="Times New Roman" panose="02020603050405020304" pitchFamily="18" charset="0"/>
                <a:ea typeface="Times New Roman" panose="02020603050405020304" pitchFamily="18" charset="0"/>
                <a:cs typeface="Times New Roman" panose="02020603050405020304" pitchFamily="18" charset="0"/>
              </a:rPr>
              <a:t>The given network diagram has five paths; the paths and their duration are as follows:</a:t>
            </a:r>
            <a:endParaRPr lang="x-none"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Bef>
                <a:spcPts val="600"/>
              </a:spcBef>
              <a:spcAft>
                <a:spcPts val="1200"/>
              </a:spcAft>
              <a:buFont typeface="+mj-lt"/>
              <a:buAutoNum type="arabicPeriod"/>
              <a:tabLst>
                <a:tab pos="457200" algn="l"/>
              </a:tabLst>
            </a:pPr>
            <a:r>
              <a:rPr lang="en-US" dirty="0">
                <a:solidFill>
                  <a:srgbClr val="3A3A3A"/>
                </a:solidFill>
                <a:latin typeface="Times New Roman" panose="02020603050405020304" pitchFamily="18" charset="0"/>
                <a:ea typeface="Times New Roman" panose="02020603050405020304" pitchFamily="18" charset="0"/>
                <a:cs typeface="Times New Roman" panose="02020603050405020304" pitchFamily="18" charset="0"/>
              </a:rPr>
              <a:t>Start -&gt; A -&gt; B -&gt; C-&gt; End, duration: 31 days.</a:t>
            </a:r>
            <a:endParaRPr lang="x-none" sz="2400" dirty="0">
              <a:solidFill>
                <a:srgbClr val="3A3A3A"/>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Bef>
                <a:spcPts val="600"/>
              </a:spcBef>
              <a:spcAft>
                <a:spcPts val="1200"/>
              </a:spcAft>
              <a:buFont typeface="+mj-lt"/>
              <a:buAutoNum type="arabicPeriod"/>
              <a:tabLst>
                <a:tab pos="457200" algn="l"/>
              </a:tabLst>
            </a:pPr>
            <a:r>
              <a:rPr lang="en-US">
                <a:solidFill>
                  <a:srgbClr val="3A3A3A"/>
                </a:solidFill>
                <a:latin typeface="Times New Roman" panose="02020603050405020304" pitchFamily="18" charset="0"/>
                <a:ea typeface="Times New Roman" panose="02020603050405020304" pitchFamily="18" charset="0"/>
                <a:cs typeface="Times New Roman" panose="02020603050405020304" pitchFamily="18" charset="0"/>
              </a:rPr>
              <a:t>Start -&gt; D </a:t>
            </a:r>
            <a:r>
              <a:rPr lang="en-US" dirty="0">
                <a:solidFill>
                  <a:srgbClr val="3A3A3A"/>
                </a:solidFill>
                <a:latin typeface="Times New Roman" panose="02020603050405020304" pitchFamily="18" charset="0"/>
                <a:ea typeface="Times New Roman" panose="02020603050405020304" pitchFamily="18" charset="0"/>
                <a:cs typeface="Times New Roman" panose="02020603050405020304" pitchFamily="18" charset="0"/>
              </a:rPr>
              <a:t>-&gt; </a:t>
            </a:r>
            <a:r>
              <a:rPr lang="en-US">
                <a:solidFill>
                  <a:srgbClr val="3A3A3A"/>
                </a:solidFill>
                <a:latin typeface="Times New Roman" panose="02020603050405020304" pitchFamily="18" charset="0"/>
                <a:ea typeface="Times New Roman" panose="02020603050405020304" pitchFamily="18" charset="0"/>
                <a:cs typeface="Times New Roman" panose="02020603050405020304" pitchFamily="18" charset="0"/>
              </a:rPr>
              <a:t>E -&gt; F </a:t>
            </a:r>
            <a:r>
              <a:rPr lang="en-US" dirty="0">
                <a:solidFill>
                  <a:srgbClr val="3A3A3A"/>
                </a:solidFill>
                <a:latin typeface="Times New Roman" panose="02020603050405020304" pitchFamily="18" charset="0"/>
                <a:ea typeface="Times New Roman" panose="02020603050405020304" pitchFamily="18" charset="0"/>
                <a:cs typeface="Times New Roman" panose="02020603050405020304" pitchFamily="18" charset="0"/>
              </a:rPr>
              <a:t>-&gt; End, duration: 18 days.</a:t>
            </a:r>
            <a:endParaRPr lang="x-none" sz="2400" dirty="0">
              <a:solidFill>
                <a:srgbClr val="3A3A3A"/>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Bef>
                <a:spcPts val="600"/>
              </a:spcBef>
              <a:spcAft>
                <a:spcPts val="1200"/>
              </a:spcAft>
              <a:buFont typeface="+mj-lt"/>
              <a:buAutoNum type="arabicPeriod"/>
              <a:tabLst>
                <a:tab pos="457200" algn="l"/>
              </a:tabLst>
            </a:pPr>
            <a:r>
              <a:rPr lang="en-US" dirty="0">
                <a:solidFill>
                  <a:srgbClr val="3A3A3A"/>
                </a:solidFill>
                <a:latin typeface="Times New Roman" panose="02020603050405020304" pitchFamily="18" charset="0"/>
                <a:ea typeface="Times New Roman" panose="02020603050405020304" pitchFamily="18" charset="0"/>
                <a:cs typeface="Times New Roman" panose="02020603050405020304" pitchFamily="18" charset="0"/>
              </a:rPr>
              <a:t>Start -&gt; D -&gt; B -&gt; C -&gt; End, duration: 26 days.</a:t>
            </a:r>
            <a:endParaRPr lang="x-none" sz="2400" dirty="0">
              <a:solidFill>
                <a:srgbClr val="3A3A3A"/>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Bef>
                <a:spcPts val="600"/>
              </a:spcBef>
              <a:spcAft>
                <a:spcPts val="1200"/>
              </a:spcAft>
              <a:buFont typeface="+mj-lt"/>
              <a:buAutoNum type="arabicPeriod"/>
              <a:tabLst>
                <a:tab pos="457200" algn="l"/>
              </a:tabLst>
            </a:pPr>
            <a:r>
              <a:rPr lang="en-US" dirty="0">
                <a:solidFill>
                  <a:srgbClr val="3A3A3A"/>
                </a:solidFill>
                <a:latin typeface="Times New Roman" panose="02020603050405020304" pitchFamily="18" charset="0"/>
                <a:ea typeface="Times New Roman" panose="02020603050405020304" pitchFamily="18" charset="0"/>
                <a:cs typeface="Times New Roman" panose="02020603050405020304" pitchFamily="18" charset="0"/>
              </a:rPr>
              <a:t>Start -&gt; G -&gt; H -&gt; I -&gt; End, duration: 13 days.</a:t>
            </a:r>
            <a:endParaRPr lang="x-none" sz="2400" dirty="0">
              <a:solidFill>
                <a:srgbClr val="3A3A3A"/>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Bef>
                <a:spcPts val="600"/>
              </a:spcBef>
              <a:spcAft>
                <a:spcPts val="1200"/>
              </a:spcAft>
              <a:buFont typeface="+mj-lt"/>
              <a:buAutoNum type="arabicPeriod"/>
              <a:tabLst>
                <a:tab pos="457200" algn="l"/>
              </a:tabLst>
            </a:pPr>
            <a:r>
              <a:rPr lang="en-US" dirty="0">
                <a:solidFill>
                  <a:srgbClr val="3A3A3A"/>
                </a:solidFill>
                <a:latin typeface="Times New Roman" panose="02020603050405020304" pitchFamily="18" charset="0"/>
                <a:ea typeface="Times New Roman" panose="02020603050405020304" pitchFamily="18" charset="0"/>
                <a:cs typeface="Times New Roman" panose="02020603050405020304" pitchFamily="18" charset="0"/>
              </a:rPr>
              <a:t>Start -&gt; G -&gt; E -&gt; F -&gt; End, duration: 16 days.</a:t>
            </a:r>
          </a:p>
          <a:p>
            <a:pPr marL="0" indent="0">
              <a:lnSpc>
                <a:spcPct val="115000"/>
              </a:lnSpc>
              <a:spcBef>
                <a:spcPts val="600"/>
              </a:spcBef>
              <a:spcAft>
                <a:spcPts val="1200"/>
              </a:spcAft>
              <a:buNone/>
              <a:tabLst>
                <a:tab pos="457200" algn="l"/>
              </a:tabLst>
            </a:pPr>
            <a:endParaRPr lang="en-US" dirty="0"/>
          </a:p>
          <a:p>
            <a:pPr marL="0" indent="0" algn="ctr">
              <a:lnSpc>
                <a:spcPct val="115000"/>
              </a:lnSpc>
              <a:spcBef>
                <a:spcPts val="600"/>
              </a:spcBef>
              <a:spcAft>
                <a:spcPts val="1200"/>
              </a:spcAft>
              <a:buNone/>
              <a:tabLst>
                <a:tab pos="457200" algn="l"/>
              </a:tabLst>
            </a:pPr>
            <a:r>
              <a:rPr lang="en-US" sz="3800" b="1" dirty="0">
                <a:solidFill>
                  <a:srgbClr val="002060"/>
                </a:solidFill>
              </a:rPr>
              <a:t>Since the duration of the first path is the longest, it is the critical path. The float on the critical path is zero.</a:t>
            </a:r>
            <a:endParaRPr lang="x-none" sz="3800" b="1" dirty="0">
              <a:solidFill>
                <a:srgbClr val="002060"/>
              </a:solidFill>
            </a:endParaRPr>
          </a:p>
          <a:p>
            <a:pPr marL="342900" lvl="0" indent="-342900">
              <a:lnSpc>
                <a:spcPct val="115000"/>
              </a:lnSpc>
              <a:spcBef>
                <a:spcPts val="600"/>
              </a:spcBef>
              <a:spcAft>
                <a:spcPts val="1200"/>
              </a:spcAft>
              <a:buFont typeface="+mj-lt"/>
              <a:buAutoNum type="arabicPeriod"/>
              <a:tabLst>
                <a:tab pos="457200" algn="l"/>
              </a:tabLst>
            </a:pPr>
            <a:endParaRPr lang="x-none" sz="2400" dirty="0">
              <a:solidFill>
                <a:srgbClr val="3A3A3A"/>
              </a:solidFill>
              <a:effectLst/>
              <a:latin typeface="Calibri" panose="020F0502020204030204" pitchFamily="34" charset="0"/>
              <a:ea typeface="Calibri" panose="020F0502020204030204" pitchFamily="34" charset="0"/>
              <a:cs typeface="Times New Roman" panose="02020603050405020304" pitchFamily="18" charset="0"/>
            </a:endParaRPr>
          </a:p>
          <a:p>
            <a:endParaRPr lang="x-none" dirty="0"/>
          </a:p>
        </p:txBody>
      </p:sp>
    </p:spTree>
    <p:extLst>
      <p:ext uri="{BB962C8B-B14F-4D97-AF65-F5344CB8AC3E}">
        <p14:creationId xmlns:p14="http://schemas.microsoft.com/office/powerpoint/2010/main" val="1309463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0565CE-8362-4683-922A-F9541B39632D}"/>
              </a:ext>
            </a:extLst>
          </p:cNvPr>
          <p:cNvSpPr>
            <a:spLocks noGrp="1"/>
          </p:cNvSpPr>
          <p:nvPr>
            <p:ph type="title"/>
          </p:nvPr>
        </p:nvSpPr>
        <p:spPr>
          <a:xfrm>
            <a:off x="179109" y="563088"/>
            <a:ext cx="11830639" cy="662397"/>
          </a:xfrm>
        </p:spPr>
        <p:txBody>
          <a:bodyPr>
            <a:noAutofit/>
          </a:bodyPr>
          <a:lstStyle/>
          <a:p>
            <a:r>
              <a:rPr lang="en-US" sz="3600" b="1" dirty="0"/>
              <a:t>…Procedure for Finding the Critical Path in a Network Diagram</a:t>
            </a:r>
            <a:r>
              <a:rPr lang="x-none" sz="4000" dirty="0"/>
              <a:t/>
            </a:r>
            <a:br>
              <a:rPr lang="x-none" sz="4000" dirty="0"/>
            </a:br>
            <a:endParaRPr lang="x-none" sz="3800" dirty="0"/>
          </a:p>
        </p:txBody>
      </p:sp>
      <p:sp>
        <p:nvSpPr>
          <p:cNvPr id="5" name="Content Placeholder 4">
            <a:extLst>
              <a:ext uri="{FF2B5EF4-FFF2-40B4-BE49-F238E27FC236}">
                <a16:creationId xmlns:a16="http://schemas.microsoft.com/office/drawing/2014/main" xmlns="" id="{1B4DB2AC-E646-4254-879E-88617D295DC0}"/>
              </a:ext>
            </a:extLst>
          </p:cNvPr>
          <p:cNvSpPr>
            <a:spLocks noGrp="1"/>
          </p:cNvSpPr>
          <p:nvPr>
            <p:ph idx="1"/>
          </p:nvPr>
        </p:nvSpPr>
        <p:spPr>
          <a:xfrm>
            <a:off x="320511" y="1319753"/>
            <a:ext cx="11547835" cy="5231876"/>
          </a:xfrm>
        </p:spPr>
        <p:txBody>
          <a:bodyPr>
            <a:normAutofit fontScale="92500" lnSpcReduction="10000"/>
          </a:bodyPr>
          <a:lstStyle/>
          <a:p>
            <a:r>
              <a:rPr lang="en-US" sz="3200" dirty="0"/>
              <a:t>The float for the second path “Start -&gt;D -&gt; E -&gt;F -&gt; End”</a:t>
            </a:r>
          </a:p>
          <a:p>
            <a:pPr marL="0" indent="0">
              <a:buNone/>
            </a:pPr>
            <a:r>
              <a:rPr lang="en-US" sz="3200" dirty="0"/>
              <a:t> 		=duration of the critical path – duration of the path </a:t>
            </a:r>
            <a:endParaRPr lang="x-none" sz="3200" dirty="0"/>
          </a:p>
          <a:p>
            <a:pPr marL="0" indent="0">
              <a:buNone/>
            </a:pPr>
            <a:r>
              <a:rPr lang="en-US" sz="3200" dirty="0"/>
              <a:t>		= 31 – 18 = 13</a:t>
            </a:r>
            <a:endParaRPr lang="x-none" sz="3200" dirty="0"/>
          </a:p>
          <a:p>
            <a:r>
              <a:rPr lang="en-US" sz="3200" dirty="0"/>
              <a:t>Hence, the float for the second path is 13 days.</a:t>
            </a:r>
            <a:endParaRPr lang="x-none" sz="3200" dirty="0"/>
          </a:p>
          <a:p>
            <a:endParaRPr lang="en-US" sz="3200" dirty="0"/>
          </a:p>
          <a:p>
            <a:endParaRPr lang="en-US" sz="3200" dirty="0"/>
          </a:p>
          <a:p>
            <a:r>
              <a:rPr lang="en-US" sz="3200" dirty="0"/>
              <a:t>Using the same process, we can calculate the float for other paths as well.</a:t>
            </a:r>
          </a:p>
          <a:p>
            <a:pPr marL="457200" lvl="1" indent="0">
              <a:buNone/>
            </a:pPr>
            <a:r>
              <a:rPr lang="en-US" sz="2800" dirty="0"/>
              <a:t>Float for the third path = 31 – 26 = 5 days.</a:t>
            </a:r>
            <a:br>
              <a:rPr lang="en-US" sz="2800" dirty="0"/>
            </a:br>
            <a:r>
              <a:rPr lang="en-US" sz="2800" dirty="0"/>
              <a:t>Float for the fourth path = 31 – 13 = 18 days.</a:t>
            </a:r>
            <a:br>
              <a:rPr lang="en-US" sz="2800" dirty="0"/>
            </a:br>
            <a:r>
              <a:rPr lang="en-US" sz="2800" dirty="0"/>
              <a:t>Float for the fifth path = 31 – 16 = 15 days.</a:t>
            </a:r>
            <a:endParaRPr lang="x-none" sz="2800" dirty="0"/>
          </a:p>
          <a:p>
            <a:endParaRPr lang="x-none" sz="3200" dirty="0"/>
          </a:p>
          <a:p>
            <a:endParaRPr lang="x-none" sz="3200" dirty="0"/>
          </a:p>
        </p:txBody>
      </p:sp>
    </p:spTree>
    <p:extLst>
      <p:ext uri="{BB962C8B-B14F-4D97-AF65-F5344CB8AC3E}">
        <p14:creationId xmlns:p14="http://schemas.microsoft.com/office/powerpoint/2010/main" val="2079666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0565CE-8362-4683-922A-F9541B39632D}"/>
              </a:ext>
            </a:extLst>
          </p:cNvPr>
          <p:cNvSpPr>
            <a:spLocks noGrp="1"/>
          </p:cNvSpPr>
          <p:nvPr>
            <p:ph type="title"/>
          </p:nvPr>
        </p:nvSpPr>
        <p:spPr>
          <a:xfrm>
            <a:off x="179109" y="563088"/>
            <a:ext cx="11830639" cy="662397"/>
          </a:xfrm>
        </p:spPr>
        <p:txBody>
          <a:bodyPr>
            <a:noAutofit/>
          </a:bodyPr>
          <a:lstStyle/>
          <a:p>
            <a:r>
              <a:rPr lang="en-US" sz="4000" b="1" dirty="0"/>
              <a:t>Calculate Early Start (ES), Early Finish (EF), Late Start (LS), and Late Finish (LF)</a:t>
            </a:r>
            <a:endParaRPr lang="x-none" sz="4000" b="1" dirty="0"/>
          </a:p>
        </p:txBody>
      </p:sp>
      <p:sp>
        <p:nvSpPr>
          <p:cNvPr id="5" name="Content Placeholder 4">
            <a:extLst>
              <a:ext uri="{FF2B5EF4-FFF2-40B4-BE49-F238E27FC236}">
                <a16:creationId xmlns:a16="http://schemas.microsoft.com/office/drawing/2014/main" xmlns="" id="{1B4DB2AC-E646-4254-879E-88617D295DC0}"/>
              </a:ext>
            </a:extLst>
          </p:cNvPr>
          <p:cNvSpPr>
            <a:spLocks noGrp="1"/>
          </p:cNvSpPr>
          <p:nvPr>
            <p:ph idx="1"/>
          </p:nvPr>
        </p:nvSpPr>
        <p:spPr>
          <a:xfrm>
            <a:off x="320511" y="1819373"/>
            <a:ext cx="11547835" cy="4732256"/>
          </a:xfrm>
        </p:spPr>
        <p:txBody>
          <a:bodyPr>
            <a:normAutofit lnSpcReduction="10000"/>
          </a:bodyPr>
          <a:lstStyle/>
          <a:p>
            <a:r>
              <a:rPr lang="en-US" b="1" dirty="0"/>
              <a:t>Calculating Early Start (ES) and Early Finish (EF)</a:t>
            </a:r>
          </a:p>
          <a:p>
            <a:pPr marL="0" indent="0">
              <a:buNone/>
            </a:pPr>
            <a:r>
              <a:rPr lang="en-US" dirty="0"/>
              <a:t>To calculate the Early Start and Early Finish dates, we use forward pass; we will start from the beginning and proceed to the end.</a:t>
            </a:r>
          </a:p>
          <a:p>
            <a:pPr marL="0" indent="0">
              <a:buNone/>
            </a:pPr>
            <a:endParaRPr lang="en-US" dirty="0"/>
          </a:p>
          <a:p>
            <a:pPr marL="0" indent="0">
              <a:buNone/>
            </a:pPr>
            <a:r>
              <a:rPr lang="en-US" dirty="0"/>
              <a:t>Early Start (ES) for the first activity on any path will be 1, because no activity can be started before the first day</a:t>
            </a:r>
          </a:p>
          <a:p>
            <a:pPr marL="0" indent="0">
              <a:buNone/>
            </a:pPr>
            <a:endParaRPr lang="en-US" dirty="0"/>
          </a:p>
          <a:p>
            <a:r>
              <a:rPr lang="en-US" dirty="0"/>
              <a:t>The formula used for calculating Early Start and Early Finish dates.</a:t>
            </a:r>
            <a:endParaRPr lang="x-none" dirty="0"/>
          </a:p>
          <a:p>
            <a:pPr marL="0" lvl="0" indent="0">
              <a:buNone/>
            </a:pPr>
            <a:r>
              <a:rPr lang="en-US" dirty="0"/>
              <a:t>	Early Start of the activity = Early Finish of predecessor activity + 1</a:t>
            </a:r>
            <a:endParaRPr lang="x-none" dirty="0"/>
          </a:p>
          <a:p>
            <a:pPr marL="0" lvl="0" indent="0">
              <a:buNone/>
            </a:pPr>
            <a:r>
              <a:rPr lang="en-US" dirty="0"/>
              <a:t>	Early Finish of the activity = Activity duration + Early Start of activity – 1</a:t>
            </a:r>
            <a:endParaRPr lang="x-none" dirty="0"/>
          </a:p>
          <a:p>
            <a:pPr marL="0" indent="0">
              <a:buNone/>
            </a:pPr>
            <a:endParaRPr lang="x-none" dirty="0"/>
          </a:p>
          <a:p>
            <a:endParaRPr lang="x-none" sz="3200" dirty="0"/>
          </a:p>
        </p:txBody>
      </p:sp>
    </p:spTree>
    <p:extLst>
      <p:ext uri="{BB962C8B-B14F-4D97-AF65-F5344CB8AC3E}">
        <p14:creationId xmlns:p14="http://schemas.microsoft.com/office/powerpoint/2010/main" val="1104946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0565CE-8362-4683-922A-F9541B39632D}"/>
              </a:ext>
            </a:extLst>
          </p:cNvPr>
          <p:cNvSpPr>
            <a:spLocks noGrp="1"/>
          </p:cNvSpPr>
          <p:nvPr>
            <p:ph type="title"/>
          </p:nvPr>
        </p:nvSpPr>
        <p:spPr>
          <a:xfrm>
            <a:off x="179109" y="563088"/>
            <a:ext cx="11830639" cy="662397"/>
          </a:xfrm>
        </p:spPr>
        <p:txBody>
          <a:bodyPr>
            <a:noAutofit/>
          </a:bodyPr>
          <a:lstStyle/>
          <a:p>
            <a:r>
              <a:rPr lang="en-US" sz="4000" b="1" dirty="0"/>
              <a:t>Calculate Early Start (ES), Early Finish (EF), Late Start (LS), and Late Finish (LF)</a:t>
            </a:r>
            <a:endParaRPr lang="x-none" sz="4000" b="1" dirty="0"/>
          </a:p>
        </p:txBody>
      </p:sp>
      <p:pic>
        <p:nvPicPr>
          <p:cNvPr id="4" name="Content Placeholder 3" descr="CPM Diagram- Eary Dates, path ABC">
            <a:extLst>
              <a:ext uri="{FF2B5EF4-FFF2-40B4-BE49-F238E27FC236}">
                <a16:creationId xmlns:a16="http://schemas.microsoft.com/office/drawing/2014/main" xmlns="" id="{B472550A-FC19-4580-8673-A1D97D9604CB}"/>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1022" y="2243580"/>
            <a:ext cx="10096107" cy="4572000"/>
          </a:xfrm>
          <a:prstGeom prst="rect">
            <a:avLst/>
          </a:prstGeom>
          <a:noFill/>
          <a:ln>
            <a:noFill/>
          </a:ln>
        </p:spPr>
      </p:pic>
      <p:sp>
        <p:nvSpPr>
          <p:cNvPr id="3" name="Rectangle 2">
            <a:extLst>
              <a:ext uri="{FF2B5EF4-FFF2-40B4-BE49-F238E27FC236}">
                <a16:creationId xmlns:a16="http://schemas.microsoft.com/office/drawing/2014/main" xmlns="" id="{097DEB71-A912-4FB0-8992-E32E35476E87}"/>
              </a:ext>
            </a:extLst>
          </p:cNvPr>
          <p:cNvSpPr/>
          <p:nvPr/>
        </p:nvSpPr>
        <p:spPr>
          <a:xfrm>
            <a:off x="254522" y="1759145"/>
            <a:ext cx="10680569" cy="954107"/>
          </a:xfrm>
          <a:prstGeom prst="rect">
            <a:avLst/>
          </a:prstGeom>
        </p:spPr>
        <p:txBody>
          <a:bodyPr wrap="square">
            <a:spAutoFit/>
          </a:bodyPr>
          <a:lstStyle/>
          <a:p>
            <a:pPr lvl="0"/>
            <a:r>
              <a:rPr lang="en-US" sz="2800" dirty="0"/>
              <a:t>Early Start of the activity = Early Finish of predecessor activity + 1</a:t>
            </a:r>
            <a:endParaRPr lang="x-none" sz="2800" dirty="0"/>
          </a:p>
          <a:p>
            <a:pPr lvl="0"/>
            <a:r>
              <a:rPr lang="en-US" sz="2800" dirty="0"/>
              <a:t>Early Finish of the activity = Activity duration + Early Start of activity – 1</a:t>
            </a:r>
            <a:endParaRPr lang="x-none" sz="2800" dirty="0"/>
          </a:p>
        </p:txBody>
      </p:sp>
    </p:spTree>
    <p:extLst>
      <p:ext uri="{BB962C8B-B14F-4D97-AF65-F5344CB8AC3E}">
        <p14:creationId xmlns:p14="http://schemas.microsoft.com/office/powerpoint/2010/main" val="2850727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PM Diagram- Eary Dates, path GHI">
            <a:extLst>
              <a:ext uri="{FF2B5EF4-FFF2-40B4-BE49-F238E27FC236}">
                <a16:creationId xmlns:a16="http://schemas.microsoft.com/office/drawing/2014/main" xmlns="" id="{F0E4EBD0-6106-408B-80A3-1DF8444E435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20511" y="2111604"/>
            <a:ext cx="11397007" cy="4751106"/>
          </a:xfrm>
          <a:prstGeom prst="rect">
            <a:avLst/>
          </a:prstGeom>
          <a:noFill/>
          <a:ln>
            <a:noFill/>
          </a:ln>
        </p:spPr>
      </p:pic>
      <p:sp>
        <p:nvSpPr>
          <p:cNvPr id="2" name="Title 1">
            <a:extLst>
              <a:ext uri="{FF2B5EF4-FFF2-40B4-BE49-F238E27FC236}">
                <a16:creationId xmlns:a16="http://schemas.microsoft.com/office/drawing/2014/main" xmlns="" id="{710565CE-8362-4683-922A-F9541B39632D}"/>
              </a:ext>
            </a:extLst>
          </p:cNvPr>
          <p:cNvSpPr>
            <a:spLocks noGrp="1"/>
          </p:cNvSpPr>
          <p:nvPr>
            <p:ph type="title"/>
          </p:nvPr>
        </p:nvSpPr>
        <p:spPr>
          <a:xfrm>
            <a:off x="179109" y="563088"/>
            <a:ext cx="11830639" cy="662397"/>
          </a:xfrm>
        </p:spPr>
        <p:txBody>
          <a:bodyPr>
            <a:noAutofit/>
          </a:bodyPr>
          <a:lstStyle/>
          <a:p>
            <a:r>
              <a:rPr lang="en-US" sz="4000" b="1" dirty="0"/>
              <a:t>Calculate Early Start (ES), Early Finish (EF), Late Start (LS), and Late Finish (LF)</a:t>
            </a:r>
            <a:endParaRPr lang="x-none" sz="4000" b="1" dirty="0"/>
          </a:p>
        </p:txBody>
      </p:sp>
      <p:sp>
        <p:nvSpPr>
          <p:cNvPr id="3" name="Rectangle 2">
            <a:extLst>
              <a:ext uri="{FF2B5EF4-FFF2-40B4-BE49-F238E27FC236}">
                <a16:creationId xmlns:a16="http://schemas.microsoft.com/office/drawing/2014/main" xmlns="" id="{097DEB71-A912-4FB0-8992-E32E35476E87}"/>
              </a:ext>
            </a:extLst>
          </p:cNvPr>
          <p:cNvSpPr/>
          <p:nvPr/>
        </p:nvSpPr>
        <p:spPr>
          <a:xfrm>
            <a:off x="254522" y="1759145"/>
            <a:ext cx="10680569" cy="954107"/>
          </a:xfrm>
          <a:prstGeom prst="rect">
            <a:avLst/>
          </a:prstGeom>
        </p:spPr>
        <p:txBody>
          <a:bodyPr wrap="square">
            <a:spAutoFit/>
          </a:bodyPr>
          <a:lstStyle/>
          <a:p>
            <a:pPr lvl="0"/>
            <a:r>
              <a:rPr lang="en-US" sz="2800" dirty="0"/>
              <a:t>Early Start of the activity = Early Finish of predecessor activity + 1</a:t>
            </a:r>
            <a:endParaRPr lang="x-none" sz="2800" dirty="0"/>
          </a:p>
          <a:p>
            <a:pPr lvl="0"/>
            <a:r>
              <a:rPr lang="en-US" sz="2800" dirty="0"/>
              <a:t>Early Finish of the activity = Activity duration + Early Start of activity – 1</a:t>
            </a:r>
            <a:endParaRPr lang="x-none" sz="2800" dirty="0"/>
          </a:p>
        </p:txBody>
      </p:sp>
    </p:spTree>
    <p:extLst>
      <p:ext uri="{BB962C8B-B14F-4D97-AF65-F5344CB8AC3E}">
        <p14:creationId xmlns:p14="http://schemas.microsoft.com/office/powerpoint/2010/main" val="19737792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0565CE-8362-4683-922A-F9541B39632D}"/>
              </a:ext>
            </a:extLst>
          </p:cNvPr>
          <p:cNvSpPr>
            <a:spLocks noGrp="1"/>
          </p:cNvSpPr>
          <p:nvPr>
            <p:ph type="title"/>
          </p:nvPr>
        </p:nvSpPr>
        <p:spPr>
          <a:xfrm>
            <a:off x="179109" y="563089"/>
            <a:ext cx="11830639" cy="370166"/>
          </a:xfrm>
        </p:spPr>
        <p:txBody>
          <a:bodyPr>
            <a:noAutofit/>
          </a:bodyPr>
          <a:lstStyle/>
          <a:p>
            <a:r>
              <a:rPr lang="en-US" sz="4000" b="1" dirty="0"/>
              <a:t>Calculate Early Start (ES), Early Finish (EF), Late Start (LS), and Late Finish (LF)</a:t>
            </a:r>
            <a:endParaRPr lang="x-none" sz="4000" b="1" dirty="0"/>
          </a:p>
        </p:txBody>
      </p:sp>
      <p:sp>
        <p:nvSpPr>
          <p:cNvPr id="5" name="Content Placeholder 4">
            <a:extLst>
              <a:ext uri="{FF2B5EF4-FFF2-40B4-BE49-F238E27FC236}">
                <a16:creationId xmlns:a16="http://schemas.microsoft.com/office/drawing/2014/main" xmlns="" id="{38521F6F-8CE8-4985-BBDD-8794E925A9D9}"/>
              </a:ext>
            </a:extLst>
          </p:cNvPr>
          <p:cNvSpPr>
            <a:spLocks noGrp="1"/>
          </p:cNvSpPr>
          <p:nvPr>
            <p:ph idx="1"/>
          </p:nvPr>
        </p:nvSpPr>
        <p:spPr>
          <a:xfrm>
            <a:off x="320511" y="1611983"/>
            <a:ext cx="11547835" cy="4939645"/>
          </a:xfrm>
        </p:spPr>
        <p:txBody>
          <a:bodyPr>
            <a:normAutofit/>
          </a:bodyPr>
          <a:lstStyle/>
          <a:p>
            <a:pPr algn="just"/>
            <a:r>
              <a:rPr lang="en-US" b="1" dirty="0"/>
              <a:t>Calculating Late Start (LS) and Late Finish (LF)</a:t>
            </a:r>
            <a:endParaRPr lang="en-US" dirty="0"/>
          </a:p>
          <a:p>
            <a:pPr algn="just"/>
            <a:r>
              <a:rPr lang="en-US" dirty="0"/>
              <a:t>Late Finish of the last activity in any path will be the same as the Last Finish of the last activity on the critical path, because you cannot continue any activity once the project is completed.</a:t>
            </a:r>
            <a:endParaRPr lang="x-none" dirty="0"/>
          </a:p>
          <a:p>
            <a:r>
              <a:rPr lang="en-US" dirty="0"/>
              <a:t>The formula used for Late Start and Late Finish dates:</a:t>
            </a:r>
            <a:endParaRPr lang="x-none" dirty="0"/>
          </a:p>
          <a:p>
            <a:pPr marL="0" lvl="0" indent="0">
              <a:buNone/>
            </a:pPr>
            <a:r>
              <a:rPr lang="en-US" dirty="0"/>
              <a:t>	Late Start of Activity = Late Finish of activity – activity duration + 1</a:t>
            </a:r>
            <a:endParaRPr lang="x-none" dirty="0"/>
          </a:p>
          <a:p>
            <a:pPr marL="0" lvl="0" indent="0">
              <a:buNone/>
            </a:pPr>
            <a:r>
              <a:rPr lang="en-US" dirty="0"/>
              <a:t>	Late Finish of Activity = Late Start of successor activity – 1</a:t>
            </a:r>
            <a:endParaRPr lang="x-none" dirty="0"/>
          </a:p>
          <a:p>
            <a:r>
              <a:rPr lang="en-US" dirty="0"/>
              <a:t>To calculate the Late Start and Late Finish, we use backward pass; i.e. we will start from the last activity and move back towards the first activity.</a:t>
            </a:r>
            <a:endParaRPr lang="x-none" dirty="0"/>
          </a:p>
          <a:p>
            <a:pPr algn="just"/>
            <a:endParaRPr lang="x-none" sz="3200" dirty="0"/>
          </a:p>
        </p:txBody>
      </p:sp>
    </p:spTree>
    <p:extLst>
      <p:ext uri="{BB962C8B-B14F-4D97-AF65-F5344CB8AC3E}">
        <p14:creationId xmlns:p14="http://schemas.microsoft.com/office/powerpoint/2010/main" val="1445154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PM Diagram- Late Dates, path ABC">
            <a:extLst>
              <a:ext uri="{FF2B5EF4-FFF2-40B4-BE49-F238E27FC236}">
                <a16:creationId xmlns:a16="http://schemas.microsoft.com/office/drawing/2014/main" xmlns="" id="{068CAF77-2954-4262-BBB1-D433A491E81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48412" y="1498862"/>
            <a:ext cx="10152668" cy="4392891"/>
          </a:xfrm>
          <a:prstGeom prst="rect">
            <a:avLst/>
          </a:prstGeom>
          <a:noFill/>
          <a:ln>
            <a:noFill/>
          </a:ln>
        </p:spPr>
      </p:pic>
      <p:sp>
        <p:nvSpPr>
          <p:cNvPr id="2" name="Title 1">
            <a:extLst>
              <a:ext uri="{FF2B5EF4-FFF2-40B4-BE49-F238E27FC236}">
                <a16:creationId xmlns:a16="http://schemas.microsoft.com/office/drawing/2014/main" xmlns="" id="{710565CE-8362-4683-922A-F9541B39632D}"/>
              </a:ext>
            </a:extLst>
          </p:cNvPr>
          <p:cNvSpPr>
            <a:spLocks noGrp="1"/>
          </p:cNvSpPr>
          <p:nvPr>
            <p:ph type="title"/>
          </p:nvPr>
        </p:nvSpPr>
        <p:spPr>
          <a:xfrm>
            <a:off x="179109" y="563089"/>
            <a:ext cx="11830639" cy="370166"/>
          </a:xfrm>
        </p:spPr>
        <p:txBody>
          <a:bodyPr>
            <a:noAutofit/>
          </a:bodyPr>
          <a:lstStyle/>
          <a:p>
            <a:r>
              <a:rPr lang="en-US" sz="4000" b="1" dirty="0"/>
              <a:t>Calculate Early Start (ES), Early Finish (EF), Late Start (LS), and Late Finish (LF)</a:t>
            </a:r>
            <a:endParaRPr lang="x-none" sz="4000" b="1" dirty="0"/>
          </a:p>
        </p:txBody>
      </p:sp>
      <p:sp>
        <p:nvSpPr>
          <p:cNvPr id="5" name="Content Placeholder 4">
            <a:extLst>
              <a:ext uri="{FF2B5EF4-FFF2-40B4-BE49-F238E27FC236}">
                <a16:creationId xmlns:a16="http://schemas.microsoft.com/office/drawing/2014/main" xmlns="" id="{38521F6F-8CE8-4985-BBDD-8794E925A9D9}"/>
              </a:ext>
            </a:extLst>
          </p:cNvPr>
          <p:cNvSpPr>
            <a:spLocks noGrp="1"/>
          </p:cNvSpPr>
          <p:nvPr>
            <p:ph idx="1"/>
          </p:nvPr>
        </p:nvSpPr>
        <p:spPr>
          <a:xfrm>
            <a:off x="320511" y="1611983"/>
            <a:ext cx="11547835" cy="4939645"/>
          </a:xfrm>
        </p:spPr>
        <p:txBody>
          <a:bodyPr>
            <a:normAutofit fontScale="92500" lnSpcReduction="10000"/>
          </a:bodyPr>
          <a:lstStyle/>
          <a:p>
            <a:r>
              <a:rPr lang="en-US" b="1" dirty="0"/>
              <a:t>Late Start and Late Finish Dates for the path Start -&gt; A -&gt; B -&gt; C -&gt; End</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On a critical path, Early Start, and Early Finish dates will be the same as Late Start and Late Finish dates</a:t>
            </a:r>
          </a:p>
          <a:p>
            <a:endParaRPr lang="x-none" dirty="0"/>
          </a:p>
        </p:txBody>
      </p:sp>
    </p:spTree>
    <p:extLst>
      <p:ext uri="{BB962C8B-B14F-4D97-AF65-F5344CB8AC3E}">
        <p14:creationId xmlns:p14="http://schemas.microsoft.com/office/powerpoint/2010/main" val="3667472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PM Diagram- Late Dates, path DEF">
            <a:extLst>
              <a:ext uri="{FF2B5EF4-FFF2-40B4-BE49-F238E27FC236}">
                <a16:creationId xmlns:a16="http://schemas.microsoft.com/office/drawing/2014/main" xmlns="" id="{33EDAD43-4023-4EEC-AD15-F1E93E417FF6}"/>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57839" y="1536569"/>
            <a:ext cx="9907571" cy="3709447"/>
          </a:xfrm>
          <a:prstGeom prst="rect">
            <a:avLst/>
          </a:prstGeom>
          <a:noFill/>
          <a:ln>
            <a:noFill/>
          </a:ln>
        </p:spPr>
      </p:pic>
      <p:sp>
        <p:nvSpPr>
          <p:cNvPr id="2" name="Title 1">
            <a:extLst>
              <a:ext uri="{FF2B5EF4-FFF2-40B4-BE49-F238E27FC236}">
                <a16:creationId xmlns:a16="http://schemas.microsoft.com/office/drawing/2014/main" xmlns="" id="{710565CE-8362-4683-922A-F9541B39632D}"/>
              </a:ext>
            </a:extLst>
          </p:cNvPr>
          <p:cNvSpPr>
            <a:spLocks noGrp="1"/>
          </p:cNvSpPr>
          <p:nvPr>
            <p:ph type="title"/>
          </p:nvPr>
        </p:nvSpPr>
        <p:spPr>
          <a:xfrm>
            <a:off x="179109" y="563089"/>
            <a:ext cx="11830639" cy="370166"/>
          </a:xfrm>
        </p:spPr>
        <p:txBody>
          <a:bodyPr>
            <a:noAutofit/>
          </a:bodyPr>
          <a:lstStyle/>
          <a:p>
            <a:r>
              <a:rPr lang="en-US" sz="4000" b="1" dirty="0"/>
              <a:t>Calculate Early Start (ES), Early Finish (EF), Late Start (LS), and Late Finish (LF)</a:t>
            </a:r>
            <a:endParaRPr lang="x-none" sz="4000" b="1" dirty="0"/>
          </a:p>
        </p:txBody>
      </p:sp>
      <p:sp>
        <p:nvSpPr>
          <p:cNvPr id="5" name="Content Placeholder 4">
            <a:extLst>
              <a:ext uri="{FF2B5EF4-FFF2-40B4-BE49-F238E27FC236}">
                <a16:creationId xmlns:a16="http://schemas.microsoft.com/office/drawing/2014/main" xmlns="" id="{38521F6F-8CE8-4985-BBDD-8794E925A9D9}"/>
              </a:ext>
            </a:extLst>
          </p:cNvPr>
          <p:cNvSpPr>
            <a:spLocks noGrp="1"/>
          </p:cNvSpPr>
          <p:nvPr>
            <p:ph idx="1"/>
          </p:nvPr>
        </p:nvSpPr>
        <p:spPr>
          <a:xfrm>
            <a:off x="320511" y="1611983"/>
            <a:ext cx="11547835" cy="5081048"/>
          </a:xfrm>
        </p:spPr>
        <p:txBody>
          <a:bodyPr>
            <a:normAutofit fontScale="85000" lnSpcReduction="20000"/>
          </a:bodyPr>
          <a:lstStyle/>
          <a:p>
            <a:r>
              <a:rPr lang="en-US" b="1" dirty="0"/>
              <a:t>Late Start and Late Finish Dates for the path Start -&gt; D -&gt; E -&gt; F -&gt; End</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r>
              <a:rPr lang="en-US" dirty="0"/>
              <a:t>Late Finish of activity F = 31 </a:t>
            </a:r>
            <a:r>
              <a:rPr lang="en-US" i="1" dirty="0"/>
              <a:t>(because you cannot allow any activity to cross the project completion date)</a:t>
            </a:r>
            <a:endParaRPr lang="x-none" dirty="0"/>
          </a:p>
          <a:p>
            <a:r>
              <a:rPr lang="en-US" dirty="0"/>
              <a:t>Late Start of activity F = LF of activity F – activity duration + 1</a:t>
            </a:r>
            <a:br>
              <a:rPr lang="en-US" dirty="0"/>
            </a:br>
            <a:r>
              <a:rPr lang="en-US" dirty="0"/>
              <a:t>= 31 – 6 +1 = 26</a:t>
            </a:r>
            <a:endParaRPr lang="x-none" dirty="0"/>
          </a:p>
          <a:p>
            <a:endParaRPr lang="x-none" dirty="0"/>
          </a:p>
        </p:txBody>
      </p:sp>
    </p:spTree>
    <p:extLst>
      <p:ext uri="{BB962C8B-B14F-4D97-AF65-F5344CB8AC3E}">
        <p14:creationId xmlns:p14="http://schemas.microsoft.com/office/powerpoint/2010/main" val="2628150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PM Diagram- Late Dates, path DEF">
            <a:extLst>
              <a:ext uri="{FF2B5EF4-FFF2-40B4-BE49-F238E27FC236}">
                <a16:creationId xmlns:a16="http://schemas.microsoft.com/office/drawing/2014/main" xmlns="" id="{33EDAD43-4023-4EEC-AD15-F1E93E417FF6}"/>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57839" y="1536569"/>
            <a:ext cx="9907571" cy="3709447"/>
          </a:xfrm>
          <a:prstGeom prst="rect">
            <a:avLst/>
          </a:prstGeom>
          <a:noFill/>
          <a:ln>
            <a:noFill/>
          </a:ln>
        </p:spPr>
      </p:pic>
      <p:sp>
        <p:nvSpPr>
          <p:cNvPr id="2" name="Title 1">
            <a:extLst>
              <a:ext uri="{FF2B5EF4-FFF2-40B4-BE49-F238E27FC236}">
                <a16:creationId xmlns:a16="http://schemas.microsoft.com/office/drawing/2014/main" xmlns="" id="{710565CE-8362-4683-922A-F9541B39632D}"/>
              </a:ext>
            </a:extLst>
          </p:cNvPr>
          <p:cNvSpPr>
            <a:spLocks noGrp="1"/>
          </p:cNvSpPr>
          <p:nvPr>
            <p:ph type="title"/>
          </p:nvPr>
        </p:nvSpPr>
        <p:spPr>
          <a:xfrm>
            <a:off x="179109" y="563089"/>
            <a:ext cx="11830639" cy="370166"/>
          </a:xfrm>
        </p:spPr>
        <p:txBody>
          <a:bodyPr>
            <a:noAutofit/>
          </a:bodyPr>
          <a:lstStyle/>
          <a:p>
            <a:r>
              <a:rPr lang="en-US" sz="4000" b="1" dirty="0"/>
              <a:t>Calculate Early Start (ES), Early Finish (EF), Late Start (LS), and Late Finish (LF)</a:t>
            </a:r>
            <a:endParaRPr lang="x-none" sz="4000" b="1" dirty="0"/>
          </a:p>
        </p:txBody>
      </p:sp>
      <p:sp>
        <p:nvSpPr>
          <p:cNvPr id="5" name="Content Placeholder 4">
            <a:extLst>
              <a:ext uri="{FF2B5EF4-FFF2-40B4-BE49-F238E27FC236}">
                <a16:creationId xmlns:a16="http://schemas.microsoft.com/office/drawing/2014/main" xmlns="" id="{38521F6F-8CE8-4985-BBDD-8794E925A9D9}"/>
              </a:ext>
            </a:extLst>
          </p:cNvPr>
          <p:cNvSpPr>
            <a:spLocks noGrp="1"/>
          </p:cNvSpPr>
          <p:nvPr>
            <p:ph idx="1"/>
          </p:nvPr>
        </p:nvSpPr>
        <p:spPr>
          <a:xfrm>
            <a:off x="320511" y="1611983"/>
            <a:ext cx="11547835" cy="5081048"/>
          </a:xfrm>
        </p:spPr>
        <p:txBody>
          <a:bodyPr>
            <a:normAutofit fontScale="77500" lnSpcReduction="20000"/>
          </a:bodyPr>
          <a:lstStyle/>
          <a:p>
            <a:r>
              <a:rPr lang="en-US" b="1" dirty="0"/>
              <a:t>Late Start and Late Finish Dates for the path Start -&gt; D -&gt; E -&gt; F -&gt; End</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r>
              <a:rPr lang="en-US" dirty="0"/>
              <a:t>Late Finish of activity E = LS of successor activity – 1</a:t>
            </a:r>
            <a:br>
              <a:rPr lang="en-US" dirty="0"/>
            </a:br>
            <a:r>
              <a:rPr lang="en-US" dirty="0"/>
              <a:t>= LS of activity F – 1</a:t>
            </a:r>
            <a:br>
              <a:rPr lang="en-US" dirty="0"/>
            </a:br>
            <a:r>
              <a:rPr lang="en-US" dirty="0"/>
              <a:t>= 26 – 1 = 25</a:t>
            </a:r>
            <a:endParaRPr lang="x-none" dirty="0"/>
          </a:p>
          <a:p>
            <a:r>
              <a:rPr lang="en-US" dirty="0"/>
              <a:t>Late Start of Activity E = LF of activity E – activity duration + 1</a:t>
            </a:r>
            <a:br>
              <a:rPr lang="en-US" dirty="0"/>
            </a:br>
            <a:r>
              <a:rPr lang="en-US" dirty="0"/>
              <a:t>= 25 – 7 + 1 = 19</a:t>
            </a:r>
            <a:endParaRPr lang="x-none" dirty="0"/>
          </a:p>
          <a:p>
            <a:r>
              <a:rPr lang="en-US" dirty="0"/>
              <a:t>Late Finish of activity D = LS of successor activity – 1</a:t>
            </a:r>
            <a:endParaRPr lang="x-none" dirty="0"/>
          </a:p>
          <a:p>
            <a:endParaRPr lang="x-none" dirty="0"/>
          </a:p>
        </p:txBody>
      </p:sp>
    </p:spTree>
    <p:extLst>
      <p:ext uri="{BB962C8B-B14F-4D97-AF65-F5344CB8AC3E}">
        <p14:creationId xmlns:p14="http://schemas.microsoft.com/office/powerpoint/2010/main" val="876567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0565CE-8362-4683-922A-F9541B39632D}"/>
              </a:ext>
            </a:extLst>
          </p:cNvPr>
          <p:cNvSpPr>
            <a:spLocks noGrp="1"/>
          </p:cNvSpPr>
          <p:nvPr>
            <p:ph type="title"/>
          </p:nvPr>
        </p:nvSpPr>
        <p:spPr>
          <a:xfrm>
            <a:off x="179109" y="563089"/>
            <a:ext cx="11830639" cy="370166"/>
          </a:xfrm>
        </p:spPr>
        <p:txBody>
          <a:bodyPr>
            <a:noAutofit/>
          </a:bodyPr>
          <a:lstStyle/>
          <a:p>
            <a:r>
              <a:rPr lang="en-US" sz="4000" b="1" dirty="0"/>
              <a:t>Calculate Early Start (ES), Early Finish (EF), Late Start (LS), and Late Finish (LF)</a:t>
            </a:r>
            <a:endParaRPr lang="x-none" sz="4000" b="1" dirty="0"/>
          </a:p>
        </p:txBody>
      </p:sp>
      <p:sp>
        <p:nvSpPr>
          <p:cNvPr id="5" name="Content Placeholder 4">
            <a:extLst>
              <a:ext uri="{FF2B5EF4-FFF2-40B4-BE49-F238E27FC236}">
                <a16:creationId xmlns:a16="http://schemas.microsoft.com/office/drawing/2014/main" xmlns="" id="{38521F6F-8CE8-4985-BBDD-8794E925A9D9}"/>
              </a:ext>
            </a:extLst>
          </p:cNvPr>
          <p:cNvSpPr>
            <a:spLocks noGrp="1"/>
          </p:cNvSpPr>
          <p:nvPr>
            <p:ph idx="1"/>
          </p:nvPr>
        </p:nvSpPr>
        <p:spPr>
          <a:xfrm>
            <a:off x="320511" y="1611983"/>
            <a:ext cx="11547835" cy="5081048"/>
          </a:xfrm>
        </p:spPr>
        <p:txBody>
          <a:bodyPr>
            <a:normAutofit fontScale="92500" lnSpcReduction="10000"/>
          </a:bodyPr>
          <a:lstStyle/>
          <a:p>
            <a:r>
              <a:rPr lang="en-US" b="1" dirty="0"/>
              <a:t>Late Start and Late Finish Dates for the path Start -&gt; D -&gt; E -&gt; F -&gt; End</a:t>
            </a:r>
          </a:p>
          <a:p>
            <a:endParaRPr lang="en-US" b="1" dirty="0"/>
          </a:p>
          <a:p>
            <a:r>
              <a:rPr lang="en-US" dirty="0"/>
              <a:t>If you look at the network diagram, you will notice that activity D has two successor activities, B and E. So, which activity will you select?</a:t>
            </a:r>
            <a:endParaRPr lang="x-none" dirty="0"/>
          </a:p>
          <a:p>
            <a:r>
              <a:rPr lang="en-US" dirty="0"/>
              <a:t>You will select the activity with the earlier(least) Late Start date. Here, Late Start of activity B is 11, and Late Start of activity E is 19.</a:t>
            </a:r>
            <a:endParaRPr lang="x-none" dirty="0"/>
          </a:p>
          <a:p>
            <a:r>
              <a:rPr lang="en-US" dirty="0"/>
              <a:t>Therefore, you will select activity B which has the earlier Late Start date.</a:t>
            </a:r>
            <a:endParaRPr lang="x-none" dirty="0"/>
          </a:p>
          <a:p>
            <a:r>
              <a:rPr lang="en-US" dirty="0"/>
              <a:t>Hence,</a:t>
            </a:r>
            <a:endParaRPr lang="x-none" dirty="0"/>
          </a:p>
          <a:p>
            <a:pPr marL="0" indent="0">
              <a:buNone/>
            </a:pPr>
            <a:r>
              <a:rPr lang="en-US" dirty="0"/>
              <a:t>	Late Finish of activity D = LS of activity B – 1</a:t>
            </a:r>
            <a:br>
              <a:rPr lang="en-US" dirty="0"/>
            </a:br>
            <a:r>
              <a:rPr lang="en-US" dirty="0"/>
              <a:t>	= 11 – 1 = 10</a:t>
            </a:r>
          </a:p>
          <a:p>
            <a:pPr marL="0" indent="0">
              <a:buNone/>
            </a:pPr>
            <a:r>
              <a:rPr lang="en-US" dirty="0"/>
              <a:t>	Late Start of Activity D = LF of activity D – activity duration + 1</a:t>
            </a:r>
          </a:p>
          <a:p>
            <a:pPr marL="0" indent="0">
              <a:buNone/>
            </a:pPr>
            <a:r>
              <a:rPr lang="en-US" dirty="0"/>
              <a:t>	= 10 – 5 + 1 = 6</a:t>
            </a:r>
            <a:endParaRPr lang="x-none" dirty="0"/>
          </a:p>
          <a:p>
            <a:endParaRPr lang="en-US" b="1" dirty="0"/>
          </a:p>
          <a:p>
            <a:endParaRPr lang="en-US" b="1" dirty="0"/>
          </a:p>
          <a:p>
            <a:endParaRPr lang="x-none" dirty="0"/>
          </a:p>
        </p:txBody>
      </p:sp>
    </p:spTree>
    <p:extLst>
      <p:ext uri="{BB962C8B-B14F-4D97-AF65-F5344CB8AC3E}">
        <p14:creationId xmlns:p14="http://schemas.microsoft.com/office/powerpoint/2010/main" val="21617490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382765-6A01-408F-920F-DD8EEAFC4E04}"/>
              </a:ext>
            </a:extLst>
          </p:cNvPr>
          <p:cNvSpPr>
            <a:spLocks noGrp="1"/>
          </p:cNvSpPr>
          <p:nvPr>
            <p:ph type="title"/>
          </p:nvPr>
        </p:nvSpPr>
        <p:spPr/>
        <p:txBody>
          <a:bodyPr/>
          <a:lstStyle/>
          <a:p>
            <a:endParaRPr lang="x-none"/>
          </a:p>
        </p:txBody>
      </p:sp>
      <p:pic>
        <p:nvPicPr>
          <p:cNvPr id="4" name="Content Placeholder 3" descr="CPM-Diagram-Late-Dates-path-GHI- updated">
            <a:extLst>
              <a:ext uri="{FF2B5EF4-FFF2-40B4-BE49-F238E27FC236}">
                <a16:creationId xmlns:a16="http://schemas.microsoft.com/office/drawing/2014/main" xmlns="" id="{08290730-CD72-45C5-B12C-C3B0C3514FF0}"/>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4907" y="160256"/>
            <a:ext cx="10515600" cy="6212264"/>
          </a:xfrm>
          <a:prstGeom prst="rect">
            <a:avLst/>
          </a:prstGeom>
          <a:noFill/>
          <a:ln>
            <a:noFill/>
          </a:ln>
        </p:spPr>
      </p:pic>
    </p:spTree>
    <p:extLst>
      <p:ext uri="{BB962C8B-B14F-4D97-AF65-F5344CB8AC3E}">
        <p14:creationId xmlns:p14="http://schemas.microsoft.com/office/powerpoint/2010/main" val="4288536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B445DF-21BF-4F5F-B302-E7D2CBE7E294}"/>
              </a:ext>
            </a:extLst>
          </p:cNvPr>
          <p:cNvSpPr>
            <a:spLocks noGrp="1"/>
          </p:cNvSpPr>
          <p:nvPr>
            <p:ph type="title"/>
          </p:nvPr>
        </p:nvSpPr>
        <p:spPr/>
        <p:txBody>
          <a:bodyPr/>
          <a:lstStyle/>
          <a:p>
            <a:r>
              <a:rPr lang="en-US" b="1" dirty="0"/>
              <a:t>Calculate the Free and Total Float</a:t>
            </a:r>
            <a:endParaRPr lang="x-none" dirty="0"/>
          </a:p>
        </p:txBody>
      </p:sp>
      <p:sp>
        <p:nvSpPr>
          <p:cNvPr id="3" name="Content Placeholder 2">
            <a:extLst>
              <a:ext uri="{FF2B5EF4-FFF2-40B4-BE49-F238E27FC236}">
                <a16:creationId xmlns:a16="http://schemas.microsoft.com/office/drawing/2014/main" xmlns="" id="{0A5D9896-2326-49CA-8EE9-BF3FA5947E22}"/>
              </a:ext>
            </a:extLst>
          </p:cNvPr>
          <p:cNvSpPr>
            <a:spLocks noGrp="1"/>
          </p:cNvSpPr>
          <p:nvPr>
            <p:ph idx="1"/>
          </p:nvPr>
        </p:nvSpPr>
        <p:spPr/>
        <p:txBody>
          <a:bodyPr>
            <a:normAutofit fontScale="92500"/>
          </a:bodyPr>
          <a:lstStyle/>
          <a:p>
            <a:r>
              <a:rPr lang="en-US" b="1" dirty="0"/>
              <a:t>Total Float</a:t>
            </a:r>
            <a:endParaRPr lang="x-none" dirty="0"/>
          </a:p>
          <a:p>
            <a:r>
              <a:rPr lang="en-US" dirty="0"/>
              <a:t>Many of us are aware of Total float, which is commonly referred to as a float.</a:t>
            </a:r>
            <a:endParaRPr lang="x-none" dirty="0"/>
          </a:p>
          <a:p>
            <a:r>
              <a:rPr lang="en-US" dirty="0"/>
              <a:t>Total float is the amount of time an activity can be delayed without delaying the project completion date. On a critical path, the total float is zero.</a:t>
            </a:r>
            <a:endParaRPr lang="x-none" dirty="0"/>
          </a:p>
          <a:p>
            <a:r>
              <a:rPr lang="en-US" dirty="0"/>
              <a:t>Total float is often known as the slack.</a:t>
            </a:r>
            <a:endParaRPr lang="x-none" dirty="0"/>
          </a:p>
          <a:p>
            <a:r>
              <a:rPr lang="en-US" dirty="0"/>
              <a:t>You can calculate the total float by subtracting the Early Start date of activity from its Late Start date (Late Start date – Early Start date), or Early Finish date from its Late Finish date (Late Finish date – Early Finish date).</a:t>
            </a:r>
            <a:endParaRPr lang="x-none" dirty="0"/>
          </a:p>
          <a:p>
            <a:endParaRPr lang="x-none" dirty="0"/>
          </a:p>
        </p:txBody>
      </p:sp>
    </p:spTree>
    <p:extLst>
      <p:ext uri="{BB962C8B-B14F-4D97-AF65-F5344CB8AC3E}">
        <p14:creationId xmlns:p14="http://schemas.microsoft.com/office/powerpoint/2010/main" val="17167004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B445DF-21BF-4F5F-B302-E7D2CBE7E294}"/>
              </a:ext>
            </a:extLst>
          </p:cNvPr>
          <p:cNvSpPr>
            <a:spLocks noGrp="1"/>
          </p:cNvSpPr>
          <p:nvPr>
            <p:ph type="title"/>
          </p:nvPr>
        </p:nvSpPr>
        <p:spPr/>
        <p:txBody>
          <a:bodyPr/>
          <a:lstStyle/>
          <a:p>
            <a:r>
              <a:rPr lang="en-US" b="1" dirty="0"/>
              <a:t>Calculate the Free and Total Float</a:t>
            </a:r>
            <a:endParaRPr lang="x-none" dirty="0"/>
          </a:p>
        </p:txBody>
      </p:sp>
      <p:sp>
        <p:nvSpPr>
          <p:cNvPr id="3" name="Content Placeholder 2">
            <a:extLst>
              <a:ext uri="{FF2B5EF4-FFF2-40B4-BE49-F238E27FC236}">
                <a16:creationId xmlns:a16="http://schemas.microsoft.com/office/drawing/2014/main" xmlns="" id="{0A5D9896-2326-49CA-8EE9-BF3FA5947E22}"/>
              </a:ext>
            </a:extLst>
          </p:cNvPr>
          <p:cNvSpPr>
            <a:spLocks noGrp="1"/>
          </p:cNvSpPr>
          <p:nvPr>
            <p:ph idx="1"/>
          </p:nvPr>
        </p:nvSpPr>
        <p:spPr/>
        <p:txBody>
          <a:bodyPr>
            <a:normAutofit lnSpcReduction="10000"/>
          </a:bodyPr>
          <a:lstStyle/>
          <a:p>
            <a:r>
              <a:rPr lang="en-US" b="1" dirty="0"/>
              <a:t>Free Float</a:t>
            </a:r>
            <a:endParaRPr lang="x-none" dirty="0"/>
          </a:p>
          <a:p>
            <a:r>
              <a:rPr lang="en-US" dirty="0"/>
              <a:t>Now, we come to free float. This is going to be a bit different and might be new to you.</a:t>
            </a:r>
            <a:endParaRPr lang="x-none" dirty="0"/>
          </a:p>
          <a:p>
            <a:r>
              <a:rPr lang="en-US" dirty="0"/>
              <a:t>Free float is the amount of time an activity can be delayed without delaying the Early Start of its successor activity.</a:t>
            </a:r>
            <a:endParaRPr lang="x-none" dirty="0"/>
          </a:p>
          <a:p>
            <a:r>
              <a:rPr lang="en-US" dirty="0"/>
              <a:t>You can calculate the free float by subtracting the Early Finish date of the activity from the Early Start date of the next activity (ES of next Activity – EF of current Activity).</a:t>
            </a:r>
            <a:endParaRPr lang="x-none" dirty="0"/>
          </a:p>
          <a:p>
            <a:r>
              <a:rPr lang="en-US" dirty="0"/>
              <a:t>Please note that if two activities are converging to a single activity, only one of these two activities may have a free float.</a:t>
            </a:r>
            <a:endParaRPr lang="x-none" dirty="0"/>
          </a:p>
        </p:txBody>
      </p:sp>
    </p:spTree>
    <p:extLst>
      <p:ext uri="{BB962C8B-B14F-4D97-AF65-F5344CB8AC3E}">
        <p14:creationId xmlns:p14="http://schemas.microsoft.com/office/powerpoint/2010/main" val="31204146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B445DF-21BF-4F5F-B302-E7D2CBE7E294}"/>
              </a:ext>
            </a:extLst>
          </p:cNvPr>
          <p:cNvSpPr>
            <a:spLocks noGrp="1"/>
          </p:cNvSpPr>
          <p:nvPr>
            <p:ph type="title"/>
          </p:nvPr>
        </p:nvSpPr>
        <p:spPr/>
        <p:txBody>
          <a:bodyPr/>
          <a:lstStyle/>
          <a:p>
            <a:r>
              <a:rPr lang="en-US" b="1" dirty="0"/>
              <a:t>Calculate the Free and Total Float</a:t>
            </a:r>
            <a:endParaRPr lang="x-none" dirty="0"/>
          </a:p>
        </p:txBody>
      </p:sp>
      <p:pic>
        <p:nvPicPr>
          <p:cNvPr id="4" name="Picture 3" descr="total float and free float">
            <a:extLst>
              <a:ext uri="{FF2B5EF4-FFF2-40B4-BE49-F238E27FC236}">
                <a16:creationId xmlns:a16="http://schemas.microsoft.com/office/drawing/2014/main" xmlns="" id="{D74820A9-A7C6-4E56-8DAE-B06BB91406F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216058" y="2017336"/>
            <a:ext cx="9370243" cy="4213781"/>
          </a:xfrm>
          <a:prstGeom prst="rect">
            <a:avLst/>
          </a:prstGeom>
          <a:noFill/>
          <a:ln>
            <a:noFill/>
          </a:ln>
        </p:spPr>
      </p:pic>
    </p:spTree>
    <p:extLst>
      <p:ext uri="{BB962C8B-B14F-4D97-AF65-F5344CB8AC3E}">
        <p14:creationId xmlns:p14="http://schemas.microsoft.com/office/powerpoint/2010/main" val="32103984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B445DF-21BF-4F5F-B302-E7D2CBE7E294}"/>
              </a:ext>
            </a:extLst>
          </p:cNvPr>
          <p:cNvSpPr>
            <a:spLocks noGrp="1"/>
          </p:cNvSpPr>
          <p:nvPr>
            <p:ph type="title"/>
          </p:nvPr>
        </p:nvSpPr>
        <p:spPr/>
        <p:txBody>
          <a:bodyPr/>
          <a:lstStyle/>
          <a:p>
            <a:r>
              <a:rPr lang="en-US" b="1" dirty="0"/>
              <a:t>Calculate the Free and Total Float</a:t>
            </a:r>
            <a:endParaRPr lang="x-none" dirty="0"/>
          </a:p>
        </p:txBody>
      </p:sp>
      <p:sp>
        <p:nvSpPr>
          <p:cNvPr id="3" name="Rectangle 2">
            <a:extLst>
              <a:ext uri="{FF2B5EF4-FFF2-40B4-BE49-F238E27FC236}">
                <a16:creationId xmlns:a16="http://schemas.microsoft.com/office/drawing/2014/main" xmlns="" id="{31CFC6DA-B657-4267-8547-EDAC7E395A6C}"/>
              </a:ext>
            </a:extLst>
          </p:cNvPr>
          <p:cNvSpPr/>
          <p:nvPr/>
        </p:nvSpPr>
        <p:spPr>
          <a:xfrm>
            <a:off x="593889" y="2372860"/>
            <a:ext cx="11283884" cy="3580532"/>
          </a:xfrm>
          <a:prstGeom prst="rect">
            <a:avLst/>
          </a:prstGeom>
        </p:spPr>
        <p:txBody>
          <a:bodyPr wrap="square">
            <a:spAutoFit/>
          </a:bodyPr>
          <a:lstStyle/>
          <a:p>
            <a:pPr>
              <a:lnSpc>
                <a:spcPct val="115000"/>
              </a:lnSpc>
              <a:spcBef>
                <a:spcPts val="600"/>
              </a:spcBef>
              <a:spcAft>
                <a:spcPts val="1200"/>
              </a:spcAft>
            </a:pPr>
            <a:r>
              <a:rPr lang="en-US" sz="3200" dirty="0">
                <a:solidFill>
                  <a:srgbClr val="3A3A3A"/>
                </a:solidFill>
                <a:latin typeface="Times New Roman" panose="02020603050405020304" pitchFamily="18" charset="0"/>
                <a:ea typeface="Times New Roman" panose="02020603050405020304" pitchFamily="18" charset="0"/>
                <a:cs typeface="Times New Roman" panose="02020603050405020304" pitchFamily="18" charset="0"/>
              </a:rPr>
              <a:t>There are two paths in the above network diagram:</a:t>
            </a:r>
            <a:endParaRPr lang="x-none"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Bef>
                <a:spcPts val="600"/>
              </a:spcBef>
              <a:spcAft>
                <a:spcPts val="1200"/>
              </a:spcAft>
              <a:buFont typeface="+mj-lt"/>
              <a:buAutoNum type="arabicPeriod"/>
              <a:tabLst>
                <a:tab pos="457200" algn="l"/>
              </a:tabLst>
            </a:pPr>
            <a:r>
              <a:rPr lang="en-US" sz="3200" dirty="0">
                <a:solidFill>
                  <a:srgbClr val="3A3A3A"/>
                </a:solidFill>
                <a:latin typeface="Times New Roman" panose="02020603050405020304" pitchFamily="18" charset="0"/>
                <a:ea typeface="Times New Roman" panose="02020603050405020304" pitchFamily="18" charset="0"/>
                <a:cs typeface="Times New Roman" panose="02020603050405020304" pitchFamily="18" charset="0"/>
              </a:rPr>
              <a:t>The first path is A-&gt;B-&gt;D with 20 days’ duration, and</a:t>
            </a:r>
            <a:endParaRPr lang="x-none" sz="3200" dirty="0">
              <a:solidFill>
                <a:srgbClr val="3A3A3A"/>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Bef>
                <a:spcPts val="600"/>
              </a:spcBef>
              <a:spcAft>
                <a:spcPts val="1200"/>
              </a:spcAft>
              <a:buFont typeface="+mj-lt"/>
              <a:buAutoNum type="arabicPeriod"/>
              <a:tabLst>
                <a:tab pos="457200" algn="l"/>
              </a:tabLst>
            </a:pPr>
            <a:r>
              <a:rPr lang="en-US" sz="3200" dirty="0">
                <a:solidFill>
                  <a:srgbClr val="3A3A3A"/>
                </a:solidFill>
                <a:latin typeface="Times New Roman" panose="02020603050405020304" pitchFamily="18" charset="0"/>
                <a:ea typeface="Times New Roman" panose="02020603050405020304" pitchFamily="18" charset="0"/>
                <a:cs typeface="Times New Roman" panose="02020603050405020304" pitchFamily="18" charset="0"/>
              </a:rPr>
              <a:t>The second path is A-&gt;C-&gt;D with 12 days’ duration.</a:t>
            </a:r>
            <a:endParaRPr lang="x-none" sz="3200" dirty="0">
              <a:solidFill>
                <a:srgbClr val="3A3A3A"/>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Bef>
                <a:spcPts val="600"/>
              </a:spcBef>
              <a:spcAft>
                <a:spcPts val="1200"/>
              </a:spcAft>
              <a:buFont typeface="+mj-lt"/>
              <a:buAutoNum type="arabicPeriod"/>
              <a:tabLst>
                <a:tab pos="457200" algn="l"/>
              </a:tabLst>
            </a:pPr>
            <a:r>
              <a:rPr lang="en-US" sz="3200" dirty="0">
                <a:solidFill>
                  <a:srgbClr val="3A3A3A"/>
                </a:solidFill>
                <a:latin typeface="Times New Roman" panose="02020603050405020304" pitchFamily="18" charset="0"/>
                <a:ea typeface="Times New Roman" panose="02020603050405020304" pitchFamily="18" charset="0"/>
                <a:cs typeface="Times New Roman" panose="02020603050405020304" pitchFamily="18" charset="0"/>
              </a:rPr>
              <a:t>The path A-&gt;B-&gt;D is the critical path because it has the most extended duration.</a:t>
            </a:r>
            <a:endParaRPr lang="x-none" sz="3200" dirty="0">
              <a:solidFill>
                <a:srgbClr val="3A3A3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328921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B445DF-21BF-4F5F-B302-E7D2CBE7E294}"/>
              </a:ext>
            </a:extLst>
          </p:cNvPr>
          <p:cNvSpPr>
            <a:spLocks noGrp="1"/>
          </p:cNvSpPr>
          <p:nvPr>
            <p:ph type="title"/>
          </p:nvPr>
        </p:nvSpPr>
        <p:spPr/>
        <p:txBody>
          <a:bodyPr/>
          <a:lstStyle/>
          <a:p>
            <a:r>
              <a:rPr lang="en-US" b="1" dirty="0"/>
              <a:t>Calculate the Free and Total Float</a:t>
            </a:r>
            <a:endParaRPr lang="x-none" dirty="0"/>
          </a:p>
        </p:txBody>
      </p:sp>
      <p:sp>
        <p:nvSpPr>
          <p:cNvPr id="3" name="Rectangle 2">
            <a:extLst>
              <a:ext uri="{FF2B5EF4-FFF2-40B4-BE49-F238E27FC236}">
                <a16:creationId xmlns:a16="http://schemas.microsoft.com/office/drawing/2014/main" xmlns="" id="{31CFC6DA-B657-4267-8547-EDAC7E395A6C}"/>
              </a:ext>
            </a:extLst>
          </p:cNvPr>
          <p:cNvSpPr/>
          <p:nvPr/>
        </p:nvSpPr>
        <p:spPr>
          <a:xfrm>
            <a:off x="593889" y="2372860"/>
            <a:ext cx="11283884" cy="3539430"/>
          </a:xfrm>
          <a:prstGeom prst="rect">
            <a:avLst/>
          </a:prstGeom>
        </p:spPr>
        <p:txBody>
          <a:bodyPr wrap="square">
            <a:spAutoFit/>
          </a:bodyPr>
          <a:lstStyle/>
          <a:p>
            <a:r>
              <a:rPr lang="en-US" sz="3200" b="1" i="1" dirty="0"/>
              <a:t>The first method of finding the Total Float</a:t>
            </a:r>
            <a:endParaRPr lang="x-none" sz="3200" dirty="0"/>
          </a:p>
          <a:p>
            <a:r>
              <a:rPr lang="en-US" sz="3200" dirty="0"/>
              <a:t>Total float = duration of the critical path – duration of the non-critical path</a:t>
            </a:r>
            <a:endParaRPr lang="x-none" sz="3200" dirty="0"/>
          </a:p>
          <a:p>
            <a:r>
              <a:rPr lang="en-US" sz="3200" dirty="0"/>
              <a:t>= (duration of the path A-&gt;B-&gt;D) – (duration of the path A-&gt;C-&gt;D)</a:t>
            </a:r>
            <a:endParaRPr lang="x-none" sz="3200" dirty="0"/>
          </a:p>
          <a:p>
            <a:r>
              <a:rPr lang="en-US" sz="3200" dirty="0"/>
              <a:t>= 20 – 12</a:t>
            </a:r>
            <a:endParaRPr lang="x-none" sz="3200" dirty="0"/>
          </a:p>
          <a:p>
            <a:r>
              <a:rPr lang="en-US" sz="3200" dirty="0"/>
              <a:t>= 8</a:t>
            </a:r>
            <a:endParaRPr lang="x-none" sz="3200" dirty="0"/>
          </a:p>
          <a:p>
            <a:r>
              <a:rPr lang="en-US" sz="3200" dirty="0"/>
              <a:t>Hence, the total float is eight days.</a:t>
            </a:r>
            <a:endParaRPr lang="x-none" sz="3200" dirty="0"/>
          </a:p>
        </p:txBody>
      </p:sp>
    </p:spTree>
    <p:extLst>
      <p:ext uri="{BB962C8B-B14F-4D97-AF65-F5344CB8AC3E}">
        <p14:creationId xmlns:p14="http://schemas.microsoft.com/office/powerpoint/2010/main" val="13740045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B445DF-21BF-4F5F-B302-E7D2CBE7E294}"/>
              </a:ext>
            </a:extLst>
          </p:cNvPr>
          <p:cNvSpPr>
            <a:spLocks noGrp="1"/>
          </p:cNvSpPr>
          <p:nvPr>
            <p:ph type="title"/>
          </p:nvPr>
        </p:nvSpPr>
        <p:spPr>
          <a:xfrm>
            <a:off x="225458" y="167162"/>
            <a:ext cx="10515600" cy="577555"/>
          </a:xfrm>
        </p:spPr>
        <p:txBody>
          <a:bodyPr>
            <a:normAutofit fontScale="90000"/>
          </a:bodyPr>
          <a:lstStyle/>
          <a:p>
            <a:r>
              <a:rPr lang="en-US" b="1" dirty="0"/>
              <a:t>Calculate the Free and Total Float</a:t>
            </a:r>
            <a:endParaRPr lang="x-none" dirty="0"/>
          </a:p>
        </p:txBody>
      </p:sp>
      <p:sp>
        <p:nvSpPr>
          <p:cNvPr id="3" name="Rectangle 2">
            <a:extLst>
              <a:ext uri="{FF2B5EF4-FFF2-40B4-BE49-F238E27FC236}">
                <a16:creationId xmlns:a16="http://schemas.microsoft.com/office/drawing/2014/main" xmlns="" id="{31CFC6DA-B657-4267-8547-EDAC7E395A6C}"/>
              </a:ext>
            </a:extLst>
          </p:cNvPr>
          <p:cNvSpPr/>
          <p:nvPr/>
        </p:nvSpPr>
        <p:spPr>
          <a:xfrm>
            <a:off x="454058" y="1077947"/>
            <a:ext cx="11461422" cy="5693866"/>
          </a:xfrm>
          <a:prstGeom prst="rect">
            <a:avLst/>
          </a:prstGeom>
        </p:spPr>
        <p:txBody>
          <a:bodyPr wrap="square">
            <a:spAutoFit/>
          </a:bodyPr>
          <a:lstStyle/>
          <a:p>
            <a:pPr algn="just"/>
            <a:r>
              <a:rPr lang="en-US" sz="2800" b="1" i="1" dirty="0"/>
              <a:t>The second method of finding the Total Float</a:t>
            </a:r>
            <a:endParaRPr lang="x-none" sz="2800" dirty="0"/>
          </a:p>
          <a:p>
            <a:pPr algn="just"/>
            <a:r>
              <a:rPr lang="en-US" sz="2800" dirty="0"/>
              <a:t>On the path A-&gt;C-&gt;D, Activity A and D lie on the critical path; therefore, they will not have a total float. Only Activity C can have a total float.</a:t>
            </a:r>
            <a:endParaRPr lang="x-none" sz="2800" dirty="0"/>
          </a:p>
          <a:p>
            <a:pPr algn="just"/>
            <a:r>
              <a:rPr lang="en-US" sz="2800" dirty="0"/>
              <a:t>As stated earlier, we can calculate the total float by using either finish dates or start dates. Here, I will show you both ways to find it.</a:t>
            </a:r>
            <a:endParaRPr lang="x-none" sz="2800" dirty="0"/>
          </a:p>
          <a:p>
            <a:pPr algn="just"/>
            <a:r>
              <a:rPr lang="en-US" sz="2800" dirty="0"/>
              <a:t>First, we will go with the Late Finish and Early Finish dates:</a:t>
            </a:r>
            <a:endParaRPr lang="x-none" sz="2800" dirty="0"/>
          </a:p>
          <a:p>
            <a:pPr algn="just"/>
            <a:r>
              <a:rPr lang="en-US" sz="2800" dirty="0"/>
              <a:t>Total float for Activity C = (LF of Activity C – EF of Activity C)</a:t>
            </a:r>
            <a:endParaRPr lang="x-none" sz="2800" dirty="0"/>
          </a:p>
          <a:p>
            <a:pPr algn="just"/>
            <a:r>
              <a:rPr lang="en-US" sz="2800" dirty="0"/>
              <a:t>= 15 – 7    = 8</a:t>
            </a:r>
            <a:endParaRPr lang="x-none" sz="2800" dirty="0"/>
          </a:p>
          <a:p>
            <a:pPr algn="just"/>
            <a:r>
              <a:rPr lang="en-US" sz="2800" dirty="0"/>
              <a:t>Now, the second formula:</a:t>
            </a:r>
            <a:endParaRPr lang="x-none" sz="2800" dirty="0"/>
          </a:p>
          <a:p>
            <a:pPr algn="just"/>
            <a:r>
              <a:rPr lang="en-US" sz="2800" dirty="0"/>
              <a:t>Total float for Activity C = (LS of Activity C – ES of Activity C)</a:t>
            </a:r>
            <a:endParaRPr lang="x-none" sz="2800" dirty="0"/>
          </a:p>
          <a:p>
            <a:pPr algn="just"/>
            <a:r>
              <a:rPr lang="en-US" sz="2800" dirty="0"/>
              <a:t>= 14 – 6   = 8</a:t>
            </a:r>
            <a:endParaRPr lang="x-none" sz="2800" dirty="0"/>
          </a:p>
          <a:p>
            <a:pPr algn="just"/>
            <a:r>
              <a:rPr lang="en-US" sz="2800" dirty="0"/>
              <a:t>As you can see, both durations are the same, which means both formulas will provide you with the same result.</a:t>
            </a:r>
            <a:endParaRPr lang="x-none" sz="2800" dirty="0"/>
          </a:p>
        </p:txBody>
      </p:sp>
    </p:spTree>
    <p:extLst>
      <p:ext uri="{BB962C8B-B14F-4D97-AF65-F5344CB8AC3E}">
        <p14:creationId xmlns:p14="http://schemas.microsoft.com/office/powerpoint/2010/main" val="15099425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B445DF-21BF-4F5F-B302-E7D2CBE7E294}"/>
              </a:ext>
            </a:extLst>
          </p:cNvPr>
          <p:cNvSpPr>
            <a:spLocks noGrp="1"/>
          </p:cNvSpPr>
          <p:nvPr>
            <p:ph type="title"/>
          </p:nvPr>
        </p:nvSpPr>
        <p:spPr>
          <a:xfrm>
            <a:off x="225458" y="167162"/>
            <a:ext cx="10515600" cy="577555"/>
          </a:xfrm>
        </p:spPr>
        <p:txBody>
          <a:bodyPr>
            <a:normAutofit fontScale="90000"/>
          </a:bodyPr>
          <a:lstStyle/>
          <a:p>
            <a:r>
              <a:rPr lang="en-US" b="1" dirty="0"/>
              <a:t>Calculate the Free and Total Float</a:t>
            </a:r>
            <a:endParaRPr lang="x-none" dirty="0"/>
          </a:p>
        </p:txBody>
      </p:sp>
      <p:sp>
        <p:nvSpPr>
          <p:cNvPr id="3" name="Rectangle 2">
            <a:extLst>
              <a:ext uri="{FF2B5EF4-FFF2-40B4-BE49-F238E27FC236}">
                <a16:creationId xmlns:a16="http://schemas.microsoft.com/office/drawing/2014/main" xmlns="" id="{31CFC6DA-B657-4267-8547-EDAC7E395A6C}"/>
              </a:ext>
            </a:extLst>
          </p:cNvPr>
          <p:cNvSpPr/>
          <p:nvPr/>
        </p:nvSpPr>
        <p:spPr>
          <a:xfrm>
            <a:off x="454058" y="1077947"/>
            <a:ext cx="11461422" cy="4524315"/>
          </a:xfrm>
          <a:prstGeom prst="rect">
            <a:avLst/>
          </a:prstGeom>
        </p:spPr>
        <p:txBody>
          <a:bodyPr wrap="square">
            <a:spAutoFit/>
          </a:bodyPr>
          <a:lstStyle/>
          <a:p>
            <a:pPr algn="just"/>
            <a:r>
              <a:rPr lang="en-US" sz="3200" b="1" i="1" dirty="0"/>
              <a:t>Calculating the Free Float</a:t>
            </a:r>
            <a:endParaRPr lang="x-none" sz="3200" dirty="0"/>
          </a:p>
          <a:p>
            <a:pPr algn="just"/>
            <a:r>
              <a:rPr lang="en-US" sz="3200" dirty="0"/>
              <a:t>From the figure, you can see that only Activity C can have a free float because other activities are lying on the critical path.</a:t>
            </a:r>
            <a:endParaRPr lang="x-none" sz="3200" dirty="0"/>
          </a:p>
          <a:p>
            <a:pPr algn="just"/>
            <a:r>
              <a:rPr lang="en-US" sz="3200" dirty="0"/>
              <a:t>Let’s find it.</a:t>
            </a:r>
            <a:endParaRPr lang="x-none" sz="3200" dirty="0"/>
          </a:p>
          <a:p>
            <a:pPr algn="just"/>
            <a:r>
              <a:rPr lang="en-US" sz="3200" dirty="0"/>
              <a:t>Free float of Activity C = ES of next Activity – EF of Activity C – 1</a:t>
            </a:r>
            <a:endParaRPr lang="x-none" sz="3200" dirty="0"/>
          </a:p>
          <a:p>
            <a:pPr algn="just"/>
            <a:r>
              <a:rPr lang="en-US" sz="3200" dirty="0"/>
              <a:t>= 16 – 7 – 1</a:t>
            </a:r>
            <a:endParaRPr lang="x-none" sz="3200" dirty="0"/>
          </a:p>
          <a:p>
            <a:pPr algn="just"/>
            <a:r>
              <a:rPr lang="en-US" sz="3200" dirty="0"/>
              <a:t>= 8</a:t>
            </a:r>
            <a:endParaRPr lang="x-none" sz="3200" dirty="0"/>
          </a:p>
          <a:p>
            <a:pPr algn="just"/>
            <a:r>
              <a:rPr lang="en-US" sz="3200" dirty="0"/>
              <a:t>Hence, the free float for activity C is eight days.</a:t>
            </a:r>
            <a:endParaRPr lang="x-none" sz="3200" dirty="0"/>
          </a:p>
          <a:p>
            <a:pPr algn="just"/>
            <a:r>
              <a:rPr lang="en-US" sz="3200" dirty="0"/>
              <a:t>Now it is time to move on to a more complex example.</a:t>
            </a:r>
            <a:endParaRPr lang="x-none" sz="3200" dirty="0"/>
          </a:p>
        </p:txBody>
      </p:sp>
    </p:spTree>
    <p:extLst>
      <p:ext uri="{BB962C8B-B14F-4D97-AF65-F5344CB8AC3E}">
        <p14:creationId xmlns:p14="http://schemas.microsoft.com/office/powerpoint/2010/main" val="17680623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xmlns="" id="{E3BC94F6-A55D-4F7E-898E-C86AF858C5CF}"/>
              </a:ext>
            </a:extLst>
          </p:cNvPr>
          <p:cNvSpPr>
            <a:spLocks noGrp="1"/>
          </p:cNvSpPr>
          <p:nvPr>
            <p:ph idx="1"/>
          </p:nvPr>
        </p:nvSpPr>
        <p:spPr>
          <a:xfrm>
            <a:off x="204281" y="872269"/>
            <a:ext cx="11663464" cy="1199721"/>
          </a:xfrm>
        </p:spPr>
        <p:txBody>
          <a:bodyPr>
            <a:normAutofit lnSpcReduction="10000"/>
          </a:bodyPr>
          <a:lstStyle/>
          <a:p>
            <a:r>
              <a:rPr lang="en-US" altLang="x-none" dirty="0">
                <a:solidFill>
                  <a:srgbClr val="3A3A3A"/>
                </a:solidFill>
                <a:latin typeface="Calibri" panose="020F0502020204030204" pitchFamily="34" charset="0"/>
                <a:ea typeface="Times New Roman" panose="02020603050405020304" pitchFamily="18" charset="0"/>
                <a:cs typeface="Times New Roman" panose="02020603050405020304" pitchFamily="18" charset="0"/>
              </a:rPr>
              <a:t>For the below-given network diagram, identify which activities can have a free float and calculate the free and total float for those activities, considering duration in days.</a:t>
            </a:r>
            <a:endParaRPr lang="en-US" altLang="x-none" sz="4000" dirty="0">
              <a:latin typeface="Arial" panose="020B0604020202020204" pitchFamily="34" charset="0"/>
            </a:endParaRPr>
          </a:p>
          <a:p>
            <a:endParaRPr lang="x-none" dirty="0"/>
          </a:p>
        </p:txBody>
      </p:sp>
      <p:sp>
        <p:nvSpPr>
          <p:cNvPr id="9" name="Title 1">
            <a:extLst>
              <a:ext uri="{FF2B5EF4-FFF2-40B4-BE49-F238E27FC236}">
                <a16:creationId xmlns:a16="http://schemas.microsoft.com/office/drawing/2014/main" xmlns="" id="{C56643B6-6181-47CF-99A1-C50AF3548E95}"/>
              </a:ext>
            </a:extLst>
          </p:cNvPr>
          <p:cNvSpPr txBox="1">
            <a:spLocks/>
          </p:cNvSpPr>
          <p:nvPr/>
        </p:nvSpPr>
        <p:spPr>
          <a:xfrm>
            <a:off x="702113" y="225528"/>
            <a:ext cx="10515600" cy="577555"/>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Calculate the Free and Total Float, Another Example</a:t>
            </a:r>
            <a:endParaRPr lang="x-none" dirty="0"/>
          </a:p>
        </p:txBody>
      </p:sp>
      <p:pic>
        <p:nvPicPr>
          <p:cNvPr id="10" name="Picture 9" descr="updated total float and free float">
            <a:extLst>
              <a:ext uri="{FF2B5EF4-FFF2-40B4-BE49-F238E27FC236}">
                <a16:creationId xmlns:a16="http://schemas.microsoft.com/office/drawing/2014/main" xmlns="" id="{0AEB1A77-EA58-4ADA-9BF1-9B6C60CED0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281" y="2141176"/>
            <a:ext cx="11783438" cy="4570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12216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xmlns="" id="{E3BC94F6-A55D-4F7E-898E-C86AF858C5CF}"/>
              </a:ext>
            </a:extLst>
          </p:cNvPr>
          <p:cNvSpPr>
            <a:spLocks noGrp="1"/>
          </p:cNvSpPr>
          <p:nvPr>
            <p:ph idx="1"/>
          </p:nvPr>
        </p:nvSpPr>
        <p:spPr>
          <a:xfrm>
            <a:off x="264268" y="4147794"/>
            <a:ext cx="11663464" cy="2484678"/>
          </a:xfrm>
        </p:spPr>
        <p:txBody>
          <a:bodyPr>
            <a:normAutofit fontScale="92500" lnSpcReduction="10000"/>
          </a:bodyPr>
          <a:lstStyle/>
          <a:p>
            <a:r>
              <a:rPr lang="en-US" dirty="0"/>
              <a:t>We know that,</a:t>
            </a:r>
            <a:endParaRPr lang="x-none" dirty="0"/>
          </a:p>
          <a:p>
            <a:r>
              <a:rPr lang="en-US" dirty="0"/>
              <a:t>Free float = ES of next Activity – EF of current Activity – 1</a:t>
            </a:r>
            <a:endParaRPr lang="x-none" dirty="0"/>
          </a:p>
          <a:p>
            <a:r>
              <a:rPr lang="en-US" dirty="0"/>
              <a:t>In the above diagram, Activity G can have the free float because Activity D and G are converging on one common activity.</a:t>
            </a:r>
            <a:endParaRPr lang="x-none" dirty="0"/>
          </a:p>
          <a:p>
            <a:r>
              <a:rPr lang="en-US" dirty="0"/>
              <a:t>Activity D will not have a free float because its successor Activity E is starting on the next day of completing Activity D.</a:t>
            </a:r>
            <a:endParaRPr lang="x-none" dirty="0"/>
          </a:p>
          <a:p>
            <a:endParaRPr lang="x-none" dirty="0"/>
          </a:p>
        </p:txBody>
      </p:sp>
      <p:sp>
        <p:nvSpPr>
          <p:cNvPr id="9" name="Title 1">
            <a:extLst>
              <a:ext uri="{FF2B5EF4-FFF2-40B4-BE49-F238E27FC236}">
                <a16:creationId xmlns:a16="http://schemas.microsoft.com/office/drawing/2014/main" xmlns="" id="{C56643B6-6181-47CF-99A1-C50AF3548E95}"/>
              </a:ext>
            </a:extLst>
          </p:cNvPr>
          <p:cNvSpPr txBox="1">
            <a:spLocks/>
          </p:cNvSpPr>
          <p:nvPr/>
        </p:nvSpPr>
        <p:spPr>
          <a:xfrm>
            <a:off x="702113" y="225528"/>
            <a:ext cx="10515600" cy="577555"/>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Calculate the Free and Total Float, Another Example</a:t>
            </a:r>
            <a:endParaRPr lang="x-none" dirty="0"/>
          </a:p>
        </p:txBody>
      </p:sp>
      <p:pic>
        <p:nvPicPr>
          <p:cNvPr id="10" name="Picture 9" descr="updated total float and free float">
            <a:extLst>
              <a:ext uri="{FF2B5EF4-FFF2-40B4-BE49-F238E27FC236}">
                <a16:creationId xmlns:a16="http://schemas.microsoft.com/office/drawing/2014/main" xmlns="" id="{0AEB1A77-EA58-4ADA-9BF1-9B6C60CED0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294" y="803083"/>
            <a:ext cx="11783438" cy="30354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96018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xmlns="" id="{E3BC94F6-A55D-4F7E-898E-C86AF858C5CF}"/>
              </a:ext>
            </a:extLst>
          </p:cNvPr>
          <p:cNvSpPr>
            <a:spLocks noGrp="1"/>
          </p:cNvSpPr>
          <p:nvPr>
            <p:ph idx="1"/>
          </p:nvPr>
        </p:nvSpPr>
        <p:spPr>
          <a:xfrm>
            <a:off x="264268" y="1018095"/>
            <a:ext cx="11663464" cy="5614377"/>
          </a:xfrm>
        </p:spPr>
        <p:txBody>
          <a:bodyPr>
            <a:normAutofit lnSpcReduction="10000"/>
          </a:bodyPr>
          <a:lstStyle/>
          <a:p>
            <a:endParaRPr lang="en-IE" b="1" i="1" dirty="0"/>
          </a:p>
          <a:p>
            <a:r>
              <a:rPr lang="en-IE" b="1" i="1" dirty="0"/>
              <a:t>Free Float for Activity G</a:t>
            </a:r>
            <a:endParaRPr lang="x-none" dirty="0"/>
          </a:p>
          <a:p>
            <a:r>
              <a:rPr lang="en-US" dirty="0"/>
              <a:t>We know the formula for free float:</a:t>
            </a:r>
            <a:endParaRPr lang="x-none" dirty="0"/>
          </a:p>
          <a:p>
            <a:r>
              <a:rPr lang="en-US" dirty="0"/>
              <a:t>Free float of Activity G = Early Start of Activity E – Early Finish of Activity G – 1</a:t>
            </a:r>
            <a:endParaRPr lang="x-none" dirty="0"/>
          </a:p>
          <a:p>
            <a:r>
              <a:rPr lang="en-US" dirty="0"/>
              <a:t>= 6 – 3 – 1</a:t>
            </a:r>
            <a:endParaRPr lang="x-none" dirty="0"/>
          </a:p>
          <a:p>
            <a:r>
              <a:rPr lang="en-US" dirty="0"/>
              <a:t>= 2</a:t>
            </a:r>
            <a:endParaRPr lang="x-none" dirty="0"/>
          </a:p>
          <a:p>
            <a:r>
              <a:rPr lang="en-IE" b="1" i="1" dirty="0"/>
              <a:t>Total Float for Activity G</a:t>
            </a:r>
            <a:endParaRPr lang="x-none" dirty="0"/>
          </a:p>
          <a:p>
            <a:r>
              <a:rPr lang="en-US" dirty="0"/>
              <a:t>Total float for Activity G = Late Finish of Activity G – Early Finish of Activity G</a:t>
            </a:r>
            <a:endParaRPr lang="x-none" dirty="0"/>
          </a:p>
          <a:p>
            <a:r>
              <a:rPr lang="en-US" dirty="0"/>
              <a:t>= 18 – 3</a:t>
            </a:r>
            <a:endParaRPr lang="x-none" dirty="0"/>
          </a:p>
          <a:p>
            <a:r>
              <a:rPr lang="en-US" dirty="0"/>
              <a:t>= 15</a:t>
            </a:r>
            <a:endParaRPr lang="x-none" dirty="0"/>
          </a:p>
          <a:p>
            <a:r>
              <a:rPr lang="en-US" dirty="0"/>
              <a:t>You can see here that the free float for Activity G is two days, and the total float is 15 days. Both are different.</a:t>
            </a:r>
            <a:endParaRPr lang="x-none" dirty="0"/>
          </a:p>
        </p:txBody>
      </p:sp>
      <p:sp>
        <p:nvSpPr>
          <p:cNvPr id="9" name="Title 1">
            <a:extLst>
              <a:ext uri="{FF2B5EF4-FFF2-40B4-BE49-F238E27FC236}">
                <a16:creationId xmlns:a16="http://schemas.microsoft.com/office/drawing/2014/main" xmlns="" id="{C56643B6-6181-47CF-99A1-C50AF3548E95}"/>
              </a:ext>
            </a:extLst>
          </p:cNvPr>
          <p:cNvSpPr txBox="1">
            <a:spLocks/>
          </p:cNvSpPr>
          <p:nvPr/>
        </p:nvSpPr>
        <p:spPr>
          <a:xfrm>
            <a:off x="702113" y="225528"/>
            <a:ext cx="10515600" cy="577555"/>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Calculate the Free and Total Float, Another Example</a:t>
            </a:r>
            <a:endParaRPr lang="x-none" dirty="0"/>
          </a:p>
        </p:txBody>
      </p:sp>
      <p:pic>
        <p:nvPicPr>
          <p:cNvPr id="10" name="Picture 9" descr="updated total float and free float">
            <a:extLst>
              <a:ext uri="{FF2B5EF4-FFF2-40B4-BE49-F238E27FC236}">
                <a16:creationId xmlns:a16="http://schemas.microsoft.com/office/drawing/2014/main" xmlns="" id="{0AEB1A77-EA58-4ADA-9BF1-9B6C60CED0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2458" y="688157"/>
            <a:ext cx="5112152" cy="1696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63855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B0E6E8-3C96-4D22-BA06-8B2BD2117D94}"/>
              </a:ext>
            </a:extLst>
          </p:cNvPr>
          <p:cNvSpPr>
            <a:spLocks noGrp="1"/>
          </p:cNvSpPr>
          <p:nvPr>
            <p:ph type="title"/>
          </p:nvPr>
        </p:nvSpPr>
        <p:spPr/>
        <p:txBody>
          <a:bodyPr/>
          <a:lstStyle/>
          <a:p>
            <a:r>
              <a:rPr lang="en-US" b="1" dirty="0"/>
              <a:t>Benefits of the Critical Path Method</a:t>
            </a:r>
            <a:endParaRPr lang="x-none" dirty="0"/>
          </a:p>
        </p:txBody>
      </p:sp>
      <p:sp>
        <p:nvSpPr>
          <p:cNvPr id="3" name="Content Placeholder 2">
            <a:extLst>
              <a:ext uri="{FF2B5EF4-FFF2-40B4-BE49-F238E27FC236}">
                <a16:creationId xmlns:a16="http://schemas.microsoft.com/office/drawing/2014/main" xmlns="" id="{61041A45-ADAD-450B-A69C-4B13B2CE125D}"/>
              </a:ext>
            </a:extLst>
          </p:cNvPr>
          <p:cNvSpPr>
            <a:spLocks noGrp="1"/>
          </p:cNvSpPr>
          <p:nvPr>
            <p:ph idx="1"/>
          </p:nvPr>
        </p:nvSpPr>
        <p:spPr/>
        <p:txBody>
          <a:bodyPr>
            <a:normAutofit fontScale="92500" lnSpcReduction="20000"/>
          </a:bodyPr>
          <a:lstStyle/>
          <a:p>
            <a:r>
              <a:rPr lang="en-US" dirty="0"/>
              <a:t>The following are a few benefits of the critical path method:</a:t>
            </a:r>
            <a:endParaRPr lang="x-none" dirty="0"/>
          </a:p>
          <a:p>
            <a:pPr lvl="0"/>
            <a:r>
              <a:rPr lang="en-US" dirty="0"/>
              <a:t>It shows the graphical view of the project.</a:t>
            </a:r>
            <a:endParaRPr lang="x-none" dirty="0"/>
          </a:p>
          <a:p>
            <a:pPr lvl="0"/>
            <a:r>
              <a:rPr lang="en-US" dirty="0"/>
              <a:t>It discovers and makes dependencies visible.</a:t>
            </a:r>
            <a:endParaRPr lang="x-none" dirty="0"/>
          </a:p>
          <a:p>
            <a:pPr lvl="0"/>
            <a:r>
              <a:rPr lang="en-US" dirty="0"/>
              <a:t>It helps in project planning, scheduling, and controlling.</a:t>
            </a:r>
            <a:endParaRPr lang="x-none" dirty="0"/>
          </a:p>
          <a:p>
            <a:pPr lvl="0"/>
            <a:r>
              <a:rPr lang="en-US" dirty="0"/>
              <a:t>It helps in contingency planning.</a:t>
            </a:r>
            <a:endParaRPr lang="x-none" dirty="0"/>
          </a:p>
          <a:p>
            <a:pPr lvl="0"/>
            <a:r>
              <a:rPr lang="en-US" dirty="0"/>
              <a:t>It shows the critical path, and identifies critical activities requiring special attention.</a:t>
            </a:r>
            <a:endParaRPr lang="x-none" dirty="0"/>
          </a:p>
          <a:p>
            <a:pPr lvl="0"/>
            <a:r>
              <a:rPr lang="en-US" dirty="0"/>
              <a:t>It helps you assign the float to activities and flexibility to float activities.</a:t>
            </a:r>
            <a:endParaRPr lang="x-none" dirty="0"/>
          </a:p>
          <a:p>
            <a:pPr lvl="0"/>
            <a:r>
              <a:rPr lang="en-US" dirty="0"/>
              <a:t>It shows you where you need to take action to bring project back on track.</a:t>
            </a:r>
            <a:endParaRPr lang="x-none" dirty="0"/>
          </a:p>
          <a:p>
            <a:r>
              <a:rPr lang="en-US" dirty="0"/>
              <a:t>Although the critical path is very useful tool in project planning, it also has some limitations and drawbacks.</a:t>
            </a:r>
            <a:endParaRPr lang="x-none" dirty="0"/>
          </a:p>
          <a:p>
            <a:endParaRPr lang="x-none" dirty="0"/>
          </a:p>
        </p:txBody>
      </p:sp>
    </p:spTree>
    <p:extLst>
      <p:ext uri="{BB962C8B-B14F-4D97-AF65-F5344CB8AC3E}">
        <p14:creationId xmlns:p14="http://schemas.microsoft.com/office/powerpoint/2010/main" val="29642772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84A08D-45A2-4636-BAB5-8935C845DAF7}"/>
              </a:ext>
            </a:extLst>
          </p:cNvPr>
          <p:cNvSpPr>
            <a:spLocks noGrp="1"/>
          </p:cNvSpPr>
          <p:nvPr>
            <p:ph type="title"/>
          </p:nvPr>
        </p:nvSpPr>
        <p:spPr/>
        <p:txBody>
          <a:bodyPr>
            <a:normAutofit/>
          </a:bodyPr>
          <a:lstStyle/>
          <a:p>
            <a:r>
              <a:rPr lang="en-US" b="1" dirty="0"/>
              <a:t>Limitations and drawbacks of the Critical Path Method</a:t>
            </a:r>
            <a:endParaRPr lang="x-none" dirty="0"/>
          </a:p>
        </p:txBody>
      </p:sp>
      <p:sp>
        <p:nvSpPr>
          <p:cNvPr id="3" name="Content Placeholder 2">
            <a:extLst>
              <a:ext uri="{FF2B5EF4-FFF2-40B4-BE49-F238E27FC236}">
                <a16:creationId xmlns:a16="http://schemas.microsoft.com/office/drawing/2014/main" xmlns="" id="{43F4F12A-8EEC-40CA-94EF-095594BD92B8}"/>
              </a:ext>
            </a:extLst>
          </p:cNvPr>
          <p:cNvSpPr>
            <a:spLocks noGrp="1"/>
          </p:cNvSpPr>
          <p:nvPr>
            <p:ph idx="1"/>
          </p:nvPr>
        </p:nvSpPr>
        <p:spPr/>
        <p:txBody>
          <a:bodyPr>
            <a:normAutofit fontScale="92500" lnSpcReduction="10000"/>
          </a:bodyPr>
          <a:lstStyle/>
          <a:p>
            <a:pPr lvl="0"/>
            <a:r>
              <a:rPr lang="en-US" dirty="0"/>
              <a:t>Because the critical path method is an optimal planning tool, it always assumes that all resources are available for the project at all times.</a:t>
            </a:r>
            <a:endParaRPr lang="x-none" dirty="0"/>
          </a:p>
          <a:p>
            <a:pPr lvl="0"/>
            <a:r>
              <a:rPr lang="en-US" dirty="0"/>
              <a:t>It does not consider resource dependencies.</a:t>
            </a:r>
            <a:endParaRPr lang="x-none" dirty="0"/>
          </a:p>
          <a:p>
            <a:pPr lvl="0"/>
            <a:r>
              <a:rPr lang="en-US" dirty="0"/>
              <a:t>There are chances of misusing float or slack.</a:t>
            </a:r>
            <a:endParaRPr lang="x-none" dirty="0"/>
          </a:p>
          <a:p>
            <a:pPr lvl="0"/>
            <a:r>
              <a:rPr lang="en-US" dirty="0"/>
              <a:t>Less attention on non-critical activities, though sometimes they may also become critical activities.</a:t>
            </a:r>
            <a:endParaRPr lang="x-none" dirty="0"/>
          </a:p>
          <a:p>
            <a:pPr lvl="0"/>
            <a:r>
              <a:rPr lang="en-US" dirty="0"/>
              <a:t>Projects based on the critical path often fail to be completed within the approved time duration.</a:t>
            </a:r>
            <a:endParaRPr lang="x-none" dirty="0"/>
          </a:p>
          <a:p>
            <a:r>
              <a:rPr lang="en-US" dirty="0"/>
              <a:t>To overcome these shortcomings of the critical path, the critical chain method was developed. In the critical chain method resource constraints are also taken into consideration while developing the network diagram.</a:t>
            </a:r>
            <a:endParaRPr lang="x-none" dirty="0"/>
          </a:p>
          <a:p>
            <a:endParaRPr lang="x-none" dirty="0"/>
          </a:p>
        </p:txBody>
      </p:sp>
    </p:spTree>
    <p:extLst>
      <p:ext uri="{BB962C8B-B14F-4D97-AF65-F5344CB8AC3E}">
        <p14:creationId xmlns:p14="http://schemas.microsoft.com/office/powerpoint/2010/main" val="26277537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05576C4349FC24198F3B485892BCF1B" ma:contentTypeVersion="3" ma:contentTypeDescription="Create a new document." ma:contentTypeScope="" ma:versionID="76d707f36c7931d75ca78df0463f3c32">
  <xsd:schema xmlns:xsd="http://www.w3.org/2001/XMLSchema" xmlns:xs="http://www.w3.org/2001/XMLSchema" xmlns:p="http://schemas.microsoft.com/office/2006/metadata/properties" xmlns:ns2="f7a257be-ecaa-47a9-b593-7ec7322fade8" targetNamespace="http://schemas.microsoft.com/office/2006/metadata/properties" ma:root="true" ma:fieldsID="a3348da419da9f914e6c53b0b29fb35b" ns2:_="">
    <xsd:import namespace="f7a257be-ecaa-47a9-b593-7ec7322fade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a257be-ecaa-47a9-b593-7ec7322fad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8222F7D-0EC7-4BF3-A9AB-A87D0CD37F68}"/>
</file>

<file path=customXml/itemProps2.xml><?xml version="1.0" encoding="utf-8"?>
<ds:datastoreItem xmlns:ds="http://schemas.openxmlformats.org/officeDocument/2006/customXml" ds:itemID="{2AA5E417-CBBE-43AC-B954-B00ABF9EFB0E}"/>
</file>

<file path=customXml/itemProps3.xml><?xml version="1.0" encoding="utf-8"?>
<ds:datastoreItem xmlns:ds="http://schemas.openxmlformats.org/officeDocument/2006/customXml" ds:itemID="{617955D2-9827-4B51-91E1-F772F16B30AA}"/>
</file>

<file path=docProps/app.xml><?xml version="1.0" encoding="utf-8"?>
<Properties xmlns="http://schemas.openxmlformats.org/officeDocument/2006/extended-properties" xmlns:vt="http://schemas.openxmlformats.org/officeDocument/2006/docPropsVTypes">
  <TotalTime>437</TotalTime>
  <Words>2291</Words>
  <Application>Microsoft Office PowerPoint</Application>
  <PresentationFormat>Widescreen</PresentationFormat>
  <Paragraphs>257</Paragraphs>
  <Slides>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Arial Black</vt:lpstr>
      <vt:lpstr>Calibri</vt:lpstr>
      <vt:lpstr>Calibri Light</vt:lpstr>
      <vt:lpstr>Times New Roman</vt:lpstr>
      <vt:lpstr>Wingdings</vt:lpstr>
      <vt:lpstr>Office Theme</vt:lpstr>
      <vt:lpstr>Critical Path Model</vt:lpstr>
      <vt:lpstr>Network Diagrams</vt:lpstr>
      <vt:lpstr>PowerPoint Presentation</vt:lpstr>
      <vt:lpstr>A solved Example </vt:lpstr>
      <vt:lpstr>Critical Path </vt:lpstr>
      <vt:lpstr>…Critical Path </vt:lpstr>
      <vt:lpstr>Critical Path </vt:lpstr>
      <vt:lpstr>…Critical Path </vt:lpstr>
      <vt:lpstr>…Critical Path </vt:lpstr>
      <vt:lpstr>…Critical Path </vt:lpstr>
      <vt:lpstr>…Critical Path </vt:lpstr>
      <vt:lpstr>Procedure for Finding the Critical Path in a Network Diagram </vt:lpstr>
      <vt:lpstr>…Procedure for Finding the Critical Path in a Network Diagram </vt:lpstr>
      <vt:lpstr>…Procedure for Finding the Critical Path in a Network Diagram </vt:lpstr>
      <vt:lpstr>…Procedure for Finding the Critical Path in a Network Diagram </vt:lpstr>
      <vt:lpstr>Calculate Early Start (ES), Early Finish (EF), Late Start (LS), and Late Finish (LF)</vt:lpstr>
      <vt:lpstr>Calculate Early Start (ES), Early Finish (EF), Late Start (LS), and Late Finish (LF)</vt:lpstr>
      <vt:lpstr>Calculate Early Start (ES), Early Finish (EF), Late Start (LS), and Late Finish (LF)</vt:lpstr>
      <vt:lpstr>Calculate Early Start (ES), Early Finish (EF), Late Start (LS), and Late Finish (LF)</vt:lpstr>
      <vt:lpstr>Calculate Early Start (ES), Early Finish (EF), Late Start (LS), and Late Finish (LF)</vt:lpstr>
      <vt:lpstr>Calculate Early Start (ES), Early Finish (EF), Late Start (LS), and Late Finish (LF)</vt:lpstr>
      <vt:lpstr>Calculate Early Start (ES), Early Finish (EF), Late Start (LS), and Late Finish (LF)</vt:lpstr>
      <vt:lpstr>Calculate Early Start (ES), Early Finish (EF), Late Start (LS), and Late Finish (LF)</vt:lpstr>
      <vt:lpstr>PowerPoint Presentation</vt:lpstr>
      <vt:lpstr>Calculate the Free and Total Float</vt:lpstr>
      <vt:lpstr>Calculate the Free and Total Float</vt:lpstr>
      <vt:lpstr>Calculate the Free and Total Float</vt:lpstr>
      <vt:lpstr>Calculate the Free and Total Float</vt:lpstr>
      <vt:lpstr>Calculate the Free and Total Float</vt:lpstr>
      <vt:lpstr>Calculate the Free and Total Float</vt:lpstr>
      <vt:lpstr>Calculate the Free and Total Float</vt:lpstr>
      <vt:lpstr>PowerPoint Presentation</vt:lpstr>
      <vt:lpstr>PowerPoint Presentation</vt:lpstr>
      <vt:lpstr>PowerPoint Presentation</vt:lpstr>
      <vt:lpstr>Benefits of the Critical Path Method</vt:lpstr>
      <vt:lpstr>Limitations and drawbacks of the Critical Path Method</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Critical Path Model</dc:title>
  <dc:creator>Uzair Iqbal</dc:creator>
  <cp:lastModifiedBy>admin</cp:lastModifiedBy>
  <cp:revision>49</cp:revision>
  <dcterms:created xsi:type="dcterms:W3CDTF">2020-04-23T07:44:45Z</dcterms:created>
  <dcterms:modified xsi:type="dcterms:W3CDTF">2025-06-10T07:53:40Z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0x010100605576C4349FC24198F3B485892BCF1B</vt:lpwstr>
  </property>
</Properties>
</file>