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ink/ink15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ppt/revisionInfo.xml" ContentType="application/vnd.ms-powerpoint.revisioninfo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04" r:id="rId2"/>
  </p:sldMasterIdLst>
  <p:notesMasterIdLst>
    <p:notesMasterId r:id="rId27"/>
  </p:notesMasterIdLst>
  <p:handoutMasterIdLst>
    <p:handoutMasterId r:id="rId28"/>
  </p:handoutMasterIdLst>
  <p:sldIdLst>
    <p:sldId id="257" r:id="rId3"/>
    <p:sldId id="418" r:id="rId4"/>
    <p:sldId id="419" r:id="rId5"/>
    <p:sldId id="420" r:id="rId6"/>
    <p:sldId id="421" r:id="rId7"/>
    <p:sldId id="400" r:id="rId8"/>
    <p:sldId id="402" r:id="rId9"/>
    <p:sldId id="405" r:id="rId10"/>
    <p:sldId id="406" r:id="rId11"/>
    <p:sldId id="407" r:id="rId12"/>
    <p:sldId id="408" r:id="rId13"/>
    <p:sldId id="410" r:id="rId14"/>
    <p:sldId id="411" r:id="rId15"/>
    <p:sldId id="422" r:id="rId16"/>
    <p:sldId id="424" r:id="rId17"/>
    <p:sldId id="425" r:id="rId18"/>
    <p:sldId id="426" r:id="rId19"/>
    <p:sldId id="427" r:id="rId20"/>
    <p:sldId id="428" r:id="rId21"/>
    <p:sldId id="429" r:id="rId22"/>
    <p:sldId id="433" r:id="rId23"/>
    <p:sldId id="435" r:id="rId24"/>
    <p:sldId id="436" r:id="rId25"/>
    <p:sldId id="4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288B8-23C7-4F75-AD12-A78947B6814F}" v="17" dt="2023-03-31T04:23:23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085" autoAdjust="0"/>
  </p:normalViewPr>
  <p:slideViewPr>
    <p:cSldViewPr snapToGrid="0">
      <p:cViewPr varScale="1">
        <p:scale>
          <a:sx n="116" d="100"/>
          <a:sy n="116" d="100"/>
        </p:scale>
        <p:origin x="32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77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entury Gothic" charset="0"/>
              </a:defRPr>
            </a:lvl1pPr>
          </a:lstStyle>
          <a:p>
            <a:pPr>
              <a:defRPr/>
            </a:pPr>
            <a:fld id="{5EA6C657-6409-864A-824F-19EB8F39BE9D}" type="datetime1">
              <a:rPr lang="en-US"/>
              <a:pPr>
                <a:defRPr/>
              </a:pPr>
              <a:t>6/7/23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entury Gothic" charset="0"/>
              </a:defRPr>
            </a:lvl1pPr>
          </a:lstStyle>
          <a:p>
            <a:pPr>
              <a:defRPr/>
            </a:pPr>
            <a:fld id="{2F1B2E75-E9AF-164B-8C47-AEDD5348E6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14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48 3968,'0'0'60,"1"-1"117,0 0 0,-1 1 0,1-1 0,0 1 0,-1-1 0,1 0 0,0 1 0,0-1 0,5-1 5439,9-1-3040,-15 3-2555,0 0 0,1 0 0,-1-1 0,0 1 0,1 0 0,-1 0 0,0-1 0,1 1 0,-1 0 0,0-1 0,0 1 0,1 0 0,-1-1 0,0 1 0,0 0 0,0-1 0,1 1 0,-1-1 0,0 1 0,0 0 0,0-1 0,0 1 0,0-1 0,0 1 0,0-1 0,0 1 0,0-1 0,0 0-27,-1 0 1,1 0 0,0 1 0,-1-1 0,1 0 0,-1 0-1,1 1 1,-1-1 0,0 0 0,1 0 0,-1 1-1,-1-2 1,0 1-42,-1-1-1,1 0 0,-1 1 0,0-1 1,0 1-1,0 0 0,-4-2 1,-1 2 39,0 0 1,0 0 0,0 1 0,0 0-1,0 0 1,0 1 0,0 0 0,0 1-1,-11 3 1,7-1 30,1 0 0,-1 1 0,1 1 0,0 0 0,-15 11 0,6-2-23,2 1 0,0 1-1,1 0 1,0 1 0,-23 35 0,23-23 120,1 1 0,1 0 1,-15 44-1,18-42 108,-3 5-256,2 1 0,2-1-1,2 2 1,1 0 0,3-1 0,-2 60 0,8-55-79,2 0 0,3 0 1,1 0-1,15 50 0,-19-85 83,0 0 0,0-1 0,1 1-1,0-1 1,1 0 0,0 0 0,0 0 0,0-1-1,1 0 1,1 0 0,-1 0 0,11 8 0,-13-12-17,1 0 0,0-1 0,0 1-1,0-1 1,0 0 0,0 0 0,0 0 0,1-1 0,-1 0 0,0 0 0,1 0 0,8 0 0,-2-1 10,-1 0-1,1-1 0,-1 0 1,0-1-1,0 0 1,21-7-1,70-31-79,-72 27 102,-12 5-10,1-1 0,32-21 0,-45 26-12,0-1 0,0 1 0,0-2-1,-1 1 1,0 0 0,0-1 0,0 0 0,-1 0-1,1-1 1,4-10 0,-8 15-2,0-1 1,0 1 0,-1-1-1,1 1 1,-1-1-1,0 1 1,1-1-1,-1 1 1,0-1-1,-1 1 1,1-1-1,0 1 1,-1 0-1,0-5 1,-1 3-37,0-1 1,0 1-1,0 0 0,-1 0 1,1 0-1,-1 0 0,-3-4 1,-5-3-17,1 1 0,-2 0 0,-18-12 0,4 3 243,-42-23-1,59 38-210,-1-1 0,1 1-1,-1 1 1,0 0-1,0 0 1,0 1-1,0 0 1,-19-1 0,12 5-77,17-1 190,9-2 90,40-8 158,-1-2 1,0-3-1,0-1 0,-2-3 1,63-32-1,-97 43-136,-10 5-75,0 1 0,0 0 0,0 0 0,0 0 0,0 0-1,0 0 1,4-1 0,-6 2-84,0 0 0,1 0-1,-1 0 1,0 0 0,0 0 0,1 0-1,-1 0 1,0 0 0,0 0 0,0 1 0,1-1-1,-1 0 1,0 0 0,0 0 0,0 0-1,1 0 1,-1 0 0,0 0 0,0 1 0,0-1-1,0 0 1,0 0 0,1 0 0,-1 0-1,0 1 1,0-1 0,0 0 0,0 0 0,0 0-1,0 1 1,0 13 250,-17 102-359,-5 229 0,25-95-459,-3-242 63,0-1 1,-1 1-1,1-1 0,-4 10 1,3-14-588,0 1 0,0-1 0,0 0 0,-1 0 0,0 0 0,-3 5 1,5-5-645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6272,'4'0'7074,"4"0"-3488,44-8-2556,129-39 120,-84 20-647,139-29 758,-182 46-1448,1 3-1,76-1 1,-109 5-799,-19 3 790,-1-1-1,0 1 1,1-1-1,-1 1 1,0 0 0,0 0-1,1 0 1,-1 0-1,0 1 1,3 0-1,5 0-1143,-6-2-1529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301 170 8064,'19'-13'993,"-10"7"-302,0 0-1,0 1 0,13-6 0,-2 0-116,38-19 2927,-52 28-3162,0-1 0,0 0 0,0 0-1,-1-1 1,0 1 0,0-1 0,0 0 0,0-1 0,0 1 0,4-7 0,-8 10-329,-1 1-1,1-1 1,-1 0 0,0 0 0,1 0-1,-1 0 1,0 0 0,0 0 0,1 0 0,-1 1-1,0-1 1,0 0 0,0 0 0,0 0 0,0 0-1,0 0 1,0 0 0,-1 0 0,1 0 0,0 0-1,0 0 1,-1 1 0,1-1 0,-1 0 0,1 0-1,-1 0 1,1 0 0,-1 1 0,1-1 0,-1 0-1,0 1 1,1-1 0,-1 0 0,0 1-1,1-1 1,-1 1 0,0-1 0,0 1 0,0-1-1,0 1 1,-1-1 0,-2-1-17,0 1 1,-1-1-1,1 1 0,-1 0 0,0 0 1,1 1-1,-8-1 0,3 2 21,1 0 0,0 0 0,-1 1 1,1 0-1,0 0 0,0 1 0,0 0 0,1 0 0,-1 1 0,1 0 0,-1 1 1,-9 7-1,-9 9 145,-42 45 0,56-54-112,-18 21-38,1 1-1,2 2 1,2 1 0,-36 65-1,49-78 1,2 0 1,0 1-1,1 1 0,-6 32 1,12-45 14,1 1 1,1-1-1,0 1 0,0 0 1,2 0-1,-1 0 0,2-1 1,0 1-1,1 0 0,4 12 1,-4-17 79,2 0 1,-1 0 0,1 0-1,0-1 1,1 0-1,0 0 1,0 0 0,1-1-1,13 12 1,-6-7 93,1-1 0,0 0 1,1-1-1,21 9 0,-18-10-104,1-2-1,0 0 1,0-1-1,40 6 1,-16-8 11,58 0-1,-88-4-147,0 0-1,1-2 1,-1 1 0,0-2-1,0 0 1,17-6-1,-19 6-586,5-2-2530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6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89 6016,'1'-2'93,"13"-19"3233,-13 19-3187,-1 1 0,0 0 0,1-1 0,-1 1 0,0-1 0,0 1 0,0 0-1,0-1 1,0 1 0,0 0 0,0-1 0,0 1 0,-1-1 0,1 1 0,0 0 0,-2-3 0,-1-3 149,3 5-251,-1 1 0,1-1 0,-1 1 0,0 0 0,1 0 0,-1-1 0,0 1 0,0 0 0,0 0 1,1 0-1,-1 0 0,-1 0 0,1 0 0,0 0 0,0 0 0,0 0 0,0 1 0,-1-1 0,1 0 1,-2 0-1,-3-1-12,0 0 0,1 0 0,-1 1 0,0 0 1,0 0-1,0 1 0,0-1 0,0 1 0,0 0 1,0 1-1,0 0 0,0 0 0,0 0 0,0 0 0,-6 4 1,-5 1 30,0 0 1,1 2-1,-30 18 1,22-10 37,1 1 0,0 2 0,2 0 0,0 1 0,1 1 0,1 1 0,1 1 0,2 0 0,0 1 0,-23 47 1,22-30 148,2 0 1,-15 61-1,24-73-253,1-1 0,1 1 0,2-1 0,0 1 0,2 0-1,1 0 1,2 0 0,1 0 0,12 46 0,-12-62-34,0 1 1,1-1-1,1-1 1,0 1-1,9 11 0,-11-18 41,0 0 0,0 0 0,1-1 0,0 0 0,0 0 0,1 0 0,-1-1 0,1 1 0,0-1-1,0-1 1,11 6 0,-5-4 13,-1-1-1,1 0 1,0-1-1,1 0 0,-1-1 1,1 0-1,-1-1 1,1 0-1,-1-1 1,1 0-1,-1-1 0,15-3 1,5-4 62,0-1 0,0-2 0,-1-1 0,0-1 0,-1-2 0,-1-1 0,29-20 0,-50 30-87,1-1 0,-1 0-1,0 0 1,-1 0 0,0-1 0,0 0 0,8-12 0,-13 17-25,-1 1 0,0-1 0,1 0 1,-1 0-1,0 0 0,0 0 0,0 0 0,-1 0 1,1 0-1,-1 0 0,0 0 0,0-5 0,0 5 9,-1 1-1,0 0 1,1-1-1,-1 1 1,0-1-1,0 1 1,0 0-1,-1 0 1,1 0 0,-1 0-1,1 0 1,-1 0-1,1 0 1,-1 0-1,0 1 1,0-1-1,-4-2 1,-7-3-139,0 0 0,-1 1 0,1 1 0,-1 1 1,-29-7-1,19 6-35,-1 1-1,-1 1 1,-47 1 0,-140 15-227,210-13 449,1 1 1,-1-1-1,0 0 1,1 0 0,-1 0-1,-5-1 1,8 1-13,0 0 1,0 0-1,0 0 1,0 0-1,-1 0 1,1 0-1,0 0 1,0 0-1,0 0 1,0 0 0,0 0-1,0 0 1,0 0-1,0-1 1,-1 1-1,1 0 1,0 0-1,0 0 1,0 0-1,0 0 1,0 0-1,0 0 1,0 0-1,0-1 1,0 1-1,0 0 1,0 0 0,0 0-1,0 0 1,0 0-1,0 0 1,0-1-1,0 1 1,0 0-1,0 0 1,0 0-1,0 0 1,0 0-1,0 0 1,0 0-1,0-1 1,0 1-1,0 0 1,10-9 252,23-13 109,48-22 1,8-5-85,-63 32-204,83-56 738,-34 20-107,-65 46-700,-10 6 20,1 0 0,0 0 0,0 1 0,0-1 0,0 0 0,-1 1-1,1-1 1,0 0 0,0 1 0,0-1 0,1 1 0,-1 0 0,0-1-1,0 1 1,0 0 0,0-1 0,0 1 0,0 0 0,2 0 0,-2 3 94,0-1 0,0 1 0,0-1 0,0 1 0,-1 0 0,1 0 0,-1-1 0,0 1 0,0 0 0,0-1 0,0 1 0,0 0 0,-1 3 0,0 7-42,1-1-74,1 6 18,-1 1 0,-1-1 1,-1 1-1,-8 32 0,9-44-14,-1 0 1,1 1-1,1-1 0,-1 1 1,2 9-1,-3 18 138,-16 176-72,13-147 9,4 70-215,3-62 363,-2 94-294,0-165-53,0 0-177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76 5120,'-1'-3'923,"0"1"0,1-1 0,-1 0 0,1 0 0,0 1 0,0-1 0,1-4 0,-1 4-577,0 0 0,0 0 0,0 0 0,0 0 0,0 0 0,-1 0-1,-1-5 1,2 7-347,-1 0 0,0 0 0,1-1 0,-1 1 0,0 0 0,0 0 0,0 0 0,0 0 0,0 0-1,0 0 1,0 0 0,0 1 0,0-1 0,0 0 0,-1 0 0,1 1 0,0-1 0,-1 1 0,1-1 0,0 1 0,-3-1 0,-2 0-31,-1 1 1,1-1 0,0 1 0,-1 0 0,1 1 0,0-1-1,-1 1 1,1 0 0,-6 3 0,-56 21-105,58-22 120,-14 7-12,1 1 0,0 1 0,0 1 1,1 1-1,1 1 0,0 0 0,1 2 1,1 1-1,-20 23 0,25-24 22,1 0-1,1 2 1,0-1 0,1 2-1,-14 35 1,21-42-13,-1 1 1,1 0-1,1 0 1,1 0-1,0 1 1,1-1-1,0 1 0,1-1 1,3 24-1,-1-26-106,0-1 0,1 1 0,1-1-1,-1 1 1,2-1 0,0 0 0,0-1 0,1 1 0,0-1-1,1 0 1,0-1 0,0 0 0,1 0 0,1 0-1,-1-1 1,1 0 0,0-1 0,17 11 0,-13-11 62,0 0 0,0-1 0,0 0 0,1-1 0,0 0 1,0-1-1,0-1 0,0 0 0,1-1 0,-1-1 0,1 0 1,24-2-1,-27 0 158,0-1 1,1 0 0,-1 0 0,-1-1-1,1-1 1,0 0 0,-1-1-1,0 0 1,0-1 0,0 0 0,-1-1-1,0 0 1,0 0 0,0-1 0,9-10-1,-15 12 19,1 1 0,-1 0-1,5-8 1,-8 11-91,0 1 0,0-1 0,0 0 0,0 0 0,-1 0 0,1 0 0,-1-1 0,1 1 0,-1 0 0,0 0 0,0 0 0,0 0 0,0 0 0,-1-4 0,1 3-34,-1 0 0,0 0-1,0 0 1,0 0 0,0 0 0,-1 0-1,1 0 1,-1 1 0,0-1-1,0 0 1,0 1 0,0 0 0,0-1-1,0 1 1,-1 0 0,1 0 0,-1 0-1,1 1 1,-1-1 0,0 1-1,0-1 1,0 1 0,0 0 0,0 0-1,0 0 1,-6-1 0,-6 0-69,1 1 0,-1 0 0,0 1 0,-22 3 0,13 0 87,-30 8-1,29-5 361,-27 3 0,50-9-322,-14 1 190,16-1-229,0 0 0,-1 0 1,1 0-1,0 0 0,0 0 0,0 0 1,-1 0-1,1 0 0,0 0 1,0 0-1,0 0 0,-1 0 0,1 0 1,0 0-1,0 0 0,0 0 0,0 0 1,-1 0-1,1 0 0,0 0 1,0 0-1,0 0 0,-1-1 0,1 1 1,0 0-1,0 0 0,0 0 1,0 0-1,0 0 0,0-1 0,-1 1 1,1 0-1,0 0 0,0 0 1,0 0-1,0-1 0,0 1 0,0 0 1,0 0-1,0 0 0,0-1 0,0 1 1,0 0-1,0 0 0,0 0 1,0 0-1,0-1 0,0 1 0,0 0 1,0 0-1,0 0 0,0-1 1,0 1-1,0 0 0,0 0 0,0 0 1,0-1-1,0 1 0,0 0 0,1 0 1,-1 0-1,0 0 0,0 0 1,0-1-1,6-5 149,1 0 0,-1 0 0,13-7 0,0-1 132,5-5 25,38-24 0,-41 28-238,-17 12-15,0 0 0,0 0-1,0 0 1,0 1 0,0-1-1,1 1 1,-1 0 0,1 0-1,-1 1 1,1-1 0,0 1-1,5-1 1,-9 3-42,0-1-1,1 0 1,-1 1 0,0-1 0,0 1-1,0-1 1,0 1 0,0-1 0,0 1-1,0 0 1,0-1 0,0 1 0,0 0-1,0 0 1,-1 0 0,1 0 0,0 0-1,0 0 1,-1 0 0,1 0 0,-1 0-1,1 0 1,-1 0 0,1 2 0,10 35 138,-8-28-121,0 8 18,3 22 1,-1 2-94,1-5 84,-2 1 0,-1 49-1,-11 74 144,-17 41-1535,17-146-471,5-21-3501,7-23 2964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8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14 157 7808,'-2'0'215,"2"0"-117,0 0-1,0 0 1,-1 0 0,1 0-1,-1 0 1,1 0 0,0 0-1,-1 0 1,1-1-1,0 1 1,-1 0 0,1 1-1,0-1 1,-1 0 0,1 0-1,0 0 1,-1 0 0,1 0-1,0 0 1,-1 0 0,1 0-1,0 1 1,-1-1 0,1 0-1,0 0 1,0 0 0,-1 1-1,1-1 1,0 0 0,0 0-1,-1 1 1,1-1-1,0 0 1,0 1 0,0-1-1,-1 0 1,1 1 0,0-1-1,0 0 1,0 1 0,0-1-1,0 0 1,0 1 0,0 1 904,5-1 342,3 0-1102,-1 1 1,1-1-1,-1-1 0,1 1 0,-1-1 1,1 0-1,-1-1 0,12-2 0,-3 1 26,219-38 1317,-7-20-743,-156 44-895,9-3-2108,-79 18 1579,0 0 0,0 0 0,0 0 0,1 0 0,-1 0 0,0-1 0,0 1 0,-1-1 0,1 1 0,0-1 0,0 0 0,-1 0 0,1 1 0,2-5 0,1 1-1935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0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45 6272,'0'-2'348,"0"1"0,0-1 0,0 1 0,0-1 0,-1 0 0,1 1 0,0-1 0,-1 1 1,0-1-1,1 1 0,-1-1 0,0 1 0,0 0 0,0-1 0,1 1 0,-2 0 0,0-2 0,0 1-121,0 1 1,0-1-1,0 1 0,-1 0 0,1 0 0,0-1 1,-1 1-1,1 1 0,-6-2 0,2 0-123,0 2-1,-1-1 1,1 1-1,-1 0 0,1 0 1,-1 0-1,-11 3 1,1 3-84,0 1 1,1 0-1,0 1 1,-16 12-1,15-10-15,-3 2 123,0 2 1,1 0 0,1 2 0,0 0-1,2 1 1,-20 24 0,26-28-99,1 2 1,0-1-1,1 1 0,1 1 1,1-1-1,0 1 0,0 0 1,-5 32-1,3 4 79,-3 77-1,11-79 102,2 1 0,9 59 0,-10-103-170,0-1-1,1 1 1,0-1 0,0 1-1,0-1 1,1 1 0,-1-1 0,2 0-1,-1 0 1,1-1 0,0 1 0,0-1-1,0 0 1,1 0 0,0 0 0,0 0-1,0-1 1,0 0 0,1 0 0,9 5-1,-2-3 87,-1-1 1,1 0-1,0-1 0,0 0 0,1-1 0,-1-1 0,1 0 0,-1 0 1,17-2-1,166-15 475,-119 6-754,18 1-3629,-81 8 762,-3 0-2311,-4 0 2755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170 292 6144,'-2'-2'482,"-1"-1"0,1 0 1,-1 0-1,0 1 0,0 0 0,0 0 1,-4-3-1,-14-10 38,19 13-422,-1 0-1,1 0 1,-1 0-1,0 0 1,0 0-1,-3-1 1,5 3-73,1 0 1,-1-1-1,1 1 1,-1 0-1,0 0 1,1 0-1,-1 0 1,1 0-1,-1 0 1,0 0-1,1 0 1,-1 0-1,1 0 1,-1 0-1,0 0 1,1 0-1,-1 0 1,1 1-1,-1-1 1,1 0-1,-1 0 1,1 1-1,-1-1 0,1 0 1,-1 1-1,1-1 1,-1 0-1,1 1 1,-1-1-1,1 1 1,0-1-1,-1 1 1,1-1-1,0 1 1,-1-1-1,1 1 1,0-1-1,0 1 1,-1 0-1,1-1 1,0 1-1,0-1 1,0 1-1,0 1 1,-4 22 172,-2 38 1,2-4-175,-6 18 52,-28 166-93,20-165 1121,17-67-391,3-26-749,4-86-195,-3 67 169,3-45 1,4 0 1,24-95-1,11 34 123,-35 113-88,3 1 0,29-49 0,-39 72 22,-1 0 0,1 0 0,0 1 0,0 0 0,0 0 0,0-1 0,0 2 0,1-1 0,3-2 0,-5 4 9,0 0 0,0 0 0,1 0 0,-1 0 0,0 1 0,0-1 0,0 1 0,0 0 0,0 0 0,1-1 0,-1 1 0,0 1-1,0-1 1,0 0 0,1 0 0,-1 1 0,0-1 0,0 1 0,0 0 0,3 1 0,2 2 12,0 0-1,-1 0 0,1 0 1,-1 1-1,0 0 0,0 0 1,8 11-1,32 45-61,-38-49 23,28 48 39,-2 1 0,33 85-1,-50-106-7,71 165-542,-56-136-1883,-13-30-2827,-11-23 3382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6016,'5'-4'2784,"18"4"-1856,-9 0 416,-1 0-768,6-5 0,3 2-384,10-6-448,-1 1 128,12-4-1952,-3 4 1152,5-7-2624,1 6 1984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1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5632,'0'4'7221,"11"-5"-6208,8-3-979,-1-1 0,0 0 0,1-2-1,16-8 1,32-11-2288,-17 9-2109,-28 12 2353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72 167 6656,'-1'0'381,"0"1"1,0-1-1,0 0 1,0 1-1,0-1 1,0 1-1,0-1 0,0 1 1,0-1-1,0 1 1,0 0-1,1-1 1,-1 1-1,0 0 1,0 0-1,1-1 1,-1 1-1,0 2 1,-15 26 885,9-12-1463,-8 35-1,8-11 356,2 1-1,1 0 1,4 77-1,6-42-3,18 90 0,-21-153-177,0-1 0,1 1 0,0-1 0,1 0-1,1 0 1,0 0 0,12 18 0,-13-24 33,0-1-1,0 1 1,1-1 0,0 0 0,0-1-1,0 0 1,1 0 0,0 0 0,0 0-1,0-1 1,0-1 0,1 1 0,-1-1-1,10 3 1,-6-4 14,0 0 0,1 0-1,-1-1 1,0 0 0,1-1 0,-1 0 0,0-1-1,0 0 1,1-1 0,14-4 0,-13 2 58,0-1 1,0 0-1,-1 0 1,0-1-1,0-1 1,-1 0-1,0 0 1,13-12-1,-15 12-39,-1-1 0,1 0 0,-1-1 0,-1 0-1,0 0 1,0-1 0,0 0 0,7-17 0,6-16 129,-2-1 1,19-70 0,-30 84-10,-1 0 1,-1-1 0,-2 1 0,-1-1-1,-3-31 1,0 29-73,-1 3-45,-5-32 1,-1 21-214,-1 1 1,-24-64 0,27 88-516,-6-17-1696,11 31 1762,0 0 1,0 0 0,-1 0-1,1 1 1,0-1-1,-1 0 1,1 1 0,-1-1-1,1 1 1,-1-1 0,0 1-1,-2-2 1,-7-2-1802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67 372 2304,'0'2'117,"1"0"0,0 0 0,-1 0 0,1 0-1,-1 0 1,1 0 0,-1 0 0,0 0 0,0 1 0,-1 2 0,2 13 437,6 4-118,0 0-1,1-1 1,2 1 0,0-2 0,1 1 0,22 30-1,2 1-403,-17-24-51,25 28 1,-40-51 178,1-1 0,-1 1 0,0 0 0,0-1 0,0 1 0,0 0 0,1 7 0,-4-12-132,0 0 0,0 0 0,0 0-1,0 0 1,0 0 0,0 0 0,0 0 0,0 0 0,-1 0-1,1 0 1,0 0 0,0 0 0,0 0 0,0 0 0,0 0-1,0 0 1,0 0 0,0 0 0,-1 0 0,1 0 0,0 0-1,0 0 1,0 0 0,0 0 0,0 0 0,0 0 0,0 0-1,0 0 1,-1 0 0,1 0 0,0 0 0,0 0 0,0 0-1,0 1 1,0-1 0,0 0 0,0 0 0,0 0 0,0 0-1,0 0 1,0 0 0,0 0 0,0 0 0,0 0 0,0 1-1,0-1 1,0 0 0,0 0 0,0 0 0,0 0 0,0 0-1,0 0 1,0 0 0,0 1 0,0-1 0,0 0 0,0 0-1,0 0 1,0 0 0,0 0 0,0 0 0,-9-6 245,7 5-181,-18-16 158,0-1 0,1 0 1,1-2-1,0 0 1,2-1-1,0 0 0,2-2 1,-21-40-1,19 28-25,2 0-1,1-1 0,2 0 1,1-1-1,-7-59 1,13 62-49,1-53 1,3 78-188,0-1 0,1 1 1,0-1-1,1 1 0,0-1 0,1 1 0,0 0 1,0 0-1,1 0 0,6-11 0,-8 17-10,0 0-1,0 0 1,0 0 0,1 0-1,0 0 1,-1 1-1,1-1 1,0 1 0,0 0-1,0 0 1,0 0-1,1 0 1,-1 1 0,1-1-1,-1 1 1,1 0-1,-1 0 1,1 0 0,0 0-1,-1 1 1,1 0-1,0-1 1,-1 1-1,1 0 1,0 1 0,0-1-1,3 2 1,5 1 12,-1 1 1,1 0 0,-1 0-1,0 2 1,-1-1-1,1 1 1,11 9 0,46 38 56,82 80 1,-61-50-40,-41-41-1926,68 46 0,-92-71-915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6272,'18'-20'2368,"4"-1"-1856,20-11 160,-20 16-96,10-13-640,5-6-192,4-6-2336,1 1-1024,-2 3 1568,0 8 832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15 212 4864,'0'-12'5840,"-1"25"-4347,-4 10-1448,1-1 0,2 0-1,0 1 1,1 31 0,3 16-111,3 35-268,2-39-134,2 0 1,28 97-1,-32-150 690,-5-13-213,0 0 0,0 0 1,0 0-1,0 0 0,0-1 0,0 1 1,0 0-1,0 0 0,0 0 0,0 0 0,0 0 1,0 0-1,0 0 0,0 0 0,0 0 1,0 0-1,0 0 0,0 0 0,0 0 1,0 0-1,0 0 0,0 0 0,0 0 1,0 0-1,0 0 0,0 0 0,0 0 1,1 0-1,-1 0 0,0-1 0,0 1 1,0 0-1,0 0 0,0 0 0,0 0 1,0 0-1,0 0 0,0 0 0,0 0 1,0 0-1,0 1 0,0-1 0,0 0 1,0 0-1,1 0 0,-1 0 0,0 0 1,0 0-1,0 0 0,0 0 0,0 0 1,0 0-1,0 0 0,0 0 0,0 0 1,0 0-1,0 0 0,0 0 0,0 0 1,0 0-1,0 0 0,0 0 0,0 0 1,0 0-1,0 0 0,0 1 0,2-28 830,-6-38 10,-21-119 0,1 22-594,21 129-193,2 0 0,4-61 0,0 70 0,0 0 1,1 0-1,2 1 1,9-29 0,-12 45-49,0 0 0,1 0 1,0 1-1,0-1 0,0 1 1,0 0-1,10-9 0,-10 12-16,0-1-1,1 1 0,-1 0 1,1 0-1,-1 1 0,1-1 0,0 1 1,0 0-1,0 0 0,0 1 0,11-3 1,-5 3-1,0 1 0,0 0 0,0 0 0,0 1 0,0 0 0,-1 1 0,1 0 0,0 1 0,-1 0-1,1 1 1,11 6 0,6 4 122,0 1 0,42 32 0,189 167-306,-242-199-875,25 16-1,22 5-7212,-54-28 6398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6272,'4'-25'2880,"46"-16"-1984,-23 21 64,2 5-576,11-19-1312,10 2 448,1-11-3040,-6 2 1920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9 5888,'-5'-8'2176,"0"8"-1664,-3 0 256,3 0 0,0 5-544,-4 2-160,1 10-64,-5 8 160,2 2-64,3 18 32,3 4-64,5 15-128,5 1-96,3 8 0,6 4-1184,-1-8-2080,6-2 1792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9 243 6912,'-3'-3'2624,"-3"3"1024,12-6-3264,-6 3 0,3-5-224,10-9 32,16-7 128,3-4-1184,8-1 480,14-3-3232,2 0 1984,11 0-2304,-3 4 2240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8448,'7'3'5279,"33"20"-4398,-28-13-843,-1-1 1,-1 2-1,1-1 1,-2 1-1,1 1 1,-2 0-1,1 0 1,-2 1-1,1 0 1,5 16 0,2 8-565,-3 1 1,13 62 0,-19-64-1818,-1-1 0,-1 68-1,-4-58 206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7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6912,'0'0'2624,"5"0"-512,-5 3-2432,5 6 128,-2 3-2176,2 4 1312,-5 8-1248,0 5 288,6-1 96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7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8960,'-5'3'4064,"5"26"-3744,-3-12-1280,3 3 384,-5 8-3264,5-1 2144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7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6144,'-5'0'2368,"10"0"-416,0 7-1856,-1 13-160,-4 5-1408,0 4-640,-4 11-320,-1 0-128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4 8064,'-5'0'3744,"-4"-4"-3456,4 4-384,-8 7-672,-11 6-160,-8 3-32,-3 9 32,-7 3-800,1-4-1184,9 5 1536,-5 14-96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1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7680,'8'15'3520,"34"31"-3104,-28-26-1440,4-3 448,4 3-2912,1 0 1952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16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2176,'-5'3'9036,"-1"6"-6331,-2 13-4498,5-15 2693,-18 42-1430,-2-1 0,-32 49 0,-14 12-2414,65-97-751,3-8 2100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20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66 199 4480,'0'-1'593,"0"1"-518,0 0-1,0 0 0,-1 0 0,1 0 0,0 0 1,0 0-1,0 0 0,0 0 0,0 0 0,0 0 1,0 0-1,0 0 0,-1 0 0,0 1 1558,1-1-1557,-1 0-1,1 0 0,0 0 0,0 0 0,0 0 1,0 1-1,0-1 0,0 0 0,0 0 0,0 0 1,0 0-1,0 0 0,0 0 0,0 0 0,0 0 1,0 1-1,0-1 0,0 0 0,0 0 0,0 0 1,0 0-1,0 0 0,0 15 717,4 18-1215,5 34 554,-2 1 0,-4 74 0,-3-135-114,0 1 19,1 0 0,-2 0 0,1 0 0,-1 0 0,0 0 0,-1 0 0,0 0-1,-5 14 1,6-20-22,-6 8 188,6-10-193,1 0-1,0 0 1,-1 0 0,1 0-1,-1 0 1,1 0-1,0 0 1,-1 0 0,1 0-1,-1 0 1,1 0 0,0 0-1,-1 0 1,1 0 0,-1 0-1,1-1 1,0 1-1,-1 0 1,1 0 0,0 0-1,-1 0 1,1-1 0,0 1-1,-1 0 1,1-1-1,0 1 1,-1 0 0,1 0-1,0-1 1,0 1 0,0 0-1,-1-1 1,1 1-1,0 0 1,0-1 0,0 0-1,-4-6 13,0 0 0,1 0 0,0 0 0,0-1 0,1 0 0,-2-14 0,-5-53 37,7 43-51,-15-179-6,16 171 65,2 1 1,2-1-1,9-51 0,-12 89-69,1 0 0,-1 0 0,1 0 0,-1 0-1,1 0 1,0 0 0,0 0 0,0 0 0,0 1-1,0-1 1,2-3 0,-2 5 11,0-1 0,0 1-1,0-1 1,0 1 0,0 0 0,0-1 0,0 1-1,0 0 1,0 0 0,0 0 0,0-1 0,0 1-1,0 0 1,0 1 0,0-1 0,0 0 0,0 0-1,0 0 1,0 0 0,0 1 0,-1-1 0,1 0-1,0 1 1,0-1 0,0 1 0,1 0 0,3 2-1,1 1 0,-1-1 1,1 1-1,-1 0 0,0 1 1,7 8-1,26 34-38,-26-30 68,17 22 83,-2 2 0,-2 1 0,-2 1 0,22 55 0,-29-55-954,-2 1 0,12 63 0,-21-82-536,5 39-3257,-7-44 3097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2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5376,'0'9'2560,"5"-18"-1920,-5 1 128,10 4-480,4-16-416,3 3 64,11-18-2752,-1 6 1536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2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36 5888,'-1'-36'9290,"-4"46"-9369,0 1-1,-4 12 0,-5 11-118,-49 121-1146,57-137 851,-13 24 0,-3 9-4430,20-36 3067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11 286 9344,'0'-1'172,"0"1"1,-1 0 0,1-1-1,0 1 1,0 0 0,0-1-1,0 1 1,-1 0 0,1-1-1,0 1 1,0 0-1,-1 0 1,1-1 0,0 1-1,-1 0 1,1 0 0,0-1-1,-1 1 1,1 0 0,0 0-1,-1 0 1,1 0 0,0 0-1,-1-1 1,0 1-1,1 0-159,0 0-1,0 0 1,0 1-1,0-1 0,-1 0 1,1 0-1,0 0 0,0 0 1,0 0-1,0 0 0,0 0 1,-1 1-1,1-1 1,0 0-1,0 0 0,0 0 1,0 0-1,0 1 0,0-1 1,0 0-1,0 0 0,0 0 1,-1 0-1,1 1 1,0-1-1,0 0 0,0 0 1,0 0-1,0 1 0,0-1 1,0 0-1,0 0 1,0 0-1,0 0 0,1 1 1,-1-1-1,0 0 0,0 0 1,0 0-1,0 1 0,0-1 1,0 0-1,0 0 1,0 0-1,1 4-176,0 0 1,0 0-1,-1-1 0,0 1 1,1 0-1,-2 7 0,1 11-269,9 27-337,1-1-1,19 50 1,-11-39 463,-1 5 422,6 19 815,-23-79-230,-4-11-468,-10-22-92,-2-21-101,-18-95-1,8-54-8,23 166-30,1 1 0,1-1 0,2 0 0,1 0 0,7-35 0,-7 62 23,-1 0 1,1 1 0,0-1-1,1 1 1,-1-1-1,1 1 1,0 0 0,1 0-1,-1 0 1,6-6 0,-7 9-12,0 1 1,-1-1 0,1 0 0,1 1-1,-1-1 1,0 1 0,0-1 0,1 1 0,-1 0-1,0 0 1,1 0 0,-1 1 0,1-1-1,-1 0 1,1 1 0,0 0 0,-1-1-1,1 1 1,-1 0 0,1 0 0,0 1 0,-1-1-1,1 0 1,-1 1 0,4 1 0,2 1 28,-1 0 0,1 1 1,-1 0-1,1 1 0,-1-1 1,10 10-1,36 39 205,-36-35-195,118 143 3,-52-45-1377,-47-65-1888,-7-4-1620,-16-30 2980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31T04:23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7168,'0'-3'3328,"32"-18"-2560,-18 5-544,3 0-192,6-21-3424,9 2 1856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entury Gothic" charset="0"/>
              </a:defRPr>
            </a:lvl1pPr>
          </a:lstStyle>
          <a:p>
            <a:pPr>
              <a:defRPr/>
            </a:pPr>
            <a:fld id="{DF58A1A0-E3EB-8B4E-9D7C-7B277F8C2070}" type="datetime1">
              <a:rPr lang="en-US"/>
              <a:pPr>
                <a:defRPr/>
              </a:pPr>
              <a:t>6/7/23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entury Gothic" charset="0"/>
              </a:defRPr>
            </a:lvl1pPr>
          </a:lstStyle>
          <a:p>
            <a:pPr>
              <a:defRPr/>
            </a:pPr>
            <a:fld id="{D86D8E7F-8D50-EB49-8572-07A4E2D083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72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Century Gothic" charset="0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DF806D8-9EE3-9B4D-AAB4-07D7CE8BAF75}" type="slidenum">
              <a:rPr lang="en-US" sz="1200">
                <a:latin typeface="Century Gothic" charset="0"/>
              </a:rPr>
              <a:pPr eaLnBrk="1" hangingPunct="1"/>
              <a:t>1</a:t>
            </a:fld>
            <a:endParaRPr lang="en-US" sz="1200">
              <a:latin typeface="Century Gothic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not for exam</a:t>
            </a:r>
          </a:p>
          <a:p>
            <a:r>
              <a:rPr lang="en-US" baseline="0" dirty="0"/>
              <a:t>We pick the maximum score from 4 possible scores</a:t>
            </a:r>
          </a:p>
          <a:p>
            <a:r>
              <a:rPr lang="en-US" baseline="0" dirty="0"/>
              <a:t>For this class, we ignore Bifurcation that actually joins two secondary structure elements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6D8E7F-8D50-EB49-8572-07A4E2D083D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66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0AD5-B5C8-46EB-8F58-DFC1A7EE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69665-C061-43BA-AD4F-B0B6325C5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055FB-C318-4F2D-BFC5-651E687E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C5C001-2847-5D4F-92A5-EC548A12FF3A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485D-F342-496B-8EA9-F692B85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BCEB-4A16-4049-A2CF-248FF6A2F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E2E69E-9E44-104F-9CCF-F65E7319F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60051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8B22-C00E-4B05-B4D4-F4656ADB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6787-2208-4C9A-93D0-852DFD9CC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21725-E5D1-4A28-B195-9B73512E6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AE35352-F59F-2245-A580-63F06AA710AD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5C8B0-98C3-4EF3-B9E9-634A3B30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ADB91-CE04-4665-887A-C7EBE68D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90BFC-D72F-F644-929A-CC5378AA4D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94170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5BA5-D14C-4C39-AD54-A4BD3F2D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56DAB-8054-4ADB-BED2-D53EEBCD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64D7-5059-4646-ACF9-BB632060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416917-DE6E-7E49-B939-CF2795AE5027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E3A31-D4E3-4506-A695-AFE4C240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9E10E-F2D1-48D5-ACF5-41A4B84B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71E5DF-E047-4544-88AE-C9AC9DEA78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285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7149-A745-4A28-A61B-0BD5DF37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E4E4-0341-4DE3-BC87-C769DB2B4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76CF4-FCDA-42F7-B8DB-BB659AC61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77E4-2AEC-4248-8E20-AF74FC27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D4ECCE-E30C-AE4B-B692-780E5297E6B7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ACCBA-A6D3-44FD-9B0D-9502441B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A639F-5A3D-4C74-B3C8-26FE4D78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E8A02-8CAA-544E-BDEF-A9F6987DAD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6144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15AB-7635-4B4C-BDD0-D83B20C0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CC52-4890-40DC-8F42-B232C670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9FE89-B130-42DE-B359-D03DCC118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03BEB-C56C-474F-9A66-D2DF03210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8B159-2FB1-480B-9360-55A4417A9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77B7A-D878-484B-8A1A-FE6E10B9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34BBAE-11D2-BF42-9564-0DAE152EC0C2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1BB62-0A7B-46A1-9382-F3A38B5E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0FA32-F84F-40CB-A2DE-E45DE726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288FF-35DD-6044-A28F-4C4319D924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708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C1C4-5EB8-4FD4-AA9B-11A95EB0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66047-E231-4E01-B899-C88DC5A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05C2FD-8C42-6443-9F4E-C631EB3382E1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6A797-F8EF-4240-A0B1-FC161619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8ADE-78F1-4968-ADB5-B987B3BE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9CE75-4D0E-024F-A7A5-9E05FDF885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31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A1B34-415C-4F8C-8323-373479DB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229A9-A5A0-0847-9998-440BB886F67E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949690-32E9-4E57-966D-26A3B562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E561F-A80A-4B97-B3C8-AEB063D8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23429E-767A-7A47-A84C-92E6D84743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4379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7F42-6406-4E70-9745-50570704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D384-9E20-4E01-842D-85426C28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D29A3-6C59-4FF5-8D2B-F45AF6814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B845A-6AC7-4D2D-91D2-CBBB638F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AD79F9-78C3-8448-B908-688F24478018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98514-EB7E-4AAD-A556-A8669933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02D4E-DC00-4541-8943-88BC437F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44891-9C83-3941-9C8F-2F84B7514A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15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4957-6498-4579-AED2-9AEE20511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A1449-62BC-476E-8537-1863C39C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06003-02BC-4594-91C9-BACE0931F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2F9FE-C317-4B8C-9761-F614927B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881EAF-E7AA-414E-ABDF-A751ED7BA604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24704-8475-48F1-9BF1-B1D3CB2E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DB42A-406D-4711-AB07-EC5F309C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F951AC-16E1-0A49-85C9-953C7A6BD8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4742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DCCFF-6EAB-4606-AC60-5776F354F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D5C38-2B1C-43EB-A1BC-22BE6CF67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581E0-867A-402F-9AB0-B76DEED1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398C99-C778-704D-8AFD-A0B84B01E2B7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FB9A-803F-4C13-821E-6481F573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94B53-B5C6-4EEC-BC6E-7D6BDC29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797956-3E40-604C-A18C-6E48C9FB4F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8852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953D0B-0730-419E-BD3A-1ECF0CE1E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ABDA9-F0B0-492D-91D9-F8D64164F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7265-253F-4C87-91F7-26DEB75F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671F27-759C-6242-85CC-41F82A168084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D28B5-CFAF-45F7-B0E1-DC6E79BF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ED339-3047-40F5-B01D-46B502A6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B1D459-99B8-784E-B5EA-A457CBAAED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2768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A93EA-82E3-429D-BD81-B6D1C921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530AD-C3BD-4EBE-92FB-6F3A07819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327E5-82EF-4FAC-A1BA-D0E269D30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5F209C-4C58-7247-B0F8-4EBF0D83B188}" type="datetime1">
              <a:rPr lang="en-US" smtClean="0"/>
              <a:pPr>
                <a:defRPr/>
              </a:pPr>
              <a:t>6/7/23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0B371-78A3-4EFC-82C2-BFFA67290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9A8E-876E-4135-8C00-EC4DED78B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DEAE463-0B8A-5E45-90BC-1E2B4AE571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7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med">
    <p:fad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44.png"/><Relationship Id="rId21" Type="http://schemas.openxmlformats.org/officeDocument/2006/relationships/image" Target="../media/image35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48.png"/><Relationship Id="rId50" Type="http://schemas.openxmlformats.org/officeDocument/2006/relationships/image" Target="../media/image50.png"/><Relationship Id="rId55" Type="http://schemas.openxmlformats.org/officeDocument/2006/relationships/customXml" Target="../ink/ink27.xml"/><Relationship Id="rId7" Type="http://schemas.openxmlformats.org/officeDocument/2006/relationships/image" Target="../media/image2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39.png"/><Relationship Id="rId11" Type="http://schemas.openxmlformats.org/officeDocument/2006/relationships/image" Target="../media/image30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43.png"/><Relationship Id="rId40" Type="http://schemas.openxmlformats.org/officeDocument/2006/relationships/customXml" Target="../ink/ink20.xml"/><Relationship Id="rId45" Type="http://schemas.openxmlformats.org/officeDocument/2006/relationships/image" Target="../media/image47.png"/><Relationship Id="rId53" Type="http://schemas.openxmlformats.org/officeDocument/2006/relationships/customXml" Target="../ink/ink26.xml"/><Relationship Id="rId58" Type="http://schemas.openxmlformats.org/officeDocument/2006/relationships/image" Target="../media/image54.png"/><Relationship Id="rId5" Type="http://schemas.openxmlformats.org/officeDocument/2006/relationships/image" Target="../media/image27.png"/><Relationship Id="rId19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2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8.png"/><Relationship Id="rId30" Type="http://schemas.openxmlformats.org/officeDocument/2006/relationships/customXml" Target="../ink/ink15.xml"/><Relationship Id="rId35" Type="http://schemas.openxmlformats.org/officeDocument/2006/relationships/image" Target="../media/image42.png"/><Relationship Id="rId43" Type="http://schemas.openxmlformats.org/officeDocument/2006/relationships/image" Target="../media/image46.png"/><Relationship Id="rId48" Type="http://schemas.openxmlformats.org/officeDocument/2006/relationships/image" Target="../media/image49.png"/><Relationship Id="rId56" Type="http://schemas.openxmlformats.org/officeDocument/2006/relationships/image" Target="../media/image53.png"/><Relationship Id="rId8" Type="http://schemas.openxmlformats.org/officeDocument/2006/relationships/customXml" Target="../ink/ink4.xml"/><Relationship Id="rId51" Type="http://schemas.openxmlformats.org/officeDocument/2006/relationships/customXml" Target="../ink/ink25.xml"/><Relationship Id="rId3" Type="http://schemas.openxmlformats.org/officeDocument/2006/relationships/image" Target="../media/image26.png"/><Relationship Id="rId12" Type="http://schemas.openxmlformats.org/officeDocument/2006/relationships/customXml" Target="../ink/ink6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33" Type="http://schemas.openxmlformats.org/officeDocument/2006/relationships/image" Target="../media/image41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customXml" Target="../ink/ink29.xml"/><Relationship Id="rId20" Type="http://schemas.openxmlformats.org/officeDocument/2006/relationships/customXml" Target="../ink/ink10.xml"/><Relationship Id="rId41" Type="http://schemas.openxmlformats.org/officeDocument/2006/relationships/image" Target="../media/image45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customXml" Target="../ink/ink5.xml"/><Relationship Id="rId31" Type="http://schemas.openxmlformats.org/officeDocument/2006/relationships/image" Target="../media/image40.png"/><Relationship Id="rId44" Type="http://schemas.openxmlformats.org/officeDocument/2006/relationships/customXml" Target="../ink/ink22.xml"/><Relationship Id="rId52" Type="http://schemas.openxmlformats.org/officeDocument/2006/relationships/image" Target="../media/image51.png"/><Relationship Id="rId60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entury Gothic" charset="0"/>
              </a:rPr>
              <a:t>Introduction to Bioinformatics</a:t>
            </a:r>
          </a:p>
        </p:txBody>
      </p:sp>
      <p:sp>
        <p:nvSpPr>
          <p:cNvPr id="1536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dirty="0">
              <a:latin typeface="Century Gothic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9579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4. </a:t>
            </a:r>
            <a:r>
              <a:rPr lang="en-US" dirty="0" err="1"/>
              <a:t>Nussinov</a:t>
            </a:r>
            <a:r>
              <a:rPr lang="en-US" dirty="0"/>
              <a:t> algorithm (or base pair maximization)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Foundation of RNA structure prediction</a:t>
            </a:r>
          </a:p>
          <a:p>
            <a:endParaRPr lang="en-US" dirty="0"/>
          </a:p>
          <a:p>
            <a:r>
              <a:rPr lang="en-US" dirty="0"/>
              <a:t>Attempts to maximize RNA base pairs</a:t>
            </a:r>
          </a:p>
          <a:p>
            <a:endParaRPr lang="en-US" dirty="0"/>
          </a:p>
          <a:p>
            <a:r>
              <a:rPr lang="en-US" dirty="0"/>
              <a:t>Similar to DP algorithms we have already studied</a:t>
            </a:r>
          </a:p>
          <a:p>
            <a:endParaRPr lang="en-US" dirty="0"/>
          </a:p>
          <a:p>
            <a:r>
              <a:rPr lang="en-US" dirty="0"/>
              <a:t>Does not predict </a:t>
            </a:r>
            <a:r>
              <a:rPr lang="en-US" dirty="0" err="1"/>
              <a:t>pseudoknots</a:t>
            </a:r>
            <a:endParaRPr lang="en-US" dirty="0"/>
          </a:p>
        </p:txBody>
      </p:sp>
      <p:pic>
        <p:nvPicPr>
          <p:cNvPr id="5" name="Content Placeholder 4" descr="nussinov-ruth.jpg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3" r="-3119"/>
          <a:stretch/>
        </p:blipFill>
        <p:spPr>
          <a:xfrm>
            <a:off x="7857068" y="2015067"/>
            <a:ext cx="3016040" cy="2891896"/>
          </a:xfrm>
        </p:spPr>
      </p:pic>
      <p:sp>
        <p:nvSpPr>
          <p:cNvPr id="6" name="Rectangle 5"/>
          <p:cNvSpPr/>
          <p:nvPr/>
        </p:nvSpPr>
        <p:spPr>
          <a:xfrm>
            <a:off x="6976516" y="4964674"/>
            <a:ext cx="46397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Ruth </a:t>
            </a:r>
            <a:r>
              <a:rPr lang="en-US" dirty="0" err="1">
                <a:solidFill>
                  <a:srgbClr val="FF0000"/>
                </a:solidFill>
              </a:rPr>
              <a:t>Nussinov</a:t>
            </a:r>
            <a:r>
              <a:rPr lang="en-US" dirty="0">
                <a:solidFill>
                  <a:srgbClr val="FF0000"/>
                </a:solidFill>
              </a:rPr>
              <a:t>, Professor of Bioinformatics,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Dept. of Human Genetics,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Tel Aviv University, </a:t>
            </a:r>
            <a:r>
              <a:rPr lang="en-US" dirty="0" err="1">
                <a:solidFill>
                  <a:srgbClr val="FF0000"/>
                </a:solidFill>
              </a:rPr>
              <a:t>Isreal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35553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idea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RNA sequence of some length</a:t>
            </a:r>
          </a:p>
          <a:p>
            <a:endParaRPr lang="en-US" dirty="0"/>
          </a:p>
          <a:p>
            <a:pPr lvl="1"/>
            <a:r>
              <a:rPr lang="en-US" dirty="0"/>
              <a:t>If there are two complimentary bases, score is </a:t>
            </a:r>
            <a:r>
              <a:rPr lang="en-US" dirty="0">
                <a:solidFill>
                  <a:srgbClr val="FF0000"/>
                </a:solidFill>
              </a:rPr>
              <a:t>1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Else, score is </a:t>
            </a:r>
            <a:r>
              <a:rPr lang="en-US" dirty="0">
                <a:solidFill>
                  <a:srgbClr val="FF0000"/>
                </a:solidFill>
              </a:rPr>
              <a:t>0</a:t>
            </a:r>
          </a:p>
          <a:p>
            <a:endParaRPr lang="en-US" dirty="0"/>
          </a:p>
          <a:p>
            <a:r>
              <a:rPr lang="en-US" dirty="0"/>
              <a:t>We find the maximum number of base pairs that are possible in a given sequence</a:t>
            </a:r>
          </a:p>
        </p:txBody>
      </p:sp>
    </p:spTree>
    <p:extLst>
      <p:ext uri="{BB962C8B-B14F-4D97-AF65-F5344CB8AC3E}">
        <p14:creationId xmlns:p14="http://schemas.microsoft.com/office/powerpoint/2010/main" val="315251903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11130"/>
            <a:ext cx="10515600" cy="1325563"/>
          </a:xfrm>
        </p:spPr>
        <p:txBody>
          <a:bodyPr/>
          <a:lstStyle/>
          <a:p>
            <a:pPr algn="ctr"/>
            <a:r>
              <a:rPr lang="en-US" sz="3500" dirty="0"/>
              <a:t>Example</a:t>
            </a:r>
          </a:p>
        </p:txBody>
      </p:sp>
      <p:pic>
        <p:nvPicPr>
          <p:cNvPr id="33804" name="Picture 12" descr="DPRecurrences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3052763"/>
            <a:ext cx="7112000" cy="174307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3809" name="Picture 17" descr="ijPair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300" y="1969294"/>
            <a:ext cx="2565400" cy="40640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3808" name="Picture 16" descr="DPRecurrencesEmphpaired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0"/>
            <a:ext cx="71120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0" name="Picture 18" descr="DPRecurrencesEmphIUnpaired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0"/>
            <a:ext cx="71120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1" name="Picture 19" descr="iUnpaire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067" y="2286000"/>
            <a:ext cx="3067051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2" name="Picture 20" descr="DPRecurrencesEmphJUnpaired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0"/>
            <a:ext cx="71120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3" name="Picture 21" descr="jUnpaire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467" y="2286000"/>
            <a:ext cx="3177117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4" name="Picture 22" descr="DPRecurrencesEmphBifurcation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0"/>
            <a:ext cx="71120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5" name="Picture 23" descr="Bifurcation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803525"/>
            <a:ext cx="3657600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16" name="Text Box 24"/>
          <p:cNvSpPr txBox="1">
            <a:spLocks noChangeArrowheads="1"/>
          </p:cNvSpPr>
          <p:nvPr/>
        </p:nvSpPr>
        <p:spPr bwMode="auto">
          <a:xfrm>
            <a:off x="994834" y="5221288"/>
            <a:ext cx="27338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Base pair at i and j</a:t>
            </a:r>
          </a:p>
        </p:txBody>
      </p:sp>
      <p:sp>
        <p:nvSpPr>
          <p:cNvPr id="33817" name="Text Box 25"/>
          <p:cNvSpPr txBox="1">
            <a:spLocks noChangeArrowheads="1"/>
          </p:cNvSpPr>
          <p:nvPr/>
        </p:nvSpPr>
        <p:spPr bwMode="auto">
          <a:xfrm>
            <a:off x="982133" y="5181600"/>
            <a:ext cx="2254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Unmatched at i</a:t>
            </a: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1005418" y="5181600"/>
            <a:ext cx="20834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Umatched at j</a:t>
            </a:r>
          </a:p>
        </p:txBody>
      </p:sp>
      <p:sp>
        <p:nvSpPr>
          <p:cNvPr id="33819" name="Text Box 27"/>
          <p:cNvSpPr txBox="1">
            <a:spLocks noChangeArrowheads="1"/>
          </p:cNvSpPr>
          <p:nvPr/>
        </p:nvSpPr>
        <p:spPr bwMode="auto">
          <a:xfrm>
            <a:off x="982133" y="5181600"/>
            <a:ext cx="1638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hlink"/>
                </a:solidFill>
              </a:rPr>
              <a:t>Bifurcation</a:t>
            </a:r>
          </a:p>
        </p:txBody>
      </p:sp>
      <p:sp>
        <p:nvSpPr>
          <p:cNvPr id="33820" name="Text Box 28"/>
          <p:cNvSpPr txBox="1">
            <a:spLocks noChangeArrowheads="1"/>
          </p:cNvSpPr>
          <p:nvPr/>
        </p:nvSpPr>
        <p:spPr bwMode="auto">
          <a:xfrm>
            <a:off x="9448800" y="6553200"/>
            <a:ext cx="23276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Images – Sean Eddy</a:t>
            </a:r>
          </a:p>
        </p:txBody>
      </p:sp>
      <p:sp>
        <p:nvSpPr>
          <p:cNvPr id="33824" name="AutoShape 32"/>
          <p:cNvSpPr>
            <a:spLocks/>
          </p:cNvSpPr>
          <p:nvPr/>
        </p:nvSpPr>
        <p:spPr bwMode="auto">
          <a:xfrm>
            <a:off x="1524000" y="1676400"/>
            <a:ext cx="10261600" cy="1143000"/>
          </a:xfrm>
          <a:prstGeom prst="borderCallout2">
            <a:avLst>
              <a:gd name="adj1" fmla="val 10000"/>
              <a:gd name="adj2" fmla="val -991"/>
              <a:gd name="adj3" fmla="val 10000"/>
              <a:gd name="adj4" fmla="val -1361"/>
              <a:gd name="adj5" fmla="val 176806"/>
              <a:gd name="adj6" fmla="val -272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2400" dirty="0"/>
              <a:t>S(</a:t>
            </a:r>
            <a:r>
              <a:rPr lang="en-US" sz="2400" dirty="0" err="1"/>
              <a:t>i,j</a:t>
            </a:r>
            <a:r>
              <a:rPr lang="en-US" sz="2400" dirty="0"/>
              <a:t>) is the folding of the subsequence of the RNA strand from index </a:t>
            </a:r>
            <a:r>
              <a:rPr lang="en-US" sz="2400" dirty="0" err="1"/>
              <a:t>i</a:t>
            </a:r>
            <a:r>
              <a:rPr lang="en-US" sz="2400" dirty="0"/>
              <a:t> to index j which results in the highest number of base pairs</a:t>
            </a:r>
          </a:p>
        </p:txBody>
      </p:sp>
    </p:spTree>
    <p:extLst>
      <p:ext uri="{BB962C8B-B14F-4D97-AF65-F5344CB8AC3E}">
        <p14:creationId xmlns:p14="http://schemas.microsoft.com/office/powerpoint/2010/main" val="19362217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33809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0 -0.27778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38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88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33811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59259E-6 L 0.11944 -0.1828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33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2" y="-9144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33813"/>
                                        </p:tgtEl>
                                      </p:cBhvr>
                                      <p:by x="40000" y="4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.06667 0.2333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338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11667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4" dur="2000" fill="hold"/>
                                        <p:tgtEl>
                                          <p:spTgt spid="33815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6" grpId="0"/>
      <p:bldP spid="33816" grpId="1"/>
      <p:bldP spid="33817" grpId="0"/>
      <p:bldP spid="33818" grpId="0"/>
      <p:bldP spid="33818" grpId="1"/>
      <p:bldP spid="33819" grpId="0"/>
      <p:bldP spid="33819" grpId="1"/>
      <p:bldP spid="33820" grpId="0"/>
      <p:bldP spid="33824" grpId="0" animBg="1"/>
      <p:bldP spid="3382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609600" y="20643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400" i="0" dirty="0">
                <a:solidFill>
                  <a:schemeClr val="tx2"/>
                </a:solidFill>
                <a:latin typeface="Century Gothic"/>
                <a:cs typeface="Century Gothic"/>
              </a:rPr>
              <a:t>Alignment Method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endParaRPr lang="en-US" sz="3500" b="1" i="0">
              <a:solidFill>
                <a:schemeClr val="tx2"/>
              </a:solidFill>
            </a:endParaRPr>
          </a:p>
        </p:txBody>
      </p:sp>
      <p:sp>
        <p:nvSpPr>
          <p:cNvPr id="109574" name="Rectangle 6"/>
          <p:cNvSpPr>
            <a:spLocks noChangeArrowheads="1"/>
          </p:cNvSpPr>
          <p:nvPr/>
        </p:nvSpPr>
        <p:spPr bwMode="auto">
          <a:xfrm>
            <a:off x="609599" y="1455737"/>
            <a:ext cx="11142133" cy="480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</a:pPr>
            <a:r>
              <a:rPr lang="en-US" sz="2600" i="0" dirty="0">
                <a:latin typeface="Century Gothic"/>
                <a:cs typeface="Century Gothic"/>
              </a:rPr>
              <a:t>Alignment Method</a:t>
            </a:r>
          </a:p>
          <a:p>
            <a:pPr marL="692150" lvl="1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0"/>
              <a:buChar char="l"/>
            </a:pPr>
            <a:r>
              <a:rPr lang="en-US" sz="2600" i="0" dirty="0">
                <a:latin typeface="Century Gothic"/>
                <a:cs typeface="Century Gothic"/>
              </a:rPr>
              <a:t>Align RNA strand to itself</a:t>
            </a:r>
          </a:p>
          <a:p>
            <a:pPr marL="692150" lvl="1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0"/>
              <a:buChar char="l"/>
            </a:pPr>
            <a:r>
              <a:rPr lang="en-US" sz="2600" i="0" dirty="0">
                <a:latin typeface="Century Gothic"/>
                <a:cs typeface="Century Gothic"/>
              </a:rPr>
              <a:t>Score increases for feasible base pairs</a:t>
            </a:r>
          </a:p>
          <a:p>
            <a:pPr marL="692150" lvl="1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0"/>
              <a:buChar char="l"/>
            </a:pPr>
            <a:r>
              <a:rPr lang="en-US" sz="2600" dirty="0">
                <a:latin typeface="Century Gothic"/>
                <a:cs typeface="Century Gothic"/>
              </a:rPr>
              <a:t>Do not consider G/U for this example</a:t>
            </a:r>
          </a:p>
          <a:p>
            <a:pPr marL="692150" lvl="1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0"/>
              <a:buChar char="l"/>
            </a:pPr>
            <a:endParaRPr lang="en-US" sz="2600" i="0" dirty="0">
              <a:latin typeface="Century Gothic"/>
              <a:cs typeface="Century Gothic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</a:pPr>
            <a:r>
              <a:rPr lang="en-US" sz="2600" i="0" dirty="0">
                <a:latin typeface="Century Gothic"/>
                <a:cs typeface="Century Gothic"/>
              </a:rPr>
              <a:t>Each score independent of overall structure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</a:pPr>
            <a:endParaRPr lang="en-US" sz="2600" dirty="0">
              <a:latin typeface="Century Gothic"/>
              <a:cs typeface="Century Gothic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</a:pPr>
            <a:endParaRPr lang="en-US" sz="2600" i="0" dirty="0">
              <a:latin typeface="Century Gothic"/>
              <a:cs typeface="Century Gothic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charset="0"/>
              <a:buChar char="l"/>
            </a:pPr>
            <a:r>
              <a:rPr lang="en-US" sz="2600" i="0" dirty="0">
                <a:latin typeface="Century Gothic"/>
                <a:cs typeface="Century Gothic"/>
              </a:rPr>
              <a:t>Bifurcation adds extra dimension (don’t worry about this)</a:t>
            </a: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690034" y="5065713"/>
            <a:ext cx="581236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7566792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331"/>
            <a:ext cx="10515600" cy="1325563"/>
          </a:xfrm>
        </p:spPr>
        <p:txBody>
          <a:bodyPr/>
          <a:lstStyle/>
          <a:p>
            <a:pPr algn="ctr"/>
            <a:r>
              <a:rPr lang="en-US" sz="4000" dirty="0"/>
              <a:t>Algorithm</a:t>
            </a:r>
          </a:p>
        </p:txBody>
      </p:sp>
      <p:sp>
        <p:nvSpPr>
          <p:cNvPr id="33802" name="Rectangle 10"/>
          <p:cNvSpPr>
            <a:spLocks noGrp="1" noChangeArrowheads="1"/>
          </p:cNvSpPr>
          <p:nvPr>
            <p:ph idx="1"/>
          </p:nvPr>
        </p:nvSpPr>
        <p:spPr>
          <a:xfrm>
            <a:off x="609600" y="1371600"/>
            <a:ext cx="10972800" cy="16002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Initialize first two diagonals with zeros (identical bases do not pair)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Then Start filling the diagonals</a:t>
            </a:r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934633" y="3570288"/>
          <a:ext cx="8147051" cy="272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633" y="3570288"/>
                        <a:ext cx="8147051" cy="272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33798" name="Line 6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63022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Algorithm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48267" y="1717301"/>
            <a:ext cx="10058400" cy="1004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Score = 1, if bases are complimentary</a:t>
            </a:r>
          </a:p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Score = 0, if bases do not pair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86679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92066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Algorithm</a:t>
            </a: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41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41991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60406" y="1006115"/>
            <a:ext cx="10972794" cy="2038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We pick maximum score from three directions,</a:t>
            </a:r>
          </a:p>
          <a:p>
            <a:pPr marL="971550" lvl="1" indent="-51435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Bottom</a:t>
            </a:r>
          </a:p>
          <a:p>
            <a:pPr marL="971550" lvl="1" indent="-51435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Left</a:t>
            </a:r>
          </a:p>
          <a:p>
            <a:pPr marL="971550" lvl="1" indent="-51435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+mj-lt"/>
              <a:buAutoNum type="arabicPeriod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Diagonal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19128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41267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Algorithm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440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60406" y="1107713"/>
            <a:ext cx="10972794" cy="1004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We pick maximum score from three directions,</a:t>
            </a: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Bottom is 1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45995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92066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Algorithm</a:t>
            </a: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450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45061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60406" y="1107713"/>
            <a:ext cx="10972794" cy="1004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We pick maximum score from three directions,</a:t>
            </a: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Left is 0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276011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41267"/>
            <a:ext cx="10515600" cy="1325563"/>
          </a:xfrm>
        </p:spPr>
        <p:txBody>
          <a:bodyPr/>
          <a:lstStyle/>
          <a:p>
            <a:pPr algn="ctr"/>
            <a:r>
              <a:rPr lang="en-US" sz="3600" dirty="0"/>
              <a:t>Algorithm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460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60406" y="1107713"/>
            <a:ext cx="10972794" cy="2924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We pick maximum score from three directions,</a:t>
            </a: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800" dirty="0">
                <a:solidFill>
                  <a:prstClr val="black"/>
                </a:solidFill>
                <a:latin typeface="Century Gothic"/>
              </a:rPr>
              <a:t>Diagonal is 0</a:t>
            </a:r>
          </a:p>
          <a:p>
            <a:pPr marL="1143000" lvl="2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400" dirty="0">
                <a:solidFill>
                  <a:prstClr val="black"/>
                </a:solidFill>
                <a:latin typeface="Century Gothic"/>
              </a:rPr>
              <a:t>Check if ‘A’ and ‘U’ pair or not? They do!</a:t>
            </a:r>
          </a:p>
          <a:p>
            <a:pPr marL="1143000" lvl="2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400" dirty="0">
                <a:solidFill>
                  <a:prstClr val="black"/>
                </a:solidFill>
                <a:latin typeface="Century Gothic"/>
              </a:rPr>
              <a:t>Add +1 into whatever the value is in diagonal</a:t>
            </a: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endParaRPr lang="en-US" sz="2800" dirty="0">
              <a:solidFill>
                <a:prstClr val="black"/>
              </a:solidFill>
              <a:latin typeface="Century Gothic"/>
            </a:endParaRP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endParaRPr lang="en-US" sz="2800" dirty="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03843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Algorithm</a:t>
            </a: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49157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49159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975817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-2105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Completed Matrix</a:t>
            </a: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1930401" y="3581403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512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1" y="3581403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3604685" y="3048002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994835" y="4689477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0406" y="1023048"/>
            <a:ext cx="10972794" cy="2425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400" dirty="0">
                <a:solidFill>
                  <a:prstClr val="black"/>
                </a:solidFill>
                <a:latin typeface="Century Gothic"/>
              </a:rPr>
              <a:t>Final value of 3 implies there are a maximum of 3 base pairs in the final structure</a:t>
            </a:r>
          </a:p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endParaRPr lang="en-US" sz="2400" dirty="0">
              <a:solidFill>
                <a:prstClr val="black"/>
              </a:solidFill>
              <a:latin typeface="Century Gothic"/>
            </a:endParaRPr>
          </a:p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400" dirty="0">
                <a:solidFill>
                  <a:prstClr val="black"/>
                </a:solidFill>
                <a:latin typeface="Century Gothic"/>
              </a:rPr>
              <a:t>We do the traceback by starting from the maximum value and going down until we find the minimum value</a:t>
            </a:r>
          </a:p>
          <a:p>
            <a:pPr marL="685800" lvl="1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endParaRPr lang="en-US" sz="2400" dirty="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294285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5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Retrieving the Structure</a:t>
            </a:r>
          </a:p>
        </p:txBody>
      </p:sp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1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6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1797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1799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60406" y="1107713"/>
            <a:ext cx="10972794" cy="1779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600" dirty="0">
                <a:solidFill>
                  <a:prstClr val="black"/>
                </a:solidFill>
                <a:latin typeface="Century Gothic"/>
              </a:rPr>
              <a:t>Traceback path is highlighted (one of many that could be taken)</a:t>
            </a:r>
          </a:p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endParaRPr lang="en-US" sz="2600" dirty="0">
              <a:solidFill>
                <a:prstClr val="black"/>
              </a:solidFill>
              <a:latin typeface="Century Gothic"/>
            </a:endParaRPr>
          </a:p>
          <a:p>
            <a:pPr marL="228600" lvl="0" indent="-228600" eaLnBrk="0" hangingPunct="0">
              <a:lnSpc>
                <a:spcPct val="90000"/>
              </a:lnSpc>
              <a:spcBef>
                <a:spcPct val="30000"/>
              </a:spcBef>
              <a:buClr>
                <a:srgbClr val="ED7D31"/>
              </a:buClr>
              <a:buFont typeface="Wingdings" charset="0"/>
              <a:buChar char="§"/>
            </a:pPr>
            <a:r>
              <a:rPr lang="en-US" sz="2600" dirty="0">
                <a:solidFill>
                  <a:prstClr val="black"/>
                </a:solidFill>
                <a:latin typeface="Century Gothic"/>
              </a:rPr>
              <a:t>Start from the maximum value and go down until you find the minimum value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07952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Retrieving the Structure</a:t>
            </a:r>
          </a:p>
        </p:txBody>
      </p:sp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38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3845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3847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9" name="Text Box 9"/>
          <p:cNvSpPr txBox="1">
            <a:spLocks noChangeArrowheads="1"/>
          </p:cNvSpPr>
          <p:nvPr/>
        </p:nvSpPr>
        <p:spPr bwMode="auto">
          <a:xfrm>
            <a:off x="6400800" y="1524000"/>
            <a:ext cx="16256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STACK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</p:txBody>
      </p:sp>
      <p:sp>
        <p:nvSpPr>
          <p:cNvPr id="163850" name="Text Box 10"/>
          <p:cNvSpPr txBox="1">
            <a:spLocks noChangeArrowheads="1"/>
          </p:cNvSpPr>
          <p:nvPr/>
        </p:nvSpPr>
        <p:spPr bwMode="auto">
          <a:xfrm>
            <a:off x="8229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CURRENT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</p:txBody>
      </p:sp>
      <p:sp>
        <p:nvSpPr>
          <p:cNvPr id="163851" name="Oval 11"/>
          <p:cNvSpPr>
            <a:spLocks noChangeArrowheads="1"/>
          </p:cNvSpPr>
          <p:nvPr/>
        </p:nvSpPr>
        <p:spPr bwMode="auto">
          <a:xfrm>
            <a:off x="3454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3852" name="Oval 12"/>
          <p:cNvSpPr>
            <a:spLocks noChangeArrowheads="1"/>
          </p:cNvSpPr>
          <p:nvPr/>
        </p:nvSpPr>
        <p:spPr bwMode="auto">
          <a:xfrm>
            <a:off x="2743200" y="26336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3853" name="Oval 13"/>
          <p:cNvSpPr>
            <a:spLocks noChangeArrowheads="1"/>
          </p:cNvSpPr>
          <p:nvPr/>
        </p:nvSpPr>
        <p:spPr bwMode="auto">
          <a:xfrm>
            <a:off x="2946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3854" name="Line 14"/>
          <p:cNvSpPr>
            <a:spLocks noChangeShapeType="1"/>
          </p:cNvSpPr>
          <p:nvPr/>
        </p:nvSpPr>
        <p:spPr bwMode="auto">
          <a:xfrm flipV="1">
            <a:off x="3251200" y="24939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55" name="Text Box 15"/>
          <p:cNvSpPr txBox="1">
            <a:spLocks noChangeArrowheads="1"/>
          </p:cNvSpPr>
          <p:nvPr/>
        </p:nvSpPr>
        <p:spPr bwMode="auto">
          <a:xfrm>
            <a:off x="4165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PAIRS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735337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Retrieving the Structure</a:t>
            </a:r>
          </a:p>
        </p:txBody>
      </p:sp>
      <p:graphicFrame>
        <p:nvGraphicFramePr>
          <p:cNvPr id="164867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48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4869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3" name="Text Box 9"/>
          <p:cNvSpPr txBox="1">
            <a:spLocks noChangeArrowheads="1"/>
          </p:cNvSpPr>
          <p:nvPr/>
        </p:nvSpPr>
        <p:spPr bwMode="auto">
          <a:xfrm>
            <a:off x="6400800" y="1524000"/>
            <a:ext cx="16256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STACK</a:t>
            </a:r>
          </a:p>
          <a:p>
            <a:pPr algn="ctr">
              <a:spcBef>
                <a:spcPct val="50000"/>
              </a:spcBef>
            </a:pPr>
            <a:r>
              <a:rPr lang="en-US"/>
              <a:t>(4,7)</a:t>
            </a:r>
          </a:p>
        </p:txBody>
      </p:sp>
      <p:sp>
        <p:nvSpPr>
          <p:cNvPr id="164874" name="Text Box 10"/>
          <p:cNvSpPr txBox="1">
            <a:spLocks noChangeArrowheads="1"/>
          </p:cNvSpPr>
          <p:nvPr/>
        </p:nvSpPr>
        <p:spPr bwMode="auto">
          <a:xfrm>
            <a:off x="8229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CURRENT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</p:txBody>
      </p:sp>
      <p:sp>
        <p:nvSpPr>
          <p:cNvPr id="164875" name="Oval 11"/>
          <p:cNvSpPr>
            <a:spLocks noChangeArrowheads="1"/>
          </p:cNvSpPr>
          <p:nvPr/>
        </p:nvSpPr>
        <p:spPr bwMode="auto">
          <a:xfrm>
            <a:off x="3454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4876" name="Oval 12"/>
          <p:cNvSpPr>
            <a:spLocks noChangeArrowheads="1"/>
          </p:cNvSpPr>
          <p:nvPr/>
        </p:nvSpPr>
        <p:spPr bwMode="auto">
          <a:xfrm>
            <a:off x="2743200" y="26336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4877" name="Oval 13"/>
          <p:cNvSpPr>
            <a:spLocks noChangeArrowheads="1"/>
          </p:cNvSpPr>
          <p:nvPr/>
        </p:nvSpPr>
        <p:spPr bwMode="auto">
          <a:xfrm>
            <a:off x="2946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4878" name="Line 14"/>
          <p:cNvSpPr>
            <a:spLocks noChangeShapeType="1"/>
          </p:cNvSpPr>
          <p:nvPr/>
        </p:nvSpPr>
        <p:spPr bwMode="auto">
          <a:xfrm flipV="1">
            <a:off x="3251200" y="24939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9" name="Oval 15"/>
          <p:cNvSpPr>
            <a:spLocks noChangeArrowheads="1"/>
          </p:cNvSpPr>
          <p:nvPr/>
        </p:nvSpPr>
        <p:spPr bwMode="auto">
          <a:xfrm>
            <a:off x="3454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4880" name="Oval 16"/>
          <p:cNvSpPr>
            <a:spLocks noChangeArrowheads="1"/>
          </p:cNvSpPr>
          <p:nvPr/>
        </p:nvSpPr>
        <p:spPr bwMode="auto">
          <a:xfrm>
            <a:off x="2946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4881" name="Line 17"/>
          <p:cNvSpPr>
            <a:spLocks noChangeShapeType="1"/>
          </p:cNvSpPr>
          <p:nvPr/>
        </p:nvSpPr>
        <p:spPr bwMode="auto">
          <a:xfrm flipV="1">
            <a:off x="3251200" y="22653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82" name="Text Box 18"/>
          <p:cNvSpPr txBox="1">
            <a:spLocks noChangeArrowheads="1"/>
          </p:cNvSpPr>
          <p:nvPr/>
        </p:nvSpPr>
        <p:spPr bwMode="auto">
          <a:xfrm>
            <a:off x="4165600" y="1524000"/>
            <a:ext cx="2032000" cy="1201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PAIRS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76157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Retrieving the Structure</a:t>
            </a: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58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5893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5895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7" name="Text Box 9"/>
          <p:cNvSpPr txBox="1">
            <a:spLocks noChangeArrowheads="1"/>
          </p:cNvSpPr>
          <p:nvPr/>
        </p:nvSpPr>
        <p:spPr bwMode="auto">
          <a:xfrm>
            <a:off x="6400800" y="1524000"/>
            <a:ext cx="16256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STACK</a:t>
            </a:r>
          </a:p>
          <a:p>
            <a:pPr algn="ctr">
              <a:spcBef>
                <a:spcPct val="50000"/>
              </a:spcBef>
            </a:pPr>
            <a:r>
              <a:rPr lang="en-US"/>
              <a:t>(5,6)</a:t>
            </a:r>
          </a:p>
        </p:txBody>
      </p:sp>
      <p:sp>
        <p:nvSpPr>
          <p:cNvPr id="165898" name="Text Box 10"/>
          <p:cNvSpPr txBox="1">
            <a:spLocks noChangeArrowheads="1"/>
          </p:cNvSpPr>
          <p:nvPr/>
        </p:nvSpPr>
        <p:spPr bwMode="auto">
          <a:xfrm>
            <a:off x="8229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CURRENT</a:t>
            </a:r>
          </a:p>
          <a:p>
            <a:pPr algn="ctr">
              <a:spcBef>
                <a:spcPct val="50000"/>
              </a:spcBef>
            </a:pPr>
            <a:r>
              <a:rPr lang="en-US"/>
              <a:t>(4,7)</a:t>
            </a:r>
          </a:p>
        </p:txBody>
      </p:sp>
      <p:sp>
        <p:nvSpPr>
          <p:cNvPr id="165899" name="Oval 11"/>
          <p:cNvSpPr>
            <a:spLocks noChangeArrowheads="1"/>
          </p:cNvSpPr>
          <p:nvPr/>
        </p:nvSpPr>
        <p:spPr bwMode="auto">
          <a:xfrm>
            <a:off x="3454400" y="1947863"/>
            <a:ext cx="304800" cy="2286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U</a:t>
            </a:r>
          </a:p>
        </p:txBody>
      </p:sp>
      <p:sp>
        <p:nvSpPr>
          <p:cNvPr id="165900" name="Oval 12"/>
          <p:cNvSpPr>
            <a:spLocks noChangeArrowheads="1"/>
          </p:cNvSpPr>
          <p:nvPr/>
        </p:nvSpPr>
        <p:spPr bwMode="auto">
          <a:xfrm>
            <a:off x="3454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5901" name="Oval 13"/>
          <p:cNvSpPr>
            <a:spLocks noChangeArrowheads="1"/>
          </p:cNvSpPr>
          <p:nvPr/>
        </p:nvSpPr>
        <p:spPr bwMode="auto">
          <a:xfrm>
            <a:off x="2743200" y="26336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5902" name="Oval 14"/>
          <p:cNvSpPr>
            <a:spLocks noChangeArrowheads="1"/>
          </p:cNvSpPr>
          <p:nvPr/>
        </p:nvSpPr>
        <p:spPr bwMode="auto">
          <a:xfrm>
            <a:off x="2946400" y="1947863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65903" name="Oval 15"/>
          <p:cNvSpPr>
            <a:spLocks noChangeArrowheads="1"/>
          </p:cNvSpPr>
          <p:nvPr/>
        </p:nvSpPr>
        <p:spPr bwMode="auto">
          <a:xfrm>
            <a:off x="2946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5904" name="Line 16"/>
          <p:cNvSpPr>
            <a:spLocks noChangeShapeType="1"/>
          </p:cNvSpPr>
          <p:nvPr/>
        </p:nvSpPr>
        <p:spPr bwMode="auto">
          <a:xfrm flipV="1">
            <a:off x="3251200" y="24939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5" name="Line 17"/>
          <p:cNvSpPr>
            <a:spLocks noChangeShapeType="1"/>
          </p:cNvSpPr>
          <p:nvPr/>
        </p:nvSpPr>
        <p:spPr bwMode="auto">
          <a:xfrm flipV="1">
            <a:off x="3251200" y="20494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6" name="Oval 18"/>
          <p:cNvSpPr>
            <a:spLocks noChangeArrowheads="1"/>
          </p:cNvSpPr>
          <p:nvPr/>
        </p:nvSpPr>
        <p:spPr bwMode="auto">
          <a:xfrm>
            <a:off x="3454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5907" name="Oval 19"/>
          <p:cNvSpPr>
            <a:spLocks noChangeArrowheads="1"/>
          </p:cNvSpPr>
          <p:nvPr/>
        </p:nvSpPr>
        <p:spPr bwMode="auto">
          <a:xfrm>
            <a:off x="2946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5908" name="Line 20"/>
          <p:cNvSpPr>
            <a:spLocks noChangeShapeType="1"/>
          </p:cNvSpPr>
          <p:nvPr/>
        </p:nvSpPr>
        <p:spPr bwMode="auto">
          <a:xfrm flipV="1">
            <a:off x="3251200" y="22653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9" name="Text Box 21"/>
          <p:cNvSpPr txBox="1">
            <a:spLocks noChangeArrowheads="1"/>
          </p:cNvSpPr>
          <p:nvPr/>
        </p:nvSpPr>
        <p:spPr bwMode="auto">
          <a:xfrm>
            <a:off x="4165600" y="1524000"/>
            <a:ext cx="2032000" cy="1614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PAIRS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  <a:p>
            <a:pPr algn="ctr">
              <a:spcBef>
                <a:spcPct val="50000"/>
              </a:spcBef>
            </a:pPr>
            <a:r>
              <a:rPr lang="en-US"/>
              <a:t>(4,7)</a:t>
            </a: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95806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Retrieving the Structure</a:t>
            </a:r>
          </a:p>
        </p:txBody>
      </p:sp>
      <p:graphicFrame>
        <p:nvGraphicFramePr>
          <p:cNvPr id="166915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69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6917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6919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21" name="Text Box 9"/>
          <p:cNvSpPr txBox="1">
            <a:spLocks noChangeArrowheads="1"/>
          </p:cNvSpPr>
          <p:nvPr/>
        </p:nvSpPr>
        <p:spPr bwMode="auto">
          <a:xfrm>
            <a:off x="6400800" y="1524000"/>
            <a:ext cx="16256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STACK</a:t>
            </a:r>
          </a:p>
          <a:p>
            <a:pPr algn="ctr">
              <a:spcBef>
                <a:spcPct val="50000"/>
              </a:spcBef>
            </a:pPr>
            <a:r>
              <a:rPr lang="en-US"/>
              <a:t>(6,6)</a:t>
            </a:r>
          </a:p>
        </p:txBody>
      </p:sp>
      <p:sp>
        <p:nvSpPr>
          <p:cNvPr id="166922" name="Text Box 10"/>
          <p:cNvSpPr txBox="1">
            <a:spLocks noChangeArrowheads="1"/>
          </p:cNvSpPr>
          <p:nvPr/>
        </p:nvSpPr>
        <p:spPr bwMode="auto">
          <a:xfrm>
            <a:off x="8229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CURRENT</a:t>
            </a:r>
          </a:p>
          <a:p>
            <a:pPr algn="ctr">
              <a:spcBef>
                <a:spcPct val="50000"/>
              </a:spcBef>
            </a:pPr>
            <a:r>
              <a:rPr lang="en-US"/>
              <a:t>(5,6)</a:t>
            </a:r>
          </a:p>
        </p:txBody>
      </p:sp>
      <p:sp>
        <p:nvSpPr>
          <p:cNvPr id="166923" name="Oval 11"/>
          <p:cNvSpPr>
            <a:spLocks noChangeArrowheads="1"/>
          </p:cNvSpPr>
          <p:nvPr/>
        </p:nvSpPr>
        <p:spPr bwMode="auto">
          <a:xfrm>
            <a:off x="2889251" y="1371600"/>
            <a:ext cx="914400" cy="685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4" name="Oval 12"/>
          <p:cNvSpPr>
            <a:spLocks noChangeArrowheads="1"/>
          </p:cNvSpPr>
          <p:nvPr/>
        </p:nvSpPr>
        <p:spPr bwMode="auto">
          <a:xfrm>
            <a:off x="2781300" y="1490663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66925" name="Oval 13"/>
          <p:cNvSpPr>
            <a:spLocks noChangeArrowheads="1"/>
          </p:cNvSpPr>
          <p:nvPr/>
        </p:nvSpPr>
        <p:spPr bwMode="auto">
          <a:xfrm>
            <a:off x="3454400" y="1947863"/>
            <a:ext cx="304800" cy="2286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U</a:t>
            </a:r>
          </a:p>
        </p:txBody>
      </p:sp>
      <p:sp>
        <p:nvSpPr>
          <p:cNvPr id="166926" name="Oval 14"/>
          <p:cNvSpPr>
            <a:spLocks noChangeArrowheads="1"/>
          </p:cNvSpPr>
          <p:nvPr/>
        </p:nvSpPr>
        <p:spPr bwMode="auto">
          <a:xfrm>
            <a:off x="3454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6927" name="Oval 15"/>
          <p:cNvSpPr>
            <a:spLocks noChangeArrowheads="1"/>
          </p:cNvSpPr>
          <p:nvPr/>
        </p:nvSpPr>
        <p:spPr bwMode="auto">
          <a:xfrm>
            <a:off x="2743200" y="26336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6928" name="Oval 16"/>
          <p:cNvSpPr>
            <a:spLocks noChangeArrowheads="1"/>
          </p:cNvSpPr>
          <p:nvPr/>
        </p:nvSpPr>
        <p:spPr bwMode="auto">
          <a:xfrm>
            <a:off x="2946400" y="1947863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66929" name="Oval 17"/>
          <p:cNvSpPr>
            <a:spLocks noChangeArrowheads="1"/>
          </p:cNvSpPr>
          <p:nvPr/>
        </p:nvSpPr>
        <p:spPr bwMode="auto">
          <a:xfrm>
            <a:off x="2946400" y="24050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6930" name="Line 18"/>
          <p:cNvSpPr>
            <a:spLocks noChangeShapeType="1"/>
          </p:cNvSpPr>
          <p:nvPr/>
        </p:nvSpPr>
        <p:spPr bwMode="auto">
          <a:xfrm flipV="1">
            <a:off x="3251200" y="24939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31" name="Line 19"/>
          <p:cNvSpPr>
            <a:spLocks noChangeShapeType="1"/>
          </p:cNvSpPr>
          <p:nvPr/>
        </p:nvSpPr>
        <p:spPr bwMode="auto">
          <a:xfrm flipV="1">
            <a:off x="3251200" y="20494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32" name="Oval 20"/>
          <p:cNvSpPr>
            <a:spLocks noChangeArrowheads="1"/>
          </p:cNvSpPr>
          <p:nvPr/>
        </p:nvSpPr>
        <p:spPr bwMode="auto">
          <a:xfrm>
            <a:off x="3454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66933" name="Oval 21"/>
          <p:cNvSpPr>
            <a:spLocks noChangeArrowheads="1"/>
          </p:cNvSpPr>
          <p:nvPr/>
        </p:nvSpPr>
        <p:spPr bwMode="auto">
          <a:xfrm>
            <a:off x="2946400" y="2176463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66934" name="Line 22"/>
          <p:cNvSpPr>
            <a:spLocks noChangeShapeType="1"/>
          </p:cNvSpPr>
          <p:nvPr/>
        </p:nvSpPr>
        <p:spPr bwMode="auto">
          <a:xfrm flipV="1">
            <a:off x="3251200" y="2265363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935" name="Text Box 23"/>
          <p:cNvSpPr txBox="1">
            <a:spLocks noChangeArrowheads="1"/>
          </p:cNvSpPr>
          <p:nvPr/>
        </p:nvSpPr>
        <p:spPr bwMode="auto">
          <a:xfrm>
            <a:off x="4165600" y="1524000"/>
            <a:ext cx="2032000" cy="1614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PAIRS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  <a:p>
            <a:pPr algn="ctr">
              <a:spcBef>
                <a:spcPct val="50000"/>
              </a:spcBef>
            </a:pPr>
            <a:r>
              <a:rPr lang="en-US"/>
              <a:t>(4,7)</a:t>
            </a: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549212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Retrieving the Structure</a:t>
            </a:r>
          </a:p>
        </p:txBody>
      </p:sp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167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167941" name="Line 5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167943" name="Line 7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945" name="Text Box 9"/>
          <p:cNvSpPr txBox="1">
            <a:spLocks noChangeArrowheads="1"/>
          </p:cNvSpPr>
          <p:nvPr/>
        </p:nvSpPr>
        <p:spPr bwMode="auto">
          <a:xfrm>
            <a:off x="6400800" y="1524000"/>
            <a:ext cx="16256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STACK</a:t>
            </a:r>
          </a:p>
          <a:p>
            <a:pPr algn="ctr">
              <a:spcBef>
                <a:spcPct val="50000"/>
              </a:spcBef>
            </a:pPr>
            <a:r>
              <a:rPr lang="en-US"/>
              <a:t>-</a:t>
            </a:r>
          </a:p>
        </p:txBody>
      </p:sp>
      <p:sp>
        <p:nvSpPr>
          <p:cNvPr id="167946" name="Text Box 10"/>
          <p:cNvSpPr txBox="1">
            <a:spLocks noChangeArrowheads="1"/>
          </p:cNvSpPr>
          <p:nvPr/>
        </p:nvSpPr>
        <p:spPr bwMode="auto">
          <a:xfrm>
            <a:off x="8229600" y="1524000"/>
            <a:ext cx="2032000" cy="788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CURRENT</a:t>
            </a:r>
          </a:p>
          <a:p>
            <a:pPr algn="ctr">
              <a:spcBef>
                <a:spcPct val="50000"/>
              </a:spcBef>
            </a:pPr>
            <a:r>
              <a:rPr lang="en-US"/>
              <a:t>(6,6)</a:t>
            </a:r>
          </a:p>
        </p:txBody>
      </p:sp>
      <p:grpSp>
        <p:nvGrpSpPr>
          <p:cNvPr id="167947" name="Group 11"/>
          <p:cNvGrpSpPr>
            <a:grpSpLocks/>
          </p:cNvGrpSpPr>
          <p:nvPr/>
        </p:nvGrpSpPr>
        <p:grpSpPr bwMode="auto">
          <a:xfrm>
            <a:off x="2743201" y="1371601"/>
            <a:ext cx="1181100" cy="1490663"/>
            <a:chOff x="1296" y="864"/>
            <a:chExt cx="558" cy="939"/>
          </a:xfrm>
        </p:grpSpPr>
        <p:sp>
          <p:nvSpPr>
            <p:cNvPr id="167948" name="Oval 12"/>
            <p:cNvSpPr>
              <a:spLocks noChangeArrowheads="1"/>
            </p:cNvSpPr>
            <p:nvPr/>
          </p:nvSpPr>
          <p:spPr bwMode="auto">
            <a:xfrm>
              <a:off x="1365" y="864"/>
              <a:ext cx="432" cy="43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949" name="Oval 13"/>
            <p:cNvSpPr>
              <a:spLocks noChangeArrowheads="1"/>
            </p:cNvSpPr>
            <p:nvPr/>
          </p:nvSpPr>
          <p:spPr bwMode="auto">
            <a:xfrm>
              <a:off x="1314" y="93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7950" name="Oval 14"/>
            <p:cNvSpPr>
              <a:spLocks noChangeArrowheads="1"/>
            </p:cNvSpPr>
            <p:nvPr/>
          </p:nvSpPr>
          <p:spPr bwMode="auto">
            <a:xfrm>
              <a:off x="1632" y="1227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7951" name="Oval 15"/>
            <p:cNvSpPr>
              <a:spLocks noChangeArrowheads="1"/>
            </p:cNvSpPr>
            <p:nvPr/>
          </p:nvSpPr>
          <p:spPr bwMode="auto">
            <a:xfrm>
              <a:off x="1632" y="151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7952" name="Oval 16"/>
            <p:cNvSpPr>
              <a:spLocks noChangeArrowheads="1"/>
            </p:cNvSpPr>
            <p:nvPr/>
          </p:nvSpPr>
          <p:spPr bwMode="auto">
            <a:xfrm>
              <a:off x="1296" y="165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7953" name="Oval 17"/>
            <p:cNvSpPr>
              <a:spLocks noChangeArrowheads="1"/>
            </p:cNvSpPr>
            <p:nvPr/>
          </p:nvSpPr>
          <p:spPr bwMode="auto">
            <a:xfrm>
              <a:off x="1392" y="1227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7954" name="Oval 18"/>
            <p:cNvSpPr>
              <a:spLocks noChangeArrowheads="1"/>
            </p:cNvSpPr>
            <p:nvPr/>
          </p:nvSpPr>
          <p:spPr bwMode="auto">
            <a:xfrm>
              <a:off x="1392" y="151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7955" name="Line 19"/>
            <p:cNvSpPr>
              <a:spLocks noChangeShapeType="1"/>
            </p:cNvSpPr>
            <p:nvPr/>
          </p:nvSpPr>
          <p:spPr bwMode="auto">
            <a:xfrm flipV="1">
              <a:off x="1536" y="1571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56" name="Line 20"/>
            <p:cNvSpPr>
              <a:spLocks noChangeShapeType="1"/>
            </p:cNvSpPr>
            <p:nvPr/>
          </p:nvSpPr>
          <p:spPr bwMode="auto">
            <a:xfrm flipV="1">
              <a:off x="1536" y="1291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57" name="Oval 21"/>
            <p:cNvSpPr>
              <a:spLocks noChangeArrowheads="1"/>
            </p:cNvSpPr>
            <p:nvPr/>
          </p:nvSpPr>
          <p:spPr bwMode="auto">
            <a:xfrm>
              <a:off x="1632" y="1371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7958" name="Oval 22"/>
            <p:cNvSpPr>
              <a:spLocks noChangeArrowheads="1"/>
            </p:cNvSpPr>
            <p:nvPr/>
          </p:nvSpPr>
          <p:spPr bwMode="auto">
            <a:xfrm>
              <a:off x="1392" y="1371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7959" name="Line 23"/>
            <p:cNvSpPr>
              <a:spLocks noChangeShapeType="1"/>
            </p:cNvSpPr>
            <p:nvPr/>
          </p:nvSpPr>
          <p:spPr bwMode="auto">
            <a:xfrm flipV="1">
              <a:off x="1536" y="1427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60" name="Oval 24"/>
            <p:cNvSpPr>
              <a:spLocks noChangeArrowheads="1"/>
            </p:cNvSpPr>
            <p:nvPr/>
          </p:nvSpPr>
          <p:spPr bwMode="auto">
            <a:xfrm>
              <a:off x="1710" y="93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</p:grpSp>
      <p:sp>
        <p:nvSpPr>
          <p:cNvPr id="167961" name="Text Box 25"/>
          <p:cNvSpPr txBox="1">
            <a:spLocks noChangeArrowheads="1"/>
          </p:cNvSpPr>
          <p:nvPr/>
        </p:nvSpPr>
        <p:spPr bwMode="auto">
          <a:xfrm>
            <a:off x="4165600" y="1524000"/>
            <a:ext cx="2032000" cy="1614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PAIRS</a:t>
            </a:r>
          </a:p>
          <a:p>
            <a:pPr algn="ctr">
              <a:spcBef>
                <a:spcPct val="50000"/>
              </a:spcBef>
            </a:pPr>
            <a:r>
              <a:rPr lang="en-US"/>
              <a:t>(2,9)</a:t>
            </a:r>
          </a:p>
          <a:p>
            <a:pPr algn="ctr">
              <a:spcBef>
                <a:spcPct val="50000"/>
              </a:spcBef>
            </a:pPr>
            <a:r>
              <a:rPr lang="en-US"/>
              <a:t>(3,8)</a:t>
            </a:r>
          </a:p>
          <a:p>
            <a:pPr algn="ctr">
              <a:spcBef>
                <a:spcPct val="50000"/>
              </a:spcBef>
            </a:pPr>
            <a:r>
              <a:rPr lang="en-US"/>
              <a:t>(4,7)</a:t>
            </a: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61713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9" name="Oval 31"/>
          <p:cNvSpPr>
            <a:spLocks noChangeArrowheads="1"/>
          </p:cNvSpPr>
          <p:nvPr/>
        </p:nvSpPr>
        <p:spPr bwMode="auto">
          <a:xfrm>
            <a:off x="5670551" y="1557338"/>
            <a:ext cx="914400" cy="685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the Structure</a:t>
            </a: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1930400" y="3581401"/>
          <a:ext cx="8147051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10014" imgH="1790881" progId="Excel.Sheet.8">
                  <p:embed/>
                </p:oleObj>
              </mc:Choice>
              <mc:Fallback>
                <p:oleObj name="Worksheet" r:id="rId2" imgW="4010014" imgH="1790881" progId="Excel.Sheet.8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81401"/>
                        <a:ext cx="8147051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3604685" y="3048000"/>
            <a:ext cx="4000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j</a:t>
            </a:r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>
            <a:off x="4165600" y="3352800"/>
            <a:ext cx="223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994834" y="4689475"/>
            <a:ext cx="371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0" i="1">
                <a:latin typeface="Times New Roman" charset="0"/>
              </a:rPr>
              <a:t>i</a:t>
            </a: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1219200" y="52578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Oval 10"/>
          <p:cNvSpPr>
            <a:spLocks noChangeArrowheads="1"/>
          </p:cNvSpPr>
          <p:nvPr/>
        </p:nvSpPr>
        <p:spPr bwMode="auto">
          <a:xfrm>
            <a:off x="5562600" y="1676400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53260" name="Oval 12"/>
          <p:cNvSpPr>
            <a:spLocks noChangeArrowheads="1"/>
          </p:cNvSpPr>
          <p:nvPr/>
        </p:nvSpPr>
        <p:spPr bwMode="auto">
          <a:xfrm>
            <a:off x="6235700" y="2133600"/>
            <a:ext cx="304800" cy="2286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U</a:t>
            </a:r>
          </a:p>
        </p:txBody>
      </p:sp>
      <p:sp>
        <p:nvSpPr>
          <p:cNvPr id="53263" name="Oval 15"/>
          <p:cNvSpPr>
            <a:spLocks noChangeArrowheads="1"/>
          </p:cNvSpPr>
          <p:nvPr/>
        </p:nvSpPr>
        <p:spPr bwMode="auto">
          <a:xfrm>
            <a:off x="6235700" y="2590800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53265" name="Oval 17"/>
          <p:cNvSpPr>
            <a:spLocks noChangeArrowheads="1"/>
          </p:cNvSpPr>
          <p:nvPr/>
        </p:nvSpPr>
        <p:spPr bwMode="auto">
          <a:xfrm>
            <a:off x="5524500" y="2819400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53268" name="Oval 20"/>
          <p:cNvSpPr>
            <a:spLocks noChangeArrowheads="1"/>
          </p:cNvSpPr>
          <p:nvPr/>
        </p:nvSpPr>
        <p:spPr bwMode="auto">
          <a:xfrm>
            <a:off x="5727700" y="2133600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53269" name="Oval 21"/>
          <p:cNvSpPr>
            <a:spLocks noChangeArrowheads="1"/>
          </p:cNvSpPr>
          <p:nvPr/>
        </p:nvSpPr>
        <p:spPr bwMode="auto">
          <a:xfrm>
            <a:off x="5727700" y="2590800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53271" name="Line 23"/>
          <p:cNvSpPr>
            <a:spLocks noChangeShapeType="1"/>
          </p:cNvSpPr>
          <p:nvPr/>
        </p:nvSpPr>
        <p:spPr bwMode="auto">
          <a:xfrm flipV="1">
            <a:off x="6032500" y="2679700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25"/>
          <p:cNvSpPr>
            <a:spLocks noChangeShapeType="1"/>
          </p:cNvSpPr>
          <p:nvPr/>
        </p:nvSpPr>
        <p:spPr bwMode="auto">
          <a:xfrm flipV="1">
            <a:off x="6032500" y="2235200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Oval 27"/>
          <p:cNvSpPr>
            <a:spLocks noChangeArrowheads="1"/>
          </p:cNvSpPr>
          <p:nvPr/>
        </p:nvSpPr>
        <p:spPr bwMode="auto">
          <a:xfrm>
            <a:off x="6235700" y="2362200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53276" name="Oval 28"/>
          <p:cNvSpPr>
            <a:spLocks noChangeArrowheads="1"/>
          </p:cNvSpPr>
          <p:nvPr/>
        </p:nvSpPr>
        <p:spPr bwMode="auto">
          <a:xfrm>
            <a:off x="5727700" y="2362200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53277" name="Line 29"/>
          <p:cNvSpPr>
            <a:spLocks noChangeShapeType="1"/>
          </p:cNvSpPr>
          <p:nvPr/>
        </p:nvSpPr>
        <p:spPr bwMode="auto">
          <a:xfrm flipV="1">
            <a:off x="6032500" y="2451100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8" name="Oval 30"/>
          <p:cNvSpPr>
            <a:spLocks noChangeArrowheads="1"/>
          </p:cNvSpPr>
          <p:nvPr/>
        </p:nvSpPr>
        <p:spPr bwMode="auto">
          <a:xfrm>
            <a:off x="6400800" y="1676400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541856" y="6562729"/>
            <a:ext cx="474398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 dirty="0">
                <a:solidFill>
                  <a:srgbClr val="FF0000"/>
                </a:solidFill>
              </a:rPr>
              <a:t>Image Source: Durbin et al. (2002) 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“</a:t>
            </a:r>
            <a:r>
              <a:rPr lang="en-US" sz="1200" b="0" dirty="0">
                <a:solidFill>
                  <a:srgbClr val="FF0000"/>
                </a:solidFill>
              </a:rPr>
              <a:t>Biological Sequence Analysis</a:t>
            </a:r>
            <a:r>
              <a:rPr lang="ja-JP" altLang="en-US" sz="1200" b="0" dirty="0">
                <a:solidFill>
                  <a:srgbClr val="FF0000"/>
                </a:solidFill>
                <a:latin typeface="Arial"/>
              </a:rPr>
              <a:t>”</a:t>
            </a:r>
            <a:endParaRPr 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596043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44592" y="-10899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Structure Representation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77986"/>
            <a:ext cx="10972800" cy="188806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We can use bracket notation to represent RNA structures</a:t>
            </a:r>
          </a:p>
        </p:txBody>
      </p:sp>
      <p:sp>
        <p:nvSpPr>
          <p:cNvPr id="16389" name="Arc 5"/>
          <p:cNvSpPr>
            <a:spLocks/>
          </p:cNvSpPr>
          <p:nvPr/>
        </p:nvSpPr>
        <p:spPr bwMode="auto">
          <a:xfrm rot="16200000">
            <a:off x="3059906" y="3112294"/>
            <a:ext cx="1703388" cy="3556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196"/>
              <a:gd name="T2" fmla="*/ 391 w 21600"/>
              <a:gd name="T3" fmla="*/ 43196 h 43196"/>
              <a:gd name="T4" fmla="*/ 0 w 21600"/>
              <a:gd name="T5" fmla="*/ 21600 h 43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96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</a:path>
              <a:path w="21600" h="43196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b="0">
              <a:solidFill>
                <a:srgbClr val="FF0000"/>
              </a:solidFill>
            </a:endParaRPr>
          </a:p>
        </p:txBody>
      </p:sp>
      <p:sp>
        <p:nvSpPr>
          <p:cNvPr id="16390" name="Arc 6"/>
          <p:cNvSpPr>
            <a:spLocks/>
          </p:cNvSpPr>
          <p:nvPr/>
        </p:nvSpPr>
        <p:spPr bwMode="auto">
          <a:xfrm rot="16200000">
            <a:off x="3178439" y="3518694"/>
            <a:ext cx="1398588" cy="30480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196"/>
              <a:gd name="T2" fmla="*/ 391 w 21600"/>
              <a:gd name="T3" fmla="*/ 43196 h 43196"/>
              <a:gd name="T4" fmla="*/ 0 w 21600"/>
              <a:gd name="T5" fmla="*/ 21600 h 43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96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</a:path>
              <a:path w="21600" h="43196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b="0">
              <a:solidFill>
                <a:srgbClr val="FF0000"/>
              </a:solidFill>
            </a:endParaRPr>
          </a:p>
        </p:txBody>
      </p:sp>
      <p:sp>
        <p:nvSpPr>
          <p:cNvPr id="16391" name="Arc 7"/>
          <p:cNvSpPr>
            <a:spLocks/>
          </p:cNvSpPr>
          <p:nvPr/>
        </p:nvSpPr>
        <p:spPr bwMode="auto">
          <a:xfrm rot="16200000">
            <a:off x="3309673" y="3971661"/>
            <a:ext cx="1169988" cy="237066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196"/>
              <a:gd name="T2" fmla="*/ 391 w 21600"/>
              <a:gd name="T3" fmla="*/ 43196 h 43196"/>
              <a:gd name="T4" fmla="*/ 0 w 21600"/>
              <a:gd name="T5" fmla="*/ 21600 h 43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96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</a:path>
              <a:path w="21600" h="43196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b="0">
              <a:solidFill>
                <a:srgbClr val="FF0000"/>
              </a:solidFill>
            </a:endParaRPr>
          </a:p>
        </p:txBody>
      </p:sp>
      <p:sp>
        <p:nvSpPr>
          <p:cNvPr id="16392" name="Arc 8"/>
          <p:cNvSpPr>
            <a:spLocks/>
          </p:cNvSpPr>
          <p:nvPr/>
        </p:nvSpPr>
        <p:spPr bwMode="auto">
          <a:xfrm rot="16200000">
            <a:off x="3423973" y="4390761"/>
            <a:ext cx="941388" cy="176106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196"/>
              <a:gd name="T2" fmla="*/ 391 w 21600"/>
              <a:gd name="T3" fmla="*/ 43196 h 43196"/>
              <a:gd name="T4" fmla="*/ 0 w 21600"/>
              <a:gd name="T5" fmla="*/ 21600 h 43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196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</a:path>
              <a:path w="21600" h="43196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376"/>
                  <a:pt x="12166" y="42983"/>
                  <a:pt x="391" y="4319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b="0">
              <a:solidFill>
                <a:srgbClr val="FF0000"/>
              </a:solidFill>
            </a:endParaRPr>
          </a:p>
        </p:txBody>
      </p:sp>
      <p:grpSp>
        <p:nvGrpSpPr>
          <p:cNvPr id="16403" name="Group 19"/>
          <p:cNvGrpSpPr>
            <a:grpSpLocks/>
          </p:cNvGrpSpPr>
          <p:nvPr/>
        </p:nvGrpSpPr>
        <p:grpSpPr bwMode="auto">
          <a:xfrm>
            <a:off x="1930400" y="5715000"/>
            <a:ext cx="3962400" cy="228600"/>
            <a:chOff x="1968" y="3936"/>
            <a:chExt cx="1872" cy="144"/>
          </a:xfrm>
        </p:grpSpPr>
        <p:sp>
          <p:nvSpPr>
            <p:cNvPr id="16404" name="Oval 20"/>
            <p:cNvSpPr>
              <a:spLocks noChangeArrowheads="1"/>
            </p:cNvSpPr>
            <p:nvPr/>
          </p:nvSpPr>
          <p:spPr bwMode="auto">
            <a:xfrm>
              <a:off x="2976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405" name="Oval 21"/>
            <p:cNvSpPr>
              <a:spLocks noChangeArrowheads="1"/>
            </p:cNvSpPr>
            <p:nvPr/>
          </p:nvSpPr>
          <p:spPr bwMode="auto">
            <a:xfrm>
              <a:off x="2400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406" name="Oval 22"/>
            <p:cNvSpPr>
              <a:spLocks noChangeArrowheads="1"/>
            </p:cNvSpPr>
            <p:nvPr/>
          </p:nvSpPr>
          <p:spPr bwMode="auto">
            <a:xfrm>
              <a:off x="2256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07" name="Oval 23"/>
            <p:cNvSpPr>
              <a:spLocks noChangeArrowheads="1"/>
            </p:cNvSpPr>
            <p:nvPr/>
          </p:nvSpPr>
          <p:spPr bwMode="auto">
            <a:xfrm>
              <a:off x="2112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 dirty="0"/>
                <a:t>A</a:t>
              </a:r>
            </a:p>
          </p:txBody>
        </p:sp>
        <p:sp>
          <p:nvSpPr>
            <p:cNvPr id="16408" name="Oval 24"/>
            <p:cNvSpPr>
              <a:spLocks noChangeArrowheads="1"/>
            </p:cNvSpPr>
            <p:nvPr/>
          </p:nvSpPr>
          <p:spPr bwMode="auto">
            <a:xfrm>
              <a:off x="1968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09" name="Oval 25"/>
            <p:cNvSpPr>
              <a:spLocks noChangeArrowheads="1"/>
            </p:cNvSpPr>
            <p:nvPr/>
          </p:nvSpPr>
          <p:spPr bwMode="auto">
            <a:xfrm>
              <a:off x="2544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10" name="Oval 26"/>
            <p:cNvSpPr>
              <a:spLocks noChangeArrowheads="1"/>
            </p:cNvSpPr>
            <p:nvPr/>
          </p:nvSpPr>
          <p:spPr bwMode="auto">
            <a:xfrm>
              <a:off x="2832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11" name="Oval 27"/>
            <p:cNvSpPr>
              <a:spLocks noChangeArrowheads="1"/>
            </p:cNvSpPr>
            <p:nvPr/>
          </p:nvSpPr>
          <p:spPr bwMode="auto">
            <a:xfrm>
              <a:off x="2688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412" name="Oval 28"/>
            <p:cNvSpPr>
              <a:spLocks noChangeArrowheads="1"/>
            </p:cNvSpPr>
            <p:nvPr/>
          </p:nvSpPr>
          <p:spPr bwMode="auto">
            <a:xfrm>
              <a:off x="3408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413" name="Oval 29"/>
            <p:cNvSpPr>
              <a:spLocks noChangeArrowheads="1"/>
            </p:cNvSpPr>
            <p:nvPr/>
          </p:nvSpPr>
          <p:spPr bwMode="auto">
            <a:xfrm>
              <a:off x="3552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14" name="Oval 30"/>
            <p:cNvSpPr>
              <a:spLocks noChangeArrowheads="1"/>
            </p:cNvSpPr>
            <p:nvPr/>
          </p:nvSpPr>
          <p:spPr bwMode="auto">
            <a:xfrm>
              <a:off x="3120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15" name="Oval 31"/>
            <p:cNvSpPr>
              <a:spLocks noChangeArrowheads="1"/>
            </p:cNvSpPr>
            <p:nvPr/>
          </p:nvSpPr>
          <p:spPr bwMode="auto">
            <a:xfrm>
              <a:off x="3264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16" name="Oval 32"/>
            <p:cNvSpPr>
              <a:spLocks noChangeArrowheads="1"/>
            </p:cNvSpPr>
            <p:nvPr/>
          </p:nvSpPr>
          <p:spPr bwMode="auto">
            <a:xfrm>
              <a:off x="3696" y="39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</p:grpSp>
      <p:grpSp>
        <p:nvGrpSpPr>
          <p:cNvPr id="16417" name="Group 33"/>
          <p:cNvGrpSpPr>
            <a:grpSpLocks/>
          </p:cNvGrpSpPr>
          <p:nvPr/>
        </p:nvGrpSpPr>
        <p:grpSpPr bwMode="auto">
          <a:xfrm>
            <a:off x="1930400" y="6019800"/>
            <a:ext cx="3962400" cy="228600"/>
            <a:chOff x="1968" y="3936"/>
            <a:chExt cx="1872" cy="144"/>
          </a:xfrm>
        </p:grpSpPr>
        <p:sp>
          <p:nvSpPr>
            <p:cNvPr id="16418" name="Oval 34"/>
            <p:cNvSpPr>
              <a:spLocks noChangeArrowheads="1"/>
            </p:cNvSpPr>
            <p:nvPr/>
          </p:nvSpPr>
          <p:spPr bwMode="auto">
            <a:xfrm>
              <a:off x="2976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99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8</a:t>
              </a:r>
            </a:p>
          </p:txBody>
        </p:sp>
        <p:sp>
          <p:nvSpPr>
            <p:cNvPr id="16419" name="Oval 35"/>
            <p:cNvSpPr>
              <a:spLocks noChangeArrowheads="1"/>
            </p:cNvSpPr>
            <p:nvPr/>
          </p:nvSpPr>
          <p:spPr bwMode="auto">
            <a:xfrm>
              <a:off x="2400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4</a:t>
              </a:r>
            </a:p>
          </p:txBody>
        </p:sp>
        <p:sp>
          <p:nvSpPr>
            <p:cNvPr id="16420" name="Oval 36"/>
            <p:cNvSpPr>
              <a:spLocks noChangeArrowheads="1"/>
            </p:cNvSpPr>
            <p:nvPr/>
          </p:nvSpPr>
          <p:spPr bwMode="auto">
            <a:xfrm>
              <a:off x="2256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3</a:t>
              </a:r>
            </a:p>
          </p:txBody>
        </p:sp>
        <p:sp>
          <p:nvSpPr>
            <p:cNvPr id="16421" name="Oval 37"/>
            <p:cNvSpPr>
              <a:spLocks noChangeArrowheads="1"/>
            </p:cNvSpPr>
            <p:nvPr/>
          </p:nvSpPr>
          <p:spPr bwMode="auto">
            <a:xfrm>
              <a:off x="2112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99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2</a:t>
              </a:r>
            </a:p>
          </p:txBody>
        </p:sp>
        <p:sp>
          <p:nvSpPr>
            <p:cNvPr id="16422" name="Oval 38"/>
            <p:cNvSpPr>
              <a:spLocks noChangeArrowheads="1"/>
            </p:cNvSpPr>
            <p:nvPr/>
          </p:nvSpPr>
          <p:spPr bwMode="auto">
            <a:xfrm>
              <a:off x="1968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1</a:t>
              </a:r>
            </a:p>
          </p:txBody>
        </p:sp>
        <p:sp>
          <p:nvSpPr>
            <p:cNvPr id="16423" name="Oval 39"/>
            <p:cNvSpPr>
              <a:spLocks noChangeArrowheads="1"/>
            </p:cNvSpPr>
            <p:nvPr/>
          </p:nvSpPr>
          <p:spPr bwMode="auto">
            <a:xfrm>
              <a:off x="2544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5</a:t>
              </a:r>
            </a:p>
          </p:txBody>
        </p:sp>
        <p:sp>
          <p:nvSpPr>
            <p:cNvPr id="16424" name="Oval 40"/>
            <p:cNvSpPr>
              <a:spLocks noChangeArrowheads="1"/>
            </p:cNvSpPr>
            <p:nvPr/>
          </p:nvSpPr>
          <p:spPr bwMode="auto">
            <a:xfrm>
              <a:off x="2832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7</a:t>
              </a:r>
            </a:p>
          </p:txBody>
        </p:sp>
        <p:sp>
          <p:nvSpPr>
            <p:cNvPr id="16425" name="Oval 41"/>
            <p:cNvSpPr>
              <a:spLocks noChangeArrowheads="1"/>
            </p:cNvSpPr>
            <p:nvPr/>
          </p:nvSpPr>
          <p:spPr bwMode="auto">
            <a:xfrm>
              <a:off x="2688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6</a:t>
              </a:r>
            </a:p>
          </p:txBody>
        </p:sp>
        <p:sp>
          <p:nvSpPr>
            <p:cNvPr id="16426" name="Oval 42"/>
            <p:cNvSpPr>
              <a:spLocks noChangeArrowheads="1"/>
            </p:cNvSpPr>
            <p:nvPr/>
          </p:nvSpPr>
          <p:spPr bwMode="auto">
            <a:xfrm>
              <a:off x="3408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CC99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11</a:t>
              </a:r>
            </a:p>
          </p:txBody>
        </p:sp>
        <p:sp>
          <p:nvSpPr>
            <p:cNvPr id="16427" name="Oval 43"/>
            <p:cNvSpPr>
              <a:spLocks noChangeArrowheads="1"/>
            </p:cNvSpPr>
            <p:nvPr/>
          </p:nvSpPr>
          <p:spPr bwMode="auto">
            <a:xfrm>
              <a:off x="3552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12</a:t>
              </a:r>
            </a:p>
          </p:txBody>
        </p:sp>
        <p:sp>
          <p:nvSpPr>
            <p:cNvPr id="16428" name="Oval 44"/>
            <p:cNvSpPr>
              <a:spLocks noChangeArrowheads="1"/>
            </p:cNvSpPr>
            <p:nvPr/>
          </p:nvSpPr>
          <p:spPr bwMode="auto">
            <a:xfrm>
              <a:off x="3120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9</a:t>
              </a:r>
            </a:p>
          </p:txBody>
        </p:sp>
        <p:sp>
          <p:nvSpPr>
            <p:cNvPr id="16429" name="Oval 45"/>
            <p:cNvSpPr>
              <a:spLocks noChangeArrowheads="1"/>
            </p:cNvSpPr>
            <p:nvPr/>
          </p:nvSpPr>
          <p:spPr bwMode="auto">
            <a:xfrm>
              <a:off x="3264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10</a:t>
              </a:r>
            </a:p>
          </p:txBody>
        </p:sp>
        <p:sp>
          <p:nvSpPr>
            <p:cNvPr id="16430" name="Oval 46"/>
            <p:cNvSpPr>
              <a:spLocks noChangeArrowheads="1"/>
            </p:cNvSpPr>
            <p:nvPr/>
          </p:nvSpPr>
          <p:spPr bwMode="auto">
            <a:xfrm>
              <a:off x="3696" y="3936"/>
              <a:ext cx="144" cy="144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13</a:t>
              </a:r>
            </a:p>
          </p:txBody>
        </p:sp>
      </p:grpSp>
      <p:grpSp>
        <p:nvGrpSpPr>
          <p:cNvPr id="16458" name="Group 74"/>
          <p:cNvGrpSpPr>
            <a:grpSpLocks/>
          </p:cNvGrpSpPr>
          <p:nvPr/>
        </p:nvGrpSpPr>
        <p:grpSpPr bwMode="auto">
          <a:xfrm>
            <a:off x="7924800" y="4419600"/>
            <a:ext cx="1219200" cy="1524000"/>
            <a:chOff x="3888" y="2784"/>
            <a:chExt cx="576" cy="960"/>
          </a:xfrm>
        </p:grpSpPr>
        <p:sp>
          <p:nvSpPr>
            <p:cNvPr id="16432" name="Oval 48"/>
            <p:cNvSpPr>
              <a:spLocks noChangeArrowheads="1"/>
            </p:cNvSpPr>
            <p:nvPr/>
          </p:nvSpPr>
          <p:spPr bwMode="auto">
            <a:xfrm>
              <a:off x="4256" y="2880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433" name="Oval 49"/>
            <p:cNvSpPr>
              <a:spLocks noChangeArrowheads="1"/>
            </p:cNvSpPr>
            <p:nvPr/>
          </p:nvSpPr>
          <p:spPr bwMode="auto">
            <a:xfrm>
              <a:off x="3968" y="2880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434" name="Oval 50"/>
            <p:cNvSpPr>
              <a:spLocks noChangeArrowheads="1"/>
            </p:cNvSpPr>
            <p:nvPr/>
          </p:nvSpPr>
          <p:spPr bwMode="auto">
            <a:xfrm>
              <a:off x="3984" y="3312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35" name="Oval 51"/>
            <p:cNvSpPr>
              <a:spLocks noChangeArrowheads="1"/>
            </p:cNvSpPr>
            <p:nvPr/>
          </p:nvSpPr>
          <p:spPr bwMode="auto">
            <a:xfrm>
              <a:off x="4224" y="316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36" name="Oval 52"/>
            <p:cNvSpPr>
              <a:spLocks noChangeArrowheads="1"/>
            </p:cNvSpPr>
            <p:nvPr/>
          </p:nvSpPr>
          <p:spPr bwMode="auto">
            <a:xfrm>
              <a:off x="3984" y="345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437" name="Oval 53"/>
            <p:cNvSpPr>
              <a:spLocks noChangeArrowheads="1"/>
            </p:cNvSpPr>
            <p:nvPr/>
          </p:nvSpPr>
          <p:spPr bwMode="auto">
            <a:xfrm>
              <a:off x="4224" y="3600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438" name="Oval 54"/>
            <p:cNvSpPr>
              <a:spLocks noChangeArrowheads="1"/>
            </p:cNvSpPr>
            <p:nvPr/>
          </p:nvSpPr>
          <p:spPr bwMode="auto">
            <a:xfrm>
              <a:off x="3888" y="3024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39" name="Oval 55"/>
            <p:cNvSpPr>
              <a:spLocks noChangeArrowheads="1"/>
            </p:cNvSpPr>
            <p:nvPr/>
          </p:nvSpPr>
          <p:spPr bwMode="auto">
            <a:xfrm>
              <a:off x="4320" y="3024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40" name="Oval 56"/>
            <p:cNvSpPr>
              <a:spLocks noChangeArrowheads="1"/>
            </p:cNvSpPr>
            <p:nvPr/>
          </p:nvSpPr>
          <p:spPr bwMode="auto">
            <a:xfrm>
              <a:off x="4104" y="2784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41" name="Oval 57"/>
            <p:cNvSpPr>
              <a:spLocks noChangeArrowheads="1"/>
            </p:cNvSpPr>
            <p:nvPr/>
          </p:nvSpPr>
          <p:spPr bwMode="auto">
            <a:xfrm>
              <a:off x="3984" y="316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00FF00"/>
                </a:gs>
                <a:gs pos="100000">
                  <a:srgbClr val="00FF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C</a:t>
              </a:r>
            </a:p>
          </p:txBody>
        </p:sp>
        <p:sp>
          <p:nvSpPr>
            <p:cNvPr id="16442" name="Oval 58"/>
            <p:cNvSpPr>
              <a:spLocks noChangeArrowheads="1"/>
            </p:cNvSpPr>
            <p:nvPr/>
          </p:nvSpPr>
          <p:spPr bwMode="auto">
            <a:xfrm>
              <a:off x="4224" y="3312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CC99FF"/>
                </a:gs>
                <a:gs pos="100000">
                  <a:srgbClr val="CC99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A</a:t>
              </a:r>
            </a:p>
          </p:txBody>
        </p:sp>
        <p:sp>
          <p:nvSpPr>
            <p:cNvPr id="16443" name="Oval 59"/>
            <p:cNvSpPr>
              <a:spLocks noChangeArrowheads="1"/>
            </p:cNvSpPr>
            <p:nvPr/>
          </p:nvSpPr>
          <p:spPr bwMode="auto">
            <a:xfrm>
              <a:off x="3984" y="3600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0000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G</a:t>
              </a:r>
            </a:p>
          </p:txBody>
        </p:sp>
        <p:sp>
          <p:nvSpPr>
            <p:cNvPr id="16444" name="Oval 60"/>
            <p:cNvSpPr>
              <a:spLocks noChangeArrowheads="1"/>
            </p:cNvSpPr>
            <p:nvPr/>
          </p:nvSpPr>
          <p:spPr bwMode="auto">
            <a:xfrm>
              <a:off x="4224" y="345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99CCFF">
                    <a:gamma/>
                    <a:shade val="66275"/>
                    <a:invGamma/>
                  </a:srgbClr>
                </a:gs>
              </a:gsLst>
              <a:path path="rect">
                <a:fillToRect r="100000" b="10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400"/>
                <a:t>U</a:t>
              </a:r>
            </a:p>
          </p:txBody>
        </p:sp>
        <p:sp>
          <p:nvSpPr>
            <p:cNvPr id="16445" name="Line 61"/>
            <p:cNvSpPr>
              <a:spLocks noChangeShapeType="1"/>
            </p:cNvSpPr>
            <p:nvPr/>
          </p:nvSpPr>
          <p:spPr bwMode="auto">
            <a:xfrm flipV="1">
              <a:off x="4128" y="36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Line 62"/>
            <p:cNvSpPr>
              <a:spLocks noChangeShapeType="1"/>
            </p:cNvSpPr>
            <p:nvPr/>
          </p:nvSpPr>
          <p:spPr bwMode="auto">
            <a:xfrm flipV="1">
              <a:off x="4128" y="352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Line 63"/>
            <p:cNvSpPr>
              <a:spLocks noChangeShapeType="1"/>
            </p:cNvSpPr>
            <p:nvPr/>
          </p:nvSpPr>
          <p:spPr bwMode="auto">
            <a:xfrm flipV="1">
              <a:off x="4128" y="337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Line 64"/>
            <p:cNvSpPr>
              <a:spLocks noChangeShapeType="1"/>
            </p:cNvSpPr>
            <p:nvPr/>
          </p:nvSpPr>
          <p:spPr bwMode="auto">
            <a:xfrm flipV="1">
              <a:off x="4128" y="3232"/>
              <a:ext cx="9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57" name="Text Box 73"/>
          <p:cNvSpPr txBox="1">
            <a:spLocks noChangeArrowheads="1"/>
          </p:cNvSpPr>
          <p:nvPr/>
        </p:nvSpPr>
        <p:spPr bwMode="auto">
          <a:xfrm>
            <a:off x="3776133" y="2622007"/>
            <a:ext cx="4775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S={(1,13), (2,12), (3,11), (4,10)}</a:t>
            </a:r>
          </a:p>
        </p:txBody>
      </p:sp>
    </p:spTree>
    <p:extLst>
      <p:ext uri="{BB962C8B-B14F-4D97-AF65-F5344CB8AC3E}">
        <p14:creationId xmlns:p14="http://schemas.microsoft.com/office/powerpoint/2010/main" val="18630367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Points to consider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RNA structure prediction remains a difficult problem to solve</a:t>
            </a:r>
          </a:p>
          <a:p>
            <a:endParaRPr lang="en-US" dirty="0"/>
          </a:p>
          <a:p>
            <a:r>
              <a:rPr lang="en-US" dirty="0"/>
              <a:t>We discussed 4 different approaches (there are many others) to solve RNA secondary structure elements,</a:t>
            </a:r>
          </a:p>
          <a:p>
            <a:endParaRPr lang="en-US" dirty="0"/>
          </a:p>
          <a:p>
            <a:r>
              <a:rPr lang="en-US" dirty="0"/>
              <a:t>Which approach do you think is the better of the lot?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Dot plot (visual)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Minimum free energy (closer to reality?)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Co-variance (bring evolution into the equation)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Base pair maximization (considers all possibilities)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9573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7E525AB-67E5-4F54-A9BE-006E64F86AA0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5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7555965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25803845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0708674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1727827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3630759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8523639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74182797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22811112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423526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8475432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6614428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8056318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3034326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7103630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96826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50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27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041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01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53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88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71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34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37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951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116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66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675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935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715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157375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1">
            <a:extLst>
              <a:ext uri="{FF2B5EF4-FFF2-40B4-BE49-F238E27FC236}">
                <a16:creationId xmlns:a16="http://schemas.microsoft.com/office/drawing/2014/main" id="{661802F4-EA19-129D-E6CC-94D004CED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148" y="782487"/>
            <a:ext cx="914400" cy="6858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0">
            <a:extLst>
              <a:ext uri="{FF2B5EF4-FFF2-40B4-BE49-F238E27FC236}">
                <a16:creationId xmlns:a16="http://schemas.microsoft.com/office/drawing/2014/main" id="{4FBE037F-ECC3-FD83-3FA0-87D27F24C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197" y="901549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379A6BE0-C1CA-53BD-95A9-41A85D53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297" y="1358749"/>
            <a:ext cx="304800" cy="228600"/>
          </a:xfrm>
          <a:prstGeom prst="ellipse">
            <a:avLst/>
          </a:prstGeom>
          <a:gradFill rotWithShape="1">
            <a:gsLst>
              <a:gs pos="0">
                <a:srgbClr val="99CCFF"/>
              </a:gs>
              <a:gs pos="100000">
                <a:srgbClr val="99CC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U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E5774D95-A3EE-BAEE-1601-7F0B8601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297" y="1815949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8" name="Oval 17">
            <a:extLst>
              <a:ext uri="{FF2B5EF4-FFF2-40B4-BE49-F238E27FC236}">
                <a16:creationId xmlns:a16="http://schemas.microsoft.com/office/drawing/2014/main" id="{9BA203DB-0992-81BC-C9EA-271ECC72D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097" y="2044549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9" name="Oval 20">
            <a:extLst>
              <a:ext uri="{FF2B5EF4-FFF2-40B4-BE49-F238E27FC236}">
                <a16:creationId xmlns:a16="http://schemas.microsoft.com/office/drawing/2014/main" id="{ACAD8DFD-60FB-A01C-55F0-2E97E067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297" y="1358749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sp>
        <p:nvSpPr>
          <p:cNvPr id="10" name="Oval 21">
            <a:extLst>
              <a:ext uri="{FF2B5EF4-FFF2-40B4-BE49-F238E27FC236}">
                <a16:creationId xmlns:a16="http://schemas.microsoft.com/office/drawing/2014/main" id="{6E2B3625-C08F-9670-CB39-25D82BC50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297" y="1815949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1" name="Line 23">
            <a:extLst>
              <a:ext uri="{FF2B5EF4-FFF2-40B4-BE49-F238E27FC236}">
                <a16:creationId xmlns:a16="http://schemas.microsoft.com/office/drawing/2014/main" id="{A497DB62-5EF4-3534-086B-BE25A63841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9097" y="1904849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BA3F629F-A462-BEB2-4EA4-9019DA6E2F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9097" y="1460349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27">
            <a:extLst>
              <a:ext uri="{FF2B5EF4-FFF2-40B4-BE49-F238E27FC236}">
                <a16:creationId xmlns:a16="http://schemas.microsoft.com/office/drawing/2014/main" id="{B92C5789-A85A-2338-402F-B9C1A1139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297" y="1587349"/>
            <a:ext cx="304800" cy="228600"/>
          </a:xfrm>
          <a:prstGeom prst="ellipse">
            <a:avLst/>
          </a:prstGeom>
          <a:gradFill rotWithShape="1">
            <a:gsLst>
              <a:gs pos="0">
                <a:srgbClr val="00FF00"/>
              </a:gs>
              <a:gs pos="100000">
                <a:srgbClr val="00FF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C</a:t>
            </a:r>
          </a:p>
        </p:txBody>
      </p:sp>
      <p:sp>
        <p:nvSpPr>
          <p:cNvPr id="14" name="Oval 28">
            <a:extLst>
              <a:ext uri="{FF2B5EF4-FFF2-40B4-BE49-F238E27FC236}">
                <a16:creationId xmlns:a16="http://schemas.microsoft.com/office/drawing/2014/main" id="{62909B43-CDAB-74B4-EF8C-45E9C656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297" y="1587349"/>
            <a:ext cx="304800" cy="2286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0000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G</a:t>
            </a:r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528908D9-44B6-7BE5-6D6A-64F7121468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9097" y="1676249"/>
            <a:ext cx="20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30">
            <a:extLst>
              <a:ext uri="{FF2B5EF4-FFF2-40B4-BE49-F238E27FC236}">
                <a16:creationId xmlns:a16="http://schemas.microsoft.com/office/drawing/2014/main" id="{7B2A6274-70B5-819E-0A00-5F1E81B40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397" y="901549"/>
            <a:ext cx="304800" cy="228600"/>
          </a:xfrm>
          <a:prstGeom prst="ellipse">
            <a:avLst/>
          </a:prstGeom>
          <a:gradFill rotWithShape="1">
            <a:gsLst>
              <a:gs pos="0">
                <a:srgbClr val="CC99FF"/>
              </a:gs>
              <a:gs pos="100000">
                <a:srgbClr val="CC99FF">
                  <a:gamma/>
                  <a:shade val="66275"/>
                  <a:invGamma/>
                </a:srgbClr>
              </a:gs>
            </a:gsLst>
            <a:path path="rect">
              <a:fillToRect r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/>
              <a:t>A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2F1D272-DFEA-5231-83B0-E9B138252FB9}"/>
              </a:ext>
            </a:extLst>
          </p:cNvPr>
          <p:cNvGrpSpPr/>
          <p:nvPr/>
        </p:nvGrpSpPr>
        <p:grpSpPr>
          <a:xfrm>
            <a:off x="1615688" y="2910186"/>
            <a:ext cx="1417320" cy="2660760"/>
            <a:chOff x="6116017" y="648109"/>
            <a:chExt cx="1417320" cy="266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F71F8B-75A9-40CF-BA54-67875B4C09A6}"/>
                    </a:ext>
                  </a:extLst>
                </p14:cNvPr>
                <p14:cNvContentPartPr/>
                <p14:nvPr/>
              </p14:nvContentPartPr>
              <p14:xfrm>
                <a:off x="6386737" y="2807749"/>
                <a:ext cx="239040" cy="50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F71F8B-75A9-40CF-BA54-67875B4C09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78097" y="2798749"/>
                  <a:ext cx="25668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CCEA6CC-A0D9-E1CC-F771-DED552EE26EB}"/>
                    </a:ext>
                  </a:extLst>
                </p14:cNvPr>
                <p14:cNvContentPartPr/>
                <p14:nvPr/>
              </p14:nvContentPartPr>
              <p14:xfrm>
                <a:off x="6832057" y="2999269"/>
                <a:ext cx="317880" cy="60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CCEA6CC-A0D9-E1CC-F771-DED552EE26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23417" y="2990269"/>
                  <a:ext cx="335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84EFDB-56F5-7410-BE85-7DE9FDC71604}"/>
                    </a:ext>
                  </a:extLst>
                </p14:cNvPr>
                <p14:cNvContentPartPr/>
                <p14:nvPr/>
              </p14:nvContentPartPr>
              <p14:xfrm>
                <a:off x="7313737" y="2792989"/>
                <a:ext cx="219600" cy="327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84EFDB-56F5-7410-BE85-7DE9FDC716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04737" y="2783989"/>
                  <a:ext cx="237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BF86CE-507C-469A-F14E-A553047D8EC2}"/>
                    </a:ext>
                  </a:extLst>
                </p14:cNvPr>
                <p14:cNvContentPartPr/>
                <p14:nvPr/>
              </p14:nvContentPartPr>
              <p14:xfrm>
                <a:off x="6116017" y="2306989"/>
                <a:ext cx="240120" cy="485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BF86CE-507C-469A-F14E-A553047D8E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07017" y="2297989"/>
                  <a:ext cx="2577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42DD79-95F1-2168-73E4-85BB9DD54B37}"/>
                    </a:ext>
                  </a:extLst>
                </p14:cNvPr>
                <p14:cNvContentPartPr/>
                <p14:nvPr/>
              </p14:nvContentPartPr>
              <p14:xfrm>
                <a:off x="6418057" y="2017189"/>
                <a:ext cx="200160" cy="438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42DD79-95F1-2168-73E4-85BB9DD54B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09417" y="2008189"/>
                  <a:ext cx="2178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C51F2B-AAF8-C43D-A828-406D3C3FF78E}"/>
                    </a:ext>
                  </a:extLst>
                </p14:cNvPr>
                <p14:cNvContentPartPr/>
                <p14:nvPr/>
              </p14:nvContentPartPr>
              <p14:xfrm>
                <a:off x="6795697" y="2166589"/>
                <a:ext cx="271080" cy="6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C51F2B-AAF8-C43D-A828-406D3C3FF7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87057" y="2157949"/>
                  <a:ext cx="288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A248B0-D479-C0F2-D38B-BE68985F2280}"/>
                    </a:ext>
                  </a:extLst>
                </p14:cNvPr>
                <p14:cNvContentPartPr/>
                <p14:nvPr/>
              </p14:nvContentPartPr>
              <p14:xfrm>
                <a:off x="7248217" y="1946629"/>
                <a:ext cx="232920" cy="326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A248B0-D479-C0F2-D38B-BE68985F22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39577" y="1937989"/>
                  <a:ext cx="2505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F6A2C3-2D6C-FC53-11B9-1D5F2F9F2C67}"/>
                    </a:ext>
                  </a:extLst>
                </p14:cNvPr>
                <p14:cNvContentPartPr/>
                <p14:nvPr/>
              </p14:nvContentPartPr>
              <p14:xfrm>
                <a:off x="6367657" y="1540189"/>
                <a:ext cx="240480" cy="288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F6A2C3-2D6C-FC53-11B9-1D5F2F9F2C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58657" y="1531189"/>
                  <a:ext cx="2581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0E937C-68BC-8575-88A1-97D724CEAB43}"/>
                    </a:ext>
                  </a:extLst>
                </p14:cNvPr>
                <p14:cNvContentPartPr/>
                <p14:nvPr/>
              </p14:nvContentPartPr>
              <p14:xfrm>
                <a:off x="6443257" y="1754389"/>
                <a:ext cx="120240" cy="26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0E937C-68BC-8575-88A1-97D724CEAB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34617" y="1745389"/>
                  <a:ext cx="137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E71EEC-C2D1-4B8B-4A3D-86B347231C0F}"/>
                    </a:ext>
                  </a:extLst>
                </p14:cNvPr>
                <p14:cNvContentPartPr/>
                <p14:nvPr/>
              </p14:nvContentPartPr>
              <p14:xfrm>
                <a:off x="6823777" y="1681669"/>
                <a:ext cx="93600" cy="3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E71EEC-C2D1-4B8B-4A3D-86B347231C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14777" y="1672669"/>
                  <a:ext cx="111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905343-3955-60E9-8F42-0590830F77FE}"/>
                    </a:ext>
                  </a:extLst>
                </p14:cNvPr>
                <p14:cNvContentPartPr/>
                <p14:nvPr/>
              </p14:nvContentPartPr>
              <p14:xfrm>
                <a:off x="7109257" y="1435069"/>
                <a:ext cx="223200" cy="35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905343-3955-60E9-8F42-0590830F77F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00617" y="1426429"/>
                  <a:ext cx="2408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885BA1E-2687-05D1-B40C-29454FBF3531}"/>
                    </a:ext>
                  </a:extLst>
                </p14:cNvPr>
                <p14:cNvContentPartPr/>
                <p14:nvPr/>
              </p14:nvContentPartPr>
              <p14:xfrm>
                <a:off x="6328057" y="845389"/>
                <a:ext cx="258480" cy="280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885BA1E-2687-05D1-B40C-29454FBF353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19417" y="836389"/>
                  <a:ext cx="276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6E13D0C-5D9B-49E8-1130-5D36FD8199D8}"/>
                    </a:ext>
                  </a:extLst>
                </p14:cNvPr>
                <p14:cNvContentPartPr/>
                <p14:nvPr/>
              </p14:nvContentPartPr>
              <p14:xfrm>
                <a:off x="6412297" y="913789"/>
                <a:ext cx="121320" cy="10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6E13D0C-5D9B-49E8-1130-5D36FD8199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03657" y="904789"/>
                  <a:ext cx="138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09F2597-01EC-74A5-6144-EE01710D89DF}"/>
                    </a:ext>
                  </a:extLst>
                </p14:cNvPr>
                <p14:cNvContentPartPr/>
                <p14:nvPr/>
              </p14:nvContentPartPr>
              <p14:xfrm>
                <a:off x="6920257" y="648109"/>
                <a:ext cx="292680" cy="30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09F2597-01EC-74A5-6144-EE01710D89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11257" y="639469"/>
                  <a:ext cx="310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F1134F-3412-ED73-2808-1EA0525424AD}"/>
                    </a:ext>
                  </a:extLst>
                </p14:cNvPr>
                <p14:cNvContentPartPr/>
                <p14:nvPr/>
              </p14:nvContentPartPr>
              <p14:xfrm>
                <a:off x="6966697" y="765469"/>
                <a:ext cx="106920" cy="90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F1134F-3412-ED73-2808-1EA0525424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57697" y="756469"/>
                  <a:ext cx="124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FE3D45-AE66-6FAF-F654-ADC5F3E7C087}"/>
                    </a:ext>
                  </a:extLst>
                </p14:cNvPr>
                <p14:cNvContentPartPr/>
                <p14:nvPr/>
              </p14:nvContentPartPr>
              <p14:xfrm>
                <a:off x="6272977" y="1133389"/>
                <a:ext cx="29880" cy="212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FE3D45-AE66-6FAF-F654-ADC5F3E7C0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64337" y="1124749"/>
                  <a:ext cx="47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9258DA-5CB5-01F5-C010-CAAF2C1BBBF1}"/>
                    </a:ext>
                  </a:extLst>
                </p14:cNvPr>
                <p14:cNvContentPartPr/>
                <p14:nvPr/>
              </p14:nvContentPartPr>
              <p14:xfrm>
                <a:off x="6641977" y="848269"/>
                <a:ext cx="131040" cy="8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9258DA-5CB5-01F5-C010-CAAF2C1BBB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32977" y="839629"/>
                  <a:ext cx="148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61D234-E846-0EBE-B588-5C55DEA50682}"/>
                    </a:ext>
                  </a:extLst>
                </p14:cNvPr>
                <p14:cNvContentPartPr/>
                <p14:nvPr/>
              </p14:nvContentPartPr>
              <p14:xfrm>
                <a:off x="7201057" y="1061029"/>
                <a:ext cx="80280" cy="202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61D234-E846-0EBE-B588-5C55DEA506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92057" y="1052029"/>
                  <a:ext cx="97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D61CF4-6D00-6339-294F-C62148B00459}"/>
                    </a:ext>
                  </a:extLst>
                </p14:cNvPr>
                <p14:cNvContentPartPr/>
                <p14:nvPr/>
              </p14:nvContentPartPr>
              <p14:xfrm>
                <a:off x="7359457" y="1821709"/>
                <a:ext cx="9000" cy="4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D61CF4-6D00-6339-294F-C62148B0045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50817" y="1812709"/>
                  <a:ext cx="26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F5138C6-1CE6-6C41-5FC1-B45AA57A1D68}"/>
                    </a:ext>
                  </a:extLst>
                </p14:cNvPr>
                <p14:cNvContentPartPr/>
                <p14:nvPr/>
              </p14:nvContentPartPr>
              <p14:xfrm>
                <a:off x="7394017" y="2425789"/>
                <a:ext cx="5040" cy="45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F5138C6-1CE6-6C41-5FC1-B45AA57A1D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85377" y="2417149"/>
                  <a:ext cx="22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B184A0D-94F3-0DC2-D484-AA87D366FB6F}"/>
                    </a:ext>
                  </a:extLst>
                </p14:cNvPr>
                <p14:cNvContentPartPr/>
                <p14:nvPr/>
              </p14:nvContentPartPr>
              <p14:xfrm>
                <a:off x="6577897" y="1882549"/>
                <a:ext cx="5040" cy="58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B184A0D-94F3-0DC2-D484-AA87D366FB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68897" y="1873909"/>
                  <a:ext cx="22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00AFE36-BB52-B59F-2801-216609152704}"/>
                    </a:ext>
                  </a:extLst>
                </p14:cNvPr>
                <p14:cNvContentPartPr/>
                <p14:nvPr/>
              </p14:nvContentPartPr>
              <p14:xfrm>
                <a:off x="6276217" y="2206189"/>
                <a:ext cx="9900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00AFE36-BB52-B59F-2801-2166091527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67217" y="2197189"/>
                  <a:ext cx="116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9347D6-4E6D-1501-25BE-CD75E20FFAF3}"/>
                    </a:ext>
                  </a:extLst>
                </p14:cNvPr>
                <p14:cNvContentPartPr/>
                <p14:nvPr/>
              </p14:nvContentPartPr>
              <p14:xfrm>
                <a:off x="6233737" y="2871829"/>
                <a:ext cx="46440" cy="50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9347D6-4E6D-1501-25BE-CD75E20FFAF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25097" y="2862829"/>
                  <a:ext cx="64080" cy="67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4" name="Content Placeholder 4" descr="Screen Shot 2015-04-22 at 15.48.46.png">
            <a:extLst>
              <a:ext uri="{FF2B5EF4-FFF2-40B4-BE49-F238E27FC236}">
                <a16:creationId xmlns:a16="http://schemas.microsoft.com/office/drawing/2014/main" id="{32258B60-0A73-1731-1824-29AD296EC0A3}"/>
              </a:ext>
            </a:extLst>
          </p:cNvPr>
          <p:cNvPicPr>
            <a:picLocks noChangeAspect="1"/>
          </p:cNvPicPr>
          <p:nvPr/>
        </p:nvPicPr>
        <p:blipFill rotWithShape="1"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47" b="-6774"/>
          <a:stretch/>
        </p:blipFill>
        <p:spPr>
          <a:xfrm>
            <a:off x="3512028" y="581211"/>
            <a:ext cx="8117733" cy="44567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ABF4DDF-550C-4B4E-2D23-89105636E33D}"/>
                  </a:ext>
                </a:extLst>
              </p14:cNvPr>
              <p14:cNvContentPartPr/>
              <p14:nvPr/>
            </p14:nvContentPartPr>
            <p14:xfrm>
              <a:off x="1591177" y="2348389"/>
              <a:ext cx="70560" cy="129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ABF4DDF-550C-4B4E-2D23-89105636E33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82177" y="2339749"/>
                <a:ext cx="8820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2DD6064E-6ABF-625D-8DB8-247266EA4E51}"/>
              </a:ext>
            </a:extLst>
          </p:cNvPr>
          <p:cNvGrpSpPr/>
          <p:nvPr/>
        </p:nvGrpSpPr>
        <p:grpSpPr>
          <a:xfrm>
            <a:off x="1403257" y="2440549"/>
            <a:ext cx="133920" cy="241920"/>
            <a:chOff x="1403257" y="2440549"/>
            <a:chExt cx="1339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38BE50B-C30B-FF24-F45C-DFD0D954EF41}"/>
                    </a:ext>
                  </a:extLst>
                </p14:cNvPr>
                <p14:cNvContentPartPr/>
                <p14:nvPr/>
              </p14:nvContentPartPr>
              <p14:xfrm>
                <a:off x="1403257" y="2440549"/>
                <a:ext cx="133920" cy="24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38BE50B-C30B-FF24-F45C-DFD0D954EF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94257" y="2431549"/>
                  <a:ext cx="1515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DD03CE0-82C7-755B-0A2B-56244DF83EEF}"/>
                    </a:ext>
                  </a:extLst>
                </p14:cNvPr>
                <p14:cNvContentPartPr/>
                <p14:nvPr/>
              </p14:nvContentPartPr>
              <p14:xfrm>
                <a:off x="1436737" y="2602189"/>
                <a:ext cx="36720" cy="43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DD03CE0-82C7-755B-0A2B-56244DF83E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27737" y="2593189"/>
                  <a:ext cx="5436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139EC1C-80DE-6DB5-683E-0875AA88DF40}"/>
              </a:ext>
            </a:extLst>
          </p:cNvPr>
          <p:cNvGrpSpPr/>
          <p:nvPr/>
        </p:nvGrpSpPr>
        <p:grpSpPr>
          <a:xfrm>
            <a:off x="1695217" y="5669029"/>
            <a:ext cx="281160" cy="365760"/>
            <a:chOff x="1695217" y="5669029"/>
            <a:chExt cx="28116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E7DD28E-B647-B841-BEBD-0E735EBC2124}"/>
                    </a:ext>
                  </a:extLst>
                </p14:cNvPr>
                <p14:cNvContentPartPr/>
                <p14:nvPr/>
              </p14:nvContentPartPr>
              <p14:xfrm>
                <a:off x="1923457" y="5669029"/>
                <a:ext cx="52920" cy="12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E7DD28E-B647-B841-BEBD-0E735EBC212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14817" y="5660029"/>
                  <a:ext cx="70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AEC165F-2D61-2328-8091-D65620516A7A}"/>
                    </a:ext>
                  </a:extLst>
                </p14:cNvPr>
                <p14:cNvContentPartPr/>
                <p14:nvPr/>
              </p14:nvContentPartPr>
              <p14:xfrm>
                <a:off x="1695217" y="5765509"/>
                <a:ext cx="198000" cy="26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AEC165F-2D61-2328-8091-D65620516A7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86217" y="5756509"/>
                  <a:ext cx="2156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5E1A56D-A3BD-3801-A832-D646B73F49DF}"/>
                    </a:ext>
                  </a:extLst>
                </p14:cNvPr>
                <p14:cNvContentPartPr/>
                <p14:nvPr/>
              </p14:nvContentPartPr>
              <p14:xfrm>
                <a:off x="1792777" y="5932549"/>
                <a:ext cx="42840" cy="46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5E1A56D-A3BD-3801-A832-D646B73F49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783777" y="5923549"/>
                  <a:ext cx="60480" cy="6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460198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85D919DB99A4B9F7C3E2BF41598A2" ma:contentTypeVersion="4" ma:contentTypeDescription="Create a new document." ma:contentTypeScope="" ma:versionID="ba3e817eb67cc8367b8d95e658cff018">
  <xsd:schema xmlns:xsd="http://www.w3.org/2001/XMLSchema" xmlns:xs="http://www.w3.org/2001/XMLSchema" xmlns:p="http://schemas.microsoft.com/office/2006/metadata/properties" xmlns:ns2="5b17cc69-8e44-468c-9cff-e58fbb120827" targetNamespace="http://schemas.microsoft.com/office/2006/metadata/properties" ma:root="true" ma:fieldsID="0a0aea8af201911dadc8767c9b796200" ns2:_="">
    <xsd:import namespace="5b17cc69-8e44-468c-9cff-e58fbb120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7cc69-8e44-468c-9cff-e58fbb12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6BD3D1-C434-40C3-BC00-9A804C980BAE}"/>
</file>

<file path=customXml/itemProps2.xml><?xml version="1.0" encoding="utf-8"?>
<ds:datastoreItem xmlns:ds="http://schemas.openxmlformats.org/officeDocument/2006/customXml" ds:itemID="{B7D88B56-AFC6-4971-8B66-B5DE75C122BF}"/>
</file>

<file path=customXml/itemProps3.xml><?xml version="1.0" encoding="utf-8"?>
<ds:datastoreItem xmlns:ds="http://schemas.openxmlformats.org/officeDocument/2006/customXml" ds:itemID="{CE7155F1-6DB1-470B-A1FD-4BDFC456AB0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927</Words>
  <Application>Microsoft Macintosh PowerPoint</Application>
  <PresentationFormat>Widescreen</PresentationFormat>
  <Paragraphs>264</Paragraphs>
  <Slides>24</Slides>
  <Notes>2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Century Gothic</vt:lpstr>
      <vt:lpstr>Times New Roman</vt:lpstr>
      <vt:lpstr>Wingdings</vt:lpstr>
      <vt:lpstr>Office Theme</vt:lpstr>
      <vt:lpstr>Worksheet</vt:lpstr>
      <vt:lpstr>Introduction to Bioinformatics</vt:lpstr>
      <vt:lpstr>4. Nussinov algorithm (or base pair maximization)</vt:lpstr>
      <vt:lpstr>Basic idea</vt:lpstr>
      <vt:lpstr>Example</vt:lpstr>
      <vt:lpstr>PowerPoint Presentation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Completed Matrix</vt:lpstr>
      <vt:lpstr>Retrieving the Structure</vt:lpstr>
      <vt:lpstr>Retrieving the Structure</vt:lpstr>
      <vt:lpstr>Retrieving the Structure</vt:lpstr>
      <vt:lpstr>Retrieving the Structure</vt:lpstr>
      <vt:lpstr>Retrieving the Structure</vt:lpstr>
      <vt:lpstr>Retrieving the Structure</vt:lpstr>
      <vt:lpstr>Retrieving the Structure</vt:lpstr>
      <vt:lpstr>Structure Representation</vt:lpstr>
      <vt:lpstr>Points to consider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2013-05-15T18:50:09Z</dcterms:created>
  <dcterms:modified xsi:type="dcterms:W3CDTF">2023-06-07T07:43:20Z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  <property fmtid="{D5CDD505-2E9C-101B-9397-08002B2CF9AE}" pid="3" name="ContentTypeId">
    <vt:lpwstr>0x010100F9885D919DB99A4B9F7C3E2BF41598A2</vt:lpwstr>
  </property>
</Properties>
</file>