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docProps/core.xml" ContentType="application/vnd.openxmlformats-package.core-properties+xml"/>
  <Override PartName="/ppt/tags/tag2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4"/>
  </p:notesMasterIdLst>
  <p:sldIdLst>
    <p:sldId id="257" r:id="rId2"/>
    <p:sldId id="305" r:id="rId3"/>
    <p:sldId id="264" r:id="rId4"/>
    <p:sldId id="762" r:id="rId5"/>
    <p:sldId id="277" r:id="rId6"/>
    <p:sldId id="278" r:id="rId7"/>
    <p:sldId id="761" r:id="rId8"/>
    <p:sldId id="755" r:id="rId9"/>
    <p:sldId id="757" r:id="rId10"/>
    <p:sldId id="266" r:id="rId11"/>
    <p:sldId id="267" r:id="rId12"/>
    <p:sldId id="270" r:id="rId13"/>
    <p:sldId id="271" r:id="rId14"/>
    <p:sldId id="873" r:id="rId15"/>
    <p:sldId id="580" r:id="rId16"/>
    <p:sldId id="419" r:id="rId17"/>
    <p:sldId id="261" r:id="rId18"/>
    <p:sldId id="262" r:id="rId19"/>
    <p:sldId id="263" r:id="rId20"/>
    <p:sldId id="268" r:id="rId21"/>
    <p:sldId id="275" r:id="rId22"/>
    <p:sldId id="874" r:id="rId23"/>
    <p:sldId id="740" r:id="rId24"/>
    <p:sldId id="720" r:id="rId25"/>
    <p:sldId id="258" r:id="rId26"/>
    <p:sldId id="872" r:id="rId27"/>
    <p:sldId id="871" r:id="rId28"/>
    <p:sldId id="656" r:id="rId29"/>
    <p:sldId id="750" r:id="rId30"/>
    <p:sldId id="732" r:id="rId31"/>
    <p:sldId id="721" r:id="rId32"/>
    <p:sldId id="75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86157"/>
  </p:normalViewPr>
  <p:slideViewPr>
    <p:cSldViewPr snapToGrid="0">
      <p:cViewPr varScale="1">
        <p:scale>
          <a:sx n="80" d="100"/>
          <a:sy n="80" d="100"/>
        </p:scale>
        <p:origin x="1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09E9B-7774-4D67-86A7-148865A6191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65718-BD91-4AFF-81E1-826CD3760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056DF41-4C87-4AC8-82E3-885CF0749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02773C2-D1A5-476A-9C4D-AA37E9505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Aliphatic = linear side c-chain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59686994-7E5D-4CBD-9EA6-C50E8BBD4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559944-4542-4125-A4FB-9040FA20124E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at which the amino acid has no net electrical charge is isoelectric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65718-BD91-4AFF-81E1-826CD37609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36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3D81790-0346-4345-8CDC-B4A10E43E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7C45E8-E140-4D76-B40C-3D90CAFCE9B7}" type="slidenum">
              <a:rPr lang="he-IL" altLang="en-US"/>
              <a:pPr/>
              <a:t>15</a:t>
            </a:fld>
            <a:endParaRPr lang="en-US" altLang="en-US">
              <a:cs typeface="חרמון" charset="0"/>
            </a:endParaRPr>
          </a:p>
        </p:txBody>
      </p:sp>
      <p:sp>
        <p:nvSpPr>
          <p:cNvPr id="397314" name="Rectangle 2">
            <a:extLst>
              <a:ext uri="{FF2B5EF4-FFF2-40B4-BE49-F238E27FC236}">
                <a16:creationId xmlns:a16="http://schemas.microsoft.com/office/drawing/2014/main" id="{9F5BF7FB-CD05-45A1-B4AD-1099B707D6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01B9C740-7098-4745-9C67-2F9651685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2000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07D341A-BEF2-4127-ACA8-0D67D59197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2BC241-47CC-45A0-AA77-E83F0663D481}" type="slidenum">
              <a:rPr lang="he-IL" altLang="en-US"/>
              <a:pPr/>
              <a:t>16</a:t>
            </a:fld>
            <a:endParaRPr lang="en-US" altLang="en-US">
              <a:cs typeface="חרמון" charset="0"/>
            </a:endParaRPr>
          </a:p>
        </p:txBody>
      </p:sp>
      <p:sp>
        <p:nvSpPr>
          <p:cNvPr id="516098" name="Rectangle 2">
            <a:extLst>
              <a:ext uri="{FF2B5EF4-FFF2-40B4-BE49-F238E27FC236}">
                <a16:creationId xmlns:a16="http://schemas.microsoft.com/office/drawing/2014/main" id="{493ABE91-AAC0-4CDC-BA8D-9552672AB7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>
            <a:extLst>
              <a:ext uri="{FF2B5EF4-FFF2-40B4-BE49-F238E27FC236}">
                <a16:creationId xmlns:a16="http://schemas.microsoft.com/office/drawing/2014/main" id="{5F27D537-EC67-4628-8A61-57A6E2531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392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A04F99-3C2C-4449-B007-9016DD64E4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884796-7F20-4772-9461-2F07884BFE36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037314" name="Rectangle 2">
            <a:extLst>
              <a:ext uri="{FF2B5EF4-FFF2-40B4-BE49-F238E27FC236}">
                <a16:creationId xmlns:a16="http://schemas.microsoft.com/office/drawing/2014/main" id="{A336FB9B-09DD-46AE-9022-F963C2D957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7315" name="Rectangle 3">
            <a:extLst>
              <a:ext uri="{FF2B5EF4-FFF2-40B4-BE49-F238E27FC236}">
                <a16:creationId xmlns:a16="http://schemas.microsoft.com/office/drawing/2014/main" id="{0A8A83F4-A02C-43BF-9B6B-C3091CB23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514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0707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34193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9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87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3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3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736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5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0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8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2216-883C-49C3-A101-DCE6B76C0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3B99E-4FAE-466E-8C41-7149A655866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EAA04-B016-4F78-BB6E-FB11618A97B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CB6C13-D4BF-4F36-9432-34A89BDE9A5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4F4B9C3E-6038-46EB-B014-E16A4789A3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0">
            <a:extLst>
              <a:ext uri="{FF2B5EF4-FFF2-40B4-BE49-F238E27FC236}">
                <a16:creationId xmlns:a16="http://schemas.microsoft.com/office/drawing/2014/main" id="{88D51298-0AF2-4B0B-B220-B8B7875210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B4C53750-E3D3-4AF0-A151-00B43C6934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458E2-7455-4C84-816C-CF44B8E14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714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1D57D1A-4003-4283-8B4D-E4423B79FEB6}" type="datetimeFigureOut">
              <a:rPr lang="en-US" smtClean="0"/>
              <a:t>12/13/21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232E40A-1F0A-4A23-A280-D490A61C75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056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nar.oupjournals.org/cgi/content/full/30/23/5229/GKF645F2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cs.cmu.edu/~cjl/teaching/15872AS05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3155-D4EA-461D-983E-59C597A0E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3" y="643467"/>
            <a:ext cx="11013594" cy="2598497"/>
          </a:xfrm>
        </p:spPr>
        <p:txBody>
          <a:bodyPr anchor="b">
            <a:normAutofit/>
          </a:bodyPr>
          <a:lstStyle/>
          <a:p>
            <a:r>
              <a:rPr lang="en-US" altLang="en-US" sz="4800" dirty="0"/>
              <a:t>Protein Sequence Analysis - Overview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C14CB-806A-4D8A-B0EC-E9495A78E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1819" y="3244897"/>
            <a:ext cx="9809018" cy="742279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INTRODUCTION TO BIOINFORMATICS </a:t>
            </a:r>
          </a:p>
        </p:txBody>
      </p:sp>
    </p:spTree>
    <p:extLst>
      <p:ext uri="{BB962C8B-B14F-4D97-AF65-F5344CB8AC3E}">
        <p14:creationId xmlns:p14="http://schemas.microsoft.com/office/powerpoint/2010/main" val="343961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054"/>
    </mc:Choice>
    <mc:Fallback xmlns="">
      <p:transition spd="slow" advTm="6805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F489-4DC5-4A14-ABB0-35F54CA4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Protein Chemistry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B3167-60F1-4B41-8466-4BE4E95F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2954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Polymers of amino acids </a:t>
            </a:r>
            <a:r>
              <a:rPr lang="en-US" sz="1800" dirty="0"/>
              <a:t>(alpha amino carboxylic acids)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84620-084B-4670-A1F4-DB7F4958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A8A7F-335F-42BE-AD66-898EDD0DB52B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49BA82D9-5964-474B-A615-1D02F871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57401"/>
            <a:ext cx="2006600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954C65-4F5F-4151-A515-2920E68AAE29}"/>
              </a:ext>
            </a:extLst>
          </p:cNvPr>
          <p:cNvSpPr txBox="1">
            <a:spLocks/>
          </p:cNvSpPr>
          <p:nvPr/>
        </p:nvSpPr>
        <p:spPr>
          <a:xfrm>
            <a:off x="1752600" y="4807530"/>
            <a:ext cx="8229600" cy="12954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Side chain (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R</a:t>
            </a:r>
            <a:r>
              <a:rPr lang="en-US" sz="2400" dirty="0"/>
              <a:t>) determines properties </a:t>
            </a:r>
          </a:p>
          <a:p>
            <a:pPr>
              <a:defRPr/>
            </a:pPr>
            <a:r>
              <a:rPr lang="en-US" sz="2400" dirty="0"/>
              <a:t>20 or so naturally occurring amino acids</a:t>
            </a:r>
          </a:p>
          <a:p>
            <a:pPr>
              <a:defRPr/>
            </a:pPr>
            <a:r>
              <a:rPr lang="en-US" sz="2400" dirty="0"/>
              <a:t>Sequence (linear order) of amino acids determines 3D structure and function of the protein molecule</a:t>
            </a:r>
          </a:p>
          <a:p>
            <a:pPr marL="0" indent="0">
              <a:buNone/>
              <a:defRPr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0950D-2202-4827-9467-28F7FA918E7C}"/>
              </a:ext>
            </a:extLst>
          </p:cNvPr>
          <p:cNvSpPr txBox="1"/>
          <p:nvPr/>
        </p:nvSpPr>
        <p:spPr>
          <a:xfrm>
            <a:off x="2286001" y="3581400"/>
            <a:ext cx="1407437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/>
              <a:t>alpha carbon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732AFC-A173-49C8-833A-68163E52A6A2}"/>
              </a:ext>
            </a:extLst>
          </p:cNvPr>
          <p:cNvCxnSpPr>
            <a:stCxn id="9" idx="3"/>
          </p:cNvCxnSpPr>
          <p:nvPr/>
        </p:nvCxnSpPr>
        <p:spPr>
          <a:xfrm flipV="1">
            <a:off x="3693438" y="3276600"/>
            <a:ext cx="2250163" cy="4894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2B51B96-5D2E-4638-AF10-62B73BFC619E}"/>
              </a:ext>
            </a:extLst>
          </p:cNvPr>
          <p:cNvSpPr txBox="1"/>
          <p:nvPr/>
        </p:nvSpPr>
        <p:spPr>
          <a:xfrm>
            <a:off x="7467601" y="3429000"/>
            <a:ext cx="1122423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dirty="0"/>
              <a:t>side chain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D87A7D-7FB8-4FFA-9F41-33C6A590DF9F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6629400" y="3276600"/>
            <a:ext cx="838200" cy="3370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BBB6E37-76F0-42A0-925B-016CEB0428A1}"/>
              </a:ext>
            </a:extLst>
          </p:cNvPr>
          <p:cNvSpPr txBox="1"/>
          <p:nvPr/>
        </p:nvSpPr>
        <p:spPr>
          <a:xfrm>
            <a:off x="7445375" y="4267200"/>
            <a:ext cx="2514600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C-terminal side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49E843-67D1-4438-9C41-A72C19354FD4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5638801" y="4191000"/>
            <a:ext cx="1806574" cy="2608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1982FB-2EAC-4838-875A-270948C406EB}"/>
              </a:ext>
            </a:extLst>
          </p:cNvPr>
          <p:cNvSpPr txBox="1"/>
          <p:nvPr/>
        </p:nvSpPr>
        <p:spPr>
          <a:xfrm>
            <a:off x="7467600" y="2209800"/>
            <a:ext cx="2362200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N-terminal side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F828CC-D2A2-44E2-AAB5-3E41FDF41799}"/>
              </a:ext>
            </a:extLst>
          </p:cNvPr>
          <p:cNvCxnSpPr>
            <a:stCxn id="26" idx="1"/>
          </p:cNvCxnSpPr>
          <p:nvPr/>
        </p:nvCxnSpPr>
        <p:spPr>
          <a:xfrm flipH="1">
            <a:off x="6324600" y="2394466"/>
            <a:ext cx="1143000" cy="439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479"/>
    </mc:Choice>
    <mc:Fallback xmlns="">
      <p:transition spd="slow" advTm="1254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048AD108-3A7A-4EBF-96C5-F8FD960F2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600" dirty="0"/>
              <a:t>Amino Acids: Symbols and Properties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7862D-3F37-4B82-8D6F-00A68720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9B91AA-7B39-4D24-A34A-3FA15B525074}" type="slidenum">
              <a:rPr lang="en-US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E40D5B-DCE0-4003-8C20-9FD9E37D6306}"/>
              </a:ext>
            </a:extLst>
          </p:cNvPr>
          <p:cNvGraphicFramePr>
            <a:graphicFrameLocks noGrp="1"/>
          </p:cNvGraphicFramePr>
          <p:nvPr/>
        </p:nvGraphicFramePr>
        <p:xfrm>
          <a:off x="1828801" y="990601"/>
          <a:ext cx="8305801" cy="5455635"/>
        </p:xfrm>
        <a:graphic>
          <a:graphicData uri="http://schemas.openxmlformats.org/drawingml/2006/table">
            <a:tbl>
              <a:tblPr/>
              <a:tblGrid>
                <a:gridCol w="134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1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79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Amino Acid</a:t>
                      </a:r>
                    </a:p>
                  </a:txBody>
                  <a:tcPr marL="6623" marR="6623" marT="66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Single Letter</a:t>
                      </a:r>
                    </a:p>
                  </a:txBody>
                  <a:tcPr marL="6623" marR="6623" marT="66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Three Letter</a:t>
                      </a:r>
                    </a:p>
                  </a:txBody>
                  <a:tcPr marL="6623" marR="6623" marT="66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Polarity</a:t>
                      </a:r>
                    </a:p>
                  </a:txBody>
                  <a:tcPr marL="6623" marR="6623" marT="66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Charge</a:t>
                      </a:r>
                    </a:p>
                  </a:txBody>
                  <a:tcPr marL="6623" marR="6623" marT="66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Side Chain Functional Group</a:t>
                      </a:r>
                    </a:p>
                  </a:txBody>
                  <a:tcPr marL="6623" marR="6623" marT="66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Alanine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Ala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Aliphatic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Cysteine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Cys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Thiol (sulfur)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Aspartate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D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Asp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Acidic 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Negative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Carboxylate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Glutamate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Glu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Acidic 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Negative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Carboxylate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Phenylalanine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F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Phe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Aromatic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Glycine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Gly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Aliphatic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Histidine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H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His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Basic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Positive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Aromatic (amine, imidazole)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Isoleucine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I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Ile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Aliphatic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Lysine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K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Lys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Basic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Positive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Amine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Leucine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L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Leu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Alphatic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Methionine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Met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Thiol ether (sulfur)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Asparagine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Asn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Amide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Proline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Imino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Glutamine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Q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Gln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Amide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Arginine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Arg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Positive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Guanidino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Serine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S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Ser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Hydroxyl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Threonine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Thr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Hydroxyl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Valine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V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Val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Aliphatic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Tryptophan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W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Trp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Nonpolar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Aromatic (indole)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79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Tyrosine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Y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Tyr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Ala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Zero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Aromatic (phenol)</a:t>
                      </a:r>
                    </a:p>
                  </a:txBody>
                  <a:tcPr marL="6623" marR="6623" marT="662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400"/>
    </mc:Choice>
    <mc:Fallback xmlns="">
      <p:transition spd="slow" advTm="1144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9646-F78F-4794-B507-EEBFBFD1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Amino Acids 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2D1EA-B3D7-4623-A9FA-D294CEB32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013" y="1485680"/>
            <a:ext cx="9799309" cy="526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4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579"/>
    </mc:Choice>
    <mc:Fallback xmlns="">
      <p:transition spd="slow" advTm="1825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4" descr="05-15b-PolarAminoAcids-L"/>
          <p:cNvPicPr>
            <a:picLocks noChangeAspect="1" noChangeArrowheads="1"/>
          </p:cNvPicPr>
          <p:nvPr/>
        </p:nvPicPr>
        <p:blipFill>
          <a:blip r:embed="rId2" cstate="print"/>
          <a:srcRect b="4016"/>
          <a:stretch>
            <a:fillRect/>
          </a:stretch>
        </p:blipFill>
        <p:spPr bwMode="auto">
          <a:xfrm>
            <a:off x="1524000" y="1447801"/>
            <a:ext cx="9144000" cy="523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8" name="Text Box 5"/>
          <p:cNvSpPr txBox="1">
            <a:spLocks noChangeArrowheads="1"/>
          </p:cNvSpPr>
          <p:nvPr/>
        </p:nvSpPr>
        <p:spPr bwMode="auto">
          <a:xfrm>
            <a:off x="1828800" y="381001"/>
            <a:ext cx="8534400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>
                <a:latin typeface="Times New Roman" pitchFamily="80" charset="0"/>
                <a:cs typeface="Times New Roman" pitchFamily="80" charset="0"/>
              </a:rPr>
              <a:t>Amino Acids </a:t>
            </a:r>
            <a:r>
              <a:rPr lang="en-US" sz="2800" dirty="0">
                <a:latin typeface="Times New Roman" pitchFamily="80" charset="0"/>
                <a:cs typeface="Times New Roman" pitchFamily="80" charset="0"/>
              </a:rPr>
              <a:t>are classified by properties: polar, non- polar, and charged (ionic)</a:t>
            </a:r>
          </a:p>
          <a:p>
            <a:pPr>
              <a:spcBef>
                <a:spcPct val="50000"/>
              </a:spcBef>
            </a:pPr>
            <a:endParaRPr lang="en-US" sz="2400" dirty="0">
              <a:latin typeface="Calibri" pitchFamily="8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D8DE-6241-46A7-86D4-99142D0CAD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396"/>
    </mc:Choice>
    <mc:Fallback xmlns="">
      <p:transition spd="slow" advTm="6839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4"/>
          <p:cNvSpPr txBox="1">
            <a:spLocks noChangeArrowheads="1"/>
          </p:cNvSpPr>
          <p:nvPr/>
        </p:nvSpPr>
        <p:spPr bwMode="auto">
          <a:xfrm>
            <a:off x="1828800" y="304800"/>
            <a:ext cx="86868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latin typeface="Times New Roman" pitchFamily="80" charset="0"/>
                <a:cs typeface="Times New Roman" pitchFamily="80" charset="0"/>
              </a:rPr>
              <a:t>Polypeptides</a:t>
            </a:r>
            <a:r>
              <a:rPr lang="en-US" sz="2800">
                <a:latin typeface="Times New Roman" pitchFamily="80" charset="0"/>
                <a:cs typeface="Times New Roman" pitchFamily="80" charset="0"/>
              </a:rPr>
              <a:t> are constructed by </a:t>
            </a:r>
            <a:r>
              <a:rPr lang="en-US" sz="2800" b="1">
                <a:latin typeface="Times New Roman" pitchFamily="80" charset="0"/>
                <a:cs typeface="Times New Roman" pitchFamily="80" charset="0"/>
              </a:rPr>
              <a:t>condensation reactions </a:t>
            </a:r>
            <a:r>
              <a:rPr lang="en-US" sz="2800">
                <a:latin typeface="Times New Roman" pitchFamily="80" charset="0"/>
                <a:cs typeface="Times New Roman" pitchFamily="80" charset="0"/>
              </a:rPr>
              <a:t>with amino acids</a:t>
            </a:r>
          </a:p>
        </p:txBody>
      </p:sp>
      <p:pic>
        <p:nvPicPr>
          <p:cNvPr id="20482" name="Picture 5" descr="05-16-PolypeptideChain-L"/>
          <p:cNvPicPr>
            <a:picLocks noChangeAspect="1" noChangeArrowheads="1"/>
          </p:cNvPicPr>
          <p:nvPr/>
        </p:nvPicPr>
        <p:blipFill>
          <a:blip r:embed="rId2" cstate="print"/>
          <a:srcRect b="3200"/>
          <a:stretch>
            <a:fillRect/>
          </a:stretch>
        </p:blipFill>
        <p:spPr bwMode="auto">
          <a:xfrm>
            <a:off x="5462589" y="838200"/>
            <a:ext cx="4414837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ED8DE-6241-46A7-86D4-99142D0CAD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231"/>
    </mc:Choice>
    <mc:Fallback xmlns="">
      <p:transition spd="slow" advTm="18123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8BD3-40F1-4F8E-B0C8-88C766ED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597FB-F5EA-4608-85C4-3BEF50D77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05" y="1874517"/>
            <a:ext cx="8412480" cy="48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1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869"/>
    </mc:Choice>
    <mc:Fallback xmlns="">
      <p:transition spd="slow" advTm="3808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F3684FCA-0144-4EB4-BB60-62AD2DD1B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096" y="907776"/>
            <a:ext cx="8428038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7C9F75A-A496-405E-BF96-7EF54502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5"/>
            <a:ext cx="10515600" cy="1325563"/>
          </a:xfrm>
        </p:spPr>
        <p:txBody>
          <a:bodyPr/>
          <a:lstStyle/>
          <a:p>
            <a:r>
              <a:rPr lang="en-US" dirty="0"/>
              <a:t>Protein Sequence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A6AB1-28A7-4B5A-AE16-29163E28E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61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676"/>
    </mc:Choice>
    <mc:Fallback xmlns="">
      <p:transition spd="slow" advTm="9167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C4DE-CC7F-4859-9A27-0EB3D5E0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Chemical Properties of</a:t>
            </a:r>
            <a:br>
              <a:rPr lang="en-US" b="1" dirty="0"/>
            </a:br>
            <a:r>
              <a:rPr lang="en-US" b="1" dirty="0"/>
              <a:t>Proteins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10A8-86D4-4E91-A6A6-00A4C895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Proteins are linear polymers of 20 amino</a:t>
            </a:r>
            <a:br>
              <a:rPr lang="en-US" sz="2800" dirty="0"/>
            </a:br>
            <a:r>
              <a:rPr lang="en-US" sz="2800" dirty="0"/>
              <a:t>acids</a:t>
            </a:r>
            <a:br>
              <a:rPr lang="en-US" sz="2800" dirty="0"/>
            </a:br>
            <a:r>
              <a:rPr lang="en-US" sz="2800" dirty="0"/>
              <a:t>• Chemical properties of the protein are determined by its amino acids</a:t>
            </a:r>
            <a:br>
              <a:rPr lang="en-US" sz="2800" dirty="0"/>
            </a:br>
            <a:r>
              <a:rPr lang="en-US" sz="2800" dirty="0"/>
              <a:t>• Molecular wt., pH, isoelectric point are simple calculations from amino acid composition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82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401"/>
    </mc:Choice>
    <mc:Fallback xmlns="">
      <p:transition spd="slow" advTm="8140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Levels of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1"/>
            <a:ext cx="2209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Primary: Sequence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67200" y="6356351"/>
            <a:ext cx="3657600" cy="365125"/>
          </a:xfrm>
        </p:spPr>
        <p:txBody>
          <a:bodyPr/>
          <a:lstStyle/>
          <a:p>
            <a:r>
              <a:rPr lang="en-US" dirty="0"/>
              <a:t>Introductory Lecture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Screen Shot 2013-03-06 at 11.48.2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283972"/>
            <a:ext cx="6718300" cy="549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0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354"/>
    </mc:Choice>
    <mc:Fallback xmlns="">
      <p:transition spd="slow" advTm="4335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Levels of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1"/>
            <a:ext cx="2209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Secondary: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latin typeface="Symbol" charset="2"/>
                <a:cs typeface="Symbol" charset="2"/>
              </a:rPr>
              <a:t>a</a:t>
            </a:r>
            <a:r>
              <a:rPr lang="en-US" sz="2400" dirty="0"/>
              <a:t>-helices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latin typeface="Symbol" charset="2"/>
                <a:cs typeface="Symbol" charset="2"/>
              </a:rPr>
              <a:t>b</a:t>
            </a:r>
            <a:r>
              <a:rPr lang="en-US" sz="2400" dirty="0"/>
              <a:t>-strands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Screen Shot 2013-03-06 at 11.52.5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905000"/>
            <a:ext cx="4394200" cy="1455962"/>
          </a:xfrm>
          <a:prstGeom prst="rect">
            <a:avLst/>
          </a:prstGeom>
        </p:spPr>
      </p:pic>
      <p:pic>
        <p:nvPicPr>
          <p:cNvPr id="8" name="Picture 7" descr="Screen Shot 2013-03-06 at 11.59.4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4267201"/>
            <a:ext cx="5257800" cy="15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233"/>
    </mc:Choice>
    <mc:Fallback xmlns="">
      <p:transition spd="slow" advTm="16223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Levels of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1"/>
            <a:ext cx="2209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Tertiary: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a “fold” of secondary structure elements</a:t>
            </a: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 descr="1zxm_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1" y="1371600"/>
            <a:ext cx="5512567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2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966"/>
    </mc:Choice>
    <mc:Fallback xmlns="">
      <p:transition spd="slow" advTm="7296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Levels of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752601"/>
            <a:ext cx="2209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Quaternary: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A complex of separate folds (often called chains)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Displayed is a dimer of the ATPase</a:t>
            </a: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1zxm_dim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1" y="1295400"/>
            <a:ext cx="5770969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9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79"/>
    </mc:Choice>
    <mc:Fallback xmlns="">
      <p:transition spd="slow" advTm="3557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0971C-1BE2-4957-86FC-D9B103AA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Description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2B4008-EB78-4F72-AC8A-5D6B0596F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782" y="1383781"/>
            <a:ext cx="8001452" cy="509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9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156"/>
    </mc:Choice>
    <mc:Fallback xmlns="">
      <p:transition spd="slow" advTm="8915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AF9DE-98CA-4759-8A8A-97C5A476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9D09-8D75-4D36-917E-A61E4142DC51}" type="slidenum">
              <a:rPr lang="he-IL" altLang="en-US"/>
              <a:pPr/>
              <a:t>15</a:t>
            </a:fld>
            <a:endParaRPr lang="en-US" altLang="en-US"/>
          </a:p>
        </p:txBody>
      </p:sp>
      <p:sp>
        <p:nvSpPr>
          <p:cNvPr id="361474" name="Text Box 2">
            <a:extLst>
              <a:ext uri="{FF2B5EF4-FFF2-40B4-BE49-F238E27FC236}">
                <a16:creationId xmlns:a16="http://schemas.microsoft.com/office/drawing/2014/main" id="{351ED863-B35F-46EB-A9B6-BE57AF6BD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0143" y="304374"/>
            <a:ext cx="931511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rtl="0"/>
            <a:r>
              <a:rPr lang="en-US" alt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Why Protein Structures are Important?</a:t>
            </a:r>
          </a:p>
        </p:txBody>
      </p:sp>
      <p:sp>
        <p:nvSpPr>
          <p:cNvPr id="361476" name="Text Box 4">
            <a:extLst>
              <a:ext uri="{FF2B5EF4-FFF2-40B4-BE49-F238E27FC236}">
                <a16:creationId xmlns:a16="http://schemas.microsoft.com/office/drawing/2014/main" id="{61021B4E-459D-4A47-8DC6-A52343979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641767"/>
            <a:ext cx="8686800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rtl="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   Proteins are fundamental components of all living cells, performing a variety of biological tasks.</a:t>
            </a:r>
          </a:p>
          <a:p>
            <a:pPr algn="l" rtl="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algn="l" rtl="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   Each protein has a particular 3D structure that determines its function.</a:t>
            </a:r>
          </a:p>
          <a:p>
            <a:pPr algn="l" rtl="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algn="l" rtl="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   Protein structure is more conserved than protein sequence, and more closely related to function.</a:t>
            </a:r>
          </a:p>
        </p:txBody>
      </p:sp>
    </p:spTree>
    <p:extLst>
      <p:ext uri="{BB962C8B-B14F-4D97-AF65-F5344CB8AC3E}">
        <p14:creationId xmlns:p14="http://schemas.microsoft.com/office/powerpoint/2010/main" val="415161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460"/>
    </mc:Choice>
    <mc:Fallback xmlns="">
      <p:transition spd="slow" advTm="25946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29442DD-7403-4150-BEB4-FF5CC905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BD9C5-7564-4CBA-8A5F-F08DEFE1F5AB}" type="slidenum">
              <a:rPr lang="he-IL" altLang="en-US"/>
              <a:pPr/>
              <a:t>16</a:t>
            </a:fld>
            <a:endParaRPr lang="en-US" altLang="en-US"/>
          </a:p>
        </p:txBody>
      </p:sp>
      <p:sp>
        <p:nvSpPr>
          <p:cNvPr id="181253" name="Text Box 5">
            <a:extLst>
              <a:ext uri="{FF2B5EF4-FFF2-40B4-BE49-F238E27FC236}">
                <a16:creationId xmlns:a16="http://schemas.microsoft.com/office/drawing/2014/main" id="{C6177782-E2FD-45CE-BB7E-5D75E5323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560514"/>
            <a:ext cx="5031377" cy="168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rtl="0">
              <a:lnSpc>
                <a:spcPct val="120000"/>
              </a:lnSpc>
            </a:pPr>
            <a:r>
              <a:rPr lang="en-US" altLang="en-US" sz="2800" u="sng"/>
              <a:t>Protein core</a:t>
            </a:r>
            <a:r>
              <a:rPr lang="en-US" altLang="en-US" sz="2800"/>
              <a:t> - usually conserved. </a:t>
            </a:r>
          </a:p>
          <a:p>
            <a:pPr algn="l" rtl="0" eaLnBrk="0" hangingPunct="0">
              <a:lnSpc>
                <a:spcPct val="120000"/>
              </a:lnSpc>
              <a:spcBef>
                <a:spcPct val="20000"/>
              </a:spcBef>
            </a:pPr>
            <a:endParaRPr lang="en-US" altLang="en-US" sz="2800"/>
          </a:p>
          <a:p>
            <a:pPr algn="l" rtl="0">
              <a:lnSpc>
                <a:spcPct val="120000"/>
              </a:lnSpc>
            </a:pPr>
            <a:r>
              <a:rPr lang="en-US" altLang="en-US" sz="2800" u="sng"/>
              <a:t>Protein loops</a:t>
            </a:r>
            <a:r>
              <a:rPr lang="en-US" altLang="en-US" sz="2800"/>
              <a:t> - variable regions </a:t>
            </a:r>
          </a:p>
        </p:txBody>
      </p:sp>
      <p:sp>
        <p:nvSpPr>
          <p:cNvPr id="181255" name="Oval 7">
            <a:extLst>
              <a:ext uri="{FF2B5EF4-FFF2-40B4-BE49-F238E27FC236}">
                <a16:creationId xmlns:a16="http://schemas.microsoft.com/office/drawing/2014/main" id="{A17B1541-881A-49F1-9D1D-3C656C445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267200"/>
            <a:ext cx="1828800" cy="18288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1256" name="Freeform 8">
            <a:extLst>
              <a:ext uri="{FF2B5EF4-FFF2-40B4-BE49-F238E27FC236}">
                <a16:creationId xmlns:a16="http://schemas.microsoft.com/office/drawing/2014/main" id="{7A358CB7-7BF0-45D9-94C6-F1D58F4CA04A}"/>
              </a:ext>
            </a:extLst>
          </p:cNvPr>
          <p:cNvSpPr>
            <a:spLocks/>
          </p:cNvSpPr>
          <p:nvPr/>
        </p:nvSpPr>
        <p:spPr bwMode="auto">
          <a:xfrm rot="1726604">
            <a:off x="8839200" y="4343400"/>
            <a:ext cx="381000" cy="533400"/>
          </a:xfrm>
          <a:custGeom>
            <a:avLst/>
            <a:gdLst>
              <a:gd name="T0" fmla="*/ 154 w 201"/>
              <a:gd name="T1" fmla="*/ 0 h 564"/>
              <a:gd name="T2" fmla="*/ 185 w 201"/>
              <a:gd name="T3" fmla="*/ 102 h 564"/>
              <a:gd name="T4" fmla="*/ 175 w 201"/>
              <a:gd name="T5" fmla="*/ 133 h 564"/>
              <a:gd name="T6" fmla="*/ 41 w 201"/>
              <a:gd name="T7" fmla="*/ 164 h 564"/>
              <a:gd name="T8" fmla="*/ 21 w 201"/>
              <a:gd name="T9" fmla="*/ 195 h 564"/>
              <a:gd name="T10" fmla="*/ 0 w 201"/>
              <a:gd name="T11" fmla="*/ 257 h 564"/>
              <a:gd name="T12" fmla="*/ 10 w 201"/>
              <a:gd name="T13" fmla="*/ 288 h 564"/>
              <a:gd name="T14" fmla="*/ 93 w 201"/>
              <a:gd name="T15" fmla="*/ 308 h 564"/>
              <a:gd name="T16" fmla="*/ 154 w 201"/>
              <a:gd name="T17" fmla="*/ 401 h 564"/>
              <a:gd name="T18" fmla="*/ 144 w 201"/>
              <a:gd name="T19" fmla="*/ 504 h 564"/>
              <a:gd name="T20" fmla="*/ 0 w 201"/>
              <a:gd name="T21" fmla="*/ 545 h 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1" h="564">
                <a:moveTo>
                  <a:pt x="154" y="0"/>
                </a:moveTo>
                <a:cubicBezTo>
                  <a:pt x="194" y="38"/>
                  <a:pt x="201" y="48"/>
                  <a:pt x="185" y="102"/>
                </a:cubicBezTo>
                <a:cubicBezTo>
                  <a:pt x="182" y="112"/>
                  <a:pt x="184" y="127"/>
                  <a:pt x="175" y="133"/>
                </a:cubicBezTo>
                <a:cubicBezTo>
                  <a:pt x="146" y="154"/>
                  <a:pt x="73" y="160"/>
                  <a:pt x="41" y="164"/>
                </a:cubicBezTo>
                <a:cubicBezTo>
                  <a:pt x="34" y="174"/>
                  <a:pt x="26" y="184"/>
                  <a:pt x="21" y="195"/>
                </a:cubicBezTo>
                <a:cubicBezTo>
                  <a:pt x="12" y="215"/>
                  <a:pt x="0" y="257"/>
                  <a:pt x="0" y="257"/>
                </a:cubicBezTo>
                <a:cubicBezTo>
                  <a:pt x="3" y="267"/>
                  <a:pt x="0" y="283"/>
                  <a:pt x="10" y="288"/>
                </a:cubicBezTo>
                <a:cubicBezTo>
                  <a:pt x="35" y="302"/>
                  <a:pt x="93" y="308"/>
                  <a:pt x="93" y="308"/>
                </a:cubicBezTo>
                <a:cubicBezTo>
                  <a:pt x="136" y="337"/>
                  <a:pt x="131" y="354"/>
                  <a:pt x="154" y="401"/>
                </a:cubicBezTo>
                <a:cubicBezTo>
                  <a:pt x="151" y="435"/>
                  <a:pt x="152" y="470"/>
                  <a:pt x="144" y="504"/>
                </a:cubicBezTo>
                <a:cubicBezTo>
                  <a:pt x="130" y="564"/>
                  <a:pt x="34" y="545"/>
                  <a:pt x="0" y="545"/>
                </a:cubicBezTo>
              </a:path>
            </a:pathLst>
          </a:custGeom>
          <a:solidFill>
            <a:srgbClr val="66FFFF"/>
          </a:solidFill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57" name="Freeform 9">
            <a:extLst>
              <a:ext uri="{FF2B5EF4-FFF2-40B4-BE49-F238E27FC236}">
                <a16:creationId xmlns:a16="http://schemas.microsoft.com/office/drawing/2014/main" id="{C204F357-ECDC-40E2-B9D3-C1C621AEB78B}"/>
              </a:ext>
            </a:extLst>
          </p:cNvPr>
          <p:cNvSpPr>
            <a:spLocks/>
          </p:cNvSpPr>
          <p:nvPr/>
        </p:nvSpPr>
        <p:spPr bwMode="auto">
          <a:xfrm>
            <a:off x="8529638" y="4662488"/>
            <a:ext cx="309562" cy="442912"/>
          </a:xfrm>
          <a:custGeom>
            <a:avLst/>
            <a:gdLst>
              <a:gd name="T0" fmla="*/ 185 w 277"/>
              <a:gd name="T1" fmla="*/ 25 h 228"/>
              <a:gd name="T2" fmla="*/ 72 w 277"/>
              <a:gd name="T3" fmla="*/ 15 h 228"/>
              <a:gd name="T4" fmla="*/ 72 w 277"/>
              <a:gd name="T5" fmla="*/ 190 h 228"/>
              <a:gd name="T6" fmla="*/ 277 w 277"/>
              <a:gd name="T7" fmla="*/ 169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7" h="228">
                <a:moveTo>
                  <a:pt x="185" y="25"/>
                </a:moveTo>
                <a:cubicBezTo>
                  <a:pt x="107" y="0"/>
                  <a:pt x="144" y="1"/>
                  <a:pt x="72" y="15"/>
                </a:cubicBezTo>
                <a:cubicBezTo>
                  <a:pt x="8" y="58"/>
                  <a:pt x="0" y="141"/>
                  <a:pt x="72" y="190"/>
                </a:cubicBezTo>
                <a:cubicBezTo>
                  <a:pt x="272" y="180"/>
                  <a:pt x="223" y="228"/>
                  <a:pt x="277" y="1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58" name="Line 10">
            <a:extLst>
              <a:ext uri="{FF2B5EF4-FFF2-40B4-BE49-F238E27FC236}">
                <a16:creationId xmlns:a16="http://schemas.microsoft.com/office/drawing/2014/main" id="{C04FBC32-D253-4A2A-9F9C-DA38D173F6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2900" y="5334000"/>
            <a:ext cx="14097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59" name="Text Box 11">
            <a:extLst>
              <a:ext uri="{FF2B5EF4-FFF2-40B4-BE49-F238E27FC236}">
                <a16:creationId xmlns:a16="http://schemas.microsoft.com/office/drawing/2014/main" id="{F98D9D46-AE9A-46CC-A20A-725F8B376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357813"/>
            <a:ext cx="28536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rtl="0"/>
            <a:r>
              <a:rPr lang="en-US" altLang="en-US" sz="2800"/>
              <a:t>Hydrophobic core</a:t>
            </a:r>
          </a:p>
        </p:txBody>
      </p:sp>
      <p:sp>
        <p:nvSpPr>
          <p:cNvPr id="181260" name="Line 12">
            <a:extLst>
              <a:ext uri="{FF2B5EF4-FFF2-40B4-BE49-F238E27FC236}">
                <a16:creationId xmlns:a16="http://schemas.microsoft.com/office/drawing/2014/main" id="{8B2F820B-CEE5-48BE-9C7A-0675FEABE8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2900" y="4648200"/>
            <a:ext cx="5715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261" name="Text Box 13">
            <a:extLst>
              <a:ext uri="{FF2B5EF4-FFF2-40B4-BE49-F238E27FC236}">
                <a16:creationId xmlns:a16="http://schemas.microsoft.com/office/drawing/2014/main" id="{82C7D047-5453-4498-8931-3F86CF2CC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367213"/>
            <a:ext cx="21371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rtl="0"/>
            <a:r>
              <a:rPr lang="en-US" altLang="en-US" sz="2800"/>
              <a:t>Surface loops</a:t>
            </a:r>
          </a:p>
        </p:txBody>
      </p:sp>
      <p:sp>
        <p:nvSpPr>
          <p:cNvPr id="181262" name="Rectangle 14">
            <a:extLst>
              <a:ext uri="{FF2B5EF4-FFF2-40B4-BE49-F238E27FC236}">
                <a16:creationId xmlns:a16="http://schemas.microsoft.com/office/drawing/2014/main" id="{8B8EC5D5-36A1-4BB5-A211-F705C4E29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77814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Protein Structure</a:t>
            </a:r>
          </a:p>
        </p:txBody>
      </p:sp>
    </p:spTree>
    <p:extLst>
      <p:ext uri="{BB962C8B-B14F-4D97-AF65-F5344CB8AC3E}">
        <p14:creationId xmlns:p14="http://schemas.microsoft.com/office/powerpoint/2010/main" val="46017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336"/>
    </mc:Choice>
    <mc:Fallback xmlns="">
      <p:transition spd="slow" advTm="5833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243835"/>
            <a:ext cx="10178322" cy="1492132"/>
          </a:xfrm>
        </p:spPr>
        <p:txBody>
          <a:bodyPr/>
          <a:lstStyle/>
          <a:p>
            <a:r>
              <a:rPr lang="en-US" dirty="0"/>
              <a:t>Proteins – The Machines in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5" y="1163780"/>
            <a:ext cx="8950036" cy="5472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To keep you alive, your body must do many things…</a:t>
            </a:r>
          </a:p>
          <a:p>
            <a:r>
              <a:rPr lang="en-US" sz="2200" dirty="0"/>
              <a:t>Convert oxygen to usable energy</a:t>
            </a:r>
          </a:p>
          <a:p>
            <a:r>
              <a:rPr lang="en-US" sz="2200" dirty="0"/>
              <a:t>Digest food and recover nutrients</a:t>
            </a:r>
          </a:p>
          <a:p>
            <a:r>
              <a:rPr lang="en-US" sz="2200" dirty="0"/>
              <a:t>Build and maintain body tissue</a:t>
            </a:r>
          </a:p>
          <a:p>
            <a:r>
              <a:rPr lang="en-US" sz="2200" dirty="0"/>
              <a:t>Fight off invasions and detoxify poisons</a:t>
            </a:r>
          </a:p>
          <a:p>
            <a:r>
              <a:rPr lang="en-US" sz="2200" dirty="0"/>
              <a:t>Take out the garbage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Proteins do all of these things!</a:t>
            </a:r>
          </a:p>
          <a:p>
            <a:pPr marL="0" indent="0">
              <a:buNone/>
            </a:pPr>
            <a:r>
              <a:rPr lang="en-US" sz="2200" dirty="0"/>
              <a:t>And when proteins do not work correctly…</a:t>
            </a:r>
          </a:p>
          <a:p>
            <a:pPr lvl="1"/>
            <a:r>
              <a:rPr lang="en-US" sz="2200" dirty="0"/>
              <a:t>Disease</a:t>
            </a:r>
          </a:p>
          <a:p>
            <a:pPr lvl="1"/>
            <a:r>
              <a:rPr lang="en-US" sz="2200" dirty="0"/>
              <a:t>Deformities</a:t>
            </a:r>
          </a:p>
          <a:p>
            <a:pPr lvl="1"/>
            <a:r>
              <a:rPr lang="en-US" sz="2200" dirty="0"/>
              <a:t>Death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689"/>
    </mc:Choice>
    <mc:Fallback xmlns="">
      <p:transition spd="slow" advTm="10968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Proteins? You mean lentils?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51054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NO!</a:t>
            </a:r>
          </a:p>
          <a:p>
            <a:pPr marL="0" indent="0">
              <a:buNone/>
            </a:pPr>
            <a:r>
              <a:rPr lang="en-US" sz="2400" dirty="0"/>
              <a:t>Nutritionists, dieticians and the popular press say “protein” when they really mean “amino acids”.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When biologists say “protein”, they mean a machine!</a:t>
            </a:r>
          </a:p>
          <a:p>
            <a:pPr marL="0" indent="0">
              <a:buNone/>
            </a:pPr>
            <a:r>
              <a:rPr lang="en-US" sz="2400" dirty="0"/>
              <a:t>And not just any machine, but one that performs a specific function…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E871C-7F3C-450D-95A0-39D84E2B503F}" type="datetime1">
              <a:rPr lang="en-US" smtClean="0"/>
              <a:t>12/13/21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67200" y="6356351"/>
            <a:ext cx="3657600" cy="365125"/>
          </a:xfrm>
        </p:spPr>
        <p:txBody>
          <a:bodyPr/>
          <a:lstStyle/>
          <a:p>
            <a:r>
              <a:rPr lang="en-US" dirty="0"/>
              <a:t>Introductory Lecture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 descr="1zxm_el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3886200"/>
            <a:ext cx="2928551" cy="2590800"/>
          </a:xfrm>
          <a:prstGeom prst="rect">
            <a:avLst/>
          </a:prstGeom>
        </p:spPr>
      </p:pic>
      <p:pic>
        <p:nvPicPr>
          <p:cNvPr id="7" name="Picture 6" descr="whey_protein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1066800"/>
            <a:ext cx="2057400" cy="27432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7391400" y="1371600"/>
            <a:ext cx="2438400" cy="2286000"/>
          </a:xfrm>
          <a:prstGeom prst="line">
            <a:avLst/>
          </a:prstGeom>
          <a:ln w="76200" cmpd="sng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7391400" y="1371600"/>
            <a:ext cx="2438400" cy="2286000"/>
          </a:xfrm>
          <a:prstGeom prst="line">
            <a:avLst/>
          </a:prstGeom>
          <a:ln w="76200" cmpd="sng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69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33"/>
    </mc:Choice>
    <mc:Fallback xmlns="">
      <p:transition spd="slow" advTm="4723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Proteins are Enzymes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10" descr="atpase_ligan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600200"/>
            <a:ext cx="5081898" cy="449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1" y="1440873"/>
            <a:ext cx="3657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Enzymes bind small molecules and allow a particular chemical reaction to proceed hundreds to thousands of times faster than it otherwise would.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13" name="Picture 12" descr="atpase_ligand_yello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471" y="1600200"/>
            <a:ext cx="5081898" cy="4495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133600" y="5105401"/>
            <a:ext cx="228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ATPase binding an ATP analog.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43400" y="5334000"/>
            <a:ext cx="457200" cy="381000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189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307"/>
    </mc:Choice>
    <mc:Fallback xmlns="">
      <p:transition spd="slow" advTm="9530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868362"/>
          </a:xfrm>
        </p:spPr>
        <p:txBody>
          <a:bodyPr/>
          <a:lstStyle/>
          <a:p>
            <a:r>
              <a:rPr lang="en-US" dirty="0"/>
              <a:t>The Genetic Connection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 descr="Screen Shot 2013-03-06 at 12.49.1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51001"/>
            <a:ext cx="8229600" cy="3195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1" y="1066800"/>
            <a:ext cx="778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NC_000017:c(38544773..38574202) </a:t>
            </a:r>
            <a:r>
              <a:rPr lang="en-US" dirty="0">
                <a:sym typeface="Wingdings"/>
              </a:rPr>
              <a:t> NM_001067  NP_001058  machine!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828822" y="4281311"/>
            <a:ext cx="381000" cy="381000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20982" y="4971471"/>
            <a:ext cx="9047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change the sequence of a protein, you may change the structure.</a:t>
            </a:r>
          </a:p>
          <a:p>
            <a:r>
              <a:rPr lang="en-US" sz="2400" dirty="0"/>
              <a:t>Even a single amino acid change can break the machine!</a:t>
            </a:r>
          </a:p>
          <a:p>
            <a:r>
              <a:rPr lang="en-US" sz="2400" dirty="0"/>
              <a:t>Almost all genetic diseases are the result of a broken protein machine.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1" y="4267200"/>
            <a:ext cx="2324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Causes drug resistance</a:t>
            </a:r>
          </a:p>
        </p:txBody>
      </p:sp>
    </p:spTree>
    <p:extLst>
      <p:ext uri="{BB962C8B-B14F-4D97-AF65-F5344CB8AC3E}">
        <p14:creationId xmlns:p14="http://schemas.microsoft.com/office/powerpoint/2010/main" val="342052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269"/>
    </mc:Choice>
    <mc:Fallback xmlns="">
      <p:transition spd="slow" advTm="13626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109" y="1136073"/>
            <a:ext cx="10487891" cy="5361719"/>
          </a:xfrm>
        </p:spPr>
        <p:txBody>
          <a:bodyPr>
            <a:normAutofit/>
          </a:bodyPr>
          <a:lstStyle/>
          <a:p>
            <a:r>
              <a:rPr lang="en-US" sz="2400" dirty="0"/>
              <a:t>X-ray crystallography</a:t>
            </a:r>
          </a:p>
          <a:p>
            <a:pPr lvl="1"/>
            <a:r>
              <a:rPr lang="en-US" sz="2000" dirty="0"/>
              <a:t>Requires crystals, which can be hard to make</a:t>
            </a:r>
          </a:p>
          <a:p>
            <a:pPr lvl="1"/>
            <a:r>
              <a:rPr lang="en-US" sz="2000" dirty="0"/>
              <a:t>Can handle very large proteins and complexes (e.g., ribosome)</a:t>
            </a:r>
          </a:p>
          <a:p>
            <a:pPr lvl="1"/>
            <a:r>
              <a:rPr lang="en-US" sz="2000" dirty="0"/>
              <a:t>Provides a “flash picture” with little or no data about motions</a:t>
            </a:r>
          </a:p>
          <a:p>
            <a:pPr lvl="1"/>
            <a:r>
              <a:rPr lang="en-US" sz="2000" dirty="0"/>
              <a:t>Can include packing artifacts from crystallization</a:t>
            </a:r>
          </a:p>
          <a:p>
            <a:endParaRPr lang="en-US" sz="2400" dirty="0"/>
          </a:p>
          <a:p>
            <a:r>
              <a:rPr lang="en-US" sz="2400" dirty="0"/>
              <a:t>NMR (Nuclear Magnetic Resonance)</a:t>
            </a:r>
          </a:p>
          <a:p>
            <a:pPr lvl="1"/>
            <a:r>
              <a:rPr lang="en-US" sz="2000" dirty="0"/>
              <a:t>Requires highly concentrated, protein solutions</a:t>
            </a:r>
          </a:p>
          <a:p>
            <a:pPr lvl="1"/>
            <a:r>
              <a:rPr lang="en-US" sz="2000" dirty="0"/>
              <a:t>Limited to relatively small proteins (&lt;30 </a:t>
            </a:r>
            <a:r>
              <a:rPr lang="en-US" sz="2000" dirty="0" err="1"/>
              <a:t>kDa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Sensitive to molecular motions</a:t>
            </a:r>
          </a:p>
          <a:p>
            <a:pPr lvl="1"/>
            <a:r>
              <a:rPr lang="en-US" sz="2000" dirty="0"/>
              <a:t>High protein concentrations may induce non-biological binding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9B700-391A-446A-AC53-7BB684CB590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0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05"/>
    </mc:Choice>
    <mc:Fallback xmlns="">
      <p:transition spd="slow" advTm="12210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C44B86-B168-46BA-9CD2-465F11A68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>
                <a:solidFill>
                  <a:srgbClr val="990000"/>
                </a:solidFill>
              </a:rPr>
              <a:t>Computational methods for Protein Structure Prediction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6A9F60B-0E77-4E93-B624-F292D0765A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6073" y="1620983"/>
            <a:ext cx="10293927" cy="4752108"/>
          </a:xfrm>
        </p:spPr>
        <p:txBody>
          <a:bodyPr/>
          <a:lstStyle/>
          <a:p>
            <a:endParaRPr lang="en-GB" alt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800" dirty="0"/>
              <a:t>Homology or Comparative Modelling</a:t>
            </a:r>
          </a:p>
          <a:p>
            <a:pPr>
              <a:buFont typeface="Wingdings" panose="05000000000000000000" pitchFamily="2" charset="2"/>
              <a:buChar char="q"/>
            </a:pPr>
            <a:endParaRPr lang="en-GB" alt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800" dirty="0"/>
              <a:t>Fold Recognition or threading Methods</a:t>
            </a:r>
          </a:p>
          <a:p>
            <a:pPr>
              <a:buFont typeface="Wingdings" panose="05000000000000000000" pitchFamily="2" charset="2"/>
              <a:buChar char="q"/>
            </a:pPr>
            <a:endParaRPr lang="en-GB" alt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800" dirty="0"/>
              <a:t>Ab initio methods that utilize knowledge-based information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GB" alt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800" dirty="0"/>
              <a:t>Ab initio methods without the aid of knowledge-based information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440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5200"/>
    </mc:Choice>
    <mc:Fallback xmlns="">
      <p:transition spd="slow" advTm="5052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970" name="Rectangle 2">
            <a:extLst>
              <a:ext uri="{FF2B5EF4-FFF2-40B4-BE49-F238E27FC236}">
                <a16:creationId xmlns:a16="http://schemas.microsoft.com/office/drawing/2014/main" id="{142A55DD-3C70-44FA-814E-58FEBB09C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2983" y="277814"/>
            <a:ext cx="10972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Protein structure prediction</a:t>
            </a:r>
          </a:p>
        </p:txBody>
      </p:sp>
      <p:sp>
        <p:nvSpPr>
          <p:cNvPr id="1235971" name="Rectangle 3">
            <a:extLst>
              <a:ext uri="{FF2B5EF4-FFF2-40B4-BE49-F238E27FC236}">
                <a16:creationId xmlns:a16="http://schemas.microsoft.com/office/drawing/2014/main" id="{5F070CEB-C625-4150-932D-A0F8C0D7E5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13092" y="1811216"/>
            <a:ext cx="5384800" cy="452596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800" dirty="0"/>
              <a:t>Programs can predict secondary structure information with 70% accuracy</a:t>
            </a:r>
          </a:p>
          <a:p>
            <a:pPr eaLnBrk="1" hangingPunct="1">
              <a:defRPr/>
            </a:pPr>
            <a:r>
              <a:rPr lang="en-US" altLang="en-US" sz="2800" dirty="0"/>
              <a:t>Homology modeling - prediction of ‘target structure from closely related ‘template’ structure</a:t>
            </a:r>
          </a:p>
        </p:txBody>
      </p:sp>
      <p:pic>
        <p:nvPicPr>
          <p:cNvPr id="31749" name="Picture 5" descr=" ">
            <a:hlinkClick r:id="rId2"/>
            <a:extLst>
              <a:ext uri="{FF2B5EF4-FFF2-40B4-BE49-F238E27FC236}">
                <a16:creationId xmlns:a16="http://schemas.microsoft.com/office/drawing/2014/main" id="{9AB88589-D8FE-4CB2-BC82-76CB84D25843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0"/>
          <a:stretch>
            <a:fillRect/>
          </a:stretch>
        </p:blipFill>
        <p:spPr>
          <a:xfrm>
            <a:off x="7335838" y="3557588"/>
            <a:ext cx="2259012" cy="2589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0" name="Picture 10">
            <a:extLst>
              <a:ext uri="{FF2B5EF4-FFF2-40B4-BE49-F238E27FC236}">
                <a16:creationId xmlns:a16="http://schemas.microsoft.com/office/drawing/2014/main" id="{457976F4-F2EA-4FA8-8BD7-28C631A368B6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40" t="32269" r="29388" b="40337"/>
          <a:stretch>
            <a:fillRect/>
          </a:stretch>
        </p:blipFill>
        <p:spPr>
          <a:xfrm>
            <a:off x="6702425" y="1323975"/>
            <a:ext cx="3543300" cy="2070100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110B6D-CD82-4C6B-88A4-8BD3A8A6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417D46-D87C-44F6-95F1-B3A5061A2F6E}" type="slidenum">
              <a:rPr lang="en-US" altLang="en-US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79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55"/>
    </mc:Choice>
    <mc:Fallback xmlns="">
      <p:transition spd="slow" advTm="7775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442" name="Rectangle 2">
            <a:extLst>
              <a:ext uri="{FF2B5EF4-FFF2-40B4-BE49-F238E27FC236}">
                <a16:creationId xmlns:a16="http://schemas.microsoft.com/office/drawing/2014/main" id="{84B83DCC-607A-4ECE-999F-1ADE31EE7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Comparing proteins</a:t>
            </a:r>
          </a:p>
        </p:txBody>
      </p:sp>
      <p:sp>
        <p:nvSpPr>
          <p:cNvPr id="1213443" name="Rectangle 3">
            <a:extLst>
              <a:ext uri="{FF2B5EF4-FFF2-40B4-BE49-F238E27FC236}">
                <a16:creationId xmlns:a16="http://schemas.microsoft.com/office/drawing/2014/main" id="{7D0115A7-FD66-4093-B113-B6E3ED402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2218" y="1163783"/>
            <a:ext cx="10571018" cy="521189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altLang="en-US" sz="2800" dirty="0"/>
              <a:t>Amino acid sequence of protein generated from proteomics experiment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altLang="en-US" sz="2800" dirty="0"/>
              <a:t>e.g., protein fragment   DTIKDLLPNVCAFPMEKGPCQTYMTRWFFNFETGECELFAYGGCGGNSNNFLRKEKCEKFCKFT</a:t>
            </a:r>
          </a:p>
          <a:p>
            <a:pPr lvl="1" eaLnBrk="1" hangingPunct="1">
              <a:lnSpc>
                <a:spcPct val="10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100000"/>
              </a:lnSpc>
              <a:defRPr/>
            </a:pPr>
            <a:r>
              <a:rPr lang="en-US" altLang="en-US" sz="2800" dirty="0"/>
              <a:t>Amino-acids of two sequences can be aligned and we can easily count the number of identical residues (or use an index of similarity) to find the % similarity.</a:t>
            </a:r>
          </a:p>
          <a:p>
            <a:pPr eaLnBrk="1" hangingPunct="1">
              <a:lnSpc>
                <a:spcPct val="10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100000"/>
              </a:lnSpc>
              <a:defRPr/>
            </a:pPr>
            <a:r>
              <a:rPr lang="en-US" altLang="en-US" sz="2800" dirty="0"/>
              <a:t>Proteins structures can be compared by superimposition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9310A-7145-44A5-AB88-34806C9A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604506-FC6E-44E5-871E-5269F0DB9C08}" type="slidenum">
              <a:rPr lang="en-US" altLang="en-US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836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008"/>
    </mc:Choice>
    <mc:Fallback xmlns="">
      <p:transition spd="slow" advTm="9700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463AD36-2DB3-4355-A679-80FABF0F8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>
                <a:solidFill>
                  <a:srgbClr val="990000"/>
                </a:solidFill>
              </a:rPr>
              <a:t>Why do we need computational approaches?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3F6C752-6399-4DF0-85B4-9AD03FC42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1678" y="1108366"/>
            <a:ext cx="10178322" cy="380013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q"/>
            </a:pPr>
            <a:r>
              <a:rPr lang="en-GB" altLang="en-US" dirty="0"/>
              <a:t>The goal of research in the area of structural genomics is to provide the means to characterize and identify the large number of protein sequences that are being discovered</a:t>
            </a:r>
          </a:p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q"/>
            </a:pPr>
            <a:endParaRPr lang="fi-FI" altLang="en-US" dirty="0"/>
          </a:p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q"/>
            </a:pPr>
            <a:r>
              <a:rPr lang="en-GB" altLang="en-US" dirty="0"/>
              <a:t>Knowledge of the three-dimensional structure</a:t>
            </a:r>
            <a:endParaRPr lang="fi-FI" altLang="en-US" dirty="0"/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fi-FI" altLang="en-US" sz="2000" dirty="0"/>
              <a:t>helps in </a:t>
            </a:r>
            <a:r>
              <a:rPr lang="en-GB" altLang="en-US" sz="2000" dirty="0"/>
              <a:t>the rational design of site-directed mutations </a:t>
            </a:r>
            <a:endParaRPr lang="fi-FI" altLang="en-US" sz="2000" dirty="0"/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en-GB" altLang="en-US" sz="2000" dirty="0"/>
              <a:t>can be of great importance for the design of drugs</a:t>
            </a:r>
            <a:endParaRPr lang="fi-FI" altLang="en-US" sz="2000" dirty="0"/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en-GB" altLang="en-US" sz="2000" dirty="0"/>
              <a:t>greatly enhances our understanding of how proteins function and how they interact with each other</a:t>
            </a:r>
            <a:r>
              <a:rPr lang="fi-FI" altLang="en-US" sz="2000" dirty="0"/>
              <a:t>,</a:t>
            </a:r>
            <a:r>
              <a:rPr lang="en-GB" altLang="en-US" sz="2000" dirty="0"/>
              <a:t> e.g., explain antigenic behaviour, DNA binding specificity, etc</a:t>
            </a:r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</a:pPr>
            <a:endParaRPr lang="en-GB" altLang="en-US" sz="2000" dirty="0"/>
          </a:p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q"/>
            </a:pPr>
            <a:r>
              <a:rPr lang="en-GB" altLang="en-US" dirty="0"/>
              <a:t>Structural information from x-ray crystallographic or NMR results </a:t>
            </a:r>
            <a:endParaRPr lang="fi-FI" altLang="en-US" dirty="0"/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en-GB" altLang="en-US" sz="2000" dirty="0"/>
              <a:t>obtained much more slowly. </a:t>
            </a:r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en-GB" altLang="en-US" sz="2000" dirty="0"/>
              <a:t>techniques involve elaborate technical procedures</a:t>
            </a:r>
            <a:endParaRPr lang="fi-FI" altLang="en-US" sz="2000" dirty="0"/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en-GB" altLang="en-US" sz="2000" dirty="0"/>
              <a:t>many proteins fail to crystallize at all and/or cannot be obtained or dissolved in large enough quantities for NMR measurements</a:t>
            </a:r>
            <a:endParaRPr lang="fi-FI" altLang="en-US" sz="2000" dirty="0"/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Ø"/>
            </a:pPr>
            <a:r>
              <a:rPr lang="en-GB" altLang="en-US" sz="2000" dirty="0"/>
              <a:t>The size of the protein is also a limiting factor for NMR</a:t>
            </a:r>
          </a:p>
          <a:p>
            <a:pPr lvl="1">
              <a:lnSpc>
                <a:spcPct val="80000"/>
              </a:lnSpc>
              <a:buClr>
                <a:schemeClr val="accent1"/>
              </a:buClr>
              <a:buSzTx/>
            </a:pPr>
            <a:endParaRPr lang="en-GB" altLang="en-US" dirty="0"/>
          </a:p>
          <a:p>
            <a:pPr>
              <a:lnSpc>
                <a:spcPct val="80000"/>
              </a:lnSpc>
              <a:buSzTx/>
              <a:buFont typeface="Wingdings" panose="05000000000000000000" pitchFamily="2" charset="2"/>
              <a:buChar char="q"/>
            </a:pPr>
            <a:r>
              <a:rPr lang="en-GB" altLang="en-US" sz="1800" b="1" i="1" dirty="0">
                <a:solidFill>
                  <a:srgbClr val="990000"/>
                </a:solidFill>
              </a:rPr>
              <a:t>With a better computational method this can be done extremely fast.</a:t>
            </a:r>
          </a:p>
        </p:txBody>
      </p:sp>
    </p:spTree>
    <p:extLst>
      <p:ext uri="{BB962C8B-B14F-4D97-AF65-F5344CB8AC3E}">
        <p14:creationId xmlns:p14="http://schemas.microsoft.com/office/powerpoint/2010/main" val="47649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330"/>
    </mc:Choice>
    <mc:Fallback xmlns="">
      <p:transition spd="slow" advTm="16233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686B8C5-DE3D-4593-AC07-7D818526B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i-FI" altLang="en-US" sz="3600">
                <a:solidFill>
                  <a:srgbClr val="990000"/>
                </a:solidFill>
              </a:rPr>
              <a:t>Alignment in Homology Modeling</a:t>
            </a:r>
            <a:endParaRPr lang="en-GB" altLang="en-US" sz="3600">
              <a:solidFill>
                <a:srgbClr val="990000"/>
              </a:solidFill>
            </a:endParaRP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C1F94A0C-28CE-417F-B208-78681E5DC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5236" y="1108358"/>
            <a:ext cx="10404764" cy="4591119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fi-FI" altLang="en-US" sz="2800" dirty="0"/>
              <a:t>Sequence alignment is central technique in homology modeling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fi-FI" altLang="en-US" sz="28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fi-FI" altLang="en-US" sz="2800" dirty="0"/>
              <a:t>Used in determining which areas of the reference proteins are conserved in sequence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fi-FI" altLang="en-US" sz="28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fi-FI" altLang="en-US" sz="2800" dirty="0"/>
              <a:t>Hence suggesting where the reference proteins may also be structurally conserved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fi-FI" altLang="en-US" sz="28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fi-FI" altLang="en-US" sz="2800" dirty="0"/>
              <a:t>After SCRs are found,it is used to establish one to one correspondence between the amino acids of reference proteins and the target in SCRs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fi-FI" altLang="en-US" sz="28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fi-FI" altLang="en-US" sz="2800" dirty="0"/>
              <a:t>Thus providing basis of the transforming of coordinates from the reference to the model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fi-FI" altLang="en-US" sz="2800" dirty="0"/>
              <a:t> </a:t>
            </a: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6679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388"/>
    </mc:Choice>
    <mc:Fallback xmlns="">
      <p:transition spd="slow" advTm="14238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63D3E38-9594-468F-BCCE-A75D95442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685" y="202270"/>
            <a:ext cx="10820400" cy="1492132"/>
          </a:xfrm>
        </p:spPr>
        <p:txBody>
          <a:bodyPr>
            <a:normAutofit fontScale="90000"/>
          </a:bodyPr>
          <a:lstStyle/>
          <a:p>
            <a:r>
              <a:rPr lang="en-GB" altLang="en-US" sz="2500" b="1" dirty="0">
                <a:solidFill>
                  <a:srgbClr val="AB002B"/>
                </a:solidFill>
                <a:latin typeface="Helvetica" panose="020B0604020202020204" pitchFamily="34" charset="0"/>
              </a:rPr>
              <a:t> </a:t>
            </a:r>
            <a:r>
              <a:rPr lang="en-GB" altLang="en-US" sz="3600" dirty="0">
                <a:solidFill>
                  <a:srgbClr val="990000"/>
                </a:solidFill>
              </a:rPr>
              <a:t>Determining Structurally Conserved Regions (SCRs)</a:t>
            </a:r>
            <a:br>
              <a:rPr lang="en-GB" altLang="en-US" sz="3600" dirty="0">
                <a:solidFill>
                  <a:srgbClr val="990000"/>
                </a:solidFill>
              </a:rPr>
            </a:br>
            <a:endParaRPr lang="en-GB" altLang="en-US" sz="3600" dirty="0">
              <a:solidFill>
                <a:srgbClr val="990000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631C194-0B0F-46B7-A327-511962AB4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2945" y="997516"/>
            <a:ext cx="10820400" cy="4945006"/>
          </a:xfrm>
          <a:noFill/>
          <a:ln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33CCCC"/>
                </a:solidFill>
              </a14:hiddenFill>
            </a:ext>
          </a:extLst>
        </p:spPr>
        <p:txBody>
          <a:bodyPr>
            <a:noAutofit/>
          </a:bodyPr>
          <a:lstStyle/>
          <a:p>
            <a:r>
              <a:rPr lang="en-GB" altLang="en-US" sz="2400" dirty="0"/>
              <a:t>When two or more reference protein structures are available</a:t>
            </a:r>
            <a:endParaRPr lang="fi-FI" altLang="en-US" sz="2400" dirty="0"/>
          </a:p>
          <a:p>
            <a:pPr lvl="1"/>
            <a:r>
              <a:rPr lang="fi-FI" altLang="en-US" sz="2200" dirty="0"/>
              <a:t>E</a:t>
            </a:r>
            <a:r>
              <a:rPr lang="en-GB" altLang="en-US" sz="2200" dirty="0"/>
              <a:t>stablish structural guidelines for the family of proteins under consideration </a:t>
            </a:r>
            <a:endParaRPr lang="fi-FI" altLang="en-US" sz="2200" dirty="0"/>
          </a:p>
          <a:p>
            <a:pPr lvl="1"/>
            <a:r>
              <a:rPr lang="fi-FI" altLang="en-US" sz="2200" dirty="0"/>
              <a:t>F</a:t>
            </a:r>
            <a:r>
              <a:rPr lang="en-GB" altLang="en-US" sz="2200" dirty="0" err="1"/>
              <a:t>irst</a:t>
            </a:r>
            <a:r>
              <a:rPr lang="en-GB" altLang="en-US" sz="2200" dirty="0"/>
              <a:t> step in building a model protein by homology is determining what regions are structurally conserved or constant among all the reference proteins </a:t>
            </a:r>
            <a:endParaRPr lang="fi-FI" altLang="en-US" sz="2200" dirty="0"/>
          </a:p>
          <a:p>
            <a:pPr lvl="1"/>
            <a:r>
              <a:rPr lang="fi-FI" altLang="en-US" sz="2200" dirty="0"/>
              <a:t>Target protein is supposed to assume the same conformation in </a:t>
            </a:r>
            <a:r>
              <a:rPr lang="fi-FI" altLang="en-US" sz="2200" dirty="0" err="1"/>
              <a:t>conserved</a:t>
            </a:r>
            <a:r>
              <a:rPr lang="fi-FI" altLang="en-US" sz="2200" dirty="0"/>
              <a:t> </a:t>
            </a:r>
            <a:r>
              <a:rPr lang="fi-FI" altLang="en-US" sz="2200" dirty="0" err="1"/>
              <a:t>regions</a:t>
            </a:r>
            <a:endParaRPr lang="fi-FI" altLang="en-US" sz="2200" dirty="0"/>
          </a:p>
          <a:p>
            <a:endParaRPr lang="fi-FI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i-FI" altLang="en-US" sz="2400" dirty="0"/>
              <a:t>SCRs are region in all proteins of a particular family that are nearly identical in structures.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fi-FI" altLang="en-US" sz="24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i-FI" altLang="en-US" sz="2200" dirty="0"/>
              <a:t>Tend to be at inner cores of the proteins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fi-FI" altLang="en-US" sz="24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fi-FI" altLang="en-US" sz="2200" dirty="0"/>
              <a:t>Usually contains alpha-helices and beta sheets</a:t>
            </a:r>
          </a:p>
          <a:p>
            <a:endParaRPr lang="en-GB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230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714"/>
    </mc:Choice>
    <mc:Fallback xmlns="">
      <p:transition spd="slow" advTm="199714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6" name="Rectangle 4">
            <a:extLst>
              <a:ext uri="{FF2B5EF4-FFF2-40B4-BE49-F238E27FC236}">
                <a16:creationId xmlns:a16="http://schemas.microsoft.com/office/drawing/2014/main" id="{2736FD9D-3EE5-4FCF-9FB3-C1B38AF3B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1678" y="188419"/>
            <a:ext cx="10178322" cy="1492132"/>
          </a:xfrm>
        </p:spPr>
        <p:txBody>
          <a:bodyPr/>
          <a:lstStyle/>
          <a:p>
            <a:pPr algn="ctr"/>
            <a:r>
              <a:rPr lang="en-US" altLang="en-US" dirty="0"/>
              <a:t>Summary</a:t>
            </a:r>
          </a:p>
        </p:txBody>
      </p:sp>
      <p:pic>
        <p:nvPicPr>
          <p:cNvPr id="965637" name="Picture 5">
            <a:extLst>
              <a:ext uri="{FF2B5EF4-FFF2-40B4-BE49-F238E27FC236}">
                <a16:creationId xmlns:a16="http://schemas.microsoft.com/office/drawing/2014/main" id="{3E2D054A-CC99-4AB3-A7B0-52481C202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1177636"/>
            <a:ext cx="7412789" cy="5070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65638" name="Rectangle 6">
            <a:extLst>
              <a:ext uri="{FF2B5EF4-FFF2-40B4-BE49-F238E27FC236}">
                <a16:creationId xmlns:a16="http://schemas.microsoft.com/office/drawing/2014/main" id="{08579632-D2F2-473E-BE0C-B44D3333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6248400"/>
            <a:ext cx="6019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hlinkClick r:id="rId4"/>
              </a:rPr>
              <a:t>http://www.cs.cmu.edu/~cjl/teaching/15872AS05/</a:t>
            </a: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5812572"/>
      </p:ext>
    </p:extLst>
  </p:cSld>
  <p:clrMapOvr>
    <a:masterClrMapping/>
  </p:clrMapOvr>
  <p:transition spd="slow" advTm="10095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642" name="Rectangle 2">
            <a:extLst>
              <a:ext uri="{FF2B5EF4-FFF2-40B4-BE49-F238E27FC236}">
                <a16:creationId xmlns:a16="http://schemas.microsoft.com/office/drawing/2014/main" id="{22CAF3A4-B1EF-4197-8146-4B16153E8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/>
              <a:t>Protein Bioinformatics: Protein sequence analysis</a:t>
            </a:r>
          </a:p>
        </p:txBody>
      </p:sp>
      <p:sp>
        <p:nvSpPr>
          <p:cNvPr id="1264643" name="Rectangle 3">
            <a:extLst>
              <a:ext uri="{FF2B5EF4-FFF2-40B4-BE49-F238E27FC236}">
                <a16:creationId xmlns:a16="http://schemas.microsoft.com/office/drawing/2014/main" id="{975842EB-B40C-4D6D-8E1D-33EB96ECE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1678" y="2286001"/>
            <a:ext cx="10178322" cy="457199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Helps characterize protein sequences </a:t>
            </a:r>
            <a:r>
              <a:rPr lang="en-US" altLang="en-US" sz="2400" i="1" dirty="0"/>
              <a:t>in</a:t>
            </a:r>
            <a:r>
              <a:rPr lang="en-US" altLang="en-US" sz="2400" dirty="0"/>
              <a:t> </a:t>
            </a:r>
            <a:r>
              <a:rPr lang="en-US" altLang="en-US" sz="2400" i="1" dirty="0"/>
              <a:t>silico </a:t>
            </a:r>
            <a:r>
              <a:rPr lang="en-US" altLang="en-US" sz="2400" dirty="0"/>
              <a:t>and allows prediction of protein structure and function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Statistically significant BLAST hits </a:t>
            </a:r>
            <a:r>
              <a:rPr lang="en-US" altLang="en-US" sz="2400" dirty="0">
                <a:solidFill>
                  <a:srgbClr val="FB0713"/>
                </a:solidFill>
              </a:rPr>
              <a:t>usually</a:t>
            </a:r>
            <a:r>
              <a:rPr lang="en-US" altLang="en-US" sz="2400" dirty="0"/>
              <a:t> signifies sequence homology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Homologous sequences may or may not have the same function but would always (very few exceptions) have the same structural fold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/>
              <a:t>Protein sequence analysis allows protein classification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A7F26-982C-43DC-9624-73BE458B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79EC85-DBA1-4B3F-8EAA-73DC869EFACB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30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3918"/>
    </mc:Choice>
    <mc:Fallback xmlns="">
      <p:transition spd="slow" advTm="653918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78" name="Rectangle 2">
            <a:extLst>
              <a:ext uri="{FF2B5EF4-FFF2-40B4-BE49-F238E27FC236}">
                <a16:creationId xmlns:a16="http://schemas.microsoft.com/office/drawing/2014/main" id="{62082CF7-623C-4E72-B60C-5A55FF328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/>
              <a:t>Development of protein sequence databases</a:t>
            </a:r>
          </a:p>
        </p:txBody>
      </p:sp>
      <p:sp>
        <p:nvSpPr>
          <p:cNvPr id="1227779" name="Rectangle 3">
            <a:extLst>
              <a:ext uri="{FF2B5EF4-FFF2-40B4-BE49-F238E27FC236}">
                <a16:creationId xmlns:a16="http://schemas.microsoft.com/office/drawing/2014/main" id="{4381F17E-177D-4931-8B57-BD46172FB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6073" y="1777532"/>
            <a:ext cx="10293927" cy="47267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>
                <a:solidFill>
                  <a:srgbClr val="FB0713"/>
                </a:solidFill>
              </a:rPr>
              <a:t>Atlas of protein sequence and structure</a:t>
            </a:r>
            <a:r>
              <a:rPr lang="en-US" altLang="en-US" sz="2800" dirty="0"/>
              <a:t> – </a:t>
            </a:r>
            <a:r>
              <a:rPr lang="en-US" altLang="en-US" sz="2800" dirty="0" err="1"/>
              <a:t>Dayhoff</a:t>
            </a:r>
            <a:r>
              <a:rPr lang="en-US" altLang="en-US" sz="2800" dirty="0"/>
              <a:t> (1966) first sequence database (pre-bioinformatics). Currently known as Protein Information Resource (PIR)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>
                <a:solidFill>
                  <a:srgbClr val="FB0713"/>
                </a:solidFill>
              </a:rPr>
              <a:t>Protein data bank</a:t>
            </a:r>
            <a:r>
              <a:rPr lang="en-US" altLang="en-US" sz="2800" dirty="0"/>
              <a:t> (PDB) – structural database (1972) remains most widely used database of structures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en-US" sz="2800" dirty="0" err="1">
                <a:solidFill>
                  <a:srgbClr val="FB0713"/>
                </a:solidFill>
              </a:rPr>
              <a:t>UniProt</a:t>
            </a:r>
            <a:r>
              <a:rPr lang="en-US" altLang="en-US" sz="2800" dirty="0"/>
              <a:t> – The United Protein Databases (</a:t>
            </a:r>
            <a:r>
              <a:rPr lang="en-US" altLang="en-US" sz="2800" dirty="0" err="1"/>
              <a:t>UniProt</a:t>
            </a:r>
            <a:r>
              <a:rPr lang="en-US" altLang="en-US" sz="2800" dirty="0"/>
              <a:t>, 2003) is a central database of protein sequence and function created by joining the forces of the SWISS-PROT,  </a:t>
            </a:r>
            <a:r>
              <a:rPr lang="en-US" altLang="en-US" sz="2800" dirty="0" err="1"/>
              <a:t>TrEMBL</a:t>
            </a:r>
            <a:r>
              <a:rPr lang="en-US" altLang="en-US" sz="2800" dirty="0"/>
              <a:t> and PIR protein database activities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E1F1-B6D3-4F67-A2C8-F5FCEEFC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182154-C825-4B6B-A372-B873D6014437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49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866"/>
    </mc:Choice>
    <mc:Fallback xmlns="">
      <p:transition spd="slow" advTm="9886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466" name="Rectangle 2">
            <a:extLst>
              <a:ext uri="{FF2B5EF4-FFF2-40B4-BE49-F238E27FC236}">
                <a16:creationId xmlns:a16="http://schemas.microsoft.com/office/drawing/2014/main" id="{F8567429-3EEF-4E2D-BA32-C3686F21B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Protein sequence alignment</a:t>
            </a:r>
          </a:p>
        </p:txBody>
      </p:sp>
      <p:sp>
        <p:nvSpPr>
          <p:cNvPr id="1214467" name="Rectangle 3">
            <a:extLst>
              <a:ext uri="{FF2B5EF4-FFF2-40B4-BE49-F238E27FC236}">
                <a16:creationId xmlns:a16="http://schemas.microsoft.com/office/drawing/2014/main" id="{81E847DC-2E6D-4596-B1C1-ADFA574DAA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8364" y="1260765"/>
            <a:ext cx="10321636" cy="461882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sz="2400" dirty="0"/>
              <a:t>Pairwise alignment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B0713"/>
                </a:solidFill>
              </a:rPr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B0713"/>
                </a:solidFill>
              </a:rPr>
              <a:t>b</a:t>
            </a:r>
            <a:r>
              <a:rPr lang="en-US" altLang="en-US" sz="2400" dirty="0"/>
              <a:t> a </a:t>
            </a:r>
            <a:r>
              <a:rPr lang="en-US" altLang="en-US" sz="2400" dirty="0">
                <a:solidFill>
                  <a:srgbClr val="FB0713"/>
                </a:solidFill>
              </a:rPr>
              <a:t>c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B0713"/>
                </a:solidFill>
              </a:rPr>
              <a:t>d</a:t>
            </a:r>
            <a:r>
              <a:rPr lang="en-US" altLang="en-US" sz="2400" dirty="0"/>
              <a:t> </a:t>
            </a:r>
          </a:p>
          <a:p>
            <a:pPr lvl="1" eaLnBrk="1" hangingPunct="1">
              <a:defRPr/>
            </a:pPr>
            <a:r>
              <a:rPr lang="en-US" altLang="en-US" sz="2400" dirty="0">
                <a:solidFill>
                  <a:srgbClr val="FB0713"/>
                </a:solidFill>
              </a:rPr>
              <a:t>a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B0713"/>
                </a:solidFill>
              </a:rPr>
              <a:t>b</a:t>
            </a:r>
            <a:r>
              <a:rPr lang="en-US" altLang="en-US" sz="2400" dirty="0"/>
              <a:t> _ </a:t>
            </a:r>
            <a:r>
              <a:rPr lang="en-US" altLang="en-US" sz="2400" dirty="0">
                <a:solidFill>
                  <a:srgbClr val="FB0713"/>
                </a:solidFill>
              </a:rPr>
              <a:t>c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B0713"/>
                </a:solidFill>
              </a:rPr>
              <a:t>d</a:t>
            </a: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Multiple sequence alignment usually provides more information</a:t>
            </a:r>
          </a:p>
          <a:p>
            <a:pPr lvl="1" eaLnBrk="1" hangingPunct="1">
              <a:defRPr/>
            </a:pPr>
            <a:r>
              <a:rPr lang="en-US" altLang="en-US" sz="2400" dirty="0"/>
              <a:t>a </a:t>
            </a:r>
            <a:r>
              <a:rPr lang="en-US" altLang="en-US" sz="2400" dirty="0">
                <a:solidFill>
                  <a:srgbClr val="FB0713"/>
                </a:solidFill>
              </a:rPr>
              <a:t>b</a:t>
            </a:r>
            <a:r>
              <a:rPr lang="en-US" altLang="en-US" sz="2400" dirty="0"/>
              <a:t> a </a:t>
            </a:r>
            <a:r>
              <a:rPr lang="en-US" altLang="en-US" sz="2400" dirty="0">
                <a:solidFill>
                  <a:srgbClr val="FB0713"/>
                </a:solidFill>
              </a:rPr>
              <a:t>c</a:t>
            </a:r>
            <a:r>
              <a:rPr lang="en-US" altLang="en-US" sz="2400" dirty="0"/>
              <a:t> d</a:t>
            </a:r>
          </a:p>
          <a:p>
            <a:pPr lvl="1" eaLnBrk="1" hangingPunct="1">
              <a:defRPr/>
            </a:pPr>
            <a:r>
              <a:rPr lang="en-US" altLang="en-US" sz="2400" dirty="0"/>
              <a:t>a </a:t>
            </a:r>
            <a:r>
              <a:rPr lang="en-US" altLang="en-US" sz="2400" dirty="0">
                <a:solidFill>
                  <a:srgbClr val="FB0713"/>
                </a:solidFill>
              </a:rPr>
              <a:t>b</a:t>
            </a:r>
            <a:r>
              <a:rPr lang="en-US" altLang="en-US" sz="2400" dirty="0"/>
              <a:t> _ </a:t>
            </a:r>
            <a:r>
              <a:rPr lang="en-US" altLang="en-US" sz="2400" dirty="0">
                <a:solidFill>
                  <a:srgbClr val="FB0713"/>
                </a:solidFill>
              </a:rPr>
              <a:t>c</a:t>
            </a:r>
            <a:r>
              <a:rPr lang="en-US" altLang="en-US" sz="2400" dirty="0"/>
              <a:t> d</a:t>
            </a:r>
          </a:p>
          <a:p>
            <a:pPr lvl="1" eaLnBrk="1" hangingPunct="1">
              <a:defRPr/>
            </a:pPr>
            <a:r>
              <a:rPr lang="en-US" altLang="en-US" sz="2400" dirty="0"/>
              <a:t>x </a:t>
            </a:r>
            <a:r>
              <a:rPr lang="en-US" altLang="en-US" sz="2400" dirty="0">
                <a:solidFill>
                  <a:srgbClr val="FB0713"/>
                </a:solidFill>
              </a:rPr>
              <a:t>b</a:t>
            </a:r>
            <a:r>
              <a:rPr lang="en-US" altLang="en-US" sz="2400" dirty="0"/>
              <a:t> a </a:t>
            </a:r>
            <a:r>
              <a:rPr lang="en-US" altLang="en-US" sz="2400" dirty="0">
                <a:solidFill>
                  <a:srgbClr val="FB0713"/>
                </a:solidFill>
              </a:rPr>
              <a:t>c</a:t>
            </a:r>
            <a:r>
              <a:rPr lang="en-US" altLang="en-US" sz="2400" dirty="0"/>
              <a:t> e</a:t>
            </a:r>
          </a:p>
          <a:p>
            <a:pPr eaLnBrk="1" hangingPunct="1">
              <a:defRPr/>
            </a:pPr>
            <a:r>
              <a:rPr lang="en-US" altLang="en-US" sz="2400" dirty="0"/>
              <a:t>Multiple alignment difficult to do for distantly related proteins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7A32-7D99-48FC-A0D5-7CE44B5D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6B384C-0232-4675-9B55-611E0C6F9E1B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186"/>
    </mc:Choice>
    <mc:Fallback xmlns="">
      <p:transition spd="slow" advTm="17218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690" name="Rectangle 2">
            <a:extLst>
              <a:ext uri="{FF2B5EF4-FFF2-40B4-BE49-F238E27FC236}">
                <a16:creationId xmlns:a16="http://schemas.microsoft.com/office/drawing/2014/main" id="{C99AE45E-ADDE-415C-8191-120CE583E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/>
              <a:t>Protein sequence analysis overview</a:t>
            </a:r>
          </a:p>
        </p:txBody>
      </p:sp>
      <p:sp>
        <p:nvSpPr>
          <p:cNvPr id="1266691" name="Rectangle 3">
            <a:extLst>
              <a:ext uri="{FF2B5EF4-FFF2-40B4-BE49-F238E27FC236}">
                <a16:creationId xmlns:a16="http://schemas.microsoft.com/office/drawing/2014/main" id="{D9C0D0C0-9AA4-40C9-BA3C-A14CE8120C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60538" y="1260476"/>
            <a:ext cx="8907462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Protein databases</a:t>
            </a:r>
          </a:p>
          <a:p>
            <a:pPr lvl="1" eaLnBrk="1" hangingPunct="1">
              <a:defRPr/>
            </a:pPr>
            <a:r>
              <a:rPr lang="en-US" altLang="en-US" sz="2400" dirty="0"/>
              <a:t>PIR and </a:t>
            </a:r>
            <a:r>
              <a:rPr lang="en-US" altLang="en-US" sz="2400" dirty="0" err="1"/>
              <a:t>UniProt</a:t>
            </a: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Searching databases</a:t>
            </a:r>
          </a:p>
          <a:p>
            <a:pPr lvl="1" eaLnBrk="1" hangingPunct="1">
              <a:defRPr/>
            </a:pPr>
            <a:r>
              <a:rPr lang="en-US" altLang="en-US" sz="2400" dirty="0"/>
              <a:t>Peptide search, BLAST search, Text search</a:t>
            </a:r>
          </a:p>
          <a:p>
            <a:pPr eaLnBrk="1" hangingPunct="1">
              <a:defRPr/>
            </a:pPr>
            <a:r>
              <a:rPr lang="en-US" altLang="en-US" sz="2400" dirty="0"/>
              <a:t>Information retrieval and analysis</a:t>
            </a:r>
          </a:p>
          <a:p>
            <a:pPr lvl="1" eaLnBrk="1" hangingPunct="1">
              <a:defRPr/>
            </a:pPr>
            <a:r>
              <a:rPr lang="en-US" altLang="en-US" sz="2400" dirty="0"/>
              <a:t>Protein records at </a:t>
            </a:r>
            <a:r>
              <a:rPr lang="en-US" altLang="en-US" sz="2400" dirty="0" err="1"/>
              <a:t>UniProt</a:t>
            </a:r>
            <a:r>
              <a:rPr lang="en-US" altLang="en-US" sz="2400" dirty="0"/>
              <a:t> and PIR</a:t>
            </a:r>
          </a:p>
          <a:p>
            <a:pPr lvl="1" eaLnBrk="1" hangingPunct="1">
              <a:defRPr/>
            </a:pPr>
            <a:r>
              <a:rPr lang="en-US" altLang="en-US" sz="2400" dirty="0"/>
              <a:t>Multiple sequence alignment</a:t>
            </a:r>
          </a:p>
          <a:p>
            <a:pPr lvl="1" eaLnBrk="1" hangingPunct="1">
              <a:defRPr/>
            </a:pPr>
            <a:r>
              <a:rPr lang="en-US" altLang="en-US" sz="2400" dirty="0"/>
              <a:t>Secondary structure prediction</a:t>
            </a:r>
          </a:p>
          <a:p>
            <a:pPr lvl="1" eaLnBrk="1" hangingPunct="1">
              <a:defRPr/>
            </a:pPr>
            <a:r>
              <a:rPr lang="en-US" altLang="en-US" sz="2400" dirty="0"/>
              <a:t>Homology modeling</a:t>
            </a:r>
          </a:p>
          <a:p>
            <a:pPr eaLnBrk="1" hangingPunct="1">
              <a:defRPr/>
            </a:pPr>
            <a:endParaRPr lang="en-US" altLang="en-US" dirty="0">
              <a:solidFill>
                <a:srgbClr val="FFFF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E3C5-91D3-4DEB-9307-3382B44D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392794-DB62-497B-931D-F1695330AEEC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03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444"/>
    </mc:Choice>
    <mc:Fallback xmlns="">
      <p:transition spd="slow" advTm="27944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4|79.4|14.1"/>
</p:tagLst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B2F36"/>
      </a:dk2>
      <a:lt2>
        <a:srgbClr val="F3F3F2"/>
      </a:lt2>
      <a:accent1>
        <a:srgbClr val="A38D51"/>
      </a:accent1>
      <a:accent2>
        <a:srgbClr val="5A3D40"/>
      </a:accent2>
      <a:accent3>
        <a:srgbClr val="5D988C"/>
      </a:accent3>
      <a:accent4>
        <a:srgbClr val="A85752"/>
      </a:accent4>
      <a:accent5>
        <a:srgbClr val="809A67"/>
      </a:accent5>
      <a:accent6>
        <a:srgbClr val="67645A"/>
      </a:accent6>
      <a:hlink>
        <a:srgbClr val="5D988C"/>
      </a:hlink>
      <a:folHlink>
        <a:srgbClr val="8467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9E77EDF1-0821-4215-BD6E-A2D49F0255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85D919DB99A4B9F7C3E2BF41598A2" ma:contentTypeVersion="4" ma:contentTypeDescription="Create a new document." ma:contentTypeScope="" ma:versionID="ba3e817eb67cc8367b8d95e658cff018">
  <xsd:schema xmlns:xsd="http://www.w3.org/2001/XMLSchema" xmlns:xs="http://www.w3.org/2001/XMLSchema" xmlns:p="http://schemas.microsoft.com/office/2006/metadata/properties" xmlns:ns2="5b17cc69-8e44-468c-9cff-e58fbb120827" targetNamespace="http://schemas.microsoft.com/office/2006/metadata/properties" ma:root="true" ma:fieldsID="0a0aea8af201911dadc8767c9b796200" ns2:_="">
    <xsd:import namespace="5b17cc69-8e44-468c-9cff-e58fbb120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7cc69-8e44-468c-9cff-e58fbb120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6FAF51-67F6-4454-9C7E-F343F2891D5B}"/>
</file>

<file path=customXml/itemProps2.xml><?xml version="1.0" encoding="utf-8"?>
<ds:datastoreItem xmlns:ds="http://schemas.openxmlformats.org/officeDocument/2006/customXml" ds:itemID="{EF1EE3E9-7DD6-445C-A3B0-4201C7AA9397}"/>
</file>

<file path=customXml/itemProps3.xml><?xml version="1.0" encoding="utf-8"?>
<ds:datastoreItem xmlns:ds="http://schemas.openxmlformats.org/officeDocument/2006/customXml" ds:itemID="{36A7B892-118A-464A-A66D-6F5ED35FB31D}"/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537</TotalTime>
  <Words>1448</Words>
  <Application>Microsoft Macintosh PowerPoint</Application>
  <PresentationFormat>Widescreen</PresentationFormat>
  <Paragraphs>340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Courier New</vt:lpstr>
      <vt:lpstr>Gill Sans MT</vt:lpstr>
      <vt:lpstr>Helvetica</vt:lpstr>
      <vt:lpstr>Impact</vt:lpstr>
      <vt:lpstr>Symbol</vt:lpstr>
      <vt:lpstr>Times New Roman</vt:lpstr>
      <vt:lpstr>Wingdings</vt:lpstr>
      <vt:lpstr>Badge</vt:lpstr>
      <vt:lpstr>Protein Sequence Analysis - Overview</vt:lpstr>
      <vt:lpstr>Protein Chemistry</vt:lpstr>
      <vt:lpstr>Amino Acids: Symbols and Properties</vt:lpstr>
      <vt:lpstr>Grouping Amino Acids  </vt:lpstr>
      <vt:lpstr>PowerPoint Presentation</vt:lpstr>
      <vt:lpstr>PowerPoint Presentation</vt:lpstr>
      <vt:lpstr>Sequence Analysis</vt:lpstr>
      <vt:lpstr>Protein Sequence</vt:lpstr>
      <vt:lpstr>Chemical Properties of Proteins  </vt:lpstr>
      <vt:lpstr>The Four Levels of Structure</vt:lpstr>
      <vt:lpstr>The Four Levels of Structure</vt:lpstr>
      <vt:lpstr>The Four Levels of Structure</vt:lpstr>
      <vt:lpstr>The Four Levels of Structure</vt:lpstr>
      <vt:lpstr>Levels of Description  </vt:lpstr>
      <vt:lpstr>PowerPoint Presentation</vt:lpstr>
      <vt:lpstr>PowerPoint Presentation</vt:lpstr>
      <vt:lpstr>Proteins – The Machines in You</vt:lpstr>
      <vt:lpstr>Proteins? You mean lentils?</vt:lpstr>
      <vt:lpstr>Many Proteins are Enzymes</vt:lpstr>
      <vt:lpstr>The Genetic Connection</vt:lpstr>
      <vt:lpstr>Important Considerations</vt:lpstr>
      <vt:lpstr>Computational methods for Protein Structure Prediction</vt:lpstr>
      <vt:lpstr>Protein structure prediction</vt:lpstr>
      <vt:lpstr>Comparing proteins</vt:lpstr>
      <vt:lpstr>Why do we need computational approaches?</vt:lpstr>
      <vt:lpstr>Alignment in Homology Modeling</vt:lpstr>
      <vt:lpstr> Determining Structurally Conserved Regions (SCRs) </vt:lpstr>
      <vt:lpstr>Summary</vt:lpstr>
      <vt:lpstr>Protein Bioinformatics: Protein sequence analysis</vt:lpstr>
      <vt:lpstr>Development of protein sequence databases</vt:lpstr>
      <vt:lpstr>Protein sequence alignment</vt:lpstr>
      <vt:lpstr>Protein sequence analysis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Sequence Analysis - Overview</dc:title>
  <dc:creator>Sidra Batool</dc:creator>
  <cp:lastModifiedBy>Jawad Khan</cp:lastModifiedBy>
  <cp:revision>37</cp:revision>
  <dcterms:created xsi:type="dcterms:W3CDTF">2020-04-26T19:36:16Z</dcterms:created>
  <dcterms:modified xsi:type="dcterms:W3CDTF">2021-12-13T04:58:46Z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0x010100F9885D919DB99A4B9F7C3E2BF41598A2</vt:lpwstr>
  </property>
</Properties>
</file>