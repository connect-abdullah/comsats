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Layouts/slideLayout7.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notesSlides/notesSlide7.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tags/tag1.xml" ContentType="application/vnd.openxmlformats-officedocument.presentationml.tag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344" r:id="rId2"/>
    <p:sldId id="267" r:id="rId3"/>
    <p:sldId id="268" r:id="rId4"/>
    <p:sldId id="289" r:id="rId5"/>
    <p:sldId id="345" r:id="rId6"/>
    <p:sldId id="336" r:id="rId7"/>
    <p:sldId id="257" r:id="rId8"/>
    <p:sldId id="364" r:id="rId9"/>
    <p:sldId id="260" r:id="rId10"/>
    <p:sldId id="354" r:id="rId11"/>
    <p:sldId id="259" r:id="rId12"/>
    <p:sldId id="365" r:id="rId13"/>
    <p:sldId id="370" r:id="rId14"/>
    <p:sldId id="293" r:id="rId15"/>
    <p:sldId id="368" r:id="rId16"/>
    <p:sldId id="362" r:id="rId17"/>
    <p:sldId id="263" r:id="rId18"/>
    <p:sldId id="348" r:id="rId19"/>
    <p:sldId id="347" r:id="rId20"/>
    <p:sldId id="361" r:id="rId21"/>
    <p:sldId id="283" r:id="rId22"/>
    <p:sldId id="296" r:id="rId23"/>
    <p:sldId id="297" r:id="rId24"/>
    <p:sldId id="298" r:id="rId25"/>
    <p:sldId id="299" r:id="rId26"/>
    <p:sldId id="30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0" autoAdjust="0"/>
    <p:restoredTop sz="94660"/>
  </p:normalViewPr>
  <p:slideViewPr>
    <p:cSldViewPr snapToGrid="0">
      <p:cViewPr varScale="1">
        <p:scale>
          <a:sx n="91" d="100"/>
          <a:sy n="91" d="100"/>
        </p:scale>
        <p:origin x="8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4F1A1C-FD56-441C-9F12-ED48AD23EDF0}" type="datetimeFigureOut">
              <a:rPr lang="en-US" smtClean="0"/>
              <a:t>9/21/22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4EF0A4-9E7C-4AA4-8A73-AD3E7579C94C}" type="slidenum">
              <a:rPr lang="en-US" smtClean="0"/>
              <a:t>‹#›</a:t>
            </a:fld>
            <a:endParaRPr lang="en-US"/>
          </a:p>
        </p:txBody>
      </p:sp>
    </p:spTree>
    <p:extLst>
      <p:ext uri="{BB962C8B-B14F-4D97-AF65-F5344CB8AC3E}">
        <p14:creationId xmlns:p14="http://schemas.microsoft.com/office/powerpoint/2010/main" val="4036612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639E95E-ECC7-4FC4-BA03-8C081858D660}"/>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91981C71-D485-4191-8B76-D67513FB08B6}"/>
              </a:ext>
            </a:extLst>
          </p:cNvPr>
          <p:cNvSpPr>
            <a:spLocks noGrp="1" noChangeArrowheads="1"/>
          </p:cNvSpPr>
          <p:nvPr>
            <p:ph type="body" idx="1"/>
          </p:nvPr>
        </p:nvSpPr>
        <p:spPr>
          <a:noFill/>
        </p:spPr>
        <p:txBody>
          <a:bodyPr/>
          <a:lstStyle/>
          <a:p>
            <a:endParaRPr lang="en-US" altLang="en-US"/>
          </a:p>
        </p:txBody>
      </p:sp>
      <p:sp>
        <p:nvSpPr>
          <p:cNvPr id="4" name="Slide Number Placeholder 3">
            <a:extLst>
              <a:ext uri="{FF2B5EF4-FFF2-40B4-BE49-F238E27FC236}">
                <a16:creationId xmlns:a16="http://schemas.microsoft.com/office/drawing/2014/main" id="{BE7A60FF-1FB4-47F4-9F6B-F9660ACB75C1}"/>
              </a:ext>
            </a:extLst>
          </p:cNvPr>
          <p:cNvSpPr>
            <a:spLocks noGrp="1"/>
          </p:cNvSpPr>
          <p:nvPr>
            <p:ph type="sldNum" sz="quarter" idx="5"/>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D72F89B2-5F78-4880-A80B-BD3F6479F829}" type="slidenum">
              <a:rPr lang="en-US" altLang="ur-PK">
                <a:latin typeface="Calibri" panose="020F0502020204030204" pitchFamily="34" charset="0"/>
              </a:rPr>
              <a:pPr/>
              <a:t>1</a:t>
            </a:fld>
            <a:endParaRPr lang="en-US" altLang="ur-PK">
              <a:latin typeface="Calibri" panose="020F0502020204030204" pitchFamily="34" charset="0"/>
            </a:endParaRPr>
          </a:p>
        </p:txBody>
      </p:sp>
      <p:sp>
        <p:nvSpPr>
          <p:cNvPr id="5" name="Date Placeholder 4">
            <a:extLst>
              <a:ext uri="{FF2B5EF4-FFF2-40B4-BE49-F238E27FC236}">
                <a16:creationId xmlns:a16="http://schemas.microsoft.com/office/drawing/2014/main" id="{FFBEFC4B-F995-4AA7-A019-6855AB93D555}"/>
              </a:ext>
            </a:extLst>
          </p:cNvPr>
          <p:cNvSpPr>
            <a:spLocks noGrp="1"/>
          </p:cNvSpPr>
          <p:nvPr>
            <p:ph type="dt" sz="quarter" idx="1"/>
          </p:nvPr>
        </p:nvSpPr>
        <p:spPr/>
        <p:txBody>
          <a:bodyPr/>
          <a:lstStyle/>
          <a:p>
            <a:pPr>
              <a:defRPr/>
            </a:pPr>
            <a:fld id="{5056231E-0792-49A8-AAC4-D83724FD5A42}" type="datetime8">
              <a:rPr lang="en-US" smtClean="0"/>
              <a:pPr>
                <a:defRPr/>
              </a:pPr>
              <a:t>9/21/22 10:44 PM</a:t>
            </a:fld>
            <a:endParaRPr lang="en-US" dirty="0"/>
          </a:p>
        </p:txBody>
      </p:sp>
    </p:spTree>
    <p:extLst>
      <p:ext uri="{BB962C8B-B14F-4D97-AF65-F5344CB8AC3E}">
        <p14:creationId xmlns:p14="http://schemas.microsoft.com/office/powerpoint/2010/main" val="3274480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3B28C42-063E-471C-AD25-7915C407ACC6}"/>
              </a:ext>
            </a:extLst>
          </p:cNvPr>
          <p:cNvSpPr>
            <a:spLocks noGrp="1" noChangeArrowheads="1"/>
          </p:cNvSpPr>
          <p:nvPr>
            <p:ph type="sldNum" sz="quarter" idx="5"/>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DAA6F5DC-F427-44C5-9F2E-696F5447D027}" type="slidenum">
              <a:rPr lang="en-US" altLang="ur-PK">
                <a:latin typeface="Calibri" panose="020F0502020204030204" pitchFamily="34" charset="0"/>
              </a:rPr>
              <a:pPr/>
              <a:t>4</a:t>
            </a:fld>
            <a:endParaRPr lang="en-US" altLang="ur-PK">
              <a:latin typeface="Calibri" panose="020F0502020204030204" pitchFamily="34" charset="0"/>
            </a:endParaRPr>
          </a:p>
        </p:txBody>
      </p:sp>
      <p:sp>
        <p:nvSpPr>
          <p:cNvPr id="40963" name="Rectangle 2">
            <a:extLst>
              <a:ext uri="{FF2B5EF4-FFF2-40B4-BE49-F238E27FC236}">
                <a16:creationId xmlns:a16="http://schemas.microsoft.com/office/drawing/2014/main" id="{64C7853C-A386-4C18-956B-2457C877A3A8}"/>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3B7CB279-90F4-4352-9101-BC543C3D663B}"/>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7585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08C4FF-C625-41F3-BB0E-C3446725751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3046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08C4FF-C625-41F3-BB0E-C34467257510}" type="slidenum">
              <a:rPr lang="en-US" smtClean="0"/>
              <a:t>10</a:t>
            </a:fld>
            <a:endParaRPr lang="en-US"/>
          </a:p>
        </p:txBody>
      </p:sp>
    </p:spTree>
    <p:extLst>
      <p:ext uri="{BB962C8B-B14F-4D97-AF65-F5344CB8AC3E}">
        <p14:creationId xmlns:p14="http://schemas.microsoft.com/office/powerpoint/2010/main" val="1496580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5808C4FF-C625-41F3-BB0E-C34467257510}" type="slidenum">
              <a:rPr lang="en-US" smtClean="0"/>
              <a:t>11</a:t>
            </a:fld>
            <a:endParaRPr lang="en-US"/>
          </a:p>
        </p:txBody>
      </p:sp>
    </p:spTree>
    <p:extLst>
      <p:ext uri="{BB962C8B-B14F-4D97-AF65-F5344CB8AC3E}">
        <p14:creationId xmlns:p14="http://schemas.microsoft.com/office/powerpoint/2010/main" val="3082265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image source: http://</a:t>
            </a:r>
            <a:r>
              <a:rPr lang="en-US" sz="1200" kern="1200" baseline="0" dirty="0" err="1">
                <a:solidFill>
                  <a:schemeClr val="tx1"/>
                </a:solidFill>
                <a:effectLst/>
                <a:latin typeface="+mn-lt"/>
                <a:ea typeface="+mn-ea"/>
                <a:cs typeface="+mn-cs"/>
              </a:rPr>
              <a:t>ngbiologyblog.wordpress.com</a:t>
            </a:r>
            <a:r>
              <a:rPr lang="en-US" sz="1200" kern="1200" baseline="0" dirty="0">
                <a:solidFill>
                  <a:schemeClr val="tx1"/>
                </a:solidFill>
                <a:effectLst/>
                <a:latin typeface="+mn-lt"/>
                <a:ea typeface="+mn-ea"/>
                <a:cs typeface="+mn-cs"/>
              </a:rPr>
              <a:t>/</a:t>
            </a:r>
            <a:endParaRPr lang="en-US" dirty="0">
              <a:effectLst/>
            </a:endParaRPr>
          </a:p>
        </p:txBody>
      </p:sp>
      <p:sp>
        <p:nvSpPr>
          <p:cNvPr id="4" name="Slide Number Placeholder 3"/>
          <p:cNvSpPr>
            <a:spLocks noGrp="1"/>
          </p:cNvSpPr>
          <p:nvPr>
            <p:ph type="sldNum" sz="quarter" idx="10"/>
          </p:nvPr>
        </p:nvSpPr>
        <p:spPr/>
        <p:txBody>
          <a:bodyPr/>
          <a:lstStyle/>
          <a:p>
            <a:fld id="{5808C4FF-C625-41F3-BB0E-C34467257510}" type="slidenum">
              <a:rPr lang="en-US" smtClean="0"/>
              <a:t>17</a:t>
            </a:fld>
            <a:endParaRPr lang="en-US"/>
          </a:p>
        </p:txBody>
      </p:sp>
    </p:spTree>
    <p:extLst>
      <p:ext uri="{BB962C8B-B14F-4D97-AF65-F5344CB8AC3E}">
        <p14:creationId xmlns:p14="http://schemas.microsoft.com/office/powerpoint/2010/main" val="2835297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08C4FF-C625-41F3-BB0E-C34467257510}" type="slidenum">
              <a:rPr lang="en-US" smtClean="0"/>
              <a:t>18</a:t>
            </a:fld>
            <a:endParaRPr lang="en-US"/>
          </a:p>
        </p:txBody>
      </p:sp>
    </p:spTree>
    <p:extLst>
      <p:ext uri="{BB962C8B-B14F-4D97-AF65-F5344CB8AC3E}">
        <p14:creationId xmlns:p14="http://schemas.microsoft.com/office/powerpoint/2010/main" val="540923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808C4FF-C625-41F3-BB0E-C34467257510}" type="slidenum">
              <a:rPr lang="en-US" smtClean="0"/>
              <a:t>19</a:t>
            </a:fld>
            <a:endParaRPr lang="en-US"/>
          </a:p>
        </p:txBody>
      </p:sp>
    </p:spTree>
    <p:extLst>
      <p:ext uri="{BB962C8B-B14F-4D97-AF65-F5344CB8AC3E}">
        <p14:creationId xmlns:p14="http://schemas.microsoft.com/office/powerpoint/2010/main" val="579695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808C4FF-C625-41F3-BB0E-C34467257510}" type="slidenum">
              <a:rPr lang="en-US" smtClean="0"/>
              <a:t>20</a:t>
            </a:fld>
            <a:endParaRPr lang="en-US"/>
          </a:p>
        </p:txBody>
      </p:sp>
    </p:spTree>
    <p:extLst>
      <p:ext uri="{BB962C8B-B14F-4D97-AF65-F5344CB8AC3E}">
        <p14:creationId xmlns:p14="http://schemas.microsoft.com/office/powerpoint/2010/main" val="68167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NHGRI</a:t>
            </a:r>
          </a:p>
        </p:txBody>
      </p:sp>
      <p:sp>
        <p:nvSpPr>
          <p:cNvPr id="4" name="Slide Number Placeholder 3"/>
          <p:cNvSpPr>
            <a:spLocks noGrp="1"/>
          </p:cNvSpPr>
          <p:nvPr>
            <p:ph type="sldNum" sz="quarter" idx="10"/>
          </p:nvPr>
        </p:nvSpPr>
        <p:spPr/>
        <p:txBody>
          <a:bodyPr/>
          <a:lstStyle/>
          <a:p>
            <a:fld id="{5808C4FF-C625-41F3-BB0E-C34467257510}" type="slidenum">
              <a:rPr lang="en-US" smtClean="0"/>
              <a:t>21</a:t>
            </a:fld>
            <a:endParaRPr lang="en-US"/>
          </a:p>
        </p:txBody>
      </p:sp>
    </p:spTree>
    <p:extLst>
      <p:ext uri="{BB962C8B-B14F-4D97-AF65-F5344CB8AC3E}">
        <p14:creationId xmlns:p14="http://schemas.microsoft.com/office/powerpoint/2010/main" val="345708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7D6E8-8EFF-4245-92BB-EADCF5844A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B6821-D804-CD42-8220-E15E093931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1AA960-C8B9-984B-8878-103048222C63}"/>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5" name="Footer Placeholder 4">
            <a:extLst>
              <a:ext uri="{FF2B5EF4-FFF2-40B4-BE49-F238E27FC236}">
                <a16:creationId xmlns:a16="http://schemas.microsoft.com/office/drawing/2014/main" id="{4404ACEF-8F61-914C-AE64-0981EE2873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CE016-D43E-2E40-AC5F-7BE30FDE2A28}"/>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428302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53908-688B-C048-81BD-015958F1A0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FF2B74-5BEF-C54C-A98E-5C240D063A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470EF-1EC0-EE42-B06D-0120CACC4020}"/>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5" name="Footer Placeholder 4">
            <a:extLst>
              <a:ext uri="{FF2B5EF4-FFF2-40B4-BE49-F238E27FC236}">
                <a16:creationId xmlns:a16="http://schemas.microsoft.com/office/drawing/2014/main" id="{397462CA-5133-894B-9213-4DFE964E4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DEEF75-F0A9-3D4C-8C3D-74630144B3A1}"/>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187095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5761-6C23-224A-8BA3-37A0AAD503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648140-3C8C-B34D-8970-CCC00B089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6CE5C-21F1-BB45-977C-454B98BC11D3}"/>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5" name="Footer Placeholder 4">
            <a:extLst>
              <a:ext uri="{FF2B5EF4-FFF2-40B4-BE49-F238E27FC236}">
                <a16:creationId xmlns:a16="http://schemas.microsoft.com/office/drawing/2014/main" id="{C1C3BDB9-0DE0-C74F-9DE5-866DE1C2C8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F2668-7981-834E-8680-459671C7BE30}"/>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421948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F9B46-9ADB-5E43-81B8-3EE5488044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1CADB-4F8F-D24E-9096-8DFB5409AE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CCA39C-F506-FE46-8AD3-99E2FBA2F8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4BC630-F447-6F42-978E-503150BD85B2}"/>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6" name="Footer Placeholder 5">
            <a:extLst>
              <a:ext uri="{FF2B5EF4-FFF2-40B4-BE49-F238E27FC236}">
                <a16:creationId xmlns:a16="http://schemas.microsoft.com/office/drawing/2014/main" id="{AF70864B-8D40-1342-8E79-ED9956E394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C61EC6-30A3-5649-8A52-2C400DEEAEE4}"/>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1129106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01D54-43F6-844A-B206-D6A2D88EB3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7A1429-9C6B-9445-9638-260D1EA1DF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772FD1-814A-0C46-A3F0-991B812582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B7A7DF-3790-7141-8990-5930005948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CC55F2-D6B7-3949-9335-E25A461AA3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BBC190-0253-1D4C-8212-0186C7A95CCE}"/>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8" name="Footer Placeholder 7">
            <a:extLst>
              <a:ext uri="{FF2B5EF4-FFF2-40B4-BE49-F238E27FC236}">
                <a16:creationId xmlns:a16="http://schemas.microsoft.com/office/drawing/2014/main" id="{00007540-8689-2149-A7A3-E067EB1D65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C61833-2541-054D-81BE-B493EA007DD4}"/>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907270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EF42D-DF59-1146-A00E-F5C1134CA5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A78376-1235-324C-8092-4B3B7FFC6996}"/>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4" name="Footer Placeholder 3">
            <a:extLst>
              <a:ext uri="{FF2B5EF4-FFF2-40B4-BE49-F238E27FC236}">
                <a16:creationId xmlns:a16="http://schemas.microsoft.com/office/drawing/2014/main" id="{4207F000-8BB9-E04A-BEB6-0A3875BC50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4C82FC-BDCE-B04B-B366-DE5D39C0B474}"/>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957416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183F5A-BC73-F946-AB84-D568E612E109}"/>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3" name="Footer Placeholder 2">
            <a:extLst>
              <a:ext uri="{FF2B5EF4-FFF2-40B4-BE49-F238E27FC236}">
                <a16:creationId xmlns:a16="http://schemas.microsoft.com/office/drawing/2014/main" id="{706BD923-A574-E64B-8653-DAB02338A7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DD1CA-00FF-1E4A-9334-06253E5A0B97}"/>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3300748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B91A-F14B-FB4A-9E5F-30154149B5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6EF82D-3ACB-A345-BE2D-219DAA4861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349538-9AB8-9044-B915-1D2BC8F484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7DB84E-5438-EF41-A872-937DC9F5F577}"/>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6" name="Footer Placeholder 5">
            <a:extLst>
              <a:ext uri="{FF2B5EF4-FFF2-40B4-BE49-F238E27FC236}">
                <a16:creationId xmlns:a16="http://schemas.microsoft.com/office/drawing/2014/main" id="{D7EEB6F9-B0E5-954A-A3C8-9F302173ED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AB0FCC-3348-DC42-87CC-3D50F461F3A8}"/>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2647468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B85A0-12C0-D849-B613-313B0FE461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AA9D6C-9A22-B742-9592-0412D475A7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BD37B1-1F21-344C-A9E3-96DF8605BF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6838F8-C6DB-E64E-92FC-2717966ED8DF}"/>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6" name="Footer Placeholder 5">
            <a:extLst>
              <a:ext uri="{FF2B5EF4-FFF2-40B4-BE49-F238E27FC236}">
                <a16:creationId xmlns:a16="http://schemas.microsoft.com/office/drawing/2014/main" id="{354AC7B2-FC58-1749-9244-9BBFF91930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B2210A-86B2-EC4A-A02B-7D1CF315B8A8}"/>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2561627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5C47-5E04-7740-9A6F-3A573735AF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4072A6-2D05-854B-8339-7AE94939EB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CAFC28-4E81-EC4C-BB1F-778C29B851B2}"/>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5" name="Footer Placeholder 4">
            <a:extLst>
              <a:ext uri="{FF2B5EF4-FFF2-40B4-BE49-F238E27FC236}">
                <a16:creationId xmlns:a16="http://schemas.microsoft.com/office/drawing/2014/main" id="{19CA1AC7-D635-0D47-B7BE-09428696A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365F4-30F5-684B-9AE0-4A180EE195FE}"/>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1620052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890BED-0BE7-524A-B1AC-F79E95ABEF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3FB624-6ADE-5E46-8CCC-9EDE8C4C0B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30776F-A480-7C4E-BAE5-8BAD0C055D1F}"/>
              </a:ext>
            </a:extLst>
          </p:cNvPr>
          <p:cNvSpPr>
            <a:spLocks noGrp="1"/>
          </p:cNvSpPr>
          <p:nvPr>
            <p:ph type="dt" sz="half" idx="10"/>
          </p:nvPr>
        </p:nvSpPr>
        <p:spPr/>
        <p:txBody>
          <a:bodyPr/>
          <a:lstStyle/>
          <a:p>
            <a:fld id="{717EC9A1-B352-49A5-AE6B-6A74E8C4B8D2}" type="datetimeFigureOut">
              <a:rPr lang="en-US" smtClean="0"/>
              <a:t>9/21/22</a:t>
            </a:fld>
            <a:endParaRPr lang="en-US"/>
          </a:p>
        </p:txBody>
      </p:sp>
      <p:sp>
        <p:nvSpPr>
          <p:cNvPr id="5" name="Footer Placeholder 4">
            <a:extLst>
              <a:ext uri="{FF2B5EF4-FFF2-40B4-BE49-F238E27FC236}">
                <a16:creationId xmlns:a16="http://schemas.microsoft.com/office/drawing/2014/main" id="{3FFD42E4-4149-BB44-AE12-465E2327ED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EB123-D6BF-F84A-A27A-B195D53ACEFA}"/>
              </a:ext>
            </a:extLst>
          </p:cNvPr>
          <p:cNvSpPr>
            <a:spLocks noGrp="1"/>
          </p:cNvSpPr>
          <p:nvPr>
            <p:ph type="sldNum" sz="quarter" idx="12"/>
          </p:nvPr>
        </p:nvSpPr>
        <p:spPr/>
        <p:txBody>
          <a:bodyPr/>
          <a:lstStyle/>
          <a:p>
            <a:fld id="{AA9FC5DF-660C-4904-AD17-7CD3D4191D31}" type="slidenum">
              <a:rPr lang="en-US" smtClean="0"/>
              <a:t>‹#›</a:t>
            </a:fld>
            <a:endParaRPr lang="en-US"/>
          </a:p>
        </p:txBody>
      </p:sp>
    </p:spTree>
    <p:extLst>
      <p:ext uri="{BB962C8B-B14F-4D97-AF65-F5344CB8AC3E}">
        <p14:creationId xmlns:p14="http://schemas.microsoft.com/office/powerpoint/2010/main" val="2003817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36B78D-C948-D94E-9085-C245A8F47C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72E1C3-0EBD-0444-A8BD-867472156A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03E977-9C39-D041-BE9D-10B9965768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7EC9A1-B352-49A5-AE6B-6A74E8C4B8D2}" type="datetimeFigureOut">
              <a:rPr lang="en-US" smtClean="0"/>
              <a:t>9/21/22</a:t>
            </a:fld>
            <a:endParaRPr lang="en-US"/>
          </a:p>
        </p:txBody>
      </p:sp>
      <p:sp>
        <p:nvSpPr>
          <p:cNvPr id="5" name="Footer Placeholder 4">
            <a:extLst>
              <a:ext uri="{FF2B5EF4-FFF2-40B4-BE49-F238E27FC236}">
                <a16:creationId xmlns:a16="http://schemas.microsoft.com/office/drawing/2014/main" id="{8CFD8DA8-3452-C046-83BE-A5847E7E52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70D94E-B8AC-4E4C-8362-573BE2C2DE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9FC5DF-660C-4904-AD17-7CD3D4191D31}" type="slidenum">
              <a:rPr lang="en-US" smtClean="0"/>
              <a:t>‹#›</a:t>
            </a:fld>
            <a:endParaRPr lang="en-US"/>
          </a:p>
        </p:txBody>
      </p:sp>
    </p:spTree>
    <p:extLst>
      <p:ext uri="{BB962C8B-B14F-4D97-AF65-F5344CB8AC3E}">
        <p14:creationId xmlns:p14="http://schemas.microsoft.com/office/powerpoint/2010/main" val="33086320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www.ncbi.nlm.nih.gov/gorf/gorf.html"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7" Type="http://schemas.microsoft.com/office/2007/relationships/hdphoto" Target="../media/hdphoto1.wdp"/><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1A24-0D47-4887-AADA-65EF23104B85}"/>
              </a:ext>
            </a:extLst>
          </p:cNvPr>
          <p:cNvSpPr>
            <a:spLocks noGrp="1"/>
          </p:cNvSpPr>
          <p:nvPr>
            <p:ph type="title"/>
          </p:nvPr>
        </p:nvSpPr>
        <p:spPr>
          <a:xfrm>
            <a:off x="838200" y="-72194"/>
            <a:ext cx="10515600" cy="1325563"/>
          </a:xfrm>
        </p:spPr>
        <p:txBody>
          <a:bodyPr/>
          <a:lstStyle/>
          <a:p>
            <a:pPr algn="ctr">
              <a:defRPr/>
            </a:pPr>
            <a:r>
              <a:rPr lang="en-US" b="1" dirty="0">
                <a:latin typeface="Times New Roman" panose="02020603050405020304" pitchFamily="18" charset="0"/>
                <a:cs typeface="Times New Roman" panose="02020603050405020304" pitchFamily="18" charset="0"/>
              </a:rPr>
              <a:t>Anatomy of a Gene</a:t>
            </a:r>
          </a:p>
        </p:txBody>
      </p:sp>
      <p:pic>
        <p:nvPicPr>
          <p:cNvPr id="35843" name="Content Placeholder 5">
            <a:extLst>
              <a:ext uri="{FF2B5EF4-FFF2-40B4-BE49-F238E27FC236}">
                <a16:creationId xmlns:a16="http://schemas.microsoft.com/office/drawing/2014/main" id="{7B4EB9A0-477F-4283-B974-99F320E1C4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85950" y="2611438"/>
            <a:ext cx="8045450" cy="2138362"/>
          </a:xfrm>
        </p:spPr>
      </p:pic>
      <p:sp>
        <p:nvSpPr>
          <p:cNvPr id="5" name="Slide Number Placeholder 4">
            <a:extLst>
              <a:ext uri="{FF2B5EF4-FFF2-40B4-BE49-F238E27FC236}">
                <a16:creationId xmlns:a16="http://schemas.microsoft.com/office/drawing/2014/main" id="{18A7683B-12AE-4C1E-90B4-0ADE0A2933A0}"/>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0AF4EFBF-01E8-47D8-9644-30B309BC86A0}" type="slidenum">
              <a:rPr lang="en-US" altLang="ur-PK">
                <a:solidFill>
                  <a:srgbClr val="595959"/>
                </a:solidFill>
              </a:rPr>
              <a:pPr/>
              <a:t>1</a:t>
            </a:fld>
            <a:endParaRPr lang="en-US" altLang="ur-PK">
              <a:solidFill>
                <a:srgbClr val="595959"/>
              </a:solidFill>
            </a:endParaRPr>
          </a:p>
        </p:txBody>
      </p:sp>
      <p:sp>
        <p:nvSpPr>
          <p:cNvPr id="35846" name="TextBox 6">
            <a:extLst>
              <a:ext uri="{FF2B5EF4-FFF2-40B4-BE49-F238E27FC236}">
                <a16:creationId xmlns:a16="http://schemas.microsoft.com/office/drawing/2014/main" id="{48714712-0291-4E16-BEAD-EEFC2D052F8A}"/>
              </a:ext>
            </a:extLst>
          </p:cNvPr>
          <p:cNvSpPr txBox="1">
            <a:spLocks noChangeArrowheads="1"/>
          </p:cNvSpPr>
          <p:nvPr/>
        </p:nvSpPr>
        <p:spPr bwMode="auto">
          <a:xfrm>
            <a:off x="1646238" y="1674814"/>
            <a:ext cx="1789112" cy="814387"/>
          </a:xfrm>
          <a:prstGeom prst="rect">
            <a:avLst/>
          </a:prstGeom>
          <a:solidFill>
            <a:srgbClr val="FFCC66"/>
          </a:solidFill>
          <a:ln w="38100">
            <a:solidFill>
              <a:srgbClr val="FF9933"/>
            </a:solidFill>
            <a:miter lim="800000"/>
            <a:headEnd/>
            <a:tailEnd/>
          </a:ln>
        </p:spPr>
        <p:txBody>
          <a:bodyP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gn="ctr">
              <a:lnSpc>
                <a:spcPct val="100000"/>
              </a:lnSpc>
              <a:spcBef>
                <a:spcPct val="0"/>
              </a:spcBef>
              <a:buClrTx/>
              <a:buFontTx/>
              <a:buNone/>
            </a:pPr>
            <a:r>
              <a:rPr lang="en-US" altLang="en-US" sz="1400" b="1" dirty="0">
                <a:solidFill>
                  <a:srgbClr val="00B050"/>
                </a:solidFill>
              </a:rPr>
              <a:t>Promoter (on/off</a:t>
            </a:r>
            <a:r>
              <a:rPr lang="en-US" altLang="en-US" sz="1400" dirty="0">
                <a:solidFill>
                  <a:srgbClr val="00B050"/>
                </a:solidFill>
              </a:rPr>
              <a:t>)</a:t>
            </a:r>
            <a:endParaRPr lang="en-US" altLang="en-US" sz="1400" b="1" dirty="0">
              <a:solidFill>
                <a:srgbClr val="00B050"/>
              </a:solidFill>
            </a:endParaRPr>
          </a:p>
          <a:p>
            <a:pPr algn="ctr">
              <a:lnSpc>
                <a:spcPct val="100000"/>
              </a:lnSpc>
              <a:spcBef>
                <a:spcPct val="0"/>
              </a:spcBef>
              <a:buClrTx/>
              <a:buFontTx/>
              <a:buNone/>
            </a:pPr>
            <a:r>
              <a:rPr lang="en-US" altLang="en-US" sz="1100" b="1" dirty="0">
                <a:solidFill>
                  <a:schemeClr val="tx1"/>
                </a:solidFill>
              </a:rPr>
              <a:t>enhancer</a:t>
            </a:r>
          </a:p>
          <a:p>
            <a:pPr algn="ctr">
              <a:lnSpc>
                <a:spcPct val="100000"/>
              </a:lnSpc>
              <a:spcBef>
                <a:spcPct val="0"/>
              </a:spcBef>
              <a:buClrTx/>
              <a:buFontTx/>
              <a:buNone/>
            </a:pPr>
            <a:r>
              <a:rPr lang="en-US" altLang="en-US" sz="1100" b="1" dirty="0">
                <a:solidFill>
                  <a:schemeClr val="tx1"/>
                </a:solidFill>
              </a:rPr>
              <a:t> response element</a:t>
            </a:r>
          </a:p>
          <a:p>
            <a:pPr algn="ctr">
              <a:lnSpc>
                <a:spcPct val="100000"/>
              </a:lnSpc>
              <a:spcBef>
                <a:spcPct val="0"/>
              </a:spcBef>
              <a:buClrTx/>
              <a:buFontTx/>
              <a:buNone/>
            </a:pPr>
            <a:r>
              <a:rPr lang="en-US" altLang="en-US" sz="1100" b="1" dirty="0">
                <a:solidFill>
                  <a:schemeClr val="tx1"/>
                </a:solidFill>
              </a:rPr>
              <a:t>TATA Box</a:t>
            </a:r>
          </a:p>
        </p:txBody>
      </p:sp>
      <p:sp>
        <p:nvSpPr>
          <p:cNvPr id="35847" name="TextBox 7">
            <a:extLst>
              <a:ext uri="{FF2B5EF4-FFF2-40B4-BE49-F238E27FC236}">
                <a16:creationId xmlns:a16="http://schemas.microsoft.com/office/drawing/2014/main" id="{7CD458E3-0AE9-43A9-908D-BAADF312A139}"/>
              </a:ext>
            </a:extLst>
          </p:cNvPr>
          <p:cNvSpPr txBox="1">
            <a:spLocks noChangeArrowheads="1"/>
          </p:cNvSpPr>
          <p:nvPr/>
        </p:nvSpPr>
        <p:spPr bwMode="auto">
          <a:xfrm>
            <a:off x="1639888" y="1033463"/>
            <a:ext cx="12954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100" b="1">
                <a:solidFill>
                  <a:schemeClr val="tx1"/>
                </a:solidFill>
              </a:rPr>
              <a:t>5’ Untranslated </a:t>
            </a:r>
          </a:p>
          <a:p>
            <a:pPr>
              <a:lnSpc>
                <a:spcPct val="100000"/>
              </a:lnSpc>
              <a:spcBef>
                <a:spcPct val="0"/>
              </a:spcBef>
              <a:buClrTx/>
              <a:buFontTx/>
              <a:buNone/>
            </a:pPr>
            <a:r>
              <a:rPr lang="en-US" altLang="en-US" sz="1100" b="1">
                <a:solidFill>
                  <a:schemeClr val="tx1"/>
                </a:solidFill>
              </a:rPr>
              <a:t>region (5’UTR)</a:t>
            </a:r>
          </a:p>
        </p:txBody>
      </p:sp>
      <p:cxnSp>
        <p:nvCxnSpPr>
          <p:cNvPr id="35848" name="Straight Arrow Connector 12">
            <a:extLst>
              <a:ext uri="{FF2B5EF4-FFF2-40B4-BE49-F238E27FC236}">
                <a16:creationId xmlns:a16="http://schemas.microsoft.com/office/drawing/2014/main" id="{F57973CA-F87C-49B8-BA82-FDE709AF5520}"/>
              </a:ext>
            </a:extLst>
          </p:cNvPr>
          <p:cNvCxnSpPr>
            <a:cxnSpLocks noChangeShapeType="1"/>
          </p:cNvCxnSpPr>
          <p:nvPr/>
        </p:nvCxnSpPr>
        <p:spPr bwMode="auto">
          <a:xfrm flipH="1">
            <a:off x="1566863" y="1479550"/>
            <a:ext cx="850900" cy="0"/>
          </a:xfrm>
          <a:prstGeom prst="straightConnector1">
            <a:avLst/>
          </a:prstGeom>
          <a:noFill/>
          <a:ln w="28575" algn="ctr">
            <a:solidFill>
              <a:srgbClr val="0000CC"/>
            </a:solidFill>
            <a:round/>
            <a:headEnd/>
            <a:tailEnd type="stealth" w="lg" len="lg"/>
          </a:ln>
          <a:extLst>
            <a:ext uri="{909E8E84-426E-40DD-AFC4-6F175D3DCCD1}">
              <a14:hiddenFill xmlns:a14="http://schemas.microsoft.com/office/drawing/2010/main">
                <a:noFill/>
              </a14:hiddenFill>
            </a:ext>
          </a:extLst>
        </p:spPr>
      </p:cxnSp>
      <p:pic>
        <p:nvPicPr>
          <p:cNvPr id="35849" name="Picture 2">
            <a:extLst>
              <a:ext uri="{FF2B5EF4-FFF2-40B4-BE49-F238E27FC236}">
                <a16:creationId xmlns:a16="http://schemas.microsoft.com/office/drawing/2014/main" id="{3FFCEB3F-4FC9-4C68-969E-9DE5AB4544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763" y="2579688"/>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0" name="Picture 3">
            <a:extLst>
              <a:ext uri="{FF2B5EF4-FFF2-40B4-BE49-F238E27FC236}">
                <a16:creationId xmlns:a16="http://schemas.microsoft.com/office/drawing/2014/main" id="{F1A25A9C-2AF1-40A8-8C76-597D8A82D0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53600" y="2644775"/>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1" name="TextBox 20">
            <a:extLst>
              <a:ext uri="{FF2B5EF4-FFF2-40B4-BE49-F238E27FC236}">
                <a16:creationId xmlns:a16="http://schemas.microsoft.com/office/drawing/2014/main" id="{5450299A-F834-463D-8783-ABBF66497F03}"/>
              </a:ext>
            </a:extLst>
          </p:cNvPr>
          <p:cNvSpPr txBox="1">
            <a:spLocks noChangeArrowheads="1"/>
          </p:cNvSpPr>
          <p:nvPr/>
        </p:nvSpPr>
        <p:spPr bwMode="auto">
          <a:xfrm>
            <a:off x="9291638" y="1247775"/>
            <a:ext cx="1371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gn="r">
              <a:lnSpc>
                <a:spcPct val="100000"/>
              </a:lnSpc>
              <a:spcBef>
                <a:spcPct val="0"/>
              </a:spcBef>
              <a:buClrTx/>
              <a:buFontTx/>
              <a:buNone/>
            </a:pPr>
            <a:r>
              <a:rPr lang="en-US" altLang="en-US" sz="1100" b="1">
                <a:solidFill>
                  <a:schemeClr val="tx1"/>
                </a:solidFill>
              </a:rPr>
              <a:t>3’ Untranslated </a:t>
            </a:r>
          </a:p>
          <a:p>
            <a:pPr algn="r">
              <a:lnSpc>
                <a:spcPct val="100000"/>
              </a:lnSpc>
              <a:spcBef>
                <a:spcPct val="0"/>
              </a:spcBef>
              <a:buClrTx/>
              <a:buFontTx/>
              <a:buNone/>
            </a:pPr>
            <a:r>
              <a:rPr lang="en-US" altLang="en-US" sz="1100" b="1">
                <a:solidFill>
                  <a:schemeClr val="tx1"/>
                </a:solidFill>
              </a:rPr>
              <a:t>region (3’UTR)</a:t>
            </a:r>
          </a:p>
        </p:txBody>
      </p:sp>
      <p:cxnSp>
        <p:nvCxnSpPr>
          <p:cNvPr id="35852" name="Straight Arrow Connector 23">
            <a:extLst>
              <a:ext uri="{FF2B5EF4-FFF2-40B4-BE49-F238E27FC236}">
                <a16:creationId xmlns:a16="http://schemas.microsoft.com/office/drawing/2014/main" id="{35EF7FED-FE7E-42CD-904F-90DBEC8243A8}"/>
              </a:ext>
            </a:extLst>
          </p:cNvPr>
          <p:cNvCxnSpPr>
            <a:cxnSpLocks noChangeShapeType="1"/>
          </p:cNvCxnSpPr>
          <p:nvPr/>
        </p:nvCxnSpPr>
        <p:spPr bwMode="auto">
          <a:xfrm>
            <a:off x="9632950" y="1692275"/>
            <a:ext cx="971550" cy="0"/>
          </a:xfrm>
          <a:prstGeom prst="straightConnector1">
            <a:avLst/>
          </a:prstGeom>
          <a:noFill/>
          <a:ln w="28575" algn="ctr">
            <a:solidFill>
              <a:srgbClr val="0000CC"/>
            </a:solidFill>
            <a:round/>
            <a:headEnd/>
            <a:tailEnd type="stealth" w="lg" len="lg"/>
          </a:ln>
          <a:extLst>
            <a:ext uri="{909E8E84-426E-40DD-AFC4-6F175D3DCCD1}">
              <a14:hiddenFill xmlns:a14="http://schemas.microsoft.com/office/drawing/2010/main">
                <a:noFill/>
              </a14:hiddenFill>
            </a:ext>
          </a:extLst>
        </p:spPr>
      </p:cxnSp>
      <p:sp>
        <p:nvSpPr>
          <p:cNvPr id="35853" name="TextBox 2">
            <a:extLst>
              <a:ext uri="{FF2B5EF4-FFF2-40B4-BE49-F238E27FC236}">
                <a16:creationId xmlns:a16="http://schemas.microsoft.com/office/drawing/2014/main" id="{29618E34-8627-443C-BBAC-353617B4ADC8}"/>
              </a:ext>
            </a:extLst>
          </p:cNvPr>
          <p:cNvSpPr txBox="1">
            <a:spLocks noChangeArrowheads="1"/>
          </p:cNvSpPr>
          <p:nvPr/>
        </p:nvSpPr>
        <p:spPr bwMode="auto">
          <a:xfrm>
            <a:off x="9413875" y="2190750"/>
            <a:ext cx="10604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gn="ctr">
              <a:lnSpc>
                <a:spcPct val="100000"/>
              </a:lnSpc>
              <a:spcBef>
                <a:spcPct val="0"/>
              </a:spcBef>
              <a:buClrTx/>
              <a:buFontTx/>
              <a:buNone/>
            </a:pPr>
            <a:r>
              <a:rPr lang="en-US" altLang="en-US" sz="1100" b="1">
                <a:solidFill>
                  <a:schemeClr val="tx1"/>
                </a:solidFill>
              </a:rPr>
              <a:t>(poly)A signal</a:t>
            </a:r>
          </a:p>
        </p:txBody>
      </p:sp>
      <p:sp>
        <p:nvSpPr>
          <p:cNvPr id="35854" name="TextBox 8">
            <a:extLst>
              <a:ext uri="{FF2B5EF4-FFF2-40B4-BE49-F238E27FC236}">
                <a16:creationId xmlns:a16="http://schemas.microsoft.com/office/drawing/2014/main" id="{DB71101D-2CF3-4C7A-BE24-88ED591B745B}"/>
              </a:ext>
            </a:extLst>
          </p:cNvPr>
          <p:cNvSpPr txBox="1">
            <a:spLocks noChangeArrowheads="1"/>
          </p:cNvSpPr>
          <p:nvPr/>
        </p:nvSpPr>
        <p:spPr bwMode="auto">
          <a:xfrm>
            <a:off x="215152" y="5029201"/>
            <a:ext cx="1113864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2400" dirty="0">
                <a:solidFill>
                  <a:schemeClr val="tx1"/>
                </a:solidFill>
                <a:latin typeface="Times New Roman" panose="02020603050405020304" pitchFamily="18" charset="0"/>
                <a:cs typeface="Times New Roman" panose="02020603050405020304" pitchFamily="18" charset="0"/>
              </a:rPr>
              <a:t>Gene protein coding sequences are not sequential in the chromosome. They are broken up and have to be spliced together at the time the mRNA is transcribed (made). An exon is that part of a gene that codes for a protein and are spliced together, while the introns are the intervening sequences that are chopped out.</a:t>
            </a:r>
          </a:p>
        </p:txBody>
      </p:sp>
      <p:cxnSp>
        <p:nvCxnSpPr>
          <p:cNvPr id="35855" name="Straight Connector 10">
            <a:extLst>
              <a:ext uri="{FF2B5EF4-FFF2-40B4-BE49-F238E27FC236}">
                <a16:creationId xmlns:a16="http://schemas.microsoft.com/office/drawing/2014/main" id="{2004CCD8-E472-473E-B833-2A6F9786481C}"/>
              </a:ext>
            </a:extLst>
          </p:cNvPr>
          <p:cNvCxnSpPr>
            <a:cxnSpLocks noChangeShapeType="1"/>
          </p:cNvCxnSpPr>
          <p:nvPr/>
        </p:nvCxnSpPr>
        <p:spPr bwMode="auto">
          <a:xfrm flipH="1" flipV="1">
            <a:off x="1646239" y="2489200"/>
            <a:ext cx="390525" cy="133350"/>
          </a:xfrm>
          <a:prstGeom prst="line">
            <a:avLst/>
          </a:prstGeom>
          <a:noFill/>
          <a:ln w="25400" algn="ctr">
            <a:solidFill>
              <a:srgbClr val="FF9933"/>
            </a:solidFill>
            <a:round/>
            <a:headEnd/>
            <a:tailEnd/>
          </a:ln>
          <a:extLst>
            <a:ext uri="{909E8E84-426E-40DD-AFC4-6F175D3DCCD1}">
              <a14:hiddenFill xmlns:a14="http://schemas.microsoft.com/office/drawing/2010/main">
                <a:noFill/>
              </a14:hiddenFill>
            </a:ext>
          </a:extLst>
        </p:spPr>
      </p:cxnSp>
      <p:cxnSp>
        <p:nvCxnSpPr>
          <p:cNvPr id="35856" name="Straight Connector 16">
            <a:extLst>
              <a:ext uri="{FF2B5EF4-FFF2-40B4-BE49-F238E27FC236}">
                <a16:creationId xmlns:a16="http://schemas.microsoft.com/office/drawing/2014/main" id="{CAB049CD-4E83-40A8-96CB-2C8DEAC1F1BB}"/>
              </a:ext>
            </a:extLst>
          </p:cNvPr>
          <p:cNvCxnSpPr>
            <a:cxnSpLocks noChangeShapeType="1"/>
          </p:cNvCxnSpPr>
          <p:nvPr/>
        </p:nvCxnSpPr>
        <p:spPr bwMode="auto">
          <a:xfrm flipV="1">
            <a:off x="2417764" y="2489200"/>
            <a:ext cx="1017587" cy="90488"/>
          </a:xfrm>
          <a:prstGeom prst="line">
            <a:avLst/>
          </a:prstGeom>
          <a:noFill/>
          <a:ln w="25400" algn="ctr">
            <a:solidFill>
              <a:srgbClr val="FF9933"/>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924891593"/>
      </p:ext>
    </p:extLst>
  </p:cSld>
  <p:clrMapOvr>
    <a:masterClrMapping/>
  </p:clrMapOvr>
  <mc:AlternateContent xmlns:mc="http://schemas.openxmlformats.org/markup-compatibility/2006" xmlns:p14="http://schemas.microsoft.com/office/powerpoint/2010/main">
    <mc:Choice Requires="p14">
      <p:transition spd="slow" p14:dur="2000" advTm="73868"/>
    </mc:Choice>
    <mc:Fallback xmlns="">
      <p:transition spd="slow" advTm="7386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955A-1E43-459D-A03C-B11000A10B3F}"/>
              </a:ext>
            </a:extLst>
          </p:cNvPr>
          <p:cNvSpPr>
            <a:spLocks noGrp="1"/>
          </p:cNvSpPr>
          <p:nvPr>
            <p:ph type="title"/>
          </p:nvPr>
        </p:nvSpPr>
        <p:spPr>
          <a:xfrm>
            <a:off x="639098" y="629265"/>
            <a:ext cx="5132438" cy="1622322"/>
          </a:xfrm>
        </p:spPr>
        <p:txBody>
          <a:bodyPr>
            <a:normAutofit/>
          </a:bodyPr>
          <a:lstStyle/>
          <a:p>
            <a:pPr>
              <a:defRPr/>
            </a:pPr>
            <a:r>
              <a:rPr lang="en-US" b="1" dirty="0">
                <a:latin typeface="Times New Roman" panose="02020603050405020304" pitchFamily="18" charset="0"/>
                <a:cs typeface="Times New Roman" panose="02020603050405020304" pitchFamily="18" charset="0"/>
              </a:rPr>
              <a:t>The Universal Genetic Code</a:t>
            </a:r>
          </a:p>
        </p:txBody>
      </p:sp>
      <p:sp>
        <p:nvSpPr>
          <p:cNvPr id="6" name="Content Placeholder 5">
            <a:extLst>
              <a:ext uri="{FF2B5EF4-FFF2-40B4-BE49-F238E27FC236}">
                <a16:creationId xmlns:a16="http://schemas.microsoft.com/office/drawing/2014/main" id="{91B83FCC-9C83-48D1-BB26-52AD83FE31D7}"/>
              </a:ext>
            </a:extLst>
          </p:cNvPr>
          <p:cNvSpPr>
            <a:spLocks noGrp="1"/>
          </p:cNvSpPr>
          <p:nvPr>
            <p:ph idx="1"/>
          </p:nvPr>
        </p:nvSpPr>
        <p:spPr>
          <a:xfrm>
            <a:off x="639098" y="2418735"/>
            <a:ext cx="5132439" cy="3811742"/>
          </a:xfrm>
        </p:spPr>
        <p:txBody>
          <a:bodyPr anchor="ctr">
            <a:normAutofit lnSpcReduction="10000"/>
          </a:bodyPr>
          <a:lstStyle/>
          <a:p>
            <a:pPr marL="0" indent="0" algn="l" rtl="0">
              <a:buNone/>
              <a:defRPr/>
            </a:pPr>
            <a:r>
              <a:rPr lang="en-US" dirty="0">
                <a:solidFill>
                  <a:srgbClr val="FFFFFF"/>
                </a:solidFill>
              </a:rPr>
              <a:t>The genetic code is universal in all life forms </a:t>
            </a:r>
          </a:p>
          <a:p>
            <a:pPr marL="0" indent="0" algn="l" rtl="0">
              <a:buNone/>
              <a:defRPr/>
            </a:pPr>
            <a:r>
              <a:rPr lang="en-US" dirty="0">
                <a:solidFill>
                  <a:srgbClr val="FFFFFF"/>
                </a:solidFill>
              </a:rPr>
              <a:t>The genetic code is degenerate.</a:t>
            </a:r>
          </a:p>
          <a:p>
            <a:pPr algn="l" rtl="0">
              <a:defRPr/>
            </a:pPr>
            <a:r>
              <a:rPr lang="en-US" dirty="0">
                <a:solidFill>
                  <a:srgbClr val="FFFFFF"/>
                </a:solidFill>
              </a:rPr>
              <a:t>60 codons for 20 AA</a:t>
            </a:r>
          </a:p>
          <a:p>
            <a:pPr algn="l" rtl="0">
              <a:defRPr/>
            </a:pPr>
            <a:r>
              <a:rPr lang="en-US" dirty="0">
                <a:solidFill>
                  <a:srgbClr val="FFFFFF"/>
                </a:solidFill>
              </a:rPr>
              <a:t>4 special purpose codons</a:t>
            </a:r>
          </a:p>
          <a:p>
            <a:pPr lvl="1" algn="l" rtl="0">
              <a:defRPr/>
            </a:pPr>
            <a:r>
              <a:rPr lang="en-US" dirty="0">
                <a:solidFill>
                  <a:srgbClr val="FFFFFF"/>
                </a:solidFill>
              </a:rPr>
              <a:t>3 are nonsense (stop): UAG, UAA, UGA</a:t>
            </a:r>
          </a:p>
          <a:p>
            <a:pPr lvl="1" algn="l" rtl="0">
              <a:defRPr/>
            </a:pPr>
            <a:r>
              <a:rPr lang="en-US" dirty="0">
                <a:solidFill>
                  <a:srgbClr val="FFFFFF"/>
                </a:solidFill>
              </a:rPr>
              <a:t>AUG is the start codon (occasionally others)</a:t>
            </a:r>
          </a:p>
        </p:txBody>
      </p:sp>
      <p:sp>
        <p:nvSpPr>
          <p:cNvPr id="5" name="Slide Number Placeholder 4">
            <a:extLst>
              <a:ext uri="{FF2B5EF4-FFF2-40B4-BE49-F238E27FC236}">
                <a16:creationId xmlns:a16="http://schemas.microsoft.com/office/drawing/2014/main" id="{38B2D560-5683-422D-BBB9-10A20CDB33D9}"/>
              </a:ext>
            </a:extLst>
          </p:cNvPr>
          <p:cNvSpPr>
            <a:spLocks noGrp="1"/>
          </p:cNvSpPr>
          <p:nvPr>
            <p:ph type="sldNum" sz="quarter" idx="12"/>
          </p:nvPr>
        </p:nvSpPr>
        <p:spPr>
          <a:xfrm>
            <a:off x="10352540" y="295729"/>
            <a:ext cx="838199" cy="767687"/>
          </a:xfrm>
        </p:spPr>
        <p:txBody>
          <a:bodyPr>
            <a:norm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spcAft>
                <a:spcPts val="600"/>
              </a:spcAft>
            </a:pPr>
            <a:fld id="{0A10167B-B804-44E9-8AE5-F8E1C838726E}" type="slidenum">
              <a:rPr lang="en-US" altLang="ur-PK">
                <a:solidFill>
                  <a:srgbClr val="FFFFFF"/>
                </a:solidFill>
              </a:rPr>
              <a:pPr>
                <a:spcAft>
                  <a:spcPts val="600"/>
                </a:spcAft>
              </a:pPr>
              <a:t>2</a:t>
            </a:fld>
            <a:endParaRPr lang="en-US" altLang="ur-PK">
              <a:solidFill>
                <a:srgbClr val="FFFFFF"/>
              </a:solidFill>
            </a:endParaRPr>
          </a:p>
        </p:txBody>
      </p:sp>
      <p:pic>
        <p:nvPicPr>
          <p:cNvPr id="37894" name="Picture 2" descr="A screenshot of a cell phone&#10;&#10;Description automatically generated">
            <a:extLst>
              <a:ext uri="{FF2B5EF4-FFF2-40B4-BE49-F238E27FC236}">
                <a16:creationId xmlns:a16="http://schemas.microsoft.com/office/drawing/2014/main" id="{3AD16589-C674-4963-BE10-D7ED2CE82B4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25438" y="645106"/>
            <a:ext cx="4007503" cy="558536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2367103"/>
      </p:ext>
    </p:extLst>
  </p:cSld>
  <p:clrMapOvr>
    <a:masterClrMapping/>
  </p:clrMapOvr>
  <mc:AlternateContent xmlns:mc="http://schemas.openxmlformats.org/markup-compatibility/2006" xmlns:p14="http://schemas.microsoft.com/office/powerpoint/2010/main">
    <mc:Choice Requires="p14">
      <p:transition spd="slow" p14:dur="2000" advTm="199515"/>
    </mc:Choice>
    <mc:Fallback xmlns="">
      <p:transition spd="slow" advTm="19951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E911E2A4-7BB7-4017-A90A-73861033257A}"/>
              </a:ext>
            </a:extLst>
          </p:cNvPr>
          <p:cNvSpPr txBox="1">
            <a:spLocks noChangeArrowheads="1"/>
          </p:cNvSpPr>
          <p:nvPr/>
        </p:nvSpPr>
        <p:spPr bwMode="auto">
          <a:xfrm>
            <a:off x="1676400" y="3733800"/>
            <a:ext cx="4038600" cy="2586038"/>
          </a:xfrm>
          <a:prstGeom prst="rect">
            <a:avLst/>
          </a:prstGeom>
          <a:solidFill>
            <a:schemeClr val="bg1"/>
          </a:solidFill>
          <a:ln w="9525">
            <a:solidFill>
              <a:schemeClr val="tx1"/>
            </a:solidFill>
            <a:miter lim="800000"/>
            <a:headEnd/>
            <a:tailEnd/>
          </a:ln>
        </p:spPr>
        <p:txBody>
          <a:bodyPr anchor="ct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800">
                <a:solidFill>
                  <a:srgbClr val="000000"/>
                </a:solidFill>
                <a:latin typeface="Courier New" panose="02070309020205020404" pitchFamily="49" charset="0"/>
              </a:rPr>
              <a:t>Frame </a:t>
            </a:r>
          </a:p>
          <a:p>
            <a:pPr>
              <a:lnSpc>
                <a:spcPct val="100000"/>
              </a:lnSpc>
              <a:spcBef>
                <a:spcPct val="0"/>
              </a:spcBef>
              <a:buClrTx/>
              <a:buFontTx/>
              <a:buNone/>
            </a:pPr>
            <a:r>
              <a:rPr lang="en-US" altLang="en-US" sz="1800">
                <a:solidFill>
                  <a:srgbClr val="000000"/>
                </a:solidFill>
                <a:latin typeface="Courier New" panose="02070309020205020404" pitchFamily="49" charset="0"/>
              </a:rPr>
              <a:t>      CAA CTC CGG CCT TGG TA</a:t>
            </a:r>
          </a:p>
          <a:p>
            <a:pPr>
              <a:lnSpc>
                <a:spcPct val="100000"/>
              </a:lnSpc>
              <a:spcBef>
                <a:spcPct val="0"/>
              </a:spcBef>
              <a:buClrTx/>
              <a:buFontTx/>
              <a:buNone/>
            </a:pPr>
            <a:r>
              <a:rPr lang="en-US" altLang="en-US" sz="1800">
                <a:solidFill>
                  <a:srgbClr val="000000"/>
                </a:solidFill>
                <a:latin typeface="Courier New" panose="02070309020205020404" pitchFamily="49" charset="0"/>
              </a:rPr>
              <a:t>  1   His Leu Arg Pro Trp –-</a:t>
            </a:r>
          </a:p>
          <a:p>
            <a:pPr>
              <a:lnSpc>
                <a:spcPct val="100000"/>
              </a:lnSpc>
              <a:spcBef>
                <a:spcPct val="0"/>
              </a:spcBef>
              <a:buClrTx/>
              <a:buFontTx/>
              <a:buNone/>
            </a:pPr>
            <a:endParaRPr lang="en-US" altLang="en-US" sz="1800">
              <a:solidFill>
                <a:srgbClr val="000000"/>
              </a:solidFill>
              <a:latin typeface="Courier New" panose="02070309020205020404" pitchFamily="49" charset="0"/>
            </a:endParaRPr>
          </a:p>
          <a:p>
            <a:pPr>
              <a:lnSpc>
                <a:spcPct val="100000"/>
              </a:lnSpc>
              <a:spcBef>
                <a:spcPct val="0"/>
              </a:spcBef>
              <a:buClrTx/>
              <a:buFontTx/>
              <a:buNone/>
            </a:pPr>
            <a:r>
              <a:rPr lang="en-US" altLang="en-US" sz="1800">
                <a:solidFill>
                  <a:srgbClr val="000000"/>
                </a:solidFill>
                <a:latin typeface="Courier New" panose="02070309020205020404" pitchFamily="49" charset="0"/>
              </a:rPr>
              <a:t>     C AAC TCC GGC CTT GGT A</a:t>
            </a:r>
          </a:p>
          <a:p>
            <a:pPr>
              <a:lnSpc>
                <a:spcPct val="100000"/>
              </a:lnSpc>
              <a:spcBef>
                <a:spcPct val="0"/>
              </a:spcBef>
              <a:buClrTx/>
              <a:buFontTx/>
              <a:buNone/>
            </a:pPr>
            <a:r>
              <a:rPr lang="en-US" altLang="en-US" sz="1800">
                <a:solidFill>
                  <a:srgbClr val="000000"/>
                </a:solidFill>
                <a:latin typeface="Courier New" panose="02070309020205020404" pitchFamily="49" charset="0"/>
              </a:rPr>
              <a:t>  2  - Asn Ser Gly Leu Gly –</a:t>
            </a:r>
          </a:p>
          <a:p>
            <a:pPr>
              <a:lnSpc>
                <a:spcPct val="100000"/>
              </a:lnSpc>
              <a:spcBef>
                <a:spcPct val="0"/>
              </a:spcBef>
              <a:buClrTx/>
              <a:buFontTx/>
              <a:buNone/>
            </a:pPr>
            <a:endParaRPr lang="en-US" altLang="en-US" sz="1800">
              <a:solidFill>
                <a:srgbClr val="000000"/>
              </a:solidFill>
              <a:latin typeface="Courier New" panose="02070309020205020404" pitchFamily="49" charset="0"/>
            </a:endParaRPr>
          </a:p>
          <a:p>
            <a:pPr>
              <a:lnSpc>
                <a:spcPct val="100000"/>
              </a:lnSpc>
              <a:spcBef>
                <a:spcPct val="0"/>
              </a:spcBef>
              <a:buClrTx/>
              <a:buFontTx/>
              <a:buNone/>
            </a:pPr>
            <a:r>
              <a:rPr lang="en-US" altLang="en-US" sz="1800">
                <a:solidFill>
                  <a:srgbClr val="000000"/>
                </a:solidFill>
                <a:latin typeface="Courier New" panose="02070309020205020404" pitchFamily="49" charset="0"/>
              </a:rPr>
              <a:t>     CA ACT CCG GCC TTG GTA</a:t>
            </a:r>
          </a:p>
          <a:p>
            <a:pPr>
              <a:lnSpc>
                <a:spcPct val="100000"/>
              </a:lnSpc>
              <a:spcBef>
                <a:spcPct val="0"/>
              </a:spcBef>
              <a:buClrTx/>
              <a:buFontTx/>
              <a:buNone/>
            </a:pPr>
            <a:r>
              <a:rPr lang="en-US" altLang="en-US" sz="1800">
                <a:solidFill>
                  <a:srgbClr val="000000"/>
                </a:solidFill>
                <a:latin typeface="Courier New" panose="02070309020205020404" pitchFamily="49" charset="0"/>
              </a:rPr>
              <a:t>  3  -- Thr Pro Ala Leu Val</a:t>
            </a:r>
          </a:p>
        </p:txBody>
      </p:sp>
      <p:sp>
        <p:nvSpPr>
          <p:cNvPr id="33806" name="Rectangle 14">
            <a:extLst>
              <a:ext uri="{FF2B5EF4-FFF2-40B4-BE49-F238E27FC236}">
                <a16:creationId xmlns:a16="http://schemas.microsoft.com/office/drawing/2014/main" id="{AAE99945-2409-437F-AFD9-A20941B156AE}"/>
              </a:ext>
            </a:extLst>
          </p:cNvPr>
          <p:cNvSpPr>
            <a:spLocks noGrp="1" noChangeArrowheads="1"/>
          </p:cNvSpPr>
          <p:nvPr>
            <p:ph type="title"/>
          </p:nvPr>
        </p:nvSpPr>
        <p:spPr>
          <a:xfrm>
            <a:off x="2133600" y="406210"/>
            <a:ext cx="7772400" cy="590931"/>
          </a:xfrm>
        </p:spPr>
        <p:txBody>
          <a:bodyPr>
            <a:spAutoFit/>
          </a:bodyPr>
          <a:lstStyle/>
          <a:p>
            <a:pPr>
              <a:defRPr/>
            </a:pPr>
            <a:r>
              <a:rPr lang="en-US" sz="3600" b="1" dirty="0">
                <a:latin typeface="Times New Roman" panose="02020603050405020304" pitchFamily="18" charset="0"/>
                <a:cs typeface="Times New Roman" panose="02020603050405020304" pitchFamily="18" charset="0"/>
              </a:rPr>
              <a:t>The Reading Frame</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7C284B0-A067-4606-9773-87FD945BFCBE}"/>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5AE24F1A-5842-44D1-A340-AD009C2C4572}" type="slidenum">
              <a:rPr lang="en-US" altLang="ur-PK">
                <a:solidFill>
                  <a:srgbClr val="898989"/>
                </a:solidFill>
              </a:rPr>
              <a:pPr/>
              <a:t>3</a:t>
            </a:fld>
            <a:endParaRPr lang="en-US" altLang="ur-PK">
              <a:solidFill>
                <a:srgbClr val="898989"/>
              </a:solidFill>
            </a:endParaRPr>
          </a:p>
        </p:txBody>
      </p:sp>
      <p:sp>
        <p:nvSpPr>
          <p:cNvPr id="38918" name="Text Box 2">
            <a:extLst>
              <a:ext uri="{FF2B5EF4-FFF2-40B4-BE49-F238E27FC236}">
                <a16:creationId xmlns:a16="http://schemas.microsoft.com/office/drawing/2014/main" id="{24BAFFB9-D4DC-4805-97C5-83F8A84910FD}"/>
              </a:ext>
            </a:extLst>
          </p:cNvPr>
          <p:cNvSpPr txBox="1">
            <a:spLocks noChangeArrowheads="1"/>
          </p:cNvSpPr>
          <p:nvPr/>
        </p:nvSpPr>
        <p:spPr bwMode="auto">
          <a:xfrm>
            <a:off x="6096000" y="3733800"/>
            <a:ext cx="4267200" cy="2586038"/>
          </a:xfrm>
          <a:prstGeom prst="rect">
            <a:avLst/>
          </a:prstGeom>
          <a:solidFill>
            <a:schemeClr val="bg1"/>
          </a:solidFill>
          <a:ln w="9525">
            <a:solidFill>
              <a:schemeClr val="tx1"/>
            </a:solidFill>
            <a:miter lim="800000"/>
            <a:headEnd/>
            <a:tailEnd/>
          </a:ln>
        </p:spPr>
        <p:txBody>
          <a:bodyPr anchor="ct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800">
                <a:solidFill>
                  <a:srgbClr val="000000"/>
                </a:solidFill>
                <a:latin typeface="Courier New" panose="02070309020205020404" pitchFamily="49" charset="0"/>
              </a:rPr>
              <a:t>Frame </a:t>
            </a:r>
          </a:p>
          <a:p>
            <a:pPr>
              <a:lnSpc>
                <a:spcPct val="100000"/>
              </a:lnSpc>
              <a:spcBef>
                <a:spcPct val="0"/>
              </a:spcBef>
              <a:buClrTx/>
              <a:buFontTx/>
              <a:buNone/>
            </a:pPr>
            <a:r>
              <a:rPr lang="en-US" altLang="en-US" sz="1800">
                <a:solidFill>
                  <a:srgbClr val="000000"/>
                </a:solidFill>
                <a:latin typeface="Courier New" panose="02070309020205020404" pitchFamily="49" charset="0"/>
              </a:rPr>
              <a:t>     TAC CAA GGC CGG AGT TG</a:t>
            </a:r>
          </a:p>
          <a:p>
            <a:pPr>
              <a:lnSpc>
                <a:spcPct val="100000"/>
              </a:lnSpc>
              <a:spcBef>
                <a:spcPct val="0"/>
              </a:spcBef>
              <a:buClrTx/>
              <a:buFontTx/>
              <a:buNone/>
            </a:pPr>
            <a:r>
              <a:rPr lang="en-US" altLang="en-US" sz="1800">
                <a:solidFill>
                  <a:srgbClr val="000000"/>
                </a:solidFill>
                <a:latin typeface="Courier New" panose="02070309020205020404" pitchFamily="49" charset="0"/>
              </a:rPr>
              <a:t> -1  Tyr Arg Gly Arg Ser –</a:t>
            </a:r>
          </a:p>
          <a:p>
            <a:pPr>
              <a:lnSpc>
                <a:spcPct val="100000"/>
              </a:lnSpc>
              <a:spcBef>
                <a:spcPct val="0"/>
              </a:spcBef>
              <a:buClrTx/>
              <a:buFontTx/>
              <a:buNone/>
            </a:pPr>
            <a:endParaRPr lang="en-US" altLang="en-US" sz="1800">
              <a:solidFill>
                <a:srgbClr val="000000"/>
              </a:solidFill>
              <a:latin typeface="Courier New" panose="02070309020205020404" pitchFamily="49" charset="0"/>
            </a:endParaRPr>
          </a:p>
          <a:p>
            <a:pPr>
              <a:lnSpc>
                <a:spcPct val="100000"/>
              </a:lnSpc>
              <a:spcBef>
                <a:spcPct val="0"/>
              </a:spcBef>
              <a:buClrTx/>
              <a:buFontTx/>
              <a:buNone/>
            </a:pPr>
            <a:r>
              <a:rPr lang="en-US" altLang="en-US" sz="1800">
                <a:solidFill>
                  <a:srgbClr val="000000"/>
                </a:solidFill>
                <a:latin typeface="Courier New" panose="02070309020205020404" pitchFamily="49" charset="0"/>
              </a:rPr>
              <a:t>     T ACC AAG GCC GGA GTT G</a:t>
            </a:r>
          </a:p>
          <a:p>
            <a:pPr>
              <a:lnSpc>
                <a:spcPct val="100000"/>
              </a:lnSpc>
              <a:spcBef>
                <a:spcPct val="0"/>
              </a:spcBef>
              <a:buClrTx/>
              <a:buFontTx/>
              <a:buNone/>
            </a:pPr>
            <a:r>
              <a:rPr lang="en-US" altLang="en-US" sz="1800">
                <a:solidFill>
                  <a:srgbClr val="000000"/>
                </a:solidFill>
                <a:latin typeface="Courier New" panose="02070309020205020404" pitchFamily="49" charset="0"/>
              </a:rPr>
              <a:t> -2  - Thr Lys Ala Gly Asp –</a:t>
            </a:r>
          </a:p>
          <a:p>
            <a:pPr>
              <a:lnSpc>
                <a:spcPct val="100000"/>
              </a:lnSpc>
              <a:spcBef>
                <a:spcPct val="0"/>
              </a:spcBef>
              <a:buClrTx/>
              <a:buFontTx/>
              <a:buNone/>
            </a:pPr>
            <a:endParaRPr lang="en-US" altLang="en-US" sz="1800">
              <a:solidFill>
                <a:srgbClr val="000000"/>
              </a:solidFill>
              <a:latin typeface="Courier New" panose="02070309020205020404" pitchFamily="49" charset="0"/>
            </a:endParaRPr>
          </a:p>
          <a:p>
            <a:pPr>
              <a:lnSpc>
                <a:spcPct val="100000"/>
              </a:lnSpc>
              <a:spcBef>
                <a:spcPct val="0"/>
              </a:spcBef>
              <a:buClrTx/>
              <a:buFontTx/>
              <a:buNone/>
            </a:pPr>
            <a:r>
              <a:rPr lang="en-US" altLang="en-US" sz="1800">
                <a:solidFill>
                  <a:srgbClr val="000000"/>
                </a:solidFill>
                <a:latin typeface="Courier New" panose="02070309020205020404" pitchFamily="49" charset="0"/>
              </a:rPr>
              <a:t>     TA CCA AGG CCG GAG TTG</a:t>
            </a:r>
          </a:p>
          <a:p>
            <a:pPr>
              <a:lnSpc>
                <a:spcPct val="100000"/>
              </a:lnSpc>
              <a:spcBef>
                <a:spcPct val="0"/>
              </a:spcBef>
              <a:buClrTx/>
              <a:buFontTx/>
              <a:buNone/>
            </a:pPr>
            <a:r>
              <a:rPr lang="en-US" altLang="en-US" sz="1800">
                <a:solidFill>
                  <a:srgbClr val="000000"/>
                </a:solidFill>
                <a:latin typeface="Courier New" panose="02070309020205020404" pitchFamily="49" charset="0"/>
              </a:rPr>
              <a:t> -3  -- Pro Arg Pro Glu Leu</a:t>
            </a:r>
          </a:p>
        </p:txBody>
      </p:sp>
      <p:grpSp>
        <p:nvGrpSpPr>
          <p:cNvPr id="38919" name="Group 22">
            <a:extLst>
              <a:ext uri="{FF2B5EF4-FFF2-40B4-BE49-F238E27FC236}">
                <a16:creationId xmlns:a16="http://schemas.microsoft.com/office/drawing/2014/main" id="{FEF1B71B-5A1D-4D08-A02E-3A173C8D1F8C}"/>
              </a:ext>
            </a:extLst>
          </p:cNvPr>
          <p:cNvGrpSpPr>
            <a:grpSpLocks/>
          </p:cNvGrpSpPr>
          <p:nvPr/>
        </p:nvGrpSpPr>
        <p:grpSpPr bwMode="auto">
          <a:xfrm>
            <a:off x="5590839" y="1295400"/>
            <a:ext cx="4759659" cy="1903862"/>
            <a:chOff x="1717285" y="1295400"/>
            <a:chExt cx="4760062" cy="1903862"/>
          </a:xfrm>
        </p:grpSpPr>
        <p:sp>
          <p:nvSpPr>
            <p:cNvPr id="38921" name="TextBox 4">
              <a:extLst>
                <a:ext uri="{FF2B5EF4-FFF2-40B4-BE49-F238E27FC236}">
                  <a16:creationId xmlns:a16="http://schemas.microsoft.com/office/drawing/2014/main" id="{19AB02D8-8933-425E-93E9-5DE0EE256021}"/>
                </a:ext>
              </a:extLst>
            </p:cNvPr>
            <p:cNvSpPr txBox="1">
              <a:spLocks noChangeArrowheads="1"/>
            </p:cNvSpPr>
            <p:nvPr/>
          </p:nvSpPr>
          <p:spPr bwMode="auto">
            <a:xfrm>
              <a:off x="2362200" y="1912203"/>
              <a:ext cx="33556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800">
                  <a:solidFill>
                    <a:srgbClr val="000000"/>
                  </a:solidFill>
                  <a:latin typeface="Courier New" panose="02070309020205020404" pitchFamily="49" charset="0"/>
                </a:rPr>
                <a:t>5’-CAACTCCGGCCTTGGTA-3’</a:t>
              </a:r>
            </a:p>
            <a:p>
              <a:pPr>
                <a:lnSpc>
                  <a:spcPct val="100000"/>
                </a:lnSpc>
                <a:spcBef>
                  <a:spcPct val="0"/>
                </a:spcBef>
                <a:buClrTx/>
                <a:buFontTx/>
                <a:buNone/>
              </a:pPr>
              <a:r>
                <a:rPr lang="en-US" altLang="en-US" sz="1800">
                  <a:solidFill>
                    <a:srgbClr val="000000"/>
                  </a:solidFill>
                  <a:latin typeface="Courier New" panose="02070309020205020404" pitchFamily="49" charset="0"/>
                </a:rPr>
                <a:t>3’-GTTGAGGCCGGAACCAT-5’</a:t>
              </a:r>
              <a:endParaRPr lang="en-US" altLang="en-US" sz="1800">
                <a:solidFill>
                  <a:schemeClr val="tx1"/>
                </a:solidFill>
              </a:endParaRPr>
            </a:p>
          </p:txBody>
        </p:sp>
        <p:cxnSp>
          <p:nvCxnSpPr>
            <p:cNvPr id="7" name="Straight Arrow Connector 6">
              <a:extLst>
                <a:ext uri="{FF2B5EF4-FFF2-40B4-BE49-F238E27FC236}">
                  <a16:creationId xmlns:a16="http://schemas.microsoft.com/office/drawing/2014/main" id="{DBFF7A08-F697-4EB4-A218-70C3DF26CC74}"/>
                </a:ext>
              </a:extLst>
            </p:cNvPr>
            <p:cNvCxnSpPr/>
            <p:nvPr/>
          </p:nvCxnSpPr>
          <p:spPr>
            <a:xfrm>
              <a:off x="3048058" y="1905000"/>
              <a:ext cx="29720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AAB2CC7-934C-462B-94E6-101642E785D1}"/>
                </a:ext>
              </a:extLst>
            </p:cNvPr>
            <p:cNvCxnSpPr/>
            <p:nvPr/>
          </p:nvCxnSpPr>
          <p:spPr>
            <a:xfrm>
              <a:off x="3276677" y="1676400"/>
              <a:ext cx="29720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321F684-F220-4A63-8B8B-005DB09B4C50}"/>
                </a:ext>
              </a:extLst>
            </p:cNvPr>
            <p:cNvCxnSpPr/>
            <p:nvPr/>
          </p:nvCxnSpPr>
          <p:spPr>
            <a:xfrm>
              <a:off x="3505296" y="1447800"/>
              <a:ext cx="29720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925" name="TextBox 8">
              <a:extLst>
                <a:ext uri="{FF2B5EF4-FFF2-40B4-BE49-F238E27FC236}">
                  <a16:creationId xmlns:a16="http://schemas.microsoft.com/office/drawing/2014/main" id="{6DF2FC66-8949-4B7C-9DF0-6FA910048973}"/>
                </a:ext>
              </a:extLst>
            </p:cNvPr>
            <p:cNvSpPr txBox="1">
              <a:spLocks noChangeArrowheads="1"/>
            </p:cNvSpPr>
            <p:nvPr/>
          </p:nvSpPr>
          <p:spPr bwMode="auto">
            <a:xfrm>
              <a:off x="2667000" y="1752600"/>
              <a:ext cx="3893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400">
                  <a:solidFill>
                    <a:schemeClr val="tx1"/>
                  </a:solidFill>
                </a:rPr>
                <a:t>+1</a:t>
              </a:r>
            </a:p>
          </p:txBody>
        </p:sp>
        <p:sp>
          <p:nvSpPr>
            <p:cNvPr id="38926" name="TextBox 13">
              <a:extLst>
                <a:ext uri="{FF2B5EF4-FFF2-40B4-BE49-F238E27FC236}">
                  <a16:creationId xmlns:a16="http://schemas.microsoft.com/office/drawing/2014/main" id="{FCE98F16-9C50-49A7-ACEA-4FC822AF0692}"/>
                </a:ext>
              </a:extLst>
            </p:cNvPr>
            <p:cNvSpPr txBox="1">
              <a:spLocks noChangeArrowheads="1"/>
            </p:cNvSpPr>
            <p:nvPr/>
          </p:nvSpPr>
          <p:spPr bwMode="auto">
            <a:xfrm>
              <a:off x="3124200" y="1295400"/>
              <a:ext cx="3893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400">
                  <a:solidFill>
                    <a:schemeClr val="tx1"/>
                  </a:solidFill>
                </a:rPr>
                <a:t>+3</a:t>
              </a:r>
            </a:p>
          </p:txBody>
        </p:sp>
        <p:sp>
          <p:nvSpPr>
            <p:cNvPr id="38927" name="TextBox 14">
              <a:extLst>
                <a:ext uri="{FF2B5EF4-FFF2-40B4-BE49-F238E27FC236}">
                  <a16:creationId xmlns:a16="http://schemas.microsoft.com/office/drawing/2014/main" id="{2114F36C-8BD7-4F83-A96C-D8DD86D86D3D}"/>
                </a:ext>
              </a:extLst>
            </p:cNvPr>
            <p:cNvSpPr txBox="1">
              <a:spLocks noChangeArrowheads="1"/>
            </p:cNvSpPr>
            <p:nvPr/>
          </p:nvSpPr>
          <p:spPr bwMode="auto">
            <a:xfrm>
              <a:off x="4663216" y="2891485"/>
              <a:ext cx="3443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400" dirty="0">
                  <a:solidFill>
                    <a:schemeClr val="tx1"/>
                  </a:solidFill>
                </a:rPr>
                <a:t>-3</a:t>
              </a:r>
            </a:p>
          </p:txBody>
        </p:sp>
        <p:sp>
          <p:nvSpPr>
            <p:cNvPr id="38928" name="TextBox 15">
              <a:extLst>
                <a:ext uri="{FF2B5EF4-FFF2-40B4-BE49-F238E27FC236}">
                  <a16:creationId xmlns:a16="http://schemas.microsoft.com/office/drawing/2014/main" id="{F387CC04-78ED-4F56-A228-F8AD3489C424}"/>
                </a:ext>
              </a:extLst>
            </p:cNvPr>
            <p:cNvSpPr txBox="1">
              <a:spLocks noChangeArrowheads="1"/>
            </p:cNvSpPr>
            <p:nvPr/>
          </p:nvSpPr>
          <p:spPr bwMode="auto">
            <a:xfrm>
              <a:off x="2895600" y="1524000"/>
              <a:ext cx="3893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400">
                  <a:solidFill>
                    <a:schemeClr val="tx1"/>
                  </a:solidFill>
                </a:rPr>
                <a:t>+2</a:t>
              </a:r>
            </a:p>
          </p:txBody>
        </p:sp>
        <p:sp>
          <p:nvSpPr>
            <p:cNvPr id="38929" name="TextBox 16">
              <a:extLst>
                <a:ext uri="{FF2B5EF4-FFF2-40B4-BE49-F238E27FC236}">
                  <a16:creationId xmlns:a16="http://schemas.microsoft.com/office/drawing/2014/main" id="{26256B64-3519-4C34-98EA-AC1D807CAF6A}"/>
                </a:ext>
              </a:extLst>
            </p:cNvPr>
            <p:cNvSpPr txBox="1">
              <a:spLocks noChangeArrowheads="1"/>
            </p:cNvSpPr>
            <p:nvPr/>
          </p:nvSpPr>
          <p:spPr bwMode="auto">
            <a:xfrm>
              <a:off x="4796269" y="2682217"/>
              <a:ext cx="3443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400" dirty="0">
                  <a:solidFill>
                    <a:schemeClr val="tx1"/>
                  </a:solidFill>
                </a:rPr>
                <a:t>-2</a:t>
              </a:r>
            </a:p>
          </p:txBody>
        </p:sp>
        <p:sp>
          <p:nvSpPr>
            <p:cNvPr id="38930" name="TextBox 17">
              <a:extLst>
                <a:ext uri="{FF2B5EF4-FFF2-40B4-BE49-F238E27FC236}">
                  <a16:creationId xmlns:a16="http://schemas.microsoft.com/office/drawing/2014/main" id="{9E417B08-97A7-43A0-B8AB-84D942EBE2B9}"/>
                </a:ext>
              </a:extLst>
            </p:cNvPr>
            <p:cNvSpPr txBox="1">
              <a:spLocks noChangeArrowheads="1"/>
            </p:cNvSpPr>
            <p:nvPr/>
          </p:nvSpPr>
          <p:spPr bwMode="auto">
            <a:xfrm>
              <a:off x="4968828" y="2448633"/>
              <a:ext cx="3443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1400" dirty="0">
                  <a:solidFill>
                    <a:schemeClr val="tx1"/>
                  </a:solidFill>
                </a:rPr>
                <a:t>-1</a:t>
              </a:r>
            </a:p>
          </p:txBody>
        </p:sp>
        <p:cxnSp>
          <p:nvCxnSpPr>
            <p:cNvPr id="13" name="Straight Arrow Connector 12">
              <a:extLst>
                <a:ext uri="{FF2B5EF4-FFF2-40B4-BE49-F238E27FC236}">
                  <a16:creationId xmlns:a16="http://schemas.microsoft.com/office/drawing/2014/main" id="{F066C1FC-0E5D-42D5-AAE8-E25A49B8F5DF}"/>
                </a:ext>
              </a:extLst>
            </p:cNvPr>
            <p:cNvCxnSpPr/>
            <p:nvPr/>
          </p:nvCxnSpPr>
          <p:spPr>
            <a:xfrm flipH="1">
              <a:off x="2010738" y="2641977"/>
              <a:ext cx="29720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CCB010D-FB31-47E2-865B-C6DA8290B6F9}"/>
                </a:ext>
              </a:extLst>
            </p:cNvPr>
            <p:cNvCxnSpPr/>
            <p:nvPr/>
          </p:nvCxnSpPr>
          <p:spPr>
            <a:xfrm flipH="1">
              <a:off x="1850364" y="2864890"/>
              <a:ext cx="29720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4D3F86A-675A-42F3-9E42-A73A3DA8EEFE}"/>
                </a:ext>
              </a:extLst>
            </p:cNvPr>
            <p:cNvCxnSpPr/>
            <p:nvPr/>
          </p:nvCxnSpPr>
          <p:spPr>
            <a:xfrm flipH="1">
              <a:off x="1717285" y="3074157"/>
              <a:ext cx="29720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38920" name="TextBox 23">
            <a:extLst>
              <a:ext uri="{FF2B5EF4-FFF2-40B4-BE49-F238E27FC236}">
                <a16:creationId xmlns:a16="http://schemas.microsoft.com/office/drawing/2014/main" id="{B6FC6386-0A51-4945-9DE4-E610CC728DCA}"/>
              </a:ext>
            </a:extLst>
          </p:cNvPr>
          <p:cNvSpPr txBox="1">
            <a:spLocks noChangeArrowheads="1"/>
          </p:cNvSpPr>
          <p:nvPr/>
        </p:nvSpPr>
        <p:spPr bwMode="auto">
          <a:xfrm>
            <a:off x="2114550" y="1003301"/>
            <a:ext cx="3657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None/>
            </a:pPr>
            <a:r>
              <a:rPr lang="en-US" altLang="en-US" sz="2400" dirty="0">
                <a:solidFill>
                  <a:schemeClr val="tx1"/>
                </a:solidFill>
                <a:latin typeface="Times New Roman" panose="02020603050405020304" pitchFamily="18" charset="0"/>
                <a:cs typeface="Times New Roman" panose="02020603050405020304" pitchFamily="18" charset="0"/>
              </a:rPr>
              <a:t>6 possible reading frames for codons on DNA / RNA</a:t>
            </a:r>
          </a:p>
          <a:p>
            <a:pPr>
              <a:lnSpc>
                <a:spcPct val="100000"/>
              </a:lnSpc>
              <a:spcBef>
                <a:spcPct val="0"/>
              </a:spcBef>
              <a:buClrTx/>
              <a:buFont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a:lnSpc>
                <a:spcPct val="100000"/>
              </a:lnSpc>
              <a:spcBef>
                <a:spcPct val="0"/>
              </a:spcBef>
              <a:buClrTx/>
              <a:buFontTx/>
              <a:buNone/>
            </a:pPr>
            <a:r>
              <a:rPr lang="en-US" altLang="en-US" sz="2400" dirty="0">
                <a:solidFill>
                  <a:schemeClr val="tx1"/>
                </a:solidFill>
                <a:latin typeface="Times New Roman" panose="02020603050405020304" pitchFamily="18" charset="0"/>
                <a:cs typeface="Times New Roman" panose="02020603050405020304" pitchFamily="18" charset="0"/>
              </a:rPr>
              <a:t>An open reading frame runs from a start to a nonsense codon</a:t>
            </a:r>
          </a:p>
        </p:txBody>
      </p:sp>
    </p:spTree>
    <p:extLst>
      <p:ext uri="{BB962C8B-B14F-4D97-AF65-F5344CB8AC3E}">
        <p14:creationId xmlns:p14="http://schemas.microsoft.com/office/powerpoint/2010/main" val="1496864905"/>
      </p:ext>
    </p:extLst>
  </p:cSld>
  <p:clrMapOvr>
    <a:masterClrMapping/>
  </p:clrMapOvr>
  <mc:AlternateContent xmlns:mc="http://schemas.openxmlformats.org/markup-compatibility/2006" xmlns:p14="http://schemas.microsoft.com/office/powerpoint/2010/main">
    <mc:Choice Requires="p14">
      <p:transition spd="slow" p14:dur="2000" advTm="459152"/>
    </mc:Choice>
    <mc:Fallback xmlns="">
      <p:transition spd="slow" advTm="45915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a:extLst>
              <a:ext uri="{FF2B5EF4-FFF2-40B4-BE49-F238E27FC236}">
                <a16:creationId xmlns:a16="http://schemas.microsoft.com/office/drawing/2014/main" id="{4EE308C6-2746-4DAC-A30C-3FC84FFED87F}"/>
              </a:ext>
            </a:extLst>
          </p:cNvPr>
          <p:cNvSpPr>
            <a:spLocks noGrp="1" noChangeArrowheads="1"/>
          </p:cNvSpPr>
          <p:nvPr>
            <p:ph type="title"/>
          </p:nvPr>
        </p:nvSpPr>
        <p:spPr/>
        <p:txBody>
          <a:bodyPr/>
          <a:lstStyle/>
          <a:p>
            <a:pPr algn="ctr">
              <a:defRPr/>
            </a:pPr>
            <a:r>
              <a:rPr lang="en-US" sz="3600" b="1" dirty="0">
                <a:latin typeface="Times New Roman" panose="02020603050405020304" pitchFamily="18" charset="0"/>
                <a:cs typeface="Times New Roman" panose="02020603050405020304" pitchFamily="18" charset="0"/>
              </a:rPr>
              <a:t>Open Reading Frames (ORFs)</a:t>
            </a:r>
            <a:br>
              <a:rPr lang="en-US" sz="36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http://www.ncbi.nlm.nih.gov/gorf/gorf.html</a:t>
            </a:r>
            <a:r>
              <a:rPr lang="en-US" sz="2800" b="1" dirty="0">
                <a:latin typeface="Times New Roman" panose="02020603050405020304" pitchFamily="18" charset="0"/>
                <a:cs typeface="Times New Roman" panose="02020603050405020304" pitchFamily="18" charset="0"/>
              </a:rPr>
              <a:t> </a:t>
            </a:r>
          </a:p>
        </p:txBody>
      </p:sp>
      <p:sp>
        <p:nvSpPr>
          <p:cNvPr id="6" name="Slide Number Placeholder 5">
            <a:extLst>
              <a:ext uri="{FF2B5EF4-FFF2-40B4-BE49-F238E27FC236}">
                <a16:creationId xmlns:a16="http://schemas.microsoft.com/office/drawing/2014/main" id="{A03E0839-CD90-4EDD-84B9-EAFB23BDF918}"/>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8BCDDC37-2898-4102-AD7D-6F4C3ED8F5AA}" type="slidenum">
              <a:rPr lang="en-US" altLang="ur-PK">
                <a:solidFill>
                  <a:srgbClr val="595959"/>
                </a:solidFill>
              </a:rPr>
              <a:pPr/>
              <a:t>4</a:t>
            </a:fld>
            <a:endParaRPr lang="en-US" altLang="ur-PK">
              <a:solidFill>
                <a:srgbClr val="595959"/>
              </a:solidFill>
            </a:endParaRPr>
          </a:p>
        </p:txBody>
      </p:sp>
      <p:sp>
        <p:nvSpPr>
          <p:cNvPr id="39941" name="Text Box 5">
            <a:extLst>
              <a:ext uri="{FF2B5EF4-FFF2-40B4-BE49-F238E27FC236}">
                <a16:creationId xmlns:a16="http://schemas.microsoft.com/office/drawing/2014/main" id="{24F423B4-3610-470B-8914-6798322EDE15}"/>
              </a:ext>
            </a:extLst>
          </p:cNvPr>
          <p:cNvSpPr txBox="1">
            <a:spLocks noChangeArrowheads="1"/>
          </p:cNvSpPr>
          <p:nvPr/>
        </p:nvSpPr>
        <p:spPr bwMode="auto">
          <a:xfrm>
            <a:off x="1640541" y="2026678"/>
            <a:ext cx="824304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0000"/>
              </a:lnSpc>
              <a:spcBef>
                <a:spcPts val="700"/>
              </a:spcBef>
              <a:buClr>
                <a:schemeClr val="tx2"/>
              </a:buClr>
              <a:buFont typeface="Arial" panose="020B0604020202020204" pitchFamily="34" charset="0"/>
              <a:buChar char="•"/>
              <a:defRPr sz="2000">
                <a:solidFill>
                  <a:srgbClr val="595959"/>
                </a:solidFill>
                <a:latin typeface="Gill Sans MT" panose="020B0502020104020203" pitchFamily="34" charset="0"/>
              </a:defRPr>
            </a:lvl1pPr>
            <a:lvl2pPr marL="742950" indent="-285750">
              <a:lnSpc>
                <a:spcPct val="110000"/>
              </a:lnSpc>
              <a:spcBef>
                <a:spcPts val="700"/>
              </a:spcBef>
              <a:buClr>
                <a:schemeClr val="tx2"/>
              </a:buClr>
              <a:buFont typeface="Gill Sans MT" panose="020B0502020104020203" pitchFamily="34" charset="0"/>
              <a:buChar char="–"/>
              <a:defRPr>
                <a:solidFill>
                  <a:srgbClr val="595959"/>
                </a:solidFill>
                <a:latin typeface="Gill Sans MT" panose="020B0502020104020203" pitchFamily="34" charset="0"/>
              </a:defRPr>
            </a:lvl2pPr>
            <a:lvl3pPr marL="1143000" indent="-228600">
              <a:lnSpc>
                <a:spcPct val="110000"/>
              </a:lnSpc>
              <a:spcBef>
                <a:spcPts val="700"/>
              </a:spcBef>
              <a:buClr>
                <a:schemeClr val="tx2"/>
              </a:buClr>
              <a:buFont typeface="Arial" panose="020B0604020202020204" pitchFamily="34" charset="0"/>
              <a:buChar char="•"/>
              <a:defRPr sz="1600">
                <a:solidFill>
                  <a:srgbClr val="595959"/>
                </a:solidFill>
                <a:latin typeface="Gill Sans MT" panose="020B0502020104020203" pitchFamily="34" charset="0"/>
              </a:defRPr>
            </a:lvl3pPr>
            <a:lvl4pPr marL="1600200" indent="-228600">
              <a:lnSpc>
                <a:spcPct val="110000"/>
              </a:lnSpc>
              <a:spcBef>
                <a:spcPts val="700"/>
              </a:spcBef>
              <a:buClr>
                <a:schemeClr val="tx2"/>
              </a:buClr>
              <a:buFont typeface="Gill Sans MT" panose="020B0502020104020203" pitchFamily="34" charset="0"/>
              <a:buChar char="–"/>
              <a:defRPr sz="1400">
                <a:solidFill>
                  <a:srgbClr val="595959"/>
                </a:solidFill>
                <a:latin typeface="Gill Sans MT" panose="020B0502020104020203" pitchFamily="34" charset="0"/>
              </a:defRPr>
            </a:lvl4pPr>
            <a:lvl5pPr marL="2057400" indent="-228600">
              <a:lnSpc>
                <a:spcPct val="110000"/>
              </a:lnSpc>
              <a:spcBef>
                <a:spcPts val="700"/>
              </a:spcBef>
              <a:buClr>
                <a:schemeClr val="tx2"/>
              </a:buClr>
              <a:buFont typeface="Arial" panose="020B0604020202020204" pitchFamily="34" charset="0"/>
              <a:buChar char="•"/>
              <a:defRPr sz="1400">
                <a:solidFill>
                  <a:srgbClr val="595959"/>
                </a:solidFill>
                <a:latin typeface="Gill Sans MT" panose="020B0502020104020203" pitchFamily="34" charset="0"/>
              </a:defRPr>
            </a:lvl5pPr>
            <a:lvl6pPr marL="25146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6pPr>
            <a:lvl7pPr marL="29718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7pPr>
            <a:lvl8pPr marL="34290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8pPr>
            <a:lvl9pPr marL="3886200" indent="-228600" defTabSz="457200" eaLnBrk="0" fontAlgn="base" hangingPunct="0">
              <a:lnSpc>
                <a:spcPct val="110000"/>
              </a:lnSpc>
              <a:spcBef>
                <a:spcPts val="700"/>
              </a:spcBef>
              <a:spcAft>
                <a:spcPct val="0"/>
              </a:spcAft>
              <a:buClr>
                <a:schemeClr val="tx2"/>
              </a:buClr>
              <a:buFont typeface="Arial" panose="020B0604020202020204" pitchFamily="34" charset="0"/>
              <a:buChar char="•"/>
              <a:defRPr sz="1400">
                <a:solidFill>
                  <a:srgbClr val="595959"/>
                </a:solidFill>
                <a:latin typeface="Gill Sans MT" panose="020B0502020104020203" pitchFamily="34" charset="0"/>
              </a:defRPr>
            </a:lvl9pPr>
          </a:lstStyle>
          <a:p>
            <a:pPr>
              <a:lnSpc>
                <a:spcPct val="100000"/>
              </a:lnSpc>
              <a:spcBef>
                <a:spcPct val="0"/>
              </a:spcBef>
              <a:buClrTx/>
              <a:buFontTx/>
              <a:buChar char="•"/>
            </a:pPr>
            <a:r>
              <a:rPr lang="en-US" altLang="en-US" sz="2800" dirty="0">
                <a:solidFill>
                  <a:schemeClr val="tx1"/>
                </a:solidFill>
                <a:latin typeface="Times New Roman" panose="02020603050405020304" pitchFamily="18" charset="0"/>
                <a:cs typeface="Times New Roman" panose="02020603050405020304" pitchFamily="18" charset="0"/>
              </a:rPr>
              <a:t> The triplet code in a DNA duplex has 6 reading frames</a:t>
            </a:r>
            <a:br>
              <a:rPr lang="en-US" altLang="en-US" sz="2800" dirty="0">
                <a:solidFill>
                  <a:schemeClr val="tx1"/>
                </a:solidFill>
                <a:latin typeface="Times New Roman" panose="02020603050405020304" pitchFamily="18" charset="0"/>
                <a:cs typeface="Times New Roman" panose="02020603050405020304" pitchFamily="18" charset="0"/>
              </a:rPr>
            </a:br>
            <a:r>
              <a:rPr lang="en-US" altLang="en-US" sz="2800" dirty="0">
                <a:solidFill>
                  <a:schemeClr val="tx1"/>
                </a:solidFill>
                <a:latin typeface="Times New Roman" panose="02020603050405020304" pitchFamily="18" charset="0"/>
                <a:cs typeface="Times New Roman" panose="02020603050405020304" pitchFamily="18" charset="0"/>
              </a:rPr>
              <a:t>       3 forward and 3 reverse in the complimentary strand</a:t>
            </a:r>
          </a:p>
          <a:p>
            <a:pPr>
              <a:lnSpc>
                <a:spcPct val="100000"/>
              </a:lnSpc>
              <a:spcBef>
                <a:spcPct val="0"/>
              </a:spcBef>
              <a:buClrTx/>
              <a:buFontTx/>
              <a:buChar char="•"/>
            </a:pPr>
            <a:endParaRPr lang="en-US" altLang="en-US" sz="2800" dirty="0">
              <a:solidFill>
                <a:schemeClr val="tx1"/>
              </a:solidFill>
              <a:latin typeface="Times New Roman" panose="02020603050405020304" pitchFamily="18" charset="0"/>
              <a:cs typeface="Times New Roman" panose="02020603050405020304" pitchFamily="18" charset="0"/>
            </a:endParaRPr>
          </a:p>
          <a:p>
            <a:pPr>
              <a:lnSpc>
                <a:spcPct val="100000"/>
              </a:lnSpc>
              <a:spcBef>
                <a:spcPct val="0"/>
              </a:spcBef>
              <a:buClrTx/>
              <a:buFontTx/>
              <a:buChar char="•"/>
            </a:pPr>
            <a:r>
              <a:rPr lang="en-US" altLang="en-US" sz="2800" dirty="0">
                <a:solidFill>
                  <a:schemeClr val="tx1"/>
                </a:solidFill>
                <a:latin typeface="Times New Roman" panose="02020603050405020304" pitchFamily="18" charset="0"/>
                <a:cs typeface="Times New Roman" panose="02020603050405020304" pitchFamily="18" charset="0"/>
              </a:rPr>
              <a:t> In most organisms the ORF starts with </a:t>
            </a:r>
            <a:r>
              <a:rPr lang="en-US" altLang="en-US" sz="2800" dirty="0" err="1">
                <a:solidFill>
                  <a:srgbClr val="009900"/>
                </a:solidFill>
                <a:latin typeface="Times New Roman" panose="02020603050405020304" pitchFamily="18" charset="0"/>
                <a:cs typeface="Times New Roman" panose="02020603050405020304" pitchFamily="18" charset="0"/>
              </a:rPr>
              <a:t>atg</a:t>
            </a:r>
            <a:r>
              <a:rPr lang="en-US" altLang="en-US" sz="2800" dirty="0">
                <a:solidFill>
                  <a:schemeClr val="tx1"/>
                </a:solidFill>
                <a:latin typeface="Times New Roman" panose="02020603050405020304" pitchFamily="18" charset="0"/>
                <a:cs typeface="Times New Roman" panose="02020603050405020304" pitchFamily="18" charset="0"/>
              </a:rPr>
              <a:t> (Met) ends with a stop codon (</a:t>
            </a:r>
            <a:r>
              <a:rPr lang="en-US" altLang="en-US" sz="2800" dirty="0" err="1">
                <a:solidFill>
                  <a:srgbClr val="FF3300"/>
                </a:solidFill>
                <a:latin typeface="Times New Roman" panose="02020603050405020304" pitchFamily="18" charset="0"/>
                <a:cs typeface="Times New Roman" panose="02020603050405020304" pitchFamily="18" charset="0"/>
              </a:rPr>
              <a:t>taa</a:t>
            </a:r>
            <a:r>
              <a:rPr lang="en-US" altLang="en-US" sz="2800" dirty="0">
                <a:solidFill>
                  <a:srgbClr val="FF3300"/>
                </a:solidFill>
                <a:latin typeface="Times New Roman" panose="02020603050405020304" pitchFamily="18" charset="0"/>
                <a:cs typeface="Times New Roman" panose="02020603050405020304" pitchFamily="18" charset="0"/>
              </a:rPr>
              <a:t>, tag </a:t>
            </a:r>
            <a:r>
              <a:rPr lang="en-US" altLang="en-US" sz="2800" dirty="0">
                <a:solidFill>
                  <a:schemeClr val="tx1"/>
                </a:solidFill>
                <a:latin typeface="Times New Roman" panose="02020603050405020304" pitchFamily="18" charset="0"/>
                <a:cs typeface="Times New Roman" panose="02020603050405020304" pitchFamily="18" charset="0"/>
              </a:rPr>
              <a:t>or</a:t>
            </a:r>
            <a:r>
              <a:rPr lang="en-US" altLang="en-US" sz="2800" dirty="0">
                <a:solidFill>
                  <a:srgbClr val="FF3300"/>
                </a:solidFill>
                <a:latin typeface="Times New Roman" panose="02020603050405020304" pitchFamily="18" charset="0"/>
                <a:cs typeface="Times New Roman" panose="02020603050405020304" pitchFamily="18" charset="0"/>
              </a:rPr>
              <a:t> </a:t>
            </a:r>
            <a:r>
              <a:rPr lang="en-US" altLang="en-US" sz="2800" dirty="0" err="1">
                <a:solidFill>
                  <a:srgbClr val="FF3300"/>
                </a:solidFill>
                <a:latin typeface="Times New Roman" panose="02020603050405020304" pitchFamily="18" charset="0"/>
                <a:cs typeface="Times New Roman" panose="02020603050405020304" pitchFamily="18" charset="0"/>
              </a:rPr>
              <a:t>tga</a:t>
            </a:r>
            <a:r>
              <a:rPr lang="en-US" altLang="en-US" sz="2800" dirty="0">
                <a:solidFill>
                  <a:schemeClr val="tx1"/>
                </a:solidFill>
                <a:latin typeface="Times New Roman" panose="02020603050405020304" pitchFamily="18" charset="0"/>
                <a:cs typeface="Times New Roman" panose="02020603050405020304" pitchFamily="18" charset="0"/>
              </a:rPr>
              <a:t>).  </a:t>
            </a:r>
          </a:p>
        </p:txBody>
      </p:sp>
      <p:pic>
        <p:nvPicPr>
          <p:cNvPr id="39942" name="Picture 8" descr="orf">
            <a:hlinkClick r:id="rId3"/>
            <a:extLst>
              <a:ext uri="{FF2B5EF4-FFF2-40B4-BE49-F238E27FC236}">
                <a16:creationId xmlns:a16="http://schemas.microsoft.com/office/drawing/2014/main" id="{FEA42FDF-E175-496B-91A0-CDBB9D63F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1" y="762001"/>
            <a:ext cx="7080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4263817"/>
      </p:ext>
    </p:extLst>
  </p:cSld>
  <p:clrMapOvr>
    <a:masterClrMapping/>
  </p:clrMapOvr>
  <mc:AlternateContent xmlns:mc="http://schemas.openxmlformats.org/markup-compatibility/2006" xmlns:p14="http://schemas.microsoft.com/office/powerpoint/2010/main">
    <mc:Choice Requires="p14">
      <p:transition spd="slow" p14:dur="2000" advTm="46020"/>
    </mc:Choice>
    <mc:Fallback xmlns="">
      <p:transition spd="slow" advTm="4602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D95549FF-E1F8-4111-B9C2-2925E0CAAF52}"/>
              </a:ext>
            </a:extLst>
          </p:cNvPr>
          <p:cNvSpPr>
            <a:spLocks noGrp="1" noChangeArrowheads="1"/>
          </p:cNvSpPr>
          <p:nvPr>
            <p:ph type="title"/>
          </p:nvPr>
        </p:nvSpPr>
        <p:spPr>
          <a:xfrm>
            <a:off x="1449259" y="302152"/>
            <a:ext cx="7528486" cy="1383614"/>
          </a:xfrm>
        </p:spPr>
        <p:txBody>
          <a:bodyPr vert="horz" lIns="91440" tIns="45720" rIns="91440" bIns="45720" rtlCol="0" anchor="ctr">
            <a:normAutofit/>
          </a:bodyPr>
          <a:lstStyle/>
          <a:p>
            <a:pPr algn="ctr" rtl="0">
              <a:defRPr/>
            </a:pPr>
            <a:r>
              <a:rPr lang="en-US" sz="3600" b="1" dirty="0">
                <a:solidFill>
                  <a:schemeClr val="tx1"/>
                </a:solidFill>
                <a:latin typeface="Times New Roman" panose="02020603050405020304" pitchFamily="18" charset="0"/>
                <a:cs typeface="Times New Roman" panose="02020603050405020304" pitchFamily="18" charset="0"/>
              </a:rPr>
              <a:t>Finding Genes in Genomic DNA</a:t>
            </a:r>
          </a:p>
        </p:txBody>
      </p:sp>
      <p:sp>
        <p:nvSpPr>
          <p:cNvPr id="6" name="Footer Placeholder 5">
            <a:extLst>
              <a:ext uri="{FF2B5EF4-FFF2-40B4-BE49-F238E27FC236}">
                <a16:creationId xmlns:a16="http://schemas.microsoft.com/office/drawing/2014/main" id="{D98A2D3B-C5EB-4BDE-AC7C-654C1DF0593B}"/>
              </a:ext>
            </a:extLst>
          </p:cNvPr>
          <p:cNvSpPr>
            <a:spLocks noGrp="1"/>
          </p:cNvSpPr>
          <p:nvPr>
            <p:ph type="ftr" sz="quarter" idx="11"/>
          </p:nvPr>
        </p:nvSpPr>
        <p:spPr>
          <a:xfrm rot="5400000">
            <a:off x="9521207" y="3155806"/>
            <a:ext cx="3859795" cy="304801"/>
          </a:xfrm>
        </p:spPr>
        <p:txBody>
          <a:bodyPr vert="horz" lIns="91440" tIns="45720" rIns="91440" bIns="45720" rtlCol="0" anchor="ctr">
            <a:normAutofit/>
          </a:bodyPr>
          <a:lstStyle/>
          <a:p>
            <a:pPr>
              <a:spcAft>
                <a:spcPts val="600"/>
              </a:spcAft>
              <a:defRPr/>
            </a:pPr>
            <a:r>
              <a:rPr lang="en-US">
                <a:solidFill>
                  <a:srgbClr val="FFFFFF"/>
                </a:solidFill>
              </a:rPr>
              <a:t>Introductory Lecture</a:t>
            </a:r>
          </a:p>
        </p:txBody>
      </p:sp>
      <p:sp>
        <p:nvSpPr>
          <p:cNvPr id="5" name="Slide Number Placeholder 4">
            <a:extLst>
              <a:ext uri="{FF2B5EF4-FFF2-40B4-BE49-F238E27FC236}">
                <a16:creationId xmlns:a16="http://schemas.microsoft.com/office/drawing/2014/main" id="{706CDEF3-414B-48D9-B969-C0F91B70F0B3}"/>
              </a:ext>
            </a:extLst>
          </p:cNvPr>
          <p:cNvSpPr>
            <a:spLocks noGrp="1"/>
          </p:cNvSpPr>
          <p:nvPr>
            <p:ph type="sldNum" sz="quarter" idx="12"/>
          </p:nvPr>
        </p:nvSpPr>
        <p:spPr>
          <a:xfrm>
            <a:off x="11017538" y="610622"/>
            <a:ext cx="685802" cy="766675"/>
          </a:xfrm>
        </p:spPr>
        <p:txBody>
          <a:bodyPr vert="horz" lIns="91440" tIns="45720" rIns="91440" bIns="45720" rtlCol="0" anchor="ctr">
            <a:norm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spcAft>
                <a:spcPts val="600"/>
              </a:spcAft>
            </a:pPr>
            <a:fld id="{AE9E6E88-429F-46AE-9434-2EA53894A3F5}" type="slidenum">
              <a:rPr lang="en-US" altLang="ur-PK" sz="2000">
                <a:solidFill>
                  <a:srgbClr val="FFFFFF"/>
                </a:solidFill>
                <a:latin typeface="+mn-lt"/>
              </a:rPr>
              <a:pPr>
                <a:spcAft>
                  <a:spcPts val="600"/>
                </a:spcAft>
              </a:pPr>
              <a:t>5</a:t>
            </a:fld>
            <a:endParaRPr lang="en-US" altLang="ur-PK" sz="2000">
              <a:solidFill>
                <a:srgbClr val="FFFFFF"/>
              </a:solidFill>
              <a:latin typeface="+mn-lt"/>
            </a:endParaRPr>
          </a:p>
        </p:txBody>
      </p:sp>
      <p:sp>
        <p:nvSpPr>
          <p:cNvPr id="41989" name="Rectangle 3">
            <a:extLst>
              <a:ext uri="{FF2B5EF4-FFF2-40B4-BE49-F238E27FC236}">
                <a16:creationId xmlns:a16="http://schemas.microsoft.com/office/drawing/2014/main" id="{9CEF5BBB-4C13-4272-946E-8AF39B901D51}"/>
              </a:ext>
            </a:extLst>
          </p:cNvPr>
          <p:cNvSpPr>
            <a:spLocks noGrp="1" noChangeArrowheads="1"/>
          </p:cNvSpPr>
          <p:nvPr>
            <p:ph type="body" idx="4294967295"/>
          </p:nvPr>
        </p:nvSpPr>
        <p:spPr>
          <a:xfrm>
            <a:off x="997527" y="1175238"/>
            <a:ext cx="10020011" cy="4740275"/>
          </a:xfrm>
        </p:spPr>
        <p:txBody>
          <a:bodyPr vert="horz" lIns="91440" tIns="45720" rIns="91440" bIns="45720" rtlCol="0" anchor="ctr">
            <a:normAutofit/>
          </a:bodyPr>
          <a:lstStyle/>
          <a:p>
            <a:pPr algn="l" rtl="0"/>
            <a:r>
              <a:rPr lang="en-US" altLang="en-US" dirty="0">
                <a:solidFill>
                  <a:schemeClr val="tx1"/>
                </a:solidFill>
                <a:latin typeface="Times New Roman" panose="02020603050405020304" pitchFamily="18" charset="0"/>
                <a:cs typeface="Times New Roman" panose="02020603050405020304" pitchFamily="18" charset="0"/>
              </a:rPr>
              <a:t>Translate (in all 6 reading frames) and look for similarity to known protein sequences</a:t>
            </a:r>
          </a:p>
          <a:p>
            <a:pPr algn="l" rtl="0"/>
            <a:r>
              <a:rPr lang="en-US" altLang="en-US" dirty="0">
                <a:solidFill>
                  <a:schemeClr val="tx1"/>
                </a:solidFill>
                <a:latin typeface="Times New Roman" panose="02020603050405020304" pitchFamily="18" charset="0"/>
                <a:cs typeface="Times New Roman" panose="02020603050405020304" pitchFamily="18" charset="0"/>
              </a:rPr>
              <a:t>Look for long Open Reading Frames (ORFs) between </a:t>
            </a:r>
            <a:r>
              <a:rPr lang="en-US" altLang="en-US" u="sng" dirty="0">
                <a:solidFill>
                  <a:schemeClr val="tx1"/>
                </a:solidFill>
                <a:latin typeface="Times New Roman" panose="02020603050405020304" pitchFamily="18" charset="0"/>
                <a:cs typeface="Times New Roman" panose="02020603050405020304" pitchFamily="18" charset="0"/>
              </a:rPr>
              <a:t>start</a:t>
            </a:r>
            <a:r>
              <a:rPr lang="en-US" altLang="en-US" dirty="0">
                <a:solidFill>
                  <a:schemeClr val="tx1"/>
                </a:solidFill>
                <a:latin typeface="Times New Roman" panose="02020603050405020304" pitchFamily="18" charset="0"/>
                <a:cs typeface="Times New Roman" panose="02020603050405020304" pitchFamily="18" charset="0"/>
              </a:rPr>
              <a:t> and </a:t>
            </a:r>
            <a:r>
              <a:rPr lang="en-US" altLang="en-US" u="sng" dirty="0">
                <a:solidFill>
                  <a:schemeClr val="tx1"/>
                </a:solidFill>
                <a:latin typeface="Times New Roman" panose="02020603050405020304" pitchFamily="18" charset="0"/>
                <a:cs typeface="Times New Roman" panose="02020603050405020304" pitchFamily="18" charset="0"/>
              </a:rPr>
              <a:t>stop</a:t>
            </a:r>
            <a:r>
              <a:rPr lang="en-US" altLang="en-US" dirty="0">
                <a:solidFill>
                  <a:schemeClr val="tx1"/>
                </a:solidFill>
                <a:latin typeface="Times New Roman" panose="02020603050405020304" pitchFamily="18" charset="0"/>
                <a:cs typeface="Times New Roman" panose="02020603050405020304" pitchFamily="18" charset="0"/>
              </a:rPr>
              <a:t> codons 	</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	(start=ATG, stop=TAA, TAG, TGA)</a:t>
            </a:r>
          </a:p>
          <a:p>
            <a:pPr algn="l" rtl="0"/>
            <a:r>
              <a:rPr lang="en-US" altLang="en-US" dirty="0">
                <a:solidFill>
                  <a:schemeClr val="tx1"/>
                </a:solidFill>
                <a:latin typeface="Times New Roman" panose="02020603050405020304" pitchFamily="18" charset="0"/>
                <a:cs typeface="Times New Roman" panose="02020603050405020304" pitchFamily="18" charset="0"/>
              </a:rPr>
              <a:t>Look for known gene markers</a:t>
            </a:r>
          </a:p>
          <a:p>
            <a:pPr lvl="1" algn="l" rtl="0"/>
            <a:r>
              <a:rPr lang="en-US" altLang="en-US" dirty="0">
                <a:solidFill>
                  <a:schemeClr val="tx1"/>
                </a:solidFill>
                <a:latin typeface="Times New Roman" panose="02020603050405020304" pitchFamily="18" charset="0"/>
                <a:cs typeface="Times New Roman" panose="02020603050405020304" pitchFamily="18" charset="0"/>
              </a:rPr>
              <a:t>TAATAA box, intron splice sites, etc.</a:t>
            </a:r>
          </a:p>
          <a:p>
            <a:pPr algn="l" rtl="0"/>
            <a:r>
              <a:rPr lang="en-US" altLang="en-US" dirty="0">
                <a:solidFill>
                  <a:schemeClr val="tx1"/>
                </a:solidFill>
                <a:latin typeface="Times New Roman" panose="02020603050405020304" pitchFamily="18" charset="0"/>
                <a:cs typeface="Times New Roman" panose="02020603050405020304" pitchFamily="18" charset="0"/>
              </a:rPr>
              <a:t>Statistical methods (codon preference)</a:t>
            </a:r>
          </a:p>
        </p:txBody>
      </p:sp>
    </p:spTree>
    <p:extLst>
      <p:ext uri="{BB962C8B-B14F-4D97-AF65-F5344CB8AC3E}">
        <p14:creationId xmlns:p14="http://schemas.microsoft.com/office/powerpoint/2010/main" val="1329916028"/>
      </p:ext>
    </p:extLst>
  </p:cSld>
  <p:clrMapOvr>
    <a:masterClrMapping/>
  </p:clrMapOvr>
  <p:transition advTm="107426">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Step-by-step</a:t>
            </a:r>
          </a:p>
        </p:txBody>
      </p:sp>
      <p:sp>
        <p:nvSpPr>
          <p:cNvPr id="5" name="Content Placeholder 4"/>
          <p:cNvSpPr>
            <a:spLocks noGrp="1"/>
          </p:cNvSpPr>
          <p:nvPr>
            <p:ph idx="1"/>
          </p:nvPr>
        </p:nvSpPr>
        <p:spPr>
          <a:xfrm>
            <a:off x="714895" y="1690688"/>
            <a:ext cx="10638905" cy="4486275"/>
          </a:xfrm>
        </p:spPr>
        <p:txBody>
          <a:bodyPr>
            <a:normAutofit fontScale="77500" lnSpcReduction="20000"/>
          </a:bodyPr>
          <a:lstStyle/>
          <a:p>
            <a:pPr algn="l" rtl="0"/>
            <a:r>
              <a:rPr lang="en-US" dirty="0">
                <a:latin typeface="Times New Roman" panose="02020603050405020304" pitchFamily="18" charset="0"/>
                <a:cs typeface="Times New Roman" panose="02020603050405020304" pitchFamily="18" charset="0"/>
              </a:rPr>
              <a:t>Take the following DNA sequence,</a:t>
            </a:r>
          </a:p>
          <a:p>
            <a:pPr algn="l" rtl="0"/>
            <a:endParaRPr lang="en-US" dirty="0">
              <a:latin typeface="Times New Roman" panose="02020603050405020304" pitchFamily="18" charset="0"/>
              <a:cs typeface="Times New Roman" panose="02020603050405020304" pitchFamily="18" charset="0"/>
            </a:endParaRPr>
          </a:p>
          <a:p>
            <a:pPr marL="0" indent="0" algn="ctr" rtl="0">
              <a:buNone/>
            </a:pPr>
            <a:r>
              <a:rPr lang="en-US" dirty="0">
                <a:latin typeface="Times New Roman" panose="02020603050405020304" pitchFamily="18" charset="0"/>
                <a:cs typeface="Times New Roman" panose="02020603050405020304" pitchFamily="18" charset="0"/>
              </a:rPr>
              <a:t>5’-ATGGAAGTATAA-3’</a:t>
            </a:r>
          </a:p>
          <a:p>
            <a:pPr algn="l" rtl="0"/>
            <a:endParaRPr lang="en-US" dirty="0">
              <a:latin typeface="Times New Roman" panose="02020603050405020304" pitchFamily="18" charset="0"/>
              <a:cs typeface="Times New Roman" panose="02020603050405020304" pitchFamily="18" charset="0"/>
            </a:endParaRPr>
          </a:p>
          <a:p>
            <a:pPr algn="l" rtl="0"/>
            <a:r>
              <a:rPr lang="en-US" dirty="0">
                <a:latin typeface="Times New Roman" panose="02020603050405020304" pitchFamily="18" charset="0"/>
                <a:cs typeface="Times New Roman" panose="02020603050405020304" pitchFamily="18" charset="0"/>
              </a:rPr>
              <a:t>Break into triplets,</a:t>
            </a:r>
          </a:p>
          <a:p>
            <a:pPr marL="0" indent="0" algn="ctr" rtl="0">
              <a:buNone/>
            </a:pPr>
            <a:r>
              <a:rPr lang="en-US" dirty="0">
                <a:latin typeface="Times New Roman" panose="02020603050405020304" pitchFamily="18" charset="0"/>
                <a:cs typeface="Times New Roman" panose="02020603050405020304" pitchFamily="18" charset="0"/>
              </a:rPr>
              <a:t>5’-ATGGAAGTATAA-3’</a:t>
            </a:r>
          </a:p>
          <a:p>
            <a:pPr algn="l" rtl="0"/>
            <a:endParaRPr lang="en-US" dirty="0">
              <a:latin typeface="Times New Roman" panose="02020603050405020304" pitchFamily="18" charset="0"/>
              <a:cs typeface="Times New Roman" panose="02020603050405020304" pitchFamily="18" charset="0"/>
            </a:endParaRPr>
          </a:p>
          <a:p>
            <a:pPr algn="l" rtl="0"/>
            <a:r>
              <a:rPr lang="en-US" dirty="0">
                <a:latin typeface="Times New Roman" panose="02020603050405020304" pitchFamily="18" charset="0"/>
                <a:cs typeface="Times New Roman" panose="02020603050405020304" pitchFamily="18" charset="0"/>
              </a:rPr>
              <a:t>Go to your table decode the information</a:t>
            </a:r>
          </a:p>
          <a:p>
            <a:pPr marL="0" indent="0" algn="ctr" rtl="0">
              <a:buNone/>
            </a:pPr>
            <a:r>
              <a:rPr lang="en-US" dirty="0">
                <a:latin typeface="Times New Roman" panose="02020603050405020304" pitchFamily="18" charset="0"/>
                <a:cs typeface="Times New Roman" panose="02020603050405020304" pitchFamily="18" charset="0"/>
              </a:rPr>
              <a:t>M-E-V-STOP</a:t>
            </a:r>
          </a:p>
          <a:p>
            <a:pPr algn="l" rtl="0"/>
            <a:endParaRPr lang="en-US" dirty="0">
              <a:latin typeface="Times New Roman" panose="02020603050405020304" pitchFamily="18" charset="0"/>
              <a:cs typeface="Times New Roman" panose="02020603050405020304" pitchFamily="18" charset="0"/>
            </a:endParaRPr>
          </a:p>
          <a:p>
            <a:pPr algn="l" rtl="0">
              <a:lnSpc>
                <a:spcPct val="120000"/>
              </a:lnSpc>
            </a:pPr>
            <a:r>
              <a:rPr lang="en-US" dirty="0">
                <a:latin typeface="Times New Roman" panose="02020603050405020304" pitchFamily="18" charset="0"/>
                <a:cs typeface="Times New Roman" panose="02020603050405020304" pitchFamily="18" charset="0"/>
              </a:rPr>
              <a:t>Thus, computer programs can translate DNA into proteins into any of the six possible reading frames.</a:t>
            </a:r>
          </a:p>
        </p:txBody>
      </p:sp>
    </p:spTree>
    <p:custDataLst>
      <p:tags r:id="rId1"/>
    </p:custDataLst>
    <p:extLst>
      <p:ext uri="{BB962C8B-B14F-4D97-AF65-F5344CB8AC3E}">
        <p14:creationId xmlns:p14="http://schemas.microsoft.com/office/powerpoint/2010/main" val="2033875422"/>
      </p:ext>
    </p:extLst>
  </p:cSld>
  <p:clrMapOvr>
    <a:masterClrMapping/>
  </p:clrMapOvr>
  <mc:AlternateContent xmlns:mc="http://schemas.openxmlformats.org/markup-compatibility/2006" xmlns:p14="http://schemas.microsoft.com/office/powerpoint/2010/main">
    <mc:Choice Requires="p14">
      <p:transition spd="slow" p14:dur="2000" advTm="52962"/>
    </mc:Choice>
    <mc:Fallback xmlns="">
      <p:transition spd="slow" advTm="5296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90021-0368-49F8-BA21-55E85AB243A3}"/>
              </a:ext>
            </a:extLst>
          </p:cNvPr>
          <p:cNvSpPr>
            <a:spLocks noGrp="1"/>
          </p:cNvSpPr>
          <p:nvPr>
            <p:ph type="ctrTitle"/>
          </p:nvPr>
        </p:nvSpPr>
        <p:spPr>
          <a:xfrm>
            <a:off x="1241370" y="2186390"/>
            <a:ext cx="9144000" cy="2387600"/>
          </a:xfrm>
        </p:spPr>
        <p:txBody>
          <a:bodyPr>
            <a:normAutofit fontScale="90000"/>
          </a:bodyPr>
          <a:lstStyle/>
          <a:p>
            <a:r>
              <a:rPr lang="en-US" b="1" dirty="0">
                <a:latin typeface="Times New Roman" panose="02020603050405020304" pitchFamily="18" charset="0"/>
                <a:cs typeface="Times New Roman" panose="02020603050405020304" pitchFamily="18" charset="0"/>
              </a:rPr>
              <a:t>Sequence Variation</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and its Consequences</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041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75F1-4A14-4AA8-8B07-64FAD47A78F6}"/>
              </a:ext>
            </a:extLst>
          </p:cNvPr>
          <p:cNvSpPr>
            <a:spLocks noGrp="1"/>
          </p:cNvSpPr>
          <p:nvPr>
            <p:ph type="title"/>
          </p:nvPr>
        </p:nvSpPr>
        <p:spPr>
          <a:xfrm>
            <a:off x="1097280" y="286603"/>
            <a:ext cx="10058400" cy="895083"/>
          </a:xfrm>
        </p:spPr>
        <p:txBody>
          <a:bodyPr/>
          <a:lstStyle/>
          <a:p>
            <a:r>
              <a:rPr lang="en-US" b="1" dirty="0">
                <a:latin typeface="Times New Roman" panose="02020603050405020304" pitchFamily="18" charset="0"/>
                <a:cs typeface="Times New Roman" panose="02020603050405020304" pitchFamily="18" charset="0"/>
              </a:rPr>
              <a:t>Types of SNPs</a:t>
            </a:r>
          </a:p>
        </p:txBody>
      </p:sp>
      <p:sp>
        <p:nvSpPr>
          <p:cNvPr id="3" name="Content Placeholder 2">
            <a:extLst>
              <a:ext uri="{FF2B5EF4-FFF2-40B4-BE49-F238E27FC236}">
                <a16:creationId xmlns:a16="http://schemas.microsoft.com/office/drawing/2014/main" id="{C6B24B50-1556-4618-9171-294DBF697F09}"/>
              </a:ext>
            </a:extLst>
          </p:cNvPr>
          <p:cNvSpPr>
            <a:spLocks noGrp="1"/>
          </p:cNvSpPr>
          <p:nvPr>
            <p:ph idx="1"/>
          </p:nvPr>
        </p:nvSpPr>
        <p:spPr>
          <a:xfrm>
            <a:off x="393895" y="998806"/>
            <a:ext cx="10959905" cy="5725551"/>
          </a:xfrm>
        </p:spPr>
        <p:txBody>
          <a:bodyPr>
            <a:normAutofit/>
          </a:bodyPr>
          <a:lstStyle/>
          <a:p>
            <a:pPr marL="0" indent="0">
              <a:lnSpc>
                <a:spcPct val="150000"/>
              </a:lnSpc>
              <a:buNone/>
            </a:pPr>
            <a:br>
              <a:rPr lang="en-US"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Non protein coding SNPs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Coding SNPs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 	Synonymous SNPs (third position variation)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 	Replacement SNPs (change Amino acid)</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Functional SNPs (acceptable amino acid replacement)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Non-functional SNPs (traits &amp; diseases)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832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52402"/>
            <a:ext cx="7772400" cy="838199"/>
          </a:xfrm>
        </p:spPr>
        <p:txBody>
          <a:bodyPr>
            <a:normAutofit/>
          </a:bodyPr>
          <a:lstStyle/>
          <a:p>
            <a:r>
              <a:rPr lang="en-US" sz="4000" b="1" dirty="0">
                <a:latin typeface="Times New Roman" panose="02020603050405020304" pitchFamily="18" charset="0"/>
                <a:cs typeface="Times New Roman" panose="02020603050405020304" pitchFamily="18" charset="0"/>
              </a:rPr>
              <a:t>Single Nucleotide...Difference</a:t>
            </a:r>
          </a:p>
        </p:txBody>
      </p:sp>
      <p:sp>
        <p:nvSpPr>
          <p:cNvPr id="5" name="Slide Number Placeholder 4"/>
          <p:cNvSpPr>
            <a:spLocks noGrp="1"/>
          </p:cNvSpPr>
          <p:nvPr>
            <p:ph type="sldNum" sz="quarter" idx="12"/>
          </p:nvPr>
        </p:nvSpPr>
        <p:spPr/>
        <p:txBody>
          <a:bodyPr/>
          <a:lstStyle/>
          <a:p>
            <a:fld id="{5179B700-391A-446A-AC53-7BB684CB5905}" type="slidenum">
              <a:rPr lang="en-US">
                <a:solidFill>
                  <a:prstClr val="black">
                    <a:tint val="75000"/>
                  </a:prstClr>
                </a:solidFill>
                <a:latin typeface="Times New Roman" panose="02020603050405020304" pitchFamily="18" charset="0"/>
                <a:cs typeface="Times New Roman" panose="02020603050405020304" pitchFamily="18" charset="0"/>
              </a:rPr>
              <a:pPr/>
              <a:t>9</a:t>
            </a:fld>
            <a:endParaRPr lang="en-US">
              <a:solidFill>
                <a:prstClr val="black">
                  <a:tint val="75000"/>
                </a:prst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4953000" y="1600200"/>
            <a:ext cx="2123974" cy="523220"/>
          </a:xfrm>
          <a:prstGeom prst="rect">
            <a:avLst/>
          </a:prstGeom>
          <a:noFill/>
        </p:spPr>
        <p:txBody>
          <a:bodyPr wrap="none" rtlCol="0">
            <a:spAutoFit/>
          </a:bodyPr>
          <a:lstStyle/>
          <a:p>
            <a:r>
              <a:rPr lang="en-US" sz="2800" b="1" dirty="0">
                <a:solidFill>
                  <a:prstClr val="black"/>
                </a:solidFill>
                <a:latin typeface="Courier New"/>
                <a:cs typeface="Courier New"/>
              </a:rPr>
              <a:t>…AGG</a:t>
            </a:r>
            <a:r>
              <a:rPr lang="en-US" sz="2800" b="1" dirty="0">
                <a:solidFill>
                  <a:srgbClr val="FF0000"/>
                </a:solidFill>
                <a:latin typeface="Courier New"/>
                <a:cs typeface="Courier New"/>
              </a:rPr>
              <a:t>T</a:t>
            </a:r>
            <a:r>
              <a:rPr lang="en-US" sz="2800" b="1" dirty="0">
                <a:solidFill>
                  <a:prstClr val="black"/>
                </a:solidFill>
                <a:latin typeface="Courier New"/>
                <a:cs typeface="Courier New"/>
              </a:rPr>
              <a:t>TAG…</a:t>
            </a:r>
          </a:p>
        </p:txBody>
      </p:sp>
      <p:sp>
        <p:nvSpPr>
          <p:cNvPr id="7" name="TextBox 6"/>
          <p:cNvSpPr txBox="1"/>
          <p:nvPr/>
        </p:nvSpPr>
        <p:spPr>
          <a:xfrm>
            <a:off x="3505200" y="3657601"/>
            <a:ext cx="4648200" cy="461665"/>
          </a:xfrm>
          <a:prstGeom prst="rect">
            <a:avLst/>
          </a:prstGeom>
          <a:noFill/>
        </p:spPr>
        <p:txBody>
          <a:bodyPr wrap="square" rtlCol="0">
            <a:spAutoFit/>
          </a:bodyPr>
          <a:lstStyle/>
          <a:p>
            <a:r>
              <a:rPr lang="en-US" sz="2400" b="1" dirty="0">
                <a:solidFill>
                  <a:prstClr val="black"/>
                </a:solidFill>
                <a:latin typeface="Times New Roman" panose="02020603050405020304" pitchFamily="18" charset="0"/>
                <a:cs typeface="Times New Roman" panose="02020603050405020304" pitchFamily="18" charset="0"/>
              </a:rPr>
              <a:t>SNV</a:t>
            </a:r>
            <a:r>
              <a:rPr lang="en-US" sz="2400" dirty="0">
                <a:solidFill>
                  <a:prstClr val="black"/>
                </a:solidFill>
                <a:latin typeface="Times New Roman" panose="02020603050405020304" pitchFamily="18" charset="0"/>
                <a:cs typeface="Times New Roman" panose="02020603050405020304" pitchFamily="18" charset="0"/>
              </a:rPr>
              <a:t>: single nucleotide variation</a:t>
            </a:r>
          </a:p>
        </p:txBody>
      </p:sp>
      <p:sp>
        <p:nvSpPr>
          <p:cNvPr id="11" name="TextBox 10"/>
          <p:cNvSpPr txBox="1"/>
          <p:nvPr/>
        </p:nvSpPr>
        <p:spPr>
          <a:xfrm>
            <a:off x="3505200" y="2895601"/>
            <a:ext cx="5486400" cy="461665"/>
          </a:xfrm>
          <a:prstGeom prst="rect">
            <a:avLst/>
          </a:prstGeom>
          <a:noFill/>
        </p:spPr>
        <p:txBody>
          <a:bodyPr wrap="square" rtlCol="0">
            <a:spAutoFit/>
          </a:bodyPr>
          <a:lstStyle/>
          <a:p>
            <a:r>
              <a:rPr lang="en-US" sz="2400" b="1" dirty="0">
                <a:solidFill>
                  <a:prstClr val="black"/>
                </a:solidFill>
                <a:latin typeface="Times New Roman" panose="02020603050405020304" pitchFamily="18" charset="0"/>
                <a:cs typeface="Times New Roman" panose="02020603050405020304" pitchFamily="18" charset="0"/>
              </a:rPr>
              <a:t>SNP</a:t>
            </a:r>
            <a:r>
              <a:rPr lang="en-US" sz="2400" dirty="0">
                <a:solidFill>
                  <a:prstClr val="black"/>
                </a:solidFill>
                <a:latin typeface="Times New Roman" panose="02020603050405020304" pitchFamily="18" charset="0"/>
                <a:cs typeface="Times New Roman" panose="02020603050405020304" pitchFamily="18" charset="0"/>
              </a:rPr>
              <a:t>: single nucleotide polymorphism</a:t>
            </a:r>
          </a:p>
        </p:txBody>
      </p:sp>
      <p:sp>
        <p:nvSpPr>
          <p:cNvPr id="12" name="TextBox 11"/>
          <p:cNvSpPr txBox="1"/>
          <p:nvPr/>
        </p:nvSpPr>
        <p:spPr>
          <a:xfrm>
            <a:off x="3505200" y="4415136"/>
            <a:ext cx="4419600" cy="461665"/>
          </a:xfrm>
          <a:prstGeom prst="rect">
            <a:avLst/>
          </a:prstGeom>
          <a:noFill/>
        </p:spPr>
        <p:txBody>
          <a:bodyPr wrap="square" rtlCol="0">
            <a:spAutoFit/>
          </a:bodyPr>
          <a:lstStyle/>
          <a:p>
            <a:r>
              <a:rPr lang="en-US" sz="2400" b="1" dirty="0">
                <a:solidFill>
                  <a:prstClr val="black"/>
                </a:solidFill>
                <a:latin typeface="Times New Roman" panose="02020603050405020304" pitchFamily="18" charset="0"/>
                <a:cs typeface="Times New Roman" panose="02020603050405020304" pitchFamily="18" charset="0"/>
              </a:rPr>
              <a:t>SNC</a:t>
            </a:r>
            <a:r>
              <a:rPr lang="en-US" sz="2400" dirty="0">
                <a:solidFill>
                  <a:prstClr val="black"/>
                </a:solidFill>
                <a:latin typeface="Times New Roman" panose="02020603050405020304" pitchFamily="18" charset="0"/>
                <a:cs typeface="Times New Roman" panose="02020603050405020304" pitchFamily="18" charset="0"/>
              </a:rPr>
              <a:t>: single nucleotide change</a:t>
            </a:r>
          </a:p>
        </p:txBody>
      </p:sp>
      <p:cxnSp>
        <p:nvCxnSpPr>
          <p:cNvPr id="8" name="Straight Connector 7"/>
          <p:cNvCxnSpPr/>
          <p:nvPr/>
        </p:nvCxnSpPr>
        <p:spPr>
          <a:xfrm>
            <a:off x="6731000" y="3441700"/>
            <a:ext cx="1905000" cy="0"/>
          </a:xfrm>
          <a:prstGeom prst="line">
            <a:avLst/>
          </a:prstGeom>
          <a:ln w="50800"/>
          <a:effectLst/>
        </p:spPr>
        <p:style>
          <a:lnRef idx="2">
            <a:schemeClr val="accent1"/>
          </a:lnRef>
          <a:fillRef idx="0">
            <a:schemeClr val="accent1"/>
          </a:fillRef>
          <a:effectRef idx="1">
            <a:schemeClr val="accent1"/>
          </a:effectRef>
          <a:fontRef idx="minor">
            <a:schemeClr val="tx1"/>
          </a:fontRef>
        </p:style>
      </p:cxnSp>
      <p:sp>
        <p:nvSpPr>
          <p:cNvPr id="3" name="Cloud Callout 2"/>
          <p:cNvSpPr/>
          <p:nvPr/>
        </p:nvSpPr>
        <p:spPr>
          <a:xfrm>
            <a:off x="8686800" y="4114800"/>
            <a:ext cx="1905000" cy="1295400"/>
          </a:xfrm>
          <a:prstGeom prst="cloudCallout">
            <a:avLst>
              <a:gd name="adj1" fmla="val -50833"/>
              <a:gd name="adj2" fmla="val -46389"/>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r>
              <a:rPr lang="en-US" sz="2000" dirty="0">
                <a:solidFill>
                  <a:prstClr val="black"/>
                </a:solidFill>
                <a:latin typeface="Times New Roman" panose="02020603050405020304" pitchFamily="18" charset="0"/>
                <a:cs typeface="Times New Roman" panose="02020603050405020304" pitchFamily="18" charset="0"/>
              </a:rPr>
              <a:t>mutation</a:t>
            </a:r>
          </a:p>
        </p:txBody>
      </p:sp>
      <p:grpSp>
        <p:nvGrpSpPr>
          <p:cNvPr id="20" name="Group 19"/>
          <p:cNvGrpSpPr/>
          <p:nvPr/>
        </p:nvGrpSpPr>
        <p:grpSpPr>
          <a:xfrm>
            <a:off x="7708900" y="2501900"/>
            <a:ext cx="2819400" cy="939800"/>
            <a:chOff x="6172200" y="2501900"/>
            <a:chExt cx="2819400" cy="939800"/>
          </a:xfrm>
        </p:grpSpPr>
        <p:sp>
          <p:nvSpPr>
            <p:cNvPr id="13" name="Rounded Rectangular Callout 12"/>
            <p:cNvSpPr/>
            <p:nvPr/>
          </p:nvSpPr>
          <p:spPr>
            <a:xfrm>
              <a:off x="6172200" y="2501900"/>
              <a:ext cx="2819400" cy="457200"/>
            </a:xfrm>
            <a:prstGeom prst="wedgeRoundRectCallout">
              <a:avLst>
                <a:gd name="adj1" fmla="val -21617"/>
                <a:gd name="adj2" fmla="val 15834"/>
                <a:gd name="adj3" fmla="val 16667"/>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frequency &gt; 1%</a:t>
              </a:r>
            </a:p>
          </p:txBody>
        </p:sp>
        <p:cxnSp>
          <p:nvCxnSpPr>
            <p:cNvPr id="15" name="Straight Connector 14"/>
            <p:cNvCxnSpPr/>
            <p:nvPr/>
          </p:nvCxnSpPr>
          <p:spPr>
            <a:xfrm flipV="1">
              <a:off x="7086600" y="2971800"/>
              <a:ext cx="825500" cy="469900"/>
            </a:xfrm>
            <a:prstGeom prst="line">
              <a:avLst/>
            </a:prstGeom>
            <a:ln w="50800"/>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60849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400" y="152402"/>
            <a:ext cx="8763000" cy="838199"/>
          </a:xfrm>
        </p:spPr>
        <p:txBody>
          <a:bodyPr>
            <a:normAutofit/>
          </a:bodyPr>
          <a:lstStyle/>
          <a:p>
            <a:r>
              <a:rPr lang="en-US" sz="4000" b="1" dirty="0">
                <a:latin typeface="Times New Roman" panose="02020603050405020304" pitchFamily="18" charset="0"/>
                <a:cs typeface="Times New Roman" panose="02020603050405020304" pitchFamily="18" charset="0"/>
              </a:rPr>
              <a:t>Common Variation Terminology</a:t>
            </a:r>
          </a:p>
        </p:txBody>
      </p:sp>
      <p:sp>
        <p:nvSpPr>
          <p:cNvPr id="5" name="Slide Number Placeholder 4"/>
          <p:cNvSpPr>
            <a:spLocks noGrp="1"/>
          </p:cNvSpPr>
          <p:nvPr>
            <p:ph type="sldNum" sz="quarter" idx="12"/>
          </p:nvPr>
        </p:nvSpPr>
        <p:spPr/>
        <p:txBody>
          <a:bodyPr/>
          <a:lstStyle/>
          <a:p>
            <a:fld id="{5179B700-391A-446A-AC53-7BB684CB5905}" type="slidenum">
              <a:rPr lang="en-US" smtClean="0"/>
              <a:t>10</a:t>
            </a:fld>
            <a:endParaRPr lang="en-US"/>
          </a:p>
        </p:txBody>
      </p:sp>
      <p:sp>
        <p:nvSpPr>
          <p:cNvPr id="3" name="TextBox 2"/>
          <p:cNvSpPr txBox="1"/>
          <p:nvPr/>
        </p:nvSpPr>
        <p:spPr>
          <a:xfrm>
            <a:off x="2362200" y="1371601"/>
            <a:ext cx="62484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Non-synonymous</a:t>
            </a:r>
            <a:r>
              <a:rPr lang="en-US" sz="2400" dirty="0">
                <a:latin typeface="Times New Roman" panose="02020603050405020304" pitchFamily="18" charset="0"/>
                <a:cs typeface="Times New Roman" panose="02020603050405020304" pitchFamily="18" charset="0"/>
              </a:rPr>
              <a:t>: changes the amino acid</a:t>
            </a:r>
          </a:p>
        </p:txBody>
      </p:sp>
      <p:grpSp>
        <p:nvGrpSpPr>
          <p:cNvPr id="9" name="Group 8"/>
          <p:cNvGrpSpPr/>
          <p:nvPr/>
        </p:nvGrpSpPr>
        <p:grpSpPr>
          <a:xfrm>
            <a:off x="4114800" y="1981200"/>
            <a:ext cx="3352800" cy="1219200"/>
            <a:chOff x="4114800" y="2286000"/>
            <a:chExt cx="3352800" cy="1219200"/>
          </a:xfrm>
        </p:grpSpPr>
        <p:sp>
          <p:nvSpPr>
            <p:cNvPr id="7" name="Rectangle 6"/>
            <p:cNvSpPr/>
            <p:nvPr/>
          </p:nvSpPr>
          <p:spPr>
            <a:xfrm>
              <a:off x="4114800" y="2286000"/>
              <a:ext cx="1676400" cy="53340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missense</a:t>
              </a:r>
            </a:p>
          </p:txBody>
        </p:sp>
        <p:sp>
          <p:nvSpPr>
            <p:cNvPr id="17" name="Rectangle 16"/>
            <p:cNvSpPr/>
            <p:nvPr/>
          </p:nvSpPr>
          <p:spPr>
            <a:xfrm>
              <a:off x="4114800" y="2971800"/>
              <a:ext cx="1676400" cy="53340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nonsense</a:t>
              </a:r>
            </a:p>
          </p:txBody>
        </p:sp>
        <p:sp>
          <p:nvSpPr>
            <p:cNvPr id="8" name="TextBox 7"/>
            <p:cNvSpPr txBox="1"/>
            <p:nvPr/>
          </p:nvSpPr>
          <p:spPr>
            <a:xfrm>
              <a:off x="5943600" y="3056235"/>
              <a:ext cx="15240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stop codon</a:t>
              </a:r>
            </a:p>
          </p:txBody>
        </p:sp>
      </p:grpSp>
      <p:grpSp>
        <p:nvGrpSpPr>
          <p:cNvPr id="10" name="Group 9"/>
          <p:cNvGrpSpPr/>
          <p:nvPr/>
        </p:nvGrpSpPr>
        <p:grpSpPr>
          <a:xfrm>
            <a:off x="4114800" y="5118100"/>
            <a:ext cx="5943600" cy="533400"/>
            <a:chOff x="4114800" y="4648200"/>
            <a:chExt cx="5943600" cy="533400"/>
          </a:xfrm>
        </p:grpSpPr>
        <p:sp>
          <p:nvSpPr>
            <p:cNvPr id="18" name="Rectangle 17"/>
            <p:cNvSpPr/>
            <p:nvPr/>
          </p:nvSpPr>
          <p:spPr>
            <a:xfrm>
              <a:off x="4114800" y="4648200"/>
              <a:ext cx="1676400" cy="53340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silent</a:t>
              </a:r>
            </a:p>
          </p:txBody>
        </p:sp>
        <p:sp>
          <p:nvSpPr>
            <p:cNvPr id="19" name="TextBox 18"/>
            <p:cNvSpPr txBox="1"/>
            <p:nvPr/>
          </p:nvSpPr>
          <p:spPr>
            <a:xfrm>
              <a:off x="5943600" y="4711700"/>
              <a:ext cx="41148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also applied to non-coding regions</a:t>
              </a:r>
            </a:p>
          </p:txBody>
        </p:sp>
      </p:grpSp>
      <p:sp>
        <p:nvSpPr>
          <p:cNvPr id="20" name="TextBox 19"/>
          <p:cNvSpPr txBox="1"/>
          <p:nvPr/>
        </p:nvSpPr>
        <p:spPr>
          <a:xfrm>
            <a:off x="2494722" y="4491334"/>
            <a:ext cx="62484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Synonymous</a:t>
            </a:r>
            <a:r>
              <a:rPr lang="en-US" sz="2400" dirty="0">
                <a:latin typeface="Times New Roman" panose="02020603050405020304" pitchFamily="18" charset="0"/>
                <a:cs typeface="Times New Roman" panose="02020603050405020304" pitchFamily="18" charset="0"/>
              </a:rPr>
              <a:t>: no change to amino acid</a:t>
            </a:r>
          </a:p>
        </p:txBody>
      </p:sp>
      <p:grpSp>
        <p:nvGrpSpPr>
          <p:cNvPr id="11" name="Group 10"/>
          <p:cNvGrpSpPr/>
          <p:nvPr/>
        </p:nvGrpSpPr>
        <p:grpSpPr>
          <a:xfrm>
            <a:off x="4114800" y="3352800"/>
            <a:ext cx="5334000" cy="533400"/>
            <a:chOff x="2590800" y="3352800"/>
            <a:chExt cx="5334000" cy="533400"/>
          </a:xfrm>
        </p:grpSpPr>
        <p:sp>
          <p:nvSpPr>
            <p:cNvPr id="16" name="Rectangle 15"/>
            <p:cNvSpPr/>
            <p:nvPr/>
          </p:nvSpPr>
          <p:spPr>
            <a:xfrm>
              <a:off x="2590800" y="3352800"/>
              <a:ext cx="1676400" cy="53340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frameshift</a:t>
              </a:r>
            </a:p>
          </p:txBody>
        </p:sp>
        <p:sp>
          <p:nvSpPr>
            <p:cNvPr id="21" name="TextBox 20"/>
            <p:cNvSpPr txBox="1"/>
            <p:nvPr/>
          </p:nvSpPr>
          <p:spPr>
            <a:xfrm>
              <a:off x="4419600" y="3429000"/>
              <a:ext cx="3505200" cy="400110"/>
            </a:xfrm>
            <a:prstGeom prst="rect">
              <a:avLst/>
            </a:prstGeom>
            <a:noFill/>
          </p:spPr>
          <p:txBody>
            <a:bodyPr wrap="square" rtlCol="0">
              <a:spAutoFit/>
            </a:bodyPr>
            <a:lstStyle/>
            <a:p>
              <a:r>
                <a:rPr lang="en-US" sz="2000" dirty="0" err="1">
                  <a:latin typeface="Times New Roman" panose="02020603050405020304" pitchFamily="18" charset="0"/>
                  <a:cs typeface="Times New Roman" panose="02020603050405020304" pitchFamily="18" charset="0"/>
                </a:rPr>
                <a:t>indel</a:t>
              </a:r>
              <a:r>
                <a:rPr lang="en-US" sz="2000" dirty="0">
                  <a:latin typeface="Times New Roman" panose="02020603050405020304" pitchFamily="18" charset="0"/>
                  <a:cs typeface="Times New Roman" panose="02020603050405020304" pitchFamily="18" charset="0"/>
                </a:rPr>
                <a:t> not evenly divisible by 3</a:t>
              </a:r>
            </a:p>
          </p:txBody>
        </p:sp>
      </p:grpSp>
    </p:spTree>
    <p:extLst>
      <p:ext uri="{BB962C8B-B14F-4D97-AF65-F5344CB8AC3E}">
        <p14:creationId xmlns:p14="http://schemas.microsoft.com/office/powerpoint/2010/main" val="47755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52402"/>
            <a:ext cx="7772400" cy="838199"/>
          </a:xfrm>
        </p:spPr>
        <p:txBody>
          <a:bodyPr>
            <a:normAutofit/>
          </a:bodyPr>
          <a:lstStyle/>
          <a:p>
            <a:r>
              <a:rPr lang="en-US" sz="4000" b="1" dirty="0">
                <a:latin typeface="Times New Roman" panose="02020603050405020304" pitchFamily="18" charset="0"/>
                <a:cs typeface="Times New Roman" panose="02020603050405020304" pitchFamily="18" charset="0"/>
              </a:rPr>
              <a:t>Insertions &amp; Deletions</a:t>
            </a:r>
          </a:p>
        </p:txBody>
      </p:sp>
      <p:sp>
        <p:nvSpPr>
          <p:cNvPr id="3" name="Subtitle 2"/>
          <p:cNvSpPr>
            <a:spLocks noGrp="1"/>
          </p:cNvSpPr>
          <p:nvPr>
            <p:ph type="subTitle" idx="1"/>
          </p:nvPr>
        </p:nvSpPr>
        <p:spPr>
          <a:xfrm>
            <a:off x="2895600" y="1066800"/>
            <a:ext cx="6400800" cy="685800"/>
          </a:xfrm>
        </p:spPr>
        <p:txBody>
          <a:bodyPr/>
          <a:lstStyle/>
          <a:p>
            <a:r>
              <a:rPr lang="en-US" dirty="0" err="1">
                <a:latin typeface="Times New Roman" panose="02020603050405020304" pitchFamily="18" charset="0"/>
                <a:cs typeface="Times New Roman" panose="02020603050405020304" pitchFamily="18" charset="0"/>
              </a:rPr>
              <a:t>Indels</a:t>
            </a: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5179B700-391A-446A-AC53-7BB684CB5905}" type="slidenum">
              <a:rPr lang="en-US" smtClean="0"/>
              <a:t>11</a:t>
            </a:fld>
            <a:endParaRPr lang="en-US"/>
          </a:p>
        </p:txBody>
      </p:sp>
      <p:sp>
        <p:nvSpPr>
          <p:cNvPr id="10" name="TextBox 9"/>
          <p:cNvSpPr txBox="1"/>
          <p:nvPr/>
        </p:nvSpPr>
        <p:spPr>
          <a:xfrm>
            <a:off x="6019801" y="5039380"/>
            <a:ext cx="2339453" cy="523220"/>
          </a:xfrm>
          <a:prstGeom prst="rect">
            <a:avLst/>
          </a:prstGeom>
          <a:noFill/>
        </p:spPr>
        <p:txBody>
          <a:bodyPr wrap="none" rtlCol="0">
            <a:spAutoFit/>
          </a:bodyPr>
          <a:lstStyle/>
          <a:p>
            <a:r>
              <a:rPr lang="en-US" sz="2800" b="1" dirty="0">
                <a:latin typeface="Courier New"/>
                <a:cs typeface="Courier New"/>
              </a:rPr>
              <a:t>…AAG--TGC…</a:t>
            </a:r>
          </a:p>
        </p:txBody>
      </p:sp>
      <p:sp>
        <p:nvSpPr>
          <p:cNvPr id="11" name="TextBox 10"/>
          <p:cNvSpPr txBox="1"/>
          <p:nvPr/>
        </p:nvSpPr>
        <p:spPr>
          <a:xfrm>
            <a:off x="3908948" y="3276601"/>
            <a:ext cx="1365127" cy="461665"/>
          </a:xfrm>
          <a:prstGeom prst="rect">
            <a:avLst/>
          </a:prstGeom>
          <a:noFill/>
        </p:spPr>
        <p:txBody>
          <a:bodyPr wrap="none" rtlCol="0">
            <a:spAutoFit/>
          </a:bodyPr>
          <a:lstStyle/>
          <a:p>
            <a:r>
              <a:rPr lang="en-US" sz="2400" dirty="0"/>
              <a:t>Insertion</a:t>
            </a:r>
          </a:p>
        </p:txBody>
      </p:sp>
      <p:grpSp>
        <p:nvGrpSpPr>
          <p:cNvPr id="8" name="Group 7"/>
          <p:cNvGrpSpPr/>
          <p:nvPr/>
        </p:nvGrpSpPr>
        <p:grpSpPr>
          <a:xfrm>
            <a:off x="3902891" y="2819400"/>
            <a:ext cx="4456363" cy="523220"/>
            <a:chOff x="2378890" y="2819400"/>
            <a:chExt cx="4456363" cy="523220"/>
          </a:xfrm>
        </p:grpSpPr>
        <p:sp>
          <p:nvSpPr>
            <p:cNvPr id="14" name="TextBox 13"/>
            <p:cNvSpPr txBox="1"/>
            <p:nvPr/>
          </p:nvSpPr>
          <p:spPr>
            <a:xfrm>
              <a:off x="4495800" y="2819400"/>
              <a:ext cx="2339453" cy="523220"/>
            </a:xfrm>
            <a:prstGeom prst="rect">
              <a:avLst/>
            </a:prstGeom>
            <a:noFill/>
          </p:spPr>
          <p:txBody>
            <a:bodyPr wrap="none" rtlCol="0">
              <a:spAutoFit/>
            </a:bodyPr>
            <a:lstStyle/>
            <a:p>
              <a:r>
                <a:rPr lang="en-US" sz="2800" b="1" dirty="0">
                  <a:solidFill>
                    <a:srgbClr val="008000"/>
                  </a:solidFill>
                  <a:latin typeface="Courier New"/>
                  <a:cs typeface="Courier New"/>
                </a:rPr>
                <a:t>…AAGGATGC…</a:t>
              </a:r>
            </a:p>
          </p:txBody>
        </p:sp>
        <p:sp>
          <p:nvSpPr>
            <p:cNvPr id="15" name="TextBox 14"/>
            <p:cNvSpPr txBox="1"/>
            <p:nvPr/>
          </p:nvSpPr>
          <p:spPr>
            <a:xfrm>
              <a:off x="2378890" y="2844800"/>
              <a:ext cx="1604676" cy="461665"/>
            </a:xfrm>
            <a:prstGeom prst="rect">
              <a:avLst/>
            </a:prstGeom>
            <a:noFill/>
          </p:spPr>
          <p:txBody>
            <a:bodyPr wrap="none" rtlCol="0">
              <a:spAutoFit/>
            </a:bodyPr>
            <a:lstStyle/>
            <a:p>
              <a:r>
                <a:rPr lang="en-US" sz="2400" dirty="0">
                  <a:solidFill>
                    <a:srgbClr val="008000"/>
                  </a:solidFill>
                </a:rPr>
                <a:t>Reference</a:t>
              </a:r>
            </a:p>
          </p:txBody>
        </p:sp>
      </p:grpSp>
      <p:sp>
        <p:nvSpPr>
          <p:cNvPr id="17" name="TextBox 16"/>
          <p:cNvSpPr txBox="1"/>
          <p:nvPr/>
        </p:nvSpPr>
        <p:spPr>
          <a:xfrm>
            <a:off x="6019801" y="3210580"/>
            <a:ext cx="2554931" cy="523220"/>
          </a:xfrm>
          <a:prstGeom prst="rect">
            <a:avLst/>
          </a:prstGeom>
          <a:noFill/>
        </p:spPr>
        <p:txBody>
          <a:bodyPr wrap="none" rtlCol="0">
            <a:spAutoFit/>
          </a:bodyPr>
          <a:lstStyle/>
          <a:p>
            <a:r>
              <a:rPr lang="en-US" sz="2800" b="1" dirty="0">
                <a:latin typeface="Courier New"/>
                <a:cs typeface="Courier New"/>
              </a:rPr>
              <a:t>…AAGG</a:t>
            </a:r>
            <a:r>
              <a:rPr lang="en-US" sz="2800" b="1" dirty="0">
                <a:solidFill>
                  <a:srgbClr val="0000FF"/>
                </a:solidFill>
                <a:latin typeface="Courier New"/>
                <a:cs typeface="Courier New"/>
              </a:rPr>
              <a:t>C</a:t>
            </a:r>
            <a:r>
              <a:rPr lang="en-US" sz="2800" b="1" dirty="0">
                <a:latin typeface="Courier New"/>
                <a:cs typeface="Courier New"/>
              </a:rPr>
              <a:t>ATGC…</a:t>
            </a:r>
          </a:p>
        </p:txBody>
      </p:sp>
      <p:sp>
        <p:nvSpPr>
          <p:cNvPr id="18" name="TextBox 17"/>
          <p:cNvSpPr txBox="1"/>
          <p:nvPr/>
        </p:nvSpPr>
        <p:spPr>
          <a:xfrm>
            <a:off x="6019801" y="3515380"/>
            <a:ext cx="2339453" cy="523220"/>
          </a:xfrm>
          <a:prstGeom prst="rect">
            <a:avLst/>
          </a:prstGeom>
          <a:noFill/>
        </p:spPr>
        <p:txBody>
          <a:bodyPr wrap="none" rtlCol="0">
            <a:spAutoFit/>
          </a:bodyPr>
          <a:lstStyle/>
          <a:p>
            <a:r>
              <a:rPr lang="en-US" sz="2800" b="1" dirty="0">
                <a:latin typeface="Courier New"/>
                <a:cs typeface="Courier New"/>
              </a:rPr>
              <a:t>…AAG--TGC…</a:t>
            </a:r>
          </a:p>
        </p:txBody>
      </p:sp>
      <p:grpSp>
        <p:nvGrpSpPr>
          <p:cNvPr id="7" name="Group 6"/>
          <p:cNvGrpSpPr/>
          <p:nvPr/>
        </p:nvGrpSpPr>
        <p:grpSpPr>
          <a:xfrm>
            <a:off x="3896247" y="3886200"/>
            <a:ext cx="4260648" cy="523220"/>
            <a:chOff x="2372247" y="3886200"/>
            <a:chExt cx="4260648" cy="523220"/>
          </a:xfrm>
        </p:grpSpPr>
        <p:sp>
          <p:nvSpPr>
            <p:cNvPr id="6" name="TextBox 5"/>
            <p:cNvSpPr txBox="1"/>
            <p:nvPr/>
          </p:nvSpPr>
          <p:spPr>
            <a:xfrm>
              <a:off x="2372247" y="3932535"/>
              <a:ext cx="1313881" cy="461665"/>
            </a:xfrm>
            <a:prstGeom prst="rect">
              <a:avLst/>
            </a:prstGeom>
            <a:noFill/>
          </p:spPr>
          <p:txBody>
            <a:bodyPr wrap="none" rtlCol="0">
              <a:spAutoFit/>
            </a:bodyPr>
            <a:lstStyle/>
            <a:p>
              <a:r>
                <a:rPr lang="en-US" sz="2400" dirty="0"/>
                <a:t>Deletion</a:t>
              </a:r>
            </a:p>
          </p:txBody>
        </p:sp>
        <p:sp>
          <p:nvSpPr>
            <p:cNvPr id="19" name="TextBox 18"/>
            <p:cNvSpPr txBox="1"/>
            <p:nvPr/>
          </p:nvSpPr>
          <p:spPr>
            <a:xfrm>
              <a:off x="4724400" y="3886200"/>
              <a:ext cx="1908495" cy="523220"/>
            </a:xfrm>
            <a:prstGeom prst="rect">
              <a:avLst/>
            </a:prstGeom>
            <a:noFill/>
          </p:spPr>
          <p:txBody>
            <a:bodyPr wrap="none" rtlCol="0">
              <a:spAutoFit/>
            </a:bodyPr>
            <a:lstStyle/>
            <a:p>
              <a:r>
                <a:rPr lang="en-US" sz="2800" b="1" dirty="0">
                  <a:latin typeface="Courier New"/>
                  <a:cs typeface="Courier New"/>
                </a:rPr>
                <a:t>…AAGTGC…</a:t>
              </a:r>
            </a:p>
          </p:txBody>
        </p:sp>
      </p:grpSp>
      <p:sp>
        <p:nvSpPr>
          <p:cNvPr id="20" name="TextBox 19"/>
          <p:cNvSpPr txBox="1"/>
          <p:nvPr/>
        </p:nvSpPr>
        <p:spPr>
          <a:xfrm>
            <a:off x="3898901" y="3576936"/>
            <a:ext cx="1313881" cy="461665"/>
          </a:xfrm>
          <a:prstGeom prst="rect">
            <a:avLst/>
          </a:prstGeom>
          <a:noFill/>
        </p:spPr>
        <p:txBody>
          <a:bodyPr wrap="none" rtlCol="0">
            <a:spAutoFit/>
          </a:bodyPr>
          <a:lstStyle/>
          <a:p>
            <a:r>
              <a:rPr lang="en-US" sz="2400" dirty="0"/>
              <a:t>Deletion</a:t>
            </a:r>
          </a:p>
        </p:txBody>
      </p:sp>
      <p:sp>
        <p:nvSpPr>
          <p:cNvPr id="21" name="Explosion 1 20"/>
          <p:cNvSpPr/>
          <p:nvPr/>
        </p:nvSpPr>
        <p:spPr>
          <a:xfrm>
            <a:off x="5427134" y="2793999"/>
            <a:ext cx="228600" cy="228600"/>
          </a:xfrm>
          <a:prstGeom prst="irregularSeal1">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00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xit" presetSubtype="0" fill="hold" grpId="1" nodeType="withEffect">
                                  <p:stCondLst>
                                    <p:cond delay="0"/>
                                  </p:stCondLst>
                                  <p:childTnLst>
                                    <p:set>
                                      <p:cBhvr>
                                        <p:cTn id="15" dur="1" fill="hold">
                                          <p:stCondLst>
                                            <p:cond delay="0"/>
                                          </p:stCondLst>
                                        </p:cTn>
                                        <p:tgtEl>
                                          <p:spTgt spid="1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presetID="1" presetClass="exit" presetSubtype="0" fill="hold" grpId="1" nodeType="withEffect">
                                  <p:stCondLst>
                                    <p:cond delay="0"/>
                                  </p:stCondLst>
                                  <p:childTnLst>
                                    <p:set>
                                      <p:cBhvr>
                                        <p:cTn id="21" dur="1" fill="hold">
                                          <p:stCondLst>
                                            <p:cond delay="0"/>
                                          </p:stCondLst>
                                        </p:cTn>
                                        <p:tgtEl>
                                          <p:spTgt spid="18"/>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1" grpId="0"/>
      <p:bldP spid="17" grpId="0"/>
      <p:bldP spid="18" grpId="0"/>
      <p:bldP spid="18" grpId="1"/>
      <p:bldP spid="20" grpId="0"/>
      <p:bldP spid="20" grpId="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DBD18-71FF-41D2-95ED-6BD5AD2046DF}"/>
              </a:ext>
            </a:extLst>
          </p:cNvPr>
          <p:cNvSpPr>
            <a:spLocks noGrp="1"/>
          </p:cNvSpPr>
          <p:nvPr>
            <p:ph type="title"/>
          </p:nvPr>
        </p:nvSpPr>
        <p:spPr>
          <a:xfrm>
            <a:off x="838200" y="282000"/>
            <a:ext cx="10515600" cy="1325563"/>
          </a:xfrm>
        </p:spPr>
        <p:txBody>
          <a:bodyPr>
            <a:normAutofit/>
          </a:bodyPr>
          <a:lstStyle/>
          <a:p>
            <a:pPr algn="l"/>
            <a:r>
              <a:rPr lang="en-US" sz="4000" b="1" dirty="0">
                <a:latin typeface="Times New Roman" panose="02020603050405020304" pitchFamily="18" charset="0"/>
                <a:cs typeface="Times New Roman" panose="02020603050405020304" pitchFamily="18" charset="0"/>
              </a:rPr>
              <a:t>Example</a:t>
            </a:r>
          </a:p>
        </p:txBody>
      </p:sp>
      <p:pic>
        <p:nvPicPr>
          <p:cNvPr id="1026" name="Picture 2" descr="Nonsense Mutation - Definition, Example, Outcomes | Biology Dictionary">
            <a:extLst>
              <a:ext uri="{FF2B5EF4-FFF2-40B4-BE49-F238E27FC236}">
                <a16:creationId xmlns:a16="http://schemas.microsoft.com/office/drawing/2014/main" id="{2A1F2097-8BBF-410A-ABFC-FD8AA4E343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86" y="1600200"/>
            <a:ext cx="6734871" cy="3576711"/>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7162A072-6C85-4F71-A1E6-E752245EA70B}"/>
              </a:ext>
            </a:extLst>
          </p:cNvPr>
          <p:cNvSpPr>
            <a:spLocks noGrp="1"/>
          </p:cNvSpPr>
          <p:nvPr>
            <p:ph type="sldNum" sz="quarter" idx="12"/>
          </p:nvPr>
        </p:nvSpPr>
        <p:spPr/>
        <p:txBody>
          <a:bodyPr/>
          <a:lstStyle/>
          <a:p>
            <a:fld id="{5179B700-391A-446A-AC53-7BB684CB5905}" type="slidenum">
              <a:rPr lang="en-US" smtClean="0"/>
              <a:t>12</a:t>
            </a:fld>
            <a:endParaRPr lang="en-US"/>
          </a:p>
        </p:txBody>
      </p:sp>
      <p:pic>
        <p:nvPicPr>
          <p:cNvPr id="8" name="Picture 2" descr="What is the Difference Between Nonsense and Missense Mutation ...">
            <a:extLst>
              <a:ext uri="{FF2B5EF4-FFF2-40B4-BE49-F238E27FC236}">
                <a16:creationId xmlns:a16="http://schemas.microsoft.com/office/drawing/2014/main" id="{28786A62-5AB9-471E-9D81-DEA0F169F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3330" y="0"/>
            <a:ext cx="41735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34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E8897-AF2B-4E80-9DA4-36CF384EF74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Examples</a:t>
            </a:r>
          </a:p>
        </p:txBody>
      </p:sp>
      <p:sp>
        <p:nvSpPr>
          <p:cNvPr id="3" name="Content Placeholder 2">
            <a:extLst>
              <a:ext uri="{FF2B5EF4-FFF2-40B4-BE49-F238E27FC236}">
                <a16:creationId xmlns:a16="http://schemas.microsoft.com/office/drawing/2014/main" id="{AB8420F8-3E6D-4C93-8398-10DDF519D573}"/>
              </a:ext>
            </a:extLst>
          </p:cNvPr>
          <p:cNvSpPr>
            <a:spLocks noGrp="1"/>
          </p:cNvSpPr>
          <p:nvPr>
            <p:ph idx="1"/>
          </p:nvPr>
        </p:nvSpPr>
        <p:spPr/>
        <p:txBody>
          <a:bodyPr/>
          <a:lstStyle/>
          <a:p>
            <a:endParaRPr lang="en-US"/>
          </a:p>
        </p:txBody>
      </p:sp>
      <p:sp>
        <p:nvSpPr>
          <p:cNvPr id="6" name="Slide Number Placeholder 5">
            <a:extLst>
              <a:ext uri="{FF2B5EF4-FFF2-40B4-BE49-F238E27FC236}">
                <a16:creationId xmlns:a16="http://schemas.microsoft.com/office/drawing/2014/main" id="{712B0E54-90D6-450B-B948-3C3F7499E76D}"/>
              </a:ext>
            </a:extLst>
          </p:cNvPr>
          <p:cNvSpPr>
            <a:spLocks noGrp="1"/>
          </p:cNvSpPr>
          <p:nvPr>
            <p:ph type="sldNum" sz="quarter" idx="12"/>
          </p:nvPr>
        </p:nvSpPr>
        <p:spPr/>
        <p:txBody>
          <a:bodyPr/>
          <a:lstStyle/>
          <a:p>
            <a:fld id="{5179B700-391A-446A-AC53-7BB684CB5905}" type="slidenum">
              <a:rPr lang="en-US" smtClean="0"/>
              <a:t>13</a:t>
            </a:fld>
            <a:endParaRPr lang="en-US"/>
          </a:p>
        </p:txBody>
      </p:sp>
      <p:pic>
        <p:nvPicPr>
          <p:cNvPr id="7" name="Picture 6">
            <a:extLst>
              <a:ext uri="{FF2B5EF4-FFF2-40B4-BE49-F238E27FC236}">
                <a16:creationId xmlns:a16="http://schemas.microsoft.com/office/drawing/2014/main" id="{3E191132-0FFE-44CF-AECE-606CA7DC7AAB}"/>
              </a:ext>
            </a:extLst>
          </p:cNvPr>
          <p:cNvPicPr>
            <a:picLocks noChangeAspect="1"/>
          </p:cNvPicPr>
          <p:nvPr/>
        </p:nvPicPr>
        <p:blipFill>
          <a:blip r:embed="rId2"/>
          <a:stretch>
            <a:fillRect/>
          </a:stretch>
        </p:blipFill>
        <p:spPr>
          <a:xfrm>
            <a:off x="609600" y="1710532"/>
            <a:ext cx="9915525" cy="4305300"/>
          </a:xfrm>
          <a:prstGeom prst="rect">
            <a:avLst/>
          </a:prstGeom>
        </p:spPr>
      </p:pic>
    </p:spTree>
    <p:extLst>
      <p:ext uri="{BB962C8B-B14F-4D97-AF65-F5344CB8AC3E}">
        <p14:creationId xmlns:p14="http://schemas.microsoft.com/office/powerpoint/2010/main" val="1961024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F7BC7-6316-4BAB-AC4D-A6D122B7189A}"/>
              </a:ext>
            </a:extLst>
          </p:cNvPr>
          <p:cNvSpPr>
            <a:spLocks noGrp="1"/>
          </p:cNvSpPr>
          <p:nvPr>
            <p:ph type="title"/>
          </p:nvPr>
        </p:nvSpPr>
        <p:spPr/>
        <p:txBody>
          <a:bodyPr>
            <a:normAutofit/>
          </a:bodyPr>
          <a:lstStyle/>
          <a:p>
            <a:pPr rtl="0"/>
            <a:r>
              <a:rPr lang="en-US" sz="4000" b="1" dirty="0">
                <a:latin typeface="Times New Roman" panose="02020603050405020304" pitchFamily="18" charset="0"/>
                <a:cs typeface="Times New Roman" panose="02020603050405020304" pitchFamily="18" charset="0"/>
              </a:rPr>
              <a:t>MUTATIONS</a:t>
            </a:r>
            <a:endParaRPr lang="ur-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2651BE-CB20-4BE7-987C-13B84DCC58B5}"/>
              </a:ext>
            </a:extLst>
          </p:cNvPr>
          <p:cNvSpPr>
            <a:spLocks noGrp="1"/>
          </p:cNvSpPr>
          <p:nvPr>
            <p:ph idx="1"/>
          </p:nvPr>
        </p:nvSpPr>
        <p:spPr>
          <a:xfrm>
            <a:off x="559558" y="1690688"/>
            <a:ext cx="10794242" cy="4486275"/>
          </a:xfrm>
        </p:spPr>
        <p:txBody>
          <a:bodyPr/>
          <a:lstStyle/>
          <a:p>
            <a:pPr algn="l" rtl="0"/>
            <a:r>
              <a:rPr lang="en-US" dirty="0">
                <a:latin typeface="Times New Roman" panose="02020603050405020304" pitchFamily="18" charset="0"/>
                <a:cs typeface="Times New Roman" panose="02020603050405020304" pitchFamily="18" charset="0"/>
              </a:rPr>
              <a:t>Mutations are alterations in the DNA that produce a sequence that is different from normal DNA/Protein.</a:t>
            </a:r>
          </a:p>
          <a:p>
            <a:pPr marL="0" indent="0" algn="l" rtl="0">
              <a:buNone/>
            </a:pPr>
            <a:endParaRPr lang="en-US" dirty="0">
              <a:latin typeface="Times New Roman" panose="02020603050405020304" pitchFamily="18" charset="0"/>
              <a:cs typeface="Times New Roman" panose="02020603050405020304" pitchFamily="18" charset="0"/>
            </a:endParaRPr>
          </a:p>
          <a:p>
            <a:pPr algn="l" rtl="0"/>
            <a:r>
              <a:rPr lang="en-US" dirty="0">
                <a:latin typeface="Times New Roman" panose="02020603050405020304" pitchFamily="18" charset="0"/>
                <a:cs typeface="Times New Roman" panose="02020603050405020304" pitchFamily="18" charset="0"/>
              </a:rPr>
              <a:t>Types:</a:t>
            </a:r>
          </a:p>
          <a:p>
            <a:pPr lvl="1"/>
            <a:r>
              <a:rPr lang="en-US" dirty="0">
                <a:latin typeface="Times New Roman" panose="02020603050405020304" pitchFamily="18" charset="0"/>
                <a:cs typeface="Times New Roman" panose="02020603050405020304" pitchFamily="18" charset="0"/>
              </a:rPr>
              <a:t>Neutral/Silent Mutations: Change in DNA but not in protein</a:t>
            </a:r>
          </a:p>
          <a:p>
            <a:pPr lvl="1"/>
            <a:r>
              <a:rPr lang="en-US" dirty="0">
                <a:latin typeface="Times New Roman" panose="02020603050405020304" pitchFamily="18" charset="0"/>
                <a:cs typeface="Times New Roman" panose="02020603050405020304" pitchFamily="18" charset="0"/>
              </a:rPr>
              <a:t>Missense: Change in DNA and protein</a:t>
            </a:r>
          </a:p>
          <a:p>
            <a:pPr lvl="1"/>
            <a:r>
              <a:rPr lang="en-US" dirty="0">
                <a:latin typeface="Times New Roman" panose="02020603050405020304" pitchFamily="18" charset="0"/>
                <a:cs typeface="Times New Roman" panose="02020603050405020304" pitchFamily="18" charset="0"/>
              </a:rPr>
              <a:t>Nonsense: Change in DNA, protein production stops</a:t>
            </a:r>
            <a:endParaRPr lang="ur-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1018310"/>
      </p:ext>
    </p:extLst>
  </p:cSld>
  <p:clrMapOvr>
    <a:masterClrMapping/>
  </p:clrMapOvr>
  <mc:AlternateContent xmlns:mc="http://schemas.openxmlformats.org/markup-compatibility/2006" xmlns:p14="http://schemas.microsoft.com/office/powerpoint/2010/main">
    <mc:Choice Requires="p14">
      <p:transition spd="slow" p14:dur="2000" advTm="163243"/>
    </mc:Choice>
    <mc:Fallback xmlns="">
      <p:transition spd="slow" advTm="16324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D6611-E96A-42F7-A390-936C3DF8E894}"/>
              </a:ext>
            </a:extLst>
          </p:cNvPr>
          <p:cNvSpPr>
            <a:spLocks noGrp="1"/>
          </p:cNvSpPr>
          <p:nvPr>
            <p:ph type="title"/>
          </p:nvPr>
        </p:nvSpPr>
        <p:spPr>
          <a:xfrm>
            <a:off x="838200" y="115746"/>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Summary </a:t>
            </a:r>
          </a:p>
        </p:txBody>
      </p:sp>
      <p:pic>
        <p:nvPicPr>
          <p:cNvPr id="3074" name="Picture 2" descr="TYPES OF MUTATION CAUSING HUMAN GENETIC DISEASE Nucleotide ...">
            <a:extLst>
              <a:ext uri="{FF2B5EF4-FFF2-40B4-BE49-F238E27FC236}">
                <a16:creationId xmlns:a16="http://schemas.microsoft.com/office/drawing/2014/main" id="{9BA2DE14-497F-4059-B6E5-9DCE4F95FDF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1561515"/>
            <a:ext cx="6130041" cy="474800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5F996E0C-9F0C-4939-871B-906AD0C9CED8}"/>
              </a:ext>
            </a:extLst>
          </p:cNvPr>
          <p:cNvSpPr>
            <a:spLocks noGrp="1"/>
          </p:cNvSpPr>
          <p:nvPr>
            <p:ph type="sldNum" sz="quarter" idx="12"/>
          </p:nvPr>
        </p:nvSpPr>
        <p:spPr/>
        <p:txBody>
          <a:bodyPr/>
          <a:lstStyle/>
          <a:p>
            <a:fld id="{5179B700-391A-446A-AC53-7BB684CB5905}" type="slidenum">
              <a:rPr lang="en-US" smtClean="0"/>
              <a:t>15</a:t>
            </a:fld>
            <a:endParaRPr lang="en-US"/>
          </a:p>
        </p:txBody>
      </p:sp>
      <p:pic>
        <p:nvPicPr>
          <p:cNvPr id="9" name="Picture 2" descr="Splice site mutation - Wikipedia">
            <a:extLst>
              <a:ext uri="{FF2B5EF4-FFF2-40B4-BE49-F238E27FC236}">
                <a16:creationId xmlns:a16="http://schemas.microsoft.com/office/drawing/2014/main" id="{B283C972-F2AA-4417-A563-EF6EA27B9B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4982"/>
            <a:ext cx="6096000" cy="4904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274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C39BCA-6C76-4777-AEFF-F859B461E4E8}"/>
              </a:ext>
            </a:extLst>
          </p:cNvPr>
          <p:cNvSpPr>
            <a:spLocks noGrp="1"/>
          </p:cNvSpPr>
          <p:nvPr>
            <p:ph idx="1"/>
          </p:nvPr>
        </p:nvSpPr>
        <p:spPr>
          <a:xfrm>
            <a:off x="1519841" y="2091626"/>
            <a:ext cx="8771313" cy="4351338"/>
          </a:xfrm>
        </p:spPr>
        <p:txBody>
          <a:bodyPr>
            <a:normAutofit/>
          </a:bodyPr>
          <a:lstStyle/>
          <a:p>
            <a:pPr marL="0" indent="0" algn="ctr">
              <a:buNone/>
            </a:pPr>
            <a:r>
              <a:rPr lang="en-US" sz="4400" b="1" dirty="0">
                <a:latin typeface="Times New Roman" panose="02020603050405020304" pitchFamily="18" charset="0"/>
                <a:cs typeface="Times New Roman" panose="02020603050405020304" pitchFamily="18" charset="0"/>
              </a:rPr>
              <a:t>Correlation between sequence variation and human disease</a:t>
            </a:r>
          </a:p>
          <a:p>
            <a:pPr algn="ctr"/>
            <a:endParaRPr lang="en-US" sz="44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C3C7DFCD-BE3D-43BA-BF55-32FD98C46CEC}"/>
              </a:ext>
            </a:extLst>
          </p:cNvPr>
          <p:cNvSpPr>
            <a:spLocks noGrp="1"/>
          </p:cNvSpPr>
          <p:nvPr>
            <p:ph type="sldNum" sz="quarter" idx="12"/>
          </p:nvPr>
        </p:nvSpPr>
        <p:spPr/>
        <p:txBody>
          <a:bodyPr/>
          <a:lstStyle/>
          <a:p>
            <a:fld id="{5179B700-391A-446A-AC53-7BB684CB5905}" type="slidenum">
              <a:rPr lang="en-US" smtClean="0"/>
              <a:t>16</a:t>
            </a:fld>
            <a:endParaRPr lang="en-US"/>
          </a:p>
        </p:txBody>
      </p:sp>
    </p:spTree>
    <p:extLst>
      <p:ext uri="{BB962C8B-B14F-4D97-AF65-F5344CB8AC3E}">
        <p14:creationId xmlns:p14="http://schemas.microsoft.com/office/powerpoint/2010/main" val="3033929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5409" y="66571"/>
            <a:ext cx="7874391" cy="1125353"/>
          </a:xfrm>
        </p:spPr>
        <p:txBody>
          <a:bodyPr>
            <a:normAutofit/>
          </a:bodyPr>
          <a:lstStyle/>
          <a:p>
            <a:r>
              <a:rPr lang="en-US" sz="4000" b="1" dirty="0">
                <a:latin typeface="Times New Roman" panose="02020603050405020304" pitchFamily="18" charset="0"/>
                <a:cs typeface="Times New Roman" panose="02020603050405020304" pitchFamily="18" charset="0"/>
              </a:rPr>
              <a:t>Why are Variations Important?</a:t>
            </a:r>
          </a:p>
        </p:txBody>
      </p:sp>
      <p:sp>
        <p:nvSpPr>
          <p:cNvPr id="3" name="Subtitle 2"/>
          <p:cNvSpPr>
            <a:spLocks noGrp="1"/>
          </p:cNvSpPr>
          <p:nvPr>
            <p:ph type="subTitle" idx="1"/>
          </p:nvPr>
        </p:nvSpPr>
        <p:spPr>
          <a:xfrm>
            <a:off x="2350476" y="1890054"/>
            <a:ext cx="7549981" cy="762000"/>
          </a:xfrm>
        </p:spPr>
        <p:txBody>
          <a:bodyPr>
            <a:normAutofit/>
          </a:bodyPr>
          <a:lstStyle/>
          <a:p>
            <a:r>
              <a:rPr lang="en-US" sz="2800" dirty="0">
                <a:latin typeface="Times New Roman" panose="02020603050405020304" pitchFamily="18" charset="0"/>
                <a:cs typeface="Times New Roman" panose="02020603050405020304" pitchFamily="18" charset="0"/>
              </a:rPr>
              <a:t>Most diseases have a genetic contribution</a:t>
            </a:r>
          </a:p>
        </p:txBody>
      </p:sp>
      <p:sp>
        <p:nvSpPr>
          <p:cNvPr id="5" name="Slide Number Placeholder 4"/>
          <p:cNvSpPr>
            <a:spLocks noGrp="1"/>
          </p:cNvSpPr>
          <p:nvPr>
            <p:ph type="sldNum" sz="quarter" idx="12"/>
          </p:nvPr>
        </p:nvSpPr>
        <p:spPr/>
        <p:txBody>
          <a:bodyPr/>
          <a:lstStyle/>
          <a:p>
            <a:fld id="{5179B700-391A-446A-AC53-7BB684CB5905}" type="slidenum">
              <a:rPr lang="en-US" smtClean="0"/>
              <a:t>17</a:t>
            </a:fld>
            <a:endParaRPr lang="en-US"/>
          </a:p>
        </p:txBody>
      </p:sp>
      <p:grpSp>
        <p:nvGrpSpPr>
          <p:cNvPr id="9" name="Group 8"/>
          <p:cNvGrpSpPr/>
          <p:nvPr/>
        </p:nvGrpSpPr>
        <p:grpSpPr>
          <a:xfrm>
            <a:off x="6324600" y="3809880"/>
            <a:ext cx="4429836" cy="830997"/>
            <a:chOff x="4495800" y="3524190"/>
            <a:chExt cx="3733798" cy="830997"/>
          </a:xfrm>
        </p:grpSpPr>
        <p:cxnSp>
          <p:nvCxnSpPr>
            <p:cNvPr id="10" name="Straight Arrow Connector 9"/>
            <p:cNvCxnSpPr/>
            <p:nvPr/>
          </p:nvCxnSpPr>
          <p:spPr>
            <a:xfrm>
              <a:off x="4495800" y="3733800"/>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399" y="3524190"/>
              <a:ext cx="2743199"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Mendelian/Monogenic diseases</a:t>
              </a:r>
            </a:p>
          </p:txBody>
        </p:sp>
      </p:grpSp>
      <p:grpSp>
        <p:nvGrpSpPr>
          <p:cNvPr id="12" name="Group 11"/>
          <p:cNvGrpSpPr/>
          <p:nvPr/>
        </p:nvGrpSpPr>
        <p:grpSpPr>
          <a:xfrm>
            <a:off x="2286000" y="2647890"/>
            <a:ext cx="3886200" cy="2432110"/>
            <a:chOff x="762000" y="2647890"/>
            <a:chExt cx="3886200" cy="2432110"/>
          </a:xfrm>
        </p:grpSpPr>
        <p:sp>
          <p:nvSpPr>
            <p:cNvPr id="17" name="TextBox 16"/>
            <p:cNvSpPr txBox="1"/>
            <p:nvPr/>
          </p:nvSpPr>
          <p:spPr>
            <a:xfrm>
              <a:off x="762000" y="2647890"/>
              <a:ext cx="3886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Know this from family pedigrees</a:t>
              </a:r>
            </a:p>
          </p:txBody>
        </p:sp>
        <p:pic>
          <p:nvPicPr>
            <p:cNvPr id="7" name="Picture 6" descr="rec-pedigree.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300" y="3124200"/>
              <a:ext cx="3556000" cy="1955800"/>
            </a:xfrm>
            <a:prstGeom prst="rect">
              <a:avLst/>
            </a:prstGeom>
          </p:spPr>
        </p:pic>
      </p:grpSp>
    </p:spTree>
    <p:extLst>
      <p:ext uri="{BB962C8B-B14F-4D97-AF65-F5344CB8AC3E}">
        <p14:creationId xmlns:p14="http://schemas.microsoft.com/office/powerpoint/2010/main" val="3753375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p:cNvSpPr>
            <a:spLocks noGrp="1"/>
          </p:cNvSpPr>
          <p:nvPr>
            <p:ph type="ctrTitle"/>
          </p:nvPr>
        </p:nvSpPr>
        <p:spPr>
          <a:xfrm>
            <a:off x="1600200" y="69277"/>
            <a:ext cx="8839200" cy="838199"/>
          </a:xfrm>
        </p:spPr>
        <p:txBody>
          <a:bodyPr>
            <a:normAutofit/>
          </a:bodyPr>
          <a:lstStyle/>
          <a:p>
            <a:r>
              <a:rPr lang="en-US" sz="4000" b="1" dirty="0">
                <a:latin typeface="Times New Roman" panose="02020603050405020304" pitchFamily="18" charset="0"/>
                <a:cs typeface="Times New Roman" panose="02020603050405020304" pitchFamily="18" charset="0"/>
              </a:rPr>
              <a:t>Monogenic Diseases</a:t>
            </a:r>
          </a:p>
        </p:txBody>
      </p:sp>
      <p:sp>
        <p:nvSpPr>
          <p:cNvPr id="5" name="Slide Number Placeholder 4"/>
          <p:cNvSpPr>
            <a:spLocks noGrp="1"/>
          </p:cNvSpPr>
          <p:nvPr>
            <p:ph type="sldNum" sz="quarter" idx="12"/>
          </p:nvPr>
        </p:nvSpPr>
        <p:spPr/>
        <p:txBody>
          <a:bodyPr/>
          <a:lstStyle/>
          <a:p>
            <a:fld id="{5179B700-391A-446A-AC53-7BB684CB5905}" type="slidenum">
              <a:rPr lang="en-US" smtClean="0"/>
              <a:t>18</a:t>
            </a:fld>
            <a:endParaRPr lang="en-US"/>
          </a:p>
        </p:txBody>
      </p:sp>
      <p:sp>
        <p:nvSpPr>
          <p:cNvPr id="23" name="Rounded Rectangle 22"/>
          <p:cNvSpPr/>
          <p:nvPr/>
        </p:nvSpPr>
        <p:spPr>
          <a:xfrm>
            <a:off x="2514600" y="2768599"/>
            <a:ext cx="1066800" cy="457200"/>
          </a:xfrm>
          <a:prstGeom prst="roundRect">
            <a:avLst/>
          </a:prstGeom>
          <a:solidFill>
            <a:srgbClr val="CCFFCC"/>
          </a:solidFill>
          <a:ln w="15875"/>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CFTR</a:t>
            </a:r>
          </a:p>
        </p:txBody>
      </p:sp>
      <p:sp>
        <p:nvSpPr>
          <p:cNvPr id="25" name="TextBox 24"/>
          <p:cNvSpPr txBox="1"/>
          <p:nvPr/>
        </p:nvSpPr>
        <p:spPr>
          <a:xfrm>
            <a:off x="4864100" y="2787131"/>
            <a:ext cx="1752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Cystic fibrosis</a:t>
            </a:r>
          </a:p>
        </p:txBody>
      </p:sp>
      <p:cxnSp>
        <p:nvCxnSpPr>
          <p:cNvPr id="26" name="Straight Arrow Connector 25"/>
          <p:cNvCxnSpPr/>
          <p:nvPr/>
        </p:nvCxnSpPr>
        <p:spPr>
          <a:xfrm>
            <a:off x="3962400" y="3026833"/>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514600" y="3556000"/>
            <a:ext cx="1066800" cy="457200"/>
          </a:xfrm>
          <a:prstGeom prst="roundRect">
            <a:avLst/>
          </a:prstGeom>
          <a:solidFill>
            <a:srgbClr val="CCFFCC"/>
          </a:solidFill>
          <a:ln w="15875"/>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HBB</a:t>
            </a:r>
          </a:p>
        </p:txBody>
      </p:sp>
      <p:sp>
        <p:nvSpPr>
          <p:cNvPr id="31" name="TextBox 30"/>
          <p:cNvSpPr txBox="1"/>
          <p:nvPr/>
        </p:nvSpPr>
        <p:spPr>
          <a:xfrm>
            <a:off x="4864100" y="3568700"/>
            <a:ext cx="2362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Sickle cell disease </a:t>
            </a:r>
          </a:p>
        </p:txBody>
      </p:sp>
      <p:cxnSp>
        <p:nvCxnSpPr>
          <p:cNvPr id="32" name="Straight Arrow Connector 31"/>
          <p:cNvCxnSpPr/>
          <p:nvPr/>
        </p:nvCxnSpPr>
        <p:spPr>
          <a:xfrm>
            <a:off x="3962400" y="3801534"/>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114800" y="1371601"/>
            <a:ext cx="39624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Mendelian, monogenic, rare</a:t>
            </a:r>
          </a:p>
        </p:txBody>
      </p:sp>
      <p:sp>
        <p:nvSpPr>
          <p:cNvPr id="34" name="Rounded Rectangle 33"/>
          <p:cNvSpPr/>
          <p:nvPr/>
        </p:nvSpPr>
        <p:spPr>
          <a:xfrm>
            <a:off x="2514600" y="4343400"/>
            <a:ext cx="1066800" cy="457200"/>
          </a:xfrm>
          <a:prstGeom prst="roundRect">
            <a:avLst/>
          </a:prstGeom>
          <a:solidFill>
            <a:srgbClr val="CCFFCC"/>
          </a:solidFill>
          <a:ln w="15875"/>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HFE</a:t>
            </a:r>
          </a:p>
        </p:txBody>
      </p:sp>
      <p:cxnSp>
        <p:nvCxnSpPr>
          <p:cNvPr id="35" name="Straight Arrow Connector 34"/>
          <p:cNvCxnSpPr/>
          <p:nvPr/>
        </p:nvCxnSpPr>
        <p:spPr>
          <a:xfrm>
            <a:off x="3962400" y="4572000"/>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64100" y="4356100"/>
            <a:ext cx="2362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Hemochromatosis</a:t>
            </a:r>
          </a:p>
        </p:txBody>
      </p:sp>
      <p:grpSp>
        <p:nvGrpSpPr>
          <p:cNvPr id="60" name="Group 59"/>
          <p:cNvGrpSpPr/>
          <p:nvPr/>
        </p:nvGrpSpPr>
        <p:grpSpPr>
          <a:xfrm>
            <a:off x="7543800" y="3251200"/>
            <a:ext cx="2895600" cy="1168400"/>
            <a:chOff x="6248400" y="2971800"/>
            <a:chExt cx="2895600" cy="1168400"/>
          </a:xfrm>
        </p:grpSpPr>
        <p:sp>
          <p:nvSpPr>
            <p:cNvPr id="24" name="Rounded Rectangle 23"/>
            <p:cNvSpPr/>
            <p:nvPr/>
          </p:nvSpPr>
          <p:spPr>
            <a:xfrm>
              <a:off x="7086600" y="3073399"/>
              <a:ext cx="2057400" cy="838201"/>
            </a:xfrm>
            <a:prstGeom prst="roundRect">
              <a:avLst/>
            </a:prstGeom>
            <a:solidFill>
              <a:schemeClr val="bg1">
                <a:lumMod val="85000"/>
              </a:schemeClr>
            </a:solidFill>
            <a:ln w="15875">
              <a:solidFill>
                <a:schemeClr val="tx1">
                  <a:lumMod val="50000"/>
                  <a:lumOff val="50000"/>
                </a:schemeClr>
              </a:solidFill>
            </a:ln>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lumMod val="65000"/>
                      <a:lumOff val="35000"/>
                    </a:schemeClr>
                  </a:solidFill>
                  <a:latin typeface="Times New Roman" panose="02020603050405020304" pitchFamily="18" charset="0"/>
                  <a:cs typeface="Times New Roman" panose="02020603050405020304" pitchFamily="18" charset="0"/>
                </a:rPr>
                <a:t>Environmental</a:t>
              </a:r>
            </a:p>
            <a:p>
              <a:pPr algn="ctr"/>
              <a:r>
                <a:rPr lang="en-US" sz="1600" dirty="0">
                  <a:solidFill>
                    <a:schemeClr val="tx1">
                      <a:lumMod val="65000"/>
                      <a:lumOff val="35000"/>
                    </a:schemeClr>
                  </a:solidFill>
                  <a:latin typeface="Times New Roman" panose="02020603050405020304" pitchFamily="18" charset="0"/>
                  <a:cs typeface="Times New Roman" panose="02020603050405020304" pitchFamily="18" charset="0"/>
                </a:rPr>
                <a:t>&amp;</a:t>
              </a:r>
            </a:p>
            <a:p>
              <a:pPr algn="ctr"/>
              <a:r>
                <a:rPr lang="en-US" sz="1600" dirty="0">
                  <a:solidFill>
                    <a:schemeClr val="tx1">
                      <a:lumMod val="65000"/>
                      <a:lumOff val="35000"/>
                    </a:schemeClr>
                  </a:solidFill>
                  <a:latin typeface="Times New Roman" panose="02020603050405020304" pitchFamily="18" charset="0"/>
                  <a:cs typeface="Times New Roman" panose="02020603050405020304" pitchFamily="18" charset="0"/>
                </a:rPr>
                <a:t>epigenetic factors</a:t>
              </a:r>
            </a:p>
          </p:txBody>
        </p:sp>
        <p:cxnSp>
          <p:nvCxnSpPr>
            <p:cNvPr id="27" name="Straight Arrow Connector 26"/>
            <p:cNvCxnSpPr/>
            <p:nvPr/>
          </p:nvCxnSpPr>
          <p:spPr>
            <a:xfrm flipH="1" flipV="1">
              <a:off x="6248400" y="2971800"/>
              <a:ext cx="723900" cy="26670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6248400" y="3505200"/>
              <a:ext cx="685800" cy="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a:off x="6324600" y="3784599"/>
              <a:ext cx="626531" cy="355601"/>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19323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376" y="421177"/>
            <a:ext cx="11353800" cy="838199"/>
          </a:xfrm>
        </p:spPr>
        <p:txBody>
          <a:bodyPr>
            <a:noAutofit/>
          </a:bodyPr>
          <a:lstStyle/>
          <a:p>
            <a:r>
              <a:rPr lang="en-US" sz="4000" b="1" dirty="0">
                <a:latin typeface="Times New Roman" panose="02020603050405020304" pitchFamily="18" charset="0"/>
                <a:cs typeface="Times New Roman" panose="02020603050405020304" pitchFamily="18" charset="0"/>
              </a:rPr>
              <a:t>Cystic Fibrosis Transmembrane Regulator Gene</a:t>
            </a:r>
          </a:p>
        </p:txBody>
      </p:sp>
      <p:sp>
        <p:nvSpPr>
          <p:cNvPr id="5" name="Slide Number Placeholder 4"/>
          <p:cNvSpPr>
            <a:spLocks noGrp="1"/>
          </p:cNvSpPr>
          <p:nvPr>
            <p:ph type="sldNum" sz="quarter" idx="12"/>
          </p:nvPr>
        </p:nvSpPr>
        <p:spPr/>
        <p:txBody>
          <a:bodyPr/>
          <a:lstStyle/>
          <a:p>
            <a:fld id="{5179B700-391A-446A-AC53-7BB684CB5905}" type="slidenum">
              <a:rPr lang="en-US" smtClean="0"/>
              <a:t>19</a:t>
            </a:fld>
            <a:endParaRPr lang="en-US"/>
          </a:p>
        </p:txBody>
      </p:sp>
      <p:sp>
        <p:nvSpPr>
          <p:cNvPr id="15" name="TextBox 14"/>
          <p:cNvSpPr txBox="1"/>
          <p:nvPr/>
        </p:nvSpPr>
        <p:spPr>
          <a:xfrm>
            <a:off x="4967682" y="2514600"/>
            <a:ext cx="4709718" cy="523220"/>
          </a:xfrm>
          <a:prstGeom prst="rect">
            <a:avLst/>
          </a:prstGeom>
          <a:noFill/>
        </p:spPr>
        <p:txBody>
          <a:bodyPr wrap="none" rtlCol="0">
            <a:spAutoFit/>
          </a:bodyPr>
          <a:lstStyle/>
          <a:p>
            <a:r>
              <a:rPr lang="en-US" sz="2800" b="1" dirty="0">
                <a:latin typeface="Courier New"/>
                <a:cs typeface="Courier New"/>
              </a:rPr>
              <a:t>…ATC ATC TTT GGT GTT…</a:t>
            </a:r>
          </a:p>
        </p:txBody>
      </p:sp>
      <p:sp>
        <p:nvSpPr>
          <p:cNvPr id="17" name="TextBox 16"/>
          <p:cNvSpPr txBox="1"/>
          <p:nvPr/>
        </p:nvSpPr>
        <p:spPr>
          <a:xfrm>
            <a:off x="4967683" y="2895600"/>
            <a:ext cx="4288353" cy="523220"/>
          </a:xfrm>
          <a:prstGeom prst="rect">
            <a:avLst/>
          </a:prstGeom>
          <a:noFill/>
        </p:spPr>
        <p:txBody>
          <a:bodyPr wrap="none" rtlCol="0">
            <a:spAutoFit/>
          </a:bodyPr>
          <a:lstStyle/>
          <a:p>
            <a:r>
              <a:rPr lang="en-US" sz="2800" b="1" dirty="0">
                <a:latin typeface="Courier New"/>
                <a:cs typeface="Courier New"/>
              </a:rPr>
              <a:t>  </a:t>
            </a:r>
            <a:r>
              <a:rPr lang="en-US" sz="2800" b="1" dirty="0">
                <a:solidFill>
                  <a:srgbClr val="008000"/>
                </a:solidFill>
                <a:latin typeface="Courier New"/>
                <a:cs typeface="Courier New"/>
              </a:rPr>
              <a:t>I   I   F   G   V</a:t>
            </a:r>
            <a:endParaRPr lang="en-US" sz="2800" b="1" dirty="0">
              <a:latin typeface="Courier New"/>
              <a:cs typeface="Courier New"/>
            </a:endParaRPr>
          </a:p>
        </p:txBody>
      </p:sp>
      <p:sp>
        <p:nvSpPr>
          <p:cNvPr id="8" name="TextBox 7"/>
          <p:cNvSpPr txBox="1"/>
          <p:nvPr/>
        </p:nvSpPr>
        <p:spPr>
          <a:xfrm>
            <a:off x="2133600" y="2590800"/>
            <a:ext cx="25908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Normal CFTR gene</a:t>
            </a:r>
          </a:p>
        </p:txBody>
      </p:sp>
      <p:sp>
        <p:nvSpPr>
          <p:cNvPr id="20" name="TextBox 19"/>
          <p:cNvSpPr txBox="1"/>
          <p:nvPr/>
        </p:nvSpPr>
        <p:spPr>
          <a:xfrm>
            <a:off x="5199069" y="3395243"/>
            <a:ext cx="4247978" cy="338554"/>
          </a:xfrm>
          <a:prstGeom prst="rect">
            <a:avLst/>
          </a:prstGeom>
          <a:noFill/>
        </p:spPr>
        <p:txBody>
          <a:bodyPr wrap="none" rtlCol="0">
            <a:spAutoFit/>
          </a:bodyPr>
          <a:lstStyle/>
          <a:p>
            <a:r>
              <a:rPr lang="en-US" sz="1600" b="1" dirty="0">
                <a:latin typeface="Courier New"/>
                <a:cs typeface="Courier New"/>
              </a:rPr>
              <a:t> </a:t>
            </a:r>
            <a:r>
              <a:rPr lang="en-US" sz="1600" dirty="0">
                <a:latin typeface="Courier New"/>
                <a:cs typeface="Courier New"/>
              </a:rPr>
              <a:t>506    507    508    509    510</a:t>
            </a:r>
            <a:endParaRPr lang="en-US" sz="1600" b="1" dirty="0">
              <a:latin typeface="Courier New"/>
              <a:cs typeface="Courier New"/>
            </a:endParaRPr>
          </a:p>
        </p:txBody>
      </p:sp>
      <p:grpSp>
        <p:nvGrpSpPr>
          <p:cNvPr id="7" name="Group 6"/>
          <p:cNvGrpSpPr/>
          <p:nvPr/>
        </p:nvGrpSpPr>
        <p:grpSpPr>
          <a:xfrm>
            <a:off x="2743201" y="3972580"/>
            <a:ext cx="6957841" cy="1395174"/>
            <a:chOff x="685800" y="4353580"/>
            <a:chExt cx="6957841" cy="1395174"/>
          </a:xfrm>
        </p:grpSpPr>
        <p:sp>
          <p:nvSpPr>
            <p:cNvPr id="19" name="TextBox 18"/>
            <p:cNvSpPr txBox="1"/>
            <p:nvPr/>
          </p:nvSpPr>
          <p:spPr>
            <a:xfrm>
              <a:off x="685800" y="4495800"/>
              <a:ext cx="1981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CFTR  DF508</a:t>
              </a:r>
            </a:p>
          </p:txBody>
        </p:sp>
        <p:sp>
          <p:nvSpPr>
            <p:cNvPr id="21" name="TextBox 20"/>
            <p:cNvSpPr txBox="1"/>
            <p:nvPr/>
          </p:nvSpPr>
          <p:spPr>
            <a:xfrm>
              <a:off x="2910282" y="4353580"/>
              <a:ext cx="3847803" cy="523220"/>
            </a:xfrm>
            <a:prstGeom prst="rect">
              <a:avLst/>
            </a:prstGeom>
            <a:noFill/>
          </p:spPr>
          <p:txBody>
            <a:bodyPr wrap="none" rtlCol="0">
              <a:spAutoFit/>
            </a:bodyPr>
            <a:lstStyle/>
            <a:p>
              <a:r>
                <a:rPr lang="en-US" sz="2800" b="1" dirty="0">
                  <a:latin typeface="Courier New"/>
                  <a:cs typeface="Courier New"/>
                </a:rPr>
                <a:t>…ATC ATT GGT GTT…</a:t>
              </a:r>
            </a:p>
          </p:txBody>
        </p:sp>
        <p:sp>
          <p:nvSpPr>
            <p:cNvPr id="22" name="TextBox 21"/>
            <p:cNvSpPr txBox="1"/>
            <p:nvPr/>
          </p:nvSpPr>
          <p:spPr>
            <a:xfrm>
              <a:off x="2910282" y="4876800"/>
              <a:ext cx="3429144" cy="523220"/>
            </a:xfrm>
            <a:prstGeom prst="rect">
              <a:avLst/>
            </a:prstGeom>
            <a:noFill/>
          </p:spPr>
          <p:txBody>
            <a:bodyPr wrap="none" rtlCol="0">
              <a:spAutoFit/>
            </a:bodyPr>
            <a:lstStyle/>
            <a:p>
              <a:r>
                <a:rPr lang="en-US" sz="2800" b="1" dirty="0">
                  <a:latin typeface="Courier New"/>
                  <a:cs typeface="Courier New"/>
                </a:rPr>
                <a:t>  </a:t>
              </a:r>
              <a:r>
                <a:rPr lang="en-US" sz="2800" b="1" dirty="0">
                  <a:solidFill>
                    <a:srgbClr val="008000"/>
                  </a:solidFill>
                  <a:latin typeface="Courier New"/>
                  <a:cs typeface="Courier New"/>
                </a:rPr>
                <a:t>I   I   G   V</a:t>
              </a:r>
              <a:endParaRPr lang="en-US" sz="2800" b="1" dirty="0">
                <a:latin typeface="Courier New"/>
                <a:cs typeface="Courier New"/>
              </a:endParaRPr>
            </a:p>
          </p:txBody>
        </p:sp>
        <p:sp>
          <p:nvSpPr>
            <p:cNvPr id="23" name="TextBox 22"/>
            <p:cNvSpPr txBox="1"/>
            <p:nvPr/>
          </p:nvSpPr>
          <p:spPr>
            <a:xfrm>
              <a:off x="3138882" y="5410200"/>
              <a:ext cx="4504759" cy="338554"/>
            </a:xfrm>
            <a:prstGeom prst="rect">
              <a:avLst/>
            </a:prstGeom>
            <a:noFill/>
          </p:spPr>
          <p:txBody>
            <a:bodyPr wrap="none" rtlCol="0">
              <a:spAutoFit/>
            </a:bodyPr>
            <a:lstStyle/>
            <a:p>
              <a:r>
                <a:rPr lang="en-US" sz="1600" b="1" dirty="0">
                  <a:latin typeface="Courier New"/>
                  <a:cs typeface="Courier New"/>
                </a:rPr>
                <a:t> </a:t>
              </a:r>
              <a:r>
                <a:rPr lang="en-US" sz="1600" dirty="0">
                  <a:latin typeface="Courier New"/>
                  <a:cs typeface="Courier New"/>
                </a:rPr>
                <a:t>506    507    508    510          </a:t>
              </a:r>
              <a:endParaRPr lang="en-US" sz="1600" b="1" dirty="0">
                <a:latin typeface="Courier New"/>
                <a:cs typeface="Courier New"/>
              </a:endParaRPr>
            </a:p>
          </p:txBody>
        </p:sp>
      </p:grpSp>
      <p:grpSp>
        <p:nvGrpSpPr>
          <p:cNvPr id="14" name="Group 13"/>
          <p:cNvGrpSpPr/>
          <p:nvPr/>
        </p:nvGrpSpPr>
        <p:grpSpPr>
          <a:xfrm>
            <a:off x="6567882" y="1676400"/>
            <a:ext cx="1616237" cy="1371600"/>
            <a:chOff x="5043882" y="1676400"/>
            <a:chExt cx="1616237" cy="1371600"/>
          </a:xfrm>
        </p:grpSpPr>
        <p:sp>
          <p:nvSpPr>
            <p:cNvPr id="9" name="Rectangle 8"/>
            <p:cNvSpPr/>
            <p:nvPr/>
          </p:nvSpPr>
          <p:spPr>
            <a:xfrm>
              <a:off x="5043882" y="2514600"/>
              <a:ext cx="838200" cy="5334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5486400" y="1676400"/>
              <a:ext cx="1173719"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deletion</a:t>
              </a:r>
            </a:p>
          </p:txBody>
        </p:sp>
        <p:cxnSp>
          <p:nvCxnSpPr>
            <p:cNvPr id="13" name="Straight Connector 12"/>
            <p:cNvCxnSpPr/>
            <p:nvPr/>
          </p:nvCxnSpPr>
          <p:spPr>
            <a:xfrm flipV="1">
              <a:off x="5486400" y="2133600"/>
              <a:ext cx="152400" cy="38100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00797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p:cNvSpPr>
            <a:spLocks noGrp="1"/>
          </p:cNvSpPr>
          <p:nvPr>
            <p:ph type="ctrTitle"/>
          </p:nvPr>
        </p:nvSpPr>
        <p:spPr>
          <a:xfrm>
            <a:off x="1600200" y="52652"/>
            <a:ext cx="8839200" cy="838199"/>
          </a:xfrm>
        </p:spPr>
        <p:txBody>
          <a:bodyPr>
            <a:normAutofit/>
          </a:bodyPr>
          <a:lstStyle/>
          <a:p>
            <a:r>
              <a:rPr lang="en-US" sz="4000" b="1" dirty="0">
                <a:latin typeface="Times New Roman" panose="02020603050405020304" pitchFamily="18" charset="0"/>
                <a:cs typeface="Times New Roman" panose="02020603050405020304" pitchFamily="18" charset="0"/>
              </a:rPr>
              <a:t>Multigenic Diseases</a:t>
            </a:r>
          </a:p>
        </p:txBody>
      </p:sp>
      <p:sp>
        <p:nvSpPr>
          <p:cNvPr id="5" name="Slide Number Placeholder 4"/>
          <p:cNvSpPr>
            <a:spLocks noGrp="1"/>
          </p:cNvSpPr>
          <p:nvPr>
            <p:ph type="sldNum" sz="quarter" idx="12"/>
          </p:nvPr>
        </p:nvSpPr>
        <p:spPr/>
        <p:txBody>
          <a:bodyPr/>
          <a:lstStyle/>
          <a:p>
            <a:fld id="{5179B700-391A-446A-AC53-7BB684CB5905}"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sp>
        <p:nvSpPr>
          <p:cNvPr id="8" name="Rounded Rectangle 7"/>
          <p:cNvSpPr/>
          <p:nvPr/>
        </p:nvSpPr>
        <p:spPr>
          <a:xfrm>
            <a:off x="2286000" y="2209800"/>
            <a:ext cx="2209800" cy="914400"/>
          </a:xfrm>
          <a:prstGeom prst="roundRect">
            <a:avLst/>
          </a:prstGeom>
          <a:solidFill>
            <a:schemeClr val="accent1">
              <a:lumMod val="20000"/>
              <a:lumOff val="80000"/>
            </a:schemeClr>
          </a:solidFill>
          <a:ln w="15875"/>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FOXP2, PTPN22, HNF1A, OAS1, ITPR3, IL6, ?, ?, ? </a:t>
            </a:r>
          </a:p>
        </p:txBody>
      </p:sp>
      <p:sp>
        <p:nvSpPr>
          <p:cNvPr id="11" name="TextBox 10"/>
          <p:cNvSpPr txBox="1"/>
          <p:nvPr/>
        </p:nvSpPr>
        <p:spPr>
          <a:xfrm>
            <a:off x="5791200" y="2451100"/>
            <a:ext cx="1981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Type 1 diabetes</a:t>
            </a:r>
          </a:p>
        </p:txBody>
      </p:sp>
      <p:cxnSp>
        <p:nvCxnSpPr>
          <p:cNvPr id="13" name="Straight Arrow Connector 12"/>
          <p:cNvCxnSpPr/>
          <p:nvPr/>
        </p:nvCxnSpPr>
        <p:spPr>
          <a:xfrm>
            <a:off x="4724400" y="2667000"/>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791200" y="3826938"/>
            <a:ext cx="1447800" cy="400110"/>
          </a:xfrm>
          <a:prstGeom prst="rect">
            <a:avLst/>
          </a:prstGeom>
          <a:noFill/>
        </p:spPr>
        <p:txBody>
          <a:bodyPr wrap="square" rtlCol="0">
            <a:spAutoFit/>
          </a:bodyPr>
          <a:lstStyle/>
          <a:p>
            <a:r>
              <a:rPr lang="en-US" sz="2000" dirty="0" err="1">
                <a:latin typeface="Times New Roman" panose="02020603050405020304" pitchFamily="18" charset="0"/>
                <a:cs typeface="Times New Roman" panose="02020603050405020304" pitchFamily="18" charset="0"/>
              </a:rPr>
              <a:t>Alzheimers</a:t>
            </a:r>
            <a:endParaRPr lang="en-US" sz="2000" dirty="0">
              <a:latin typeface="Times New Roman" panose="02020603050405020304" pitchFamily="18" charset="0"/>
              <a:cs typeface="Times New Roman" panose="02020603050405020304" pitchFamily="18" charset="0"/>
            </a:endParaRPr>
          </a:p>
        </p:txBody>
      </p:sp>
      <p:cxnSp>
        <p:nvCxnSpPr>
          <p:cNvPr id="37" name="Straight Arrow Connector 36"/>
          <p:cNvCxnSpPr/>
          <p:nvPr/>
        </p:nvCxnSpPr>
        <p:spPr>
          <a:xfrm>
            <a:off x="4724400" y="4038600"/>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2286000" y="3581400"/>
            <a:ext cx="2209800" cy="914400"/>
          </a:xfrm>
          <a:prstGeom prst="roundRect">
            <a:avLst/>
          </a:prstGeom>
          <a:solidFill>
            <a:schemeClr val="accent1">
              <a:lumMod val="20000"/>
              <a:lumOff val="80000"/>
            </a:schemeClr>
          </a:solidFill>
          <a:ln w="15875"/>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APOE4, APP,</a:t>
            </a:r>
          </a:p>
          <a:p>
            <a:pPr algn="ctr"/>
            <a:r>
              <a:rPr lang="en-US" dirty="0">
                <a:latin typeface="Times New Roman" panose="02020603050405020304" pitchFamily="18" charset="0"/>
                <a:cs typeface="Times New Roman" panose="02020603050405020304" pitchFamily="18" charset="0"/>
              </a:rPr>
              <a:t>&gt; a dozen more </a:t>
            </a:r>
          </a:p>
        </p:txBody>
      </p:sp>
      <p:sp>
        <p:nvSpPr>
          <p:cNvPr id="9" name="TextBox 8"/>
          <p:cNvSpPr txBox="1"/>
          <p:nvPr/>
        </p:nvSpPr>
        <p:spPr>
          <a:xfrm>
            <a:off x="3581400" y="1295401"/>
            <a:ext cx="50292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Complex traits, multigenic, common </a:t>
            </a:r>
          </a:p>
        </p:txBody>
      </p:sp>
      <p:sp>
        <p:nvSpPr>
          <p:cNvPr id="34" name="Rounded Rectangle 33"/>
          <p:cNvSpPr/>
          <p:nvPr/>
        </p:nvSpPr>
        <p:spPr>
          <a:xfrm>
            <a:off x="2286000" y="4914900"/>
            <a:ext cx="2209800" cy="1143000"/>
          </a:xfrm>
          <a:prstGeom prst="roundRect">
            <a:avLst/>
          </a:prstGeom>
          <a:solidFill>
            <a:schemeClr val="accent1">
              <a:lumMod val="20000"/>
              <a:lumOff val="80000"/>
            </a:schemeClr>
          </a:solidFill>
          <a:ln w="15875"/>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LDLR, APOE, APOB-100, </a:t>
            </a:r>
            <a:r>
              <a:rPr lang="en-US" sz="1600" dirty="0" err="1">
                <a:latin typeface="Times New Roman" panose="02020603050405020304" pitchFamily="18" charset="0"/>
                <a:cs typeface="Times New Roman" panose="02020603050405020304" pitchFamily="18" charset="0"/>
              </a:rPr>
              <a:t>APOa</a:t>
            </a:r>
            <a:r>
              <a:rPr lang="en-US" sz="1600" dirty="0">
                <a:latin typeface="Times New Roman" panose="02020603050405020304" pitchFamily="18" charset="0"/>
                <a:cs typeface="Times New Roman" panose="02020603050405020304" pitchFamily="18" charset="0"/>
              </a:rPr>
              <a:t>, MTHFR, ACE, ITGB3, dozens more</a:t>
            </a:r>
          </a:p>
        </p:txBody>
      </p:sp>
      <p:sp>
        <p:nvSpPr>
          <p:cNvPr id="35" name="TextBox 34"/>
          <p:cNvSpPr txBox="1"/>
          <p:nvPr/>
        </p:nvSpPr>
        <p:spPr>
          <a:xfrm>
            <a:off x="5791200" y="5289490"/>
            <a:ext cx="2895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Coronary artery disease</a:t>
            </a:r>
          </a:p>
        </p:txBody>
      </p:sp>
      <p:cxnSp>
        <p:nvCxnSpPr>
          <p:cNvPr id="38" name="Straight Arrow Connector 37"/>
          <p:cNvCxnSpPr/>
          <p:nvPr/>
        </p:nvCxnSpPr>
        <p:spPr>
          <a:xfrm>
            <a:off x="4724400" y="5494862"/>
            <a:ext cx="76200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2" name="Group 1"/>
          <p:cNvGrpSpPr/>
          <p:nvPr/>
        </p:nvGrpSpPr>
        <p:grpSpPr>
          <a:xfrm>
            <a:off x="7848600" y="3352800"/>
            <a:ext cx="2743200" cy="1354666"/>
            <a:chOff x="6324600" y="3352800"/>
            <a:chExt cx="2743200" cy="1354666"/>
          </a:xfrm>
        </p:grpSpPr>
        <p:grpSp>
          <p:nvGrpSpPr>
            <p:cNvPr id="42" name="Group 41"/>
            <p:cNvGrpSpPr/>
            <p:nvPr/>
          </p:nvGrpSpPr>
          <p:grpSpPr>
            <a:xfrm>
              <a:off x="6324600" y="3352800"/>
              <a:ext cx="723900" cy="1354666"/>
              <a:chOff x="6248400" y="2819400"/>
              <a:chExt cx="723900" cy="1354666"/>
            </a:xfrm>
          </p:grpSpPr>
          <p:cxnSp>
            <p:nvCxnSpPr>
              <p:cNvPr id="49" name="Straight Arrow Connector 48"/>
              <p:cNvCxnSpPr/>
              <p:nvPr/>
            </p:nvCxnSpPr>
            <p:spPr>
              <a:xfrm flipH="1" flipV="1">
                <a:off x="6400800" y="2819400"/>
                <a:ext cx="571500" cy="41910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flipH="1">
                <a:off x="6248400" y="3505200"/>
                <a:ext cx="685800" cy="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H="1">
                <a:off x="6417734" y="3793066"/>
                <a:ext cx="533400" cy="38100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grpSp>
        <p:sp>
          <p:nvSpPr>
            <p:cNvPr id="21" name="Rounded Rectangle 20"/>
            <p:cNvSpPr/>
            <p:nvPr/>
          </p:nvSpPr>
          <p:spPr>
            <a:xfrm>
              <a:off x="7137399" y="3581399"/>
              <a:ext cx="1930401" cy="838201"/>
            </a:xfrm>
            <a:prstGeom prst="roundRect">
              <a:avLst/>
            </a:prstGeom>
            <a:solidFill>
              <a:schemeClr val="bg1">
                <a:lumMod val="85000"/>
              </a:schemeClr>
            </a:solidFill>
            <a:ln w="15875">
              <a:solidFill>
                <a:schemeClr val="tx1">
                  <a:lumMod val="50000"/>
                  <a:lumOff val="50000"/>
                </a:schemeClr>
              </a:solidFill>
            </a:ln>
            <a:effectLst>
              <a:outerShdw blurRad="50800" dist="38100" dir="2700000" algn="tl" rotWithShape="0">
                <a:srgbClr val="000000">
                  <a:alpha val="43000"/>
                </a:srgb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rgbClr val="595959"/>
                  </a:solidFill>
                  <a:latin typeface="Times New Roman" panose="02020603050405020304" pitchFamily="18" charset="0"/>
                  <a:cs typeface="Times New Roman" panose="02020603050405020304" pitchFamily="18" charset="0"/>
                </a:rPr>
                <a:t>Environmental</a:t>
              </a:r>
            </a:p>
            <a:p>
              <a:pPr algn="ctr"/>
              <a:r>
                <a:rPr lang="en-US" sz="1600" dirty="0">
                  <a:solidFill>
                    <a:srgbClr val="595959"/>
                  </a:solidFill>
                  <a:latin typeface="Times New Roman" panose="02020603050405020304" pitchFamily="18" charset="0"/>
                  <a:cs typeface="Times New Roman" panose="02020603050405020304" pitchFamily="18" charset="0"/>
                </a:rPr>
                <a:t>&amp;</a:t>
              </a:r>
            </a:p>
            <a:p>
              <a:pPr algn="ctr"/>
              <a:r>
                <a:rPr lang="en-US" sz="1600" dirty="0">
                  <a:solidFill>
                    <a:srgbClr val="595959"/>
                  </a:solidFill>
                  <a:latin typeface="Times New Roman" panose="02020603050405020304" pitchFamily="18" charset="0"/>
                  <a:cs typeface="Times New Roman" panose="02020603050405020304" pitchFamily="18" charset="0"/>
                </a:rPr>
                <a:t>epigenetic factors</a:t>
              </a:r>
            </a:p>
          </p:txBody>
        </p:sp>
      </p:grpSp>
    </p:spTree>
    <p:extLst>
      <p:ext uri="{BB962C8B-B14F-4D97-AF65-F5344CB8AC3E}">
        <p14:creationId xmlns:p14="http://schemas.microsoft.com/office/powerpoint/2010/main" val="692590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52402"/>
            <a:ext cx="8839200" cy="838199"/>
          </a:xfrm>
        </p:spPr>
        <p:txBody>
          <a:bodyPr>
            <a:normAutofit/>
          </a:bodyPr>
          <a:lstStyle/>
          <a:p>
            <a:r>
              <a:rPr lang="en-US" sz="4000" b="1" dirty="0">
                <a:latin typeface="Times New Roman" panose="02020603050405020304" pitchFamily="18" charset="0"/>
                <a:cs typeface="Times New Roman" panose="02020603050405020304" pitchFamily="18" charset="0"/>
              </a:rPr>
              <a:t>Genome-wide Association Studies</a:t>
            </a:r>
          </a:p>
        </p:txBody>
      </p:sp>
      <p:sp>
        <p:nvSpPr>
          <p:cNvPr id="3" name="Subtitle 2"/>
          <p:cNvSpPr>
            <a:spLocks noGrp="1"/>
          </p:cNvSpPr>
          <p:nvPr>
            <p:ph type="subTitle" idx="1"/>
          </p:nvPr>
        </p:nvSpPr>
        <p:spPr>
          <a:xfrm>
            <a:off x="2819400" y="1066800"/>
            <a:ext cx="6400800" cy="609600"/>
          </a:xfrm>
        </p:spPr>
        <p:txBody>
          <a:bodyPr>
            <a:normAutofit/>
          </a:bodyPr>
          <a:lstStyle/>
          <a:p>
            <a:r>
              <a:rPr lang="en-US" dirty="0">
                <a:latin typeface="Times New Roman" panose="02020603050405020304" pitchFamily="18" charset="0"/>
                <a:cs typeface="Times New Roman" panose="02020603050405020304" pitchFamily="18" charset="0"/>
              </a:rPr>
              <a:t>(GWAS)</a:t>
            </a:r>
          </a:p>
        </p:txBody>
      </p:sp>
      <p:sp>
        <p:nvSpPr>
          <p:cNvPr id="5" name="Slide Number Placeholder 4"/>
          <p:cNvSpPr>
            <a:spLocks noGrp="1"/>
          </p:cNvSpPr>
          <p:nvPr>
            <p:ph type="sldNum" sz="quarter" idx="12"/>
          </p:nvPr>
        </p:nvSpPr>
        <p:spPr/>
        <p:txBody>
          <a:bodyPr/>
          <a:lstStyle/>
          <a:p>
            <a:fld id="{5179B700-391A-446A-AC53-7BB684CB5905}" type="slidenum">
              <a:rPr lang="en-US" smtClean="0"/>
              <a:t>21</a:t>
            </a:fld>
            <a:endParaRPr lang="en-US"/>
          </a:p>
        </p:txBody>
      </p:sp>
      <p:sp>
        <p:nvSpPr>
          <p:cNvPr id="30" name="TextBox 29"/>
          <p:cNvSpPr txBox="1"/>
          <p:nvPr/>
        </p:nvSpPr>
        <p:spPr>
          <a:xfrm>
            <a:off x="3683000" y="5257800"/>
            <a:ext cx="48006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Which SNPs associate with the disease?</a:t>
            </a:r>
          </a:p>
        </p:txBody>
      </p:sp>
      <p:sp>
        <p:nvSpPr>
          <p:cNvPr id="26" name="TextBox 25"/>
          <p:cNvSpPr txBox="1"/>
          <p:nvPr/>
        </p:nvSpPr>
        <p:spPr>
          <a:xfrm>
            <a:off x="2743200" y="1676400"/>
            <a:ext cx="10668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Patients</a:t>
            </a:r>
          </a:p>
        </p:txBody>
      </p:sp>
      <p:sp>
        <p:nvSpPr>
          <p:cNvPr id="27" name="TextBox 26"/>
          <p:cNvSpPr txBox="1"/>
          <p:nvPr/>
        </p:nvSpPr>
        <p:spPr>
          <a:xfrm>
            <a:off x="8077200" y="1676400"/>
            <a:ext cx="10668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Controls</a:t>
            </a:r>
          </a:p>
        </p:txBody>
      </p:sp>
      <p:grpSp>
        <p:nvGrpSpPr>
          <p:cNvPr id="7" name="Group 6"/>
          <p:cNvGrpSpPr/>
          <p:nvPr/>
        </p:nvGrpSpPr>
        <p:grpSpPr>
          <a:xfrm>
            <a:off x="2971800" y="3429000"/>
            <a:ext cx="5943600" cy="1219200"/>
            <a:chOff x="1447800" y="3429000"/>
            <a:chExt cx="5943600" cy="1219200"/>
          </a:xfrm>
        </p:grpSpPr>
        <p:grpSp>
          <p:nvGrpSpPr>
            <p:cNvPr id="25" name="Group 24"/>
            <p:cNvGrpSpPr/>
            <p:nvPr/>
          </p:nvGrpSpPr>
          <p:grpSpPr>
            <a:xfrm>
              <a:off x="1447800" y="3429000"/>
              <a:ext cx="5943600" cy="1219200"/>
              <a:chOff x="1447800" y="3429000"/>
              <a:chExt cx="5943600" cy="1219200"/>
            </a:xfrm>
          </p:grpSpPr>
          <p:cxnSp>
            <p:nvCxnSpPr>
              <p:cNvPr id="17" name="Straight Arrow Connector 16"/>
              <p:cNvCxnSpPr/>
              <p:nvPr/>
            </p:nvCxnSpPr>
            <p:spPr>
              <a:xfrm>
                <a:off x="1752600" y="3429000"/>
                <a:ext cx="0" cy="381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21" name="Picture 20"/>
              <p:cNvPicPr>
                <a:picLocks noChangeAspect="1"/>
              </p:cNvPicPr>
              <p:nvPr/>
            </p:nvPicPr>
            <p:blipFill>
              <a:blip r:embed="rId3"/>
              <a:stretch>
                <a:fillRect/>
              </a:stretch>
            </p:blipFill>
            <p:spPr>
              <a:xfrm>
                <a:off x="1447800" y="3948723"/>
                <a:ext cx="609600" cy="687754"/>
              </a:xfrm>
              <a:prstGeom prst="rect">
                <a:avLst/>
              </a:prstGeom>
            </p:spPr>
          </p:pic>
          <p:pic>
            <p:nvPicPr>
              <p:cNvPr id="23" name="Picture 22"/>
              <p:cNvPicPr>
                <a:picLocks noChangeAspect="1"/>
              </p:cNvPicPr>
              <p:nvPr/>
            </p:nvPicPr>
            <p:blipFill>
              <a:blip r:embed="rId4"/>
              <a:stretch>
                <a:fillRect/>
              </a:stretch>
            </p:blipFill>
            <p:spPr>
              <a:xfrm>
                <a:off x="6767945" y="3962400"/>
                <a:ext cx="623455" cy="685800"/>
              </a:xfrm>
              <a:prstGeom prst="rect">
                <a:avLst/>
              </a:prstGeom>
            </p:spPr>
          </p:pic>
          <p:cxnSp>
            <p:nvCxnSpPr>
              <p:cNvPr id="24" name="Straight Arrow Connector 23"/>
              <p:cNvCxnSpPr/>
              <p:nvPr/>
            </p:nvCxnSpPr>
            <p:spPr>
              <a:xfrm>
                <a:off x="7086600" y="3429000"/>
                <a:ext cx="0" cy="381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3" name="Group 32"/>
            <p:cNvGrpSpPr/>
            <p:nvPr/>
          </p:nvGrpSpPr>
          <p:grpSpPr>
            <a:xfrm>
              <a:off x="2286000" y="4140200"/>
              <a:ext cx="4343400" cy="369332"/>
              <a:chOff x="2286000" y="4140200"/>
              <a:chExt cx="4343400" cy="369332"/>
            </a:xfrm>
          </p:grpSpPr>
          <p:sp>
            <p:nvSpPr>
              <p:cNvPr id="20" name="TextBox 19"/>
              <p:cNvSpPr txBox="1"/>
              <p:nvPr/>
            </p:nvSpPr>
            <p:spPr>
              <a:xfrm>
                <a:off x="3124200" y="4140200"/>
                <a:ext cx="2743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Compare a million SNPs</a:t>
                </a:r>
              </a:p>
            </p:txBody>
          </p:sp>
          <p:cxnSp>
            <p:nvCxnSpPr>
              <p:cNvPr id="29" name="Straight Arrow Connector 28"/>
              <p:cNvCxnSpPr/>
              <p:nvPr/>
            </p:nvCxnSpPr>
            <p:spPr>
              <a:xfrm flipH="1">
                <a:off x="2286000" y="4343400"/>
                <a:ext cx="762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5867400" y="4343400"/>
                <a:ext cx="762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pic>
        <p:nvPicPr>
          <p:cNvPr id="22" name="Picture 21"/>
          <p:cNvPicPr>
            <a:picLocks noChangeAspect="1"/>
          </p:cNvPicPr>
          <p:nvPr/>
        </p:nvPicPr>
        <p:blipFill>
          <a:blip r:embed="rId5"/>
          <a:stretch>
            <a:fillRect/>
          </a:stretch>
        </p:blipFill>
        <p:spPr>
          <a:xfrm>
            <a:off x="2362200" y="2057400"/>
            <a:ext cx="1766182" cy="1295400"/>
          </a:xfrm>
          <a:prstGeom prst="rect">
            <a:avLst/>
          </a:prstGeom>
        </p:spPr>
      </p:pic>
      <p:pic>
        <p:nvPicPr>
          <p:cNvPr id="28" name="Picture 27"/>
          <p:cNvPicPr>
            <a:picLocks noChangeAspect="1"/>
          </p:cNvPicPr>
          <p:nvPr/>
        </p:nvPicPr>
        <p:blipFill>
          <a:blip r:embed="rId6">
            <a:extLst>
              <a:ext uri="{BEBA8EAE-BF5A-486C-A8C5-ECC9F3942E4B}">
                <a14:imgProps xmlns:a14="http://schemas.microsoft.com/office/drawing/2010/main">
                  <a14:imgLayer r:embed="rId7">
                    <a14:imgEffect>
                      <a14:sharpenSoften amount="-28000"/>
                    </a14:imgEffect>
                    <a14:imgEffect>
                      <a14:brightnessContrast bright="-22000" contrast="-35000"/>
                    </a14:imgEffect>
                  </a14:imgLayer>
                </a14:imgProps>
              </a:ext>
            </a:extLst>
          </a:blip>
          <a:stretch>
            <a:fillRect/>
          </a:stretch>
        </p:blipFill>
        <p:spPr>
          <a:xfrm>
            <a:off x="7772400" y="2057400"/>
            <a:ext cx="1766182" cy="1295400"/>
          </a:xfrm>
          <a:prstGeom prst="rect">
            <a:avLst/>
          </a:prstGeom>
        </p:spPr>
      </p:pic>
    </p:spTree>
    <p:extLst>
      <p:ext uri="{BB962C8B-B14F-4D97-AF65-F5344CB8AC3E}">
        <p14:creationId xmlns:p14="http://schemas.microsoft.com/office/powerpoint/2010/main" val="1116381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0"/>
            <a:ext cx="7772400" cy="1143000"/>
          </a:xfrm>
        </p:spPr>
        <p:txBody>
          <a:bodyPr>
            <a:normAutofit/>
          </a:bodyPr>
          <a:lstStyle/>
          <a:p>
            <a:pPr algn="ctr"/>
            <a:r>
              <a:rPr lang="en-US" sz="4000" b="1" dirty="0">
                <a:latin typeface="Times New Roman" panose="02020603050405020304" pitchFamily="18" charset="0"/>
                <a:cs typeface="Times New Roman" panose="02020603050405020304" pitchFamily="18" charset="0"/>
              </a:rPr>
              <a:t>Positive Selection Mutations</a:t>
            </a:r>
          </a:p>
        </p:txBody>
      </p:sp>
      <p:sp>
        <p:nvSpPr>
          <p:cNvPr id="3" name="Content Placeholder 2"/>
          <p:cNvSpPr>
            <a:spLocks noGrp="1"/>
          </p:cNvSpPr>
          <p:nvPr>
            <p:ph idx="1"/>
          </p:nvPr>
        </p:nvSpPr>
        <p:spPr>
          <a:xfrm>
            <a:off x="914399" y="1447800"/>
            <a:ext cx="9659389" cy="4876800"/>
          </a:xfrm>
        </p:spPr>
        <p:txBody>
          <a:bodyPr>
            <a:normAutofit/>
          </a:bodyPr>
          <a:lstStyle/>
          <a:p>
            <a:pPr>
              <a:lnSpc>
                <a:spcPct val="100000"/>
              </a:lnSpc>
            </a:pPr>
            <a:r>
              <a:rPr lang="en-US" sz="3200" dirty="0">
                <a:latin typeface="Times New Roman" panose="02020603050405020304" pitchFamily="18" charset="0"/>
                <a:cs typeface="Times New Roman" panose="02020603050405020304" pitchFamily="18" charset="0"/>
              </a:rPr>
              <a:t>Mutations can cause disease, especially if they occur within genes.</a:t>
            </a:r>
          </a:p>
          <a:p>
            <a:pPr>
              <a:lnSpc>
                <a:spcPct val="100000"/>
              </a:lnSpc>
              <a:buNone/>
            </a:pPr>
            <a:endParaRPr lang="en-US" sz="3200" dirty="0">
              <a:latin typeface="Times New Roman" panose="02020603050405020304" pitchFamily="18" charset="0"/>
              <a:cs typeface="Times New Roman" panose="02020603050405020304" pitchFamily="18" charset="0"/>
            </a:endParaRPr>
          </a:p>
          <a:p>
            <a:pPr>
              <a:lnSpc>
                <a:spcPct val="100000"/>
              </a:lnSpc>
            </a:pPr>
            <a:r>
              <a:rPr lang="en-US" sz="3200" dirty="0">
                <a:latin typeface="Times New Roman" panose="02020603050405020304" pitchFamily="18" charset="0"/>
                <a:cs typeface="Times New Roman" panose="02020603050405020304" pitchFamily="18" charset="0"/>
              </a:rPr>
              <a:t> If a mutation gives benefit to the organism, the organism may thrive and reproduce and help the organism compete with others for resources. This is called positive selection.</a:t>
            </a:r>
          </a:p>
        </p:txBody>
      </p:sp>
      <p:sp>
        <p:nvSpPr>
          <p:cNvPr id="5" name="Slide Number Placeholder 4"/>
          <p:cNvSpPr>
            <a:spLocks noGrp="1"/>
          </p:cNvSpPr>
          <p:nvPr>
            <p:ph type="sldNum" sz="quarter" idx="12"/>
          </p:nvPr>
        </p:nvSpPr>
        <p:spPr/>
        <p:txBody>
          <a:bodyPr/>
          <a:lstStyle/>
          <a:p>
            <a:fld id="{C5E00B09-9427-48A1-9E8C-87182F9FFF23}" type="slidenum">
              <a:rPr lang="en-US" smtClean="0"/>
              <a:pPr/>
              <a:t>22</a:t>
            </a:fld>
            <a:endParaRPr lang="en-US"/>
          </a:p>
        </p:txBody>
      </p:sp>
    </p:spTree>
    <p:extLst>
      <p:ext uri="{BB962C8B-B14F-4D97-AF65-F5344CB8AC3E}">
        <p14:creationId xmlns:p14="http://schemas.microsoft.com/office/powerpoint/2010/main" val="1082698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375"/>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Negative Selection Mutations</a:t>
            </a:r>
          </a:p>
        </p:txBody>
      </p:sp>
      <p:sp>
        <p:nvSpPr>
          <p:cNvPr id="3" name="Content Placeholder 2"/>
          <p:cNvSpPr>
            <a:spLocks noGrp="1"/>
          </p:cNvSpPr>
          <p:nvPr>
            <p:ph idx="1"/>
          </p:nvPr>
        </p:nvSpPr>
        <p:spPr>
          <a:xfrm>
            <a:off x="838200" y="1177236"/>
            <a:ext cx="10515600" cy="4351338"/>
          </a:xfrm>
        </p:spPr>
        <p:txBody>
          <a:bodyPr>
            <a:normAutofit/>
          </a:bodyPr>
          <a:lstStyle/>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On the other hand, if the mutation causes the organism to be sickly, the mutation will not survive in the offspring. This is called negative selection.</a:t>
            </a:r>
          </a:p>
        </p:txBody>
      </p:sp>
      <p:sp>
        <p:nvSpPr>
          <p:cNvPr id="5" name="Slide Number Placeholder 4"/>
          <p:cNvSpPr>
            <a:spLocks noGrp="1"/>
          </p:cNvSpPr>
          <p:nvPr>
            <p:ph type="sldNum" sz="quarter" idx="12"/>
          </p:nvPr>
        </p:nvSpPr>
        <p:spPr/>
        <p:txBody>
          <a:bodyPr/>
          <a:lstStyle/>
          <a:p>
            <a:fld id="{C5E00B09-9427-48A1-9E8C-87182F9FFF23}" type="slidenum">
              <a:rPr lang="en-US" smtClean="0"/>
              <a:pPr/>
              <a:t>23</a:t>
            </a:fld>
            <a:endParaRPr lang="en-US"/>
          </a:p>
        </p:txBody>
      </p:sp>
    </p:spTree>
    <p:extLst>
      <p:ext uri="{BB962C8B-B14F-4D97-AF65-F5344CB8AC3E}">
        <p14:creationId xmlns:p14="http://schemas.microsoft.com/office/powerpoint/2010/main" val="3515760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76200"/>
            <a:ext cx="7772400" cy="838200"/>
          </a:xfrm>
        </p:spPr>
        <p:txBody>
          <a:bodyPr>
            <a:normAutofit/>
          </a:bodyPr>
          <a:lstStyle/>
          <a:p>
            <a:pPr algn="ctr"/>
            <a:r>
              <a:rPr lang="en-US" sz="4000" b="1" dirty="0">
                <a:latin typeface="Times New Roman" panose="02020603050405020304" pitchFamily="18" charset="0"/>
                <a:cs typeface="Times New Roman" panose="02020603050405020304" pitchFamily="18" charset="0"/>
              </a:rPr>
              <a:t>Neutral Mutations</a:t>
            </a:r>
          </a:p>
        </p:txBody>
      </p:sp>
      <p:sp>
        <p:nvSpPr>
          <p:cNvPr id="3" name="Content Placeholder 2"/>
          <p:cNvSpPr>
            <a:spLocks noGrp="1"/>
          </p:cNvSpPr>
          <p:nvPr>
            <p:ph idx="1"/>
          </p:nvPr>
        </p:nvSpPr>
        <p:spPr>
          <a:xfrm>
            <a:off x="332509" y="964275"/>
            <a:ext cx="10740044" cy="5334000"/>
          </a:xfrm>
        </p:spPr>
        <p:txBody>
          <a:bodyPr>
            <a:normAutofit/>
          </a:bodyPr>
          <a:lstStyle/>
          <a:p>
            <a:pPr algn="just">
              <a:lnSpc>
                <a:spcPct val="100000"/>
              </a:lnSpc>
            </a:pPr>
            <a:r>
              <a:rPr lang="en-US" sz="2800" dirty="0">
                <a:latin typeface="Times New Roman" panose="02020603050405020304" pitchFamily="18" charset="0"/>
                <a:cs typeface="Times New Roman" panose="02020603050405020304" pitchFamily="18" charset="0"/>
              </a:rPr>
              <a:t>Most mutations neither help nor harm the organism primarily because they rarely occur in genes (remember only 2% of the human genome codes for genes). </a:t>
            </a:r>
          </a:p>
          <a:p>
            <a:pPr algn="just">
              <a:lnSpc>
                <a:spcPct val="100000"/>
              </a:lnSpc>
            </a:pPr>
            <a:endParaRPr lang="en-US" sz="2800" dirty="0">
              <a:latin typeface="Times New Roman" panose="02020603050405020304" pitchFamily="18" charset="0"/>
              <a:cs typeface="Times New Roman" panose="02020603050405020304" pitchFamily="18" charset="0"/>
            </a:endParaRPr>
          </a:p>
          <a:p>
            <a:pPr algn="just">
              <a:lnSpc>
                <a:spcPct val="100000"/>
              </a:lnSpc>
            </a:pPr>
            <a:r>
              <a:rPr lang="en-US" sz="2800" dirty="0">
                <a:latin typeface="Times New Roman" panose="02020603050405020304" pitchFamily="18" charset="0"/>
                <a:cs typeface="Times New Roman" panose="02020603050405020304" pitchFamily="18" charset="0"/>
              </a:rPr>
              <a:t>Furthermore, even if mutations do occur in the genes, many do not alter the amino acid sequence of proteins due to the degeneracy of the genetic code.</a:t>
            </a:r>
          </a:p>
          <a:p>
            <a:pPr algn="just">
              <a:lnSpc>
                <a:spcPct val="100000"/>
              </a:lnSpc>
            </a:pPr>
            <a:endParaRPr lang="en-US" sz="2800" dirty="0">
              <a:latin typeface="Times New Roman" panose="02020603050405020304" pitchFamily="18" charset="0"/>
              <a:cs typeface="Times New Roman" panose="02020603050405020304" pitchFamily="18" charset="0"/>
            </a:endParaRPr>
          </a:p>
          <a:p>
            <a:pPr algn="just">
              <a:lnSpc>
                <a:spcPct val="100000"/>
              </a:lnSpc>
            </a:pPr>
            <a:r>
              <a:rPr lang="en-US" sz="2800" dirty="0">
                <a:latin typeface="Times New Roman" panose="02020603050405020304" pitchFamily="18" charset="0"/>
                <a:cs typeface="Times New Roman" panose="02020603050405020304" pitchFamily="18" charset="0"/>
              </a:rPr>
              <a:t> Mutations that do not alter the fitness of the organism are called neutral mutations. </a:t>
            </a:r>
          </a:p>
        </p:txBody>
      </p:sp>
      <p:sp>
        <p:nvSpPr>
          <p:cNvPr id="5" name="Slide Number Placeholder 4"/>
          <p:cNvSpPr>
            <a:spLocks noGrp="1"/>
          </p:cNvSpPr>
          <p:nvPr>
            <p:ph type="sldNum" sz="quarter" idx="12"/>
          </p:nvPr>
        </p:nvSpPr>
        <p:spPr/>
        <p:txBody>
          <a:bodyPr/>
          <a:lstStyle/>
          <a:p>
            <a:fld id="{C5E00B09-9427-48A1-9E8C-87182F9FFF23}" type="slidenum">
              <a:rPr lang="en-US" smtClean="0"/>
              <a:pPr/>
              <a:t>24</a:t>
            </a:fld>
            <a:endParaRPr lang="en-US"/>
          </a:p>
        </p:txBody>
      </p:sp>
    </p:spTree>
    <p:extLst>
      <p:ext uri="{BB962C8B-B14F-4D97-AF65-F5344CB8AC3E}">
        <p14:creationId xmlns:p14="http://schemas.microsoft.com/office/powerpoint/2010/main" val="1764111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Deletion Mutations</a:t>
            </a:r>
          </a:p>
        </p:txBody>
      </p:sp>
      <p:sp>
        <p:nvSpPr>
          <p:cNvPr id="3" name="Content Placeholder 2"/>
          <p:cNvSpPr>
            <a:spLocks noGrp="1"/>
          </p:cNvSpPr>
          <p:nvPr>
            <p:ph idx="1"/>
          </p:nvPr>
        </p:nvSpPr>
        <p:spPr>
          <a:xfrm>
            <a:off x="838199" y="1825625"/>
            <a:ext cx="10949247" cy="4351338"/>
          </a:xfrm>
        </p:spPr>
        <p:txBody>
          <a:bodyPr>
            <a:normAutofit/>
          </a:bodyPr>
          <a:lstStyle/>
          <a:p>
            <a:pPr>
              <a:lnSpc>
                <a:spcPct val="100000"/>
              </a:lnSpc>
            </a:pPr>
            <a:r>
              <a:rPr lang="en-US" sz="2800" dirty="0">
                <a:latin typeface="Times New Roman" panose="02020603050405020304" pitchFamily="18" charset="0"/>
                <a:cs typeface="Times New Roman" panose="02020603050405020304" pitchFamily="18" charset="0"/>
              </a:rPr>
              <a:t>The most devastating mutations are those in which one or more nucleotides are deleted (called a deletion mutation) within a gene. These often cause a change in the amino acid sequence. </a:t>
            </a:r>
          </a:p>
          <a:p>
            <a:pPr>
              <a:lnSpc>
                <a:spcPct val="100000"/>
              </a:lnSpc>
            </a:pPr>
            <a:endParaRPr lang="en-US" sz="2800"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E</a:t>
            </a:r>
            <a:r>
              <a:rPr lang="en-US" sz="2800" b="1" dirty="0">
                <a:latin typeface="Times New Roman" panose="02020603050405020304" pitchFamily="18" charset="0"/>
                <a:cs typeface="Times New Roman" panose="02020603050405020304" pitchFamily="18" charset="0"/>
              </a:rPr>
              <a:t>xample: </a:t>
            </a:r>
            <a:r>
              <a:rPr lang="en-US" sz="2800" dirty="0">
                <a:latin typeface="Times New Roman" panose="02020603050405020304" pitchFamily="18" charset="0"/>
                <a:cs typeface="Times New Roman" panose="02020603050405020304" pitchFamily="18" charset="0"/>
              </a:rPr>
              <a:t>if the sequence ATGTCTTCCTACAGAGGTTAA had a deletion of the thirteenth nucleotide, A, the codons resulting from this deletion, ATG TCT TCC TAC GAG GTT AA, would produce the amino acid sequence MSSYEV. </a:t>
            </a:r>
          </a:p>
        </p:txBody>
      </p:sp>
      <p:sp>
        <p:nvSpPr>
          <p:cNvPr id="5" name="Slide Number Placeholder 4"/>
          <p:cNvSpPr>
            <a:spLocks noGrp="1"/>
          </p:cNvSpPr>
          <p:nvPr>
            <p:ph type="sldNum" sz="quarter" idx="12"/>
          </p:nvPr>
        </p:nvSpPr>
        <p:spPr/>
        <p:txBody>
          <a:bodyPr/>
          <a:lstStyle/>
          <a:p>
            <a:fld id="{C5E00B09-9427-48A1-9E8C-87182F9FFF23}" type="slidenum">
              <a:rPr lang="en-US" smtClean="0"/>
              <a:pPr/>
              <a:t>25</a:t>
            </a:fld>
            <a:endParaRPr lang="en-US"/>
          </a:p>
        </p:txBody>
      </p:sp>
    </p:spTree>
    <p:extLst>
      <p:ext uri="{BB962C8B-B14F-4D97-AF65-F5344CB8AC3E}">
        <p14:creationId xmlns:p14="http://schemas.microsoft.com/office/powerpoint/2010/main" val="70479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389" y="533401"/>
            <a:ext cx="10540538" cy="5592763"/>
          </a:xfrm>
        </p:spPr>
        <p:txBody>
          <a:bodyPr>
            <a:normAutofit lnSpcReduction="10000"/>
          </a:bodyPr>
          <a:lstStyle/>
          <a:p>
            <a:pPr>
              <a:lnSpc>
                <a:spcPct val="100000"/>
              </a:lnSpc>
            </a:pPr>
            <a:r>
              <a:rPr lang="en-US" dirty="0">
                <a:latin typeface="Times New Roman" panose="02020603050405020304" pitchFamily="18" charset="0"/>
                <a:cs typeface="Times New Roman" panose="02020603050405020304" pitchFamily="18" charset="0"/>
              </a:rPr>
              <a:t>This sequence differs from the original sequence, MSSYRG and it does not have a proper stop </a:t>
            </a:r>
            <a:r>
              <a:rPr lang="en-US" dirty="0" err="1">
                <a:latin typeface="Times New Roman" panose="02020603050405020304" pitchFamily="18" charset="0"/>
                <a:cs typeface="Times New Roman" panose="02020603050405020304" pitchFamily="18" charset="0"/>
              </a:rPr>
              <a:t>codon</a:t>
            </a:r>
            <a:r>
              <a:rPr lang="en-US" dirty="0">
                <a:latin typeface="Times New Roman" panose="02020603050405020304" pitchFamily="18" charset="0"/>
                <a:cs typeface="Times New Roman" panose="02020603050405020304" pitchFamily="18" charset="0"/>
              </a:rPr>
              <a:t>. </a:t>
            </a: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When the deletion causes a change in the amino acid sequence after the deletion point, it is called a </a:t>
            </a:r>
            <a:r>
              <a:rPr lang="en-US" dirty="0" err="1">
                <a:latin typeface="Times New Roman" panose="02020603050405020304" pitchFamily="18" charset="0"/>
                <a:cs typeface="Times New Roman" panose="02020603050405020304" pitchFamily="18" charset="0"/>
              </a:rPr>
              <a:t>frameshift</a:t>
            </a:r>
            <a:r>
              <a:rPr lang="en-US" dirty="0">
                <a:latin typeface="Times New Roman" panose="02020603050405020304" pitchFamily="18" charset="0"/>
                <a:cs typeface="Times New Roman" panose="02020603050405020304" pitchFamily="18" charset="0"/>
              </a:rPr>
              <a:t> because the protein translation machinery adds amino acids to the growing polypeptide chain that were not originally intended for the protein. </a:t>
            </a: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If the protein is essential for life, the deletion mutation can be life threatening. Equally devastating is an insertion mutation. Here, one or more nucleotides are inserted into the gene causing a gross alteration in the protein sequence.</a:t>
            </a:r>
          </a:p>
        </p:txBody>
      </p:sp>
      <p:sp>
        <p:nvSpPr>
          <p:cNvPr id="5" name="Slide Number Placeholder 4"/>
          <p:cNvSpPr>
            <a:spLocks noGrp="1"/>
          </p:cNvSpPr>
          <p:nvPr>
            <p:ph type="sldNum" sz="quarter" idx="12"/>
          </p:nvPr>
        </p:nvSpPr>
        <p:spPr/>
        <p:txBody>
          <a:bodyPr/>
          <a:lstStyle/>
          <a:p>
            <a:fld id="{C5E00B09-9427-48A1-9E8C-87182F9FFF23}" type="slidenum">
              <a:rPr lang="en-US" smtClean="0"/>
              <a:pPr/>
              <a:t>26</a:t>
            </a:fld>
            <a:endParaRPr lang="en-US"/>
          </a:p>
        </p:txBody>
      </p:sp>
    </p:spTree>
    <p:extLst>
      <p:ext uri="{BB962C8B-B14F-4D97-AF65-F5344CB8AC3E}">
        <p14:creationId xmlns:p14="http://schemas.microsoft.com/office/powerpoint/2010/main" val="7300720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2.8|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85D919DB99A4B9F7C3E2BF41598A2" ma:contentTypeVersion="4" ma:contentTypeDescription="Create a new document." ma:contentTypeScope="" ma:versionID="ba3e817eb67cc8367b8d95e658cff018">
  <xsd:schema xmlns:xsd="http://www.w3.org/2001/XMLSchema" xmlns:xs="http://www.w3.org/2001/XMLSchema" xmlns:p="http://schemas.microsoft.com/office/2006/metadata/properties" xmlns:ns2="5b17cc69-8e44-468c-9cff-e58fbb120827" targetNamespace="http://schemas.microsoft.com/office/2006/metadata/properties" ma:root="true" ma:fieldsID="0a0aea8af201911dadc8767c9b796200" ns2:_="">
    <xsd:import namespace="5b17cc69-8e44-468c-9cff-e58fbb12082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17cc69-8e44-468c-9cff-e58fbb1208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E7BD325-2D19-4A1A-A735-468CCC057390}"/>
</file>

<file path=customXml/itemProps2.xml><?xml version="1.0" encoding="utf-8"?>
<ds:datastoreItem xmlns:ds="http://schemas.openxmlformats.org/officeDocument/2006/customXml" ds:itemID="{1C24FFD4-8C75-421B-955A-7262885AE99B}"/>
</file>

<file path=customXml/itemProps3.xml><?xml version="1.0" encoding="utf-8"?>
<ds:datastoreItem xmlns:ds="http://schemas.openxmlformats.org/officeDocument/2006/customXml" ds:itemID="{8B2A9D49-11D1-4BCD-A0E4-75FF38228F6E}"/>
</file>

<file path=docProps/app.xml><?xml version="1.0" encoding="utf-8"?>
<Properties xmlns="http://schemas.openxmlformats.org/officeDocument/2006/extended-properties" xmlns:vt="http://schemas.openxmlformats.org/officeDocument/2006/docPropsVTypes">
  <Template/>
  <TotalTime>1926</TotalTime>
  <Words>1234</Words>
  <Application>Microsoft Macintosh PowerPoint</Application>
  <PresentationFormat>Widescreen</PresentationFormat>
  <Paragraphs>213</Paragraphs>
  <Slides>26</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Courier New</vt:lpstr>
      <vt:lpstr>Gill Sans MT</vt:lpstr>
      <vt:lpstr>Times New Roman</vt:lpstr>
      <vt:lpstr>Office Theme</vt:lpstr>
      <vt:lpstr>Anatomy of a Gene</vt:lpstr>
      <vt:lpstr>The Universal Genetic Code</vt:lpstr>
      <vt:lpstr>The Reading Frame</vt:lpstr>
      <vt:lpstr>Open Reading Frames (ORFs) http://www.ncbi.nlm.nih.gov/gorf/gorf.html </vt:lpstr>
      <vt:lpstr>Finding Genes in Genomic DNA</vt:lpstr>
      <vt:lpstr>Step-by-step</vt:lpstr>
      <vt:lpstr>Sequence Variation and its Consequences </vt:lpstr>
      <vt:lpstr>Types of SNPs</vt:lpstr>
      <vt:lpstr>Single Nucleotide...Difference</vt:lpstr>
      <vt:lpstr>Common Variation Terminology</vt:lpstr>
      <vt:lpstr>Insertions &amp; Deletions</vt:lpstr>
      <vt:lpstr>Example</vt:lpstr>
      <vt:lpstr>Examples</vt:lpstr>
      <vt:lpstr>MUTATIONS</vt:lpstr>
      <vt:lpstr>Summary </vt:lpstr>
      <vt:lpstr>PowerPoint Presentation</vt:lpstr>
      <vt:lpstr>Why are Variations Important?</vt:lpstr>
      <vt:lpstr>Monogenic Diseases</vt:lpstr>
      <vt:lpstr>Cystic Fibrosis Transmembrane Regulator Gene</vt:lpstr>
      <vt:lpstr>Multigenic Diseases</vt:lpstr>
      <vt:lpstr>Genome-wide Association Studies</vt:lpstr>
      <vt:lpstr>Positive Selection Mutations</vt:lpstr>
      <vt:lpstr>Negative Selection Mutations</vt:lpstr>
      <vt:lpstr>Neutral Mutations</vt:lpstr>
      <vt:lpstr>Deletion Mutations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Variation and its Consequences </dc:title>
  <dc:creator>Sidra Batool</dc:creator>
  <cp:lastModifiedBy>Jawad Khan</cp:lastModifiedBy>
  <cp:revision>30</cp:revision>
  <dcterms:created xsi:type="dcterms:W3CDTF">2020-04-09T17:45:47Z</dcterms:created>
  <dcterms:modified xsi:type="dcterms:W3CDTF">2022-09-22T03:11:17Z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0x010100F9885D919DB99A4B9F7C3E2BF41598A2</vt:lpwstr>
  </property>
</Properties>
</file>