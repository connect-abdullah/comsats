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1" r:id="rId2"/>
    <p:sldId id="256" r:id="rId3"/>
    <p:sldId id="257" r:id="rId4"/>
    <p:sldId id="258" r:id="rId5"/>
    <p:sldId id="29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FD474-74B3-D361-7C7C-8151EEDA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C2B62275-60D1-7DE9-120B-4BA3E4202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9144"/>
            <a:ext cx="2660904" cy="6858000"/>
          </a:xfrm>
          <a:prstGeom prst="rect">
            <a:avLst/>
          </a:prstGeom>
        </p:spPr>
      </p:pic>
      <p:pic>
        <p:nvPicPr>
          <p:cNvPr id="9" name="Picture 8" descr="A logo of a university&#10;&#10;AI-generated content may be incorrect.">
            <a:extLst>
              <a:ext uri="{FF2B5EF4-FFF2-40B4-BE49-F238E27FC236}">
                <a16:creationId xmlns:a16="http://schemas.microsoft.com/office/drawing/2014/main" id="{7831E698-43E5-9A17-BA0C-816F4FFBF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21928" cy="14219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67DEC9-A988-69C1-72A1-C097192811ED}"/>
              </a:ext>
            </a:extLst>
          </p:cNvPr>
          <p:cNvSpPr txBox="1"/>
          <p:nvPr/>
        </p:nvSpPr>
        <p:spPr>
          <a:xfrm>
            <a:off x="173736" y="2265820"/>
            <a:ext cx="6611112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4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Squada One"/>
              </a:rPr>
              <a:t>Information </a:t>
            </a:r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Squada One"/>
              </a:rPr>
              <a:t>Security</a:t>
            </a:r>
            <a:endParaRPr kumimoji="0" lang="en-US" sz="4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CA059-BB38-90B3-6490-7D215B7BDC64}"/>
              </a:ext>
            </a:extLst>
          </p:cNvPr>
          <p:cNvSpPr txBox="1"/>
          <p:nvPr/>
        </p:nvSpPr>
        <p:spPr>
          <a:xfrm>
            <a:off x="272034" y="4531640"/>
            <a:ext cx="4622292" cy="991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Dr. Qurat ul Ain Alam</a:t>
            </a:r>
            <a:b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</a:br>
            <a: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Assistant Professor</a:t>
            </a:r>
            <a:b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</a:br>
            <a:r>
              <a:rPr kumimoji="0" lang="en-US" sz="18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Roboto Condensed Light"/>
              </a:rPr>
              <a:t>COMSATS University Islamabad</a:t>
            </a:r>
          </a:p>
        </p:txBody>
      </p:sp>
    </p:spTree>
    <p:extLst>
      <p:ext uri="{BB962C8B-B14F-4D97-AF65-F5344CB8AC3E}">
        <p14:creationId xmlns:p14="http://schemas.microsoft.com/office/powerpoint/2010/main" val="249554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95528" y="160337"/>
            <a:ext cx="8229600" cy="1143000"/>
          </a:xfrm>
        </p:spPr>
        <p:txBody>
          <a:bodyPr/>
          <a:lstStyle/>
          <a:p>
            <a:r>
              <a:rPr sz="3200" b="1" dirty="0"/>
              <a:t>Introduction to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4530"/>
            <a:ext cx="6483096" cy="5394326"/>
          </a:xfrm>
        </p:spPr>
        <p:txBody>
          <a:bodyPr>
            <a:normAutofit/>
          </a:bodyPr>
          <a:lstStyle/>
          <a:p>
            <a:r>
              <a:rPr sz="2400" dirty="0"/>
              <a:t>Cryptography = Science of securing communication using mathematics.</a:t>
            </a:r>
          </a:p>
          <a:p>
            <a:r>
              <a:rPr sz="2400" dirty="0"/>
              <a:t>Protects data from unauthorized access.</a:t>
            </a:r>
          </a:p>
          <a:p>
            <a:r>
              <a:rPr sz="2400" dirty="0"/>
              <a:t>Ensures Confidentiality, Integrity, Authentication, Non-repudiation.</a:t>
            </a:r>
          </a:p>
          <a:p>
            <a:r>
              <a:rPr sz="2400" dirty="0"/>
              <a:t>Used in banking, military, e-commerce, messaging apps.</a:t>
            </a:r>
          </a:p>
          <a:p>
            <a:r>
              <a:rPr sz="2400" dirty="0"/>
              <a:t>Converts readable data (plaintext) into unreadable (ciphertext).</a:t>
            </a:r>
          </a:p>
          <a:p>
            <a:r>
              <a:rPr sz="2400" dirty="0"/>
              <a:t>Example: WhatsApp chats are encrypted so only sender &amp; receiver can read.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0ED30786-27D4-51EB-EC9A-1383CBCD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9144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1248" y="228600"/>
            <a:ext cx="8229600" cy="1143000"/>
          </a:xfrm>
        </p:spPr>
        <p:txBody>
          <a:bodyPr/>
          <a:lstStyle/>
          <a:p>
            <a:r>
              <a:rPr sz="3200" b="1" dirty="0"/>
              <a:t>Why Cryptography is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6483096" cy="5486400"/>
          </a:xfrm>
        </p:spPr>
        <p:txBody>
          <a:bodyPr>
            <a:normAutofit fontScale="92500"/>
          </a:bodyPr>
          <a:lstStyle/>
          <a:p>
            <a:r>
              <a:rPr sz="2800" dirty="0"/>
              <a:t>Prevents data breaches and identity theft.</a:t>
            </a:r>
          </a:p>
          <a:p>
            <a:r>
              <a:rPr sz="2800" dirty="0"/>
              <a:t>Ensures safe transfer of sensitive information.</a:t>
            </a:r>
          </a:p>
          <a:p>
            <a:r>
              <a:rPr sz="2800" dirty="0"/>
              <a:t>Protects personal data like passwords, medical files, financial details.</a:t>
            </a:r>
          </a:p>
          <a:p>
            <a:r>
              <a:rPr sz="2800" dirty="0"/>
              <a:t>Used in e-commerce transactions (credit card security).</a:t>
            </a:r>
          </a:p>
          <a:p>
            <a:r>
              <a:rPr sz="2800" dirty="0"/>
              <a:t>Builds trust between organizations and users.</a:t>
            </a:r>
          </a:p>
          <a:p>
            <a:r>
              <a:rPr sz="2800" dirty="0"/>
              <a:t>Example: Bank websites use HTTPS (</a:t>
            </a:r>
            <a:r>
              <a:rPr sz="2800" dirty="0" err="1"/>
              <a:t>HyperText</a:t>
            </a:r>
            <a:r>
              <a:rPr sz="2800" dirty="0"/>
              <a:t> Transfer Protocol Secure)</a:t>
            </a:r>
            <a:r>
              <a:rPr lang="en-US" sz="2800" dirty="0"/>
              <a:t> due to sensitive data and build trust on customers.</a:t>
            </a:r>
            <a:endParaRPr sz="2800" dirty="0"/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8531468D-B83E-AA00-C11B-FB6479173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13816" y="160337"/>
            <a:ext cx="8229600" cy="1143000"/>
          </a:xfrm>
        </p:spPr>
        <p:txBody>
          <a:bodyPr/>
          <a:lstStyle/>
          <a:p>
            <a:r>
              <a:rPr sz="3200" b="1" dirty="0"/>
              <a:t>Goals of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674"/>
            <a:ext cx="6483096" cy="5394326"/>
          </a:xfrm>
        </p:spPr>
        <p:txBody>
          <a:bodyPr>
            <a:normAutofit/>
          </a:bodyPr>
          <a:lstStyle/>
          <a:p>
            <a:r>
              <a:rPr sz="2400" dirty="0"/>
              <a:t>Confidentiality → Hide information from unauthorized people.</a:t>
            </a:r>
            <a:br>
              <a:rPr sz="3600" dirty="0"/>
            </a:br>
            <a:r>
              <a:rPr sz="2400" dirty="0"/>
              <a:t>• Example: VPN (Virtual Private Network) encrypts internet traffic.</a:t>
            </a:r>
          </a:p>
          <a:p>
            <a:r>
              <a:rPr sz="2400" dirty="0"/>
              <a:t>Integrity → Ensure data not modified.</a:t>
            </a:r>
            <a:br>
              <a:rPr sz="3600" dirty="0"/>
            </a:br>
            <a:r>
              <a:rPr sz="2400" dirty="0"/>
              <a:t>• Example: SHA (Secure Hash Algorithm) ensures file checksum is same.</a:t>
            </a:r>
          </a:p>
          <a:p>
            <a:r>
              <a:rPr sz="2400" dirty="0"/>
              <a:t>Authentication → Verify sender identity.</a:t>
            </a:r>
            <a:br>
              <a:rPr sz="3600" dirty="0"/>
            </a:br>
            <a:r>
              <a:rPr sz="2400" dirty="0"/>
              <a:t>• Example: Login with digital certificate.</a:t>
            </a:r>
          </a:p>
          <a:p>
            <a:r>
              <a:rPr sz="2400" dirty="0"/>
              <a:t>Non-repudiation → Sender cannot deny sending data.</a:t>
            </a:r>
            <a:br>
              <a:rPr sz="3600" dirty="0"/>
            </a:br>
            <a:r>
              <a:rPr sz="2400" dirty="0"/>
              <a:t>• Example: Digital signatures in contracts.</a:t>
            </a:r>
          </a:p>
          <a:p>
            <a:r>
              <a:rPr sz="2400" dirty="0"/>
              <a:t>Builds overall trust in digital systems.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4F5AAEF5-327E-FEF3-DF6D-67E9D3E7B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EB42-0B7E-8796-5BD1-43E803E5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98B40-A68A-F29D-740D-705B32464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4638"/>
            <a:ext cx="8229600" cy="630872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Online Banking Login</a:t>
            </a:r>
          </a:p>
          <a:p>
            <a:r>
              <a:rPr lang="en-US" b="1" dirty="0"/>
              <a:t>You (Client/User)</a:t>
            </a:r>
            <a:r>
              <a:rPr lang="en-US" dirty="0"/>
              <a:t> open your bank’s website: https://mybank.com.</a:t>
            </a:r>
          </a:p>
          <a:p>
            <a:r>
              <a:rPr lang="en-US" b="1" dirty="0"/>
              <a:t>Bank’s Server</a:t>
            </a:r>
            <a:r>
              <a:rPr lang="en-US" dirty="0"/>
              <a:t> sends you its </a:t>
            </a:r>
            <a:r>
              <a:rPr lang="en-US" b="1" dirty="0"/>
              <a:t>digital certificate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Certificate contains:</a:t>
            </a:r>
          </a:p>
          <a:p>
            <a:pPr lvl="2"/>
            <a:r>
              <a:rPr lang="en-US" b="1" dirty="0"/>
              <a:t>Public Key</a:t>
            </a:r>
            <a:r>
              <a:rPr lang="en-US" dirty="0"/>
              <a:t> of the bank</a:t>
            </a:r>
          </a:p>
          <a:p>
            <a:pPr lvl="2"/>
            <a:r>
              <a:rPr lang="en-US" b="1" dirty="0"/>
              <a:t>Bank’s identity info</a:t>
            </a:r>
            <a:r>
              <a:rPr lang="en-US" dirty="0"/>
              <a:t> (domain name, organization)</a:t>
            </a:r>
          </a:p>
          <a:p>
            <a:pPr lvl="2"/>
            <a:r>
              <a:rPr lang="en-US" b="1" dirty="0"/>
              <a:t>Digital Signature of Certificate Authority (CA)</a:t>
            </a:r>
            <a:endParaRPr lang="en-US" dirty="0"/>
          </a:p>
          <a:p>
            <a:r>
              <a:rPr lang="en-US" b="1" dirty="0"/>
              <a:t>Your Browser</a:t>
            </a:r>
            <a:r>
              <a:rPr lang="en-US" dirty="0"/>
              <a:t> checks:</a:t>
            </a:r>
          </a:p>
          <a:p>
            <a:pPr lvl="1"/>
            <a:r>
              <a:rPr lang="en-US" dirty="0"/>
              <a:t>Is the certificate signed by a </a:t>
            </a:r>
            <a:r>
              <a:rPr lang="en-US" b="1" dirty="0"/>
              <a:t>trusted CA</a:t>
            </a:r>
            <a:r>
              <a:rPr lang="en-US" dirty="0"/>
              <a:t> (like DigiCert, GlobalSign)?</a:t>
            </a:r>
          </a:p>
          <a:p>
            <a:pPr lvl="1"/>
            <a:r>
              <a:rPr lang="en-US" dirty="0"/>
              <a:t>Is the certificate still valid (expiry date)?</a:t>
            </a:r>
          </a:p>
          <a:p>
            <a:pPr lvl="1"/>
            <a:r>
              <a:rPr lang="en-US" dirty="0"/>
              <a:t>Does the website name match?</a:t>
            </a:r>
          </a:p>
          <a:p>
            <a:r>
              <a:rPr lang="en-US" dirty="0"/>
              <a:t>If everything is valid, the browser trusts the bank’s </a:t>
            </a:r>
            <a:r>
              <a:rPr lang="en-US" b="1" dirty="0"/>
              <a:t>Public Key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Browser then creates a secret session key, encrypts it with bank’s </a:t>
            </a:r>
            <a:r>
              <a:rPr lang="en-US" b="1" dirty="0"/>
              <a:t>Public Key</a:t>
            </a:r>
            <a:r>
              <a:rPr lang="en-US" dirty="0"/>
              <a:t>, and sends it to the server.</a:t>
            </a:r>
          </a:p>
          <a:p>
            <a:r>
              <a:rPr lang="en-US" b="1" dirty="0"/>
              <a:t>Bank’s Server</a:t>
            </a:r>
            <a:r>
              <a:rPr lang="en-US" dirty="0"/>
              <a:t> uses its </a:t>
            </a:r>
            <a:r>
              <a:rPr lang="en-US" b="1" dirty="0"/>
              <a:t>Private Key</a:t>
            </a:r>
            <a:r>
              <a:rPr lang="en-US" dirty="0"/>
              <a:t> to decrypt that session key.</a:t>
            </a:r>
          </a:p>
          <a:p>
            <a:r>
              <a:rPr lang="en-US" dirty="0"/>
              <a:t>Now both sides (you and bank) share the same </a:t>
            </a:r>
            <a:r>
              <a:rPr lang="en-US" b="1" dirty="0"/>
              <a:t>session key</a:t>
            </a:r>
            <a:r>
              <a:rPr lang="en-US" dirty="0"/>
              <a:t>, and communication is secure</a:t>
            </a:r>
            <a:r>
              <a:rPr lang="en-US"/>
              <a:t>. 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In short:</a:t>
            </a:r>
            <a:endParaRPr lang="en-US" dirty="0"/>
          </a:p>
          <a:p>
            <a:r>
              <a:rPr lang="en-US" b="1" dirty="0"/>
              <a:t>CA</a:t>
            </a:r>
            <a:r>
              <a:rPr lang="en-US" dirty="0"/>
              <a:t> = Trusted authority who issues and signs the certificate.</a:t>
            </a:r>
          </a:p>
          <a:p>
            <a:r>
              <a:rPr lang="en-US" b="1" dirty="0"/>
              <a:t>Public Key</a:t>
            </a:r>
            <a:r>
              <a:rPr lang="en-US" dirty="0"/>
              <a:t> = Used to encrypt data.</a:t>
            </a:r>
          </a:p>
          <a:p>
            <a:r>
              <a:rPr lang="en-US" b="1" dirty="0"/>
              <a:t>Private Key</a:t>
            </a:r>
            <a:r>
              <a:rPr lang="en-US" dirty="0"/>
              <a:t> = Used to decrypt data (kept secret).</a:t>
            </a:r>
          </a:p>
          <a:p>
            <a:r>
              <a:rPr lang="en-US" b="1" dirty="0"/>
              <a:t>Certificate</a:t>
            </a:r>
            <a:r>
              <a:rPr lang="en-US" dirty="0"/>
              <a:t> = Proof of identity + key + CA’s signature.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71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59536" y="160337"/>
            <a:ext cx="8229600" cy="1143000"/>
          </a:xfrm>
        </p:spPr>
        <p:txBody>
          <a:bodyPr/>
          <a:lstStyle/>
          <a:p>
            <a:r>
              <a:rPr sz="3200" b="1" dirty="0"/>
              <a:t>Types of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674"/>
            <a:ext cx="6483096" cy="5394326"/>
          </a:xfrm>
        </p:spPr>
        <p:txBody>
          <a:bodyPr>
            <a:normAutofit/>
          </a:bodyPr>
          <a:lstStyle/>
          <a:p>
            <a:r>
              <a:rPr sz="2400" dirty="0"/>
              <a:t>Symmetric Cryptography → Same key for encryption &amp; decryption.</a:t>
            </a:r>
          </a:p>
          <a:p>
            <a:r>
              <a:rPr sz="2400" dirty="0"/>
              <a:t>Asymmetric Cryptography → Public key for encryption, private key for decryption.</a:t>
            </a:r>
          </a:p>
          <a:p>
            <a:r>
              <a:rPr sz="2400" dirty="0"/>
              <a:t>Hash Functions → One-way transformation, irreversible.</a:t>
            </a:r>
          </a:p>
          <a:p>
            <a:r>
              <a:rPr sz="2400" dirty="0"/>
              <a:t>Digital Signatures → Proof of authenticity &amp; integrity.</a:t>
            </a:r>
          </a:p>
          <a:p>
            <a:r>
              <a:rPr sz="2400" dirty="0"/>
              <a:t>Hybrid Cryptography → Combination of symmetric + asymmetric.</a:t>
            </a:r>
          </a:p>
          <a:p>
            <a:r>
              <a:rPr sz="2400" dirty="0"/>
              <a:t>Example: SSL/TLS (Secure Sockets Layer / Transport Layer Security) uses hybrid model.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A0EA530-833E-927D-7B7C-D82053A67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160337"/>
            <a:ext cx="6025896" cy="1143000"/>
          </a:xfrm>
        </p:spPr>
        <p:txBody>
          <a:bodyPr/>
          <a:lstStyle/>
          <a:p>
            <a:r>
              <a:rPr sz="3200" b="1" dirty="0"/>
              <a:t>Symmetric Cryptography (Secret Key Encryption)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5257800"/>
          </a:xfrm>
        </p:spPr>
        <p:txBody>
          <a:bodyPr>
            <a:normAutofit/>
          </a:bodyPr>
          <a:lstStyle/>
          <a:p>
            <a:r>
              <a:rPr sz="2800" dirty="0"/>
              <a:t>Uses one secret key shared by sender &amp; receiver.</a:t>
            </a:r>
          </a:p>
          <a:p>
            <a:r>
              <a:rPr sz="2800" dirty="0"/>
              <a:t>Fast and efficient, best for large data.</a:t>
            </a:r>
          </a:p>
          <a:p>
            <a:r>
              <a:rPr sz="2800" dirty="0"/>
              <a:t>Example algorithms: DES (Data Encryption Standard), AES (Advanced Encryption Standard).</a:t>
            </a:r>
          </a:p>
          <a:p>
            <a:r>
              <a:rPr sz="2800" dirty="0"/>
              <a:t>Main issue: Key must be shared securely.</a:t>
            </a:r>
          </a:p>
          <a:p>
            <a:r>
              <a:rPr sz="2800" dirty="0"/>
              <a:t>Common in Wi-Fi encryption, VPNs, disk encryption.</a:t>
            </a:r>
          </a:p>
          <a:p>
            <a:r>
              <a:rPr sz="2800" dirty="0"/>
              <a:t>Example: BitLocker uses AES for full disk encryption.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E14F2604-C960-C97B-55BC-DBECDDE1B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04" y="183514"/>
            <a:ext cx="6076188" cy="1143000"/>
          </a:xfrm>
        </p:spPr>
        <p:txBody>
          <a:bodyPr/>
          <a:lstStyle/>
          <a:p>
            <a:r>
              <a:rPr sz="3200" b="1" dirty="0"/>
              <a:t>Example of Symmetric Encryption (AES)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28216"/>
            <a:ext cx="6483096" cy="5129784"/>
          </a:xfrm>
        </p:spPr>
        <p:txBody>
          <a:bodyPr>
            <a:normAutofit lnSpcReduction="10000"/>
          </a:bodyPr>
          <a:lstStyle/>
          <a:p>
            <a:r>
              <a:rPr sz="2800" dirty="0"/>
              <a:t>Alice wants to send message “HELLO” to Bob.</a:t>
            </a:r>
          </a:p>
          <a:p>
            <a:r>
              <a:rPr sz="2800" dirty="0"/>
              <a:t>Both share the same AES key beforehand.</a:t>
            </a:r>
          </a:p>
          <a:p>
            <a:r>
              <a:rPr sz="2800" dirty="0"/>
              <a:t>Alice encrypts: HELLO → Ciphertext (random-looking).</a:t>
            </a:r>
          </a:p>
          <a:p>
            <a:r>
              <a:rPr sz="2800" dirty="0"/>
              <a:t>Bob uses same AES key to decrypt → HELLO.</a:t>
            </a:r>
          </a:p>
          <a:p>
            <a:r>
              <a:rPr sz="2800" dirty="0"/>
              <a:t>If Mallory gets the key → she can read everything.</a:t>
            </a:r>
          </a:p>
          <a:p>
            <a:r>
              <a:rPr sz="2800" dirty="0"/>
              <a:t>Shows need for secure key sharing.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8D666EAC-DCD0-B295-5A0B-6CCA31808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54964" y="9462"/>
            <a:ext cx="8229600" cy="1143000"/>
          </a:xfrm>
        </p:spPr>
        <p:txBody>
          <a:bodyPr/>
          <a:lstStyle/>
          <a:p>
            <a:r>
              <a:rPr sz="3200" b="1" dirty="0"/>
              <a:t>Symmetric Key Distribution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62"/>
            <a:ext cx="6483096" cy="5715000"/>
          </a:xfrm>
        </p:spPr>
        <p:txBody>
          <a:bodyPr>
            <a:normAutofit/>
          </a:bodyPr>
          <a:lstStyle/>
          <a:p>
            <a:r>
              <a:rPr sz="2800" dirty="0"/>
              <a:t>Biggest challenge: How to share secret key safely?</a:t>
            </a:r>
          </a:p>
          <a:p>
            <a:r>
              <a:rPr sz="2800" dirty="0"/>
              <a:t>If attacker intercepts, entire system fails.</a:t>
            </a:r>
          </a:p>
          <a:p>
            <a:r>
              <a:rPr sz="2800" dirty="0"/>
              <a:t>For n users, number of keys required = n(n-1)/2.</a:t>
            </a:r>
          </a:p>
          <a:p>
            <a:r>
              <a:rPr sz="2800" dirty="0"/>
              <a:t>Example: 100 users → need 4,950 keys.</a:t>
            </a:r>
          </a:p>
          <a:p>
            <a:r>
              <a:rPr sz="2800" dirty="0"/>
              <a:t>Not scalable for large networks.</a:t>
            </a:r>
          </a:p>
          <a:p>
            <a:r>
              <a:rPr sz="2800" dirty="0"/>
              <a:t>This is called the Key Distribution Problem.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3155FF6-66F9-CF03-78B9-9F44F4EAE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228600"/>
            <a:ext cx="6016752" cy="1143000"/>
          </a:xfrm>
        </p:spPr>
        <p:txBody>
          <a:bodyPr/>
          <a:lstStyle/>
          <a:p>
            <a:r>
              <a:rPr sz="3200" b="1" dirty="0"/>
              <a:t>Asymmetric Cryptography (Public Key Encryption)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18488"/>
            <a:ext cx="6483096" cy="5239512"/>
          </a:xfrm>
        </p:spPr>
        <p:txBody>
          <a:bodyPr>
            <a:normAutofit lnSpcReduction="10000"/>
          </a:bodyPr>
          <a:lstStyle/>
          <a:p>
            <a:r>
              <a:rPr sz="2800" dirty="0"/>
              <a:t>Uses two keys:</a:t>
            </a:r>
            <a:br>
              <a:rPr sz="4000" dirty="0"/>
            </a:br>
            <a:r>
              <a:rPr sz="2800" dirty="0"/>
              <a:t>• Public key → Shared openly for encryption.</a:t>
            </a:r>
            <a:br>
              <a:rPr sz="4000" dirty="0"/>
            </a:br>
            <a:r>
              <a:rPr sz="2800" dirty="0"/>
              <a:t>• Private key → Kept secret for decryption.</a:t>
            </a:r>
          </a:p>
          <a:p>
            <a:r>
              <a:rPr sz="2800" dirty="0"/>
              <a:t>Solves Key Distribution Problem.</a:t>
            </a:r>
          </a:p>
          <a:p>
            <a:r>
              <a:rPr sz="2800" dirty="0"/>
              <a:t>Slower than symmetric but more secure.</a:t>
            </a:r>
          </a:p>
          <a:p>
            <a:r>
              <a:rPr sz="2800" dirty="0"/>
              <a:t>Example algorithms: RSA (Rivest–Shamir–Adleman), ECC (Elliptic Curve Cryptography).</a:t>
            </a:r>
          </a:p>
          <a:p>
            <a:r>
              <a:rPr sz="2800" dirty="0"/>
              <a:t>Used in HTTPS websites, email security (PGP).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AC2E82B3-681E-90A9-E4BC-7FCC7013E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92608" y="160337"/>
            <a:ext cx="7150608" cy="1143000"/>
          </a:xfrm>
        </p:spPr>
        <p:txBody>
          <a:bodyPr/>
          <a:lstStyle/>
          <a:p>
            <a:r>
              <a:rPr sz="3200" b="1" dirty="0"/>
              <a:t>Example of Asymmetric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674"/>
            <a:ext cx="6483096" cy="5394326"/>
          </a:xfrm>
        </p:spPr>
        <p:txBody>
          <a:bodyPr>
            <a:normAutofit/>
          </a:bodyPr>
          <a:lstStyle/>
          <a:p>
            <a:r>
              <a:rPr sz="2800" dirty="0"/>
              <a:t>Bob generates: Public key + Private key.</a:t>
            </a:r>
          </a:p>
          <a:p>
            <a:r>
              <a:rPr sz="2800" dirty="0"/>
              <a:t>Bob shares public key openly.</a:t>
            </a:r>
          </a:p>
          <a:p>
            <a:r>
              <a:rPr sz="2800" dirty="0"/>
              <a:t>Alice encrypts her message using Bob’s public key.</a:t>
            </a:r>
          </a:p>
          <a:p>
            <a:r>
              <a:rPr sz="2800" dirty="0"/>
              <a:t>Only Bob can decrypt it with his private key.</a:t>
            </a:r>
          </a:p>
          <a:p>
            <a:r>
              <a:rPr sz="2800" dirty="0"/>
              <a:t>Even if Mallory gets public key → useless without private key.</a:t>
            </a:r>
          </a:p>
          <a:p>
            <a:r>
              <a:rPr sz="2800" dirty="0"/>
              <a:t>Example: Gmail uses S/MIME (Secure/Multipurpose Internet Mail Extensions) for email encryption.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0B53A698-2597-D319-3A05-7BDD805B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228600"/>
            <a:ext cx="6025896" cy="1143000"/>
          </a:xfrm>
        </p:spPr>
        <p:txBody>
          <a:bodyPr/>
          <a:lstStyle/>
          <a:p>
            <a:r>
              <a:rPr sz="3200" b="1" dirty="0"/>
              <a:t>RSA (Rivest–Shamir–Adleman)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5257800"/>
          </a:xfrm>
        </p:spPr>
        <p:txBody>
          <a:bodyPr>
            <a:normAutofit/>
          </a:bodyPr>
          <a:lstStyle/>
          <a:p>
            <a:r>
              <a:rPr sz="2800" dirty="0"/>
              <a:t>One of the earliest asymmetric cryptosystems.</a:t>
            </a:r>
          </a:p>
          <a:p>
            <a:r>
              <a:rPr sz="2800" dirty="0"/>
              <a:t>Based on difficulty of factoring large prime numbers.</a:t>
            </a:r>
          </a:p>
          <a:p>
            <a:r>
              <a:rPr sz="2800" dirty="0"/>
              <a:t>Generates public key (for encryption) &amp; private key (for decryption).</a:t>
            </a:r>
          </a:p>
          <a:p>
            <a:r>
              <a:rPr sz="2800" dirty="0"/>
              <a:t>Secure if keys are large (2048+ bits).</a:t>
            </a:r>
          </a:p>
          <a:p>
            <a:r>
              <a:rPr sz="2800" dirty="0"/>
              <a:t>Still widely used in SSL/TLS certificates.</a:t>
            </a:r>
          </a:p>
          <a:p>
            <a:r>
              <a:rPr sz="2800" dirty="0"/>
              <a:t>Example: Used in banking &amp; online authentication.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525B8E3F-03B4-68A3-C8AC-3F0B0B808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04672" y="160337"/>
            <a:ext cx="8229600" cy="1143000"/>
          </a:xfrm>
        </p:spPr>
        <p:txBody>
          <a:bodyPr/>
          <a:lstStyle/>
          <a:p>
            <a:r>
              <a:rPr sz="3200" b="1" dirty="0"/>
              <a:t>RSA Key Generation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4530"/>
            <a:ext cx="6483096" cy="5403470"/>
          </a:xfrm>
        </p:spPr>
        <p:txBody>
          <a:bodyPr>
            <a:normAutofit/>
          </a:bodyPr>
          <a:lstStyle/>
          <a:p>
            <a:r>
              <a:rPr dirty="0"/>
              <a:t>Step 1: Choose primes p = 3, q = 11.</a:t>
            </a:r>
          </a:p>
          <a:p>
            <a:r>
              <a:rPr dirty="0"/>
              <a:t>Step 2: n = p × q = 33.</a:t>
            </a:r>
          </a:p>
          <a:p>
            <a:r>
              <a:rPr dirty="0"/>
              <a:t>Step 3: ϕ(n) = (p-1)(q-1) = 20.</a:t>
            </a:r>
          </a:p>
          <a:p>
            <a:r>
              <a:rPr dirty="0"/>
              <a:t>Step 4: Choose e = 3 (coprime with 20).</a:t>
            </a:r>
          </a:p>
          <a:p>
            <a:r>
              <a:rPr dirty="0"/>
              <a:t>Step 5: Find d → d × e mod 20 = 1 → d = 7.</a:t>
            </a:r>
          </a:p>
          <a:p>
            <a:r>
              <a:rPr dirty="0"/>
              <a:t>Public key = (e=3, n=33).</a:t>
            </a:r>
          </a:p>
          <a:p>
            <a:r>
              <a:rPr dirty="0"/>
              <a:t>Private key = (d=7, n=33).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77062487-8CEF-253E-B1F3-3599D79EF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77824" y="9462"/>
            <a:ext cx="8229600" cy="1143000"/>
          </a:xfrm>
        </p:spPr>
        <p:txBody>
          <a:bodyPr/>
          <a:lstStyle/>
          <a:p>
            <a:r>
              <a:rPr sz="3200" b="1" dirty="0"/>
              <a:t>RSA Encryption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62"/>
            <a:ext cx="6483096" cy="5696076"/>
          </a:xfrm>
        </p:spPr>
        <p:txBody>
          <a:bodyPr>
            <a:normAutofit/>
          </a:bodyPr>
          <a:lstStyle/>
          <a:p>
            <a:r>
              <a:rPr dirty="0"/>
              <a:t>Formula: C = </a:t>
            </a:r>
            <a:r>
              <a:rPr dirty="0" err="1"/>
              <a:t>P^e</a:t>
            </a:r>
            <a:r>
              <a:rPr dirty="0"/>
              <a:t> mod n.</a:t>
            </a:r>
          </a:p>
          <a:p>
            <a:r>
              <a:rPr dirty="0"/>
              <a:t>Plaintext P = 4.</a:t>
            </a:r>
          </a:p>
          <a:p>
            <a:r>
              <a:rPr dirty="0"/>
              <a:t>C = 4^3 mod 33 = 64 mod 33 = 31.</a:t>
            </a:r>
          </a:p>
          <a:p>
            <a:r>
              <a:rPr dirty="0"/>
              <a:t>Ciphertext = 31.</a:t>
            </a:r>
          </a:p>
          <a:p>
            <a:r>
              <a:rPr dirty="0"/>
              <a:t>Only receiver with private key can decrypt.</a:t>
            </a:r>
          </a:p>
          <a:p>
            <a:r>
              <a:rPr dirty="0"/>
              <a:t>Shows power of public-private key system.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896977F4-FDB0-AF79-3996-938D083F4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44652" y="0"/>
            <a:ext cx="8229600" cy="1143000"/>
          </a:xfrm>
        </p:spPr>
        <p:txBody>
          <a:bodyPr/>
          <a:lstStyle/>
          <a:p>
            <a:r>
              <a:rPr sz="3200" b="1" dirty="0"/>
              <a:t>RSA Decryption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6483096" cy="5715000"/>
          </a:xfrm>
        </p:spPr>
        <p:txBody>
          <a:bodyPr>
            <a:normAutofit/>
          </a:bodyPr>
          <a:lstStyle/>
          <a:p>
            <a:r>
              <a:rPr dirty="0"/>
              <a:t>Formula: P = </a:t>
            </a:r>
            <a:r>
              <a:rPr dirty="0" err="1"/>
              <a:t>C^d</a:t>
            </a:r>
            <a:r>
              <a:rPr dirty="0"/>
              <a:t> mod n.</a:t>
            </a:r>
          </a:p>
          <a:p>
            <a:r>
              <a:rPr dirty="0"/>
              <a:t>Ciphertext C = 31.</a:t>
            </a:r>
          </a:p>
          <a:p>
            <a:r>
              <a:rPr dirty="0"/>
              <a:t>P = 31^7 mod 33 = 4.</a:t>
            </a:r>
          </a:p>
          <a:p>
            <a:r>
              <a:rPr dirty="0"/>
              <a:t>Decrypted plaintext = 4.</a:t>
            </a:r>
          </a:p>
          <a:p>
            <a:r>
              <a:rPr dirty="0"/>
              <a:t>Original message recovered successfully.</a:t>
            </a:r>
          </a:p>
          <a:p>
            <a:r>
              <a:rPr dirty="0"/>
              <a:t>Example: Used in digital certificates and secure login.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E341A845-1D56-2B1C-C9E4-37C752E3F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1248" y="160337"/>
            <a:ext cx="8229600" cy="1143000"/>
          </a:xfrm>
        </p:spPr>
        <p:txBody>
          <a:bodyPr/>
          <a:lstStyle/>
          <a:p>
            <a:r>
              <a:rPr sz="3200" b="1" dirty="0"/>
              <a:t>Hybrid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674"/>
            <a:ext cx="6483096" cy="5394326"/>
          </a:xfrm>
        </p:spPr>
        <p:txBody>
          <a:bodyPr>
            <a:normAutofit/>
          </a:bodyPr>
          <a:lstStyle/>
          <a:p>
            <a:r>
              <a:rPr sz="2800" dirty="0"/>
              <a:t>Combines symmetric + asymmetric encryption.</a:t>
            </a:r>
          </a:p>
          <a:p>
            <a:r>
              <a:rPr sz="2800" dirty="0"/>
              <a:t>Asymmetric used to exchange symmetric key.</a:t>
            </a:r>
          </a:p>
          <a:p>
            <a:r>
              <a:rPr sz="2800" dirty="0"/>
              <a:t>Symmetric used for fast data encryption.</a:t>
            </a:r>
          </a:p>
          <a:p>
            <a:r>
              <a:rPr sz="2800" dirty="0"/>
              <a:t>Example: SSL/TLS (website security).</a:t>
            </a:r>
          </a:p>
          <a:p>
            <a:r>
              <a:rPr sz="2800" dirty="0"/>
              <a:t>Provides both speed and security.</a:t>
            </a:r>
          </a:p>
          <a:p>
            <a:r>
              <a:rPr sz="2800" dirty="0"/>
              <a:t>Example: Browser uses RSA to exchange AES key → then AES encrypts session.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55BD3E99-20D4-531C-5C96-B681BA719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25896" cy="1143000"/>
          </a:xfrm>
        </p:spPr>
        <p:txBody>
          <a:bodyPr/>
          <a:lstStyle/>
          <a:p>
            <a:r>
              <a:rPr sz="3200" b="1" dirty="0"/>
              <a:t>SSL/TLS (Secure Sockets Layer / Transport Layer Security)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2276"/>
            <a:ext cx="6483096" cy="5165724"/>
          </a:xfrm>
        </p:spPr>
        <p:txBody>
          <a:bodyPr>
            <a:normAutofit/>
          </a:bodyPr>
          <a:lstStyle/>
          <a:p>
            <a:r>
              <a:rPr sz="2400" dirty="0"/>
              <a:t>SSL → Old protocol for secure communication.</a:t>
            </a:r>
          </a:p>
          <a:p>
            <a:r>
              <a:rPr sz="2400" dirty="0"/>
              <a:t>TLS → Improved version of SSL, widely used today.</a:t>
            </a:r>
          </a:p>
          <a:p>
            <a:r>
              <a:rPr sz="2400" dirty="0"/>
              <a:t>Works by exchanging keys using asymmetric cryptography.</a:t>
            </a:r>
          </a:p>
          <a:p>
            <a:r>
              <a:rPr sz="2400" dirty="0"/>
              <a:t>Then switches to symmetric (AES) for fast communication.</a:t>
            </a:r>
          </a:p>
          <a:p>
            <a:r>
              <a:rPr sz="2400" dirty="0"/>
              <a:t>Protects against eavesdropping, tampering, forgery.</a:t>
            </a:r>
          </a:p>
          <a:p>
            <a:r>
              <a:rPr sz="2400" dirty="0"/>
              <a:t>Example: HTTPS websites show padlock symbol in browser.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95FD0C8C-4D66-D938-B4BE-398A58F04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274638"/>
            <a:ext cx="6025896" cy="1143000"/>
          </a:xfrm>
        </p:spPr>
        <p:txBody>
          <a:bodyPr/>
          <a:lstStyle/>
          <a:p>
            <a:r>
              <a:rPr sz="3200" b="1" dirty="0"/>
              <a:t>HTTPS (</a:t>
            </a:r>
            <a:r>
              <a:rPr sz="3200" b="1" dirty="0" err="1"/>
              <a:t>HyperText</a:t>
            </a:r>
            <a:r>
              <a:rPr sz="3200" b="1" dirty="0"/>
              <a:t> Transfer Protocol Secure)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83080"/>
            <a:ext cx="6483096" cy="5074920"/>
          </a:xfrm>
        </p:spPr>
        <p:txBody>
          <a:bodyPr>
            <a:normAutofit/>
          </a:bodyPr>
          <a:lstStyle/>
          <a:p>
            <a:r>
              <a:rPr sz="2800" dirty="0"/>
              <a:t>Secure version of HTTP.</a:t>
            </a:r>
          </a:p>
          <a:p>
            <a:r>
              <a:rPr sz="2800" dirty="0"/>
              <a:t>Uses SSL/TLS for encryption.</a:t>
            </a:r>
          </a:p>
          <a:p>
            <a:r>
              <a:rPr sz="2800" dirty="0"/>
              <a:t>Ensures communication between browser &amp; server is safe.</a:t>
            </a:r>
          </a:p>
          <a:p>
            <a:r>
              <a:rPr sz="2800" dirty="0"/>
              <a:t>Prevents Man-in-the-Middle attacks.</a:t>
            </a:r>
          </a:p>
          <a:p>
            <a:r>
              <a:rPr sz="2800" dirty="0"/>
              <a:t>Example: Online shopping, banking websites.</a:t>
            </a:r>
          </a:p>
          <a:p>
            <a:r>
              <a:rPr sz="2800" dirty="0"/>
              <a:t>Analogy: Like talking in a private locked room.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534A6FA3-BBAF-27E2-2289-B921B30CD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05840" y="160337"/>
            <a:ext cx="8229600" cy="1143000"/>
          </a:xfrm>
        </p:spPr>
        <p:txBody>
          <a:bodyPr/>
          <a:lstStyle/>
          <a:p>
            <a:r>
              <a:rPr sz="3200" b="1" dirty="0"/>
              <a:t>Hash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4530"/>
            <a:ext cx="6483096" cy="5403470"/>
          </a:xfrm>
        </p:spPr>
        <p:txBody>
          <a:bodyPr>
            <a:normAutofit/>
          </a:bodyPr>
          <a:lstStyle/>
          <a:p>
            <a:r>
              <a:rPr sz="2800" dirty="0"/>
              <a:t>One-way mathematical functions.</a:t>
            </a:r>
          </a:p>
          <a:p>
            <a:r>
              <a:rPr sz="2800" dirty="0"/>
              <a:t>Convert input into fixed-length string (hash).</a:t>
            </a:r>
          </a:p>
          <a:p>
            <a:r>
              <a:rPr sz="2800" dirty="0"/>
              <a:t>Cannot be reversed (non-invertible).</a:t>
            </a:r>
          </a:p>
          <a:p>
            <a:r>
              <a:rPr sz="2800" dirty="0"/>
              <a:t>Common algorithms: MD5 (Message Digest 5), SHA (Secure Hash Algorithm).</a:t>
            </a:r>
          </a:p>
          <a:p>
            <a:r>
              <a:rPr sz="2800" dirty="0"/>
              <a:t>Used for integrity, digital signatures, password storage.</a:t>
            </a:r>
          </a:p>
          <a:p>
            <a:r>
              <a:rPr sz="2800" dirty="0"/>
              <a:t>Example: File download checksum.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C00CCF99-FCD8-1B3D-7C05-29E398A67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95528" y="160337"/>
            <a:ext cx="8229600" cy="1143000"/>
          </a:xfrm>
        </p:spPr>
        <p:txBody>
          <a:bodyPr/>
          <a:lstStyle/>
          <a:p>
            <a:r>
              <a:rPr sz="3200" b="1" dirty="0"/>
              <a:t>Hash Function Example (SHA-256)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72818"/>
            <a:ext cx="6483096" cy="5385182"/>
          </a:xfrm>
        </p:spPr>
        <p:txBody>
          <a:bodyPr>
            <a:normAutofit/>
          </a:bodyPr>
          <a:lstStyle/>
          <a:p>
            <a:r>
              <a:rPr sz="2800" dirty="0"/>
              <a:t>Input: “Hello World”.</a:t>
            </a:r>
          </a:p>
          <a:p>
            <a:r>
              <a:rPr sz="2800" dirty="0"/>
              <a:t>Output hash: “a591a6d40bf420...” (fixed 64 hex digits).</a:t>
            </a:r>
          </a:p>
          <a:p>
            <a:r>
              <a:rPr sz="2800" dirty="0"/>
              <a:t>Even small change in input changes hash completely.</a:t>
            </a:r>
          </a:p>
          <a:p>
            <a:r>
              <a:rPr sz="2800" dirty="0"/>
              <a:t>“hello world” → different hash.</a:t>
            </a:r>
          </a:p>
          <a:p>
            <a:r>
              <a:rPr sz="2800" dirty="0"/>
              <a:t>Ensures data integrity.</a:t>
            </a:r>
          </a:p>
          <a:p>
            <a:r>
              <a:rPr sz="2800" dirty="0"/>
              <a:t>Example: Blockchain transactions use SHA-256.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4C3B2EF7-4F1B-C42F-6BBA-437E3EF59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96696" y="160337"/>
            <a:ext cx="8229600" cy="1143000"/>
          </a:xfrm>
        </p:spPr>
        <p:txBody>
          <a:bodyPr/>
          <a:lstStyle/>
          <a:p>
            <a:r>
              <a:rPr sz="3200" b="1" dirty="0"/>
              <a:t>Digital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674"/>
            <a:ext cx="6483096" cy="5394326"/>
          </a:xfrm>
        </p:spPr>
        <p:txBody>
          <a:bodyPr>
            <a:normAutofit/>
          </a:bodyPr>
          <a:lstStyle/>
          <a:p>
            <a:r>
              <a:rPr sz="2800" dirty="0"/>
              <a:t>Provide authentication, integrity, non-repudiation.</a:t>
            </a:r>
          </a:p>
          <a:p>
            <a:r>
              <a:rPr sz="2800" dirty="0"/>
              <a:t>Created by encrypting hash of message with private key.</a:t>
            </a:r>
          </a:p>
          <a:p>
            <a:r>
              <a:rPr sz="2800" dirty="0"/>
              <a:t>Receiver verifies with public key.</a:t>
            </a:r>
          </a:p>
          <a:p>
            <a:r>
              <a:rPr sz="2800" dirty="0"/>
              <a:t>Used in contracts, software updates, certificates.</a:t>
            </a:r>
          </a:p>
          <a:p>
            <a:r>
              <a:rPr sz="2800" dirty="0"/>
              <a:t>Example: Adobe PDF signing, code signing for apps.</a:t>
            </a:r>
          </a:p>
          <a:p>
            <a:r>
              <a:rPr sz="2800" dirty="0"/>
              <a:t>Analogy: Like stamping a unique seal on document.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DD8C1988-5616-9A2A-8857-DBF8A8469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86968" y="228600"/>
            <a:ext cx="8229600" cy="1143000"/>
          </a:xfrm>
        </p:spPr>
        <p:txBody>
          <a:bodyPr/>
          <a:lstStyle/>
          <a:p>
            <a:r>
              <a:rPr sz="3200" b="1" dirty="0"/>
              <a:t>PGP (Pretty Good Privacy)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5257800"/>
          </a:xfrm>
        </p:spPr>
        <p:txBody>
          <a:bodyPr>
            <a:normAutofit/>
          </a:bodyPr>
          <a:lstStyle/>
          <a:p>
            <a:r>
              <a:rPr sz="2800" dirty="0"/>
              <a:t>Software for email encryption &amp; signing.</a:t>
            </a:r>
          </a:p>
          <a:p>
            <a:r>
              <a:rPr sz="2800" dirty="0"/>
              <a:t>Uses hybrid cryptography (symmetric + asymmetric).</a:t>
            </a:r>
          </a:p>
          <a:p>
            <a:r>
              <a:rPr sz="2800" dirty="0"/>
              <a:t>Ensures confidentiality and authenticity of emails.</a:t>
            </a:r>
          </a:p>
          <a:p>
            <a:r>
              <a:rPr sz="2800" dirty="0"/>
              <a:t>Users share public keys to exchange messages.</a:t>
            </a:r>
          </a:p>
          <a:p>
            <a:r>
              <a:rPr sz="2800" dirty="0"/>
              <a:t>Still used in secure communications.</a:t>
            </a:r>
          </a:p>
          <a:p>
            <a:r>
              <a:rPr sz="2800" dirty="0"/>
              <a:t>Example: Activists/journalists use PGP for sensitive data.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4530957-311B-9D42-8427-5EA35CE7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9236"/>
            <a:ext cx="6025896" cy="1143000"/>
          </a:xfrm>
        </p:spPr>
        <p:txBody>
          <a:bodyPr/>
          <a:lstStyle/>
          <a:p>
            <a:r>
              <a:rPr sz="3200" b="1" dirty="0"/>
              <a:t>MAC (Message Authentication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64792"/>
            <a:ext cx="6483096" cy="5093208"/>
          </a:xfrm>
        </p:spPr>
        <p:txBody>
          <a:bodyPr>
            <a:normAutofit/>
          </a:bodyPr>
          <a:lstStyle/>
          <a:p>
            <a:r>
              <a:rPr sz="2800" dirty="0"/>
              <a:t>Ensures message integrity &amp; authentication.</a:t>
            </a:r>
          </a:p>
          <a:p>
            <a:r>
              <a:rPr sz="2800" dirty="0"/>
              <a:t>Generated using secret key + message.</a:t>
            </a:r>
          </a:p>
          <a:p>
            <a:r>
              <a:rPr sz="2800" dirty="0"/>
              <a:t>Receiver checks MAC to confirm authenticity.</a:t>
            </a:r>
          </a:p>
          <a:p>
            <a:r>
              <a:rPr sz="2800" dirty="0"/>
              <a:t>Different from hashing (MAC uses key).</a:t>
            </a:r>
          </a:p>
          <a:p>
            <a:r>
              <a:rPr sz="2800" dirty="0"/>
              <a:t>Example algorithms: HMAC (Hashed Message Authentication Code).</a:t>
            </a:r>
          </a:p>
          <a:p>
            <a:r>
              <a:rPr sz="2800" dirty="0"/>
              <a:t>Example: Used in IPSec VPNs for secure tunnels.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3253F462-7A41-3C88-8793-0C7DFCAC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6199632" cy="1143000"/>
          </a:xfrm>
        </p:spPr>
        <p:txBody>
          <a:bodyPr/>
          <a:lstStyle/>
          <a:p>
            <a:r>
              <a:rPr sz="3200" b="1" dirty="0"/>
              <a:t>HMAC (Hashed Message Authentication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5257800"/>
          </a:xfrm>
        </p:spPr>
        <p:txBody>
          <a:bodyPr>
            <a:normAutofit/>
          </a:bodyPr>
          <a:lstStyle/>
          <a:p>
            <a:r>
              <a:rPr sz="2800" dirty="0"/>
              <a:t>Combines hash function + secret key.</a:t>
            </a:r>
          </a:p>
          <a:p>
            <a:r>
              <a:rPr sz="2800" dirty="0"/>
              <a:t>More secure than normal hash.</a:t>
            </a:r>
          </a:p>
          <a:p>
            <a:r>
              <a:rPr sz="2800" dirty="0"/>
              <a:t>Used in APIs, secure communication, VPNs.</a:t>
            </a:r>
          </a:p>
          <a:p>
            <a:r>
              <a:rPr sz="2800" dirty="0"/>
              <a:t>Prevents tampering and forgery.</a:t>
            </a:r>
          </a:p>
          <a:p>
            <a:r>
              <a:rPr sz="2800" dirty="0"/>
              <a:t>Example: AWS (Amazon Web Services) uses HMAC for API authentication.</a:t>
            </a:r>
          </a:p>
          <a:p>
            <a:r>
              <a:rPr sz="2800" dirty="0"/>
              <a:t>Analogy: Like secret stamp + locked box together.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B28B79DA-D74C-B850-96D1-F448A4E03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153912" cy="1143000"/>
          </a:xfrm>
        </p:spPr>
        <p:txBody>
          <a:bodyPr/>
          <a:lstStyle/>
          <a:p>
            <a:r>
              <a:rPr sz="3200" b="1" dirty="0"/>
              <a:t>Cryptanalysis (Breaking Cryptography)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81328"/>
            <a:ext cx="6483096" cy="5376672"/>
          </a:xfrm>
        </p:spPr>
        <p:txBody>
          <a:bodyPr>
            <a:normAutofit/>
          </a:bodyPr>
          <a:lstStyle/>
          <a:p>
            <a:r>
              <a:rPr sz="2800" dirty="0"/>
              <a:t>Study of methods to break cryptographic systems.</a:t>
            </a:r>
          </a:p>
          <a:p>
            <a:r>
              <a:rPr sz="2800" dirty="0"/>
              <a:t>Types: Brute-force, frequency analysis, side-channel attacks.</a:t>
            </a:r>
          </a:p>
          <a:p>
            <a:r>
              <a:rPr sz="2800" dirty="0"/>
              <a:t>Goal: Find weaknesses in algorithms.</a:t>
            </a:r>
          </a:p>
          <a:p>
            <a:r>
              <a:rPr sz="2800" dirty="0"/>
              <a:t>Example: DES broken due to small key size (56 bits).</a:t>
            </a:r>
          </a:p>
          <a:p>
            <a:r>
              <a:rPr sz="2800" dirty="0"/>
              <a:t>Modern algorithms (AES, RSA-2048) are strong.</a:t>
            </a:r>
          </a:p>
          <a:p>
            <a:r>
              <a:rPr sz="2800" dirty="0"/>
              <a:t>Example: Hackers try to crack weak passwords with brute-force.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6D978A5D-4865-8F26-D6B2-A040DBA01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0584" y="274638"/>
            <a:ext cx="6483096" cy="1143000"/>
          </a:xfrm>
        </p:spPr>
        <p:txBody>
          <a:bodyPr/>
          <a:lstStyle/>
          <a:p>
            <a:r>
              <a:rPr sz="3200" b="1" dirty="0"/>
              <a:t>Real-World Use of Symmetric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75156"/>
            <a:ext cx="6483096" cy="4982844"/>
          </a:xfrm>
        </p:spPr>
        <p:txBody>
          <a:bodyPr>
            <a:normAutofit/>
          </a:bodyPr>
          <a:lstStyle/>
          <a:p>
            <a:r>
              <a:rPr sz="2800" dirty="0"/>
              <a:t>VPN (Virtual Private Network) → encrypts all internet traffic.</a:t>
            </a:r>
          </a:p>
          <a:p>
            <a:r>
              <a:rPr sz="2800" dirty="0"/>
              <a:t>Disk Encryption → BitLocker, </a:t>
            </a:r>
            <a:r>
              <a:rPr sz="2800" dirty="0" err="1"/>
              <a:t>FileVault</a:t>
            </a:r>
            <a:r>
              <a:rPr sz="2800" dirty="0"/>
              <a:t>.</a:t>
            </a:r>
          </a:p>
          <a:p>
            <a:r>
              <a:rPr sz="2800" dirty="0"/>
              <a:t>Wi-Fi Security → WPA2/WPA3 with AES.</a:t>
            </a:r>
          </a:p>
          <a:p>
            <a:r>
              <a:rPr sz="2800" dirty="0"/>
              <a:t>Cloud storage → Google Drive encryption.</a:t>
            </a:r>
          </a:p>
          <a:p>
            <a:r>
              <a:rPr sz="2800" dirty="0"/>
              <a:t>Mobile apps → WhatsApp message body with AES.</a:t>
            </a:r>
          </a:p>
          <a:p>
            <a:r>
              <a:rPr sz="2800" dirty="0"/>
              <a:t>Example: Employee connecting to office via VPN.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C492058A-29E1-BE64-0446-298A69C3E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" y="77405"/>
            <a:ext cx="6373368" cy="1143000"/>
          </a:xfrm>
        </p:spPr>
        <p:txBody>
          <a:bodyPr/>
          <a:lstStyle/>
          <a:p>
            <a:r>
              <a:rPr sz="3200" b="1" dirty="0"/>
              <a:t>Real-World Use of Asymmetric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18540"/>
            <a:ext cx="6483096" cy="5339460"/>
          </a:xfrm>
        </p:spPr>
        <p:txBody>
          <a:bodyPr>
            <a:normAutofit/>
          </a:bodyPr>
          <a:lstStyle/>
          <a:p>
            <a:r>
              <a:rPr sz="2800" dirty="0"/>
              <a:t>HTTPS websites → RSA/ECC for certificates.</a:t>
            </a:r>
          </a:p>
          <a:p>
            <a:r>
              <a:rPr sz="2800" dirty="0"/>
              <a:t>Email Security (PGP).</a:t>
            </a:r>
          </a:p>
          <a:p>
            <a:r>
              <a:rPr sz="2800" dirty="0"/>
              <a:t>Banking logins → Public-private key exchange.</a:t>
            </a:r>
          </a:p>
          <a:p>
            <a:r>
              <a:rPr sz="2800" dirty="0"/>
              <a:t>Software updates → Signed with private key.</a:t>
            </a:r>
          </a:p>
          <a:p>
            <a:r>
              <a:rPr sz="2800" dirty="0"/>
              <a:t>Blockchain → Uses asymmetric keys for transactions.</a:t>
            </a:r>
          </a:p>
          <a:p>
            <a:r>
              <a:rPr sz="2800" dirty="0"/>
              <a:t>Example: Bitcoin wallet uses private key to spend coins.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D8DC88D5-ECD5-CCFA-C597-F763C45E3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337"/>
            <a:ext cx="6204204" cy="1143000"/>
          </a:xfrm>
        </p:spPr>
        <p:txBody>
          <a:bodyPr/>
          <a:lstStyle/>
          <a:p>
            <a:r>
              <a:rPr sz="3200" b="1" dirty="0"/>
              <a:t>Symmetric vs. Asymmetric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27632"/>
            <a:ext cx="6483096" cy="5230368"/>
          </a:xfrm>
        </p:spPr>
        <p:txBody>
          <a:bodyPr>
            <a:normAutofit/>
          </a:bodyPr>
          <a:lstStyle/>
          <a:p>
            <a:r>
              <a:rPr sz="2800" dirty="0"/>
              <a:t>Symmetric → One key, fast, best for large data.</a:t>
            </a:r>
          </a:p>
          <a:p>
            <a:r>
              <a:rPr sz="2800" dirty="0"/>
              <a:t>Asymmetric → Two keys, secure, solves distribution.</a:t>
            </a:r>
          </a:p>
          <a:p>
            <a:r>
              <a:rPr sz="2800" dirty="0"/>
              <a:t>Symmetric → Hard to manage many users.</a:t>
            </a:r>
          </a:p>
          <a:p>
            <a:r>
              <a:rPr sz="2800" dirty="0"/>
              <a:t>Asymmetric → Easier key sharing.</a:t>
            </a:r>
          </a:p>
          <a:p>
            <a:r>
              <a:rPr sz="2800" dirty="0"/>
              <a:t>Symmetric used in VPNs, Asymmetric in HTTPS.</a:t>
            </a:r>
          </a:p>
          <a:p>
            <a:r>
              <a:rPr sz="2800" dirty="0"/>
              <a:t>Hybrid systems combine both for best results.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56E91BA5-ADD5-2AAE-8979-F5D07A4B8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337"/>
            <a:ext cx="6382512" cy="1143000"/>
          </a:xfrm>
        </p:spPr>
        <p:txBody>
          <a:bodyPr/>
          <a:lstStyle/>
          <a:p>
            <a:r>
              <a:rPr sz="3200" b="1" dirty="0"/>
              <a:t>Simple Cipher Example (Caesar Cipher)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5257800"/>
          </a:xfrm>
        </p:spPr>
        <p:txBody>
          <a:bodyPr>
            <a:normAutofit/>
          </a:bodyPr>
          <a:lstStyle/>
          <a:p>
            <a:r>
              <a:rPr dirty="0"/>
              <a:t>Shift each letter by 3 positions.</a:t>
            </a:r>
          </a:p>
          <a:p>
            <a:r>
              <a:rPr dirty="0"/>
              <a:t>Plaintext: HELLO → Ciphertext: KHOOR.</a:t>
            </a:r>
          </a:p>
          <a:p>
            <a:r>
              <a:rPr dirty="0"/>
              <a:t>Easy to understand but insecure.</a:t>
            </a:r>
          </a:p>
          <a:p>
            <a:r>
              <a:rPr dirty="0"/>
              <a:t>Shows basic idea of encryption.</a:t>
            </a:r>
          </a:p>
          <a:p>
            <a:r>
              <a:rPr dirty="0"/>
              <a:t>Example: Used by Julius Caesar in military.</a:t>
            </a:r>
          </a:p>
          <a:p>
            <a:r>
              <a:rPr dirty="0"/>
              <a:t>Analogy: Like shifting alphabet wheel.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583797C9-C75B-9194-0306-8A2992510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8096" y="0"/>
            <a:ext cx="8229600" cy="1143000"/>
          </a:xfrm>
        </p:spPr>
        <p:txBody>
          <a:bodyPr/>
          <a:lstStyle/>
          <a:p>
            <a:r>
              <a:rPr sz="3200" b="1" dirty="0"/>
              <a:t>Simple XOR Cipher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6483096" cy="5715000"/>
          </a:xfrm>
        </p:spPr>
        <p:txBody>
          <a:bodyPr>
            <a:normAutofit/>
          </a:bodyPr>
          <a:lstStyle/>
          <a:p>
            <a:r>
              <a:rPr dirty="0"/>
              <a:t>XOR = Exclusive OR operation.</a:t>
            </a:r>
          </a:p>
          <a:p>
            <a:r>
              <a:rPr dirty="0"/>
              <a:t>Key = 1010, Message = 1100.</a:t>
            </a:r>
          </a:p>
          <a:p>
            <a:r>
              <a:rPr dirty="0"/>
              <a:t>Ciphertext = 0110.</a:t>
            </a:r>
          </a:p>
          <a:p>
            <a:r>
              <a:rPr dirty="0"/>
              <a:t>Same key applied again decrypts it.</a:t>
            </a:r>
          </a:p>
          <a:p>
            <a:r>
              <a:rPr dirty="0"/>
              <a:t>Very fast but weak alone.</a:t>
            </a:r>
          </a:p>
          <a:p>
            <a:r>
              <a:rPr dirty="0"/>
              <a:t>Example: Used in stream ciphers.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8885661E-B21F-BE4D-BC8F-FA45EF07F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13816" y="9462"/>
            <a:ext cx="8229600" cy="1143000"/>
          </a:xfrm>
        </p:spPr>
        <p:txBody>
          <a:bodyPr/>
          <a:lstStyle/>
          <a:p>
            <a:r>
              <a:rPr sz="3200" b="1" dirty="0"/>
              <a:t>Modern Cryptography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018"/>
            <a:ext cx="6483096" cy="5691982"/>
          </a:xfrm>
        </p:spPr>
        <p:txBody>
          <a:bodyPr>
            <a:normAutofit/>
          </a:bodyPr>
          <a:lstStyle/>
          <a:p>
            <a:r>
              <a:rPr sz="2800" dirty="0"/>
              <a:t>WhatsApp → End-to-End encryption (AES + RSA).</a:t>
            </a:r>
          </a:p>
          <a:p>
            <a:r>
              <a:rPr sz="2800" dirty="0"/>
              <a:t>Banking apps → RSA/ECC + digital signatures.</a:t>
            </a:r>
          </a:p>
          <a:p>
            <a:r>
              <a:rPr sz="2800" dirty="0"/>
              <a:t>VPNs → AES + HMAC.</a:t>
            </a:r>
          </a:p>
          <a:p>
            <a:r>
              <a:rPr sz="2800" dirty="0"/>
              <a:t>Websites → HTTPS with SSL/TLS.</a:t>
            </a:r>
          </a:p>
          <a:p>
            <a:r>
              <a:rPr sz="2800" dirty="0"/>
              <a:t>Cloud storage → AES + key management.</a:t>
            </a:r>
          </a:p>
          <a:p>
            <a:r>
              <a:rPr sz="2800" dirty="0"/>
              <a:t>Shows how everyday life uses cryptography.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629651F5-FF32-1FE6-7053-C51DA88E9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13816" y="160337"/>
            <a:ext cx="8229600" cy="1143000"/>
          </a:xfrm>
        </p:spPr>
        <p:txBody>
          <a:bodyPr/>
          <a:lstStyle/>
          <a:p>
            <a:r>
              <a:rPr sz="3200" b="1" dirty="0"/>
              <a:t>Cryptography in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89888"/>
            <a:ext cx="6483096" cy="5468112"/>
          </a:xfrm>
        </p:spPr>
        <p:txBody>
          <a:bodyPr>
            <a:normAutofit/>
          </a:bodyPr>
          <a:lstStyle/>
          <a:p>
            <a:r>
              <a:rPr sz="2800" dirty="0"/>
              <a:t>Windows BitLocker → AES for disk encryption.</a:t>
            </a:r>
          </a:p>
          <a:p>
            <a:r>
              <a:rPr sz="2800" dirty="0"/>
              <a:t>Linux LUKS (Linux Unified Key Setup) → AES for drives.</a:t>
            </a:r>
          </a:p>
          <a:p>
            <a:r>
              <a:rPr sz="2800" dirty="0"/>
              <a:t>macOS </a:t>
            </a:r>
            <a:r>
              <a:rPr sz="2800" dirty="0" err="1"/>
              <a:t>FileVault</a:t>
            </a:r>
            <a:r>
              <a:rPr sz="2800" dirty="0"/>
              <a:t> → Full-disk encryption.</a:t>
            </a:r>
          </a:p>
          <a:p>
            <a:r>
              <a:rPr sz="2800" dirty="0"/>
              <a:t>Protects against laptop theft.</a:t>
            </a:r>
          </a:p>
          <a:p>
            <a:r>
              <a:rPr sz="2800" dirty="0"/>
              <a:t>Example: Lost laptop cannot be accessed without key.</a:t>
            </a:r>
          </a:p>
          <a:p>
            <a:r>
              <a:rPr sz="2800" dirty="0"/>
              <a:t>Analogy: Like a vault inside your computer.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D5C2D67D-609C-D0BD-EED3-E2B96C67E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23544" y="228600"/>
            <a:ext cx="8229600" cy="1143000"/>
          </a:xfrm>
        </p:spPr>
        <p:txBody>
          <a:bodyPr/>
          <a:lstStyle/>
          <a:p>
            <a:r>
              <a:rPr sz="3200" b="1" dirty="0"/>
              <a:t>Cryptography in Messaging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5257800"/>
          </a:xfrm>
        </p:spPr>
        <p:txBody>
          <a:bodyPr>
            <a:normAutofit/>
          </a:bodyPr>
          <a:lstStyle/>
          <a:p>
            <a:r>
              <a:rPr sz="2800" dirty="0"/>
              <a:t>WhatsApp → End-to-End encryption.</a:t>
            </a:r>
          </a:p>
          <a:p>
            <a:r>
              <a:rPr sz="2800" dirty="0"/>
              <a:t>Signal → Advanced double ratchet protocol.</a:t>
            </a:r>
          </a:p>
          <a:p>
            <a:r>
              <a:rPr sz="2800" dirty="0"/>
              <a:t>Telegram (Secret Chats) → End-to-End encryption.</a:t>
            </a:r>
          </a:p>
          <a:p>
            <a:r>
              <a:rPr sz="2800" dirty="0"/>
              <a:t>Protects chats from interception.</a:t>
            </a:r>
          </a:p>
          <a:p>
            <a:r>
              <a:rPr sz="2800" dirty="0"/>
              <a:t>Example: Government cannot read encrypted Signal chats.</a:t>
            </a:r>
          </a:p>
          <a:p>
            <a:r>
              <a:rPr sz="2800" dirty="0"/>
              <a:t>Analogy: Like whispering in a soundproof room.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5FCBB34F-339C-FAEF-2965-2DBA766F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32688" y="228600"/>
            <a:ext cx="8229600" cy="1143000"/>
          </a:xfrm>
        </p:spPr>
        <p:txBody>
          <a:bodyPr/>
          <a:lstStyle/>
          <a:p>
            <a:r>
              <a:rPr sz="3200" b="1" dirty="0"/>
              <a:t>Cryptography in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95786"/>
            <a:ext cx="6483096" cy="5262214"/>
          </a:xfrm>
        </p:spPr>
        <p:txBody>
          <a:bodyPr>
            <a:normAutofit/>
          </a:bodyPr>
          <a:lstStyle/>
          <a:p>
            <a:r>
              <a:rPr sz="2800" dirty="0"/>
              <a:t>Credit card payments use HTTPS.</a:t>
            </a:r>
          </a:p>
          <a:p>
            <a:r>
              <a:rPr sz="2800" dirty="0"/>
              <a:t>Payment gateways use symmetric + asymmetric keys.</a:t>
            </a:r>
          </a:p>
          <a:p>
            <a:r>
              <a:rPr sz="2800" dirty="0"/>
              <a:t>Digital receipts signed with digital signatures.</a:t>
            </a:r>
          </a:p>
          <a:p>
            <a:r>
              <a:rPr sz="2800" dirty="0"/>
              <a:t>Prevents fraud in online shopping.</a:t>
            </a:r>
          </a:p>
          <a:p>
            <a:r>
              <a:rPr sz="2800" dirty="0"/>
              <a:t>Example: Amazon checkout is encrypted.</a:t>
            </a:r>
          </a:p>
          <a:p>
            <a:r>
              <a:rPr sz="2800" dirty="0"/>
              <a:t>Analogy: Like shopping behind bulletproof glass.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2E6F9EC-56F4-DB27-F91E-7E26901CD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44652" y="228600"/>
            <a:ext cx="8229600" cy="1143000"/>
          </a:xfrm>
        </p:spPr>
        <p:txBody>
          <a:bodyPr/>
          <a:lstStyle/>
          <a:p>
            <a:r>
              <a:rPr sz="3200" b="1" dirty="0"/>
              <a:t>Future of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6483096" cy="5257800"/>
          </a:xfrm>
        </p:spPr>
        <p:txBody>
          <a:bodyPr>
            <a:normAutofit/>
          </a:bodyPr>
          <a:lstStyle/>
          <a:p>
            <a:r>
              <a:rPr sz="2800" dirty="0"/>
              <a:t>Quantum Cryptography → Uses quantum physics.</a:t>
            </a:r>
          </a:p>
          <a:p>
            <a:r>
              <a:rPr sz="2800" dirty="0"/>
              <a:t>Post-Quantum Algorithms → Secure against quantum computers.</a:t>
            </a:r>
          </a:p>
          <a:p>
            <a:r>
              <a:rPr sz="2800" dirty="0"/>
              <a:t>Research in lattice-based cryptography.</a:t>
            </a:r>
          </a:p>
          <a:p>
            <a:r>
              <a:rPr sz="2800" dirty="0"/>
              <a:t>Governments preparing for quantum threats.</a:t>
            </a:r>
          </a:p>
          <a:p>
            <a:r>
              <a:rPr sz="2800" dirty="0"/>
              <a:t>Example: Google testing post-quantum TLS.</a:t>
            </a:r>
          </a:p>
          <a:p>
            <a:r>
              <a:rPr sz="2800" dirty="0"/>
              <a:t>Future-proofing digital security.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D4CB6031-100C-B0D7-A9D0-51C31DA7B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77240" y="228600"/>
            <a:ext cx="8229600" cy="1143000"/>
          </a:xfrm>
        </p:spPr>
        <p:txBody>
          <a:bodyPr/>
          <a:lstStyle/>
          <a:p>
            <a:r>
              <a:rPr sz="3200" b="1" dirty="0"/>
              <a:t>Advantages of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36192"/>
            <a:ext cx="6483096" cy="5321808"/>
          </a:xfrm>
        </p:spPr>
        <p:txBody>
          <a:bodyPr>
            <a:normAutofit/>
          </a:bodyPr>
          <a:lstStyle/>
          <a:p>
            <a:r>
              <a:rPr sz="2800" dirty="0"/>
              <a:t>Ensures data confidentiality.</a:t>
            </a:r>
          </a:p>
          <a:p>
            <a:r>
              <a:rPr sz="2800" dirty="0"/>
              <a:t>Provides authentication &amp; trust.</a:t>
            </a:r>
          </a:p>
          <a:p>
            <a:r>
              <a:rPr sz="2800" dirty="0"/>
              <a:t>Secures communication in hostile networks.</a:t>
            </a:r>
          </a:p>
          <a:p>
            <a:r>
              <a:rPr sz="2800" dirty="0"/>
              <a:t>Protects against hackers &amp; spies.</a:t>
            </a:r>
          </a:p>
          <a:p>
            <a:r>
              <a:rPr sz="2800" dirty="0"/>
              <a:t>Enables e-commerce, banking, cloud computing.</a:t>
            </a:r>
          </a:p>
          <a:p>
            <a:r>
              <a:rPr sz="2800" dirty="0"/>
              <a:t>Example: Without cryptography → no online banking.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3187DEDE-B093-6BCB-A68A-49F4EF26A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05256" y="55182"/>
            <a:ext cx="8229600" cy="1143000"/>
          </a:xfrm>
        </p:spPr>
        <p:txBody>
          <a:bodyPr/>
          <a:lstStyle/>
          <a:p>
            <a:r>
              <a:rPr sz="3200" b="1" dirty="0"/>
              <a:t>Summary of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3364"/>
            <a:ext cx="6483096" cy="5604636"/>
          </a:xfrm>
        </p:spPr>
        <p:txBody>
          <a:bodyPr>
            <a:normAutofit lnSpcReduction="10000"/>
          </a:bodyPr>
          <a:lstStyle/>
          <a:p>
            <a:r>
              <a:rPr sz="2800" dirty="0"/>
              <a:t>Cryptography protects digital information.</a:t>
            </a:r>
          </a:p>
          <a:p>
            <a:r>
              <a:rPr sz="2800" dirty="0"/>
              <a:t>Two main types: Symmetric &amp; Asymmetric.</a:t>
            </a:r>
          </a:p>
          <a:p>
            <a:r>
              <a:rPr sz="2800" dirty="0"/>
              <a:t>Key Distribution Problem solved by asymmetric (RSA).</a:t>
            </a:r>
          </a:p>
          <a:p>
            <a:r>
              <a:rPr sz="2800" dirty="0"/>
              <a:t>Hashing &amp; Digital Signatures ensure integrity &amp; authenticity.</a:t>
            </a:r>
          </a:p>
          <a:p>
            <a:r>
              <a:rPr sz="2800" dirty="0"/>
              <a:t>SSL/TLS, VPNs, HTTPS, WhatsApp all use cryptography.</a:t>
            </a:r>
          </a:p>
          <a:p>
            <a:r>
              <a:rPr sz="2800" dirty="0"/>
              <a:t>Cryptography is the backbone of cybersecurity.</a:t>
            </a:r>
          </a:p>
        </p:txBody>
      </p:sp>
      <p:pic>
        <p:nvPicPr>
          <p:cNvPr id="4" name="Picture 3" descr="A blue and white background">
            <a:extLst>
              <a:ext uri="{FF2B5EF4-FFF2-40B4-BE49-F238E27FC236}">
                <a16:creationId xmlns:a16="http://schemas.microsoft.com/office/drawing/2014/main" id="{FAD25856-BD16-A566-87E7-ACF234155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0"/>
            <a:ext cx="266090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2247</Words>
  <Application>Microsoft Office PowerPoint</Application>
  <PresentationFormat>On-screen Show (4:3)</PresentationFormat>
  <Paragraphs>267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Avenir Next LT Pro</vt:lpstr>
      <vt:lpstr>Calibri</vt:lpstr>
      <vt:lpstr>Roboto Condensed Light</vt:lpstr>
      <vt:lpstr>Office Theme</vt:lpstr>
      <vt:lpstr>PowerPoint Presentation</vt:lpstr>
      <vt:lpstr>Introduction to Cryptography</vt:lpstr>
      <vt:lpstr>Why Cryptography is Needed?</vt:lpstr>
      <vt:lpstr>Goals of Cryptography</vt:lpstr>
      <vt:lpstr>PowerPoint Presentation</vt:lpstr>
      <vt:lpstr>Types of Cryptography</vt:lpstr>
      <vt:lpstr>Symmetric Cryptography (Secret Key Encryption)</vt:lpstr>
      <vt:lpstr>Example of Symmetric Encryption (AES)</vt:lpstr>
      <vt:lpstr>Symmetric Key Distribution Problem</vt:lpstr>
      <vt:lpstr>Asymmetric Cryptography (Public Key Encryption)</vt:lpstr>
      <vt:lpstr>Example of Asymmetric Cryptography</vt:lpstr>
      <vt:lpstr>RSA (Rivest–Shamir–Adleman) Algorithm</vt:lpstr>
      <vt:lpstr>RSA Key Generation Example</vt:lpstr>
      <vt:lpstr>RSA Encryption Example</vt:lpstr>
      <vt:lpstr>RSA Decryption Example</vt:lpstr>
      <vt:lpstr>Hybrid Cryptography</vt:lpstr>
      <vt:lpstr>SSL/TLS (Secure Sockets Layer / Transport Layer Security)</vt:lpstr>
      <vt:lpstr>HTTPS (HyperText Transfer Protocol Secure)</vt:lpstr>
      <vt:lpstr>Hash Functions</vt:lpstr>
      <vt:lpstr>Hash Function Example (SHA-256)</vt:lpstr>
      <vt:lpstr>Digital Signatures</vt:lpstr>
      <vt:lpstr>PGP (Pretty Good Privacy)</vt:lpstr>
      <vt:lpstr>MAC (Message Authentication Code)</vt:lpstr>
      <vt:lpstr>HMAC (Hashed Message Authentication Code)</vt:lpstr>
      <vt:lpstr>Cryptanalysis (Breaking Cryptography)</vt:lpstr>
      <vt:lpstr>Real-World Use of Symmetric Encryption</vt:lpstr>
      <vt:lpstr>Real-World Use of Asymmetric Encryption</vt:lpstr>
      <vt:lpstr>Symmetric vs. Asymmetric Comparison</vt:lpstr>
      <vt:lpstr>Simple Cipher Example (Caesar Cipher)</vt:lpstr>
      <vt:lpstr>Simple XOR Cipher Example</vt:lpstr>
      <vt:lpstr>Modern Cryptography in Action</vt:lpstr>
      <vt:lpstr>Cryptography in Operating Systems</vt:lpstr>
      <vt:lpstr>Cryptography in Messaging Apps</vt:lpstr>
      <vt:lpstr>Cryptography in E-Commerce</vt:lpstr>
      <vt:lpstr>Future of Cryptography</vt:lpstr>
      <vt:lpstr>Advantages of Cryptography</vt:lpstr>
      <vt:lpstr>Summary of Lecture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Dr Qurut ul Ain</dc:creator>
  <cp:keywords/>
  <dc:description>generated using python-pptx</dc:description>
  <cp:lastModifiedBy>Quratulain Alam</cp:lastModifiedBy>
  <cp:revision>8</cp:revision>
  <dcterms:created xsi:type="dcterms:W3CDTF">2013-01-27T09:14:16Z</dcterms:created>
  <dcterms:modified xsi:type="dcterms:W3CDTF">2025-09-10T05:45:58Z</dcterms:modified>
  <cp:category/>
</cp:coreProperties>
</file>