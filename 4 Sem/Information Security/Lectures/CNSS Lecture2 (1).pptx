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8"/>
  </p:notesMasterIdLst>
  <p:sldIdLst>
    <p:sldId id="327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1536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03DB77D-3CD9-4B5E-96EB-53870ABEF339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D256CE-1BDB-4060-BEBC-A5E415B8F1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51434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destruction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D256CE-1BDB-4060-BEBC-A5E415B8F1FA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8291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C9A113-8E58-5CC8-37DE-0F79463D95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blue and white background">
            <a:extLst>
              <a:ext uri="{FF2B5EF4-FFF2-40B4-BE49-F238E27FC236}">
                <a16:creationId xmlns:a16="http://schemas.microsoft.com/office/drawing/2014/main" id="{86F4E590-4ED8-8A39-D342-0995E01AC6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3096" y="0"/>
            <a:ext cx="2660904" cy="6858000"/>
          </a:xfrm>
          <a:prstGeom prst="rect">
            <a:avLst/>
          </a:prstGeom>
        </p:spPr>
      </p:pic>
      <p:pic>
        <p:nvPicPr>
          <p:cNvPr id="10" name="Picture 9" descr="A logo of a university&#10;&#10;AI-generated content may be incorrect.">
            <a:extLst>
              <a:ext uri="{FF2B5EF4-FFF2-40B4-BE49-F238E27FC236}">
                <a16:creationId xmlns:a16="http://schemas.microsoft.com/office/drawing/2014/main" id="{E08C50A5-6525-9D5C-F66E-1BC99D6FD4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373886" cy="1373886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96BD62BE-CFC9-9B30-2AA9-CF0CDD5A6F43}"/>
              </a:ext>
            </a:extLst>
          </p:cNvPr>
          <p:cNvSpPr txBox="1"/>
          <p:nvPr/>
        </p:nvSpPr>
        <p:spPr>
          <a:xfrm>
            <a:off x="1089279" y="1827014"/>
            <a:ext cx="5678424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dirty="0"/>
              <a:t>Introduction to Information Security-CSC432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0486AB4-7BCF-0F29-5607-198657A863D0}"/>
              </a:ext>
            </a:extLst>
          </p:cNvPr>
          <p:cNvSpPr txBox="1"/>
          <p:nvPr/>
        </p:nvSpPr>
        <p:spPr>
          <a:xfrm>
            <a:off x="1089279" y="4581794"/>
            <a:ext cx="4572000" cy="9911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fontAlgn="auto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kumimoji="0" lang="en-US" sz="18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sym typeface="Roboto Condensed Light"/>
              </a:rPr>
              <a:t>Dr. Qurat ul Ain Alam</a:t>
            </a:r>
            <a:br>
              <a:rPr kumimoji="0" lang="en-US" sz="18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sym typeface="Roboto Condensed Light"/>
              </a:rPr>
            </a:br>
            <a:r>
              <a:rPr kumimoji="0" lang="en-US" sz="18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sym typeface="Roboto Condensed Light"/>
              </a:rPr>
              <a:t>Assistant Professor</a:t>
            </a:r>
            <a:br>
              <a:rPr kumimoji="0" lang="en-US" sz="18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sym typeface="Roboto Condensed Light"/>
              </a:rPr>
            </a:br>
            <a:r>
              <a:rPr kumimoji="0" lang="en-US" sz="18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sym typeface="Roboto Condensed Light"/>
              </a:rPr>
              <a:t>COMSATS University Islamabad</a:t>
            </a:r>
          </a:p>
        </p:txBody>
      </p:sp>
    </p:spTree>
    <p:extLst>
      <p:ext uri="{BB962C8B-B14F-4D97-AF65-F5344CB8AC3E}">
        <p14:creationId xmlns:p14="http://schemas.microsoft.com/office/powerpoint/2010/main" val="9344601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14300" y="0"/>
            <a:ext cx="6189785" cy="1143000"/>
          </a:xfrm>
        </p:spPr>
        <p:txBody>
          <a:bodyPr/>
          <a:lstStyle/>
          <a:p>
            <a:r>
              <a:rPr sz="3200" b="1" dirty="0"/>
              <a:t>Introduction to CNSS Security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-1" y="973394"/>
            <a:ext cx="7433187" cy="5884606"/>
          </a:xfrm>
        </p:spPr>
        <p:txBody>
          <a:bodyPr>
            <a:normAutofit fontScale="92500" lnSpcReduction="10000"/>
          </a:bodyPr>
          <a:lstStyle/>
          <a:p>
            <a:r>
              <a:rPr sz="2800" dirty="0"/>
              <a:t>The CNSS Model (McCumber Cube) is a framework for information security.</a:t>
            </a:r>
            <a:endParaRPr lang="en-US" sz="2800" dirty="0"/>
          </a:p>
          <a:p>
            <a:r>
              <a:rPr lang="en-US" sz="2800" dirty="0"/>
              <a:t>The CNSS Model (McCumber Cube) is a 3D framework that shows how information security depends on </a:t>
            </a:r>
            <a:r>
              <a:rPr lang="en-US" sz="2800" b="1" dirty="0"/>
              <a:t>confidentiality, integrity, availability</a:t>
            </a:r>
            <a:r>
              <a:rPr lang="en-US" sz="2800" dirty="0"/>
              <a:t> across </a:t>
            </a:r>
            <a:r>
              <a:rPr lang="en-US" sz="2800" b="1" dirty="0"/>
              <a:t>technology, policies, and practices</a:t>
            </a:r>
            <a:r>
              <a:rPr lang="en-US" sz="2800" dirty="0"/>
              <a:t> at every stage of the </a:t>
            </a:r>
            <a:r>
              <a:rPr lang="en-US" sz="2800" b="1" dirty="0"/>
              <a:t>information lifecycle</a:t>
            </a:r>
            <a:r>
              <a:rPr lang="en-US" sz="2800" dirty="0"/>
              <a:t>.</a:t>
            </a:r>
            <a:endParaRPr sz="2800" dirty="0"/>
          </a:p>
          <a:p>
            <a:r>
              <a:rPr sz="2800" dirty="0"/>
              <a:t>Focuses on Confidentiality, Integrity, Availability (CIA) as goals.</a:t>
            </a:r>
          </a:p>
          <a:p>
            <a:r>
              <a:rPr sz="2800" dirty="0"/>
              <a:t>Works on three states of information: at rest, in transit, in use.</a:t>
            </a:r>
          </a:p>
          <a:p>
            <a:r>
              <a:rPr sz="2800" dirty="0"/>
              <a:t>Uses three measures: Policy (rules), Technology (tools), Education (people).</a:t>
            </a:r>
          </a:p>
          <a:p>
            <a:r>
              <a:rPr sz="2800" dirty="0"/>
              <a:t>Example: A bank must keep transactions accurate, private, and always available.</a:t>
            </a:r>
          </a:p>
        </p:txBody>
      </p:sp>
      <p:pic>
        <p:nvPicPr>
          <p:cNvPr id="4" name="Picture 3" descr="A blue and white background">
            <a:extLst>
              <a:ext uri="{FF2B5EF4-FFF2-40B4-BE49-F238E27FC236}">
                <a16:creationId xmlns:a16="http://schemas.microsoft.com/office/drawing/2014/main" id="{20D40401-C405-17A5-737C-C0067A3295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6864" y="0"/>
            <a:ext cx="104713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257300" y="0"/>
            <a:ext cx="8229600" cy="1143000"/>
          </a:xfrm>
        </p:spPr>
        <p:txBody>
          <a:bodyPr/>
          <a:lstStyle/>
          <a:p>
            <a:r>
              <a:rPr sz="3200" b="1" dirty="0"/>
              <a:t>CIA Triad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600200"/>
            <a:ext cx="6483096" cy="5257800"/>
          </a:xfrm>
        </p:spPr>
        <p:txBody>
          <a:bodyPr>
            <a:normAutofit/>
          </a:bodyPr>
          <a:lstStyle/>
          <a:p>
            <a:r>
              <a:rPr sz="2400" dirty="0"/>
              <a:t>Confidentiality → Protecting secrets. Example: Encryption keeps emails private.</a:t>
            </a:r>
          </a:p>
          <a:p>
            <a:r>
              <a:rPr sz="2400" dirty="0"/>
              <a:t>Integrity → Ensuring data is not altered or corrupted. Example: Medical records remain unchanged.</a:t>
            </a:r>
          </a:p>
          <a:p>
            <a:r>
              <a:rPr sz="2400" dirty="0"/>
              <a:t>Availability → Data must be accessible on demand. Example: ATMs working 24/7.</a:t>
            </a:r>
          </a:p>
          <a:p>
            <a:r>
              <a:rPr sz="2400" dirty="0"/>
              <a:t>All three are interdependent. Losing one weakens security.</a:t>
            </a:r>
          </a:p>
          <a:p>
            <a:r>
              <a:rPr sz="2400" dirty="0"/>
              <a:t>Foundation of all cybersecurity practices.</a:t>
            </a:r>
          </a:p>
        </p:txBody>
      </p:sp>
      <p:pic>
        <p:nvPicPr>
          <p:cNvPr id="4" name="Picture 3" descr="A blue and white background">
            <a:extLst>
              <a:ext uri="{FF2B5EF4-FFF2-40B4-BE49-F238E27FC236}">
                <a16:creationId xmlns:a16="http://schemas.microsoft.com/office/drawing/2014/main" id="{8C816AE2-C5B3-F99B-3E45-32202CCB89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3096" y="0"/>
            <a:ext cx="2660904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923192" y="0"/>
            <a:ext cx="8229600" cy="1143000"/>
          </a:xfrm>
        </p:spPr>
        <p:txBody>
          <a:bodyPr/>
          <a:lstStyle/>
          <a:p>
            <a:r>
              <a:rPr lang="en-US" sz="3200" b="1" dirty="0"/>
              <a:t>Information States</a:t>
            </a:r>
            <a:endParaRPr sz="32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600200"/>
            <a:ext cx="6339254" cy="4525963"/>
          </a:xfrm>
        </p:spPr>
        <p:txBody>
          <a:bodyPr>
            <a:normAutofit fontScale="77500" lnSpcReduction="20000"/>
          </a:bodyPr>
          <a:lstStyle/>
          <a:p>
            <a:r>
              <a:rPr sz="2800" dirty="0"/>
              <a:t>At Rest: Data stored in files, servers, USBs. Example: Student grades saved in database.</a:t>
            </a:r>
          </a:p>
          <a:p>
            <a:r>
              <a:rPr sz="2800" dirty="0"/>
              <a:t>In Transit: Data moving across networks. Example: Sending a WhatsApp message.</a:t>
            </a:r>
          </a:p>
          <a:p>
            <a:r>
              <a:rPr sz="2800" dirty="0"/>
              <a:t>In Use: Data being processed in memory. Example: Editing a PowerPoint file.</a:t>
            </a:r>
          </a:p>
          <a:p>
            <a:r>
              <a:rPr sz="2800" dirty="0"/>
              <a:t>Attackers can target all states. Example: Sniffing catches transit data.</a:t>
            </a:r>
            <a:r>
              <a:rPr lang="en-US" sz="2800" b="1" dirty="0"/>
              <a:t> ARP spoofing</a:t>
            </a:r>
            <a:r>
              <a:rPr lang="en-US" sz="2800" dirty="0"/>
              <a:t> — An attacker performs ARP spoofing in a local network, redirecting router traffic through their system to capture packets.</a:t>
            </a:r>
          </a:p>
          <a:p>
            <a:r>
              <a:rPr lang="en-US" sz="2800" b="1" dirty="0"/>
              <a:t>Prevention:</a:t>
            </a:r>
            <a:r>
              <a:rPr lang="en-US" sz="2800" dirty="0"/>
              <a:t> Use strong WPA2/3 Wi-Fi, HTTPS, VPNs, network switches with IDS/IPS, and ARP spoofing detection tools. </a:t>
            </a:r>
            <a:r>
              <a:rPr sz="2800" dirty="0"/>
              <a:t>Protection: Use encryption and secure apps.</a:t>
            </a:r>
          </a:p>
        </p:txBody>
      </p:sp>
      <p:pic>
        <p:nvPicPr>
          <p:cNvPr id="4" name="Picture 3" descr="A blue and white background">
            <a:extLst>
              <a:ext uri="{FF2B5EF4-FFF2-40B4-BE49-F238E27FC236}">
                <a16:creationId xmlns:a16="http://schemas.microsoft.com/office/drawing/2014/main" id="{A4DB1BB9-4F1E-C9BA-73CF-72751FEE38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3096" y="0"/>
            <a:ext cx="2660904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923192" y="0"/>
            <a:ext cx="8229600" cy="1143000"/>
          </a:xfrm>
        </p:spPr>
        <p:txBody>
          <a:bodyPr/>
          <a:lstStyle/>
          <a:p>
            <a:r>
              <a:rPr sz="3200" b="1" dirty="0"/>
              <a:t>Security Measures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600200"/>
            <a:ext cx="6483096" cy="4525963"/>
          </a:xfrm>
        </p:spPr>
        <p:txBody>
          <a:bodyPr>
            <a:normAutofit fontScale="92500" lnSpcReduction="10000"/>
          </a:bodyPr>
          <a:lstStyle/>
          <a:p>
            <a:r>
              <a:rPr sz="2800" dirty="0"/>
              <a:t>Policy: Rules and standards. Example: “Change password every 90 days.”</a:t>
            </a:r>
          </a:p>
          <a:p>
            <a:r>
              <a:rPr sz="2800" dirty="0"/>
              <a:t>Technology: Tools like firewalls, IDS, encryption. Example: Antivirus detecting trojans.</a:t>
            </a:r>
          </a:p>
          <a:p>
            <a:r>
              <a:rPr sz="2800" dirty="0"/>
              <a:t>Education: Training users to avoid phishing attacks.</a:t>
            </a:r>
          </a:p>
          <a:p>
            <a:r>
              <a:rPr sz="2800" dirty="0"/>
              <a:t>All three are essential. Weakness in one breaks the system.</a:t>
            </a:r>
          </a:p>
          <a:p>
            <a:r>
              <a:rPr sz="2800" dirty="0"/>
              <a:t>Example: Best firewall is useless if a user falls for a phishing email.</a:t>
            </a:r>
          </a:p>
        </p:txBody>
      </p:sp>
      <p:pic>
        <p:nvPicPr>
          <p:cNvPr id="4" name="Picture 3" descr="A blue and white background">
            <a:extLst>
              <a:ext uri="{FF2B5EF4-FFF2-40B4-BE49-F238E27FC236}">
                <a16:creationId xmlns:a16="http://schemas.microsoft.com/office/drawing/2014/main" id="{D3B13CCC-D62F-9B48-3138-E349A36574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3096" y="0"/>
            <a:ext cx="2660904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896815" y="0"/>
            <a:ext cx="8229600" cy="1134209"/>
          </a:xfrm>
        </p:spPr>
        <p:txBody>
          <a:bodyPr/>
          <a:lstStyle/>
          <a:p>
            <a:r>
              <a:rPr sz="3200" b="1" dirty="0"/>
              <a:t>Threats vs Attacks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600200"/>
            <a:ext cx="6483096" cy="4525963"/>
          </a:xfrm>
        </p:spPr>
        <p:txBody>
          <a:bodyPr>
            <a:normAutofit/>
          </a:bodyPr>
          <a:lstStyle/>
          <a:p>
            <a:r>
              <a:rPr sz="2800" dirty="0"/>
              <a:t>A Threat is a possible danger. Example: “Earthquake may damage servers.”</a:t>
            </a:r>
          </a:p>
          <a:p>
            <a:r>
              <a:rPr sz="2800" dirty="0"/>
              <a:t>An Attack is an actual event. Example: Hacker installs malware.</a:t>
            </a:r>
          </a:p>
          <a:p>
            <a:r>
              <a:rPr sz="2800" dirty="0"/>
              <a:t>Threats can be natural or human-made.</a:t>
            </a:r>
          </a:p>
          <a:p>
            <a:r>
              <a:rPr sz="2800" dirty="0"/>
              <a:t>Example: Power outage = threat, DDoS attack = attack.</a:t>
            </a:r>
          </a:p>
          <a:p>
            <a:r>
              <a:rPr sz="2800" dirty="0"/>
              <a:t>Organizations prepare with risk management plans.</a:t>
            </a:r>
          </a:p>
        </p:txBody>
      </p:sp>
      <p:pic>
        <p:nvPicPr>
          <p:cNvPr id="4" name="Picture 3" descr="A blue and white background">
            <a:extLst>
              <a:ext uri="{FF2B5EF4-FFF2-40B4-BE49-F238E27FC236}">
                <a16:creationId xmlns:a16="http://schemas.microsoft.com/office/drawing/2014/main" id="{3509C485-3A47-AE80-ABF4-52D86AE813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3096" y="0"/>
            <a:ext cx="2660904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879231" y="0"/>
            <a:ext cx="8229600" cy="1143000"/>
          </a:xfrm>
        </p:spPr>
        <p:txBody>
          <a:bodyPr/>
          <a:lstStyle/>
          <a:p>
            <a:r>
              <a:rPr sz="3200" b="1" dirty="0"/>
              <a:t>Compromises to Intellectual Property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626577"/>
            <a:ext cx="6483096" cy="4525963"/>
          </a:xfrm>
        </p:spPr>
        <p:txBody>
          <a:bodyPr>
            <a:normAutofit lnSpcReduction="10000"/>
          </a:bodyPr>
          <a:lstStyle/>
          <a:p>
            <a:r>
              <a:rPr sz="2800" dirty="0"/>
              <a:t>IP theft: stealing patents, copyrights, trade secrets.</a:t>
            </a:r>
          </a:p>
          <a:p>
            <a:r>
              <a:rPr sz="2800" dirty="0"/>
              <a:t>Example: Pirated software copies official product.</a:t>
            </a:r>
          </a:p>
          <a:p>
            <a:r>
              <a:rPr sz="2800" dirty="0"/>
              <a:t>Can cause loss of revenue and reputation.</a:t>
            </a:r>
          </a:p>
          <a:p>
            <a:r>
              <a:rPr sz="2800" dirty="0"/>
              <a:t>Methods: Hacking, insider leaks, espionage.</a:t>
            </a:r>
          </a:p>
          <a:p>
            <a:r>
              <a:rPr sz="2800" dirty="0"/>
              <a:t>Protection: Use DRM, legal actions, monitoring.</a:t>
            </a:r>
          </a:p>
        </p:txBody>
      </p:sp>
      <p:pic>
        <p:nvPicPr>
          <p:cNvPr id="4" name="Picture 3" descr="A blue and white background">
            <a:extLst>
              <a:ext uri="{FF2B5EF4-FFF2-40B4-BE49-F238E27FC236}">
                <a16:creationId xmlns:a16="http://schemas.microsoft.com/office/drawing/2014/main" id="{F528EF73-2105-F236-59B6-7912B42FB9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3096" y="0"/>
            <a:ext cx="2660904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914400" y="2076"/>
            <a:ext cx="8229600" cy="1143000"/>
          </a:xfrm>
        </p:spPr>
        <p:txBody>
          <a:bodyPr/>
          <a:lstStyle/>
          <a:p>
            <a:r>
              <a:rPr sz="3200" b="1" dirty="0"/>
              <a:t>Deliberate Software Attacks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600200"/>
            <a:ext cx="6483096" cy="4525963"/>
          </a:xfrm>
        </p:spPr>
        <p:txBody>
          <a:bodyPr>
            <a:normAutofit/>
          </a:bodyPr>
          <a:lstStyle/>
          <a:p>
            <a:r>
              <a:rPr sz="2800" dirty="0"/>
              <a:t>Intentional attacks using malware.</a:t>
            </a:r>
          </a:p>
          <a:p>
            <a:r>
              <a:rPr sz="2800" dirty="0"/>
              <a:t>Types: Viruses, worms, trojans, logic bombs.</a:t>
            </a:r>
          </a:p>
          <a:p>
            <a:r>
              <a:rPr sz="2800" dirty="0"/>
              <a:t>Spread via email attachments or downloads.</a:t>
            </a:r>
          </a:p>
          <a:p>
            <a:r>
              <a:rPr sz="2800" dirty="0"/>
              <a:t>Can steal, delete, or corrupt data.</a:t>
            </a:r>
          </a:p>
          <a:p>
            <a:r>
              <a:rPr sz="2800" dirty="0"/>
              <a:t>Example: ILOVEYOU virus (2000) crashed global email systems.</a:t>
            </a:r>
          </a:p>
        </p:txBody>
      </p:sp>
      <p:pic>
        <p:nvPicPr>
          <p:cNvPr id="4" name="Picture 3" descr="A blue and white background">
            <a:extLst>
              <a:ext uri="{FF2B5EF4-FFF2-40B4-BE49-F238E27FC236}">
                <a16:creationId xmlns:a16="http://schemas.microsoft.com/office/drawing/2014/main" id="{BA03C26E-81F5-71A2-327A-92B2A614AE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3096" y="0"/>
            <a:ext cx="2660904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873252" y="160337"/>
            <a:ext cx="8229600" cy="1143000"/>
          </a:xfrm>
        </p:spPr>
        <p:txBody>
          <a:bodyPr/>
          <a:lstStyle/>
          <a:p>
            <a:r>
              <a:rPr sz="3200" b="1" dirty="0"/>
              <a:t>Deviations in Quality of Service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600200"/>
            <a:ext cx="6483096" cy="4525963"/>
          </a:xfrm>
        </p:spPr>
        <p:txBody>
          <a:bodyPr>
            <a:normAutofit/>
          </a:bodyPr>
          <a:lstStyle/>
          <a:p>
            <a:r>
              <a:rPr sz="2800" dirty="0"/>
              <a:t>Failures in internet, electricity, or network.</a:t>
            </a:r>
          </a:p>
          <a:p>
            <a:r>
              <a:rPr sz="2800" dirty="0"/>
              <a:t>Causes downtime and loss of business.</a:t>
            </a:r>
          </a:p>
          <a:p>
            <a:r>
              <a:rPr sz="2800" dirty="0"/>
              <a:t>Example: ISP outage stops online banking.</a:t>
            </a:r>
          </a:p>
          <a:p>
            <a:r>
              <a:rPr sz="2800" dirty="0"/>
              <a:t>May affect customer trust.</a:t>
            </a:r>
          </a:p>
          <a:p>
            <a:r>
              <a:rPr sz="2800" dirty="0"/>
              <a:t>Prevention: Backups, redundancy, alternate ISPs.</a:t>
            </a:r>
          </a:p>
        </p:txBody>
      </p:sp>
      <p:pic>
        <p:nvPicPr>
          <p:cNvPr id="4" name="Picture 3" descr="A blue and white background">
            <a:extLst>
              <a:ext uri="{FF2B5EF4-FFF2-40B4-BE49-F238E27FC236}">
                <a16:creationId xmlns:a16="http://schemas.microsoft.com/office/drawing/2014/main" id="{6C4F453D-7836-57E4-E7AB-759C8C1EC5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3096" y="0"/>
            <a:ext cx="2660904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178169" y="0"/>
            <a:ext cx="8229600" cy="1143000"/>
          </a:xfrm>
        </p:spPr>
        <p:txBody>
          <a:bodyPr/>
          <a:lstStyle/>
          <a:p>
            <a:r>
              <a:rPr sz="3200" b="1" dirty="0"/>
              <a:t>Espionage or Trespass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617785"/>
            <a:ext cx="6483096" cy="4525963"/>
          </a:xfrm>
        </p:spPr>
        <p:txBody>
          <a:bodyPr>
            <a:normAutofit/>
          </a:bodyPr>
          <a:lstStyle/>
          <a:p>
            <a:r>
              <a:rPr sz="2800" dirty="0"/>
              <a:t>Unauthorized access to confidential info.</a:t>
            </a:r>
          </a:p>
          <a:p>
            <a:r>
              <a:rPr sz="2800" dirty="0"/>
              <a:t>Attackers may be hackers, insiders, or competitors.</a:t>
            </a:r>
          </a:p>
          <a:p>
            <a:r>
              <a:rPr sz="2800" dirty="0"/>
              <a:t>Techniques: Shoulder surfing, hacking, social engineering.</a:t>
            </a:r>
          </a:p>
          <a:p>
            <a:r>
              <a:rPr sz="2800" dirty="0"/>
              <a:t>Example: Competitor stealing product designs.</a:t>
            </a:r>
          </a:p>
          <a:p>
            <a:r>
              <a:rPr sz="2800" dirty="0"/>
              <a:t>Protection: Access controls and surveillance.</a:t>
            </a:r>
          </a:p>
        </p:txBody>
      </p:sp>
      <p:pic>
        <p:nvPicPr>
          <p:cNvPr id="4" name="Picture 3" descr="A blue and white background">
            <a:extLst>
              <a:ext uri="{FF2B5EF4-FFF2-40B4-BE49-F238E27FC236}">
                <a16:creationId xmlns:a16="http://schemas.microsoft.com/office/drawing/2014/main" id="{2AE5CE82-7D77-B235-897B-76A9805FE0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3096" y="0"/>
            <a:ext cx="2660904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063869" y="0"/>
            <a:ext cx="8229600" cy="1143000"/>
          </a:xfrm>
        </p:spPr>
        <p:txBody>
          <a:bodyPr/>
          <a:lstStyle/>
          <a:p>
            <a:r>
              <a:rPr lang="en-US" sz="3200" b="1" dirty="0"/>
              <a:t>Forces of Nature</a:t>
            </a:r>
            <a:endParaRPr sz="32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763895"/>
            <a:ext cx="6483096" cy="4525963"/>
          </a:xfrm>
        </p:spPr>
        <p:txBody>
          <a:bodyPr>
            <a:normAutofit fontScale="92500"/>
          </a:bodyPr>
          <a:lstStyle/>
          <a:p>
            <a:r>
              <a:rPr sz="2800" dirty="0"/>
              <a:t>Natural disasters: floods, earthquakes, fires.</a:t>
            </a:r>
          </a:p>
          <a:p>
            <a:r>
              <a:rPr sz="2800" dirty="0"/>
              <a:t>Can destroy servers and networks.</a:t>
            </a:r>
          </a:p>
          <a:p>
            <a:r>
              <a:rPr sz="2800" dirty="0"/>
              <a:t>Example: Hurricane damages a data center.</a:t>
            </a:r>
            <a:r>
              <a:rPr lang="en-US" sz="2800" dirty="0"/>
              <a:t> A hurricane is a natural disaster/</a:t>
            </a:r>
            <a:r>
              <a:rPr lang="en-US" sz="2800" b="1" dirty="0"/>
              <a:t>powerful tropical storm</a:t>
            </a:r>
            <a:r>
              <a:rPr lang="en-US" sz="2800" dirty="0"/>
              <a:t> with very strong winds, heavy rain, and flooding that can cause serious destruction, especially near coastal areas.</a:t>
            </a:r>
            <a:endParaRPr sz="2800" dirty="0"/>
          </a:p>
          <a:p>
            <a:r>
              <a:rPr sz="2800" dirty="0"/>
              <a:t>Solution: Disaster recovery plan (DRP).</a:t>
            </a:r>
          </a:p>
          <a:p>
            <a:r>
              <a:rPr sz="2800" dirty="0"/>
              <a:t>Backup data in cloud or offsite storage.</a:t>
            </a:r>
          </a:p>
        </p:txBody>
      </p:sp>
      <p:pic>
        <p:nvPicPr>
          <p:cNvPr id="4" name="Picture 3" descr="A blue and white background">
            <a:extLst>
              <a:ext uri="{FF2B5EF4-FFF2-40B4-BE49-F238E27FC236}">
                <a16:creationId xmlns:a16="http://schemas.microsoft.com/office/drawing/2014/main" id="{10374F12-2C2C-1C56-36D3-97DF1B9353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3096" y="0"/>
            <a:ext cx="2660904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940777" y="160337"/>
            <a:ext cx="8229600" cy="1143000"/>
          </a:xfrm>
        </p:spPr>
        <p:txBody>
          <a:bodyPr/>
          <a:lstStyle/>
          <a:p>
            <a:r>
              <a:rPr sz="3200" b="1" dirty="0"/>
              <a:t>Human Error or Failure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600200"/>
            <a:ext cx="6483096" cy="4525963"/>
          </a:xfrm>
        </p:spPr>
        <p:txBody>
          <a:bodyPr>
            <a:normAutofit/>
          </a:bodyPr>
          <a:lstStyle/>
          <a:p>
            <a:r>
              <a:rPr dirty="0"/>
              <a:t>Unintentional mistakes by employees.</a:t>
            </a:r>
          </a:p>
          <a:p>
            <a:r>
              <a:rPr dirty="0"/>
              <a:t>Example: Accidentally deleting files.</a:t>
            </a:r>
          </a:p>
          <a:p>
            <a:r>
              <a:rPr dirty="0"/>
              <a:t>Weak passwords or misconfigurations.</a:t>
            </a:r>
          </a:p>
          <a:p>
            <a:r>
              <a:rPr dirty="0"/>
              <a:t>Accounts for majority of incidents.</a:t>
            </a:r>
          </a:p>
          <a:p>
            <a:r>
              <a:rPr dirty="0"/>
              <a:t>Fix: Training and strong policies.</a:t>
            </a:r>
          </a:p>
        </p:txBody>
      </p:sp>
      <p:pic>
        <p:nvPicPr>
          <p:cNvPr id="4" name="Picture 3" descr="A blue and white background">
            <a:extLst>
              <a:ext uri="{FF2B5EF4-FFF2-40B4-BE49-F238E27FC236}">
                <a16:creationId xmlns:a16="http://schemas.microsoft.com/office/drawing/2014/main" id="{527A4134-8CD0-1344-ADA9-4FA8194ED0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3096" y="0"/>
            <a:ext cx="2660904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934798" y="160337"/>
            <a:ext cx="8229600" cy="1143000"/>
          </a:xfrm>
        </p:spPr>
        <p:txBody>
          <a:bodyPr/>
          <a:lstStyle/>
          <a:p>
            <a:r>
              <a:rPr sz="3200" b="1" dirty="0"/>
              <a:t>Information Extortion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600200"/>
            <a:ext cx="6483096" cy="4525963"/>
          </a:xfrm>
        </p:spPr>
        <p:txBody>
          <a:bodyPr>
            <a:normAutofit/>
          </a:bodyPr>
          <a:lstStyle/>
          <a:p>
            <a:r>
              <a:rPr sz="2800" dirty="0"/>
              <a:t>Criminals demand payment for stolen data.</a:t>
            </a:r>
          </a:p>
          <a:p>
            <a:r>
              <a:rPr sz="2800" dirty="0"/>
              <a:t>Example: Ransomware encrypts files until ransom is paid.</a:t>
            </a:r>
          </a:p>
          <a:p>
            <a:r>
              <a:rPr sz="2800" dirty="0"/>
              <a:t>If unpaid, data may be leaked online.</a:t>
            </a:r>
          </a:p>
          <a:p>
            <a:r>
              <a:rPr sz="2800" dirty="0"/>
              <a:t>Damages reputation and trust.</a:t>
            </a:r>
          </a:p>
          <a:p>
            <a:r>
              <a:rPr sz="2800" dirty="0"/>
              <a:t>Protection: Regular backups and incident response plans.</a:t>
            </a:r>
          </a:p>
        </p:txBody>
      </p:sp>
      <p:pic>
        <p:nvPicPr>
          <p:cNvPr id="4" name="Picture 3" descr="A blue and white background">
            <a:extLst>
              <a:ext uri="{FF2B5EF4-FFF2-40B4-BE49-F238E27FC236}">
                <a16:creationId xmlns:a16="http://schemas.microsoft.com/office/drawing/2014/main" id="{310FA001-D813-DE08-FB4C-A83B70E602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3096" y="0"/>
            <a:ext cx="2660904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873252" y="89999"/>
            <a:ext cx="8229600" cy="1143000"/>
          </a:xfrm>
        </p:spPr>
        <p:txBody>
          <a:bodyPr/>
          <a:lstStyle/>
          <a:p>
            <a:r>
              <a:rPr sz="3200" b="1" dirty="0"/>
              <a:t>Missing or Inadequate Policy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600200"/>
            <a:ext cx="6483096" cy="4525963"/>
          </a:xfrm>
        </p:spPr>
        <p:txBody>
          <a:bodyPr>
            <a:normAutofit/>
          </a:bodyPr>
          <a:lstStyle/>
          <a:p>
            <a:r>
              <a:rPr sz="2800" dirty="0"/>
              <a:t>No clear security guidelines for staff.</a:t>
            </a:r>
          </a:p>
          <a:p>
            <a:r>
              <a:rPr sz="2800" dirty="0"/>
              <a:t>Example: No rules for password complexity.</a:t>
            </a:r>
          </a:p>
          <a:p>
            <a:r>
              <a:rPr sz="2800" dirty="0"/>
              <a:t>Employees may behave insecurely.</a:t>
            </a:r>
          </a:p>
          <a:p>
            <a:r>
              <a:rPr sz="2800" dirty="0"/>
              <a:t>Weak policies = easy entry point for attackers.</a:t>
            </a:r>
          </a:p>
          <a:p>
            <a:r>
              <a:rPr sz="2800" dirty="0"/>
              <a:t>Fix: Write formal policies and enforce them.</a:t>
            </a:r>
          </a:p>
        </p:txBody>
      </p:sp>
      <p:pic>
        <p:nvPicPr>
          <p:cNvPr id="4" name="Picture 3" descr="A blue and white background">
            <a:extLst>
              <a:ext uri="{FF2B5EF4-FFF2-40B4-BE49-F238E27FC236}">
                <a16:creationId xmlns:a16="http://schemas.microsoft.com/office/drawing/2014/main" id="{602F40F4-B6CF-45EF-33C0-2829A1061A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3096" y="0"/>
            <a:ext cx="2660904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949569" y="160337"/>
            <a:ext cx="8229600" cy="1143000"/>
          </a:xfrm>
        </p:spPr>
        <p:txBody>
          <a:bodyPr/>
          <a:lstStyle/>
          <a:p>
            <a:r>
              <a:rPr sz="3200" b="1" dirty="0"/>
              <a:t>Missing or Weak Controls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600200"/>
            <a:ext cx="6483096" cy="4525963"/>
          </a:xfrm>
        </p:spPr>
        <p:txBody>
          <a:bodyPr>
            <a:normAutofit/>
          </a:bodyPr>
          <a:lstStyle/>
          <a:p>
            <a:r>
              <a:rPr sz="2800" dirty="0"/>
              <a:t>Weak firewalls, poor monitoring, default settings.</a:t>
            </a:r>
          </a:p>
          <a:p>
            <a:r>
              <a:rPr sz="2800" dirty="0"/>
              <a:t>Example: Router left with default password</a:t>
            </a:r>
            <a:r>
              <a:rPr lang="en-US" sz="2800" dirty="0"/>
              <a:t> hacker can easily access and change settings.</a:t>
            </a:r>
            <a:endParaRPr sz="2800" dirty="0"/>
          </a:p>
          <a:p>
            <a:r>
              <a:rPr sz="2800" dirty="0"/>
              <a:t>Hackers exploit such weak points.</a:t>
            </a:r>
          </a:p>
          <a:p>
            <a:r>
              <a:rPr sz="2800" dirty="0"/>
              <a:t>Strong technical and admin controls are required.</a:t>
            </a:r>
          </a:p>
          <a:p>
            <a:r>
              <a:rPr sz="2800" dirty="0"/>
              <a:t>Conduct regular security audits.</a:t>
            </a:r>
          </a:p>
        </p:txBody>
      </p:sp>
      <p:pic>
        <p:nvPicPr>
          <p:cNvPr id="4" name="Picture 3" descr="A blue and white background">
            <a:extLst>
              <a:ext uri="{FF2B5EF4-FFF2-40B4-BE49-F238E27FC236}">
                <a16:creationId xmlns:a16="http://schemas.microsoft.com/office/drawing/2014/main" id="{6FAD92D0-B101-9272-6412-5A7085FB3F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3096" y="0"/>
            <a:ext cx="2660904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826476" y="0"/>
            <a:ext cx="8229600" cy="1143000"/>
          </a:xfrm>
        </p:spPr>
        <p:txBody>
          <a:bodyPr/>
          <a:lstStyle/>
          <a:p>
            <a:r>
              <a:rPr sz="3200" b="1" dirty="0"/>
              <a:t>Sabotage or Vandalism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737518"/>
            <a:ext cx="6483096" cy="4525963"/>
          </a:xfrm>
        </p:spPr>
        <p:txBody>
          <a:bodyPr>
            <a:normAutofit/>
          </a:bodyPr>
          <a:lstStyle/>
          <a:p>
            <a:r>
              <a:rPr dirty="0"/>
              <a:t>Deliberate damage or defacement.</a:t>
            </a:r>
          </a:p>
          <a:p>
            <a:r>
              <a:rPr dirty="0"/>
              <a:t>Example: Hacker changes a company’s website homepage.</a:t>
            </a:r>
          </a:p>
          <a:p>
            <a:r>
              <a:rPr dirty="0"/>
              <a:t>Can hurt brand reputation.</a:t>
            </a:r>
          </a:p>
          <a:p>
            <a:r>
              <a:rPr dirty="0"/>
              <a:t>May be insiders or outsiders.</a:t>
            </a:r>
          </a:p>
          <a:p>
            <a:r>
              <a:rPr dirty="0"/>
              <a:t>Solution: Monitoring and restricted access.</a:t>
            </a:r>
          </a:p>
        </p:txBody>
      </p:sp>
      <p:pic>
        <p:nvPicPr>
          <p:cNvPr id="4" name="Picture 3" descr="A blue and white background">
            <a:extLst>
              <a:ext uri="{FF2B5EF4-FFF2-40B4-BE49-F238E27FC236}">
                <a16:creationId xmlns:a16="http://schemas.microsoft.com/office/drawing/2014/main" id="{F10A1C65-F11B-97BA-F1A4-042FABDBEC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3096" y="0"/>
            <a:ext cx="2660904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524234" y="140678"/>
            <a:ext cx="8229600" cy="1143000"/>
          </a:xfrm>
        </p:spPr>
        <p:txBody>
          <a:bodyPr/>
          <a:lstStyle/>
          <a:p>
            <a:r>
              <a:rPr lang="en-US" sz="3200" b="1" dirty="0"/>
              <a:t>Theft</a:t>
            </a:r>
            <a:endParaRPr sz="32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424356"/>
            <a:ext cx="6483096" cy="5767754"/>
          </a:xfrm>
        </p:spPr>
        <p:txBody>
          <a:bodyPr>
            <a:normAutofit/>
          </a:bodyPr>
          <a:lstStyle/>
          <a:p>
            <a:r>
              <a:rPr dirty="0"/>
              <a:t>Stealing devices or storage media.</a:t>
            </a:r>
          </a:p>
          <a:p>
            <a:r>
              <a:rPr dirty="0"/>
              <a:t>Example: Stolen laptop with customer records.</a:t>
            </a:r>
          </a:p>
          <a:p>
            <a:r>
              <a:rPr dirty="0"/>
              <a:t>Leads to data loss or leakage.</a:t>
            </a:r>
          </a:p>
          <a:p>
            <a:r>
              <a:rPr dirty="0"/>
              <a:t>Protection: Encryption and physical security.</a:t>
            </a:r>
          </a:p>
          <a:p>
            <a:r>
              <a:rPr dirty="0"/>
              <a:t>Tracking tools can locate stolen devices.</a:t>
            </a:r>
          </a:p>
        </p:txBody>
      </p:sp>
      <p:pic>
        <p:nvPicPr>
          <p:cNvPr id="4" name="Picture 3" descr="A blue and white background">
            <a:extLst>
              <a:ext uri="{FF2B5EF4-FFF2-40B4-BE49-F238E27FC236}">
                <a16:creationId xmlns:a16="http://schemas.microsoft.com/office/drawing/2014/main" id="{9300DE14-25DF-7BF3-86CC-1E3BEE2892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3096" y="0"/>
            <a:ext cx="2660904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063869" y="169129"/>
            <a:ext cx="8229600" cy="1143000"/>
          </a:xfrm>
        </p:spPr>
        <p:txBody>
          <a:bodyPr/>
          <a:lstStyle/>
          <a:p>
            <a:r>
              <a:rPr sz="3200" b="1" dirty="0"/>
              <a:t>Malicious 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591408"/>
            <a:ext cx="6483096" cy="4525963"/>
          </a:xfrm>
        </p:spPr>
        <p:txBody>
          <a:bodyPr>
            <a:normAutofit fontScale="92500"/>
          </a:bodyPr>
          <a:lstStyle/>
          <a:p>
            <a:r>
              <a:rPr dirty="0"/>
              <a:t>Programs designed to harm systems.</a:t>
            </a:r>
          </a:p>
          <a:p>
            <a:r>
              <a:rPr dirty="0"/>
              <a:t>Types: Virus, worm, trojan, logic bomb.</a:t>
            </a:r>
          </a:p>
          <a:p>
            <a:r>
              <a:rPr dirty="0"/>
              <a:t>Example: Trojan disguised as a free game.</a:t>
            </a:r>
          </a:p>
          <a:p>
            <a:r>
              <a:rPr dirty="0"/>
              <a:t>Can steal passwords or destroy files.</a:t>
            </a:r>
          </a:p>
          <a:p>
            <a:r>
              <a:rPr dirty="0"/>
              <a:t>Defense: Antivirus, patches, firewalls.</a:t>
            </a:r>
          </a:p>
        </p:txBody>
      </p:sp>
      <p:pic>
        <p:nvPicPr>
          <p:cNvPr id="4" name="Picture 3" descr="A blue and white background">
            <a:extLst>
              <a:ext uri="{FF2B5EF4-FFF2-40B4-BE49-F238E27FC236}">
                <a16:creationId xmlns:a16="http://schemas.microsoft.com/office/drawing/2014/main" id="{92062EE4-9ED9-8A67-9BF2-E1BAE64FFB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3096" y="0"/>
            <a:ext cx="2660904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225295" y="228600"/>
            <a:ext cx="8229600" cy="1143000"/>
          </a:xfrm>
        </p:spPr>
        <p:txBody>
          <a:bodyPr/>
          <a:lstStyle/>
          <a:p>
            <a:r>
              <a:rPr sz="3200" b="1" dirty="0"/>
              <a:t>Hoaxes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600200"/>
            <a:ext cx="6483096" cy="4525963"/>
          </a:xfrm>
        </p:spPr>
        <p:txBody>
          <a:bodyPr>
            <a:normAutofit/>
          </a:bodyPr>
          <a:lstStyle/>
          <a:p>
            <a:r>
              <a:rPr dirty="0"/>
              <a:t>False virus alerts or warnings.</a:t>
            </a:r>
          </a:p>
          <a:p>
            <a:r>
              <a:rPr dirty="0"/>
              <a:t>Cause panic or wasted effort.</a:t>
            </a:r>
          </a:p>
          <a:p>
            <a:r>
              <a:rPr dirty="0"/>
              <a:t>Example: Fake email says “delete system file or virus will spread.”</a:t>
            </a:r>
          </a:p>
          <a:p>
            <a:r>
              <a:rPr dirty="0"/>
              <a:t>No real malware, just misleading info.</a:t>
            </a:r>
          </a:p>
          <a:p>
            <a:r>
              <a:rPr dirty="0"/>
              <a:t>Training helps staff to ignore hoaxes.</a:t>
            </a:r>
          </a:p>
        </p:txBody>
      </p:sp>
      <p:pic>
        <p:nvPicPr>
          <p:cNvPr id="4" name="Picture 3" descr="A blue and white background">
            <a:extLst>
              <a:ext uri="{FF2B5EF4-FFF2-40B4-BE49-F238E27FC236}">
                <a16:creationId xmlns:a16="http://schemas.microsoft.com/office/drawing/2014/main" id="{E603F19A-3C14-623E-7F12-7270EF223B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3096" y="0"/>
            <a:ext cx="2660904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336430" y="299977"/>
            <a:ext cx="8229600" cy="1143000"/>
          </a:xfrm>
        </p:spPr>
        <p:txBody>
          <a:bodyPr/>
          <a:lstStyle/>
          <a:p>
            <a:r>
              <a:rPr sz="3200" b="1" dirty="0"/>
              <a:t>Back Doors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742953"/>
            <a:ext cx="6483096" cy="4525963"/>
          </a:xfrm>
        </p:spPr>
        <p:txBody>
          <a:bodyPr>
            <a:normAutofit fontScale="77500" lnSpcReduction="20000"/>
          </a:bodyPr>
          <a:lstStyle/>
          <a:p>
            <a:r>
              <a:rPr dirty="0"/>
              <a:t>Hidden way to bypass normal security.</a:t>
            </a:r>
          </a:p>
          <a:p>
            <a:r>
              <a:rPr dirty="0"/>
              <a:t>May be added by developers or hackers.</a:t>
            </a:r>
          </a:p>
          <a:p>
            <a:r>
              <a:rPr dirty="0"/>
              <a:t>Example: Malware </a:t>
            </a:r>
            <a:r>
              <a:rPr b="1" dirty="0"/>
              <a:t>installs a secret admin account</a:t>
            </a:r>
            <a:r>
              <a:rPr dirty="0"/>
              <a:t>.</a:t>
            </a:r>
            <a:r>
              <a:rPr lang="en-US" dirty="0"/>
              <a:t> If malware installs a secret admin account, an attacker gains persistent, high-privilege, stealthy access to change settings, delete or alter logs, and install more malware.</a:t>
            </a:r>
          </a:p>
          <a:p>
            <a:r>
              <a:rPr lang="en-US" dirty="0"/>
              <a:t>High-level categories of backdoors (for awareness): </a:t>
            </a:r>
            <a:r>
              <a:rPr lang="en-US" b="1" dirty="0"/>
              <a:t>RATs (remote access trojans), web shells, persistent startup/backdoor accounts, kernel/boot-level rootkits</a:t>
            </a:r>
            <a:r>
              <a:rPr lang="en-US" dirty="0"/>
              <a:t>.</a:t>
            </a:r>
            <a:endParaRPr dirty="0"/>
          </a:p>
          <a:p>
            <a:r>
              <a:rPr dirty="0"/>
              <a:t>Allows attacker to return anytime.</a:t>
            </a:r>
          </a:p>
          <a:p>
            <a:r>
              <a:rPr dirty="0"/>
              <a:t>Fix: Regular system scans and patches.</a:t>
            </a:r>
          </a:p>
        </p:txBody>
      </p:sp>
      <p:pic>
        <p:nvPicPr>
          <p:cNvPr id="4" name="Picture 3" descr="A blue and white background">
            <a:extLst>
              <a:ext uri="{FF2B5EF4-FFF2-40B4-BE49-F238E27FC236}">
                <a16:creationId xmlns:a16="http://schemas.microsoft.com/office/drawing/2014/main" id="{907C6D40-F91A-83AC-38A8-B90348CDF7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3096" y="0"/>
            <a:ext cx="2660904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125416" y="160337"/>
            <a:ext cx="8229600" cy="1143000"/>
          </a:xfrm>
        </p:spPr>
        <p:txBody>
          <a:bodyPr/>
          <a:lstStyle/>
          <a:p>
            <a:r>
              <a:rPr sz="3200" b="1" dirty="0"/>
              <a:t>Password Cracking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600200"/>
            <a:ext cx="6483096" cy="4525963"/>
          </a:xfrm>
        </p:spPr>
        <p:txBody>
          <a:bodyPr>
            <a:normAutofit/>
          </a:bodyPr>
          <a:lstStyle/>
          <a:p>
            <a:r>
              <a:rPr sz="2800" dirty="0"/>
              <a:t>Process of guessing or stealing passwords.</a:t>
            </a:r>
          </a:p>
          <a:p>
            <a:r>
              <a:rPr sz="2800" dirty="0"/>
              <a:t>Methods: Brute force, dictionary, rainbow tables.</a:t>
            </a:r>
          </a:p>
          <a:p>
            <a:r>
              <a:rPr sz="2800" dirty="0"/>
              <a:t>Example: “123456” cracked in seconds.</a:t>
            </a:r>
          </a:p>
          <a:p>
            <a:r>
              <a:rPr sz="2800" dirty="0"/>
              <a:t>Weak passwords = high risk.</a:t>
            </a:r>
          </a:p>
          <a:p>
            <a:r>
              <a:rPr sz="2800" dirty="0"/>
              <a:t>Fix: Strong policies and multi-factor authentication (MFA).</a:t>
            </a:r>
          </a:p>
        </p:txBody>
      </p:sp>
      <p:pic>
        <p:nvPicPr>
          <p:cNvPr id="4" name="Picture 3" descr="A blue and white background">
            <a:extLst>
              <a:ext uri="{FF2B5EF4-FFF2-40B4-BE49-F238E27FC236}">
                <a16:creationId xmlns:a16="http://schemas.microsoft.com/office/drawing/2014/main" id="{A0032336-6A7E-FE57-F526-7CBD6B7DE8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3096" y="0"/>
            <a:ext cx="2660904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879231" y="175846"/>
            <a:ext cx="8229600" cy="1143000"/>
          </a:xfrm>
        </p:spPr>
        <p:txBody>
          <a:bodyPr/>
          <a:lstStyle/>
          <a:p>
            <a:r>
              <a:rPr sz="3200" b="1" dirty="0"/>
              <a:t>Brute Force Attack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737518"/>
            <a:ext cx="6483096" cy="4525963"/>
          </a:xfrm>
        </p:spPr>
        <p:txBody>
          <a:bodyPr>
            <a:normAutofit/>
          </a:bodyPr>
          <a:lstStyle/>
          <a:p>
            <a:r>
              <a:rPr dirty="0"/>
              <a:t>Attacker tries all possible combinations.</a:t>
            </a:r>
          </a:p>
          <a:p>
            <a:r>
              <a:rPr dirty="0"/>
              <a:t>Example: 4-digit PIN → 10,000 tries.</a:t>
            </a:r>
          </a:p>
          <a:p>
            <a:r>
              <a:rPr dirty="0"/>
              <a:t>Time-consuming but always succeeds.</a:t>
            </a:r>
          </a:p>
          <a:p>
            <a:r>
              <a:rPr dirty="0"/>
              <a:t>Protection: Account lockouts and complex passwords.</a:t>
            </a:r>
          </a:p>
          <a:p>
            <a:r>
              <a:rPr dirty="0"/>
              <a:t>Better: Use longer passphrases.</a:t>
            </a:r>
          </a:p>
        </p:txBody>
      </p:sp>
      <p:pic>
        <p:nvPicPr>
          <p:cNvPr id="4" name="Picture 3" descr="A blue and white background">
            <a:extLst>
              <a:ext uri="{FF2B5EF4-FFF2-40B4-BE49-F238E27FC236}">
                <a16:creationId xmlns:a16="http://schemas.microsoft.com/office/drawing/2014/main" id="{38B3C590-DF63-BFA8-00E2-2FF3ED4FB7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3096" y="0"/>
            <a:ext cx="2660904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908422" y="160337"/>
            <a:ext cx="8229600" cy="1143000"/>
          </a:xfrm>
        </p:spPr>
        <p:txBody>
          <a:bodyPr/>
          <a:lstStyle/>
          <a:p>
            <a:r>
              <a:rPr sz="3200" b="1" dirty="0"/>
              <a:t>Dictionary Attack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-70339" y="1600200"/>
            <a:ext cx="6553435" cy="4525963"/>
          </a:xfrm>
        </p:spPr>
        <p:txBody>
          <a:bodyPr>
            <a:normAutofit/>
          </a:bodyPr>
          <a:lstStyle/>
          <a:p>
            <a:r>
              <a:rPr sz="2800" dirty="0"/>
              <a:t>Uses a list of common words to guess passwords.</a:t>
            </a:r>
          </a:p>
          <a:p>
            <a:r>
              <a:rPr sz="2800" dirty="0"/>
              <a:t>Faster than brute force.</a:t>
            </a:r>
          </a:p>
          <a:p>
            <a:r>
              <a:rPr sz="2800" dirty="0"/>
              <a:t>Example: “password123”, “qwerty” are easily guessed.</a:t>
            </a:r>
          </a:p>
          <a:p>
            <a:r>
              <a:rPr sz="2800" dirty="0"/>
              <a:t>Many users pick weak common passwords.</a:t>
            </a:r>
          </a:p>
          <a:p>
            <a:r>
              <a:rPr sz="2800" dirty="0"/>
              <a:t>Fix: Unique, complex, unpredictable passwords.</a:t>
            </a:r>
          </a:p>
        </p:txBody>
      </p:sp>
      <p:pic>
        <p:nvPicPr>
          <p:cNvPr id="4" name="Picture 3" descr="A blue and white background">
            <a:extLst>
              <a:ext uri="{FF2B5EF4-FFF2-40B4-BE49-F238E27FC236}">
                <a16:creationId xmlns:a16="http://schemas.microsoft.com/office/drawing/2014/main" id="{518514E9-8F40-7BFD-4FD4-B46267F598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3096" y="0"/>
            <a:ext cx="2660904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958361" y="195507"/>
            <a:ext cx="8229600" cy="1143000"/>
          </a:xfrm>
        </p:spPr>
        <p:txBody>
          <a:bodyPr/>
          <a:lstStyle/>
          <a:p>
            <a:r>
              <a:rPr lang="en-US" sz="3200" b="1" dirty="0"/>
              <a:t>Denial-of-Service (DoS)</a:t>
            </a:r>
            <a:endParaRPr sz="32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626577"/>
            <a:ext cx="6025896" cy="5231423"/>
          </a:xfrm>
        </p:spPr>
        <p:txBody>
          <a:bodyPr>
            <a:normAutofit/>
          </a:bodyPr>
          <a:lstStyle/>
          <a:p>
            <a:r>
              <a:rPr dirty="0"/>
              <a:t>Attack floods system with fake requests.</a:t>
            </a:r>
          </a:p>
          <a:p>
            <a:r>
              <a:rPr dirty="0"/>
              <a:t>System becomes unusable for real users.</a:t>
            </a:r>
          </a:p>
          <a:p>
            <a:r>
              <a:rPr dirty="0"/>
              <a:t>Example: Online exam portal crashes.</a:t>
            </a:r>
          </a:p>
          <a:p>
            <a:r>
              <a:rPr dirty="0"/>
              <a:t>Easy to launch, hard to stop.</a:t>
            </a:r>
          </a:p>
          <a:p>
            <a:r>
              <a:rPr dirty="0"/>
              <a:t>Fix: Rate-limiting and firewalls.</a:t>
            </a:r>
          </a:p>
        </p:txBody>
      </p:sp>
      <p:pic>
        <p:nvPicPr>
          <p:cNvPr id="4" name="Picture 3" descr="A blue and white background">
            <a:extLst>
              <a:ext uri="{FF2B5EF4-FFF2-40B4-BE49-F238E27FC236}">
                <a16:creationId xmlns:a16="http://schemas.microsoft.com/office/drawing/2014/main" id="{AAAD6E28-8FD4-C960-D56A-59424B1CF4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3096" y="0"/>
            <a:ext cx="2660904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099039" y="160337"/>
            <a:ext cx="8229600" cy="1143000"/>
          </a:xfrm>
        </p:spPr>
        <p:txBody>
          <a:bodyPr/>
          <a:lstStyle/>
          <a:p>
            <a:r>
              <a:rPr sz="3200" b="1" dirty="0"/>
              <a:t>Distributed DoS (DDoS)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600200"/>
            <a:ext cx="6483096" cy="4525963"/>
          </a:xfrm>
        </p:spPr>
        <p:txBody>
          <a:bodyPr>
            <a:normAutofit/>
          </a:bodyPr>
          <a:lstStyle/>
          <a:p>
            <a:r>
              <a:rPr sz="2800" dirty="0"/>
              <a:t>Same as DoS but from many machines (botnet).</a:t>
            </a:r>
          </a:p>
          <a:p>
            <a:r>
              <a:rPr sz="2800" dirty="0"/>
              <a:t>Example: Millions of PCs attack a website.</a:t>
            </a:r>
          </a:p>
          <a:p>
            <a:r>
              <a:rPr sz="2800" dirty="0"/>
              <a:t>Famous: GitHub DDoS attack (2018).</a:t>
            </a:r>
          </a:p>
          <a:p>
            <a:r>
              <a:rPr sz="2800" dirty="0"/>
              <a:t>Can take down even big companies.</a:t>
            </a:r>
          </a:p>
          <a:p>
            <a:r>
              <a:rPr sz="2800" dirty="0"/>
              <a:t>Fix: Cloud-based DDoS protection.</a:t>
            </a:r>
          </a:p>
        </p:txBody>
      </p:sp>
      <p:pic>
        <p:nvPicPr>
          <p:cNvPr id="4" name="Picture 3" descr="A blue and white background">
            <a:extLst>
              <a:ext uri="{FF2B5EF4-FFF2-40B4-BE49-F238E27FC236}">
                <a16:creationId xmlns:a16="http://schemas.microsoft.com/office/drawing/2014/main" id="{F6944423-78BC-4B98-3051-B525156FFF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3096" y="0"/>
            <a:ext cx="2660904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037492" y="160337"/>
            <a:ext cx="8229600" cy="1143000"/>
          </a:xfrm>
        </p:spPr>
        <p:txBody>
          <a:bodyPr/>
          <a:lstStyle/>
          <a:p>
            <a:r>
              <a:rPr sz="3200" b="1" dirty="0"/>
              <a:t>Spoofing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600200"/>
            <a:ext cx="6483096" cy="4525963"/>
          </a:xfrm>
        </p:spPr>
        <p:txBody>
          <a:bodyPr>
            <a:normAutofit fontScale="92500"/>
          </a:bodyPr>
          <a:lstStyle/>
          <a:p>
            <a:r>
              <a:rPr sz="3600" dirty="0"/>
              <a:t>Pretending to be a trusted source.</a:t>
            </a:r>
          </a:p>
          <a:p>
            <a:r>
              <a:rPr sz="3600" dirty="0"/>
              <a:t>Types: Email spoofing, IP spoofing.</a:t>
            </a:r>
          </a:p>
          <a:p>
            <a:r>
              <a:rPr sz="3600" dirty="0"/>
              <a:t>Example: Fake email looks like your bank.</a:t>
            </a:r>
          </a:p>
          <a:p>
            <a:r>
              <a:rPr sz="3600" dirty="0"/>
              <a:t>Used in phishing and MITM attacks.</a:t>
            </a:r>
          </a:p>
          <a:p>
            <a:r>
              <a:rPr sz="3600" dirty="0"/>
              <a:t>Fix: Authentication and filters.</a:t>
            </a:r>
          </a:p>
        </p:txBody>
      </p:sp>
      <p:pic>
        <p:nvPicPr>
          <p:cNvPr id="4" name="Picture 3" descr="A blue and white background">
            <a:extLst>
              <a:ext uri="{FF2B5EF4-FFF2-40B4-BE49-F238E27FC236}">
                <a16:creationId xmlns:a16="http://schemas.microsoft.com/office/drawing/2014/main" id="{DB4DBD92-22DF-626B-8695-8777564020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3096" y="0"/>
            <a:ext cx="2660904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993531" y="160337"/>
            <a:ext cx="8229600" cy="1143000"/>
          </a:xfrm>
        </p:spPr>
        <p:txBody>
          <a:bodyPr/>
          <a:lstStyle/>
          <a:p>
            <a:r>
              <a:rPr sz="3200" b="1" dirty="0"/>
              <a:t>Man-in-the-Middle (MITM)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600200"/>
            <a:ext cx="6483096" cy="4525963"/>
          </a:xfrm>
        </p:spPr>
        <p:txBody>
          <a:bodyPr>
            <a:normAutofit/>
          </a:bodyPr>
          <a:lstStyle/>
          <a:p>
            <a:r>
              <a:rPr dirty="0"/>
              <a:t>Attacker secretly sits between two parties.</a:t>
            </a:r>
          </a:p>
          <a:p>
            <a:r>
              <a:rPr dirty="0"/>
              <a:t>Intercepts or modifies communication.</a:t>
            </a:r>
          </a:p>
          <a:p>
            <a:r>
              <a:rPr dirty="0"/>
              <a:t>Example: Fake Wi-Fi hotspot at a cafe.</a:t>
            </a:r>
          </a:p>
          <a:p>
            <a:r>
              <a:rPr dirty="0"/>
              <a:t>Steals passwords and data.</a:t>
            </a:r>
          </a:p>
          <a:p>
            <a:r>
              <a:rPr dirty="0"/>
              <a:t>Fix: Use encryption (SSL/TLS).</a:t>
            </a:r>
          </a:p>
        </p:txBody>
      </p:sp>
      <p:pic>
        <p:nvPicPr>
          <p:cNvPr id="4" name="Picture 3" descr="A blue and white background">
            <a:extLst>
              <a:ext uri="{FF2B5EF4-FFF2-40B4-BE49-F238E27FC236}">
                <a16:creationId xmlns:a16="http://schemas.microsoft.com/office/drawing/2014/main" id="{AF025150-74EC-D276-8087-9313254E37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3096" y="0"/>
            <a:ext cx="2660904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151793" y="160337"/>
            <a:ext cx="8229600" cy="1143000"/>
          </a:xfrm>
        </p:spPr>
        <p:txBody>
          <a:bodyPr/>
          <a:lstStyle/>
          <a:p>
            <a:r>
              <a:rPr sz="3200" b="1" dirty="0"/>
              <a:t>Spam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600200"/>
            <a:ext cx="6483096" cy="4525963"/>
          </a:xfrm>
        </p:spPr>
        <p:txBody>
          <a:bodyPr>
            <a:normAutofit/>
          </a:bodyPr>
          <a:lstStyle/>
          <a:p>
            <a:r>
              <a:rPr dirty="0"/>
              <a:t>Bulk unwanted emails/messages.</a:t>
            </a:r>
          </a:p>
          <a:p>
            <a:r>
              <a:rPr dirty="0"/>
              <a:t>May contain ads, scams, or malware.</a:t>
            </a:r>
          </a:p>
          <a:p>
            <a:r>
              <a:rPr dirty="0"/>
              <a:t>Example: “You won a lottery!” email.</a:t>
            </a:r>
          </a:p>
          <a:p>
            <a:r>
              <a:rPr dirty="0"/>
              <a:t>Wastes time and storage.</a:t>
            </a:r>
          </a:p>
          <a:p>
            <a:r>
              <a:rPr dirty="0"/>
              <a:t>Fix: Spam filters and awareness.</a:t>
            </a:r>
          </a:p>
        </p:txBody>
      </p:sp>
      <p:pic>
        <p:nvPicPr>
          <p:cNvPr id="4" name="Picture 3" descr="A blue and white background">
            <a:extLst>
              <a:ext uri="{FF2B5EF4-FFF2-40B4-BE49-F238E27FC236}">
                <a16:creationId xmlns:a16="http://schemas.microsoft.com/office/drawing/2014/main" id="{2A8D459E-9F17-E5A8-248B-AED6210E9C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3096" y="0"/>
            <a:ext cx="2660904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453895" y="257053"/>
            <a:ext cx="8229600" cy="1143000"/>
          </a:xfrm>
        </p:spPr>
        <p:txBody>
          <a:bodyPr/>
          <a:lstStyle/>
          <a:p>
            <a:r>
              <a:rPr sz="3200" b="1" dirty="0"/>
              <a:t>Mail Bombing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600200"/>
            <a:ext cx="6483096" cy="4525963"/>
          </a:xfrm>
        </p:spPr>
        <p:txBody>
          <a:bodyPr>
            <a:normAutofit/>
          </a:bodyPr>
          <a:lstStyle/>
          <a:p>
            <a:r>
              <a:rPr dirty="0"/>
              <a:t>Flooding inbox with thousands of emails.</a:t>
            </a:r>
          </a:p>
          <a:p>
            <a:r>
              <a:rPr dirty="0"/>
              <a:t>Overloads server or mailbox.</a:t>
            </a:r>
          </a:p>
          <a:p>
            <a:r>
              <a:rPr dirty="0"/>
              <a:t>Example: Target receives 10,000 emails per minute.</a:t>
            </a:r>
          </a:p>
          <a:p>
            <a:r>
              <a:rPr dirty="0"/>
              <a:t>Disrupts business operations.</a:t>
            </a:r>
          </a:p>
          <a:p>
            <a:r>
              <a:rPr dirty="0"/>
              <a:t>Fix: Rate-limiting and monitoring.</a:t>
            </a:r>
          </a:p>
        </p:txBody>
      </p:sp>
      <p:pic>
        <p:nvPicPr>
          <p:cNvPr id="4" name="Picture 3" descr="A blue and white background">
            <a:extLst>
              <a:ext uri="{FF2B5EF4-FFF2-40B4-BE49-F238E27FC236}">
                <a16:creationId xmlns:a16="http://schemas.microsoft.com/office/drawing/2014/main" id="{40A3556A-F2DB-2858-91AF-B4A72EE55B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3096" y="0"/>
            <a:ext cx="2660904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310054" y="221884"/>
            <a:ext cx="8229600" cy="1143000"/>
          </a:xfrm>
        </p:spPr>
        <p:txBody>
          <a:bodyPr/>
          <a:lstStyle/>
          <a:p>
            <a:r>
              <a:rPr sz="3200" b="1" dirty="0"/>
              <a:t>Sniffers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600200"/>
            <a:ext cx="6483096" cy="4525963"/>
          </a:xfrm>
        </p:spPr>
        <p:txBody>
          <a:bodyPr>
            <a:normAutofit/>
          </a:bodyPr>
          <a:lstStyle/>
          <a:p>
            <a:r>
              <a:rPr dirty="0"/>
              <a:t>Software that captures network traffic.</a:t>
            </a:r>
          </a:p>
          <a:p>
            <a:r>
              <a:rPr dirty="0"/>
              <a:t>Can steal passwords, emails, chats.</a:t>
            </a:r>
          </a:p>
          <a:p>
            <a:r>
              <a:rPr dirty="0"/>
              <a:t>Example: Hacker uses Wireshark on public Wi-Fi.</a:t>
            </a:r>
          </a:p>
          <a:p>
            <a:r>
              <a:rPr dirty="0"/>
              <a:t>Attacks unencrypted data.</a:t>
            </a:r>
          </a:p>
          <a:p>
            <a:r>
              <a:rPr dirty="0"/>
              <a:t>Fix: Use VPN and HTTPS encryption.</a:t>
            </a:r>
          </a:p>
        </p:txBody>
      </p:sp>
      <p:pic>
        <p:nvPicPr>
          <p:cNvPr id="4" name="Picture 3" descr="A blue and white background">
            <a:extLst>
              <a:ext uri="{FF2B5EF4-FFF2-40B4-BE49-F238E27FC236}">
                <a16:creationId xmlns:a16="http://schemas.microsoft.com/office/drawing/2014/main" id="{F49C54D1-81C2-C5B4-A76E-BDBFBC88CE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3096" y="0"/>
            <a:ext cx="2660904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204546" y="228600"/>
            <a:ext cx="8229600" cy="1143000"/>
          </a:xfrm>
        </p:spPr>
        <p:txBody>
          <a:bodyPr/>
          <a:lstStyle/>
          <a:p>
            <a:r>
              <a:rPr sz="3200" b="1" dirty="0"/>
              <a:t>Social Engineering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600200"/>
            <a:ext cx="6483096" cy="4525963"/>
          </a:xfrm>
        </p:spPr>
        <p:txBody>
          <a:bodyPr>
            <a:normAutofit/>
          </a:bodyPr>
          <a:lstStyle/>
          <a:p>
            <a:r>
              <a:rPr dirty="0"/>
              <a:t>Tricking people into sharing sensitive info.</a:t>
            </a:r>
          </a:p>
          <a:p>
            <a:r>
              <a:rPr dirty="0"/>
              <a:t>Example: Fake IT support asks for your password.</a:t>
            </a:r>
          </a:p>
          <a:p>
            <a:r>
              <a:rPr dirty="0"/>
              <a:t>Uses psychology, not technology.</a:t>
            </a:r>
          </a:p>
          <a:p>
            <a:r>
              <a:rPr dirty="0"/>
              <a:t>Very effective on untrained users.</a:t>
            </a:r>
          </a:p>
          <a:p>
            <a:r>
              <a:rPr dirty="0"/>
              <a:t>Fix: Awareness training.</a:t>
            </a:r>
          </a:p>
        </p:txBody>
      </p:sp>
      <p:pic>
        <p:nvPicPr>
          <p:cNvPr id="4" name="Picture 3" descr="A blue and white background">
            <a:extLst>
              <a:ext uri="{FF2B5EF4-FFF2-40B4-BE49-F238E27FC236}">
                <a16:creationId xmlns:a16="http://schemas.microsoft.com/office/drawing/2014/main" id="{F754A4F6-0EBD-C1B0-E5DC-D326CE4750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3096" y="0"/>
            <a:ext cx="2660904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195754" y="228600"/>
            <a:ext cx="8229600" cy="1143000"/>
          </a:xfrm>
        </p:spPr>
        <p:txBody>
          <a:bodyPr/>
          <a:lstStyle/>
          <a:p>
            <a:r>
              <a:rPr sz="3200" b="1" dirty="0"/>
              <a:t>Pharming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600200"/>
            <a:ext cx="6483096" cy="4525963"/>
          </a:xfrm>
        </p:spPr>
        <p:txBody>
          <a:bodyPr>
            <a:normAutofit lnSpcReduction="10000"/>
          </a:bodyPr>
          <a:lstStyle/>
          <a:p>
            <a:r>
              <a:rPr dirty="0"/>
              <a:t>Redirects users to fake websites.</a:t>
            </a:r>
          </a:p>
          <a:p>
            <a:r>
              <a:rPr dirty="0"/>
              <a:t>Exploits DNS (internet’s phonebook).</a:t>
            </a:r>
          </a:p>
          <a:p>
            <a:r>
              <a:rPr dirty="0"/>
              <a:t>Example: You type bank.com but land on hacker’s site.</a:t>
            </a:r>
          </a:p>
          <a:p>
            <a:r>
              <a:rPr dirty="0"/>
              <a:t>Looks identical to real site → steals credentials.</a:t>
            </a:r>
          </a:p>
          <a:p>
            <a:r>
              <a:rPr dirty="0"/>
              <a:t>Fix: DNS security (DNSSEC) and HTTPS.</a:t>
            </a:r>
          </a:p>
        </p:txBody>
      </p:sp>
      <p:pic>
        <p:nvPicPr>
          <p:cNvPr id="4" name="Picture 3" descr="A blue and white background">
            <a:extLst>
              <a:ext uri="{FF2B5EF4-FFF2-40B4-BE49-F238E27FC236}">
                <a16:creationId xmlns:a16="http://schemas.microsoft.com/office/drawing/2014/main" id="{8B11CC39-C1BB-0CD1-67EC-56EE876BBA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3096" y="0"/>
            <a:ext cx="2660904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336431" y="296863"/>
            <a:ext cx="8229600" cy="1143000"/>
          </a:xfrm>
        </p:spPr>
        <p:txBody>
          <a:bodyPr/>
          <a:lstStyle/>
          <a:p>
            <a:r>
              <a:rPr lang="en-US" sz="3200" b="1" dirty="0"/>
              <a:t>Timing Attacks</a:t>
            </a:r>
            <a:endParaRPr sz="32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600200"/>
            <a:ext cx="6483096" cy="5257800"/>
          </a:xfrm>
        </p:spPr>
        <p:txBody>
          <a:bodyPr>
            <a:normAutofit/>
          </a:bodyPr>
          <a:lstStyle/>
          <a:p>
            <a:r>
              <a:rPr sz="2800" dirty="0"/>
              <a:t>Exploits time taken by systems to respond.</a:t>
            </a:r>
          </a:p>
          <a:p>
            <a:r>
              <a:rPr sz="2800" dirty="0"/>
              <a:t>Example: Guessing password length from delay.</a:t>
            </a:r>
          </a:p>
          <a:p>
            <a:r>
              <a:rPr sz="2800" dirty="0"/>
              <a:t>Often used against encryption algorithms.</a:t>
            </a:r>
          </a:p>
          <a:p>
            <a:r>
              <a:rPr sz="2800" dirty="0"/>
              <a:t>Very stealthy and hard to detect.</a:t>
            </a:r>
          </a:p>
          <a:p>
            <a:r>
              <a:rPr sz="2800" dirty="0"/>
              <a:t>Fix: Use constant-time operations.</a:t>
            </a:r>
          </a:p>
        </p:txBody>
      </p:sp>
      <p:pic>
        <p:nvPicPr>
          <p:cNvPr id="4" name="Picture 3" descr="A blue and white background">
            <a:extLst>
              <a:ext uri="{FF2B5EF4-FFF2-40B4-BE49-F238E27FC236}">
                <a16:creationId xmlns:a16="http://schemas.microsoft.com/office/drawing/2014/main" id="{E58511C8-9EB5-7FFD-3CFB-7D95ECE2BC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3096" y="0"/>
            <a:ext cx="2660904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975946" y="142753"/>
            <a:ext cx="8229600" cy="1143000"/>
          </a:xfrm>
        </p:spPr>
        <p:txBody>
          <a:bodyPr/>
          <a:lstStyle/>
          <a:p>
            <a:r>
              <a:rPr sz="3200" b="1" dirty="0"/>
              <a:t>Defense Strategies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652954"/>
            <a:ext cx="6025896" cy="5257800"/>
          </a:xfrm>
        </p:spPr>
        <p:txBody>
          <a:bodyPr>
            <a:normAutofit/>
          </a:bodyPr>
          <a:lstStyle/>
          <a:p>
            <a:r>
              <a:rPr dirty="0"/>
              <a:t>Apply defense in depth (layered security).</a:t>
            </a:r>
          </a:p>
          <a:p>
            <a:r>
              <a:rPr dirty="0"/>
              <a:t>Combine policies, technology, training.</a:t>
            </a:r>
          </a:p>
          <a:p>
            <a:r>
              <a:rPr dirty="0"/>
              <a:t>Regular patching and updates.</a:t>
            </a:r>
          </a:p>
          <a:p>
            <a:r>
              <a:rPr dirty="0"/>
              <a:t>Use access controls and monitoring.</a:t>
            </a:r>
          </a:p>
          <a:p>
            <a:r>
              <a:rPr dirty="0"/>
              <a:t>Continuous incident response.</a:t>
            </a:r>
          </a:p>
        </p:txBody>
      </p:sp>
      <p:pic>
        <p:nvPicPr>
          <p:cNvPr id="4" name="Picture 3" descr="A blue and white background">
            <a:extLst>
              <a:ext uri="{FF2B5EF4-FFF2-40B4-BE49-F238E27FC236}">
                <a16:creationId xmlns:a16="http://schemas.microsoft.com/office/drawing/2014/main" id="{361221CD-2C7C-D866-6488-0253C9E94D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3096" y="0"/>
            <a:ext cx="2660904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310053" y="160337"/>
            <a:ext cx="8229600" cy="1143000"/>
          </a:xfrm>
        </p:spPr>
        <p:txBody>
          <a:bodyPr/>
          <a:lstStyle/>
          <a:p>
            <a:r>
              <a:rPr sz="3200" b="1" dirty="0"/>
              <a:t>Case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600200"/>
            <a:ext cx="6483096" cy="4525963"/>
          </a:xfrm>
        </p:spPr>
        <p:txBody>
          <a:bodyPr>
            <a:normAutofit fontScale="92500" lnSpcReduction="10000"/>
          </a:bodyPr>
          <a:lstStyle/>
          <a:p>
            <a:r>
              <a:rPr dirty="0"/>
              <a:t>Example: Hospital information system.</a:t>
            </a:r>
          </a:p>
          <a:p>
            <a:r>
              <a:rPr dirty="0"/>
              <a:t>Needs availability → patient data must be online.</a:t>
            </a:r>
          </a:p>
          <a:p>
            <a:r>
              <a:rPr dirty="0"/>
              <a:t>Needs confidentiality → private medical records.</a:t>
            </a:r>
          </a:p>
          <a:p>
            <a:r>
              <a:rPr dirty="0"/>
              <a:t>Needs integrity → diagnosis info must not be altered.</a:t>
            </a:r>
          </a:p>
          <a:p>
            <a:r>
              <a:rPr dirty="0"/>
              <a:t>Applies CNSS model for security balance.</a:t>
            </a:r>
          </a:p>
        </p:txBody>
      </p:sp>
      <p:pic>
        <p:nvPicPr>
          <p:cNvPr id="4" name="Picture 3" descr="A blue and white background">
            <a:extLst>
              <a:ext uri="{FF2B5EF4-FFF2-40B4-BE49-F238E27FC236}">
                <a16:creationId xmlns:a16="http://schemas.microsoft.com/office/drawing/2014/main" id="{027C2931-0841-FE9B-76B4-E5F3FB5A7A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3096" y="0"/>
            <a:ext cx="2660904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310054" y="160337"/>
            <a:ext cx="8229600" cy="1143000"/>
          </a:xfrm>
        </p:spPr>
        <p:txBody>
          <a:bodyPr/>
          <a:lstStyle/>
          <a:p>
            <a:r>
              <a:rPr sz="3200" b="1" dirty="0"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600200"/>
            <a:ext cx="6483096" cy="4525963"/>
          </a:xfrm>
        </p:spPr>
        <p:txBody>
          <a:bodyPr>
            <a:normAutofit lnSpcReduction="10000"/>
          </a:bodyPr>
          <a:lstStyle/>
          <a:p>
            <a:r>
              <a:rPr dirty="0"/>
              <a:t>CNSS model ensures CIA triad.</a:t>
            </a:r>
          </a:p>
          <a:p>
            <a:r>
              <a:rPr dirty="0"/>
              <a:t>Threats include natural, human, technical risks.</a:t>
            </a:r>
          </a:p>
          <a:p>
            <a:r>
              <a:rPr dirty="0"/>
              <a:t>Attacks include malware, phishing, DoS, spoofing.</a:t>
            </a:r>
          </a:p>
          <a:p>
            <a:r>
              <a:rPr dirty="0"/>
              <a:t>Security needs policy, technology, education.</a:t>
            </a:r>
          </a:p>
          <a:p>
            <a:r>
              <a:rPr dirty="0"/>
              <a:t>Goal: Protect information assets and trust.</a:t>
            </a:r>
          </a:p>
        </p:txBody>
      </p:sp>
      <p:pic>
        <p:nvPicPr>
          <p:cNvPr id="4" name="Picture 3" descr="A blue and white background">
            <a:extLst>
              <a:ext uri="{FF2B5EF4-FFF2-40B4-BE49-F238E27FC236}">
                <a16:creationId xmlns:a16="http://schemas.microsoft.com/office/drawing/2014/main" id="{1DF1880D-8678-11F9-1C33-CF5C3B3CCA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3096" y="0"/>
            <a:ext cx="2660904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211</TotalTime>
  <Words>1746</Words>
  <Application>Microsoft Office PowerPoint</Application>
  <PresentationFormat>On-screen Show (4:3)</PresentationFormat>
  <Paragraphs>216</Paragraphs>
  <Slides>36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1" baseType="lpstr">
      <vt:lpstr>Aptos</vt:lpstr>
      <vt:lpstr>Arial</vt:lpstr>
      <vt:lpstr>Calibri</vt:lpstr>
      <vt:lpstr>Roboto Condensed Light</vt:lpstr>
      <vt:lpstr>Office Theme</vt:lpstr>
      <vt:lpstr>PowerPoint Presentation</vt:lpstr>
      <vt:lpstr>Introduction to CNSS Security Model</vt:lpstr>
      <vt:lpstr>CIA Triad</vt:lpstr>
      <vt:lpstr>Information States</vt:lpstr>
      <vt:lpstr>Security Measures</vt:lpstr>
      <vt:lpstr>Threats vs Attacks</vt:lpstr>
      <vt:lpstr>Compromises to Intellectual Property</vt:lpstr>
      <vt:lpstr>Deliberate Software Attacks</vt:lpstr>
      <vt:lpstr>Deviations in Quality of Service</vt:lpstr>
      <vt:lpstr>Espionage or Trespass</vt:lpstr>
      <vt:lpstr>Forces of Nature</vt:lpstr>
      <vt:lpstr>Human Error or Failure</vt:lpstr>
      <vt:lpstr>Information Extortion</vt:lpstr>
      <vt:lpstr>Missing or Inadequate Policy</vt:lpstr>
      <vt:lpstr>Missing or Weak Controls</vt:lpstr>
      <vt:lpstr>Sabotage or Vandalism</vt:lpstr>
      <vt:lpstr>Theft</vt:lpstr>
      <vt:lpstr>Malicious Code</vt:lpstr>
      <vt:lpstr>Hoaxes</vt:lpstr>
      <vt:lpstr>Back Doors</vt:lpstr>
      <vt:lpstr>Password Cracking</vt:lpstr>
      <vt:lpstr>Brute Force Attack</vt:lpstr>
      <vt:lpstr>Dictionary Attack</vt:lpstr>
      <vt:lpstr>Denial-of-Service (DoS)</vt:lpstr>
      <vt:lpstr>Distributed DoS (DDoS)</vt:lpstr>
      <vt:lpstr>Spoofing</vt:lpstr>
      <vt:lpstr>Man-in-the-Middle (MITM)</vt:lpstr>
      <vt:lpstr>Spam</vt:lpstr>
      <vt:lpstr>Mail Bombing</vt:lpstr>
      <vt:lpstr>Sniffers</vt:lpstr>
      <vt:lpstr>Social Engineering</vt:lpstr>
      <vt:lpstr>Pharming</vt:lpstr>
      <vt:lpstr>Timing Attacks</vt:lpstr>
      <vt:lpstr>Defense Strategies</vt:lpstr>
      <vt:lpstr>Case Example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Dr Qurat ul Ain</dc:creator>
  <cp:keywords/>
  <dc:description>generated using python-pptx</dc:description>
  <cp:lastModifiedBy>Quratulain Alam</cp:lastModifiedBy>
  <cp:revision>18</cp:revision>
  <dcterms:created xsi:type="dcterms:W3CDTF">2013-01-27T09:14:16Z</dcterms:created>
  <dcterms:modified xsi:type="dcterms:W3CDTF">2025-09-19T05:31:00Z</dcterms:modified>
  <cp:category/>
</cp:coreProperties>
</file>