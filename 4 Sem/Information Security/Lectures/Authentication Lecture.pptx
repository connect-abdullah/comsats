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32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852" autoAdjust="0"/>
  </p:normalViewPr>
  <p:slideViewPr>
    <p:cSldViewPr snapToGrid="0" snapToObjects="1">
      <p:cViewPr varScale="1">
        <p:scale>
          <a:sx n="56" d="100"/>
          <a:sy n="56" d="100"/>
        </p:scale>
        <p:origin x="177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632FD-48E2-4A36-AEF3-C3E0D3A10E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9F464-4E26-4331-9F09-487DAA18A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47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a </a:t>
            </a:r>
            <a:r>
              <a:rPr lang="en-US" b="1" dirty="0" smtClean="0"/>
              <a:t>device is stolen</a:t>
            </a:r>
            <a:r>
              <a:rPr lang="en-US" dirty="0" smtClean="0"/>
              <a:t> (mobile phone, laptop, tablet), it is not just a hardware loss — the </a:t>
            </a:r>
            <a:r>
              <a:rPr lang="en-US" b="1" dirty="0" smtClean="0"/>
              <a:t>authentication tokens stored on that device may also be compromised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📌 What Is an Authentication Token?</a:t>
            </a:r>
          </a:p>
          <a:p>
            <a:r>
              <a:rPr lang="en-US" dirty="0" smtClean="0"/>
              <a:t>An authentication token is a </a:t>
            </a:r>
            <a:r>
              <a:rPr lang="en-US" b="1" dirty="0" smtClean="0"/>
              <a:t>digital proof</a:t>
            </a:r>
            <a:r>
              <a:rPr lang="en-US" dirty="0" smtClean="0"/>
              <a:t> that confirms a user has already logged in.</a:t>
            </a:r>
          </a:p>
          <a:p>
            <a:r>
              <a:rPr lang="en-US" dirty="0" smtClean="0"/>
              <a:t>Examples include:</a:t>
            </a:r>
          </a:p>
          <a:p>
            <a:r>
              <a:rPr lang="en-US" dirty="0" smtClean="0"/>
              <a:t>Session cookies</a:t>
            </a:r>
          </a:p>
          <a:p>
            <a:r>
              <a:rPr lang="en-US" dirty="0" smtClean="0"/>
              <a:t>JSON Web Tokens (JWT)</a:t>
            </a:r>
          </a:p>
          <a:p>
            <a:r>
              <a:rPr lang="en-US" dirty="0" smtClean="0"/>
              <a:t>OAuth access tokens</a:t>
            </a:r>
          </a:p>
          <a:p>
            <a:r>
              <a:rPr lang="en-US" dirty="0" smtClean="0"/>
              <a:t>“Remember me” tokens</a:t>
            </a:r>
          </a:p>
          <a:p>
            <a:r>
              <a:rPr lang="en-US" dirty="0" smtClean="0"/>
              <a:t>MFA app tokens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9F464-4E26-4331-9F09-487DAA18AF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9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Windows Active Directory uses NTLM to store user passwords in a hashed (encrypted-like) format instead of plain text. NTLM (NT LAN Manager) is a Microsoft authentication protocol that verifies a user’s identity using a challenge-response mechanism based on password hashes.</a:t>
            </a:r>
            <a:r>
              <a:rPr lang="en-US" b="1" dirty="0" smtClean="0"/>
              <a:t> NT LAN</a:t>
            </a:r>
            <a:r>
              <a:rPr lang="en-US" dirty="0" smtClean="0"/>
              <a:t> means </a:t>
            </a:r>
            <a:r>
              <a:rPr lang="en-US" b="1" dirty="0" smtClean="0"/>
              <a:t>New Technology Local Area Network</a:t>
            </a:r>
            <a:r>
              <a:rPr lang="en-US" dirty="0" smtClean="0"/>
              <a:t> — referring to Microsoft’s Windows NT network authentication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9F464-4E26-4331-9F09-487DAA18AF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61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4-digit PIN can be brute-forced by systematically trying all 0000 to 9999 combinations (10,000 total possibilities). Because each of the 4 digits can be </a:t>
            </a:r>
            <a:r>
              <a:rPr lang="en-US" b="1" dirty="0" smtClean="0"/>
              <a:t>0–9 (10 options)</a:t>
            </a:r>
            <a:r>
              <a:rPr lang="en-US" dirty="0" smtClean="0"/>
              <a:t>, so total combinations = </a:t>
            </a:r>
            <a:r>
              <a:rPr lang="en-US" b="1" dirty="0" smtClean="0"/>
              <a:t>10 × 10 × 10 × 10 = 10,000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9F464-4E26-4331-9F09-487DAA18AF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43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9F464-4E26-4331-9F09-487DAA18AF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One-Time Passwords (OTP) are secure because they expire quickly, but attackers can still bypass them using SIM swap attacks to receive the OTP on a hijacked phone number.</a:t>
            </a:r>
            <a:r>
              <a:rPr lang="en-US" b="1" dirty="0" smtClean="0"/>
              <a:t> SIM swap attack</a:t>
            </a:r>
            <a:r>
              <a:rPr lang="en-US" dirty="0" smtClean="0"/>
              <a:t> means an attacker transfers your mobile number to their own SIM card to receive your OTPs and verification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9F464-4E26-4331-9F09-487DAA18AF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82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Yes — if a device or database storing your fingerprint is compromised, attackers can </a:t>
            </a:r>
            <a:r>
              <a:rPr lang="en-US" b="1" dirty="0" smtClean="0"/>
              <a:t>steal your fingerprint data</a:t>
            </a:r>
            <a:r>
              <a:rPr lang="en-US" dirty="0" smtClean="0"/>
              <a:t>, which cannot be changed like a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9F464-4E26-4331-9F09-487DAA18AF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AC9A113-8E58-5CC8-37DE-0F79463D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86F4E590-4ED8-8A39-D342-0995E01A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  <p:pic>
        <p:nvPicPr>
          <p:cNvPr id="10" name="Picture 9" descr="A logo of a university&#10;&#10;AI-generated content may be incorrect.">
            <a:extLst>
              <a:ext uri="{FF2B5EF4-FFF2-40B4-BE49-F238E27FC236}">
                <a16:creationId xmlns="" xmlns:a16="http://schemas.microsoft.com/office/drawing/2014/main" id="{E08C50A5-6525-9D5C-F66E-1BC99D6F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3886" cy="1373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6BD62BE-CFC9-9B30-2AA9-CF0CDD5A6F43}"/>
              </a:ext>
            </a:extLst>
          </p:cNvPr>
          <p:cNvSpPr txBox="1"/>
          <p:nvPr/>
        </p:nvSpPr>
        <p:spPr>
          <a:xfrm>
            <a:off x="1089279" y="1827014"/>
            <a:ext cx="5678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Introduction to Authentication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0486AB4-7BCF-0F29-5607-198657A863D0}"/>
              </a:ext>
            </a:extLst>
          </p:cNvPr>
          <p:cNvSpPr txBox="1"/>
          <p:nvPr/>
        </p:nvSpPr>
        <p:spPr>
          <a:xfrm>
            <a:off x="300081" y="4865163"/>
            <a:ext cx="4572000" cy="1290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2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Dr. Qurat ul Ain Alam</a:t>
            </a:r>
            <a:br>
              <a:rPr kumimoji="0" lang="en-US" sz="2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2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Assistant Professor</a:t>
            </a:r>
            <a:br>
              <a:rPr kumimoji="0" lang="en-US" sz="2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2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COMSATS University Islamabad</a:t>
            </a:r>
          </a:p>
        </p:txBody>
      </p:sp>
    </p:spTree>
    <p:extLst>
      <p:ext uri="{BB962C8B-B14F-4D97-AF65-F5344CB8AC3E}">
        <p14:creationId xmlns:p14="http://schemas.microsoft.com/office/powerpoint/2010/main" val="93446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2515" y="162412"/>
            <a:ext cx="8229600" cy="1143000"/>
          </a:xfrm>
        </p:spPr>
        <p:txBody>
          <a:bodyPr/>
          <a:lstStyle/>
          <a:p>
            <a:r>
              <a:rPr sz="3200" b="1" dirty="0"/>
              <a:t>Introduction to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7785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Authentication means verifying the identity of a user, device, or system.</a:t>
            </a:r>
          </a:p>
          <a:p>
            <a:r>
              <a:rPr sz="2800" dirty="0"/>
              <a:t>It answers the question: “Who are you?”.</a:t>
            </a:r>
          </a:p>
          <a:p>
            <a:r>
              <a:rPr sz="2800" dirty="0"/>
              <a:t>Without authentication, systems cannot ensure secure access.</a:t>
            </a:r>
          </a:p>
          <a:p>
            <a:r>
              <a:rPr sz="2800" dirty="0"/>
              <a:t>Example: Logging into Gmail requires proving your username &amp; password.</a:t>
            </a:r>
          </a:p>
          <a:p>
            <a:r>
              <a:rPr sz="2800" dirty="0"/>
              <a:t>Authentication is the first step before authorization and access control.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213A5653-9A05-B907-5CF6-DA18D0CA8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3869" y="160337"/>
            <a:ext cx="8229600" cy="1143000"/>
          </a:xfrm>
        </p:spPr>
        <p:txBody>
          <a:bodyPr/>
          <a:lstStyle/>
          <a:p>
            <a:r>
              <a:rPr sz="3200" b="1" dirty="0"/>
              <a:t>Importance of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Ensures only legitimate users access resources.</a:t>
            </a:r>
          </a:p>
          <a:p>
            <a:r>
              <a:rPr sz="2800" dirty="0"/>
              <a:t>Prevents unauthorized access to sensitive data.</a:t>
            </a:r>
          </a:p>
          <a:p>
            <a:r>
              <a:rPr sz="2800" dirty="0"/>
              <a:t>Builds trust between users and systems.</a:t>
            </a:r>
          </a:p>
          <a:p>
            <a:r>
              <a:rPr sz="2800" dirty="0"/>
              <a:t>Protects against identity theft and misuse.</a:t>
            </a:r>
          </a:p>
          <a:p>
            <a:r>
              <a:rPr sz="2800" dirty="0"/>
              <a:t>Example: Online banking relies on strong authentication for transactions.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F0B73653-F5A3-B942-E93D-F34BD9721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75946" y="296863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/>
              <a:t>Authentication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6726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Something you know → Passwords, PINs.</a:t>
            </a:r>
          </a:p>
          <a:p>
            <a:r>
              <a:rPr sz="2800" dirty="0"/>
              <a:t>Something you have → Smart cards, tokens, mobile phone.</a:t>
            </a:r>
          </a:p>
          <a:p>
            <a:r>
              <a:rPr sz="2800" dirty="0"/>
              <a:t>Something you are → Biometrics (fingerprint, face, iris).</a:t>
            </a:r>
          </a:p>
          <a:p>
            <a:r>
              <a:rPr sz="2800" dirty="0"/>
              <a:t>Somewhere you are → Location-based authentication (GPS, IP).</a:t>
            </a:r>
          </a:p>
          <a:p>
            <a:r>
              <a:rPr sz="2800" dirty="0"/>
              <a:t>Something you do → Behavioral (typing rhythm, swipe patterns).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759B1288-F930-057B-77DF-E601754AA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2516" y="265846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/>
              <a:t>Single-Factor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7785"/>
            <a:ext cx="6483096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Uses only one method to verify identity.</a:t>
            </a:r>
          </a:p>
          <a:p>
            <a:r>
              <a:rPr dirty="0"/>
              <a:t>Most common: Username + Password.</a:t>
            </a:r>
          </a:p>
          <a:p>
            <a:r>
              <a:rPr dirty="0"/>
              <a:t>Easy to use but also weak against attacks.</a:t>
            </a:r>
          </a:p>
          <a:p>
            <a:r>
              <a:rPr dirty="0"/>
              <a:t>Example: Email login with just a password.</a:t>
            </a:r>
          </a:p>
          <a:p>
            <a:r>
              <a:rPr dirty="0"/>
              <a:t>Vulnerable to guessing, brute force, and phishing.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5B1FC4A1-9BC5-0B0A-DF6E-41777304A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17685" y="237392"/>
            <a:ext cx="8229600" cy="1143000"/>
          </a:xfrm>
        </p:spPr>
        <p:txBody>
          <a:bodyPr/>
          <a:lstStyle/>
          <a:p>
            <a:r>
              <a:rPr sz="3200" b="1" dirty="0"/>
              <a:t>Multi-Factor Authentication (MFA)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6377" y="1600200"/>
            <a:ext cx="6509473" cy="4525963"/>
          </a:xfrm>
        </p:spPr>
        <p:txBody>
          <a:bodyPr>
            <a:normAutofit/>
          </a:bodyPr>
          <a:lstStyle/>
          <a:p>
            <a:r>
              <a:rPr sz="2800" dirty="0"/>
              <a:t>Combines two or more factors for stronger security.</a:t>
            </a:r>
          </a:p>
          <a:p>
            <a:r>
              <a:rPr sz="2800" dirty="0"/>
              <a:t>Example: Password (knowledge) + OTP (possession).</a:t>
            </a:r>
          </a:p>
          <a:p>
            <a:r>
              <a:rPr sz="2800" dirty="0"/>
              <a:t>Harder for attackers to compromise all factors.</a:t>
            </a:r>
          </a:p>
          <a:p>
            <a:r>
              <a:rPr sz="2800" dirty="0"/>
              <a:t>Used in banking, cloud services, and secure systems.</a:t>
            </a:r>
          </a:p>
          <a:p>
            <a:r>
              <a:rPr sz="2800" dirty="0"/>
              <a:t>Provides layered defense against attacks.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FE00DDB0-05E7-10B6-BBF1-71680FB98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1985" y="265846"/>
            <a:ext cx="8229600" cy="1143000"/>
          </a:xfrm>
        </p:spPr>
        <p:txBody>
          <a:bodyPr/>
          <a:lstStyle/>
          <a:p>
            <a:r>
              <a:rPr sz="3200" b="1" dirty="0"/>
              <a:t>Threat Agents in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dirty="0"/>
              <a:t>Hackers: Try to break into accounts.</a:t>
            </a:r>
          </a:p>
          <a:p>
            <a:r>
              <a:rPr dirty="0"/>
              <a:t>Insiders: Employees misusing access.</a:t>
            </a:r>
          </a:p>
          <a:p>
            <a:r>
              <a:rPr dirty="0"/>
              <a:t>Malware: Keyloggers steal credentials.</a:t>
            </a:r>
          </a:p>
          <a:p>
            <a:r>
              <a:rPr dirty="0"/>
              <a:t>Phishers: Fake emails/websites to trick users.</a:t>
            </a:r>
          </a:p>
          <a:p>
            <a:r>
              <a:rPr dirty="0"/>
              <a:t>Automated bots: Perform large-scale guessing attacks.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8E7AE343-F2B7-7DCD-CE2C-C4B7EF9C2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25415" y="228600"/>
            <a:ext cx="8229600" cy="1143000"/>
          </a:xfrm>
        </p:spPr>
        <p:txBody>
          <a:bodyPr/>
          <a:lstStyle/>
          <a:p>
            <a:r>
              <a:rPr sz="3200" b="1" dirty="0"/>
              <a:t>Risks in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7785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Weak passwords easy to guess.</a:t>
            </a:r>
          </a:p>
          <a:p>
            <a:r>
              <a:rPr sz="2800" dirty="0"/>
              <a:t>Password reuse across multiple sites.</a:t>
            </a:r>
          </a:p>
          <a:p>
            <a:r>
              <a:rPr sz="2800" dirty="0"/>
              <a:t>Phishing tricks users into sharing credentials.</a:t>
            </a:r>
          </a:p>
          <a:p>
            <a:r>
              <a:rPr sz="2800" dirty="0">
                <a:solidFill>
                  <a:srgbClr val="FF0000"/>
                </a:solidFill>
              </a:rPr>
              <a:t>Stolen devices compromise authentication tokens.</a:t>
            </a:r>
          </a:p>
          <a:p>
            <a:r>
              <a:rPr sz="2800" dirty="0"/>
              <a:t>Biometric spoofing (fake fingerprints).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FB9B9A19-465D-6D62-0875-594AC624E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88023" y="160337"/>
            <a:ext cx="8229600" cy="1143000"/>
          </a:xfrm>
        </p:spPr>
        <p:txBody>
          <a:bodyPr/>
          <a:lstStyle/>
          <a:p>
            <a:r>
              <a:rPr sz="3200" b="1" dirty="0"/>
              <a:t>Evolution of Password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6577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Early systems: simple passwords stored in plain text.</a:t>
            </a:r>
          </a:p>
          <a:p>
            <a:r>
              <a:rPr sz="2800" dirty="0"/>
              <a:t>Later: Passwords stored as hashes in databases.</a:t>
            </a:r>
          </a:p>
          <a:p>
            <a:r>
              <a:rPr sz="2800" dirty="0"/>
              <a:t>Today: Passwords with salts, hashing, and complexity rules.</a:t>
            </a:r>
          </a:p>
          <a:p>
            <a:r>
              <a:rPr sz="2800" dirty="0" smtClean="0">
                <a:solidFill>
                  <a:srgbClr val="FF0000"/>
                </a:solidFill>
              </a:rPr>
              <a:t>Example</a:t>
            </a:r>
            <a:r>
              <a:rPr sz="2800" dirty="0">
                <a:solidFill>
                  <a:srgbClr val="FF0000"/>
                </a:solidFill>
              </a:rPr>
              <a:t>: Windows Active Directory uses NTLM/Hash-based storage.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6956AFF6-A52D-E533-A8F5-65D6A814F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4061" y="311884"/>
            <a:ext cx="8229600" cy="1143000"/>
          </a:xfrm>
        </p:spPr>
        <p:txBody>
          <a:bodyPr/>
          <a:lstStyle/>
          <a:p>
            <a:r>
              <a:rPr sz="3200" b="1" dirty="0"/>
              <a:t>Password Guessing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Attackers try common or weak passwords.</a:t>
            </a:r>
          </a:p>
          <a:p>
            <a:r>
              <a:rPr sz="2800" dirty="0"/>
              <a:t>Example: “123456”, “password”, “qwerty”.</a:t>
            </a:r>
          </a:p>
          <a:p>
            <a:r>
              <a:rPr sz="2800" dirty="0"/>
              <a:t>Guessing often succeeds due to human laziness.</a:t>
            </a:r>
          </a:p>
          <a:p>
            <a:r>
              <a:rPr sz="2800" dirty="0"/>
              <a:t>Attack tools: Hydra, Medusa.</a:t>
            </a:r>
          </a:p>
          <a:p>
            <a:r>
              <a:rPr sz="2800" dirty="0"/>
              <a:t>Prevention: Enforce strong password policies.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15A5B18E-371B-55C5-85F9-8F4FAC72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0438" y="296863"/>
            <a:ext cx="8229600" cy="1143000"/>
          </a:xfrm>
        </p:spPr>
        <p:txBody>
          <a:bodyPr/>
          <a:lstStyle/>
          <a:p>
            <a:r>
              <a:rPr sz="3200" b="1" dirty="0"/>
              <a:t>Brute Force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Attackers try every possible combination of characters.</a:t>
            </a:r>
          </a:p>
          <a:p>
            <a:r>
              <a:rPr sz="2800" dirty="0"/>
              <a:t>Very slow but guaranteed if password is weak.</a:t>
            </a:r>
          </a:p>
          <a:p>
            <a:r>
              <a:rPr sz="2800" dirty="0"/>
              <a:t>E</a:t>
            </a:r>
            <a:r>
              <a:rPr sz="2800" dirty="0">
                <a:solidFill>
                  <a:srgbClr val="FF0000"/>
                </a:solidFill>
              </a:rPr>
              <a:t>xample: 4-digit PIN has only 10,000 combinations.</a:t>
            </a:r>
          </a:p>
          <a:p>
            <a:r>
              <a:rPr sz="2800" dirty="0"/>
              <a:t>Tools: </a:t>
            </a:r>
            <a:r>
              <a:rPr sz="2800" dirty="0" err="1"/>
              <a:t>Hashcat</a:t>
            </a:r>
            <a:r>
              <a:rPr sz="2800" dirty="0"/>
              <a:t>, John the Ripper.</a:t>
            </a:r>
          </a:p>
          <a:p>
            <a:r>
              <a:rPr sz="2800" dirty="0"/>
              <a:t>Defense: Use long &amp; complex passwords + account lockouts.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4070181A-6226-5A33-B6C1-25A0CB058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49569" y="329468"/>
            <a:ext cx="8229600" cy="1143000"/>
          </a:xfrm>
        </p:spPr>
        <p:txBody>
          <a:bodyPr/>
          <a:lstStyle/>
          <a:p>
            <a:r>
              <a:rPr sz="3200" b="1" dirty="0"/>
              <a:t>Dictionary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fontScale="92500"/>
          </a:bodyPr>
          <a:lstStyle/>
          <a:p>
            <a:r>
              <a:rPr dirty="0"/>
              <a:t>Attackers use predefined lists of words (dictionary).</a:t>
            </a:r>
          </a:p>
          <a:p>
            <a:r>
              <a:rPr dirty="0"/>
              <a:t>Faster than brute force because users often pick common words.</a:t>
            </a:r>
          </a:p>
          <a:p>
            <a:r>
              <a:rPr dirty="0"/>
              <a:t>Example: “welcome123”, “</a:t>
            </a:r>
            <a:r>
              <a:rPr dirty="0" err="1"/>
              <a:t>iloveyou</a:t>
            </a:r>
            <a:r>
              <a:rPr dirty="0"/>
              <a:t>”.</a:t>
            </a:r>
          </a:p>
          <a:p>
            <a:r>
              <a:rPr dirty="0"/>
              <a:t>Dictionary files available online.</a:t>
            </a:r>
          </a:p>
          <a:p>
            <a:r>
              <a:rPr dirty="0"/>
              <a:t>Defense: Avoid dictionary words, use passphrases like “Blue$Sky#2025”.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2FA3A5F3-DBC3-3223-CB1E-6597BEC15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90246" y="228600"/>
            <a:ext cx="8229600" cy="1143000"/>
          </a:xfrm>
        </p:spPr>
        <p:txBody>
          <a:bodyPr/>
          <a:lstStyle/>
          <a:p>
            <a:r>
              <a:rPr sz="3200" b="1" dirty="0"/>
              <a:t>Password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2615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People pick predictable passwords: birthdays, names, pets.</a:t>
            </a:r>
          </a:p>
          <a:p>
            <a:r>
              <a:rPr sz="2800" dirty="0"/>
              <a:t>Attackers exploit this bias in guessing.</a:t>
            </a:r>
          </a:p>
          <a:p>
            <a:r>
              <a:rPr sz="2800" dirty="0"/>
              <a:t>Example: Ali uses “Ali123” as password → very weak.</a:t>
            </a:r>
          </a:p>
          <a:p>
            <a:r>
              <a:rPr sz="2800" dirty="0"/>
              <a:t>Studies show 20% of users pick passwords from common lists.</a:t>
            </a:r>
          </a:p>
          <a:p>
            <a:r>
              <a:rPr sz="2800" dirty="0"/>
              <a:t>Solution: Use random password generators.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7CBFF1D6-08E2-42C3-17C6-BEB0D3FAA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58361" y="228600"/>
            <a:ext cx="8229600" cy="1143000"/>
          </a:xfrm>
        </p:spPr>
        <p:txBody>
          <a:bodyPr/>
          <a:lstStyle/>
          <a:p>
            <a:r>
              <a:rPr sz="3200" b="1" dirty="0"/>
              <a:t>Authentication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fontScale="92500"/>
          </a:bodyPr>
          <a:lstStyle/>
          <a:p>
            <a:r>
              <a:rPr sz="2800" dirty="0"/>
              <a:t>Physical or digital objects used for authentication.</a:t>
            </a:r>
          </a:p>
          <a:p>
            <a:r>
              <a:rPr sz="2800" dirty="0"/>
              <a:t>Examples: Smart cards</a:t>
            </a:r>
            <a:r>
              <a:rPr sz="2800" dirty="0">
                <a:solidFill>
                  <a:srgbClr val="FF0000"/>
                </a:solidFill>
              </a:rPr>
              <a:t>, USB tokens, </a:t>
            </a:r>
            <a:r>
              <a:rPr sz="2800" dirty="0"/>
              <a:t>OTP apps (Google Authenticator</a:t>
            </a:r>
            <a:r>
              <a:rPr sz="2800" dirty="0" smtClean="0"/>
              <a:t>).</a:t>
            </a:r>
            <a:r>
              <a:rPr lang="en-US" sz="2800" dirty="0"/>
              <a:t> A USB token example is a hardware security key (like a </a:t>
            </a:r>
            <a:r>
              <a:rPr lang="en-US" sz="2800" dirty="0" err="1"/>
              <a:t>YubiKey</a:t>
            </a:r>
            <a:r>
              <a:rPr lang="en-US" sz="2800" dirty="0"/>
              <a:t>) that you plug into a computer to verify your identity during login.</a:t>
            </a:r>
            <a:endParaRPr sz="2800" dirty="0"/>
          </a:p>
          <a:p>
            <a:r>
              <a:rPr sz="2800" dirty="0"/>
              <a:t>Provide something you have factor.</a:t>
            </a:r>
          </a:p>
          <a:p>
            <a:r>
              <a:rPr sz="2800" dirty="0"/>
              <a:t>Often combined with passwords for 2FA.</a:t>
            </a:r>
          </a:p>
          <a:p>
            <a:r>
              <a:rPr sz="2800" dirty="0"/>
              <a:t>Risk: Can be lost or stolen.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87C67279-9FF6-37D9-4575-483FA8C2A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9908" y="239469"/>
            <a:ext cx="8229600" cy="1143000"/>
          </a:xfrm>
        </p:spPr>
        <p:txBody>
          <a:bodyPr/>
          <a:lstStyle/>
          <a:p>
            <a:r>
              <a:rPr sz="3200" b="1" dirty="0"/>
              <a:t>One-Time Passwords (OTP)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Temporary passwords valid for one login/session only.</a:t>
            </a:r>
          </a:p>
          <a:p>
            <a:r>
              <a:rPr sz="2800" dirty="0"/>
              <a:t>Delivered via SMS, email, or authenticator apps.</a:t>
            </a:r>
          </a:p>
          <a:p>
            <a:r>
              <a:rPr sz="2800" dirty="0"/>
              <a:t>Example: Bank sends a 6-digit OTP for transaction approval.</a:t>
            </a:r>
          </a:p>
          <a:p>
            <a:r>
              <a:rPr sz="2800" dirty="0"/>
              <a:t>Strong defense against stolen static passwords.</a:t>
            </a:r>
          </a:p>
          <a:p>
            <a:r>
              <a:rPr sz="2800" dirty="0">
                <a:solidFill>
                  <a:srgbClr val="FF0000"/>
                </a:solidFill>
              </a:rPr>
              <a:t>Attackers may still intercept via SIM swap attacks.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E3956E8C-9F0E-69D0-9A68-04CF95412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2516" y="239469"/>
            <a:ext cx="8229600" cy="1143000"/>
          </a:xfrm>
        </p:spPr>
        <p:txBody>
          <a:bodyPr/>
          <a:lstStyle/>
          <a:p>
            <a:r>
              <a:rPr sz="3200" b="1" dirty="0"/>
              <a:t>Biometric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fontScale="92500"/>
          </a:bodyPr>
          <a:lstStyle/>
          <a:p>
            <a:r>
              <a:rPr dirty="0"/>
              <a:t>Uses unique biological traits like fingerprint, iris, face, voice.</a:t>
            </a:r>
          </a:p>
          <a:p>
            <a:r>
              <a:rPr dirty="0"/>
              <a:t>Hard to forge compared to passwords.</a:t>
            </a:r>
          </a:p>
          <a:p>
            <a:r>
              <a:rPr dirty="0"/>
              <a:t>Convenient → no need to remember.</a:t>
            </a:r>
          </a:p>
          <a:p>
            <a:r>
              <a:rPr dirty="0"/>
              <a:t>Example: Unlocking iPhone with Face ID.</a:t>
            </a:r>
          </a:p>
          <a:p>
            <a:r>
              <a:rPr dirty="0">
                <a:solidFill>
                  <a:srgbClr val="FF0000"/>
                </a:solidFill>
              </a:rPr>
              <a:t>Risk: If stolen, biometrics cannot be changed.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473E082C-AC49-3212-D44D-191BEFFC3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4652" y="274638"/>
            <a:ext cx="8229600" cy="1143000"/>
          </a:xfrm>
        </p:spPr>
        <p:txBody>
          <a:bodyPr/>
          <a:lstStyle/>
          <a:p>
            <a:r>
              <a:rPr sz="3200" b="1" dirty="0"/>
              <a:t>Authentication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Defines rules and requirements for secure authentication.</a:t>
            </a:r>
          </a:p>
          <a:p>
            <a:r>
              <a:rPr sz="2800" dirty="0"/>
              <a:t>Example: “Minimum 12 characters, mix of symbols, no reuse.”</a:t>
            </a:r>
          </a:p>
          <a:p>
            <a:r>
              <a:rPr sz="2800" dirty="0"/>
              <a:t>Includes password reset, expiry, and MFA enforcement.</a:t>
            </a:r>
          </a:p>
          <a:p>
            <a:r>
              <a:rPr sz="2800" dirty="0"/>
              <a:t>Organizations create policies based on risk level.</a:t>
            </a:r>
          </a:p>
          <a:p>
            <a:r>
              <a:rPr sz="2800" dirty="0"/>
              <a:t>Weak policy = open door for attackers.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A751E4F9-0D99-61B2-727B-382B03E0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3869" y="197582"/>
            <a:ext cx="8229600" cy="1143000"/>
          </a:xfrm>
        </p:spPr>
        <p:txBody>
          <a:bodyPr/>
          <a:lstStyle/>
          <a:p>
            <a:r>
              <a:rPr sz="3200" b="1" dirty="0"/>
              <a:t>Kerberos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6577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Kerberos is a network authentication protocol.</a:t>
            </a:r>
          </a:p>
          <a:p>
            <a:r>
              <a:rPr sz="2800" dirty="0"/>
              <a:t>Developed at MIT to provide secure login in client-server.</a:t>
            </a:r>
          </a:p>
          <a:p>
            <a:r>
              <a:rPr sz="2800" dirty="0"/>
              <a:t>Uses symmetric key cryptography for strong authentication.</a:t>
            </a:r>
          </a:p>
          <a:p>
            <a:r>
              <a:rPr sz="2800" dirty="0"/>
              <a:t>Relies on a trusted third party (KDC).</a:t>
            </a:r>
          </a:p>
          <a:p>
            <a:r>
              <a:rPr sz="2800" dirty="0"/>
              <a:t>Example: Used in Windows Active Directory.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0FFD9BE2-5084-7352-FF7A-EF8145AD2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88024" y="265846"/>
            <a:ext cx="8229600" cy="1143000"/>
          </a:xfrm>
        </p:spPr>
        <p:txBody>
          <a:bodyPr/>
          <a:lstStyle/>
          <a:p>
            <a:r>
              <a:rPr sz="3200" b="1" dirty="0"/>
              <a:t>Kerberos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35369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Provides single sign-on in organizations.</a:t>
            </a:r>
          </a:p>
          <a:p>
            <a:r>
              <a:rPr sz="2800" dirty="0"/>
              <a:t>Users log in once → access multiple services.</a:t>
            </a:r>
          </a:p>
          <a:p>
            <a:r>
              <a:rPr sz="2800" dirty="0"/>
              <a:t>Reduces password fatigue for employees.</a:t>
            </a:r>
          </a:p>
          <a:p>
            <a:r>
              <a:rPr sz="2800" dirty="0"/>
              <a:t>Example: Logging into company laptop also grants access to email, printer, intranet.</a:t>
            </a:r>
          </a:p>
          <a:p>
            <a:r>
              <a:rPr sz="2800" dirty="0"/>
              <a:t>Ensures encrypted communication between services.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331BF9DE-E2ED-0C27-312C-D843EB27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5608" y="296863"/>
            <a:ext cx="8229600" cy="1143000"/>
          </a:xfrm>
        </p:spPr>
        <p:txBody>
          <a:bodyPr/>
          <a:lstStyle/>
          <a:p>
            <a:r>
              <a:rPr sz="3200" b="1" dirty="0"/>
              <a:t>Trusted Third Party (TTP)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71895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Kerberos depends on a TTP for key distribution.</a:t>
            </a:r>
          </a:p>
          <a:p>
            <a:r>
              <a:rPr sz="2800" dirty="0"/>
              <a:t>Key Distribution Center (KDC) = trusted server.</a:t>
            </a:r>
          </a:p>
          <a:p>
            <a:r>
              <a:rPr sz="2800" dirty="0"/>
              <a:t>KDC issues tickets that prove user identity.</a:t>
            </a:r>
          </a:p>
          <a:p>
            <a:r>
              <a:rPr sz="2800" dirty="0"/>
              <a:t>Without TTP, systems cannot trust each other.</a:t>
            </a:r>
          </a:p>
          <a:p>
            <a:r>
              <a:rPr sz="2800" dirty="0"/>
              <a:t>Example: Passport office as TTP for identity verification.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3DB0E926-49F7-2512-DD7C-4E4A0FB1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67154" y="228600"/>
            <a:ext cx="8229600" cy="1143000"/>
          </a:xfrm>
        </p:spPr>
        <p:txBody>
          <a:bodyPr/>
          <a:lstStyle/>
          <a:p>
            <a:r>
              <a:rPr sz="3200" b="1" dirty="0"/>
              <a:t>Key Distribution Center (KDC)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0538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Core of Kerberos authentication.</a:t>
            </a:r>
          </a:p>
          <a:p>
            <a:r>
              <a:rPr sz="2800" dirty="0"/>
              <a:t>Has two parts: Authentication Server (AS) and Ticket Granting Server (TGS).</a:t>
            </a:r>
          </a:p>
          <a:p>
            <a:r>
              <a:rPr sz="2800" dirty="0"/>
              <a:t>AS verifies user → issues Ticket Granting Ticket (TGT).</a:t>
            </a:r>
          </a:p>
          <a:p>
            <a:r>
              <a:rPr sz="2800" dirty="0"/>
              <a:t>TGS issues service tickets for applications.</a:t>
            </a:r>
          </a:p>
          <a:p>
            <a:r>
              <a:rPr sz="2800" dirty="0"/>
              <a:t>KDC must remain highly secure and available.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5DC5DEED-1EF8-1D9E-214A-3DFAA2B2A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69376" y="160337"/>
            <a:ext cx="8229600" cy="1143000"/>
          </a:xfrm>
        </p:spPr>
        <p:txBody>
          <a:bodyPr/>
          <a:lstStyle/>
          <a:p>
            <a:r>
              <a:rPr sz="3200" b="1" dirty="0"/>
              <a:t>Authentication Tickets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7785"/>
            <a:ext cx="6483096" cy="4525963"/>
          </a:xfrm>
        </p:spPr>
        <p:txBody>
          <a:bodyPr>
            <a:normAutofit fontScale="92500"/>
          </a:bodyPr>
          <a:lstStyle/>
          <a:p>
            <a:r>
              <a:rPr sz="2800" dirty="0"/>
              <a:t>Tickets act as proof of identity in Kerberos.</a:t>
            </a:r>
          </a:p>
          <a:p>
            <a:r>
              <a:rPr sz="2800" dirty="0"/>
              <a:t>Prevents sending passwords over the network.</a:t>
            </a:r>
          </a:p>
          <a:p>
            <a:r>
              <a:rPr sz="2800" dirty="0"/>
              <a:t>Encrypted using keys so only trusted parties can read.</a:t>
            </a:r>
          </a:p>
          <a:p>
            <a:r>
              <a:rPr sz="2800" dirty="0"/>
              <a:t>Example: Student gets a “hall pass” ticket → can access classes without asking teacher again.</a:t>
            </a:r>
          </a:p>
          <a:p>
            <a:r>
              <a:rPr sz="2800" dirty="0"/>
              <a:t>Tickets expire after a set time for security.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F96B94BA-191A-8E7B-914B-4F29610B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12177" y="228600"/>
            <a:ext cx="8229600" cy="1143000"/>
          </a:xfrm>
        </p:spPr>
        <p:txBody>
          <a:bodyPr/>
          <a:lstStyle/>
          <a:p>
            <a:r>
              <a:rPr sz="3200" b="1" dirty="0"/>
              <a:t>Single Sign-On (SSO)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User logs in once → gains access to multiple systems.</a:t>
            </a:r>
          </a:p>
          <a:p>
            <a:r>
              <a:rPr sz="2800" dirty="0"/>
              <a:t>Example: Logging into Google → access Gmail, Drive, YouTube.</a:t>
            </a:r>
          </a:p>
          <a:p>
            <a:r>
              <a:rPr sz="2800" dirty="0"/>
              <a:t>Improves usability and reduces password fatigue.</a:t>
            </a:r>
          </a:p>
          <a:p>
            <a:r>
              <a:rPr sz="2800" dirty="0"/>
              <a:t>Relies on centralized authentication (Kerberos, OAuth, SAML).</a:t>
            </a:r>
          </a:p>
          <a:p>
            <a:r>
              <a:rPr sz="2800" dirty="0"/>
              <a:t>Risk: If one account is compromised → attacker gets all services.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42F8B2CB-5015-5D8F-7218-1222A5A2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88563" y="224204"/>
            <a:ext cx="7060223" cy="1143000"/>
          </a:xfrm>
        </p:spPr>
        <p:txBody>
          <a:bodyPr/>
          <a:lstStyle/>
          <a:p>
            <a:r>
              <a:rPr sz="3200" b="1" dirty="0"/>
              <a:t>Centralized vs Decentralized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8992"/>
            <a:ext cx="6483096" cy="4525963"/>
          </a:xfrm>
        </p:spPr>
        <p:txBody>
          <a:bodyPr>
            <a:normAutofit fontScale="92500"/>
          </a:bodyPr>
          <a:lstStyle/>
          <a:p>
            <a:r>
              <a:rPr sz="2800" dirty="0"/>
              <a:t>Centralized: One system manages all authentication (Kerberos, Active Directory).</a:t>
            </a:r>
          </a:p>
          <a:p>
            <a:r>
              <a:rPr sz="2800" dirty="0"/>
              <a:t>Decentralized: Each application manages its own login.</a:t>
            </a:r>
          </a:p>
          <a:p>
            <a:r>
              <a:rPr sz="2800" dirty="0"/>
              <a:t>Centralized = convenient but risk of single point of failure.</a:t>
            </a:r>
          </a:p>
          <a:p>
            <a:r>
              <a:rPr sz="2800" dirty="0"/>
              <a:t>Decentralized = more control but harder for users.</a:t>
            </a:r>
          </a:p>
          <a:p>
            <a:r>
              <a:rPr sz="2800" dirty="0"/>
              <a:t>Example: Google (centralized) vs individual forum logins (decentralized).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E37FC5C5-3D69-B03B-A94D-7B06494B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78" y="230675"/>
            <a:ext cx="5785338" cy="1143000"/>
          </a:xfrm>
        </p:spPr>
        <p:txBody>
          <a:bodyPr/>
          <a:lstStyle/>
          <a:p>
            <a:r>
              <a:rPr sz="3200" b="1" dirty="0"/>
              <a:t>Authentication Types: Knowledge-Based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600200"/>
            <a:ext cx="6483095" cy="4525963"/>
          </a:xfrm>
        </p:spPr>
        <p:txBody>
          <a:bodyPr>
            <a:normAutofit/>
          </a:bodyPr>
          <a:lstStyle/>
          <a:p>
            <a:r>
              <a:rPr sz="2800" dirty="0"/>
              <a:t>Based on something you know.</a:t>
            </a:r>
          </a:p>
          <a:p>
            <a:r>
              <a:rPr sz="2800" dirty="0"/>
              <a:t>Example: Password, PIN, security question.</a:t>
            </a:r>
          </a:p>
          <a:p>
            <a:r>
              <a:rPr sz="2800" dirty="0"/>
              <a:t>Simple but weak against guessing &amp; phishing.</a:t>
            </a:r>
          </a:p>
          <a:p>
            <a:r>
              <a:rPr sz="2800" dirty="0"/>
              <a:t>Most common but declining in importance.</a:t>
            </a:r>
          </a:p>
          <a:p>
            <a:r>
              <a:rPr sz="2800" dirty="0"/>
              <a:t>Must be combined with stronger factors.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A76ECDF1-37E0-C88C-B3B6-E30C94F6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156" y="213092"/>
            <a:ext cx="5049598" cy="1143000"/>
          </a:xfrm>
        </p:spPr>
        <p:txBody>
          <a:bodyPr/>
          <a:lstStyle/>
          <a:p>
            <a:r>
              <a:rPr sz="3200" b="1" dirty="0"/>
              <a:t>Authentication Types: Possession-Based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2084"/>
            <a:ext cx="6483096" cy="4525963"/>
          </a:xfrm>
        </p:spPr>
        <p:txBody>
          <a:bodyPr>
            <a:normAutofit/>
          </a:bodyPr>
          <a:lstStyle/>
          <a:p>
            <a:r>
              <a:rPr dirty="0"/>
              <a:t>Based on something you have.</a:t>
            </a:r>
          </a:p>
          <a:p>
            <a:r>
              <a:rPr dirty="0"/>
              <a:t>Examples: Smart card, OTP token, mobile phone.</a:t>
            </a:r>
          </a:p>
          <a:p>
            <a:r>
              <a:rPr dirty="0"/>
              <a:t>Provides good protection when combined with passwords.</a:t>
            </a:r>
          </a:p>
          <a:p>
            <a:r>
              <a:rPr dirty="0"/>
              <a:t>Weakness: Can be lost, stolen, or cloned.</a:t>
            </a:r>
          </a:p>
          <a:p>
            <a:r>
              <a:rPr dirty="0"/>
              <a:t>Example: ATM card + PIN system.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A40EDE1B-E879-DC90-FBD5-3B57A5B5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88023" y="160337"/>
            <a:ext cx="8229600" cy="1143000"/>
          </a:xfrm>
        </p:spPr>
        <p:txBody>
          <a:bodyPr/>
          <a:lstStyle/>
          <a:p>
            <a:r>
              <a:rPr sz="3200" b="1" dirty="0"/>
              <a:t>Authentication Types: Biometric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2085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Based on something you are.</a:t>
            </a:r>
          </a:p>
          <a:p>
            <a:r>
              <a:rPr sz="2800" dirty="0"/>
              <a:t>Fingerprints, retina scans, voice, face recognition.</a:t>
            </a:r>
          </a:p>
          <a:p>
            <a:r>
              <a:rPr sz="2800" dirty="0"/>
              <a:t>Unique to each person, hard to forge.</a:t>
            </a:r>
          </a:p>
          <a:p>
            <a:r>
              <a:rPr sz="2800" dirty="0"/>
              <a:t>Example: Unlocking phone with fingerprint.</a:t>
            </a:r>
          </a:p>
          <a:p>
            <a:r>
              <a:rPr sz="2800" dirty="0"/>
              <a:t>Risk: Privacy concerns &amp; spoofing with fake biometrics.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22968B51-B46B-35A3-4D1A-2C36A87E4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4652" y="160337"/>
            <a:ext cx="8229600" cy="1143000"/>
          </a:xfrm>
        </p:spPr>
        <p:txBody>
          <a:bodyPr/>
          <a:lstStyle/>
          <a:p>
            <a:r>
              <a:rPr sz="3200" b="1" dirty="0"/>
              <a:t>Behavioral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6577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Based on something you do (patterns of behavior).</a:t>
            </a:r>
          </a:p>
          <a:p>
            <a:r>
              <a:rPr sz="2800" dirty="0"/>
              <a:t>Examples: Typing speed, mouse movement, swipe gestures.</a:t>
            </a:r>
          </a:p>
          <a:p>
            <a:r>
              <a:rPr sz="2800" dirty="0"/>
              <a:t>Provides continuous authentication during session.</a:t>
            </a:r>
          </a:p>
          <a:p>
            <a:r>
              <a:rPr sz="2800" dirty="0"/>
              <a:t>Difficult for attacker to mimic.</a:t>
            </a:r>
          </a:p>
          <a:p>
            <a:r>
              <a:rPr sz="2800" dirty="0"/>
              <a:t>Still under research but promising.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C087A7C2-DAB5-7AC6-B98B-8CD478AE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4061" y="160337"/>
            <a:ext cx="8229600" cy="1143000"/>
          </a:xfrm>
        </p:spPr>
        <p:txBody>
          <a:bodyPr/>
          <a:lstStyle/>
          <a:p>
            <a:r>
              <a:rPr sz="3200" b="1" dirty="0"/>
              <a:t>Risks of Weak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0877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Account takeovers through stolen credentials.</a:t>
            </a:r>
          </a:p>
          <a:p>
            <a:r>
              <a:rPr sz="2800" dirty="0"/>
              <a:t>Financial fraud from compromised banking accounts.</a:t>
            </a:r>
          </a:p>
          <a:p>
            <a:r>
              <a:rPr sz="2800" dirty="0"/>
              <a:t>Data breaches affecting entire organizations.</a:t>
            </a:r>
          </a:p>
          <a:p>
            <a:r>
              <a:rPr sz="2800" dirty="0"/>
              <a:t>Insider threats exploiting poor controls.</a:t>
            </a:r>
          </a:p>
          <a:p>
            <a:r>
              <a:rPr sz="2800" dirty="0"/>
              <a:t>Reputation loss for companies with weak systems.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276783C0-DC14-DB4C-60E7-87D089AD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4652" y="228600"/>
            <a:ext cx="8229600" cy="1143000"/>
          </a:xfrm>
        </p:spPr>
        <p:txBody>
          <a:bodyPr/>
          <a:lstStyle/>
          <a:p>
            <a:r>
              <a:rPr sz="3200" b="1" dirty="0"/>
              <a:t>Best Practices in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51818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Enforce strong password policies.</a:t>
            </a:r>
          </a:p>
          <a:p>
            <a:r>
              <a:rPr sz="2800" dirty="0"/>
              <a:t>Implement MFA for all critical systems.</a:t>
            </a:r>
          </a:p>
          <a:p>
            <a:r>
              <a:rPr sz="2800" dirty="0"/>
              <a:t>Regularly update and monitor authentication logs.</a:t>
            </a:r>
          </a:p>
          <a:p>
            <a:r>
              <a:rPr sz="2800" dirty="0"/>
              <a:t>Use encryption for storing and transmitting credentials.</a:t>
            </a:r>
          </a:p>
          <a:p>
            <a:r>
              <a:rPr sz="2800" dirty="0"/>
              <a:t>Educate users against phishing &amp; social engineering.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C174C19D-6281-9731-AAC2-6D860510B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9231" y="160337"/>
            <a:ext cx="8229600" cy="1143000"/>
          </a:xfrm>
        </p:spPr>
        <p:txBody>
          <a:bodyPr/>
          <a:lstStyle/>
          <a:p>
            <a:r>
              <a:rPr sz="3200" b="1" dirty="0"/>
              <a:t>Summary of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2084"/>
            <a:ext cx="6483096" cy="4525963"/>
          </a:xfrm>
        </p:spPr>
        <p:txBody>
          <a:bodyPr>
            <a:normAutofit/>
          </a:bodyPr>
          <a:lstStyle/>
          <a:p>
            <a:r>
              <a:rPr sz="2800" dirty="0"/>
              <a:t>Authentication verifies who you are.</a:t>
            </a:r>
          </a:p>
          <a:p>
            <a:r>
              <a:rPr sz="2800" dirty="0"/>
              <a:t>Factors: Knowledge, possession, inherence, location, behavior.</a:t>
            </a:r>
          </a:p>
          <a:p>
            <a:r>
              <a:rPr sz="2800" dirty="0"/>
              <a:t>Threats: Guessing, brute force, phishing, malware.</a:t>
            </a:r>
          </a:p>
          <a:p>
            <a:r>
              <a:rPr sz="2800" dirty="0"/>
              <a:t>Solutions: MFA, tokens, biometrics, Kerberos, SSO.</a:t>
            </a:r>
          </a:p>
          <a:p>
            <a:r>
              <a:rPr sz="2800" dirty="0"/>
              <a:t>Strong authentication = foundation of cybersecurity.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="" xmlns:a16="http://schemas.microsoft.com/office/drawing/2014/main" id="{C658FC90-C8CB-E51B-C980-A7DB64EBF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1738</Words>
  <Application>Microsoft Office PowerPoint</Application>
  <PresentationFormat>On-screen Show (4:3)</PresentationFormat>
  <Paragraphs>200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Roboto Condensed Light</vt:lpstr>
      <vt:lpstr>Office Theme</vt:lpstr>
      <vt:lpstr>PowerPoint Presentation</vt:lpstr>
      <vt:lpstr>Introduction to Authentication</vt:lpstr>
      <vt:lpstr>Importance of Authentication</vt:lpstr>
      <vt:lpstr>Authentication Factors</vt:lpstr>
      <vt:lpstr>Single-Factor Authentication</vt:lpstr>
      <vt:lpstr>Multi-Factor Authentication (MFA)</vt:lpstr>
      <vt:lpstr>Threat Agents in Authentication</vt:lpstr>
      <vt:lpstr>Risks in Authentication</vt:lpstr>
      <vt:lpstr>Evolution of Password Systems</vt:lpstr>
      <vt:lpstr>Password Guessing</vt:lpstr>
      <vt:lpstr>Brute Force Attacks</vt:lpstr>
      <vt:lpstr>Dictionary Attacks</vt:lpstr>
      <vt:lpstr>Password Bias</vt:lpstr>
      <vt:lpstr>Authentication Tokens</vt:lpstr>
      <vt:lpstr>One-Time Passwords (OTP)</vt:lpstr>
      <vt:lpstr>Biometric Authentication</vt:lpstr>
      <vt:lpstr>Authentication Policy</vt:lpstr>
      <vt:lpstr>Kerberos Basics</vt:lpstr>
      <vt:lpstr>Kerberos in Business</vt:lpstr>
      <vt:lpstr>Trusted Third Party (TTP)</vt:lpstr>
      <vt:lpstr>Key Distribution Center (KDC)</vt:lpstr>
      <vt:lpstr>Authentication Tickets</vt:lpstr>
      <vt:lpstr>Single Sign-On (SSO)</vt:lpstr>
      <vt:lpstr>Centralized vs Decentralized Authentication</vt:lpstr>
      <vt:lpstr>Authentication Types: Knowledge-Based</vt:lpstr>
      <vt:lpstr>Authentication Types: Possession-Based</vt:lpstr>
      <vt:lpstr>Authentication Types: Biometric</vt:lpstr>
      <vt:lpstr>Behavioral Authentication</vt:lpstr>
      <vt:lpstr>Risks of Weak Authentication</vt:lpstr>
      <vt:lpstr>Best Practices in Authentication</vt:lpstr>
      <vt:lpstr>Summary of Authentication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Dr Qurat ul Ain</dc:creator>
  <cp:keywords/>
  <dc:description>generated using python-pptx</dc:description>
  <cp:lastModifiedBy>Windows User</cp:lastModifiedBy>
  <cp:revision>13</cp:revision>
  <dcterms:created xsi:type="dcterms:W3CDTF">2013-01-27T09:14:16Z</dcterms:created>
  <dcterms:modified xsi:type="dcterms:W3CDTF">2026-03-01T16:36:43Z</dcterms:modified>
  <cp:category/>
</cp:coreProperties>
</file>