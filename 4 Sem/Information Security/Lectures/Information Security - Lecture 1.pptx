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33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A74B795-7B87-32DB-5061-730156FAC2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EBCFC92D-AEC2-0765-316A-5D11B87F81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45172D27-A8EB-2807-049C-794FB471E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9D842-8460-40D8-A5E6-AA917E1E1783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3F28ABA-5A29-AB3B-5B10-174812A9A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3A00E54-1EC2-8554-90E3-679DEFD54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05AB7-D041-47E9-A0F9-479F97B102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6077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ABE9D1F-D1A1-12C8-D832-0597988D9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A2A6392-AF46-8E2B-E1F9-F9F59C05D9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1569E17-F5E6-7BE4-D554-9C5096A01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9D842-8460-40D8-A5E6-AA917E1E1783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E4B8648-9CD0-C88E-C03D-DE72EEBA3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C5F06054-76B5-54AD-980A-38752A54D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05AB7-D041-47E9-A0F9-479F97B102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961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F574336-A23D-8058-F784-6E84AA43E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7D361AFD-6513-C622-73DB-D705B8A5C8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84743182-96AF-06D7-B0C8-DB4CF3196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9D842-8460-40D8-A5E6-AA917E1E1783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EA560D4-18B7-1B22-53FE-ABF950B5C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720735E-71B2-BA76-73BB-D116B9FF5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05AB7-D041-47E9-A0F9-479F97B102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2750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7791033-8B9F-F3A4-30E1-32D731F69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67E0A2B-ECD2-94BE-C7D8-47955CE8DA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0196C3D6-3A2E-DF2F-D576-49FD9D332F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8D225D26-9B17-6B4B-F54A-4232851A6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9D842-8460-40D8-A5E6-AA917E1E1783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ED3D0EE7-C1BD-AA20-634F-ABA38AC74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218BF5C1-80E9-8321-9876-43DD91104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05AB7-D041-47E9-A0F9-479F97B102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3176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A5E47FB-C600-A18F-F4A3-078708925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6554FC27-18B9-575B-9135-082E4437F4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0F808A02-A20D-173A-929E-4FE35F3419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93636AC3-A3D8-8703-0C9F-C529A95838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0CB4A47D-D2B2-57FC-586F-8569BA3DE8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017FDD85-6375-D925-FC8A-882B2B005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9D842-8460-40D8-A5E6-AA917E1E1783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37013800-223D-1AF0-625E-07BBD1238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44D7E808-7F64-EBFC-D98A-24E9A5B1C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05AB7-D041-47E9-A0F9-479F97B102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169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90A4603-ED76-D090-E551-E3BB44CFE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67BBEF2B-225A-8462-7EA1-A84DCE199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9D842-8460-40D8-A5E6-AA917E1E1783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A0EAA3AC-53FF-80F6-C334-88F9DC5EA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23395E0D-A73B-4529-40A3-6B5C432BA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05AB7-D041-47E9-A0F9-479F97B102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6728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BA52FB45-6242-2117-1B09-F0FBFFFD3A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9D842-8460-40D8-A5E6-AA917E1E1783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B2F81C19-2F1D-623F-EB13-D72526D96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94D13CD0-73D8-5DB3-B68D-9E3B42402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05AB7-D041-47E9-A0F9-479F97B102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0253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2809010-8316-70B3-B94B-50C3C5C0D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9E9A727-F5FE-5542-1DE8-F5BACA9BAF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955EC229-677D-2AFA-0868-E7D3A59437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78A19859-D4E1-2E4C-39AE-BAC9BDF2A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9D842-8460-40D8-A5E6-AA917E1E1783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E52812C7-FE20-0C3C-150B-2883FAD4F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B69083A7-3ED2-348B-EF0E-10DEE9BB4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05AB7-D041-47E9-A0F9-479F97B102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0468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274F239-02AB-B12B-2558-B702D3A9B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8A98F4F0-646B-759D-E9D2-924C1FC74F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63CA09AE-F2BA-B408-3929-F9923358DA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CFF39B3D-3791-3682-E99E-7AF698F9B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9D842-8460-40D8-A5E6-AA917E1E1783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9B235764-176E-B63C-86AB-4A1DC4A2D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3F954045-2E3C-A760-936A-99E30C6CF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05AB7-D041-47E9-A0F9-479F97B102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2864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11D93F0-D0E0-43DC-644C-6578860F1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0329DAD2-1A2C-7AF5-4DB5-DF463ACD2E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51AFF962-259C-ABC7-645A-6C44C1DEF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9D842-8460-40D8-A5E6-AA917E1E1783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D1BE31E-F9B9-E1F7-E4F5-4E26AF321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4245AA2-2429-E369-975C-E18D7D07B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05AB7-D041-47E9-A0F9-479F97B102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1629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BABFBABB-C419-446C-09A0-8B576B5FE5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ADBEF618-363D-6CB7-641C-35DB6802D0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A41B8FE-40ED-B6DA-F686-6D0F274A1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9D842-8460-40D8-A5E6-AA917E1E1783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F5B8485-4D4C-5273-D0B8-6A58CFA1E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E1F8D1D-3082-7F4C-2BF5-9E0A86482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05AB7-D041-47E9-A0F9-479F97B102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7979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E3777907-3C40-80E3-E9ED-3D8B2589D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3737AEFA-5389-21BD-D20D-56FD8719D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4CEFF706-14C6-94C4-30A5-1E01C9DF09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49D842-8460-40D8-A5E6-AA917E1E1783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C28A904F-0374-F4B0-5D81-939E2058FF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C9568128-E7B7-4959-0CE0-BECC806F48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105AB7-D041-47E9-A0F9-479F97B102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386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search?q=Cloudflare&amp;sca_esv=418f5a229d96bf3a&amp;rlz=1C1BNSD_enPK1012PK1014&amp;sxsrf=ANbL-n7TVmpbpOzy9G8qrkQuWza1u1XrTg%3A1770614679833&amp;ei=l2-JabvLMpimkdUP4fqroQ4&amp;biw=1366&amp;bih=607&amp;ved=2ahUKEwiDgMTp1cuSAxWuK_sDHSZkG0YQgK4QegQIARAC&amp;uact=5&amp;oq=cloudflare%2C+Amazon+CloudFront+in+englsih&amp;gs_lp=Egxnd3Mtd2l6LXNlcnAiKGNsb3VkZmxhcmUsIEFtYXpvbiBDbG91ZEZyb250IGluIGVuZ2xzaWgyBxAhGKABGAoyBxAhGKABGAoyBxAhGKABGApI2h1Q8gFYqhpwAXgBkAEAmAHBAqABqB-qAQYyLTE2LjG4AQPIAQD4AQGYAg6gAqUZwgIHECMYsAMYJ8ICChAAGLADGNYEGEfCAgQQIxgnwgIIEAAYgAQYogTCAgUQABjvBcICCBAAGBYYChgewgIGEAAYFhgewgILEAAYgAQYhgMYigXCAgUQIRigAcICBBAhGBWYAwCIBgGQBgmSBwgxLjAuMTIuMaAH4FKyBwYyLTEyLjG4B5kZwgcHMC40LjcuM8gHVIAIAA&amp;sclient=gws-wiz-serp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google.com/search?q=Amazon+CloudFront&amp;sca_esv=418f5a229d96bf3a&amp;rlz=1C1BNSD_enPK1012PK1014&amp;sxsrf=ANbL-n7TVmpbpOzy9G8qrkQuWza1u1XrTg%3A1770614679833&amp;ei=l2-JabvLMpimkdUP4fqroQ4&amp;biw=1366&amp;bih=607&amp;ved=2ahUKEwiDgMTp1cuSAxWuK_sDHSZkG0YQgK4QegQIARAD&amp;uact=5&amp;oq=cloudflare%2C+Amazon+CloudFront+in+englsih&amp;gs_lp=Egxnd3Mtd2l6LXNlcnAiKGNsb3VkZmxhcmUsIEFtYXpvbiBDbG91ZEZyb250IGluIGVuZ2xzaWgyBxAhGKABGAoyBxAhGKABGAoyBxAhGKABGApI2h1Q8gFYqhpwAXgBkAEAmAHBAqABqB-qAQYyLTE2LjG4AQPIAQD4AQGYAg6gAqUZwgIHECMYsAMYJ8ICChAAGLADGNYEGEfCAgQQIxgnwgIIEAAYgAQYogTCAgUQABjvBcICCBAAGBYYChgewgIGEAAYFhgewgILEAAYgAQYhgMYigXCAgUQIRigAcICBBAhGBWYAwCIBgGQBgmSBwgxLjAuMTIuMaAH4FKyBwYyLTEyLjG4B5kZwgcHMC40LjcuM8gHVIAIAA&amp;sclient=gws-wiz-serp" TargetMode="Externa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and white background">
            <a:extLst>
              <a:ext uri="{FF2B5EF4-FFF2-40B4-BE49-F238E27FC236}">
                <a16:creationId xmlns:a16="http://schemas.microsoft.com/office/drawing/2014/main" xmlns="" id="{E620304A-72F2-B9E1-67D5-D752757B0B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1096" y="0"/>
            <a:ext cx="2660904" cy="6858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150D0F1D-8918-D790-495D-69825BF9F7C3}"/>
              </a:ext>
            </a:extLst>
          </p:cNvPr>
          <p:cNvSpPr txBox="1"/>
          <p:nvPr/>
        </p:nvSpPr>
        <p:spPr>
          <a:xfrm>
            <a:off x="1421928" y="1885932"/>
            <a:ext cx="6094476" cy="20910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sym typeface="Squada One"/>
              </a:rPr>
              <a:t>CSC232 – Information Security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sym typeface="Arial"/>
            </a:endParaRPr>
          </a:p>
        </p:txBody>
      </p:sp>
      <p:pic>
        <p:nvPicPr>
          <p:cNvPr id="10" name="Picture 9" descr="A logo of a university&#10;&#10;AI-generated content may be incorrect.">
            <a:extLst>
              <a:ext uri="{FF2B5EF4-FFF2-40B4-BE49-F238E27FC236}">
                <a16:creationId xmlns:a16="http://schemas.microsoft.com/office/drawing/2014/main" xmlns="" id="{A59ACED2-421C-ED85-A559-621E26EDB9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21928" cy="142192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D01CB6F7-AB65-3E41-D4A2-116B29B5C48E}"/>
              </a:ext>
            </a:extLst>
          </p:cNvPr>
          <p:cNvSpPr txBox="1"/>
          <p:nvPr/>
        </p:nvSpPr>
        <p:spPr>
          <a:xfrm>
            <a:off x="3868245" y="5189104"/>
            <a:ext cx="6094476" cy="9941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fontAlgn="auto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kumimoji="0" lang="en-US" sz="1800" b="1" i="0" u="none" strike="noStrike" cap="none" spc="0" normalizeH="0" baseline="0" noProof="0" dirty="0" err="1" smtClean="0">
                <a:ln>
                  <a:noFill/>
                </a:ln>
                <a:effectLst/>
                <a:uLnTx/>
                <a:uFillTx/>
                <a:sym typeface="Roboto Condensed Light"/>
              </a:rPr>
              <a:t>Dr.Qurat</a:t>
            </a:r>
            <a:r>
              <a:rPr kumimoji="0" lang="en-US" sz="1800" b="1" i="0" u="none" strike="noStrike" cap="none" spc="0" normalizeH="0" baseline="0" noProof="0" dirty="0" smtClean="0">
                <a:ln>
                  <a:noFill/>
                </a:ln>
                <a:effectLst/>
                <a:uLnTx/>
                <a:uFillTx/>
                <a:sym typeface="Roboto Condensed Light"/>
              </a:rPr>
              <a:t> </a:t>
            </a:r>
            <a:r>
              <a:rPr kumimoji="0" lang="en-US" sz="1800" b="1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sym typeface="Roboto Condensed Light"/>
              </a:rPr>
              <a:t>ul Ain Alam</a:t>
            </a:r>
            <a:br>
              <a:rPr kumimoji="0" lang="en-US" sz="1800" b="1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sym typeface="Roboto Condensed Light"/>
              </a:rPr>
            </a:br>
            <a:r>
              <a:rPr kumimoji="0" lang="en-US" sz="1800" b="1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sym typeface="Roboto Condensed Light"/>
              </a:rPr>
              <a:t>Assistant Professor</a:t>
            </a:r>
            <a:br>
              <a:rPr kumimoji="0" lang="en-US" sz="1800" b="1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sym typeface="Roboto Condensed Light"/>
              </a:rPr>
            </a:br>
            <a:r>
              <a:rPr kumimoji="0" lang="en-US" sz="1800" b="1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sym typeface="Roboto Condensed Light"/>
              </a:rPr>
              <a:t>COMSATS University Islamabad</a:t>
            </a:r>
          </a:p>
        </p:txBody>
      </p:sp>
    </p:spTree>
    <p:extLst>
      <p:ext uri="{BB962C8B-B14F-4D97-AF65-F5344CB8AC3E}">
        <p14:creationId xmlns:p14="http://schemas.microsoft.com/office/powerpoint/2010/main" val="33203167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1776E3DC-D49B-26BC-7A23-20C6A9417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and white background">
            <a:extLst>
              <a:ext uri="{FF2B5EF4-FFF2-40B4-BE49-F238E27FC236}">
                <a16:creationId xmlns:a16="http://schemas.microsoft.com/office/drawing/2014/main" xmlns="" id="{6DC0CF42-9B52-139C-F6AC-A2E44ADA4B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1096" y="0"/>
            <a:ext cx="2660904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8954FAFB-5983-9F93-7019-9987C3FE77EA}"/>
              </a:ext>
            </a:extLst>
          </p:cNvPr>
          <p:cNvSpPr txBox="1"/>
          <p:nvPr/>
        </p:nvSpPr>
        <p:spPr>
          <a:xfrm>
            <a:off x="162507" y="1490008"/>
            <a:ext cx="9368589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Squada One"/>
                <a:sym typeface="Squada One"/>
              </a:rPr>
              <a:t>Introduction to Information </a:t>
            </a:r>
            <a:r>
              <a:rPr kumimoji="0" lang="en-US" sz="60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Squada One"/>
                <a:sym typeface="Squada One"/>
              </a:rPr>
              <a:t>Security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8E9EA12D-1B70-E656-2632-5654119F322C}"/>
              </a:ext>
            </a:extLst>
          </p:cNvPr>
          <p:cNvSpPr txBox="1"/>
          <p:nvPr/>
        </p:nvSpPr>
        <p:spPr>
          <a:xfrm>
            <a:off x="1426626" y="4595842"/>
            <a:ext cx="62002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>
              <a:buClr>
                <a:schemeClr val="dk1"/>
              </a:buClr>
              <a:buSzPts val="1100"/>
            </a:pPr>
            <a:r>
              <a:rPr lang="en-US" dirty="0">
                <a:latin typeface="Aptos" panose="020B0004020202020204" pitchFamily="34" charset="0"/>
              </a:rPr>
              <a:t>Understanding Key Concepts, Differences, Types, and Examples</a:t>
            </a:r>
          </a:p>
        </p:txBody>
      </p:sp>
    </p:spTree>
    <p:extLst>
      <p:ext uri="{BB962C8B-B14F-4D97-AF65-F5344CB8AC3E}">
        <p14:creationId xmlns:p14="http://schemas.microsoft.com/office/powerpoint/2010/main" val="4782713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7933AB9-AEA2-BD77-6D66-439FA6D17A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and white background">
            <a:extLst>
              <a:ext uri="{FF2B5EF4-FFF2-40B4-BE49-F238E27FC236}">
                <a16:creationId xmlns:a16="http://schemas.microsoft.com/office/drawing/2014/main" xmlns="" id="{C138DFFD-DAD8-7F6F-DB5C-89EE3C99C2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1096" y="11875"/>
            <a:ext cx="2660904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5E83A38E-E7CE-6DB6-B236-E0CBC76D1ED1}"/>
              </a:ext>
            </a:extLst>
          </p:cNvPr>
          <p:cNvSpPr txBox="1"/>
          <p:nvPr/>
        </p:nvSpPr>
        <p:spPr>
          <a:xfrm>
            <a:off x="1120301" y="1364191"/>
            <a:ext cx="70317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Squada One"/>
                <a:sym typeface="Squada One"/>
              </a:rPr>
              <a:t>What is Information Security?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F8F1052C-2DC9-EAAB-F790-8BDBB45ECB68}"/>
              </a:ext>
            </a:extLst>
          </p:cNvPr>
          <p:cNvSpPr txBox="1"/>
          <p:nvPr/>
        </p:nvSpPr>
        <p:spPr>
          <a:xfrm>
            <a:off x="973996" y="2540096"/>
            <a:ext cx="8253131" cy="2629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28650" lvl="0" indent="-285750" algn="just">
              <a:lnSpc>
                <a:spcPct val="115000"/>
              </a:lnSpc>
              <a:spcAft>
                <a:spcPts val="800"/>
              </a:spcAft>
              <a:buClr>
                <a:srgbClr val="434343"/>
              </a:buClr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sz="1800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Definition:</a:t>
            </a:r>
            <a:r>
              <a:rPr lang="en-US" sz="1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Protection of </a:t>
            </a:r>
            <a:r>
              <a:rPr lang="en-US" sz="1800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confidentiality, integrity, and availability (CIA)</a:t>
            </a:r>
            <a:r>
              <a:rPr lang="en-US" sz="1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of data.</a:t>
            </a:r>
          </a:p>
          <a:p>
            <a:pPr marL="628650" lvl="0" indent="-285750" algn="just">
              <a:lnSpc>
                <a:spcPct val="115000"/>
              </a:lnSpc>
              <a:spcAft>
                <a:spcPts val="800"/>
              </a:spcAft>
              <a:buClr>
                <a:srgbClr val="434343"/>
              </a:buClr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sz="1800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Scope:</a:t>
            </a:r>
            <a:r>
              <a:rPr lang="en-US" sz="1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Covers </a:t>
            </a:r>
            <a:r>
              <a:rPr lang="en-US" sz="1800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digital, physical, and analog</a:t>
            </a:r>
            <a:r>
              <a:rPr lang="en-US" sz="1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information (Audio cassette </a:t>
            </a:r>
            <a:r>
              <a:rPr lang="en-US" sz="1800" kern="100" dirty="0" smtClean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sound</a:t>
            </a:r>
            <a:r>
              <a:rPr lang="en-US" sz="1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</a:p>
          <a:p>
            <a:pPr marL="628650" lvl="0" indent="-285750" algn="just">
              <a:lnSpc>
                <a:spcPct val="115000"/>
              </a:lnSpc>
              <a:spcAft>
                <a:spcPts val="800"/>
              </a:spcAft>
              <a:buClr>
                <a:srgbClr val="434343"/>
              </a:buClr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sz="1800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Goal:</a:t>
            </a:r>
            <a:r>
              <a:rPr lang="en-US" sz="1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Safeguard data from unauthorized access, alteration, or destruction.</a:t>
            </a:r>
          </a:p>
          <a:p>
            <a:pPr marL="628650" lvl="0" indent="-285750" algn="just">
              <a:lnSpc>
                <a:spcPct val="115000"/>
              </a:lnSpc>
              <a:spcAft>
                <a:spcPts val="800"/>
              </a:spcAft>
              <a:buClr>
                <a:srgbClr val="434343"/>
              </a:buClr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sz="1800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Example:</a:t>
            </a:r>
            <a:r>
              <a:rPr lang="en-US" sz="1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Securing patient records in a hospital.</a:t>
            </a:r>
          </a:p>
        </p:txBody>
      </p:sp>
    </p:spTree>
    <p:extLst>
      <p:ext uri="{BB962C8B-B14F-4D97-AF65-F5344CB8AC3E}">
        <p14:creationId xmlns:p14="http://schemas.microsoft.com/office/powerpoint/2010/main" val="20588884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98E2C54-932E-0325-DBB9-DC757EF4D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and white background">
            <a:extLst>
              <a:ext uri="{FF2B5EF4-FFF2-40B4-BE49-F238E27FC236}">
                <a16:creationId xmlns:a16="http://schemas.microsoft.com/office/drawing/2014/main" xmlns="" id="{6E9585DA-3447-20E8-FF7C-72081EE8A1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1096" y="0"/>
            <a:ext cx="2660904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74E60185-588B-7345-B1FA-EC75A77F2A37}"/>
              </a:ext>
            </a:extLst>
          </p:cNvPr>
          <p:cNvSpPr txBox="1"/>
          <p:nvPr/>
        </p:nvSpPr>
        <p:spPr>
          <a:xfrm>
            <a:off x="1502824" y="1427991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Squada One"/>
                <a:sym typeface="Squada One"/>
              </a:rPr>
              <a:t>What is Cyber Security?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59FEDA51-0EAD-92A1-7AC3-2533FB70219D}"/>
              </a:ext>
            </a:extLst>
          </p:cNvPr>
          <p:cNvSpPr txBox="1"/>
          <p:nvPr/>
        </p:nvSpPr>
        <p:spPr>
          <a:xfrm>
            <a:off x="1283449" y="2498621"/>
            <a:ext cx="6534751" cy="26142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28650" lvl="0" indent="-285750" algn="just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Definition:</a:t>
            </a:r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Protection of </a:t>
            </a:r>
            <a:r>
              <a:rPr lang="en-US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internet-connected systems</a:t>
            </a:r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(hardware, software, data) from cyber threats.</a:t>
            </a:r>
          </a:p>
          <a:p>
            <a:pPr marL="628650" lvl="0" indent="-285750" algn="just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Scope:</a:t>
            </a:r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Focuses on </a:t>
            </a:r>
            <a:r>
              <a:rPr lang="en-US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digital assets</a:t>
            </a:r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only.</a:t>
            </a:r>
          </a:p>
          <a:p>
            <a:pPr marL="628650" lvl="0" indent="-285750" algn="just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Goal:</a:t>
            </a:r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Defend against attacks like hacking, malware, and ransomware.</a:t>
            </a:r>
          </a:p>
          <a:p>
            <a:pPr marL="628650" lvl="0" indent="-285750" algn="just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Example:</a:t>
            </a:r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Preventing hackers from stealing credit card data.</a:t>
            </a:r>
          </a:p>
        </p:txBody>
      </p:sp>
    </p:spTree>
    <p:extLst>
      <p:ext uri="{BB962C8B-B14F-4D97-AF65-F5344CB8AC3E}">
        <p14:creationId xmlns:p14="http://schemas.microsoft.com/office/powerpoint/2010/main" val="2115884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8E30654-285C-863A-C004-82D591499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and white background">
            <a:extLst>
              <a:ext uri="{FF2B5EF4-FFF2-40B4-BE49-F238E27FC236}">
                <a16:creationId xmlns:a16="http://schemas.microsoft.com/office/drawing/2014/main" xmlns="" id="{D9C5D312-51E3-D028-CAB1-693075222E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1096" y="0"/>
            <a:ext cx="2660904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C22FA204-98A2-1B98-B834-E6B01EB63A87}"/>
              </a:ext>
            </a:extLst>
          </p:cNvPr>
          <p:cNvSpPr txBox="1"/>
          <p:nvPr/>
        </p:nvSpPr>
        <p:spPr>
          <a:xfrm>
            <a:off x="1715715" y="831435"/>
            <a:ext cx="6753565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50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Squada One"/>
                <a:sym typeface="Squada One"/>
              </a:rPr>
              <a:t>Key Difference: Scope</a:t>
            </a:r>
            <a:endParaRPr lang="en-US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xmlns="" id="{8247D4FA-3188-E96B-B8D5-9FD6AE3DDA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6677915"/>
              </p:ext>
            </p:extLst>
          </p:nvPr>
        </p:nvGraphicFramePr>
        <p:xfrm>
          <a:off x="1715715" y="2825496"/>
          <a:ext cx="5609739" cy="3201066"/>
        </p:xfrm>
        <a:graphic>
          <a:graphicData uri="http://schemas.openxmlformats.org/drawingml/2006/table">
            <a:tbl>
              <a:tblPr firstRow="1" firstCol="1" bandRow="1">
                <a:gradFill rotWithShape="1">
                  <a:gsLst>
                    <a:gs pos="0">
                      <a:srgbClr val="78909C">
                        <a:tint val="50000"/>
                        <a:satMod val="300000"/>
                      </a:srgbClr>
                    </a:gs>
                    <a:gs pos="35000">
                      <a:srgbClr val="78909C">
                        <a:tint val="37000"/>
                        <a:satMod val="300000"/>
                      </a:srgbClr>
                    </a:gs>
                    <a:gs pos="100000">
                      <a:srgbClr val="78909C">
                        <a:tint val="15000"/>
                        <a:satMod val="350000"/>
                      </a:srgbClr>
                    </a:gs>
                  </a:gsLst>
                  <a:lin ang="16200000" scaled="1"/>
                </a:gradFill>
                <a:effectLst>
                  <a:outerShdw blurRad="40000" dist="20000" dir="5400000" rotWithShape="0">
                    <a:srgbClr val="000000">
                      <a:alpha val="38000"/>
                    </a:srgbClr>
                  </a:outerShdw>
                </a:effectLst>
              </a:tblPr>
              <a:tblGrid>
                <a:gridCol w="2573666">
                  <a:extLst>
                    <a:ext uri="{9D8B030D-6E8A-4147-A177-3AD203B41FA5}">
                      <a16:colId xmlns:a16="http://schemas.microsoft.com/office/drawing/2014/main" xmlns="" val="4175176848"/>
                    </a:ext>
                  </a:extLst>
                </a:gridCol>
                <a:gridCol w="3036073">
                  <a:extLst>
                    <a:ext uri="{9D8B030D-6E8A-4147-A177-3AD203B41FA5}">
                      <a16:colId xmlns:a16="http://schemas.microsoft.com/office/drawing/2014/main" xmlns="" val="2717200311"/>
                    </a:ext>
                  </a:extLst>
                </a:gridCol>
              </a:tblGrid>
              <a:tr h="65199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 dirty="0">
                          <a:solidFill>
                            <a:schemeClr val="tx1"/>
                          </a:solidFill>
                          <a:effectLst/>
                        </a:rPr>
                        <a:t>Information Security</a:t>
                      </a:r>
                      <a:endParaRPr lang="en-US" sz="12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86995" anchor="b">
                    <a:lnL w="9525" cap="flat" cmpd="sng" algn="ctr">
                      <a:solidFill>
                        <a:srgbClr val="78909C">
                          <a:shade val="95000"/>
                          <a:satMod val="105000"/>
                        </a:srgbClr>
                      </a:solidFill>
                      <a:prstDash val="solid"/>
                    </a:lnL>
                    <a:lnR>
                      <a:noFill/>
                    </a:lnR>
                    <a:lnT w="9525" cap="flat" cmpd="sng" algn="ctr">
                      <a:solidFill>
                        <a:srgbClr val="78909C">
                          <a:shade val="95000"/>
                          <a:satMod val="105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8909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 dirty="0">
                          <a:solidFill>
                            <a:schemeClr val="tx1"/>
                          </a:solidFill>
                          <a:effectLst/>
                        </a:rPr>
                        <a:t>Cyber Security</a:t>
                      </a:r>
                      <a:endParaRPr lang="en-US" sz="12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86995" anchor="b">
                    <a:lnL>
                      <a:noFill/>
                    </a:lnL>
                    <a:lnR w="9525" cap="flat" cmpd="sng" algn="ctr">
                      <a:solidFill>
                        <a:srgbClr val="78909C">
                          <a:shade val="95000"/>
                          <a:satMod val="105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78909C">
                          <a:shade val="95000"/>
                          <a:satMod val="105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8909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54952058"/>
                  </a:ext>
                </a:extLst>
              </a:tr>
              <a:tr h="84969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171450" marR="0" indent="-171450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en-US" sz="1200" b="0" kern="100" dirty="0">
                          <a:solidFill>
                            <a:schemeClr val="tx1"/>
                          </a:solidFill>
                          <a:effectLst/>
                        </a:rPr>
                        <a:t>Protects all data formats</a:t>
                      </a:r>
                      <a:endParaRPr lang="en-US" sz="1200" b="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86995" marB="86995" anchor="b">
                    <a:lnL w="9525" cap="flat" cmpd="sng" algn="ctr">
                      <a:solidFill>
                        <a:srgbClr val="78909C">
                          <a:shade val="95000"/>
                          <a:satMod val="105000"/>
                        </a:srgbClr>
                      </a:solidFill>
                      <a:prstDash val="solid"/>
                    </a:lnL>
                    <a:lnR w="25400" cap="flat" cmpd="sng" algn="ctr">
                      <a:solidFill>
                        <a:srgbClr val="78909C"/>
                      </a:solidFill>
                      <a:prstDash val="soli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</a:lnT>
                    <a:lnB w="9525" cap="flat" cmpd="sng" algn="ctr">
                      <a:solidFill>
                        <a:srgbClr val="78909C">
                          <a:shade val="95000"/>
                          <a:satMod val="105000"/>
                        </a:srgb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8909C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171450" marR="0" indent="-171450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en-US" sz="1200" b="0" kern="100" dirty="0">
                          <a:solidFill>
                            <a:schemeClr val="tx1"/>
                          </a:solidFill>
                          <a:effectLst/>
                        </a:rPr>
                        <a:t>Protects digital data only</a:t>
                      </a:r>
                      <a:endParaRPr lang="en-US" sz="1200" b="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86995" marB="86995" anchor="b">
                    <a:lnL w="25400" cap="flat" cmpd="sng" algn="ctr">
                      <a:solidFill>
                        <a:srgbClr val="78909C"/>
                      </a:solidFill>
                      <a:prstDash val="solid"/>
                    </a:lnL>
                    <a:lnR w="9525" cap="flat" cmpd="sng" algn="ctr">
                      <a:solidFill>
                        <a:srgbClr val="78909C">
                          <a:shade val="95000"/>
                          <a:satMod val="105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</a:lnT>
                    <a:lnB w="9525" cap="flat" cmpd="sng" algn="ctr">
                      <a:solidFill>
                        <a:srgbClr val="78909C">
                          <a:shade val="95000"/>
                          <a:satMod val="105000"/>
                        </a:srgb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8909C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507516005"/>
                  </a:ext>
                </a:extLst>
              </a:tr>
              <a:tr h="84969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171450" marR="0" indent="-171450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en-US" sz="1200" b="0" kern="100" dirty="0">
                          <a:solidFill>
                            <a:schemeClr val="tx1"/>
                          </a:solidFill>
                          <a:effectLst/>
                        </a:rPr>
                        <a:t>Includes physical security</a:t>
                      </a:r>
                      <a:endParaRPr lang="en-US" sz="1200" b="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86995" marB="86995" anchor="b">
                    <a:lnL w="9525" cap="flat" cmpd="sng" algn="ctr">
                      <a:solidFill>
                        <a:srgbClr val="78909C">
                          <a:shade val="95000"/>
                          <a:satMod val="105000"/>
                        </a:srgbClr>
                      </a:solidFill>
                      <a:prstDash val="solid"/>
                    </a:lnL>
                    <a:lnR w="25400" cap="flat" cmpd="sng" algn="ctr">
                      <a:solidFill>
                        <a:srgbClr val="78909C"/>
                      </a:solidFill>
                      <a:prstDash val="solid"/>
                    </a:lnR>
                    <a:lnT w="9525" cap="flat" cmpd="sng" algn="ctr">
                      <a:solidFill>
                        <a:srgbClr val="78909C">
                          <a:shade val="95000"/>
                          <a:satMod val="105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78909C">
                          <a:shade val="95000"/>
                          <a:satMod val="105000"/>
                        </a:srgb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171450" marR="0" indent="-171450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en-US" sz="1200" b="0" kern="100" dirty="0">
                          <a:solidFill>
                            <a:schemeClr val="tx1"/>
                          </a:solidFill>
                          <a:effectLst/>
                        </a:rPr>
                        <a:t>Excludes physical security</a:t>
                      </a:r>
                      <a:endParaRPr lang="en-US" sz="1200" b="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86995" marB="86995" anchor="b">
                    <a:lnL w="25400" cap="flat" cmpd="sng" algn="ctr">
                      <a:solidFill>
                        <a:srgbClr val="78909C"/>
                      </a:solidFill>
                      <a:prstDash val="solid"/>
                    </a:lnL>
                    <a:lnR w="9525" cap="flat" cmpd="sng" algn="ctr">
                      <a:solidFill>
                        <a:srgbClr val="78909C">
                          <a:shade val="95000"/>
                          <a:satMod val="105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78909C">
                          <a:shade val="95000"/>
                          <a:satMod val="105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78909C">
                          <a:shade val="95000"/>
                          <a:satMod val="105000"/>
                        </a:srgb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567569477"/>
                  </a:ext>
                </a:extLst>
              </a:tr>
              <a:tr h="84969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171450" marR="0" indent="-171450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en-US" sz="1200" b="0" kern="100" dirty="0">
                          <a:solidFill>
                            <a:schemeClr val="tx1"/>
                          </a:solidFill>
                          <a:effectLst/>
                        </a:rPr>
                        <a:t>Broader term</a:t>
                      </a:r>
                      <a:endParaRPr lang="en-US" sz="1200" b="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86995" marB="86995" anchor="b">
                    <a:lnL w="9525" cap="flat" cmpd="sng" algn="ctr">
                      <a:solidFill>
                        <a:srgbClr val="78909C">
                          <a:shade val="95000"/>
                          <a:satMod val="105000"/>
                        </a:srgbClr>
                      </a:solidFill>
                      <a:prstDash val="solid"/>
                    </a:lnL>
                    <a:lnR w="25400" cap="flat" cmpd="sng" algn="ctr">
                      <a:solidFill>
                        <a:srgbClr val="78909C"/>
                      </a:solidFill>
                      <a:prstDash val="solid"/>
                    </a:lnR>
                    <a:lnT w="9525" cap="flat" cmpd="sng" algn="ctr">
                      <a:solidFill>
                        <a:srgbClr val="78909C">
                          <a:shade val="95000"/>
                          <a:satMod val="105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78909C">
                          <a:shade val="95000"/>
                          <a:satMod val="105000"/>
                        </a:srgb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8909C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171450" marR="0" indent="-171450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en-US" sz="1200" b="0" kern="100" dirty="0">
                          <a:solidFill>
                            <a:schemeClr val="tx1"/>
                          </a:solidFill>
                          <a:effectLst/>
                        </a:rPr>
                        <a:t>Subset of Information Security</a:t>
                      </a:r>
                      <a:endParaRPr lang="en-US" sz="1200" b="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86995" marB="86995" anchor="b">
                    <a:lnL w="25400" cap="flat" cmpd="sng" algn="ctr">
                      <a:solidFill>
                        <a:srgbClr val="78909C"/>
                      </a:solidFill>
                      <a:prstDash val="solid"/>
                    </a:lnL>
                    <a:lnR w="9525" cap="flat" cmpd="sng" algn="ctr">
                      <a:solidFill>
                        <a:srgbClr val="78909C">
                          <a:shade val="95000"/>
                          <a:satMod val="105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78909C">
                          <a:shade val="95000"/>
                          <a:satMod val="105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78909C">
                          <a:shade val="95000"/>
                          <a:satMod val="105000"/>
                        </a:srgb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8909C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5379224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75885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1C59D25B-A723-3081-5A43-0C3053A47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and white background">
            <a:extLst>
              <a:ext uri="{FF2B5EF4-FFF2-40B4-BE49-F238E27FC236}">
                <a16:creationId xmlns:a16="http://schemas.microsoft.com/office/drawing/2014/main" xmlns="" id="{71ADBF28-4868-CA98-D65F-42E8A3B64E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1096" y="0"/>
            <a:ext cx="2660904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E109C5D4-C457-20C2-3274-298AC2A50288}"/>
              </a:ext>
            </a:extLst>
          </p:cNvPr>
          <p:cNvSpPr txBox="1"/>
          <p:nvPr/>
        </p:nvSpPr>
        <p:spPr>
          <a:xfrm>
            <a:off x="1540042" y="692350"/>
            <a:ext cx="60960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50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Squada One"/>
                <a:sym typeface="Squada One"/>
              </a:rPr>
              <a:t>Key Difference: Focus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A9DBB7AA-4EEE-EFB6-B00A-0E723F550474}"/>
              </a:ext>
            </a:extLst>
          </p:cNvPr>
          <p:cNvSpPr txBox="1"/>
          <p:nvPr/>
        </p:nvSpPr>
        <p:spPr>
          <a:xfrm>
            <a:off x="1540042" y="2693944"/>
            <a:ext cx="6096000" cy="2793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just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Information Security:</a:t>
            </a:r>
            <a:endParaRPr lang="en-US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914400" algn="l"/>
              </a:tabLst>
            </a:pPr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Focus: </a:t>
            </a:r>
            <a:r>
              <a:rPr lang="en-US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Data lifecycle</a:t>
            </a:r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(creation, storage, deletion).</a:t>
            </a:r>
          </a:p>
          <a:p>
            <a:pPr marL="742950" lvl="1" indent="-285750" algn="just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914400" algn="l"/>
              </a:tabLst>
            </a:pPr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Example: Locking a filing cabinet with sensitive documents.</a:t>
            </a:r>
          </a:p>
          <a:p>
            <a:pPr marL="0" lvl="0" indent="0" algn="just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Cyber Security:</a:t>
            </a:r>
            <a:endParaRPr lang="en-US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914400" algn="l"/>
              </a:tabLst>
            </a:pPr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Focus: </a:t>
            </a:r>
            <a:r>
              <a:rPr lang="en-US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Networks, devices, and online threats</a:t>
            </a:r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Example: Installing firewalls to block hackers.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41474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528D32C-F887-BF3C-CB5D-D070FBFF6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and white background">
            <a:extLst>
              <a:ext uri="{FF2B5EF4-FFF2-40B4-BE49-F238E27FC236}">
                <a16:creationId xmlns:a16="http://schemas.microsoft.com/office/drawing/2014/main" xmlns="" id="{1E1D8A30-7430-C69B-0186-34ED454763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1096" y="0"/>
            <a:ext cx="2660904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1A219919-AA1C-AC2B-623F-98100EFC18DB}"/>
              </a:ext>
            </a:extLst>
          </p:cNvPr>
          <p:cNvSpPr txBox="1"/>
          <p:nvPr/>
        </p:nvSpPr>
        <p:spPr>
          <a:xfrm>
            <a:off x="3253018" y="164696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Squada One"/>
                <a:sym typeface="Squada One"/>
              </a:rPr>
              <a:t>Analogy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581EAE86-0FA2-BB8C-BE7F-C3ED2CC93716}"/>
              </a:ext>
            </a:extLst>
          </p:cNvPr>
          <p:cNvSpPr txBox="1"/>
          <p:nvPr/>
        </p:nvSpPr>
        <p:spPr>
          <a:xfrm>
            <a:off x="1973179" y="2892519"/>
            <a:ext cx="6096000" cy="15560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US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Information Security = Protecting a House:</a:t>
            </a:r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b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Locks (physical), safes (data), alarm systems (cyber).</a:t>
            </a:r>
          </a:p>
          <a:p>
            <a:pPr marL="285750" lvl="0" indent="-28575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US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Cyber Security = Alarm System: </a:t>
            </a:r>
          </a:p>
          <a:p>
            <a:pPr lvl="0"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US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     </a:t>
            </a:r>
            <a:r>
              <a:rPr lang="en-US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Only protects against digital intrusions (e.g., hackers).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24307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591B9FD-D61F-F9FD-3BBA-5A777F1A9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and white background">
            <a:extLst>
              <a:ext uri="{FF2B5EF4-FFF2-40B4-BE49-F238E27FC236}">
                <a16:creationId xmlns:a16="http://schemas.microsoft.com/office/drawing/2014/main" xmlns="" id="{38799563-7C47-6FE3-6BA6-14657DF470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1096" y="0"/>
            <a:ext cx="2660904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F8E8547A-7A24-98DF-CFE3-9EF9E3664BDA}"/>
              </a:ext>
            </a:extLst>
          </p:cNvPr>
          <p:cNvSpPr txBox="1"/>
          <p:nvPr/>
        </p:nvSpPr>
        <p:spPr>
          <a:xfrm>
            <a:off x="1475873" y="506741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Squada One"/>
                <a:sym typeface="Squada One"/>
              </a:rPr>
              <a:t>Types of Information Security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938386F9-AB68-D532-6970-895F885D98A2}"/>
              </a:ext>
            </a:extLst>
          </p:cNvPr>
          <p:cNvSpPr txBox="1"/>
          <p:nvPr/>
        </p:nvSpPr>
        <p:spPr>
          <a:xfrm>
            <a:off x="1475873" y="2098316"/>
            <a:ext cx="6096000" cy="3343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just"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US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1.	Application Security</a:t>
            </a:r>
          </a:p>
          <a:p>
            <a:pPr marL="0" lvl="0" indent="0" algn="just"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US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2.	Network Security</a:t>
            </a:r>
          </a:p>
          <a:p>
            <a:pPr marL="0" lvl="0" indent="0" algn="just"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US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3.	Cloud Security</a:t>
            </a:r>
          </a:p>
          <a:p>
            <a:pPr marL="0" lvl="0" indent="0" algn="just"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US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4.	IoT Security</a:t>
            </a:r>
          </a:p>
          <a:p>
            <a:pPr marL="0" lvl="0" indent="0" algn="just"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US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5.	Operational Security (OPSEC)</a:t>
            </a:r>
          </a:p>
          <a:p>
            <a:pPr marL="0" lvl="0" indent="0" algn="just"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US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6.	Disaster Recovery</a:t>
            </a:r>
          </a:p>
          <a:p>
            <a:pPr marL="0" lvl="0" indent="0" algn="just"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US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7.	Cryptography</a:t>
            </a:r>
          </a:p>
          <a:p>
            <a:pPr marL="0" lvl="0" indent="0" algn="just"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US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8.	Physical Security</a:t>
            </a:r>
          </a:p>
        </p:txBody>
      </p:sp>
    </p:spTree>
    <p:extLst>
      <p:ext uri="{BB962C8B-B14F-4D97-AF65-F5344CB8AC3E}">
        <p14:creationId xmlns:p14="http://schemas.microsoft.com/office/powerpoint/2010/main" val="11905726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14792439-B014-82D0-BBF2-9E10F511A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and white background">
            <a:extLst>
              <a:ext uri="{FF2B5EF4-FFF2-40B4-BE49-F238E27FC236}">
                <a16:creationId xmlns:a16="http://schemas.microsoft.com/office/drawing/2014/main" xmlns="" id="{AEF9793D-5FD5-8168-5E20-1F51B60D71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1096" y="0"/>
            <a:ext cx="2660904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ED6E5FDB-0446-C578-CE6F-F90C2FB4C447}"/>
              </a:ext>
            </a:extLst>
          </p:cNvPr>
          <p:cNvSpPr txBox="1"/>
          <p:nvPr/>
        </p:nvSpPr>
        <p:spPr>
          <a:xfrm>
            <a:off x="1390690" y="1515147"/>
            <a:ext cx="67657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Squada One"/>
                <a:sym typeface="Squada One"/>
              </a:rPr>
              <a:t>Type 1: Application Security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A1556A37-1D53-042C-4D41-4C1FBBD58435}"/>
              </a:ext>
            </a:extLst>
          </p:cNvPr>
          <p:cNvSpPr txBox="1"/>
          <p:nvPr/>
        </p:nvSpPr>
        <p:spPr>
          <a:xfrm>
            <a:off x="1615920" y="2650998"/>
            <a:ext cx="6765757" cy="12374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lvl="0" indent="-342900" algn="just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What: Securing software/applications from threats.</a:t>
            </a:r>
          </a:p>
          <a:p>
            <a:pPr marL="685800" lvl="0" indent="-342900" algn="just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How: Code reviews, penetration testing, updates.</a:t>
            </a:r>
          </a:p>
          <a:p>
            <a:pPr marL="685800" lvl="0" indent="-342900" algn="just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Example: Fixing bugs in a banking app to prevent data leaks.</a:t>
            </a:r>
          </a:p>
        </p:txBody>
      </p:sp>
    </p:spTree>
    <p:extLst>
      <p:ext uri="{BB962C8B-B14F-4D97-AF65-F5344CB8AC3E}">
        <p14:creationId xmlns:p14="http://schemas.microsoft.com/office/powerpoint/2010/main" val="18405408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75576E2-515E-CD24-86BB-F52B23BD6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and white background">
            <a:extLst>
              <a:ext uri="{FF2B5EF4-FFF2-40B4-BE49-F238E27FC236}">
                <a16:creationId xmlns:a16="http://schemas.microsoft.com/office/drawing/2014/main" xmlns="" id="{1212BF02-1E1C-9DC8-CED2-5AC0892BEF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1096" y="0"/>
            <a:ext cx="2660904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57CF6B59-F65D-AC08-88D5-802F394A8070}"/>
              </a:ext>
            </a:extLst>
          </p:cNvPr>
          <p:cNvSpPr txBox="1"/>
          <p:nvPr/>
        </p:nvSpPr>
        <p:spPr>
          <a:xfrm>
            <a:off x="1704634" y="168867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Squada One"/>
                <a:sym typeface="Squada One"/>
              </a:rPr>
              <a:t>Type 2: Network Security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D2844726-C092-E636-F6B0-DC386FB125A6}"/>
              </a:ext>
            </a:extLst>
          </p:cNvPr>
          <p:cNvSpPr txBox="1"/>
          <p:nvPr/>
        </p:nvSpPr>
        <p:spPr>
          <a:xfrm>
            <a:off x="1587366" y="2335006"/>
            <a:ext cx="7053714" cy="1658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28650" lvl="0" indent="-285750" algn="just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§"/>
              <a:tabLst>
                <a:tab pos="457200" algn="l"/>
              </a:tabLst>
            </a:pPr>
            <a:endParaRPr lang="en-US" dirty="0">
              <a:latin typeface="Aptos" panose="020B0004020202020204" pitchFamily="34" charset="0"/>
            </a:endParaRPr>
          </a:p>
          <a:p>
            <a:pPr marL="628650" lvl="0" indent="-285750" algn="just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US" dirty="0">
                <a:latin typeface="Aptos" panose="020B0004020202020204" pitchFamily="34" charset="0"/>
              </a:rPr>
              <a:t>What: Protecting computer networks from intruders.</a:t>
            </a:r>
          </a:p>
          <a:p>
            <a:pPr marL="628650" lvl="0" indent="-285750" algn="just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US" dirty="0">
                <a:latin typeface="Aptos" panose="020B0004020202020204" pitchFamily="34" charset="0"/>
              </a:rPr>
              <a:t>How: Firewalls, VPNs, intrusion detection systems (IDS).</a:t>
            </a:r>
          </a:p>
          <a:p>
            <a:pPr marL="628650" lvl="0" indent="-285750" algn="just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US" dirty="0">
                <a:latin typeface="Aptos" panose="020B0004020202020204" pitchFamily="34" charset="0"/>
              </a:rPr>
              <a:t>Example: Blocking unauthorized access to a company’s Wi-Fi.</a:t>
            </a:r>
          </a:p>
        </p:txBody>
      </p:sp>
    </p:spTree>
    <p:extLst>
      <p:ext uri="{BB962C8B-B14F-4D97-AF65-F5344CB8AC3E}">
        <p14:creationId xmlns:p14="http://schemas.microsoft.com/office/powerpoint/2010/main" val="41953633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E1C901B-B896-42F5-C81F-99DD87BAB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and white background">
            <a:extLst>
              <a:ext uri="{FF2B5EF4-FFF2-40B4-BE49-F238E27FC236}">
                <a16:creationId xmlns:a16="http://schemas.microsoft.com/office/drawing/2014/main" xmlns="" id="{E3472AA2-E54D-5B31-F13E-92BE442422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1096" y="0"/>
            <a:ext cx="2660904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0373E133-B70A-5435-BE43-54878981D844}"/>
              </a:ext>
            </a:extLst>
          </p:cNvPr>
          <p:cNvSpPr txBox="1"/>
          <p:nvPr/>
        </p:nvSpPr>
        <p:spPr>
          <a:xfrm>
            <a:off x="1827758" y="1683701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Squada One"/>
                <a:sym typeface="Squada One"/>
              </a:rPr>
              <a:t>Type 3: Cloud Security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94070FE3-5B40-D8CB-E455-B3D74A2A49DA}"/>
              </a:ext>
            </a:extLst>
          </p:cNvPr>
          <p:cNvSpPr txBox="1"/>
          <p:nvPr/>
        </p:nvSpPr>
        <p:spPr>
          <a:xfrm>
            <a:off x="1537154" y="2747756"/>
            <a:ext cx="7414821" cy="15560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28650" lvl="0" indent="-285750" algn="just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US" dirty="0">
                <a:latin typeface="Aptos" panose="020B0004020202020204" pitchFamily="34" charset="0"/>
              </a:rPr>
              <a:t>What: Securing data stored in cloud services (Amazon AWS, Microsoft Azure).</a:t>
            </a:r>
          </a:p>
          <a:p>
            <a:pPr marL="628650" lvl="0" indent="-285750" algn="just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US" dirty="0">
                <a:latin typeface="Aptos" panose="020B0004020202020204" pitchFamily="34" charset="0"/>
              </a:rPr>
              <a:t>How: Encryption, access controls, monitoring.</a:t>
            </a:r>
          </a:p>
          <a:p>
            <a:pPr marL="628650" lvl="0" indent="-285750" algn="just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US" dirty="0">
                <a:latin typeface="Aptos" panose="020B0004020202020204" pitchFamily="34" charset="0"/>
              </a:rPr>
              <a:t>Example: Encrypting files on Google Drive, </a:t>
            </a:r>
            <a:r>
              <a:rPr lang="en-US" dirty="0" err="1">
                <a:latin typeface="Aptos" panose="020B0004020202020204" pitchFamily="34" charset="0"/>
              </a:rPr>
              <a:t>onedrive</a:t>
            </a:r>
            <a:r>
              <a:rPr lang="en-US" dirty="0">
                <a:latin typeface="Aptos" panose="020B0004020202020204" pitchFamily="34" charset="0"/>
              </a:rPr>
              <a:t> of Microsoft</a:t>
            </a:r>
          </a:p>
        </p:txBody>
      </p:sp>
    </p:spTree>
    <p:extLst>
      <p:ext uri="{BB962C8B-B14F-4D97-AF65-F5344CB8AC3E}">
        <p14:creationId xmlns:p14="http://schemas.microsoft.com/office/powerpoint/2010/main" val="35306339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D92B7ED-A524-5761-9F0A-CB0E0822A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and white background">
            <a:extLst>
              <a:ext uri="{FF2B5EF4-FFF2-40B4-BE49-F238E27FC236}">
                <a16:creationId xmlns:a16="http://schemas.microsoft.com/office/drawing/2014/main" xmlns="" id="{B62A4D75-87DA-EE2E-762B-CD6F847020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1096" y="0"/>
            <a:ext cx="2660904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C109FEBE-EBA0-2330-93D4-2F249812F147}"/>
              </a:ext>
            </a:extLst>
          </p:cNvPr>
          <p:cNvSpPr txBox="1"/>
          <p:nvPr/>
        </p:nvSpPr>
        <p:spPr>
          <a:xfrm>
            <a:off x="1780673" y="222266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Squada One"/>
                <a:sym typeface="Squada One"/>
              </a:rPr>
              <a:t>Type 4: IoT Security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A572274B-0AD7-B92A-5F81-C3FB977246AB}"/>
              </a:ext>
            </a:extLst>
          </p:cNvPr>
          <p:cNvSpPr txBox="1"/>
          <p:nvPr/>
        </p:nvSpPr>
        <p:spPr>
          <a:xfrm>
            <a:off x="1540040" y="980892"/>
            <a:ext cx="7668127" cy="6620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algn="just"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US" sz="1800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What:</a:t>
            </a:r>
            <a:r>
              <a:rPr lang="en-US" sz="1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Protecting internet-connected devices (smart home, wearables, smartwatch).</a:t>
            </a:r>
          </a:p>
          <a:p>
            <a:pPr marL="342900" lvl="0" algn="just"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US" sz="1800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How:</a:t>
            </a:r>
            <a:r>
              <a:rPr lang="en-US" sz="1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Strong passwords, firmware updates.</a:t>
            </a:r>
          </a:p>
          <a:p>
            <a:pPr marL="342900" lvl="0" algn="just"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US" sz="1800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Example:</a:t>
            </a:r>
            <a:r>
              <a:rPr lang="en-US" sz="1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Securing a smart thermostat from hackers.</a:t>
            </a:r>
          </a:p>
          <a:p>
            <a:pPr marL="0" lvl="0" indent="0" algn="l"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US" sz="1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 smart thermostat is a device that automatically controls a home’s temperature (AC or heater) and can be operated through a mobile app or the internet.</a:t>
            </a:r>
          </a:p>
          <a:p>
            <a:pPr marL="0" lvl="0" indent="0" algn="l"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US" sz="1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 smart home is a house where devices and appliances are controlled via the internet or automation. </a:t>
            </a:r>
          </a:p>
          <a:p>
            <a:pPr marL="0" lvl="0" indent="0" algn="l"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US" sz="1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Examples:</a:t>
            </a:r>
          </a:p>
          <a:p>
            <a:pPr marL="0" lvl="0" indent="0" algn="l"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US" sz="1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•	Smart lights</a:t>
            </a:r>
          </a:p>
          <a:p>
            <a:pPr marL="0" lvl="0" indent="0" algn="l"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US" sz="1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•	Smart thermostat</a:t>
            </a:r>
          </a:p>
          <a:p>
            <a:pPr marL="0" lvl="0" indent="0" algn="l"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US" sz="1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•	Smart security cameras</a:t>
            </a:r>
          </a:p>
          <a:p>
            <a:pPr marL="0" lvl="0" indent="0" algn="l"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US" sz="1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•	Smart door locks</a:t>
            </a:r>
          </a:p>
          <a:p>
            <a:pPr marL="0" lvl="0" indent="0" algn="l"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US" sz="1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They are used for convenience, energy efficiency, and security.</a:t>
            </a:r>
          </a:p>
          <a:p>
            <a:pPr marL="0" lvl="0" indent="0" algn="l"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US" sz="1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/>
            </a:r>
            <a:br>
              <a:rPr lang="en-US" sz="1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en-US" sz="18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14916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967C2E6-333C-C971-D952-7F836C832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and white background">
            <a:extLst>
              <a:ext uri="{FF2B5EF4-FFF2-40B4-BE49-F238E27FC236}">
                <a16:creationId xmlns:a16="http://schemas.microsoft.com/office/drawing/2014/main" xmlns="" id="{E3933E9B-5DE5-2F8F-6738-00BEC74B4E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1096" y="0"/>
            <a:ext cx="2660904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DE4AD586-59D4-1082-5F6E-ED3A39DD2DE5}"/>
              </a:ext>
            </a:extLst>
          </p:cNvPr>
          <p:cNvSpPr txBox="1"/>
          <p:nvPr/>
        </p:nvSpPr>
        <p:spPr>
          <a:xfrm>
            <a:off x="1732387" y="2229857"/>
            <a:ext cx="6096000" cy="2398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just"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US" dirty="0">
                <a:latin typeface="Aptos" panose="020B0004020202020204" pitchFamily="34" charset="0"/>
              </a:rPr>
              <a:t>Operational Security (</a:t>
            </a:r>
            <a:r>
              <a:rPr lang="en-US" dirty="0" err="1">
                <a:latin typeface="Aptos" panose="020B0004020202020204" pitchFamily="34" charset="0"/>
              </a:rPr>
              <a:t>OpSec</a:t>
            </a:r>
            <a:r>
              <a:rPr lang="en-US" dirty="0">
                <a:latin typeface="Aptos" panose="020B0004020202020204" pitchFamily="34" charset="0"/>
              </a:rPr>
              <a:t>) means protecting sensitive information so that adversaries or hackers cannot misuse it. </a:t>
            </a:r>
          </a:p>
          <a:p>
            <a:pPr marL="0" lvl="0" indent="0" algn="just"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US" dirty="0">
                <a:latin typeface="Aptos" panose="020B0004020202020204" pitchFamily="34" charset="0"/>
              </a:rPr>
              <a:t>Short examples:</a:t>
            </a:r>
          </a:p>
          <a:p>
            <a:pPr marL="628650" lvl="0" indent="-285750" algn="just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US" dirty="0">
                <a:latin typeface="Aptos" panose="020B0004020202020204" pitchFamily="34" charset="0"/>
              </a:rPr>
              <a:t>Employees not sharing passwords</a:t>
            </a:r>
          </a:p>
          <a:p>
            <a:pPr marL="628650" lvl="0" indent="-285750" algn="just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US" dirty="0">
                <a:latin typeface="Aptos" panose="020B0004020202020204" pitchFamily="34" charset="0"/>
              </a:rPr>
              <a:t>Keeping confidential documents in secure storage</a:t>
            </a:r>
          </a:p>
          <a:p>
            <a:pPr marL="628650" lvl="0" indent="-285750" algn="just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US" dirty="0">
                <a:latin typeface="Aptos" panose="020B0004020202020204" pitchFamily="34" charset="0"/>
              </a:rPr>
              <a:t>Avoiding posting sensitive info on social media</a:t>
            </a:r>
          </a:p>
        </p:txBody>
      </p:sp>
    </p:spTree>
    <p:extLst>
      <p:ext uri="{BB962C8B-B14F-4D97-AF65-F5344CB8AC3E}">
        <p14:creationId xmlns:p14="http://schemas.microsoft.com/office/powerpoint/2010/main" val="18005202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5F87764-A25F-0927-6CE4-E5951ACB1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and white background">
            <a:extLst>
              <a:ext uri="{FF2B5EF4-FFF2-40B4-BE49-F238E27FC236}">
                <a16:creationId xmlns:a16="http://schemas.microsoft.com/office/drawing/2014/main" xmlns="" id="{E5140797-0185-D1B2-19B7-3BD3B9CAFC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1096" y="0"/>
            <a:ext cx="2660904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D694FCD4-83EA-A3B7-BA6B-CB3C3ADA880A}"/>
              </a:ext>
            </a:extLst>
          </p:cNvPr>
          <p:cNvSpPr txBox="1"/>
          <p:nvPr/>
        </p:nvSpPr>
        <p:spPr>
          <a:xfrm>
            <a:off x="1767198" y="1492689"/>
            <a:ext cx="712077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Squada One"/>
                <a:sym typeface="Squada One"/>
              </a:rPr>
              <a:t>Type 5: Operational Security (OPSEC)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57D7ACE3-E4AB-3DB7-C609-481D7B58F6E1}"/>
              </a:ext>
            </a:extLst>
          </p:cNvPr>
          <p:cNvSpPr txBox="1"/>
          <p:nvPr/>
        </p:nvSpPr>
        <p:spPr>
          <a:xfrm>
            <a:off x="1638220" y="3117342"/>
            <a:ext cx="6975428" cy="15560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28650" lvl="0" indent="-285750" algn="just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US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What:</a:t>
            </a:r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Protecting sensitive processes and data.</a:t>
            </a:r>
          </a:p>
          <a:p>
            <a:pPr marL="628650" lvl="0" indent="-285750" algn="just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US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How:</a:t>
            </a:r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Employee training, access logs.</a:t>
            </a:r>
          </a:p>
          <a:p>
            <a:pPr marL="628650" lvl="0" indent="-285750" algn="just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US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Example:</a:t>
            </a:r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Limiting who knows the master password for a system.</a:t>
            </a:r>
          </a:p>
        </p:txBody>
      </p:sp>
    </p:spTree>
    <p:extLst>
      <p:ext uri="{BB962C8B-B14F-4D97-AF65-F5344CB8AC3E}">
        <p14:creationId xmlns:p14="http://schemas.microsoft.com/office/powerpoint/2010/main" val="23993048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1A2A0D45-37EA-3DD7-E9A7-360CAC101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and white background">
            <a:extLst>
              <a:ext uri="{FF2B5EF4-FFF2-40B4-BE49-F238E27FC236}">
                <a16:creationId xmlns:a16="http://schemas.microsoft.com/office/drawing/2014/main" xmlns="" id="{8C352E83-79EE-1993-D1F8-7696C1CA99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1096" y="0"/>
            <a:ext cx="2660904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A29849D3-A0E9-FC05-6658-93C7B8A933DB}"/>
              </a:ext>
            </a:extLst>
          </p:cNvPr>
          <p:cNvSpPr txBox="1"/>
          <p:nvPr/>
        </p:nvSpPr>
        <p:spPr>
          <a:xfrm>
            <a:off x="1591858" y="1827921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Squada One"/>
                <a:sym typeface="Squada One"/>
              </a:rPr>
              <a:t>Type 6: Disaster Recovery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048455F9-6132-EF04-7A73-FB54867D44B2}"/>
              </a:ext>
            </a:extLst>
          </p:cNvPr>
          <p:cNvSpPr txBox="1"/>
          <p:nvPr/>
        </p:nvSpPr>
        <p:spPr>
          <a:xfrm>
            <a:off x="1591858" y="2961757"/>
            <a:ext cx="7122374" cy="15560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28650" lvl="0" indent="-285750" algn="just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US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What:</a:t>
            </a:r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Restoring data after a breach/natural disaster.</a:t>
            </a:r>
          </a:p>
          <a:p>
            <a:pPr marL="628650" lvl="0" indent="-285750" algn="just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US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How:</a:t>
            </a:r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Backups, failover systems (Automatic backup system that activates when the main system fails.)</a:t>
            </a:r>
          </a:p>
          <a:p>
            <a:pPr marL="628650" lvl="0" indent="-285750" algn="just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US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Example:</a:t>
            </a:r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Recovering customer data after a ransomware attack.</a:t>
            </a:r>
          </a:p>
        </p:txBody>
      </p:sp>
    </p:spTree>
    <p:extLst>
      <p:ext uri="{BB962C8B-B14F-4D97-AF65-F5344CB8AC3E}">
        <p14:creationId xmlns:p14="http://schemas.microsoft.com/office/powerpoint/2010/main" val="32877242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E8A9115-CBB4-8EF2-8823-A9242486C7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and white background">
            <a:extLst>
              <a:ext uri="{FF2B5EF4-FFF2-40B4-BE49-F238E27FC236}">
                <a16:creationId xmlns:a16="http://schemas.microsoft.com/office/drawing/2014/main" xmlns="" id="{7AB564BE-87AF-3033-C6C6-FB8024447E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1096" y="0"/>
            <a:ext cx="2660904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B0E1E5FF-6C5D-92B6-C784-D1B7C34219E4}"/>
              </a:ext>
            </a:extLst>
          </p:cNvPr>
          <p:cNvSpPr txBox="1"/>
          <p:nvPr/>
        </p:nvSpPr>
        <p:spPr>
          <a:xfrm>
            <a:off x="2208998" y="174450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Squada One"/>
                <a:sym typeface="Squada One"/>
              </a:rPr>
              <a:t>Type 7: Cryptography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01ECC9C1-7E3C-6BF9-B2C1-88ED14D34B00}"/>
              </a:ext>
            </a:extLst>
          </p:cNvPr>
          <p:cNvSpPr txBox="1"/>
          <p:nvPr/>
        </p:nvSpPr>
        <p:spPr>
          <a:xfrm>
            <a:off x="2104724" y="2911165"/>
            <a:ext cx="6655228" cy="12374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28650" lvl="0" indent="-285750" algn="just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US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What:</a:t>
            </a:r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Encrypting data to make it unreadable without a key.</a:t>
            </a:r>
          </a:p>
          <a:p>
            <a:pPr marL="628650" lvl="0" indent="-285750" algn="just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US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How:</a:t>
            </a:r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AES, RSA algorithms.</a:t>
            </a:r>
          </a:p>
          <a:p>
            <a:pPr marL="628650" lvl="0" indent="-285750" algn="just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US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Example:</a:t>
            </a:r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Encrypting messages on WhatsApp.</a:t>
            </a:r>
          </a:p>
        </p:txBody>
      </p:sp>
    </p:spTree>
    <p:extLst>
      <p:ext uri="{BB962C8B-B14F-4D97-AF65-F5344CB8AC3E}">
        <p14:creationId xmlns:p14="http://schemas.microsoft.com/office/powerpoint/2010/main" val="4222356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2F24B85-0DD9-B91D-467E-2F8096D96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and white background">
            <a:extLst>
              <a:ext uri="{FF2B5EF4-FFF2-40B4-BE49-F238E27FC236}">
                <a16:creationId xmlns:a16="http://schemas.microsoft.com/office/drawing/2014/main" xmlns="" id="{C4BA9602-4BC4-1888-24CF-685AC0ECB9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1096" y="0"/>
            <a:ext cx="2660904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0BA98373-B866-E280-103B-29944C291EF2}"/>
              </a:ext>
            </a:extLst>
          </p:cNvPr>
          <p:cNvSpPr txBox="1"/>
          <p:nvPr/>
        </p:nvSpPr>
        <p:spPr>
          <a:xfrm>
            <a:off x="1796716" y="2089086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Squada One"/>
                <a:sym typeface="Squada One"/>
              </a:rPr>
              <a:t>Type 8: Physical Security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651F44BE-4DBB-95D5-B444-A4BB28924093}"/>
              </a:ext>
            </a:extLst>
          </p:cNvPr>
          <p:cNvSpPr txBox="1"/>
          <p:nvPr/>
        </p:nvSpPr>
        <p:spPr>
          <a:xfrm>
            <a:off x="1796716" y="3224801"/>
            <a:ext cx="6096000" cy="12374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28650" lvl="0" indent="-285750" algn="just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US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What:</a:t>
            </a:r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Protecting physical assets (servers, buildings).</a:t>
            </a:r>
          </a:p>
          <a:p>
            <a:pPr marL="628650" lvl="0" indent="-285750" algn="just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US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How:</a:t>
            </a:r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Locks, surveillance, biometric access.</a:t>
            </a:r>
          </a:p>
          <a:p>
            <a:pPr marL="628650" lvl="0" indent="-285750" algn="just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US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Example:</a:t>
            </a:r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Server room with fingerprint scanners.</a:t>
            </a:r>
          </a:p>
        </p:txBody>
      </p:sp>
    </p:spTree>
    <p:extLst>
      <p:ext uri="{BB962C8B-B14F-4D97-AF65-F5344CB8AC3E}">
        <p14:creationId xmlns:p14="http://schemas.microsoft.com/office/powerpoint/2010/main" val="11771373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44AEDD8-4953-45F3-6DA5-D4CF1464E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and white background">
            <a:extLst>
              <a:ext uri="{FF2B5EF4-FFF2-40B4-BE49-F238E27FC236}">
                <a16:creationId xmlns:a16="http://schemas.microsoft.com/office/drawing/2014/main" xmlns="" id="{AC152B93-4C72-98DE-9FDB-0D86790DEC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1096" y="0"/>
            <a:ext cx="2660904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672A3740-895A-74A9-1764-576B6CF45E76}"/>
              </a:ext>
            </a:extLst>
          </p:cNvPr>
          <p:cNvSpPr txBox="1"/>
          <p:nvPr/>
        </p:nvSpPr>
        <p:spPr>
          <a:xfrm>
            <a:off x="1709928" y="1930799"/>
            <a:ext cx="680843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Squada One"/>
                <a:sym typeface="Squada One"/>
              </a:rPr>
              <a:t>Real-World Example 1: Phishing Attack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9BE266D9-A73B-5D71-C535-397171255847}"/>
              </a:ext>
            </a:extLst>
          </p:cNvPr>
          <p:cNvSpPr txBox="1"/>
          <p:nvPr/>
        </p:nvSpPr>
        <p:spPr>
          <a:xfrm>
            <a:off x="1486301" y="3575826"/>
            <a:ext cx="7255684" cy="1253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28650" lvl="0" indent="-285750" algn="just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US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What:</a:t>
            </a:r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Fake emails tricking users into revealing passwords.</a:t>
            </a:r>
          </a:p>
          <a:p>
            <a:pPr marL="628650" lvl="0" indent="-285750" algn="just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US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Impact:</a:t>
            </a:r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Stolen credentials (e.g., 2020 </a:t>
            </a:r>
            <a:r>
              <a:rPr lang="en-US" kern="100" dirty="0" smtClean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Twitter </a:t>
            </a:r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hack).</a:t>
            </a:r>
          </a:p>
          <a:p>
            <a:pPr marL="628650" lvl="0" indent="-285750" algn="just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US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Defense:</a:t>
            </a:r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Employee training, spam filters.</a:t>
            </a:r>
          </a:p>
        </p:txBody>
      </p:sp>
    </p:spTree>
    <p:extLst>
      <p:ext uri="{BB962C8B-B14F-4D97-AF65-F5344CB8AC3E}">
        <p14:creationId xmlns:p14="http://schemas.microsoft.com/office/powerpoint/2010/main" val="34149230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892BA88-738F-770A-41AF-27AC3D4DB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and white background">
            <a:extLst>
              <a:ext uri="{FF2B5EF4-FFF2-40B4-BE49-F238E27FC236}">
                <a16:creationId xmlns:a16="http://schemas.microsoft.com/office/drawing/2014/main" xmlns="" id="{4215D5FF-C76A-A312-17B9-A72E920E24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1096" y="0"/>
            <a:ext cx="2660904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AD728029-C4F8-8E50-BFEC-96B094BBBDF6}"/>
              </a:ext>
            </a:extLst>
          </p:cNvPr>
          <p:cNvSpPr txBox="1"/>
          <p:nvPr/>
        </p:nvSpPr>
        <p:spPr>
          <a:xfrm>
            <a:off x="2035422" y="1681664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Squada One"/>
                <a:sym typeface="Squada One"/>
              </a:rPr>
              <a:t>Real-World Example 2: Ransomware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9F723482-C66B-2762-EB2F-77D15D78A12C}"/>
              </a:ext>
            </a:extLst>
          </p:cNvPr>
          <p:cNvSpPr txBox="1"/>
          <p:nvPr/>
        </p:nvSpPr>
        <p:spPr>
          <a:xfrm>
            <a:off x="1879012" y="3317833"/>
            <a:ext cx="7264988" cy="2398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28650" lvl="0" indent="-285750" algn="just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US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What:</a:t>
            </a:r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Malware encrypting data until a ransom is paid.</a:t>
            </a:r>
          </a:p>
          <a:p>
            <a:pPr marL="628650" lvl="0" indent="-285750" algn="just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US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Impact:</a:t>
            </a:r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2021 Colonial Pipeline shutdown (USA largest fuel pipeline) ($4.4M ransom).</a:t>
            </a:r>
          </a:p>
          <a:p>
            <a:pPr marL="628650" indent="-285750" algn="just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US" b="1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Defense:</a:t>
            </a:r>
            <a:r>
              <a:rPr lang="en-US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Backups, software updates.</a:t>
            </a:r>
            <a:endParaRPr lang="en-US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628650" lvl="0" indent="-285750" algn="just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§"/>
              <a:tabLst>
                <a:tab pos="457200" algn="l"/>
              </a:tabLst>
            </a:pPr>
            <a:endParaRPr lang="en-US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628650" lvl="0" indent="-285750" algn="just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§"/>
              <a:tabLst>
                <a:tab pos="457200" algn="l"/>
              </a:tabLst>
            </a:pPr>
            <a:endParaRPr lang="en-US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97370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EF189F7-FFDF-B91A-761E-D89BE644E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and white background">
            <a:extLst>
              <a:ext uri="{FF2B5EF4-FFF2-40B4-BE49-F238E27FC236}">
                <a16:creationId xmlns:a16="http://schemas.microsoft.com/office/drawing/2014/main" xmlns="" id="{FADC38B4-084E-B5B6-1AA7-3BC74B52C3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1096" y="0"/>
            <a:ext cx="2660904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26F29E8F-AC4B-69BD-372E-957C19FD1AB0}"/>
              </a:ext>
            </a:extLst>
          </p:cNvPr>
          <p:cNvSpPr txBox="1"/>
          <p:nvPr/>
        </p:nvSpPr>
        <p:spPr>
          <a:xfrm>
            <a:off x="1571804" y="1380233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Squada One"/>
                <a:sym typeface="Squada One"/>
              </a:rPr>
              <a:t>Real-World Example 3: DDoS Attack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18857C56-B1F2-983C-0BA5-2E4338C0B5A0}"/>
              </a:ext>
            </a:extLst>
          </p:cNvPr>
          <p:cNvSpPr txBox="1"/>
          <p:nvPr/>
        </p:nvSpPr>
        <p:spPr>
          <a:xfrm>
            <a:off x="1571804" y="2971171"/>
            <a:ext cx="7389315" cy="35855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28650" lvl="0" indent="-285750" algn="just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US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What:</a:t>
            </a:r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Overwhelming a server with traffic to crash it.</a:t>
            </a:r>
          </a:p>
          <a:p>
            <a:pPr marL="628650" lvl="0" indent="-285750" algn="just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US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Impact:</a:t>
            </a:r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2016 Dyn DNS outage (Twitter, Netflix down).</a:t>
            </a:r>
          </a:p>
          <a:p>
            <a:pPr marL="628650" lvl="0" indent="-285750" algn="just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Dyn DNS (domain name  system service provider) service that translates domain names to IP addresses, targeted in 2016 attack.</a:t>
            </a:r>
          </a:p>
          <a:p>
            <a:pPr marL="628650" lvl="0" indent="-285750" algn="just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US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Defense:</a:t>
            </a:r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Traffic filtering, CDNs.( CDN = faster content delivery using distributed servers, </a:t>
            </a:r>
            <a:r>
              <a:rPr lang="en-US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cloudflare</a:t>
            </a:r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Amazon </a:t>
            </a:r>
            <a:r>
              <a:rPr lang="en-US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CloudFront</a:t>
            </a:r>
            <a:r>
              <a:rPr lang="en-US" kern="100" dirty="0" smtClean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),</a:t>
            </a:r>
            <a:r>
              <a:rPr lang="en-US" dirty="0">
                <a:hlinkClick r:id="rId3"/>
              </a:rPr>
              <a:t> </a:t>
            </a:r>
            <a:r>
              <a:rPr lang="en-US" dirty="0" err="1">
                <a:hlinkClick r:id="rId3"/>
              </a:rPr>
              <a:t>Cloudflare</a:t>
            </a:r>
            <a:r>
              <a:rPr lang="en-US" dirty="0"/>
              <a:t> and </a:t>
            </a:r>
            <a:r>
              <a:rPr lang="en-US" dirty="0">
                <a:hlinkClick r:id="rId4"/>
              </a:rPr>
              <a:t>Amazon </a:t>
            </a:r>
            <a:r>
              <a:rPr lang="en-US" dirty="0" err="1">
                <a:hlinkClick r:id="rId4"/>
              </a:rPr>
              <a:t>CloudFront</a:t>
            </a:r>
            <a:r>
              <a:rPr lang="en-US" dirty="0"/>
              <a:t> are both leading Content Delivery Networks (CDNs) that enhance website performance and security </a:t>
            </a:r>
            <a:endParaRPr lang="en-US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81722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C1558B7-43E5-2931-8FEE-72FAD40C7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and white background">
            <a:extLst>
              <a:ext uri="{FF2B5EF4-FFF2-40B4-BE49-F238E27FC236}">
                <a16:creationId xmlns:a16="http://schemas.microsoft.com/office/drawing/2014/main" xmlns="" id="{E2F4A77D-1A9D-5D28-C0B3-F7C0443C9C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1096" y="0"/>
            <a:ext cx="2660904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62EB7C0B-F842-6C16-71B4-D1B0050C26C0}"/>
              </a:ext>
            </a:extLst>
          </p:cNvPr>
          <p:cNvSpPr txBox="1"/>
          <p:nvPr/>
        </p:nvSpPr>
        <p:spPr>
          <a:xfrm>
            <a:off x="1487584" y="1897431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Squada One"/>
                <a:sym typeface="Squada One"/>
              </a:rPr>
              <a:t>Real-World Example 4: Insider Threat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04265277-27A6-F0C1-AD31-A6A434CAA4D2}"/>
              </a:ext>
            </a:extLst>
          </p:cNvPr>
          <p:cNvSpPr txBox="1"/>
          <p:nvPr/>
        </p:nvSpPr>
        <p:spPr>
          <a:xfrm>
            <a:off x="1487584" y="3429000"/>
            <a:ext cx="7318087" cy="1977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28650" lvl="0" indent="-285750" algn="just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US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What:</a:t>
            </a:r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Malicious actions by employees (e.g., stealing data).</a:t>
            </a:r>
          </a:p>
          <a:p>
            <a:pPr marL="628650" lvl="0" indent="-285750" algn="just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US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Impact:</a:t>
            </a:r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2013 Edward Snowden NSA leak.</a:t>
            </a:r>
          </a:p>
          <a:p>
            <a:pPr marL="628650" lvl="0" indent="-285750" algn="just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Snowden leaked NSA documents in 2013 exposing global surveillance.</a:t>
            </a:r>
          </a:p>
          <a:p>
            <a:pPr marL="628650" lvl="0" indent="-285750" algn="just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US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Defense:</a:t>
            </a:r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Access controls, monitoring.</a:t>
            </a:r>
          </a:p>
        </p:txBody>
      </p:sp>
    </p:spTree>
    <p:extLst>
      <p:ext uri="{BB962C8B-B14F-4D97-AF65-F5344CB8AC3E}">
        <p14:creationId xmlns:p14="http://schemas.microsoft.com/office/powerpoint/2010/main" val="33434433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8F2636F-D075-4A86-D7AE-1FC33D1A4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and white background">
            <a:extLst>
              <a:ext uri="{FF2B5EF4-FFF2-40B4-BE49-F238E27FC236}">
                <a16:creationId xmlns:a16="http://schemas.microsoft.com/office/drawing/2014/main" xmlns="" id="{297DC37C-77D7-72BE-4776-E76C771C24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1096" y="0"/>
            <a:ext cx="2660904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0F8A7380-08B0-22DE-0E38-4BE0AC51E485}"/>
              </a:ext>
            </a:extLst>
          </p:cNvPr>
          <p:cNvSpPr txBox="1"/>
          <p:nvPr/>
        </p:nvSpPr>
        <p:spPr>
          <a:xfrm>
            <a:off x="1844842" y="1702840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Squada One"/>
                <a:sym typeface="Squada One"/>
              </a:rPr>
              <a:t>Information Security in Action: Healthcare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F5B4D24A-5247-4638-667A-F5B27092DF8F}"/>
              </a:ext>
            </a:extLst>
          </p:cNvPr>
          <p:cNvSpPr txBox="1"/>
          <p:nvPr/>
        </p:nvSpPr>
        <p:spPr>
          <a:xfrm>
            <a:off x="1844842" y="3286473"/>
            <a:ext cx="6096000" cy="19753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just"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US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Threat:</a:t>
            </a:r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Unauthorized access to patient records.</a:t>
            </a:r>
          </a:p>
          <a:p>
            <a:pPr marL="0" lvl="0" indent="0" algn="just"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US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Solution:</a:t>
            </a:r>
            <a:endParaRPr lang="en-US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15000"/>
              </a:lnSpc>
              <a:spcAft>
                <a:spcPts val="800"/>
              </a:spcAft>
              <a:buFont typeface="Symbol" panose="05050102010706020507" pitchFamily="18" charset="2"/>
              <a:buChar char=""/>
              <a:tabLst>
                <a:tab pos="914400" algn="l"/>
              </a:tabLst>
            </a:pPr>
            <a:r>
              <a:rPr lang="en-US" sz="16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Encryption (HIPAA compliance).</a:t>
            </a:r>
          </a:p>
          <a:p>
            <a:pPr marL="742950" lvl="1" indent="-285750" algn="just">
              <a:lnSpc>
                <a:spcPct val="115000"/>
              </a:lnSpc>
              <a:spcAft>
                <a:spcPts val="800"/>
              </a:spcAft>
              <a:buFont typeface="Symbol" panose="05050102010706020507" pitchFamily="18" charset="2"/>
              <a:buChar char=""/>
              <a:tabLst>
                <a:tab pos="914400" algn="l"/>
              </a:tabLst>
            </a:pPr>
            <a:r>
              <a:rPr lang="en-US" sz="16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Role-based access (doctors vs. admins).</a:t>
            </a:r>
          </a:p>
          <a:p>
            <a:pPr marL="742950" lvl="1" indent="-285750" algn="just">
              <a:lnSpc>
                <a:spcPct val="115000"/>
              </a:lnSpc>
              <a:spcAft>
                <a:spcPts val="800"/>
              </a:spcAft>
              <a:buFont typeface="Symbol" panose="05050102010706020507" pitchFamily="18" charset="2"/>
              <a:buChar char=""/>
              <a:tabLst>
                <a:tab pos="914400" algn="l"/>
              </a:tabLst>
            </a:pPr>
            <a:r>
              <a:rPr lang="en-US" sz="16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Physical security for servers.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1145164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AD2C43C-3FE0-8D30-E820-1FE2A3097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and white background">
            <a:extLst>
              <a:ext uri="{FF2B5EF4-FFF2-40B4-BE49-F238E27FC236}">
                <a16:creationId xmlns:a16="http://schemas.microsoft.com/office/drawing/2014/main" xmlns="" id="{53DBE87B-1E64-52F2-E7B2-1AF635759D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1096" y="0"/>
            <a:ext cx="2660904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C699DD98-D59D-114B-535B-67648C93E3E4}"/>
              </a:ext>
            </a:extLst>
          </p:cNvPr>
          <p:cNvSpPr txBox="1"/>
          <p:nvPr/>
        </p:nvSpPr>
        <p:spPr>
          <a:xfrm>
            <a:off x="1989221" y="1528944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Squada One"/>
                <a:sym typeface="Squada One"/>
              </a:rPr>
              <a:t>Cyber Security in Action: E-Commerce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BACC571F-128F-8B4C-5072-69D42DB2A99F}"/>
              </a:ext>
            </a:extLst>
          </p:cNvPr>
          <p:cNvSpPr txBox="1"/>
          <p:nvPr/>
        </p:nvSpPr>
        <p:spPr>
          <a:xfrm>
            <a:off x="1989221" y="3095787"/>
            <a:ext cx="6096000" cy="3369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Threat:</a:t>
            </a:r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Credit card skimming on websites</a:t>
            </a:r>
            <a:r>
              <a:rPr lang="en-US" kern="100" dirty="0" smtClean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lang="en-US" dirty="0"/>
              <a:t>Credit card skimming is a form of financial fraud where criminals use a hidden electronic device (a </a:t>
            </a:r>
            <a:r>
              <a:rPr lang="en-US" b="1" dirty="0"/>
              <a:t>skimmer</a:t>
            </a:r>
            <a:r>
              <a:rPr lang="en-US" dirty="0"/>
              <a:t>) to illegally capture credit or debit card information during an otherwise legitimate transaction.</a:t>
            </a:r>
            <a:endParaRPr lang="en-US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Solution:</a:t>
            </a:r>
            <a:endParaRPr lang="en-US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914400" algn="l"/>
              </a:tabLst>
            </a:pPr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SSL certificates (HTTPS).</a:t>
            </a:r>
          </a:p>
          <a:p>
            <a:pPr marL="742950" lvl="1" indent="-285750" algn="just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914400" algn="l"/>
              </a:tabLst>
            </a:pPr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PCI DSS compliance.</a:t>
            </a:r>
          </a:p>
          <a:p>
            <a:pPr marL="742950" lvl="1" indent="-285750" algn="just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914400" algn="l"/>
              </a:tabLst>
            </a:pPr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Web application firewalls.</a:t>
            </a:r>
          </a:p>
        </p:txBody>
      </p:sp>
    </p:spTree>
    <p:extLst>
      <p:ext uri="{BB962C8B-B14F-4D97-AF65-F5344CB8AC3E}">
        <p14:creationId xmlns:p14="http://schemas.microsoft.com/office/powerpoint/2010/main" val="7683309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15BFC882-F36A-5FE1-6471-8CA0C0849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and white background">
            <a:extLst>
              <a:ext uri="{FF2B5EF4-FFF2-40B4-BE49-F238E27FC236}">
                <a16:creationId xmlns:a16="http://schemas.microsoft.com/office/drawing/2014/main" xmlns="" id="{2CAEA634-EF6B-7784-C036-192AB92925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1096" y="0"/>
            <a:ext cx="2660904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7EAB1035-BFDE-E9EB-B282-E2DAF0F588B2}"/>
              </a:ext>
            </a:extLst>
          </p:cNvPr>
          <p:cNvSpPr txBox="1"/>
          <p:nvPr/>
        </p:nvSpPr>
        <p:spPr>
          <a:xfrm>
            <a:off x="1524642" y="190572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Squada One"/>
                <a:sym typeface="Squada One"/>
              </a:rPr>
              <a:t>Why Both Matter?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12C3801F-122A-7041-414A-C9A2F9298410}"/>
              </a:ext>
            </a:extLst>
          </p:cNvPr>
          <p:cNvSpPr txBox="1"/>
          <p:nvPr/>
        </p:nvSpPr>
        <p:spPr>
          <a:xfrm>
            <a:off x="1636776" y="3062419"/>
            <a:ext cx="7181730" cy="1890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algn="just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US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Information Security: </a:t>
            </a:r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Ensures data is </a:t>
            </a:r>
            <a:r>
              <a:rPr lang="en-US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accurate, private, and available</a:t>
            </a:r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marL="285750" lvl="0" indent="-285750" algn="just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US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Cyber Security: </a:t>
            </a:r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Defends against </a:t>
            </a:r>
            <a:r>
              <a:rPr lang="en-US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evolving digital threats</a:t>
            </a:r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marL="285750" lvl="0" indent="-285750" algn="just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US" b="1" kern="100" dirty="0" smtClean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Synergy (cooperation of two):</a:t>
            </a:r>
            <a:r>
              <a:rPr lang="en-US" kern="100" dirty="0" smtClean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Both are needed for comprehensive protection.</a:t>
            </a:r>
          </a:p>
        </p:txBody>
      </p:sp>
    </p:spTree>
    <p:extLst>
      <p:ext uri="{BB962C8B-B14F-4D97-AF65-F5344CB8AC3E}">
        <p14:creationId xmlns:p14="http://schemas.microsoft.com/office/powerpoint/2010/main" val="453352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45CB132-5B6F-7494-AFCA-998EF1CFC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and white background">
            <a:extLst>
              <a:ext uri="{FF2B5EF4-FFF2-40B4-BE49-F238E27FC236}">
                <a16:creationId xmlns:a16="http://schemas.microsoft.com/office/drawing/2014/main" xmlns="" id="{62895D22-CF1A-5E77-1FAB-C92DBC6E64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1096" y="0"/>
            <a:ext cx="2660904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607B6F3D-580F-EC1D-101D-72BA92964E97}"/>
              </a:ext>
            </a:extLst>
          </p:cNvPr>
          <p:cNvSpPr txBox="1"/>
          <p:nvPr/>
        </p:nvSpPr>
        <p:spPr>
          <a:xfrm>
            <a:off x="2260654" y="1473710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Squada One"/>
                <a:sym typeface="Squada One"/>
              </a:rPr>
              <a:t>Best Practices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6123CF5E-69AE-1619-F8C0-63B8EBD56650}"/>
              </a:ext>
            </a:extLst>
          </p:cNvPr>
          <p:cNvSpPr txBox="1"/>
          <p:nvPr/>
        </p:nvSpPr>
        <p:spPr>
          <a:xfrm>
            <a:off x="2011680" y="2588277"/>
            <a:ext cx="6226102" cy="2500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algn="just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Use strong passwords + 2FA.</a:t>
            </a:r>
          </a:p>
          <a:p>
            <a:pPr marL="342900" lvl="0" algn="just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Regularly update software.</a:t>
            </a:r>
          </a:p>
          <a:p>
            <a:pPr marL="342900" lvl="0" algn="just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Encrypt sensitive data.</a:t>
            </a:r>
          </a:p>
          <a:p>
            <a:pPr marL="342900" lvl="0" algn="just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Train employees on threats.</a:t>
            </a:r>
          </a:p>
          <a:p>
            <a:pPr marL="342900" algn="just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Backup data weekly.</a:t>
            </a:r>
            <a:endParaRPr lang="en-US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algn="just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endParaRPr lang="en-US" b="1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00581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0A8B4F34-90A7-BFDE-62EE-D455287ED5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and white background">
            <a:extLst>
              <a:ext uri="{FF2B5EF4-FFF2-40B4-BE49-F238E27FC236}">
                <a16:creationId xmlns:a16="http://schemas.microsoft.com/office/drawing/2014/main" xmlns="" id="{C0701651-0A9C-3B0C-1907-DDF4AF25E1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1096" y="0"/>
            <a:ext cx="2660904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D9577F72-1203-0BCC-252B-6EDC92E7DA74}"/>
              </a:ext>
            </a:extLst>
          </p:cNvPr>
          <p:cNvSpPr txBox="1"/>
          <p:nvPr/>
        </p:nvSpPr>
        <p:spPr>
          <a:xfrm>
            <a:off x="1637097" y="1881341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Squada One"/>
                <a:sym typeface="Squada One"/>
              </a:rPr>
              <a:t>Industry Standards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464FC7C9-E160-688E-F1FB-5D1A23339DBF}"/>
              </a:ext>
            </a:extLst>
          </p:cNvPr>
          <p:cNvSpPr txBox="1"/>
          <p:nvPr/>
        </p:nvSpPr>
        <p:spPr>
          <a:xfrm>
            <a:off x="1524000" y="3025385"/>
            <a:ext cx="7290816" cy="2398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algn="just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IS standards focus on policies &amp; compliance, while CS standards focus on technical threat protection.</a:t>
            </a:r>
          </a:p>
          <a:p>
            <a:pPr marL="628650" lvl="0" indent="-285750" algn="just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US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Information Security:</a:t>
            </a:r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ISO 27001, GDPR.</a:t>
            </a:r>
          </a:p>
          <a:p>
            <a:pPr marL="628650" indent="-285750" algn="just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US" b="1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Cyber Security:</a:t>
            </a:r>
            <a:r>
              <a:rPr lang="en-US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NIST Framework, CIS Controls.</a:t>
            </a:r>
            <a:endParaRPr lang="en-US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algn="just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US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algn="just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US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05551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6C68EE7F-56F1-C9F0-DEC3-9AD0A24DD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and white background">
            <a:extLst>
              <a:ext uri="{FF2B5EF4-FFF2-40B4-BE49-F238E27FC236}">
                <a16:creationId xmlns:a16="http://schemas.microsoft.com/office/drawing/2014/main" xmlns="" id="{A6982F97-57DC-39EA-AFD2-86870D6C94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1096" y="0"/>
            <a:ext cx="2660904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ADC67FFA-661C-C7D1-0880-A72DB0927FEB}"/>
              </a:ext>
            </a:extLst>
          </p:cNvPr>
          <p:cNvSpPr txBox="1"/>
          <p:nvPr/>
        </p:nvSpPr>
        <p:spPr>
          <a:xfrm>
            <a:off x="1859280" y="191246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Squada One"/>
                <a:sym typeface="Squada One"/>
              </a:rPr>
              <a:t>Future Trends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97E21F93-8E87-9CD3-ED59-3E88607F02D4}"/>
              </a:ext>
            </a:extLst>
          </p:cNvPr>
          <p:cNvSpPr txBox="1"/>
          <p:nvPr/>
        </p:nvSpPr>
        <p:spPr>
          <a:xfrm>
            <a:off x="1631482" y="3224817"/>
            <a:ext cx="6096000" cy="12374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28650" lvl="0" indent="-285750" algn="just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US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AI in Security:</a:t>
            </a:r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Automated threat detection.</a:t>
            </a:r>
          </a:p>
          <a:p>
            <a:pPr marL="628650" lvl="0" indent="-285750" algn="just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US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Zero Trust Architecture:</a:t>
            </a:r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"Never trust, always verify."</a:t>
            </a:r>
          </a:p>
          <a:p>
            <a:pPr marL="628650" lvl="0" indent="-285750" algn="just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US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Quantum Cryptography:</a:t>
            </a:r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Unbreakable encryption.</a:t>
            </a:r>
          </a:p>
        </p:txBody>
      </p:sp>
    </p:spTree>
    <p:extLst>
      <p:ext uri="{BB962C8B-B14F-4D97-AF65-F5344CB8AC3E}">
        <p14:creationId xmlns:p14="http://schemas.microsoft.com/office/powerpoint/2010/main" val="11480930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C4D9F41-EA91-895D-A5AC-F84BA3466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and white background">
            <a:extLst>
              <a:ext uri="{FF2B5EF4-FFF2-40B4-BE49-F238E27FC236}">
                <a16:creationId xmlns:a16="http://schemas.microsoft.com/office/drawing/2014/main" xmlns="" id="{337F6A43-EDD7-E801-EDF3-AB76B14AEF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1096" y="0"/>
            <a:ext cx="2660904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C00C9088-33E4-1A3E-E629-B83CADB952CD}"/>
              </a:ext>
            </a:extLst>
          </p:cNvPr>
          <p:cNvSpPr txBox="1"/>
          <p:nvPr/>
        </p:nvSpPr>
        <p:spPr>
          <a:xfrm>
            <a:off x="1565709" y="1686911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Squada One"/>
                <a:sym typeface="Squada One"/>
              </a:rPr>
              <a:t>Common Myths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330DAEF5-CCFF-1861-ED0B-088EB968AD82}"/>
              </a:ext>
            </a:extLst>
          </p:cNvPr>
          <p:cNvSpPr txBox="1"/>
          <p:nvPr/>
        </p:nvSpPr>
        <p:spPr>
          <a:xfrm>
            <a:off x="1565709" y="2702294"/>
            <a:ext cx="6096000" cy="1453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algn="just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kern="100" dirty="0">
                <a:latin typeface="Segoe UI Emoji" panose="020B0502040204020203" pitchFamily="34" charset="0"/>
                <a:ea typeface="Aptos" panose="020B0004020202020204" pitchFamily="34" charset="0"/>
                <a:cs typeface="Segoe UI Emoji" panose="020B0502040204020203" pitchFamily="34" charset="0"/>
              </a:rPr>
              <a:t>❌</a:t>
            </a:r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"Only big companies are targeted."</a:t>
            </a:r>
            <a:b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→ </a:t>
            </a:r>
            <a:r>
              <a:rPr lang="en-US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Truth:</a:t>
            </a:r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43% of attacks target small businesses.</a:t>
            </a:r>
          </a:p>
          <a:p>
            <a:pPr marL="342900" lvl="0" algn="just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kern="100" dirty="0">
                <a:latin typeface="Segoe UI Emoji" panose="020B0502040204020203" pitchFamily="34" charset="0"/>
                <a:ea typeface="Aptos" panose="020B0004020202020204" pitchFamily="34" charset="0"/>
                <a:cs typeface="Segoe UI Emoji" panose="020B0502040204020203" pitchFamily="34" charset="0"/>
              </a:rPr>
              <a:t>❌</a:t>
            </a:r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"Antivirus is enough."</a:t>
            </a:r>
            <a:b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→ </a:t>
            </a:r>
            <a:r>
              <a:rPr lang="en-US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Truth:</a:t>
            </a:r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Multi-layered defense is essential.</a:t>
            </a:r>
          </a:p>
        </p:txBody>
      </p:sp>
    </p:spTree>
    <p:extLst>
      <p:ext uri="{BB962C8B-B14F-4D97-AF65-F5344CB8AC3E}">
        <p14:creationId xmlns:p14="http://schemas.microsoft.com/office/powerpoint/2010/main" val="23116492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02876167-EE8B-83DD-172E-E707B740E4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and white background">
            <a:extLst>
              <a:ext uri="{FF2B5EF4-FFF2-40B4-BE49-F238E27FC236}">
                <a16:creationId xmlns:a16="http://schemas.microsoft.com/office/drawing/2014/main" xmlns="" id="{1D82E953-BDCE-E472-C2FA-F4CFFEC2F1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1096" y="0"/>
            <a:ext cx="2660904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32EC305E-A05F-8A11-90DC-AD5C7527B636}"/>
              </a:ext>
            </a:extLst>
          </p:cNvPr>
          <p:cNvSpPr txBox="1"/>
          <p:nvPr/>
        </p:nvSpPr>
        <p:spPr>
          <a:xfrm>
            <a:off x="1696453" y="178765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Squada One"/>
                <a:sym typeface="Squada One"/>
              </a:rPr>
              <a:t>Key Takeaways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AFAEAE0E-9458-18A1-265F-3E73A1D8A526}"/>
              </a:ext>
            </a:extLst>
          </p:cNvPr>
          <p:cNvSpPr txBox="1"/>
          <p:nvPr/>
        </p:nvSpPr>
        <p:spPr>
          <a:xfrm>
            <a:off x="1696453" y="2868568"/>
            <a:ext cx="6096000" cy="1658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Information Security = Broader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(physical + digital).</a:t>
            </a:r>
          </a:p>
          <a:p>
            <a:pPr marL="342900" marR="0" lvl="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Cyber Security = Digital-focused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marL="342900" marR="0" lvl="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Types: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Application, network, cloud, IoT, etc.</a:t>
            </a:r>
          </a:p>
          <a:p>
            <a:pPr marL="342900" marR="0" lvl="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Examples: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Phishing, ransomware, DDoS.</a:t>
            </a:r>
          </a:p>
        </p:txBody>
      </p:sp>
    </p:spTree>
    <p:extLst>
      <p:ext uri="{BB962C8B-B14F-4D97-AF65-F5344CB8AC3E}">
        <p14:creationId xmlns:p14="http://schemas.microsoft.com/office/powerpoint/2010/main" val="211224420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12E3AE8E-D631-8595-62B0-13840134C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and white background">
            <a:extLst>
              <a:ext uri="{FF2B5EF4-FFF2-40B4-BE49-F238E27FC236}">
                <a16:creationId xmlns:a16="http://schemas.microsoft.com/office/drawing/2014/main" xmlns="" id="{6129E9EF-84C5-7277-3867-2EBFE48D01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1096" y="0"/>
            <a:ext cx="2660904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4B9498FA-D969-DCCE-4C2E-E91A06B55AC4}"/>
              </a:ext>
            </a:extLst>
          </p:cNvPr>
          <p:cNvSpPr txBox="1"/>
          <p:nvPr/>
        </p:nvSpPr>
        <p:spPr>
          <a:xfrm>
            <a:off x="1640786" y="177626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Squada One"/>
                <a:sym typeface="Squada One"/>
              </a:rPr>
              <a:t>Summary Slide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8E3586B3-0F7B-EC32-2F79-5BB4A86468A5}"/>
              </a:ext>
            </a:extLst>
          </p:cNvPr>
          <p:cNvSpPr txBox="1"/>
          <p:nvPr/>
        </p:nvSpPr>
        <p:spPr>
          <a:xfrm>
            <a:off x="1798240" y="2871318"/>
            <a:ext cx="6835701" cy="1658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CIA Triad: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Confidentiality, Integrity, Availability.</a:t>
            </a:r>
          </a:p>
          <a:p>
            <a:pPr marL="342900" marR="0" lvl="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Cyber Security: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Subset of InfoSec focused on cyber threats.</a:t>
            </a:r>
          </a:p>
          <a:p>
            <a:pPr marL="342900" marR="0" lvl="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Types: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8 categories covering all vulnerabilities.</a:t>
            </a:r>
          </a:p>
          <a:p>
            <a:pPr marL="342900" marR="0" lvl="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Action: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Implement best practices today!</a:t>
            </a:r>
          </a:p>
        </p:txBody>
      </p:sp>
    </p:spTree>
    <p:extLst>
      <p:ext uri="{BB962C8B-B14F-4D97-AF65-F5344CB8AC3E}">
        <p14:creationId xmlns:p14="http://schemas.microsoft.com/office/powerpoint/2010/main" val="35023400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1069</Words>
  <Application>Microsoft Office PowerPoint</Application>
  <PresentationFormat>Widescreen</PresentationFormat>
  <Paragraphs>151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41" baseType="lpstr">
      <vt:lpstr>Aptos</vt:lpstr>
      <vt:lpstr>Aptos Display</vt:lpstr>
      <vt:lpstr>Arial</vt:lpstr>
      <vt:lpstr>Avenir Next LT Pro</vt:lpstr>
      <vt:lpstr>Roboto Condensed Light</vt:lpstr>
      <vt:lpstr>Segoe UI Emoji</vt:lpstr>
      <vt:lpstr>Squada One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 Qurat ul Ain Alam</dc:creator>
  <cp:lastModifiedBy>Windows User</cp:lastModifiedBy>
  <cp:revision>8</cp:revision>
  <dcterms:created xsi:type="dcterms:W3CDTF">2025-09-02T17:16:10Z</dcterms:created>
  <dcterms:modified xsi:type="dcterms:W3CDTF">2026-02-09T05:28:41Z</dcterms:modified>
</cp:coreProperties>
</file>