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media/image3.jpg" ContentType="image/jpg"/>
  <Override PartName="/ppt/media/image5.jpg" ContentType="image/jpg"/>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media/image13.jpg" ContentType="image/jpg"/>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media/image19.jpg" ContentType="image/jpg"/>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3" r:id="rId1"/>
    <p:sldMasterId id="2147483659" r:id="rId2"/>
  </p:sldMasterIdLst>
  <p:notesMasterIdLst>
    <p:notesMasterId r:id="rId54"/>
  </p:notesMasterIdLst>
  <p:handoutMasterIdLst>
    <p:handoutMasterId r:id="rId55"/>
  </p:handoutMasterIdLst>
  <p:sldIdLst>
    <p:sldId id="445" r:id="rId3"/>
    <p:sldId id="257" r:id="rId4"/>
    <p:sldId id="256" r:id="rId5"/>
    <p:sldId id="446" r:id="rId6"/>
    <p:sldId id="447" r:id="rId7"/>
    <p:sldId id="430" r:id="rId8"/>
    <p:sldId id="261" r:id="rId9"/>
    <p:sldId id="258" r:id="rId10"/>
    <p:sldId id="302" r:id="rId11"/>
    <p:sldId id="432" r:id="rId12"/>
    <p:sldId id="330" r:id="rId13"/>
    <p:sldId id="408" r:id="rId14"/>
    <p:sldId id="410" r:id="rId15"/>
    <p:sldId id="413" r:id="rId16"/>
    <p:sldId id="448" r:id="rId17"/>
    <p:sldId id="414" r:id="rId18"/>
    <p:sldId id="449" r:id="rId19"/>
    <p:sldId id="415" r:id="rId20"/>
    <p:sldId id="439" r:id="rId21"/>
    <p:sldId id="416" r:id="rId22"/>
    <p:sldId id="417" r:id="rId23"/>
    <p:sldId id="418" r:id="rId24"/>
    <p:sldId id="440" r:id="rId25"/>
    <p:sldId id="441" r:id="rId26"/>
    <p:sldId id="419" r:id="rId27"/>
    <p:sldId id="423" r:id="rId28"/>
    <p:sldId id="442" r:id="rId29"/>
    <p:sldId id="420" r:id="rId30"/>
    <p:sldId id="265" r:id="rId31"/>
    <p:sldId id="443" r:id="rId32"/>
    <p:sldId id="425" r:id="rId33"/>
    <p:sldId id="435" r:id="rId34"/>
    <p:sldId id="436" r:id="rId35"/>
    <p:sldId id="437" r:id="rId36"/>
    <p:sldId id="426" r:id="rId37"/>
    <p:sldId id="427" r:id="rId38"/>
    <p:sldId id="428" r:id="rId39"/>
    <p:sldId id="438" r:id="rId40"/>
    <p:sldId id="450" r:id="rId41"/>
    <p:sldId id="268" r:id="rId42"/>
    <p:sldId id="444" r:id="rId43"/>
    <p:sldId id="429" r:id="rId44"/>
    <p:sldId id="431" r:id="rId45"/>
    <p:sldId id="433" r:id="rId46"/>
    <p:sldId id="453" r:id="rId47"/>
    <p:sldId id="454" r:id="rId48"/>
    <p:sldId id="276" r:id="rId49"/>
    <p:sldId id="260" r:id="rId50"/>
    <p:sldId id="455" r:id="rId51"/>
    <p:sldId id="456" r:id="rId52"/>
    <p:sldId id="298" r:id="rId53"/>
  </p:sldIdLst>
  <p:sldSz cx="9144000" cy="6858000" type="screen4x3"/>
  <p:notesSz cx="6858000" cy="9144000"/>
  <p:embeddedFontLst>
    <p:embeddedFont>
      <p:font typeface="Cambria" panose="02040503050406030204" pitchFamily="18" charset="0"/>
      <p:regular r:id="rId56"/>
      <p:bold r:id="rId57"/>
      <p:italic r:id="rId58"/>
      <p:boldItalic r:id="rId59"/>
    </p:embeddedFont>
    <p:embeddedFont>
      <p:font typeface="Noto Sans Symbols" panose="020B0604020202020204" charset="0"/>
      <p:regular r:id="rId60"/>
    </p:embeddedFont>
    <p:embeddedFont>
      <p:font typeface="Source Sans Pro" panose="020B0503030403020204" pitchFamily="34" charset="0"/>
      <p:regular r:id="rId61"/>
      <p:bold r:id="rId62"/>
      <p:italic r:id="rId63"/>
      <p:boldItalic r:id="rId64"/>
    </p:embeddedFont>
    <p:embeddedFont>
      <p:font typeface="Verdana" panose="020B0604030504040204" pitchFamily="34" charset="0"/>
      <p:regular r:id="rId65"/>
      <p:bold r:id="rId66"/>
      <p:italic r:id="rId67"/>
      <p:boldItalic r:id="rId68"/>
    </p:embeddedFont>
    <p:embeddedFont>
      <p:font typeface="Wingdings 2" panose="05020102010507070707" pitchFamily="18" charset="2"/>
      <p:regular r:id="rId6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97" userDrawn="1">
          <p15:clr>
            <a:srgbClr val="A4A3A4"/>
          </p15:clr>
        </p15:guide>
        <p15:guide id="2" pos="295" userDrawn="1">
          <p15:clr>
            <a:srgbClr val="A4A3A4"/>
          </p15:clr>
        </p15:guide>
        <p15:guide id="3" orient="horz" pos="4178" userDrawn="1">
          <p15:clr>
            <a:srgbClr val="A4A3A4"/>
          </p15:clr>
        </p15:guide>
        <p15:guide id="4" orient="horz" pos="119" userDrawn="1">
          <p15:clr>
            <a:srgbClr val="A4A3A4"/>
          </p15:clr>
        </p15:guide>
        <p15:guide id="5" orient="horz" pos="822" userDrawn="1">
          <p15:clr>
            <a:srgbClr val="A4A3A4"/>
          </p15:clr>
        </p15:guide>
        <p15:guide id="6" orient="horz" pos="981" userDrawn="1">
          <p15:clr>
            <a:srgbClr val="A4A3A4"/>
          </p15:clr>
        </p15:guide>
        <p15:guide id="7" pos="635" userDrawn="1">
          <p15:clr>
            <a:srgbClr val="A4A3A4"/>
          </p15:clr>
        </p15:guide>
        <p15:guide id="8" pos="984"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518" autoAdjust="0"/>
    <p:restoredTop sz="93557" autoAdjust="0"/>
  </p:normalViewPr>
  <p:slideViewPr>
    <p:cSldViewPr snapToGrid="0" snapToObjects="1">
      <p:cViewPr varScale="1">
        <p:scale>
          <a:sx n="65" d="100"/>
          <a:sy n="65" d="100"/>
        </p:scale>
        <p:origin x="1254" y="72"/>
      </p:cViewPr>
      <p:guideLst>
        <p:guide orient="horz" pos="3997"/>
        <p:guide pos="295"/>
        <p:guide orient="horz" pos="4178"/>
        <p:guide orient="horz" pos="119"/>
        <p:guide orient="horz" pos="822"/>
        <p:guide orient="horz" pos="981"/>
        <p:guide pos="635"/>
        <p:guide pos="984"/>
      </p:guideLst>
    </p:cSldViewPr>
  </p:slideViewPr>
  <p:outlineViewPr>
    <p:cViewPr>
      <p:scale>
        <a:sx n="33" d="100"/>
        <a:sy n="33" d="100"/>
      </p:scale>
      <p:origin x="0" y="-22304"/>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8.fntdata"/><Relationship Id="rId68" Type="http://schemas.openxmlformats.org/officeDocument/2006/relationships/font" Target="fonts/font13.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font" Target="fonts/font3.fntdata"/><Relationship Id="rId66" Type="http://schemas.openxmlformats.org/officeDocument/2006/relationships/font" Target="fonts/font11.fntdata"/><Relationship Id="rId74"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font" Target="fonts/font6.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1.fntdata"/><Relationship Id="rId64" Type="http://schemas.openxmlformats.org/officeDocument/2006/relationships/font" Target="fonts/font9.fntdata"/><Relationship Id="rId69" Type="http://schemas.openxmlformats.org/officeDocument/2006/relationships/font" Target="fonts/font14.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4.fntdata"/><Relationship Id="rId67" Type="http://schemas.openxmlformats.org/officeDocument/2006/relationships/font" Target="fonts/font12.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notesMaster" Target="notesMasters/notesMaster1.xml"/><Relationship Id="rId62" Type="http://schemas.openxmlformats.org/officeDocument/2006/relationships/font" Target="fonts/font7.fntdata"/><Relationship Id="rId7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2.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font" Target="fonts/font5.fntdata"/><Relationship Id="rId65" Type="http://schemas.openxmlformats.org/officeDocument/2006/relationships/font" Target="fonts/font10.fntdata"/><Relationship Id="rId73"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handoutMaster" Target="handoutMasters/handoutMaster1.xml"/><Relationship Id="rId7" Type="http://schemas.openxmlformats.org/officeDocument/2006/relationships/slide" Target="slides/slide5.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2/3/2026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60E1AC-132F-4219-8723-9C6FC6D08D4A}" type="slidenum">
              <a:rPr lang="en-US" smtClean="0"/>
              <a:t>2</a:t>
            </a:fld>
            <a:endParaRPr lang="en-US"/>
          </a:p>
        </p:txBody>
      </p:sp>
    </p:spTree>
    <p:extLst>
      <p:ext uri="{BB962C8B-B14F-4D97-AF65-F5344CB8AC3E}">
        <p14:creationId xmlns:p14="http://schemas.microsoft.com/office/powerpoint/2010/main" val="8217129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13798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775127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defTabSz="914400">
              <a:defRPr/>
            </a:pPr>
            <a:r>
              <a:rPr lang="en-US" sz="1200" b="0" i="1" u="none" strike="noStrike" kern="1200" cap="none" dirty="0">
                <a:solidFill>
                  <a:prstClr val="black"/>
                </a:solidFill>
                <a:latin typeface="Arial"/>
                <a:ea typeface="Arial"/>
                <a:cs typeface="Arial"/>
                <a:sym typeface="Arial"/>
              </a:rPr>
              <a:t>Figure 1.1, Page 9. </a:t>
            </a:r>
          </a:p>
          <a:p>
            <a:pPr algn="l"/>
            <a:r>
              <a:rPr lang="en-US" sz="1200" b="0" i="0" u="none" strike="noStrike" baseline="0" dirty="0">
                <a:latin typeface="+mn-lt"/>
              </a:rPr>
              <a:t>E-commerce primarily involves transactions that cross firm boundaries. E-business primarily involves the application of digital technologies to </a:t>
            </a:r>
            <a:r>
              <a:rPr lang="en-US" sz="1200" b="0" i="0" u="none" strike="noStrike" baseline="0" noProof="0" dirty="0">
                <a:latin typeface="+mn-lt"/>
              </a:rPr>
              <a:t>business</a:t>
            </a:r>
            <a:r>
              <a:rPr lang="en-US" sz="1200" b="0" i="0" u="none" strike="noStrike" baseline="0" dirty="0">
                <a:latin typeface="+mn-lt"/>
              </a:rPr>
              <a:t> processes within the firm.</a:t>
            </a:r>
            <a:endParaRPr lang="en-US" sz="1200" b="0" i="0" u="none" strike="noStrike" kern="1200" cap="none" baseline="0" dirty="0">
              <a:solidFill>
                <a:schemeClr val="dk1"/>
              </a:solidFill>
              <a:latin typeface="+mn-lt"/>
              <a:ea typeface="Arial"/>
              <a:cs typeface="Arial"/>
              <a:sym typeface="Arial"/>
            </a:endParaRPr>
          </a:p>
          <a:p>
            <a:endParaRPr lang="en-US" sz="1200" b="0" i="0" u="none" strike="noStrike" kern="1200" cap="none" baseline="0" dirty="0">
              <a:solidFill>
                <a:schemeClr val="dk1"/>
              </a:solidFill>
              <a:latin typeface="Arial"/>
              <a:ea typeface="Arial"/>
              <a:cs typeface="Arial"/>
              <a:sym typeface="Arial"/>
            </a:endParaRPr>
          </a:p>
          <a:p>
            <a:r>
              <a:rPr lang="en-US" sz="1200" b="0" i="0" u="sng" strike="noStrike" kern="1200" cap="none" dirty="0">
                <a:solidFill>
                  <a:schemeClr val="dk1"/>
                </a:solidFill>
                <a:effectLst/>
                <a:latin typeface="Arial"/>
                <a:ea typeface="Arial"/>
                <a:cs typeface="Arial"/>
                <a:sym typeface="Arial"/>
              </a:rPr>
              <a:t>Alt Text</a:t>
            </a:r>
          </a:p>
          <a:p>
            <a:r>
              <a:rPr lang="en-US" sz="1200" b="0" i="0" u="none" strike="noStrike" kern="1200" cap="none" dirty="0">
                <a:solidFill>
                  <a:schemeClr val="dk1"/>
                </a:solidFill>
                <a:effectLst/>
                <a:latin typeface="Arial"/>
                <a:ea typeface="Arial"/>
                <a:cs typeface="Arial"/>
                <a:sym typeface="Arial"/>
              </a:rPr>
              <a:t>Long description</a:t>
            </a:r>
            <a:r>
              <a:rPr lang="en-US" sz="1200" b="0" i="0" u="none" strike="noStrike" kern="1200" cap="none" dirty="0">
                <a:solidFill>
                  <a:schemeClr val="dk1"/>
                </a:solidFill>
                <a:effectLst/>
                <a:latin typeface="+mn-lt"/>
                <a:ea typeface="Arial"/>
                <a:cs typeface="Arial"/>
                <a:sym typeface="Arial"/>
              </a:rPr>
              <a:t>: </a:t>
            </a:r>
            <a:r>
              <a:rPr lang="en-US" sz="1200" b="0" i="0" u="none" strike="noStrike" dirty="0">
                <a:solidFill>
                  <a:srgbClr val="000000"/>
                </a:solidFill>
                <a:effectLst/>
                <a:latin typeface="+mn-lt"/>
              </a:rPr>
              <a:t>An illustration in the form of a Venn diagram depicts two ovals intersecting each other, one labeled e-business systems and the other labeled e-commerce systems. Both types of systems include the Internet and mobile.  Both ovals overlap a central circle labeled the technology infrastructure, the firm. An arrow points from e-business systems to suppliers, while another arrow points from suppliers to the firm, indicating an interconnection between them. Similarly, an arrow points from e-commerce systems to customers, while another arrow points from customers to the firm, indicating an interconnection between them. </a:t>
            </a:r>
            <a:endParaRPr lang="en-US" sz="1200" b="0" i="0" u="none" strike="noStrike" kern="1200" cap="none" baseline="0" dirty="0">
              <a:solidFill>
                <a:schemeClr val="dk1"/>
              </a:solidFill>
              <a:latin typeface="+mn-lt"/>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526130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u="none" strike="noStrike" kern="1200" cap="none" dirty="0">
              <a:solidFill>
                <a:prstClr val="black"/>
              </a:solidFill>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429759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u="none" strike="noStrike" kern="1200" cap="none" dirty="0">
              <a:solidFill>
                <a:prstClr val="black"/>
              </a:solidFill>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308121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defTabSz="914400">
              <a:defRPr/>
            </a:pPr>
            <a:r>
              <a:rPr lang="en-US" sz="1200" b="0" i="1" u="none" strike="noStrike" kern="1200" cap="none" dirty="0">
                <a:solidFill>
                  <a:prstClr val="black"/>
                </a:solidFill>
                <a:latin typeface="Arial"/>
                <a:ea typeface="Arial"/>
                <a:cs typeface="Arial"/>
                <a:sym typeface="Arial"/>
              </a:rPr>
              <a:t>Figure 1.4, Page 16. </a:t>
            </a:r>
          </a:p>
          <a:p>
            <a:r>
              <a:rPr lang="en-US" sz="1200" b="0" i="0" u="none" strike="noStrike" baseline="0" dirty="0">
                <a:latin typeface="+mn-lt"/>
              </a:rPr>
              <a:t>E-commerce </a:t>
            </a:r>
            <a:r>
              <a:rPr lang="en-US" sz="1200" b="0" i="0" u="none" strike="noStrike" baseline="0" noProof="0" dirty="0">
                <a:latin typeface="+mn-lt"/>
              </a:rPr>
              <a:t>technologies</a:t>
            </a:r>
            <a:r>
              <a:rPr lang="en-US" sz="1200" b="0" i="0" u="none" strike="noStrike" baseline="0" dirty="0">
                <a:latin typeface="+mn-lt"/>
              </a:rPr>
              <a:t> provide a number of unique features that have impacted the conduct of business.</a:t>
            </a:r>
            <a:endParaRPr lang="en-US" sz="1200" b="0" i="0" u="none" strike="noStrike" kern="1200" cap="none" baseline="0" dirty="0">
              <a:solidFill>
                <a:schemeClr val="dk1"/>
              </a:solidFill>
              <a:latin typeface="+mn-lt"/>
              <a:ea typeface="Arial"/>
              <a:cs typeface="Arial"/>
              <a:sym typeface="Arial"/>
            </a:endParaRPr>
          </a:p>
          <a:p>
            <a:endParaRPr lang="en-US" sz="1200" b="0" i="0" u="none" strike="noStrike" kern="1200" cap="none" baseline="0" dirty="0">
              <a:solidFill>
                <a:schemeClr val="dk1"/>
              </a:solidFill>
              <a:latin typeface="Arial"/>
              <a:ea typeface="Arial"/>
              <a:cs typeface="Arial"/>
              <a:sym typeface="Arial"/>
            </a:endParaRPr>
          </a:p>
          <a:p>
            <a:r>
              <a:rPr lang="en-US" sz="1200" b="0" i="0" u="sng" strike="noStrike" kern="1200" cap="none" dirty="0">
                <a:solidFill>
                  <a:schemeClr val="dk1"/>
                </a:solidFill>
                <a:effectLst/>
                <a:latin typeface="Arial"/>
                <a:ea typeface="Arial"/>
                <a:cs typeface="Arial"/>
                <a:sym typeface="Arial"/>
              </a:rPr>
              <a:t>Alt Text</a:t>
            </a:r>
          </a:p>
          <a:p>
            <a:r>
              <a:rPr lang="en-US" sz="1200" b="0" i="0" u="none" strike="noStrike" kern="1200" cap="none" dirty="0">
                <a:solidFill>
                  <a:schemeClr val="dk1"/>
                </a:solidFill>
                <a:effectLst/>
                <a:latin typeface="Arial"/>
                <a:ea typeface="Arial"/>
                <a:cs typeface="Arial"/>
                <a:sym typeface="Arial"/>
              </a:rPr>
              <a:t>Long description</a:t>
            </a:r>
            <a:r>
              <a:rPr lang="en-US" sz="1200" b="0" i="0" u="none" strike="noStrike" kern="1200" cap="none" dirty="0">
                <a:solidFill>
                  <a:schemeClr val="dk1"/>
                </a:solidFill>
                <a:effectLst/>
                <a:latin typeface="+mn-lt"/>
                <a:ea typeface="Arial"/>
                <a:cs typeface="Arial"/>
                <a:sym typeface="Arial"/>
              </a:rPr>
              <a:t>: </a:t>
            </a:r>
            <a:r>
              <a:rPr lang="en-US" sz="1800" b="0" i="0" u="none" strike="noStrike" dirty="0">
                <a:solidFill>
                  <a:srgbClr val="000000"/>
                </a:solidFill>
                <a:effectLst/>
                <a:latin typeface="Calibri" panose="020F0502020204030204" pitchFamily="34" charset="0"/>
              </a:rPr>
              <a:t>The features are ubiquity, global reach, universal standards, social technology, personalization and customization, information density, interactivity, and richness.</a:t>
            </a:r>
            <a:r>
              <a:rPr lang="en-US" dirty="0"/>
              <a:t> </a:t>
            </a:r>
            <a:endParaRPr lang="en-US" sz="1200" b="0" i="0" u="none" strike="noStrike" kern="1200" cap="none" baseline="0" dirty="0">
              <a:solidFill>
                <a:schemeClr val="dk1"/>
              </a:solidFill>
              <a:latin typeface="+mn-lt"/>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525563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defTabSz="914400">
              <a:defRPr/>
            </a:pPr>
            <a:r>
              <a:rPr lang="en-US" sz="1200" b="0" i="1" u="none" strike="noStrike" kern="1200" cap="none" dirty="0">
                <a:solidFill>
                  <a:prstClr val="black"/>
                </a:solidFill>
                <a:latin typeface="Arial"/>
                <a:ea typeface="Arial"/>
                <a:cs typeface="Arial"/>
                <a:sym typeface="Arial"/>
              </a:rPr>
              <a:t>Figure 1.9, Page 26. </a:t>
            </a:r>
          </a:p>
          <a:p>
            <a:pPr algn="l"/>
            <a:r>
              <a:rPr lang="en-US" sz="1200" b="0" i="0" u="none" strike="noStrike" baseline="0" dirty="0">
                <a:latin typeface="+mn-lt"/>
              </a:rPr>
              <a:t>B2B e-commerce dwarfs all other forms of e-commerce; mobile, social, and local e-commerce, although growing rapidly, are still relatively </a:t>
            </a:r>
            <a:r>
              <a:rPr lang="en-US" sz="1200" b="0" i="0" u="none" strike="noStrike" baseline="0" noProof="0" dirty="0">
                <a:latin typeface="+mn-lt"/>
              </a:rPr>
              <a:t>small</a:t>
            </a:r>
            <a:r>
              <a:rPr lang="en-US" sz="1200" b="0" i="0" u="none" strike="noStrike" baseline="0" dirty="0">
                <a:latin typeface="+mn-lt"/>
              </a:rPr>
              <a:t> in comparison to “traditional” e-commerce.</a:t>
            </a:r>
            <a:endParaRPr lang="en-US" sz="1200" b="0" i="0" u="none" strike="noStrike" kern="1200" cap="none" baseline="0" dirty="0">
              <a:solidFill>
                <a:schemeClr val="dk1"/>
              </a:solidFill>
              <a:latin typeface="+mn-lt"/>
              <a:ea typeface="Arial"/>
              <a:cs typeface="Arial"/>
              <a:sym typeface="Arial"/>
            </a:endParaRPr>
          </a:p>
          <a:p>
            <a:endParaRPr lang="en-US" sz="1200" b="0" i="0" u="none" strike="noStrike" kern="1200" cap="none" baseline="0" dirty="0">
              <a:solidFill>
                <a:schemeClr val="dk1"/>
              </a:solidFill>
              <a:latin typeface="Arial"/>
              <a:ea typeface="Arial"/>
              <a:cs typeface="Arial"/>
              <a:sym typeface="Arial"/>
            </a:endParaRPr>
          </a:p>
          <a:p>
            <a:r>
              <a:rPr lang="en-US" sz="1200" b="0" i="0" u="sng" strike="noStrike" kern="1200" cap="none" dirty="0">
                <a:solidFill>
                  <a:schemeClr val="dk1"/>
                </a:solidFill>
                <a:effectLst/>
                <a:latin typeface="Arial"/>
                <a:ea typeface="Arial"/>
                <a:cs typeface="Arial"/>
                <a:sym typeface="Arial"/>
              </a:rPr>
              <a:t>Alt Text</a:t>
            </a:r>
          </a:p>
          <a:p>
            <a:r>
              <a:rPr lang="en-US" sz="1200" b="0" i="0" u="none" strike="noStrike" kern="1200" cap="none" dirty="0">
                <a:solidFill>
                  <a:schemeClr val="dk1"/>
                </a:solidFill>
                <a:effectLst/>
                <a:latin typeface="+mn-lt"/>
                <a:ea typeface="Arial"/>
                <a:cs typeface="Arial"/>
                <a:sym typeface="Arial"/>
              </a:rPr>
              <a:t>Long description: The data in the illustration is as follows: B 2 B e-commerce revenue, 8.5 trillion dollars; B 2 C e-commerce revenue, 1.3 trillion dollars. Within B 2 C e-commerce revenue, mobile e-commerce revenue is 500 billion dollars, social e-commerce revenue is 55 billion dollars, and local e-commerce revenue is more than 150 billion dollars. C 2 C e-commerce revenue is more than 200 billion dollars.</a:t>
            </a:r>
            <a:endParaRPr lang="en-US" sz="1200" b="0" i="0" u="none" strike="noStrike" kern="1200" cap="none" baseline="0" dirty="0">
              <a:solidFill>
                <a:schemeClr val="dk1"/>
              </a:solidFill>
              <a:latin typeface="+mn-lt"/>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574152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455623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kern="1200" dirty="0">
                <a:solidFill>
                  <a:srgbClr val="000000"/>
                </a:solidFill>
                <a:latin typeface="Arial" panose="020B0604020202020204" pitchFamily="34" charset="0"/>
              </a:rPr>
              <a:t>Additional concepts: disintermediation, monopoly profits, switching costs, network effects, disruption of traditional channels.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808395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defTabSz="914400"/>
            <a:r>
              <a:rPr lang="en-US" sz="1200" b="0" i="1" u="none" strike="noStrike" kern="1200" cap="none" dirty="0">
                <a:solidFill>
                  <a:prstClr val="black"/>
                </a:solidFill>
                <a:latin typeface="Arial"/>
                <a:ea typeface="Arial"/>
                <a:cs typeface="Arial"/>
                <a:sym typeface="Arial"/>
              </a:rPr>
              <a:t>Figure 1.10, page 28.</a:t>
            </a:r>
          </a:p>
          <a:p>
            <a:pPr lvl="0" defTabSz="914400"/>
            <a:endParaRPr lang="en-US" sz="1200" b="0" i="0" u="none" strike="noStrike" kern="1200" cap="none" dirty="0">
              <a:solidFill>
                <a:prstClr val="black"/>
              </a:solidFill>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sng" strike="noStrike" kern="1200" cap="none" dirty="0">
                <a:solidFill>
                  <a:prstClr val="black"/>
                </a:solidFill>
                <a:latin typeface="Arial"/>
                <a:ea typeface="Arial"/>
                <a:cs typeface="Arial"/>
                <a:sym typeface="Arial"/>
              </a:rPr>
              <a:t>Alt Text</a:t>
            </a:r>
          </a:p>
          <a:p>
            <a:pPr lvl="0" defTabSz="914400"/>
            <a:r>
              <a:rPr lang="en-US" sz="1200" b="0" i="0" u="none" strike="noStrike" kern="1200" cap="none" dirty="0">
                <a:solidFill>
                  <a:prstClr val="black"/>
                </a:solidFill>
                <a:latin typeface="Arial"/>
                <a:ea typeface="Arial"/>
                <a:cs typeface="Arial"/>
                <a:sym typeface="Arial"/>
              </a:rPr>
              <a:t>Long description: </a:t>
            </a:r>
            <a:r>
              <a:rPr lang="en-US" sz="1200" b="0" i="0" u="none" strike="noStrike" kern="1200" cap="none" dirty="0">
                <a:solidFill>
                  <a:schemeClr val="dk1"/>
                </a:solidFill>
                <a:effectLst/>
                <a:latin typeface="Arial"/>
                <a:ea typeface="Calibri" panose="020F0502020204030204" pitchFamily="34" charset="0"/>
                <a:cs typeface="Arial"/>
                <a:sym typeface="Arial"/>
              </a:rPr>
              <a:t>The three phases are Invention, Consolidation and Reinvention. During the period of Invention, from 19 95 to 2000, the </a:t>
            </a:r>
            <a:r>
              <a:rPr lang="en-US" sz="1200" b="0" i="0" u="none" strike="noStrike" kern="1200" cap="none" noProof="0" dirty="0">
                <a:solidFill>
                  <a:schemeClr val="dk1"/>
                </a:solidFill>
                <a:effectLst/>
                <a:latin typeface="Arial"/>
                <a:ea typeface="Calibri" panose="020F0502020204030204" pitchFamily="34" charset="0"/>
                <a:cs typeface="Arial"/>
                <a:sym typeface="Arial"/>
              </a:rPr>
              <a:t>curve</a:t>
            </a:r>
            <a:r>
              <a:rPr lang="en-US" sz="1200" b="0" i="0" u="none" strike="noStrike" kern="1200" cap="none" dirty="0">
                <a:solidFill>
                  <a:schemeClr val="dk1"/>
                </a:solidFill>
                <a:effectLst/>
                <a:latin typeface="Arial"/>
                <a:ea typeface="Calibri" panose="020F0502020204030204" pitchFamily="34" charset="0"/>
                <a:cs typeface="Arial"/>
                <a:sym typeface="Arial"/>
              </a:rPr>
              <a:t> for content revenue remains at 0, and retail and service revenue rise slightly from 0 in 19 98 to 25 billion dollars in 2000. The economic crash occurred in the U S in 2000. During the period of Consolidation from 2001 to 2007, the curve for retail and services revenues increases from 25 billion dollars in 2001 to 140 billion in 2007. The smartphone was invented in 2007. During the period of Reinvention, during which social, mobile, and local e-commerce emerged, from 2008 to 20 18, the curve for retail revenue rises to 530 billion dollars in 20 18. Services revenue rises to 400 billion dollars in 20 18. Content revenue grows to 50 billion dollars by 20 18. All values are estimated.</a:t>
            </a:r>
            <a:endParaRPr lang="en-US" sz="1200" b="0" i="0" u="none" strike="noStrike" kern="1200" cap="none" dirty="0">
              <a:solidFill>
                <a:prstClr val="black"/>
              </a:solidFill>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042745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A3E8CE00-159F-7A21-7583-485D117E6A9A}"/>
              </a:ext>
            </a:extLst>
          </p:cNvPr>
          <p:cNvSpPr>
            <a:spLocks noGrp="1" noRot="1" noChangeAspect="1" noChangeArrowheads="1" noTextEdit="1"/>
          </p:cNvSpPr>
          <p:nvPr>
            <p:ph type="sldImg"/>
          </p:nvPr>
        </p:nvSpPr>
        <p:spPr>
          <a:ln/>
        </p:spPr>
      </p:sp>
      <p:sp>
        <p:nvSpPr>
          <p:cNvPr id="55299" name="Notes Placeholder 2">
            <a:extLst>
              <a:ext uri="{FF2B5EF4-FFF2-40B4-BE49-F238E27FC236}">
                <a16:creationId xmlns:a16="http://schemas.microsoft.com/office/drawing/2014/main" id="{11EC3CCC-C482-BDFD-CA98-F8EBDDC3837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55300" name="Slide Number Placeholder 3">
            <a:extLst>
              <a:ext uri="{FF2B5EF4-FFF2-40B4-BE49-F238E27FC236}">
                <a16:creationId xmlns:a16="http://schemas.microsoft.com/office/drawing/2014/main" id="{80AE5173-2BCA-7EB4-14A7-4F04777F703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MS PGothic" panose="020B0600070205080204" pitchFamily="34" charset="-128"/>
              </a:defRPr>
            </a:lvl1pPr>
            <a:lvl2pPr marL="742950" indent="-285750">
              <a:defRPr sz="2400">
                <a:solidFill>
                  <a:schemeClr val="tx1"/>
                </a:solidFill>
                <a:latin typeface="Tahoma" panose="020B0604030504040204" pitchFamily="34" charset="0"/>
                <a:ea typeface="MS PGothic" panose="020B0600070205080204" pitchFamily="34" charset="-128"/>
              </a:defRPr>
            </a:lvl2pPr>
            <a:lvl3pPr marL="1143000" indent="-228600">
              <a:defRPr sz="2400">
                <a:solidFill>
                  <a:schemeClr val="tx1"/>
                </a:solidFill>
                <a:latin typeface="Tahoma" panose="020B0604030504040204" pitchFamily="34" charset="0"/>
                <a:ea typeface="MS PGothic" panose="020B0600070205080204" pitchFamily="34" charset="-128"/>
              </a:defRPr>
            </a:lvl3pPr>
            <a:lvl4pPr marL="1600200" indent="-228600">
              <a:defRPr sz="2400">
                <a:solidFill>
                  <a:schemeClr val="tx1"/>
                </a:solidFill>
                <a:latin typeface="Tahoma" panose="020B0604030504040204" pitchFamily="34" charset="0"/>
                <a:ea typeface="MS PGothic" panose="020B0600070205080204" pitchFamily="34" charset="-128"/>
              </a:defRPr>
            </a:lvl4pPr>
            <a:lvl5pPr marL="2057400" indent="-228600">
              <a:defRPr sz="2400">
                <a:solidFill>
                  <a:schemeClr val="tx1"/>
                </a:solidFill>
                <a:latin typeface="Tahom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MS PGothic" panose="020B0600070205080204" pitchFamily="34" charset="-128"/>
              </a:defRPr>
            </a:lvl9pPr>
          </a:lstStyle>
          <a:p>
            <a:fld id="{E43A3EDE-72C5-4270-AADE-533DA8E2AFC1}" type="slidenum">
              <a:rPr lang="en-US" altLang="en-US" sz="1200"/>
              <a:pPr/>
              <a:t>39</a:t>
            </a:fld>
            <a:endParaRPr lang="en-US" altLang="en-US" sz="1200"/>
          </a:p>
        </p:txBody>
      </p:sp>
    </p:spTree>
    <p:extLst>
      <p:ext uri="{BB962C8B-B14F-4D97-AF65-F5344CB8AC3E}">
        <p14:creationId xmlns:p14="http://schemas.microsoft.com/office/powerpoint/2010/main" val="36417097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60E1AC-132F-4219-8723-9C6FC6D08D4A}" type="slidenum">
              <a:rPr lang="en-US" smtClean="0"/>
              <a:t>40</a:t>
            </a:fld>
            <a:endParaRPr lang="en-US"/>
          </a:p>
        </p:txBody>
      </p:sp>
    </p:spTree>
    <p:extLst>
      <p:ext uri="{BB962C8B-B14F-4D97-AF65-F5344CB8AC3E}">
        <p14:creationId xmlns:p14="http://schemas.microsoft.com/office/powerpoint/2010/main" val="27819504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A3E8CE00-159F-7A21-7583-485D117E6A9A}"/>
              </a:ext>
            </a:extLst>
          </p:cNvPr>
          <p:cNvSpPr>
            <a:spLocks noGrp="1" noRot="1" noChangeAspect="1" noChangeArrowheads="1" noTextEdit="1"/>
          </p:cNvSpPr>
          <p:nvPr>
            <p:ph type="sldImg"/>
          </p:nvPr>
        </p:nvSpPr>
        <p:spPr>
          <a:ln/>
        </p:spPr>
      </p:sp>
      <p:sp>
        <p:nvSpPr>
          <p:cNvPr id="55299" name="Notes Placeholder 2">
            <a:extLst>
              <a:ext uri="{FF2B5EF4-FFF2-40B4-BE49-F238E27FC236}">
                <a16:creationId xmlns:a16="http://schemas.microsoft.com/office/drawing/2014/main" id="{11EC3CCC-C482-BDFD-CA98-F8EBDDC3837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55300" name="Slide Number Placeholder 3">
            <a:extLst>
              <a:ext uri="{FF2B5EF4-FFF2-40B4-BE49-F238E27FC236}">
                <a16:creationId xmlns:a16="http://schemas.microsoft.com/office/drawing/2014/main" id="{80AE5173-2BCA-7EB4-14A7-4F04777F703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MS PGothic" panose="020B0600070205080204" pitchFamily="34" charset="-128"/>
              </a:defRPr>
            </a:lvl1pPr>
            <a:lvl2pPr marL="742950" indent="-285750">
              <a:defRPr sz="2400">
                <a:solidFill>
                  <a:schemeClr val="tx1"/>
                </a:solidFill>
                <a:latin typeface="Tahoma" panose="020B0604030504040204" pitchFamily="34" charset="0"/>
                <a:ea typeface="MS PGothic" panose="020B0600070205080204" pitchFamily="34" charset="-128"/>
              </a:defRPr>
            </a:lvl2pPr>
            <a:lvl3pPr marL="1143000" indent="-228600">
              <a:defRPr sz="2400">
                <a:solidFill>
                  <a:schemeClr val="tx1"/>
                </a:solidFill>
                <a:latin typeface="Tahoma" panose="020B0604030504040204" pitchFamily="34" charset="0"/>
                <a:ea typeface="MS PGothic" panose="020B0600070205080204" pitchFamily="34" charset="-128"/>
              </a:defRPr>
            </a:lvl3pPr>
            <a:lvl4pPr marL="1600200" indent="-228600">
              <a:defRPr sz="2400">
                <a:solidFill>
                  <a:schemeClr val="tx1"/>
                </a:solidFill>
                <a:latin typeface="Tahoma" panose="020B0604030504040204" pitchFamily="34" charset="0"/>
                <a:ea typeface="MS PGothic" panose="020B0600070205080204" pitchFamily="34" charset="-128"/>
              </a:defRPr>
            </a:lvl4pPr>
            <a:lvl5pPr marL="2057400" indent="-228600">
              <a:defRPr sz="2400">
                <a:solidFill>
                  <a:schemeClr val="tx1"/>
                </a:solidFill>
                <a:latin typeface="Tahom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MS PGothic" panose="020B0600070205080204" pitchFamily="34" charset="-128"/>
              </a:defRPr>
            </a:lvl9pPr>
          </a:lstStyle>
          <a:p>
            <a:fld id="{E43A3EDE-72C5-4270-AADE-533DA8E2AFC1}" type="slidenum">
              <a:rPr lang="en-US" altLang="en-US" sz="1200"/>
              <a:pPr/>
              <a:t>41</a:t>
            </a:fld>
            <a:endParaRPr lang="en-US" altLang="en-US" sz="1200"/>
          </a:p>
        </p:txBody>
      </p:sp>
    </p:spTree>
    <p:extLst>
      <p:ext uri="{BB962C8B-B14F-4D97-AF65-F5344CB8AC3E}">
        <p14:creationId xmlns:p14="http://schemas.microsoft.com/office/powerpoint/2010/main" val="22434095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966985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918002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51</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fld id="{CBF1D3BB-714B-46E0-9B8F-E98E3E5CC955}" type="datetime1">
              <a:rPr lang="en-US" smtClean="0">
                <a:solidFill>
                  <a:schemeClr val="tx1"/>
                </a:solidFill>
              </a:rPr>
              <a:t>2/3/2026</a:t>
            </a:fld>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1" i="0">
                <a:solidFill>
                  <a:srgbClr val="007AA3"/>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a:lnSpc>
                <a:spcPct val="100000"/>
              </a:lnSpc>
              <a:spcBef>
                <a:spcPts val="105"/>
              </a:spcBef>
            </a:pPr>
            <a:r>
              <a:rPr lang="en-US" spc="-5"/>
              <a:t>Copyright © 2022 Pearson Education, Inc. All Rights Reserved</a:t>
            </a:r>
            <a:endParaRPr spc="-1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2C90FBE0-2006-4E88-911D-7A64C4E58F2A}" type="datetime1">
              <a:rPr lang="en-US" smtClean="0"/>
              <a:t>2/3/2026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6160200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1" i="0">
                <a:solidFill>
                  <a:srgbClr val="007AA3"/>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a:lnSpc>
                <a:spcPct val="100000"/>
              </a:lnSpc>
              <a:spcBef>
                <a:spcPts val="105"/>
              </a:spcBef>
            </a:pPr>
            <a:r>
              <a:rPr lang="en-US" spc="-5"/>
              <a:t>Copyright © 2022 Pearson Education, Inc. All Rights Reserved</a:t>
            </a:r>
            <a:endParaRPr spc="-1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B2FE597B-F9EF-47C3-A04B-30987FF4A11E}" type="datetime1">
              <a:rPr lang="en-US" smtClean="0"/>
              <a:t>2/3/2026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955223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a:lnSpc>
                <a:spcPct val="100000"/>
              </a:lnSpc>
              <a:spcBef>
                <a:spcPts val="105"/>
              </a:spcBef>
            </a:pPr>
            <a:r>
              <a:rPr lang="en-US" spc="-5"/>
              <a:t>Copyright © 2022 Pearson Education, Inc. All Rights Reserved</a:t>
            </a:r>
            <a:endParaRPr spc="-1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A657EF0C-73A0-417B-A825-068EAD1EEBFF}" type="datetime1">
              <a:rPr lang="en-US" smtClean="0"/>
              <a:t>2/3/2026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5695802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DE14E88-95F8-4367-8F20-EA3F99116E9E}" type="datetime1">
              <a:rPr kumimoji="0" lang="en-US" sz="900" b="0" i="0" u="none" strike="noStrike" kern="0" cap="none" spc="0" normalizeH="0" baseline="0" noProof="0" smtClean="0">
                <a:ln>
                  <a:noFill/>
                </a:ln>
                <a:solidFill>
                  <a:srgbClr val="FFFFFF"/>
                </a:solidFill>
                <a:effectLst/>
                <a:uLnTx/>
                <a:uFillTx/>
                <a:latin typeface="Arial"/>
                <a:cs typeface="Arial"/>
                <a:sym typeface="Arial"/>
              </a:rPr>
              <a:t>2/3/2026</a:t>
            </a:fld>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hasCustomPrompt="1"/>
          </p:nvPr>
        </p:nvSpPr>
        <p:spPr>
          <a:xfrm>
            <a:off x="457200" y="1554920"/>
            <a:ext cx="8232775" cy="4663335"/>
          </a:xfrm>
        </p:spPr>
        <p:txBody>
          <a:bodyPr/>
          <a:lstStyle>
            <a:lvl1pPr indent="-255600">
              <a:defRPr sz="2400">
                <a:latin typeface="+mn-lt"/>
              </a:defRPr>
            </a:lvl1pPr>
            <a:lvl2pPr indent="-284400">
              <a:defRPr sz="2400">
                <a:latin typeface="+mn-lt"/>
              </a:defRPr>
            </a:lvl2pPr>
            <a:lvl3pPr indent="-230400">
              <a:buFont typeface="Wingdings" panose="05000000000000000000" pitchFamily="2" charset="2"/>
              <a:buChar char="§"/>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fld id="{5CDB8BB9-8BA4-49AA-BD9B-9E791085EF1C}" type="datetime1">
              <a:rPr lang="en-US" smtClean="0"/>
              <a:t>2/3/2026</a:t>
            </a:fld>
            <a:endParaRPr dirty="0"/>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fld id="{B4E9CB15-C30C-4E46-9026-BC6CC2364F2A}" type="datetime1">
              <a:rPr lang="en-US" smtClean="0"/>
              <a:t>2/3/2026</a:t>
            </a:fld>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fld id="{BB2AA426-ECA7-43ED-AA38-0E125A6B7FAA}" type="datetime1">
              <a:rPr lang="en-US" smtClean="0"/>
              <a:t>2/3/2026</a:t>
            </a:fld>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fld id="{31B324CE-D304-486D-B16B-7047B3C8E719}" type="datetime1">
              <a:rPr lang="en-US" smtClean="0"/>
              <a:t>2/3/2026</a:t>
            </a:fld>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1"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3274199"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fld id="{A7990AB7-44B3-4F0A-85A5-1EA4A74AD29E}" type="datetime1">
              <a:rPr lang="en-US" smtClean="0"/>
              <a:t>2/3/2026</a:t>
            </a:fld>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fld id="{D062669F-4032-42A7-876F-281F5C99089F}" type="datetime1">
              <a:rPr lang="en-US" smtClean="0"/>
              <a:t>2/3/2026</a:t>
            </a:fld>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fld id="{113DAB24-1750-441D-96EF-F63EEB9ACC15}" type="datetime1">
              <a:rPr lang="en-US" smtClean="0"/>
              <a:t>2/3/2026</a:t>
            </a:fld>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fld id="{4CEFCB37-4C05-4445-AB5B-00A376F107C9}" type="datetime1">
              <a:rPr lang="en-US" smtClean="0"/>
              <a:t>2/3/2026</a:t>
            </a:fld>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fld id="{25ADD637-A565-412B-8709-DFB0F83D40D9}" type="datetime1">
              <a:rPr lang="en-US" smtClean="0"/>
              <a:t>2/3/2026</a:t>
            </a:fld>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fld id="{258B9C39-59FB-4C7F-8961-00AB12065E99}" type="datetime1">
              <a:rPr lang="en-US" smtClean="0"/>
              <a:t>2/3/2026</a:t>
            </a:fld>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fld id="{17B7419D-133C-454F-80BA-5FB26253C34C}" type="datetime1">
              <a:rPr lang="en-US" smtClean="0"/>
              <a:t>2/3/2026</a:t>
            </a:fld>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fld id="{820517EE-BB70-4116-9EB0-4349BDE22740}" type="datetime1">
              <a:rPr lang="en-US" smtClean="0"/>
              <a:t>2/3/2026</a:t>
            </a:fld>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1" i="0">
                <a:solidFill>
                  <a:srgbClr val="007AA3"/>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a:lnSpc>
                <a:spcPct val="100000"/>
              </a:lnSpc>
              <a:spcBef>
                <a:spcPts val="105"/>
              </a:spcBef>
            </a:pPr>
            <a:r>
              <a:rPr lang="en-US" spc="-5"/>
              <a:t>Copyright © 2025, 2022, 2020 Pearson Education, Inc. All Rights Reserved</a:t>
            </a:r>
            <a:endParaRPr spc="-1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9C201C13-A86D-4990-87E9-814321EF5FD1}" type="datetime1">
              <a:rPr lang="en-US" smtClean="0"/>
              <a:t>2/3/2026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7546508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1" i="0">
                <a:solidFill>
                  <a:srgbClr val="007AA3"/>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a:lnSpc>
                <a:spcPct val="100000"/>
              </a:lnSpc>
              <a:spcBef>
                <a:spcPts val="105"/>
              </a:spcBef>
            </a:pPr>
            <a:r>
              <a:rPr lang="en-US" spc="-5"/>
              <a:t>Copyright © 2025, 2022, 2020 Pearson Education, Inc. All Rights Reserved</a:t>
            </a:r>
            <a:endParaRPr spc="-1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BCA34CDA-F2DC-465F-817D-C67CB532E0A8}" type="datetime1">
              <a:rPr lang="en-US" smtClean="0"/>
              <a:t>2/3/2026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62583640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17" Type="http://schemas.openxmlformats.org/officeDocument/2006/relationships/image" Target="../media/image1.jpg"/><Relationship Id="rId2" Type="http://schemas.openxmlformats.org/officeDocument/2006/relationships/slideLayout" Target="../slideLayouts/slideLayout6.xml"/><Relationship Id="rId16" Type="http://schemas.openxmlformats.org/officeDocument/2006/relationships/theme" Target="../theme/theme2.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5" Type="http://schemas.openxmlformats.org/officeDocument/2006/relationships/slideLayout" Target="../slideLayouts/slideLayout1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fld id="{7375747C-9F77-45EE-8F02-03967ED1E26F}" type="datetime1">
              <a:rPr lang="en-US" smtClean="0">
                <a:solidFill>
                  <a:schemeClr val="tx1"/>
                </a:solidFill>
              </a:rPr>
              <a:t>2/3/2026</a:t>
            </a:fld>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83" r:id="rId2"/>
    <p:sldLayoutId id="2147483684" r:id="rId3"/>
    <p:sldLayoutId id="2147483685" r:id="rId4"/>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2024, 2022, 2020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fld id="{C7869E9E-8511-4020-BC70-116585D7FD2D}" type="datetime1">
              <a:rPr lang="en-US" smtClean="0"/>
              <a:t>2/3/2026</a:t>
            </a:fld>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7"/>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49" r:id="rId2"/>
    <p:sldLayoutId id="2147483650" r:id="rId3"/>
    <p:sldLayoutId id="2147483676" r:id="rId4"/>
    <p:sldLayoutId id="2147483677" r:id="rId5"/>
    <p:sldLayoutId id="2147483678" r:id="rId6"/>
    <p:sldLayoutId id="2147483679" r:id="rId7"/>
    <p:sldLayoutId id="2147483680" r:id="rId8"/>
    <p:sldLayoutId id="2147483671" r:id="rId9"/>
    <p:sldLayoutId id="2147483673" r:id="rId10"/>
    <p:sldLayoutId id="2147483670" r:id="rId11"/>
    <p:sldLayoutId id="2147483669" r:id="rId12"/>
    <p:sldLayoutId id="2147483655" r:id="rId13"/>
    <p:sldLayoutId id="2147483681" r:id="rId14"/>
    <p:sldLayoutId id="2147483682" r:id="rId15"/>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5.jp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emf"/><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png"/><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9.xml"/><Relationship Id="rId5" Type="http://schemas.openxmlformats.org/officeDocument/2006/relationships/image" Target="../media/image19.jpg"/><Relationship Id="rId4" Type="http://schemas.openxmlformats.org/officeDocument/2006/relationships/image" Target="../media/image18.jpe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elcome Script Images – Browse 24,540 Stock Photos, Vectors, and Video |  Adobe Stock">
            <a:extLst>
              <a:ext uri="{FF2B5EF4-FFF2-40B4-BE49-F238E27FC236}">
                <a16:creationId xmlns:a16="http://schemas.microsoft.com/office/drawing/2014/main" id="{597BF7BD-5356-52D2-5F09-402F9F932A2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479550" y="1600200"/>
            <a:ext cx="6184900" cy="2257489"/>
          </a:xfrm>
          <a:prstGeom prst="rect">
            <a:avLst/>
          </a:prstGeom>
          <a:solidFill>
            <a:srgbClr val="FFFFFF"/>
          </a:solidFill>
        </p:spPr>
      </p:pic>
    </p:spTree>
    <p:extLst>
      <p:ext uri="{BB962C8B-B14F-4D97-AF65-F5344CB8AC3E}">
        <p14:creationId xmlns:p14="http://schemas.microsoft.com/office/powerpoint/2010/main" val="2577167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1375" y="320420"/>
            <a:ext cx="7962265" cy="505267"/>
          </a:xfrm>
          <a:prstGeom prst="rect">
            <a:avLst/>
          </a:prstGeom>
        </p:spPr>
        <p:txBody>
          <a:bodyPr vert="horz" wrap="square" lIns="0" tIns="12700" rIns="0" bIns="0" rtlCol="0">
            <a:spAutoFit/>
          </a:bodyPr>
          <a:lstStyle/>
          <a:p>
            <a:pPr marL="12700" algn="ctr">
              <a:lnSpc>
                <a:spcPct val="100000"/>
              </a:lnSpc>
              <a:spcBef>
                <a:spcPts val="100"/>
              </a:spcBef>
            </a:pPr>
            <a:r>
              <a:rPr lang="en-US" sz="3200" spc="-25" dirty="0"/>
              <a:t>E-Commerce &amp; Digital Marketing</a:t>
            </a:r>
            <a:endParaRPr lang="en-US" sz="3200" dirty="0"/>
          </a:p>
        </p:txBody>
      </p:sp>
      <p:pic>
        <p:nvPicPr>
          <p:cNvPr id="3" name="object 3"/>
          <p:cNvPicPr/>
          <p:nvPr/>
        </p:nvPicPr>
        <p:blipFill>
          <a:blip r:embed="rId3" cstate="print"/>
          <a:stretch>
            <a:fillRect/>
          </a:stretch>
        </p:blipFill>
        <p:spPr>
          <a:xfrm>
            <a:off x="251459" y="1412747"/>
            <a:ext cx="890397" cy="895730"/>
          </a:xfrm>
          <a:prstGeom prst="rect">
            <a:avLst/>
          </a:prstGeom>
        </p:spPr>
      </p:pic>
      <p:sp>
        <p:nvSpPr>
          <p:cNvPr id="4" name="object 4"/>
          <p:cNvSpPr txBox="1"/>
          <p:nvPr/>
        </p:nvSpPr>
        <p:spPr>
          <a:xfrm>
            <a:off x="8605" y="1412747"/>
            <a:ext cx="8385937" cy="4734629"/>
          </a:xfrm>
          <a:prstGeom prst="rect">
            <a:avLst/>
          </a:prstGeom>
        </p:spPr>
        <p:txBody>
          <a:bodyPr vert="horz" wrap="square" lIns="0" tIns="12700" rIns="0" bIns="0" rtlCol="0">
            <a:spAutoFit/>
          </a:bodyPr>
          <a:lstStyle/>
          <a:p>
            <a:pPr marL="1209675">
              <a:spcBef>
                <a:spcPts val="100"/>
              </a:spcBef>
            </a:pPr>
            <a:r>
              <a:rPr sz="2400" b="1" dirty="0">
                <a:solidFill>
                  <a:srgbClr val="172939"/>
                </a:solidFill>
                <a:latin typeface="Arial"/>
                <a:cs typeface="Arial"/>
              </a:rPr>
              <a:t>Main</a:t>
            </a:r>
            <a:r>
              <a:rPr sz="2400" b="1" spc="-50" dirty="0">
                <a:solidFill>
                  <a:srgbClr val="172939"/>
                </a:solidFill>
                <a:latin typeface="Arial"/>
                <a:cs typeface="Arial"/>
              </a:rPr>
              <a:t> </a:t>
            </a:r>
            <a:r>
              <a:rPr sz="2400" b="1" spc="-30" dirty="0">
                <a:solidFill>
                  <a:srgbClr val="172939"/>
                </a:solidFill>
                <a:latin typeface="Arial"/>
                <a:cs typeface="Arial"/>
              </a:rPr>
              <a:t>Topics:</a:t>
            </a:r>
            <a:endParaRPr lang="en-US" sz="2400" b="1" spc="-30" dirty="0">
              <a:solidFill>
                <a:srgbClr val="172939"/>
              </a:solidFill>
              <a:latin typeface="Arial"/>
              <a:cs typeface="Arial"/>
            </a:endParaRPr>
          </a:p>
          <a:p>
            <a:pPr marL="1209675">
              <a:spcBef>
                <a:spcPts val="100"/>
              </a:spcBef>
            </a:pPr>
            <a:endParaRPr lang="en-US" sz="2400" b="0" i="0" dirty="0">
              <a:solidFill>
                <a:srgbClr val="333333"/>
              </a:solidFill>
              <a:effectLst/>
              <a:latin typeface="OpenSans"/>
            </a:endParaRPr>
          </a:p>
          <a:p>
            <a:pPr marL="1270000" lvl="2" indent="-342900">
              <a:spcBef>
                <a:spcPts val="1835"/>
              </a:spcBef>
              <a:buFont typeface="Arial" panose="020B0604020202020204" pitchFamily="34" charset="0"/>
              <a:buChar char="•"/>
            </a:pPr>
            <a:r>
              <a:rPr lang="en-US" sz="2400" dirty="0">
                <a:latin typeface="Arial MT"/>
                <a:cs typeface="Arial MT"/>
              </a:rPr>
              <a:t>Course Introduction </a:t>
            </a:r>
          </a:p>
          <a:p>
            <a:pPr marL="1270000" lvl="2" indent="-342900">
              <a:spcBef>
                <a:spcPts val="1835"/>
              </a:spcBef>
              <a:buFont typeface="Arial" panose="020B0604020202020204" pitchFamily="34" charset="0"/>
              <a:buChar char="•"/>
            </a:pPr>
            <a:r>
              <a:rPr lang="en-US" sz="2400" dirty="0">
                <a:latin typeface="Arial MT"/>
                <a:cs typeface="Arial MT"/>
              </a:rPr>
              <a:t>Defining E-Commerce &amp; Digital Marketing </a:t>
            </a:r>
          </a:p>
          <a:p>
            <a:pPr marL="1270000" lvl="2" indent="-342900">
              <a:spcBef>
                <a:spcPts val="1835"/>
              </a:spcBef>
              <a:buFont typeface="Arial" panose="020B0604020202020204" pitchFamily="34" charset="0"/>
              <a:buChar char="•"/>
            </a:pPr>
            <a:r>
              <a:rPr lang="en-US" sz="2400" dirty="0">
                <a:latin typeface="Arial MT"/>
                <a:cs typeface="Arial MT"/>
              </a:rPr>
              <a:t>E-Commerce Vs E-Business</a:t>
            </a:r>
          </a:p>
          <a:p>
            <a:pPr marL="1270000" lvl="2" indent="-342900">
              <a:spcBef>
                <a:spcPts val="1835"/>
              </a:spcBef>
              <a:buFont typeface="Arial" panose="020B0604020202020204" pitchFamily="34" charset="0"/>
              <a:buChar char="•"/>
            </a:pPr>
            <a:r>
              <a:rPr lang="en-US" sz="2400" dirty="0">
                <a:latin typeface="Arial MT"/>
                <a:cs typeface="Arial MT"/>
              </a:rPr>
              <a:t>Types of E-Commerce</a:t>
            </a:r>
          </a:p>
          <a:p>
            <a:pPr marL="1270000" lvl="2" indent="-342900">
              <a:spcBef>
                <a:spcPts val="1835"/>
              </a:spcBef>
              <a:buFont typeface="Arial" panose="020B0604020202020204" pitchFamily="34" charset="0"/>
              <a:buChar char="•"/>
            </a:pPr>
            <a:r>
              <a:rPr lang="en-US" sz="2400" dirty="0">
                <a:latin typeface="Arial MT"/>
                <a:cs typeface="Arial MT"/>
              </a:rPr>
              <a:t>Key Concepts in Digital Marketing &amp; E-Commerce</a:t>
            </a:r>
          </a:p>
          <a:p>
            <a:pPr marL="1270000" lvl="2" indent="-342900">
              <a:spcBef>
                <a:spcPts val="1835"/>
              </a:spcBef>
              <a:buFont typeface="Arial" panose="020B0604020202020204" pitchFamily="34" charset="0"/>
              <a:buChar char="•"/>
            </a:pPr>
            <a:r>
              <a:rPr lang="en-US" sz="2400" dirty="0">
                <a:latin typeface="Arial MT"/>
                <a:cs typeface="Arial MT"/>
              </a:rPr>
              <a:t>Roles and Responsibilities in Digital Marketing and E-commerce</a:t>
            </a:r>
          </a:p>
        </p:txBody>
      </p:sp>
      <p:grpSp>
        <p:nvGrpSpPr>
          <p:cNvPr id="5" name="object 5"/>
          <p:cNvGrpSpPr/>
          <p:nvPr/>
        </p:nvGrpSpPr>
        <p:grpSpPr>
          <a:xfrm>
            <a:off x="6902450" y="1860612"/>
            <a:ext cx="2073847" cy="2464759"/>
            <a:chOff x="6826377" y="3667162"/>
            <a:chExt cx="2241550" cy="2861945"/>
          </a:xfrm>
        </p:grpSpPr>
        <p:pic>
          <p:nvPicPr>
            <p:cNvPr id="6" name="object 6"/>
            <p:cNvPicPr/>
            <p:nvPr/>
          </p:nvPicPr>
          <p:blipFill>
            <a:blip r:embed="rId4" cstate="print"/>
            <a:stretch>
              <a:fillRect/>
            </a:stretch>
          </p:blipFill>
          <p:spPr>
            <a:xfrm>
              <a:off x="6826377" y="3667162"/>
              <a:ext cx="2241169" cy="2861437"/>
            </a:xfrm>
            <a:prstGeom prst="rect">
              <a:avLst/>
            </a:prstGeom>
          </p:spPr>
        </p:pic>
        <p:pic>
          <p:nvPicPr>
            <p:cNvPr id="7" name="object 7"/>
            <p:cNvPicPr/>
            <p:nvPr/>
          </p:nvPicPr>
          <p:blipFill>
            <a:blip r:embed="rId5" cstate="print"/>
            <a:stretch>
              <a:fillRect/>
            </a:stretch>
          </p:blipFill>
          <p:spPr>
            <a:xfrm>
              <a:off x="7020306" y="3861053"/>
              <a:ext cx="1728216" cy="2349627"/>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1109577"/>
            <a:ext cx="8686800" cy="566822"/>
          </a:xfrm>
          <a:prstGeom prst="rect">
            <a:avLst/>
          </a:prstGeom>
        </p:spPr>
        <p:txBody>
          <a:bodyPr vert="horz" wrap="square" lIns="0" tIns="12700" rIns="0" bIns="0" rtlCol="0">
            <a:spAutoFit/>
          </a:bodyPr>
          <a:lstStyle/>
          <a:p>
            <a:pPr marL="12700">
              <a:lnSpc>
                <a:spcPct val="100000"/>
              </a:lnSpc>
              <a:spcBef>
                <a:spcPts val="100"/>
              </a:spcBef>
            </a:pPr>
            <a:r>
              <a:rPr lang="en-US" sz="3600" dirty="0"/>
              <a:t>E-COMMERCE &amp; </a:t>
            </a:r>
            <a:r>
              <a:rPr lang="en-US" sz="3600" spc="-40" dirty="0"/>
              <a:t>DIGITAL</a:t>
            </a:r>
            <a:r>
              <a:rPr lang="en-US" sz="3600" spc="-145" dirty="0"/>
              <a:t> </a:t>
            </a:r>
            <a:r>
              <a:rPr lang="en-US" sz="3600" dirty="0"/>
              <a:t>MARKETING</a:t>
            </a:r>
            <a:endParaRPr sz="3600" dirty="0"/>
          </a:p>
        </p:txBody>
      </p:sp>
      <p:sp>
        <p:nvSpPr>
          <p:cNvPr id="6" name="Subtitle 2">
            <a:extLst>
              <a:ext uri="{FF2B5EF4-FFF2-40B4-BE49-F238E27FC236}">
                <a16:creationId xmlns:a16="http://schemas.microsoft.com/office/drawing/2014/main" id="{0A96F356-A0CB-A3CB-601B-78563C8F77C1}"/>
              </a:ext>
            </a:extLst>
          </p:cNvPr>
          <p:cNvSpPr txBox="1">
            <a:spLocks/>
          </p:cNvSpPr>
          <p:nvPr/>
        </p:nvSpPr>
        <p:spPr>
          <a:xfrm>
            <a:off x="570511" y="2493480"/>
            <a:ext cx="5486400" cy="2286000"/>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800" kern="0" dirty="0">
                <a:solidFill>
                  <a:sysClr val="windowText" lastClr="000000"/>
                </a:solidFill>
              </a:rPr>
              <a:t>Dept of Computer Science</a:t>
            </a:r>
            <a:r>
              <a:rPr lang="en-US" sz="2000" kern="0" dirty="0">
                <a:solidFill>
                  <a:sysClr val="windowText" lastClr="000000"/>
                </a:solidFill>
              </a:rPr>
              <a:t>.</a:t>
            </a:r>
          </a:p>
        </p:txBody>
      </p:sp>
      <p:grpSp>
        <p:nvGrpSpPr>
          <p:cNvPr id="3" name="object 5">
            <a:extLst>
              <a:ext uri="{FF2B5EF4-FFF2-40B4-BE49-F238E27FC236}">
                <a16:creationId xmlns:a16="http://schemas.microsoft.com/office/drawing/2014/main" id="{169CC554-CB83-6877-4EDE-2C12714BDFA4}"/>
              </a:ext>
            </a:extLst>
          </p:cNvPr>
          <p:cNvGrpSpPr/>
          <p:nvPr/>
        </p:nvGrpSpPr>
        <p:grpSpPr>
          <a:xfrm>
            <a:off x="6554234" y="2404100"/>
            <a:ext cx="2073847" cy="2464759"/>
            <a:chOff x="6826377" y="3667162"/>
            <a:chExt cx="2241550" cy="2861945"/>
          </a:xfrm>
        </p:grpSpPr>
        <p:pic>
          <p:nvPicPr>
            <p:cNvPr id="4" name="object 6">
              <a:extLst>
                <a:ext uri="{FF2B5EF4-FFF2-40B4-BE49-F238E27FC236}">
                  <a16:creationId xmlns:a16="http://schemas.microsoft.com/office/drawing/2014/main" id="{F917F76D-C621-251D-F4F4-58AF65C54161}"/>
                </a:ext>
              </a:extLst>
            </p:cNvPr>
            <p:cNvPicPr/>
            <p:nvPr/>
          </p:nvPicPr>
          <p:blipFill>
            <a:blip r:embed="rId2" cstate="print"/>
            <a:stretch>
              <a:fillRect/>
            </a:stretch>
          </p:blipFill>
          <p:spPr>
            <a:xfrm>
              <a:off x="6826377" y="3667162"/>
              <a:ext cx="2241169" cy="2861437"/>
            </a:xfrm>
            <a:prstGeom prst="rect">
              <a:avLst/>
            </a:prstGeom>
          </p:spPr>
        </p:pic>
        <p:pic>
          <p:nvPicPr>
            <p:cNvPr id="7" name="object 7">
              <a:extLst>
                <a:ext uri="{FF2B5EF4-FFF2-40B4-BE49-F238E27FC236}">
                  <a16:creationId xmlns:a16="http://schemas.microsoft.com/office/drawing/2014/main" id="{078AFDBA-4308-A966-6C12-10599F23FB25}"/>
                </a:ext>
              </a:extLst>
            </p:cNvPr>
            <p:cNvPicPr/>
            <p:nvPr/>
          </p:nvPicPr>
          <p:blipFill>
            <a:blip r:embed="rId3" cstate="print"/>
            <a:stretch>
              <a:fillRect/>
            </a:stretch>
          </p:blipFill>
          <p:spPr>
            <a:xfrm>
              <a:off x="7020306" y="3861053"/>
              <a:ext cx="1728216" cy="2349627"/>
            </a:xfrm>
            <a:prstGeom prst="rect">
              <a:avLst/>
            </a:prstGeom>
          </p:spPr>
        </p:pic>
      </p:grpSp>
      <p:sp>
        <p:nvSpPr>
          <p:cNvPr id="10" name="TextBox 9">
            <a:extLst>
              <a:ext uri="{FF2B5EF4-FFF2-40B4-BE49-F238E27FC236}">
                <a16:creationId xmlns:a16="http://schemas.microsoft.com/office/drawing/2014/main" id="{E295756A-A424-F200-2E06-79C1D1A865D4}"/>
              </a:ext>
            </a:extLst>
          </p:cNvPr>
          <p:cNvSpPr txBox="1"/>
          <p:nvPr/>
        </p:nvSpPr>
        <p:spPr>
          <a:xfrm>
            <a:off x="349285" y="3574161"/>
            <a:ext cx="6606466" cy="523220"/>
          </a:xfrm>
          <a:prstGeom prst="rect">
            <a:avLst/>
          </a:prstGeom>
          <a:noFill/>
        </p:spPr>
        <p:txBody>
          <a:bodyPr wrap="square" lIns="91440" tIns="45720" rIns="91440" bIns="45720" anchor="t">
            <a:spAutoFit/>
          </a:bodyPr>
          <a:lstStyle/>
          <a:p>
            <a:r>
              <a:rPr lang="en-GB" sz="2800" dirty="0"/>
              <a:t>  Academic Block-II (AB-II),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046440"/>
          </a:xfrm>
        </p:spPr>
        <p:txBody>
          <a:bodyPr/>
          <a:lstStyle/>
          <a:p>
            <a:pPr algn="ctr"/>
            <a:r>
              <a:rPr lang="en-US" i="1"/>
              <a:t>Catalog Description:</a:t>
            </a:r>
            <a:r>
              <a:rPr lang="en-US"/>
              <a:t> </a:t>
            </a:r>
            <a:br>
              <a:rPr lang="en-US"/>
            </a:br>
            <a:endParaRPr lang="en-US"/>
          </a:p>
        </p:txBody>
      </p:sp>
      <p:sp>
        <p:nvSpPr>
          <p:cNvPr id="3" name="Content Placeholder 2"/>
          <p:cNvSpPr>
            <a:spLocks noGrp="1"/>
          </p:cNvSpPr>
          <p:nvPr>
            <p:ph type="body" idx="1"/>
          </p:nvPr>
        </p:nvSpPr>
        <p:spPr>
          <a:xfrm>
            <a:off x="685800" y="1295400"/>
            <a:ext cx="8229600" cy="4801314"/>
          </a:xfrm>
        </p:spPr>
        <p:txBody>
          <a:bodyPr/>
          <a:lstStyle/>
          <a:p>
            <a:pPr marL="342900" indent="-342900">
              <a:buFont typeface="+mj-lt"/>
              <a:buAutoNum type="arabicPeriod"/>
            </a:pPr>
            <a:r>
              <a:rPr lang="en-US" sz="2400" b="1" spc="-10" dirty="0">
                <a:solidFill>
                  <a:srgbClr val="1F1F1F"/>
                </a:solidFill>
                <a:effectLst/>
                <a:latin typeface="+mj-lt"/>
                <a:ea typeface="Calibri" panose="020F0502020204030204" pitchFamily="34" charset="0"/>
                <a:cs typeface="Times New Roman" panose="02020603050405020304" pitchFamily="18" charset="0"/>
              </a:rPr>
              <a:t>Foundations of Digital Marketing and E-commerce</a:t>
            </a:r>
            <a:endParaRPr lang="en-US" sz="2400" b="1" spc="-10" dirty="0">
              <a:solidFill>
                <a:srgbClr val="1F1F1F"/>
              </a:solidFill>
              <a:latin typeface="+mj-lt"/>
              <a:ea typeface="Calibri" panose="020F0502020204030204" pitchFamily="34" charset="0"/>
              <a:cs typeface="Times New Roman" panose="02020603050405020304" pitchFamily="18" charset="0"/>
            </a:endParaRPr>
          </a:p>
          <a:p>
            <a:pPr marL="342900" indent="-342900">
              <a:buFont typeface="+mj-lt"/>
              <a:buAutoNum type="arabicPeriod"/>
            </a:pPr>
            <a:r>
              <a:rPr lang="en-US" sz="2400" b="1" spc="-10" dirty="0">
                <a:solidFill>
                  <a:srgbClr val="1F1F1F"/>
                </a:solidFill>
                <a:effectLst/>
                <a:latin typeface="+mj-lt"/>
                <a:ea typeface="Calibri" panose="020F0502020204030204" pitchFamily="34" charset="0"/>
                <a:cs typeface="Times New Roman" panose="02020603050405020304" pitchFamily="18" charset="0"/>
              </a:rPr>
              <a:t>Build, Launch, and Manage E-commerce Stores </a:t>
            </a:r>
          </a:p>
          <a:p>
            <a:pPr marL="342900" indent="-342900">
              <a:buFont typeface="+mj-lt"/>
              <a:buAutoNum type="arabicPeriod"/>
            </a:pPr>
            <a:r>
              <a:rPr lang="en-US" sz="2400" b="1" spc="-10" dirty="0">
                <a:solidFill>
                  <a:srgbClr val="1F1F1F"/>
                </a:solidFill>
                <a:effectLst/>
                <a:latin typeface="+mj-lt"/>
                <a:ea typeface="Calibri" panose="020F0502020204030204" pitchFamily="34" charset="0"/>
                <a:cs typeface="Times New Roman" panose="02020603050405020304" pitchFamily="18" charset="0"/>
              </a:rPr>
              <a:t>Attract and Engage Customers with Digital Marketing </a:t>
            </a:r>
          </a:p>
          <a:p>
            <a:pPr marL="342900" indent="-342900">
              <a:buFont typeface="+mj-lt"/>
              <a:buAutoNum type="arabicPeriod"/>
            </a:pPr>
            <a:r>
              <a:rPr lang="en-US" sz="2400" b="1" spc="-10" dirty="0">
                <a:solidFill>
                  <a:srgbClr val="1F1F1F"/>
                </a:solidFill>
                <a:effectLst/>
                <a:latin typeface="+mj-lt"/>
                <a:ea typeface="Calibri" panose="020F0502020204030204" pitchFamily="34" charset="0"/>
                <a:cs typeface="Times New Roman" panose="02020603050405020304" pitchFamily="18" charset="0"/>
              </a:rPr>
              <a:t>From Likes to Leads: Interact with Customers Online</a:t>
            </a:r>
          </a:p>
          <a:p>
            <a:pPr marL="342900" indent="-342900">
              <a:buFont typeface="+mj-lt"/>
              <a:buAutoNum type="arabicPeriod"/>
            </a:pPr>
            <a:r>
              <a:rPr lang="en-US" sz="2400" b="1" spc="-10" dirty="0">
                <a:solidFill>
                  <a:srgbClr val="1F1F1F"/>
                </a:solidFill>
                <a:effectLst/>
                <a:latin typeface="+mj-lt"/>
                <a:ea typeface="Calibri" panose="020F0502020204030204" pitchFamily="34" charset="0"/>
                <a:cs typeface="Times New Roman" panose="02020603050405020304" pitchFamily="18" charset="0"/>
              </a:rPr>
              <a:t>Think Outside the Inbox: Email Marketing</a:t>
            </a:r>
          </a:p>
          <a:p>
            <a:pPr marL="342900" indent="-342900">
              <a:buFont typeface="+mj-lt"/>
              <a:buAutoNum type="arabicPeriod"/>
            </a:pPr>
            <a:r>
              <a:rPr lang="en-US" sz="2400" b="1" spc="-10" dirty="0">
                <a:solidFill>
                  <a:srgbClr val="1F1F1F"/>
                </a:solidFill>
                <a:effectLst/>
                <a:latin typeface="+mj-lt"/>
                <a:ea typeface="Calibri" panose="020F0502020204030204" pitchFamily="34" charset="0"/>
                <a:cs typeface="Times New Roman" panose="02020603050405020304" pitchFamily="18" charset="0"/>
              </a:rPr>
              <a:t>Estimate the Success: Marketing Analytics and Measurement</a:t>
            </a:r>
          </a:p>
          <a:p>
            <a:pPr marL="342900" indent="-342900">
              <a:buFont typeface="+mj-lt"/>
              <a:buAutoNum type="arabicPeriod"/>
            </a:pPr>
            <a:r>
              <a:rPr lang="en-US" sz="2400" b="1" spc="-10" dirty="0">
                <a:solidFill>
                  <a:srgbClr val="1F1F1F"/>
                </a:solidFill>
                <a:effectLst/>
                <a:latin typeface="+mj-lt"/>
                <a:ea typeface="Calibri" panose="020F0502020204030204" pitchFamily="34" charset="0"/>
                <a:cs typeface="Times New Roman" panose="02020603050405020304" pitchFamily="18" charset="0"/>
              </a:rPr>
              <a:t>Customer Satisfaction:  Develop Customer Loyalty Online</a:t>
            </a:r>
            <a:endParaRPr lang="en-US" sz="2400" dirty="0">
              <a:latin typeface="+mj-lt"/>
            </a:endParaRPr>
          </a:p>
        </p:txBody>
      </p:sp>
    </p:spTree>
    <p:extLst>
      <p:ext uri="{BB962C8B-B14F-4D97-AF65-F5344CB8AC3E}">
        <p14:creationId xmlns:p14="http://schemas.microsoft.com/office/powerpoint/2010/main" val="20763658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EAA63F17-052E-D256-0226-49E1EC4A64B9}"/>
              </a:ext>
            </a:extLst>
          </p:cNvPr>
          <p:cNvGraphicFramePr>
            <a:graphicFrameLocks noGrp="1"/>
          </p:cNvGraphicFramePr>
          <p:nvPr>
            <p:extLst>
              <p:ext uri="{D42A27DB-BD31-4B8C-83A1-F6EECF244321}">
                <p14:modId xmlns:p14="http://schemas.microsoft.com/office/powerpoint/2010/main" val="197489273"/>
              </p:ext>
            </p:extLst>
          </p:nvPr>
        </p:nvGraphicFramePr>
        <p:xfrm>
          <a:off x="85060" y="0"/>
          <a:ext cx="8984512" cy="6843505"/>
        </p:xfrm>
        <a:graphic>
          <a:graphicData uri="http://schemas.openxmlformats.org/drawingml/2006/table">
            <a:tbl>
              <a:tblPr firstRow="1" firstCol="1" bandRow="1">
                <a:tableStyleId>{5C22544A-7EE6-4342-B048-85BDC9FD1C3A}</a:tableStyleId>
              </a:tblPr>
              <a:tblGrid>
                <a:gridCol w="731164">
                  <a:extLst>
                    <a:ext uri="{9D8B030D-6E8A-4147-A177-3AD203B41FA5}">
                      <a16:colId xmlns:a16="http://schemas.microsoft.com/office/drawing/2014/main" val="655718962"/>
                    </a:ext>
                  </a:extLst>
                </a:gridCol>
                <a:gridCol w="8253348">
                  <a:extLst>
                    <a:ext uri="{9D8B030D-6E8A-4147-A177-3AD203B41FA5}">
                      <a16:colId xmlns:a16="http://schemas.microsoft.com/office/drawing/2014/main" val="3634818246"/>
                    </a:ext>
                  </a:extLst>
                </a:gridCol>
              </a:tblGrid>
              <a:tr h="300544">
                <a:tc>
                  <a:txBody>
                    <a:bodyPr/>
                    <a:lstStyle/>
                    <a:p>
                      <a:pPr marL="0" marR="171450" algn="ctr">
                        <a:lnSpc>
                          <a:spcPct val="115000"/>
                        </a:lnSpc>
                        <a:spcBef>
                          <a:spcPts val="0"/>
                        </a:spcBef>
                        <a:spcAft>
                          <a:spcPts val="0"/>
                        </a:spcAft>
                      </a:pPr>
                      <a:r>
                        <a:rPr lang="en-US" sz="1400" dirty="0">
                          <a:effectLst/>
                        </a:rPr>
                        <a:t>Unit</a:t>
                      </a:r>
                      <a:endParaRPr lang="en-US"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0843" marR="60843" marT="0" marB="0" anchor="ctr"/>
                </a:tc>
                <a:tc>
                  <a:txBody>
                    <a:bodyPr/>
                    <a:lstStyle/>
                    <a:p>
                      <a:pPr marL="0" marR="171450" algn="ctr">
                        <a:lnSpc>
                          <a:spcPct val="115000"/>
                        </a:lnSpc>
                        <a:spcBef>
                          <a:spcPts val="0"/>
                        </a:spcBef>
                        <a:spcAft>
                          <a:spcPts val="0"/>
                        </a:spcAft>
                      </a:pPr>
                      <a:r>
                        <a:rPr lang="en-US" sz="1400" dirty="0">
                          <a:effectLst/>
                        </a:rPr>
                        <a:t>Topic</a:t>
                      </a:r>
                      <a:endParaRPr lang="en-US"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0843" marR="60843" marT="0" marB="0" anchor="ctr"/>
                </a:tc>
                <a:extLst>
                  <a:ext uri="{0D108BD9-81ED-4DB2-BD59-A6C34878D82A}">
                    <a16:rowId xmlns:a16="http://schemas.microsoft.com/office/drawing/2014/main" val="3271523332"/>
                  </a:ext>
                </a:extLst>
              </a:tr>
              <a:tr h="743764">
                <a:tc>
                  <a:txBody>
                    <a:bodyPr/>
                    <a:lstStyle/>
                    <a:p>
                      <a:pPr marL="342900" marR="171450" lvl="0" indent="-342900">
                        <a:lnSpc>
                          <a:spcPct val="115000"/>
                        </a:lnSpc>
                        <a:spcBef>
                          <a:spcPts val="0"/>
                        </a:spcBef>
                        <a:spcAft>
                          <a:spcPts val="0"/>
                        </a:spcAft>
                        <a:buFont typeface="+mj-lt"/>
                        <a:buAutoNum type="arabicPeriod"/>
                      </a:pPr>
                      <a:r>
                        <a:rPr lang="en-US" sz="1400" dirty="0">
                          <a:effectLst/>
                        </a:rPr>
                        <a:t> </a:t>
                      </a:r>
                      <a:endParaRPr lang="en-US"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0843" marR="60843" marT="0" marB="0" anchor="ctr"/>
                </a:tc>
                <a:tc>
                  <a:txBody>
                    <a:bodyPr/>
                    <a:lstStyle/>
                    <a:p>
                      <a:pPr marL="0" marR="0" algn="just">
                        <a:lnSpc>
                          <a:spcPct val="115000"/>
                        </a:lnSpc>
                        <a:spcBef>
                          <a:spcPts val="0"/>
                        </a:spcBef>
                        <a:spcAft>
                          <a:spcPts val="0"/>
                        </a:spcAft>
                      </a:pPr>
                      <a:r>
                        <a:rPr lang="en-US" sz="1500" dirty="0">
                          <a:effectLst/>
                        </a:rPr>
                        <a:t>E-Commerce &amp; DM Foundation Concepts: Definition, Overview, E-Business, Types &amp; Features, and Business Models; Roles &amp; Responsibilities; Industry Analysis, and Value Chains &amp; Value Web.</a:t>
                      </a:r>
                      <a:endParaRPr lang="en-US" sz="15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843" marR="60843" marT="0" marB="0" anchor="ctr"/>
                </a:tc>
                <a:extLst>
                  <a:ext uri="{0D108BD9-81ED-4DB2-BD59-A6C34878D82A}">
                    <a16:rowId xmlns:a16="http://schemas.microsoft.com/office/drawing/2014/main" val="2755663429"/>
                  </a:ext>
                </a:extLst>
              </a:tr>
              <a:tr h="927118">
                <a:tc>
                  <a:txBody>
                    <a:bodyPr/>
                    <a:lstStyle/>
                    <a:p>
                      <a:pPr marL="0" marR="171450" lvl="0" indent="0">
                        <a:lnSpc>
                          <a:spcPct val="115000"/>
                        </a:lnSpc>
                        <a:spcBef>
                          <a:spcPts val="0"/>
                        </a:spcBef>
                        <a:spcAft>
                          <a:spcPts val="0"/>
                        </a:spcAft>
                        <a:buFont typeface="+mj-lt"/>
                        <a:buNone/>
                      </a:pPr>
                      <a:r>
                        <a:rPr lang="en-US" sz="1400" dirty="0">
                          <a:effectLst/>
                        </a:rPr>
                        <a:t>2 </a:t>
                      </a:r>
                      <a:endParaRPr lang="en-US"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0843" marR="60843" marT="0" marB="0" anchor="ctr"/>
                </a:tc>
                <a:tc>
                  <a:txBody>
                    <a:bodyPr/>
                    <a:lstStyle/>
                    <a:p>
                      <a:pPr marL="0" marR="0" algn="just">
                        <a:lnSpc>
                          <a:spcPct val="115000"/>
                        </a:lnSpc>
                        <a:spcBef>
                          <a:spcPts val="0"/>
                        </a:spcBef>
                        <a:spcAft>
                          <a:spcPts val="0"/>
                        </a:spcAft>
                      </a:pPr>
                      <a:r>
                        <a:rPr lang="en-US" sz="1500">
                          <a:effectLst/>
                        </a:rPr>
                        <a:t>Development of E-Commerce: E-Commerce Site-Building Components; Web Architecture &amp; Website Optimization; Platforms &amp; Domains: Shopify or WordPress, Server Types, Elements of E-commerce Store, Researching &amp; sourcing products; and SDLC Implementation Costs.</a:t>
                      </a:r>
                      <a:endParaRPr lang="en-US" sz="1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843" marR="60843" marT="0" marB="0"/>
                </a:tc>
                <a:extLst>
                  <a:ext uri="{0D108BD9-81ED-4DB2-BD59-A6C34878D82A}">
                    <a16:rowId xmlns:a16="http://schemas.microsoft.com/office/drawing/2014/main" val="3592953440"/>
                  </a:ext>
                </a:extLst>
              </a:tr>
              <a:tr h="743764">
                <a:tc>
                  <a:txBody>
                    <a:bodyPr/>
                    <a:lstStyle/>
                    <a:p>
                      <a:pPr marL="0" marR="171450" lvl="0" indent="0">
                        <a:lnSpc>
                          <a:spcPct val="115000"/>
                        </a:lnSpc>
                        <a:spcBef>
                          <a:spcPts val="0"/>
                        </a:spcBef>
                        <a:spcAft>
                          <a:spcPts val="0"/>
                        </a:spcAft>
                        <a:buFont typeface="+mj-lt"/>
                        <a:buNone/>
                      </a:pPr>
                      <a:r>
                        <a:rPr lang="en-US" sz="1400" dirty="0">
                          <a:effectLst/>
                        </a:rPr>
                        <a:t>3 </a:t>
                      </a:r>
                      <a:endParaRPr lang="en-US"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0843" marR="60843" marT="0" marB="0" anchor="ctr"/>
                </a:tc>
                <a:tc>
                  <a:txBody>
                    <a:bodyPr/>
                    <a:lstStyle/>
                    <a:p>
                      <a:pPr marL="0" marR="0" algn="just">
                        <a:lnSpc>
                          <a:spcPct val="115000"/>
                        </a:lnSpc>
                        <a:spcBef>
                          <a:spcPts val="0"/>
                        </a:spcBef>
                        <a:spcAft>
                          <a:spcPts val="0"/>
                        </a:spcAft>
                      </a:pPr>
                      <a:r>
                        <a:rPr lang="en-US" sz="1500" dirty="0">
                          <a:effectLst/>
                        </a:rPr>
                        <a:t>Payment Systems: Types, E-Commerce Payment Systems, Mobile Payment Systems, Digital Cash &amp; Virtual Currencies, Electronic Billing &amp; Its Models; Economic Viability, and Functions of CRM.</a:t>
                      </a:r>
                      <a:endParaRPr lang="en-US" sz="15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843" marR="60843" marT="0" marB="0"/>
                </a:tc>
                <a:extLst>
                  <a:ext uri="{0D108BD9-81ED-4DB2-BD59-A6C34878D82A}">
                    <a16:rowId xmlns:a16="http://schemas.microsoft.com/office/drawing/2014/main" val="1078725085"/>
                  </a:ext>
                </a:extLst>
              </a:tr>
              <a:tr h="1015980">
                <a:tc>
                  <a:txBody>
                    <a:bodyPr/>
                    <a:lstStyle/>
                    <a:p>
                      <a:pPr marL="0" marR="171450" lvl="0" indent="0">
                        <a:lnSpc>
                          <a:spcPct val="115000"/>
                        </a:lnSpc>
                        <a:spcBef>
                          <a:spcPts val="0"/>
                        </a:spcBef>
                        <a:spcAft>
                          <a:spcPts val="0"/>
                        </a:spcAft>
                        <a:buFont typeface="+mj-lt"/>
                        <a:buNone/>
                      </a:pPr>
                      <a:r>
                        <a:rPr lang="en-US" sz="1400" dirty="0">
                          <a:effectLst/>
                        </a:rPr>
                        <a:t>4 </a:t>
                      </a:r>
                      <a:endParaRPr lang="en-US"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0843" marR="60843" marT="0" marB="0" anchor="ctr"/>
                </a:tc>
                <a:tc>
                  <a:txBody>
                    <a:bodyPr/>
                    <a:lstStyle/>
                    <a:p>
                      <a:pPr marL="0" marR="0" algn="just">
                        <a:lnSpc>
                          <a:spcPct val="115000"/>
                        </a:lnSpc>
                        <a:spcBef>
                          <a:spcPts val="0"/>
                        </a:spcBef>
                        <a:spcAft>
                          <a:spcPts val="0"/>
                        </a:spcAft>
                      </a:pPr>
                      <a:r>
                        <a:rPr lang="en-US" sz="1500" dirty="0">
                          <a:effectLst/>
                        </a:rPr>
                        <a:t>Digital Marketing(DM) Prologue: Digital &amp; Multichannel  Marketing, Effective Marketing Strategy: Customer  Journey Map; Marketing Funnel &amp; Its Tyes, and Measuring Success; Value of Brands, Brand Safety; Elements of DM Strategy; SMART Goals; Paid, Owned &amp; Earned media; and Customer personas.</a:t>
                      </a:r>
                      <a:endParaRPr lang="en-US" sz="15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843" marR="60843" marT="0" marB="0"/>
                </a:tc>
                <a:extLst>
                  <a:ext uri="{0D108BD9-81ED-4DB2-BD59-A6C34878D82A}">
                    <a16:rowId xmlns:a16="http://schemas.microsoft.com/office/drawing/2014/main" val="468069624"/>
                  </a:ext>
                </a:extLst>
              </a:tr>
              <a:tr h="757902">
                <a:tc>
                  <a:txBody>
                    <a:bodyPr/>
                    <a:lstStyle/>
                    <a:p>
                      <a:pPr marL="0" marR="171450" lvl="0" indent="0">
                        <a:lnSpc>
                          <a:spcPct val="115000"/>
                        </a:lnSpc>
                        <a:spcBef>
                          <a:spcPts val="0"/>
                        </a:spcBef>
                        <a:spcAft>
                          <a:spcPts val="0"/>
                        </a:spcAft>
                        <a:buFont typeface="+mj-lt"/>
                        <a:buNone/>
                      </a:pPr>
                      <a:r>
                        <a:rPr lang="en-US" sz="1400" dirty="0">
                          <a:effectLst/>
                        </a:rPr>
                        <a:t>5 </a:t>
                      </a:r>
                      <a:endParaRPr lang="en-US"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0843" marR="60843" marT="0" marB="0" anchor="ctr"/>
                </a:tc>
                <a:tc>
                  <a:txBody>
                    <a:bodyPr/>
                    <a:lstStyle/>
                    <a:p>
                      <a:pPr marL="0" marR="0" algn="just">
                        <a:lnSpc>
                          <a:spcPct val="115000"/>
                        </a:lnSpc>
                        <a:spcBef>
                          <a:spcPts val="0"/>
                        </a:spcBef>
                        <a:spcAft>
                          <a:spcPts val="0"/>
                        </a:spcAft>
                      </a:pPr>
                      <a:r>
                        <a:rPr lang="en-US" sz="1500">
                          <a:effectLst/>
                        </a:rPr>
                        <a:t>Marketing Strategies: Generic Business Strategies, Focused Marketing Strategies: Customer Retention, Pricing, and Longtail; Online Auctions: E-Bay Case Study; and Application of E-Commerce: Amazon Case Study.</a:t>
                      </a:r>
                      <a:endParaRPr lang="en-US" sz="1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843" marR="60843" marT="0" marB="0"/>
                </a:tc>
                <a:extLst>
                  <a:ext uri="{0D108BD9-81ED-4DB2-BD59-A6C34878D82A}">
                    <a16:rowId xmlns:a16="http://schemas.microsoft.com/office/drawing/2014/main" val="3434044124"/>
                  </a:ext>
                </a:extLst>
              </a:tr>
              <a:tr h="1253393">
                <a:tc>
                  <a:txBody>
                    <a:bodyPr/>
                    <a:lstStyle/>
                    <a:p>
                      <a:pPr marL="0" marR="171450" lvl="0" indent="0">
                        <a:lnSpc>
                          <a:spcPct val="115000"/>
                        </a:lnSpc>
                        <a:spcBef>
                          <a:spcPts val="0"/>
                        </a:spcBef>
                        <a:spcAft>
                          <a:spcPts val="0"/>
                        </a:spcAft>
                        <a:buFont typeface="+mj-lt"/>
                        <a:buNone/>
                      </a:pPr>
                      <a:r>
                        <a:rPr lang="en-US" sz="1400" dirty="0">
                          <a:effectLst/>
                        </a:rPr>
                        <a:t>6 </a:t>
                      </a:r>
                      <a:endParaRPr lang="en-US"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0843" marR="60843" marT="0" marB="0" anchor="ctr"/>
                </a:tc>
                <a:tc>
                  <a:txBody>
                    <a:bodyPr/>
                    <a:lstStyle/>
                    <a:p>
                      <a:pPr marL="0" marR="0" algn="just">
                        <a:lnSpc>
                          <a:spcPct val="115000"/>
                        </a:lnSpc>
                        <a:spcBef>
                          <a:spcPts val="0"/>
                        </a:spcBef>
                        <a:spcAft>
                          <a:spcPts val="0"/>
                        </a:spcAft>
                      </a:pPr>
                      <a:r>
                        <a:rPr lang="en-US" sz="1500" dirty="0">
                          <a:effectLst/>
                        </a:rPr>
                        <a:t>Digital Marketing Implementation: Working of Search Engine; SEO: Purpose, Essential Terms, Best Practices, and Effective Keyword Research &amp; Recommendations; SEM: Benefits, Types, and Structures of SEM Ads and Implementations; Creating Ads Campaigns; Display Advertising Types; Display Ads Best Practices; and Analytics Concepts.</a:t>
                      </a:r>
                      <a:endParaRPr lang="en-US" sz="15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843" marR="60843" marT="0" marB="0" anchor="ctr"/>
                </a:tc>
                <a:extLst>
                  <a:ext uri="{0D108BD9-81ED-4DB2-BD59-A6C34878D82A}">
                    <a16:rowId xmlns:a16="http://schemas.microsoft.com/office/drawing/2014/main" val="3933673654"/>
                  </a:ext>
                </a:extLst>
              </a:tr>
              <a:tr h="998578">
                <a:tc>
                  <a:txBody>
                    <a:bodyPr/>
                    <a:lstStyle/>
                    <a:p>
                      <a:pPr marL="0" marR="171450" lvl="0" indent="0">
                        <a:lnSpc>
                          <a:spcPct val="115000"/>
                        </a:lnSpc>
                        <a:spcBef>
                          <a:spcPts val="0"/>
                        </a:spcBef>
                        <a:spcAft>
                          <a:spcPts val="0"/>
                        </a:spcAft>
                        <a:buFont typeface="+mj-lt"/>
                        <a:buNone/>
                      </a:pPr>
                      <a:r>
                        <a:rPr lang="en-US" sz="1400" dirty="0">
                          <a:effectLst/>
                        </a:rPr>
                        <a:t>7 </a:t>
                      </a:r>
                      <a:endParaRPr lang="en-US"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0843" marR="60843" marT="0" marB="0" anchor="ctr"/>
                </a:tc>
                <a:tc>
                  <a:txBody>
                    <a:bodyPr/>
                    <a:lstStyle/>
                    <a:p>
                      <a:pPr marL="0" marR="0" algn="just">
                        <a:lnSpc>
                          <a:spcPct val="115000"/>
                        </a:lnSpc>
                        <a:spcBef>
                          <a:spcPts val="0"/>
                        </a:spcBef>
                        <a:spcAft>
                          <a:spcPts val="0"/>
                        </a:spcAft>
                      </a:pPr>
                      <a:r>
                        <a:rPr lang="en-US" sz="1500" dirty="0">
                          <a:effectLst/>
                        </a:rPr>
                        <a:t>Digital Marketing Technologies: Social Marketing: Five Core Pillars, Planning &amp; Publishing, Listening &amp; Engagement, Analytics &amp; Reporting, and Advertising; E-mail Marketing: Common Categories, SWOT &amp; PESTLE Frameworks, Building &amp; Managing Email Lists; and Email Marketing Metrics.</a:t>
                      </a:r>
                      <a:endParaRPr lang="en-US" sz="15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843" marR="60843" marT="0" marB="0" anchor="ctr"/>
                </a:tc>
                <a:extLst>
                  <a:ext uri="{0D108BD9-81ED-4DB2-BD59-A6C34878D82A}">
                    <a16:rowId xmlns:a16="http://schemas.microsoft.com/office/drawing/2014/main" val="1893161578"/>
                  </a:ext>
                </a:extLst>
              </a:tr>
            </a:tbl>
          </a:graphicData>
        </a:graphic>
      </p:graphicFrame>
    </p:spTree>
    <p:extLst>
      <p:ext uri="{BB962C8B-B14F-4D97-AF65-F5344CB8AC3E}">
        <p14:creationId xmlns:p14="http://schemas.microsoft.com/office/powerpoint/2010/main" val="38586281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C4489C-F274-1649-7DE9-D1A33CAD5E8E}"/>
              </a:ext>
            </a:extLst>
          </p:cNvPr>
          <p:cNvPicPr>
            <a:picLocks noChangeAspect="1"/>
          </p:cNvPicPr>
          <p:nvPr/>
        </p:nvPicPr>
        <p:blipFill>
          <a:blip r:embed="rId2"/>
          <a:stretch>
            <a:fillRect/>
          </a:stretch>
        </p:blipFill>
        <p:spPr>
          <a:xfrm>
            <a:off x="4789967" y="1195440"/>
            <a:ext cx="4191000" cy="4905103"/>
          </a:xfrm>
          <a:prstGeom prst="rect">
            <a:avLst/>
          </a:prstGeom>
        </p:spPr>
      </p:pic>
      <p:sp>
        <p:nvSpPr>
          <p:cNvPr id="7" name="Title 1">
            <a:extLst>
              <a:ext uri="{FF2B5EF4-FFF2-40B4-BE49-F238E27FC236}">
                <a16:creationId xmlns:a16="http://schemas.microsoft.com/office/drawing/2014/main" id="{7EA2E772-2328-B6B5-D4C0-FC0730927C67}"/>
              </a:ext>
            </a:extLst>
          </p:cNvPr>
          <p:cNvSpPr txBox="1">
            <a:spLocks/>
          </p:cNvSpPr>
          <p:nvPr/>
        </p:nvSpPr>
        <p:spPr>
          <a:xfrm>
            <a:off x="457200" y="533400"/>
            <a:ext cx="8229600" cy="1324081"/>
          </a:xfrm>
          <a:prstGeom prst="rect">
            <a:avLst/>
          </a:prstGeom>
        </p:spPr>
        <p:txBody>
          <a:bodyPr/>
          <a:lstStyle>
            <a:lvl1pPr>
              <a:defRPr>
                <a:latin typeface="+mj-lt"/>
                <a:ea typeface="+mj-ea"/>
                <a:cs typeface="+mj-cs"/>
              </a:defRPr>
            </a:lvl1pPr>
          </a:lstStyle>
          <a:p>
            <a:pPr algn="ctr"/>
            <a:r>
              <a:rPr kumimoji="0" lang="en-US" sz="3400" b="1" u="none" strike="noStrike" kern="0" cap="none" spc="0" normalizeH="0" baseline="0" noProof="0">
                <a:ln>
                  <a:noFill/>
                </a:ln>
                <a:solidFill>
                  <a:srgbClr val="007AA3"/>
                </a:solidFill>
                <a:effectLst/>
                <a:uLnTx/>
                <a:uFillTx/>
                <a:latin typeface="Arial"/>
                <a:ea typeface="+mj-ea"/>
                <a:cs typeface="Arial"/>
              </a:rPr>
              <a:t>Textbooks </a:t>
            </a:r>
            <a:endParaRPr lang="en-US" b="1" kern="0">
              <a:solidFill>
                <a:sysClr val="windowText" lastClr="000000"/>
              </a:solidFill>
            </a:endParaRPr>
          </a:p>
        </p:txBody>
      </p:sp>
      <p:pic>
        <p:nvPicPr>
          <p:cNvPr id="3" name="Picture 2">
            <a:extLst>
              <a:ext uri="{FF2B5EF4-FFF2-40B4-BE49-F238E27FC236}">
                <a16:creationId xmlns:a16="http://schemas.microsoft.com/office/drawing/2014/main" id="{1C4CA29A-BE2D-6064-9C83-5CE165B01A7F}"/>
              </a:ext>
            </a:extLst>
          </p:cNvPr>
          <p:cNvPicPr>
            <a:picLocks noChangeAspect="1"/>
          </p:cNvPicPr>
          <p:nvPr/>
        </p:nvPicPr>
        <p:blipFill>
          <a:blip r:embed="rId3"/>
          <a:stretch>
            <a:fillRect/>
          </a:stretch>
        </p:blipFill>
        <p:spPr>
          <a:xfrm>
            <a:off x="304800" y="1182037"/>
            <a:ext cx="4191000" cy="5228272"/>
          </a:xfrm>
          <a:prstGeom prst="rect">
            <a:avLst/>
          </a:prstGeom>
        </p:spPr>
      </p:pic>
    </p:spTree>
    <p:extLst>
      <p:ext uri="{BB962C8B-B14F-4D97-AF65-F5344CB8AC3E}">
        <p14:creationId xmlns:p14="http://schemas.microsoft.com/office/powerpoint/2010/main" val="2562839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523220"/>
          </a:xfrm>
        </p:spPr>
        <p:txBody>
          <a:bodyPr/>
          <a:lstStyle/>
          <a:p>
            <a:pPr algn="ctr"/>
            <a:r>
              <a:rPr lang="en-US" i="1" dirty="0"/>
              <a:t>Course Learning Outcomes:</a:t>
            </a:r>
            <a:endParaRPr lang="en-US" dirty="0"/>
          </a:p>
        </p:txBody>
      </p:sp>
      <p:graphicFrame>
        <p:nvGraphicFramePr>
          <p:cNvPr id="4" name="Table 3">
            <a:extLst>
              <a:ext uri="{FF2B5EF4-FFF2-40B4-BE49-F238E27FC236}">
                <a16:creationId xmlns:a16="http://schemas.microsoft.com/office/drawing/2014/main" id="{38999659-0C7B-A184-37F6-DBE0E4914536}"/>
              </a:ext>
            </a:extLst>
          </p:cNvPr>
          <p:cNvGraphicFramePr>
            <a:graphicFrameLocks noGrp="1"/>
          </p:cNvGraphicFramePr>
          <p:nvPr/>
        </p:nvGraphicFramePr>
        <p:xfrm>
          <a:off x="457200" y="1158948"/>
          <a:ext cx="8229600" cy="5475768"/>
        </p:xfrm>
        <a:graphic>
          <a:graphicData uri="http://schemas.openxmlformats.org/drawingml/2006/table">
            <a:tbl>
              <a:tblPr firstRow="1" firstCol="1" bandRow="1">
                <a:tableStyleId>{5C22544A-7EE6-4342-B048-85BDC9FD1C3A}</a:tableStyleId>
              </a:tblPr>
              <a:tblGrid>
                <a:gridCol w="901411">
                  <a:extLst>
                    <a:ext uri="{9D8B030D-6E8A-4147-A177-3AD203B41FA5}">
                      <a16:colId xmlns:a16="http://schemas.microsoft.com/office/drawing/2014/main" val="2200070779"/>
                    </a:ext>
                  </a:extLst>
                </a:gridCol>
                <a:gridCol w="825210">
                  <a:extLst>
                    <a:ext uri="{9D8B030D-6E8A-4147-A177-3AD203B41FA5}">
                      <a16:colId xmlns:a16="http://schemas.microsoft.com/office/drawing/2014/main" val="2636606364"/>
                    </a:ext>
                  </a:extLst>
                </a:gridCol>
                <a:gridCol w="4190133">
                  <a:extLst>
                    <a:ext uri="{9D8B030D-6E8A-4147-A177-3AD203B41FA5}">
                      <a16:colId xmlns:a16="http://schemas.microsoft.com/office/drawing/2014/main" val="846778853"/>
                    </a:ext>
                  </a:extLst>
                </a:gridCol>
                <a:gridCol w="1505818">
                  <a:extLst>
                    <a:ext uri="{9D8B030D-6E8A-4147-A177-3AD203B41FA5}">
                      <a16:colId xmlns:a16="http://schemas.microsoft.com/office/drawing/2014/main" val="4176295668"/>
                    </a:ext>
                  </a:extLst>
                </a:gridCol>
                <a:gridCol w="807028">
                  <a:extLst>
                    <a:ext uri="{9D8B030D-6E8A-4147-A177-3AD203B41FA5}">
                      <a16:colId xmlns:a16="http://schemas.microsoft.com/office/drawing/2014/main" val="1977878571"/>
                    </a:ext>
                  </a:extLst>
                </a:gridCol>
              </a:tblGrid>
              <a:tr h="1115053">
                <a:tc>
                  <a:txBody>
                    <a:bodyPr/>
                    <a:lstStyle/>
                    <a:p>
                      <a:pPr marL="0" marR="0" algn="ctr">
                        <a:lnSpc>
                          <a:spcPct val="115000"/>
                        </a:lnSpc>
                        <a:spcBef>
                          <a:spcPts val="0"/>
                        </a:spcBef>
                        <a:spcAft>
                          <a:spcPts val="0"/>
                        </a:spcAft>
                      </a:pPr>
                      <a:r>
                        <a:rPr lang="en-GB" sz="1600">
                          <a:effectLst/>
                        </a:rPr>
                        <a:t>Sr.#</a:t>
                      </a:r>
                      <a:endParaRPr lang="en-US"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GB" sz="1600">
                          <a:effectLst/>
                        </a:rPr>
                        <a:t>Unit #</a:t>
                      </a:r>
                      <a:endParaRPr lang="en-US"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GB" sz="1600">
                          <a:effectLst/>
                        </a:rPr>
                        <a:t>Course Learning Outcomes</a:t>
                      </a:r>
                      <a:endParaRPr lang="en-US"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GB" sz="1600">
                          <a:effectLst/>
                        </a:rPr>
                        <a:t>Blooms Taxonomy Learning Level</a:t>
                      </a:r>
                      <a:endParaRPr lang="en-US"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GB" sz="1600" dirty="0">
                          <a:effectLst/>
                          <a:latin typeface="Calibri" panose="020F0502020204030204" pitchFamily="34" charset="0"/>
                          <a:ea typeface="Times New Roman" panose="02020603050405020304" pitchFamily="18" charset="0"/>
                          <a:cs typeface="Times New Roman" panose="02020603050405020304" pitchFamily="18" charset="0"/>
                        </a:rPr>
                        <a:t>GA</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365676143"/>
                  </a:ext>
                </a:extLst>
              </a:tr>
              <a:tr h="355120">
                <a:tc gridSpan="5">
                  <a:txBody>
                    <a:bodyPr/>
                    <a:lstStyle/>
                    <a:p>
                      <a:pPr marL="67945" marR="60325" algn="ctr">
                        <a:lnSpc>
                          <a:spcPct val="115000"/>
                        </a:lnSpc>
                        <a:spcBef>
                          <a:spcPts val="15"/>
                        </a:spcBef>
                        <a:spcAft>
                          <a:spcPts val="0"/>
                        </a:spcAft>
                      </a:pPr>
                      <a:r>
                        <a:rPr lang="en-US" sz="1600">
                          <a:effectLst/>
                        </a:rPr>
                        <a:t>CLO’s for Theory</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719466145"/>
                  </a:ext>
                </a:extLst>
              </a:tr>
              <a:tr h="859731">
                <a:tc>
                  <a:txBody>
                    <a:bodyPr/>
                    <a:lstStyle/>
                    <a:p>
                      <a:pPr marL="0" marR="0" algn="ctr">
                        <a:lnSpc>
                          <a:spcPct val="115000"/>
                        </a:lnSpc>
                        <a:spcBef>
                          <a:spcPts val="0"/>
                        </a:spcBef>
                        <a:spcAft>
                          <a:spcPts val="0"/>
                        </a:spcAft>
                      </a:pPr>
                      <a:r>
                        <a:rPr lang="en-US" sz="1600">
                          <a:effectLst/>
                        </a:rPr>
                        <a:t>CLO-1</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1600">
                          <a:effectLst/>
                        </a:rPr>
                        <a:t>1-4</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just">
                        <a:lnSpc>
                          <a:spcPct val="115000"/>
                        </a:lnSpc>
                        <a:spcBef>
                          <a:spcPts val="0"/>
                        </a:spcBef>
                        <a:spcAft>
                          <a:spcPts val="0"/>
                        </a:spcAft>
                      </a:pPr>
                      <a:r>
                        <a:rPr lang="en-US" sz="1600">
                          <a:effectLst/>
                        </a:rPr>
                        <a:t>Explain the fundamental concepts,  platforms, and technologies of E-Commerce and digital marketing.</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67945" marR="60325" algn="ctr">
                        <a:lnSpc>
                          <a:spcPct val="115000"/>
                        </a:lnSpc>
                        <a:spcBef>
                          <a:spcPts val="15"/>
                        </a:spcBef>
                        <a:spcAft>
                          <a:spcPts val="0"/>
                        </a:spcAft>
                      </a:pPr>
                      <a:r>
                        <a:rPr lang="en-US" sz="1600">
                          <a:effectLst/>
                        </a:rPr>
                        <a:t>Understanding</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67945" marR="60325" algn="ctr">
                        <a:lnSpc>
                          <a:spcPct val="115000"/>
                        </a:lnSpc>
                        <a:spcBef>
                          <a:spcPts val="15"/>
                        </a:spcBef>
                        <a:spcAft>
                          <a:spcPts val="0"/>
                        </a:spcAf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2</a:t>
                      </a:r>
                    </a:p>
                  </a:txBody>
                  <a:tcPr marL="68580" marR="68580" marT="0" marB="0" anchor="ctr"/>
                </a:tc>
                <a:extLst>
                  <a:ext uri="{0D108BD9-81ED-4DB2-BD59-A6C34878D82A}">
                    <a16:rowId xmlns:a16="http://schemas.microsoft.com/office/drawing/2014/main" val="868170921"/>
                  </a:ext>
                </a:extLst>
              </a:tr>
              <a:tr h="734213">
                <a:tc>
                  <a:txBody>
                    <a:bodyPr/>
                    <a:lstStyle/>
                    <a:p>
                      <a:pPr marL="0" marR="0" algn="ctr">
                        <a:lnSpc>
                          <a:spcPct val="115000"/>
                        </a:lnSpc>
                        <a:spcBef>
                          <a:spcPts val="0"/>
                        </a:spcBef>
                        <a:spcAft>
                          <a:spcPts val="0"/>
                        </a:spcAft>
                      </a:pPr>
                      <a:r>
                        <a:rPr lang="en-US" sz="1600">
                          <a:effectLst/>
                        </a:rPr>
                        <a:t>CLO-2</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1800">
                          <a:effectLst/>
                        </a:rPr>
                        <a:t>5</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just">
                        <a:lnSpc>
                          <a:spcPct val="115000"/>
                        </a:lnSpc>
                        <a:spcBef>
                          <a:spcPts val="0"/>
                        </a:spcBef>
                        <a:spcAft>
                          <a:spcPts val="0"/>
                        </a:spcAft>
                      </a:pPr>
                      <a:r>
                        <a:rPr lang="en-US" sz="1600">
                          <a:effectLst/>
                        </a:rPr>
                        <a:t>Demonstrate digital marketing strategies for a business.</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67945" marR="60325" algn="ctr">
                        <a:lnSpc>
                          <a:spcPct val="115000"/>
                        </a:lnSpc>
                        <a:spcBef>
                          <a:spcPts val="15"/>
                        </a:spcBef>
                        <a:spcAft>
                          <a:spcPts val="0"/>
                        </a:spcAft>
                      </a:pPr>
                      <a:r>
                        <a:rPr lang="en-US" sz="1600">
                          <a:effectLst/>
                        </a:rPr>
                        <a:t>Understanding</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67945" marR="60325" algn="ctr">
                        <a:lnSpc>
                          <a:spcPct val="115000"/>
                        </a:lnSpc>
                        <a:spcBef>
                          <a:spcPts val="15"/>
                        </a:spcBef>
                        <a:spcAft>
                          <a:spcPts val="0"/>
                        </a:spcAft>
                      </a:pPr>
                      <a:r>
                        <a:rPr lang="en-US" sz="1600" dirty="0">
                          <a:effectLst/>
                        </a:rPr>
                        <a:t>3,10</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18097786"/>
                  </a:ext>
                </a:extLst>
              </a:tr>
              <a:tr h="734213">
                <a:tc>
                  <a:txBody>
                    <a:bodyPr/>
                    <a:lstStyle/>
                    <a:p>
                      <a:pPr marL="0" marR="0" algn="ctr">
                        <a:lnSpc>
                          <a:spcPct val="115000"/>
                        </a:lnSpc>
                        <a:spcBef>
                          <a:spcPts val="0"/>
                        </a:spcBef>
                        <a:spcAft>
                          <a:spcPts val="0"/>
                        </a:spcAft>
                      </a:pPr>
                      <a:r>
                        <a:rPr lang="en-US" sz="1600">
                          <a:effectLst/>
                        </a:rPr>
                        <a:t>CLO-3</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1800">
                          <a:effectLst/>
                        </a:rPr>
                        <a:t>6-7</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just">
                        <a:lnSpc>
                          <a:spcPct val="115000"/>
                        </a:lnSpc>
                        <a:spcBef>
                          <a:spcPts val="0"/>
                        </a:spcBef>
                        <a:spcAft>
                          <a:spcPts val="0"/>
                        </a:spcAft>
                      </a:pPr>
                      <a:r>
                        <a:rPr lang="en-US" sz="1600" dirty="0">
                          <a:effectLst/>
                        </a:rPr>
                        <a:t>Apply digital marketing techniques &amp; technologies for enhanced online visibility.</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67945" marR="60325" algn="ctr">
                        <a:lnSpc>
                          <a:spcPct val="115000"/>
                        </a:lnSpc>
                        <a:spcBef>
                          <a:spcPts val="15"/>
                        </a:spcBef>
                        <a:spcAft>
                          <a:spcPts val="0"/>
                        </a:spcAft>
                      </a:pPr>
                      <a:r>
                        <a:rPr lang="en-US" sz="1600">
                          <a:effectLst/>
                        </a:rPr>
                        <a:t>Applying</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67945" marR="60325" algn="ctr">
                        <a:lnSpc>
                          <a:spcPct val="115000"/>
                        </a:lnSpc>
                        <a:spcBef>
                          <a:spcPts val="15"/>
                        </a:spcBef>
                        <a:spcAft>
                          <a:spcPts val="0"/>
                        </a:spcAf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5</a:t>
                      </a:r>
                    </a:p>
                  </a:txBody>
                  <a:tcPr marL="68580" marR="68580" marT="0" marB="0" anchor="ctr"/>
                </a:tc>
                <a:extLst>
                  <a:ext uri="{0D108BD9-81ED-4DB2-BD59-A6C34878D82A}">
                    <a16:rowId xmlns:a16="http://schemas.microsoft.com/office/drawing/2014/main" val="2546559520"/>
                  </a:ext>
                </a:extLst>
              </a:tr>
              <a:tr h="355120">
                <a:tc gridSpan="5">
                  <a:txBody>
                    <a:bodyPr/>
                    <a:lstStyle/>
                    <a:p>
                      <a:pPr marL="67945" marR="60325" algn="ctr">
                        <a:lnSpc>
                          <a:spcPct val="115000"/>
                        </a:lnSpc>
                        <a:spcBef>
                          <a:spcPts val="15"/>
                        </a:spcBef>
                        <a:spcAft>
                          <a:spcPts val="0"/>
                        </a:spcAft>
                      </a:pPr>
                      <a:r>
                        <a:rPr lang="en-US" sz="1600" dirty="0">
                          <a:effectLst/>
                        </a:rPr>
                        <a:t>CLO’s for Lab</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66139314"/>
                  </a:ext>
                </a:extLst>
              </a:tr>
              <a:tr h="967198">
                <a:tc>
                  <a:txBody>
                    <a:bodyPr/>
                    <a:lstStyle/>
                    <a:p>
                      <a:pPr marL="0" marR="0" algn="ctr">
                        <a:lnSpc>
                          <a:spcPct val="115000"/>
                        </a:lnSpc>
                        <a:spcBef>
                          <a:spcPts val="0"/>
                        </a:spcBef>
                        <a:spcAft>
                          <a:spcPts val="0"/>
                        </a:spcAft>
                      </a:pPr>
                      <a:r>
                        <a:rPr lang="en-US" sz="1600">
                          <a:effectLst/>
                        </a:rPr>
                        <a:t>CLO-4</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1800">
                          <a:effectLst/>
                        </a:rPr>
                        <a:t>2-7</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just">
                        <a:lnSpc>
                          <a:spcPct val="115000"/>
                        </a:lnSpc>
                        <a:spcBef>
                          <a:spcPts val="0"/>
                        </a:spcBef>
                        <a:spcAft>
                          <a:spcPts val="0"/>
                        </a:spcAft>
                      </a:pPr>
                      <a:r>
                        <a:rPr lang="en-US" sz="1800" dirty="0">
                          <a:effectLst/>
                        </a:rPr>
                        <a:t>Implement E-commerce &amp; Digital Marketing Concepts, using tools and technologies.</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67945" marR="60325" algn="ctr">
                        <a:lnSpc>
                          <a:spcPct val="115000"/>
                        </a:lnSpc>
                        <a:spcBef>
                          <a:spcPts val="15"/>
                        </a:spcBef>
                        <a:spcAft>
                          <a:spcPts val="0"/>
                        </a:spcAft>
                      </a:pPr>
                      <a:r>
                        <a:rPr lang="en-US" sz="1600">
                          <a:effectLst/>
                        </a:rPr>
                        <a:t>Applying</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67945" marR="60325" algn="ctr">
                        <a:lnSpc>
                          <a:spcPct val="115000"/>
                        </a:lnSpc>
                        <a:spcBef>
                          <a:spcPts val="15"/>
                        </a:spcBef>
                        <a:spcAft>
                          <a:spcPts val="0"/>
                        </a:spcAft>
                      </a:pPr>
                      <a:r>
                        <a:rPr lang="en-US" sz="1600" dirty="0">
                          <a:effectLst/>
                        </a:rPr>
                        <a:t>3-5</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306727354"/>
                  </a:ext>
                </a:extLst>
              </a:tr>
              <a:tr h="355120">
                <a:tc>
                  <a:txBody>
                    <a:bodyPr/>
                    <a:lstStyle/>
                    <a:p>
                      <a:pPr marL="0" marR="0" algn="ctr">
                        <a:lnSpc>
                          <a:spcPct val="115000"/>
                        </a:lnSpc>
                        <a:spcBef>
                          <a:spcPts val="0"/>
                        </a:spcBef>
                        <a:spcAft>
                          <a:spcPts val="0"/>
                        </a:spcAft>
                      </a:pPr>
                      <a:r>
                        <a:rPr lang="en-US" sz="1600">
                          <a:effectLst/>
                        </a:rPr>
                        <a:t>CLO-5</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1600">
                          <a:effectLst/>
                        </a:rPr>
                        <a:t>2-7</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just">
                        <a:lnSpc>
                          <a:spcPct val="115000"/>
                        </a:lnSpc>
                        <a:spcBef>
                          <a:spcPts val="0"/>
                        </a:spcBef>
                        <a:spcAft>
                          <a:spcPts val="0"/>
                        </a:spcAft>
                      </a:pPr>
                      <a:r>
                        <a:rPr lang="en-US" sz="1800" b="1" dirty="0">
                          <a:effectLst/>
                        </a:rPr>
                        <a:t>Develop a customized E-Store.</a:t>
                      </a:r>
                      <a:endPar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67945" marR="60325" algn="ctr">
                        <a:lnSpc>
                          <a:spcPct val="115000"/>
                        </a:lnSpc>
                        <a:spcBef>
                          <a:spcPts val="15"/>
                        </a:spcBef>
                        <a:spcAft>
                          <a:spcPts val="0"/>
                        </a:spcAft>
                      </a:pPr>
                      <a:r>
                        <a:rPr lang="en-US" sz="1600">
                          <a:effectLst/>
                        </a:rPr>
                        <a:t>Creating</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67945" marR="60325" algn="ctr">
                        <a:lnSpc>
                          <a:spcPct val="115000"/>
                        </a:lnSpc>
                        <a:spcBef>
                          <a:spcPts val="15"/>
                        </a:spcBef>
                        <a:spcAft>
                          <a:spcPts val="0"/>
                        </a:spcAft>
                      </a:pPr>
                      <a:r>
                        <a:rPr lang="en-US" sz="1600" dirty="0">
                          <a:effectLst/>
                        </a:rPr>
                        <a:t>3-5</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941189251"/>
                  </a:ext>
                </a:extLst>
              </a:tr>
            </a:tbl>
          </a:graphicData>
        </a:graphic>
      </p:graphicFrame>
    </p:spTree>
    <p:extLst>
      <p:ext uri="{BB962C8B-B14F-4D97-AF65-F5344CB8AC3E}">
        <p14:creationId xmlns:p14="http://schemas.microsoft.com/office/powerpoint/2010/main" val="203846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0" y="534392"/>
            <a:ext cx="9144000" cy="615553"/>
          </a:xfrm>
        </p:spPr>
        <p:txBody>
          <a:bodyPr anchor="ctr"/>
          <a:lstStyle/>
          <a:p>
            <a:pPr algn="ctr"/>
            <a:r>
              <a:rPr lang="en-US" i="1" dirty="0">
                <a:solidFill>
                  <a:srgbClr val="007AA3"/>
                </a:solidFill>
                <a:latin typeface="Arial"/>
                <a:cs typeface="Arial"/>
              </a:rPr>
              <a:t>Course Evaluation Break Down</a:t>
            </a:r>
          </a:p>
        </p:txBody>
      </p:sp>
      <p:graphicFrame>
        <p:nvGraphicFramePr>
          <p:cNvPr id="5" name="Content Placeholder 4"/>
          <p:cNvGraphicFramePr>
            <a:graphicFrameLocks noGrp="1"/>
          </p:cNvGraphicFramePr>
          <p:nvPr>
            <p:ph idx="4294967295"/>
            <p:extLst>
              <p:ext uri="{D42A27DB-BD31-4B8C-83A1-F6EECF244321}">
                <p14:modId xmlns:p14="http://schemas.microsoft.com/office/powerpoint/2010/main" val="1974265522"/>
              </p:ext>
            </p:extLst>
          </p:nvPr>
        </p:nvGraphicFramePr>
        <p:xfrm>
          <a:off x="520995" y="1288312"/>
          <a:ext cx="8389089" cy="5183485"/>
        </p:xfrm>
        <a:graphic>
          <a:graphicData uri="http://schemas.openxmlformats.org/drawingml/2006/table">
            <a:tbl>
              <a:tblPr firstRow="1" firstCol="1" lastRow="1" lastCol="1" bandRow="1" bandCol="1">
                <a:tableStyleId>{69012ECD-51FC-41F1-AA8D-1B2483CD663E}</a:tableStyleId>
              </a:tblPr>
              <a:tblGrid>
                <a:gridCol w="3871252">
                  <a:extLst>
                    <a:ext uri="{9D8B030D-6E8A-4147-A177-3AD203B41FA5}">
                      <a16:colId xmlns:a16="http://schemas.microsoft.com/office/drawing/2014/main" val="20000"/>
                    </a:ext>
                  </a:extLst>
                </a:gridCol>
                <a:gridCol w="1972148">
                  <a:extLst>
                    <a:ext uri="{9D8B030D-6E8A-4147-A177-3AD203B41FA5}">
                      <a16:colId xmlns:a16="http://schemas.microsoft.com/office/drawing/2014/main" val="20001"/>
                    </a:ext>
                  </a:extLst>
                </a:gridCol>
                <a:gridCol w="2545689">
                  <a:extLst>
                    <a:ext uri="{9D8B030D-6E8A-4147-A177-3AD203B41FA5}">
                      <a16:colId xmlns:a16="http://schemas.microsoft.com/office/drawing/2014/main" val="1005642800"/>
                    </a:ext>
                  </a:extLst>
                </a:gridCol>
              </a:tblGrid>
              <a:tr h="1225824">
                <a:tc>
                  <a:txBody>
                    <a:bodyPr/>
                    <a:lstStyle/>
                    <a:p>
                      <a:pPr marR="171450">
                        <a:lnSpc>
                          <a:spcPct val="115000"/>
                        </a:lnSpc>
                        <a:spcAft>
                          <a:spcPts val="0"/>
                        </a:spcAft>
                      </a:pPr>
                      <a:r>
                        <a:rPr lang="en-US" sz="2400" dirty="0">
                          <a:effectLst/>
                        </a:rPr>
                        <a:t>Evaluation methods</a:t>
                      </a:r>
                      <a:endParaRPr lang="en-US" sz="2400" dirty="0">
                        <a:effectLst/>
                        <a:latin typeface="Times New Roman"/>
                        <a:ea typeface="Times New Roman"/>
                      </a:endParaRPr>
                    </a:p>
                  </a:txBody>
                  <a:tcPr marL="68580" marR="68580" marT="0" marB="0"/>
                </a:tc>
                <a:tc>
                  <a:txBody>
                    <a:bodyPr/>
                    <a:lstStyle/>
                    <a:p>
                      <a:pPr marR="171450" algn="ctr">
                        <a:lnSpc>
                          <a:spcPct val="115000"/>
                        </a:lnSpc>
                        <a:spcAft>
                          <a:spcPts val="0"/>
                        </a:spcAft>
                      </a:pPr>
                      <a:r>
                        <a:rPr lang="en-US" sz="2400" dirty="0">
                          <a:effectLst/>
                        </a:rPr>
                        <a:t>Theory Weight (%)[T]</a:t>
                      </a:r>
                      <a:endParaRPr lang="en-US" sz="2400" dirty="0">
                        <a:effectLst/>
                        <a:latin typeface="Times New Roman"/>
                        <a:ea typeface="Times New Roman"/>
                      </a:endParaRPr>
                    </a:p>
                  </a:txBody>
                  <a:tcPr marL="68580" marR="68580" marT="0" marB="0"/>
                </a:tc>
                <a:tc>
                  <a:txBody>
                    <a:bodyPr/>
                    <a:lstStyle/>
                    <a:p>
                      <a:pPr marR="171450" algn="ctr">
                        <a:lnSpc>
                          <a:spcPct val="115000"/>
                        </a:lnSpc>
                        <a:spcAft>
                          <a:spcPts val="0"/>
                        </a:spcAft>
                      </a:pPr>
                      <a:r>
                        <a:rPr lang="en-US" sz="2400" dirty="0">
                          <a:effectLst/>
                          <a:latin typeface="Times New Roman"/>
                          <a:ea typeface="Times New Roman"/>
                        </a:rPr>
                        <a:t>Lab</a:t>
                      </a:r>
                    </a:p>
                    <a:p>
                      <a:pPr marR="171450" algn="ctr">
                        <a:lnSpc>
                          <a:spcPct val="115000"/>
                        </a:lnSpc>
                        <a:spcAft>
                          <a:spcPts val="0"/>
                        </a:spcAft>
                      </a:pPr>
                      <a:r>
                        <a:rPr lang="en-US" sz="2400" dirty="0">
                          <a:effectLst/>
                        </a:rPr>
                        <a:t>Weight (%)</a:t>
                      </a:r>
                      <a:endParaRPr lang="en-US" sz="2400" dirty="0">
                        <a:effectLst/>
                        <a:latin typeface="Times New Roman"/>
                        <a:ea typeface="Times New Roman"/>
                      </a:endParaRPr>
                    </a:p>
                  </a:txBody>
                  <a:tcPr marL="68580" marR="68580" marT="0" marB="0"/>
                </a:tc>
                <a:extLst>
                  <a:ext uri="{0D108BD9-81ED-4DB2-BD59-A6C34878D82A}">
                    <a16:rowId xmlns:a16="http://schemas.microsoft.com/office/drawing/2014/main" val="10000"/>
                  </a:ext>
                </a:extLst>
              </a:tr>
              <a:tr h="461463">
                <a:tc>
                  <a:txBody>
                    <a:bodyPr/>
                    <a:lstStyle/>
                    <a:p>
                      <a:pPr marR="171450">
                        <a:lnSpc>
                          <a:spcPct val="115000"/>
                        </a:lnSpc>
                        <a:spcAft>
                          <a:spcPts val="0"/>
                        </a:spcAft>
                      </a:pPr>
                      <a:r>
                        <a:rPr lang="en-US" sz="2400">
                          <a:effectLst/>
                        </a:rPr>
                        <a:t>Quizzes (4 minimum)</a:t>
                      </a:r>
                      <a:endParaRPr lang="en-US" sz="2400">
                        <a:effectLst/>
                        <a:latin typeface="Times New Roman"/>
                        <a:ea typeface="Times New Roman"/>
                      </a:endParaRPr>
                    </a:p>
                  </a:txBody>
                  <a:tcPr marL="68580" marR="68580" marT="0" marB="0"/>
                </a:tc>
                <a:tc>
                  <a:txBody>
                    <a:bodyPr/>
                    <a:lstStyle/>
                    <a:p>
                      <a:pPr marR="171450" algn="ctr">
                        <a:lnSpc>
                          <a:spcPct val="115000"/>
                        </a:lnSpc>
                        <a:spcAft>
                          <a:spcPts val="0"/>
                        </a:spcAft>
                      </a:pPr>
                      <a:r>
                        <a:rPr lang="en-US" sz="2400" dirty="0">
                          <a:effectLst/>
                        </a:rPr>
                        <a:t>15</a:t>
                      </a:r>
                      <a:endParaRPr lang="en-US" sz="2400" dirty="0">
                        <a:effectLst/>
                        <a:latin typeface="Times New Roman"/>
                        <a:ea typeface="Times New Roman"/>
                      </a:endParaRPr>
                    </a:p>
                  </a:txBody>
                  <a:tcPr marL="68580" marR="68580" marT="0" marB="0"/>
                </a:tc>
                <a:tc>
                  <a:txBody>
                    <a:bodyPr/>
                    <a:lstStyle/>
                    <a:p>
                      <a:pPr marR="171450" algn="ctr">
                        <a:lnSpc>
                          <a:spcPct val="115000"/>
                        </a:lnSpc>
                        <a:spcAft>
                          <a:spcPts val="0"/>
                        </a:spcAft>
                      </a:pPr>
                      <a:r>
                        <a:rPr lang="en-US" sz="2400" dirty="0">
                          <a:effectLst/>
                          <a:latin typeface="Times New Roman"/>
                          <a:ea typeface="Times New Roman"/>
                        </a:rPr>
                        <a:t>-</a:t>
                      </a:r>
                    </a:p>
                  </a:txBody>
                  <a:tcPr marL="68580" marR="68580" marT="0" marB="0"/>
                </a:tc>
                <a:extLst>
                  <a:ext uri="{0D108BD9-81ED-4DB2-BD59-A6C34878D82A}">
                    <a16:rowId xmlns:a16="http://schemas.microsoft.com/office/drawing/2014/main" val="10001"/>
                  </a:ext>
                </a:extLst>
              </a:tr>
              <a:tr h="805998">
                <a:tc>
                  <a:txBody>
                    <a:bodyPr/>
                    <a:lstStyle/>
                    <a:p>
                      <a:pPr marR="171450">
                        <a:lnSpc>
                          <a:spcPct val="115000"/>
                        </a:lnSpc>
                        <a:spcAft>
                          <a:spcPts val="0"/>
                        </a:spcAft>
                      </a:pPr>
                      <a:r>
                        <a:rPr lang="en-US" sz="2400">
                          <a:effectLst/>
                        </a:rPr>
                        <a:t>Theory Assignments </a:t>
                      </a:r>
                      <a:r>
                        <a:rPr lang="en-US" sz="2400" dirty="0">
                          <a:effectLst/>
                        </a:rPr>
                        <a:t>/ Lab Practical Assignments (4 minimum)</a:t>
                      </a:r>
                      <a:endParaRPr lang="en-US" sz="2400" dirty="0">
                        <a:effectLst/>
                        <a:latin typeface="Times New Roman"/>
                        <a:ea typeface="Times New Roman"/>
                      </a:endParaRPr>
                    </a:p>
                  </a:txBody>
                  <a:tcPr marL="68580" marR="68580" marT="0" marB="0"/>
                </a:tc>
                <a:tc>
                  <a:txBody>
                    <a:bodyPr/>
                    <a:lstStyle/>
                    <a:p>
                      <a:pPr marR="171450" algn="ctr">
                        <a:lnSpc>
                          <a:spcPct val="115000"/>
                        </a:lnSpc>
                        <a:spcAft>
                          <a:spcPts val="0"/>
                        </a:spcAft>
                      </a:pPr>
                      <a:r>
                        <a:rPr lang="en-US" sz="2400">
                          <a:effectLst/>
                        </a:rPr>
                        <a:t>10</a:t>
                      </a:r>
                      <a:endParaRPr lang="en-US" sz="2400">
                        <a:effectLst/>
                        <a:latin typeface="Times New Roman"/>
                        <a:ea typeface="Times New Roman"/>
                      </a:endParaRPr>
                    </a:p>
                  </a:txBody>
                  <a:tcPr marL="68580" marR="68580" marT="0" marB="0"/>
                </a:tc>
                <a:tc>
                  <a:txBody>
                    <a:bodyPr/>
                    <a:lstStyle/>
                    <a:p>
                      <a:pPr marR="171450" algn="ctr">
                        <a:lnSpc>
                          <a:spcPct val="115000"/>
                        </a:lnSpc>
                        <a:spcAft>
                          <a:spcPts val="0"/>
                        </a:spcAft>
                      </a:pPr>
                      <a:r>
                        <a:rPr lang="en-US" sz="2400" dirty="0">
                          <a:effectLst/>
                          <a:latin typeface="Times New Roman"/>
                          <a:ea typeface="Times New Roman"/>
                        </a:rPr>
                        <a:t>25</a:t>
                      </a:r>
                    </a:p>
                  </a:txBody>
                  <a:tcPr marL="68580" marR="68580" marT="0" marB="0"/>
                </a:tc>
                <a:extLst>
                  <a:ext uri="{0D108BD9-81ED-4DB2-BD59-A6C34878D82A}">
                    <a16:rowId xmlns:a16="http://schemas.microsoft.com/office/drawing/2014/main" val="10002"/>
                  </a:ext>
                </a:extLst>
              </a:tr>
              <a:tr h="461463">
                <a:tc>
                  <a:txBody>
                    <a:bodyPr/>
                    <a:lstStyle/>
                    <a:p>
                      <a:pPr marR="171450">
                        <a:lnSpc>
                          <a:spcPct val="115000"/>
                        </a:lnSpc>
                        <a:spcAft>
                          <a:spcPts val="0"/>
                        </a:spcAft>
                      </a:pPr>
                      <a:r>
                        <a:rPr lang="en-US" sz="2400" dirty="0">
                          <a:effectLst/>
                          <a:latin typeface="Times New Roman"/>
                          <a:ea typeface="Times New Roman"/>
                        </a:rPr>
                        <a:t>Mid-Term</a:t>
                      </a:r>
                    </a:p>
                  </a:txBody>
                  <a:tcPr marL="68580" marR="68580" marT="0" marB="0"/>
                </a:tc>
                <a:tc>
                  <a:txBody>
                    <a:bodyPr/>
                    <a:lstStyle/>
                    <a:p>
                      <a:pPr marR="171450" algn="ctr">
                        <a:lnSpc>
                          <a:spcPct val="115000"/>
                        </a:lnSpc>
                        <a:spcAft>
                          <a:spcPts val="0"/>
                        </a:spcAft>
                      </a:pPr>
                      <a:r>
                        <a:rPr lang="en-US" sz="2400">
                          <a:effectLst/>
                          <a:latin typeface="Times New Roman"/>
                          <a:ea typeface="Times New Roman"/>
                        </a:rPr>
                        <a:t>25</a:t>
                      </a:r>
                    </a:p>
                  </a:txBody>
                  <a:tcPr marL="68580" marR="68580" marT="0" marB="0"/>
                </a:tc>
                <a:tc>
                  <a:txBody>
                    <a:bodyPr/>
                    <a:lstStyle/>
                    <a:p>
                      <a:pPr marR="171450" algn="ctr">
                        <a:lnSpc>
                          <a:spcPct val="115000"/>
                        </a:lnSpc>
                        <a:spcAft>
                          <a:spcPts val="0"/>
                        </a:spcAft>
                      </a:pPr>
                      <a:r>
                        <a:rPr lang="en-US" sz="2400" dirty="0">
                          <a:effectLst/>
                          <a:latin typeface="Times New Roman"/>
                          <a:ea typeface="Times New Roman"/>
                        </a:rPr>
                        <a:t>25</a:t>
                      </a:r>
                    </a:p>
                  </a:txBody>
                  <a:tcPr marL="68580" marR="68580" marT="0" marB="0"/>
                </a:tc>
                <a:extLst>
                  <a:ext uri="{0D108BD9-81ED-4DB2-BD59-A6C34878D82A}">
                    <a16:rowId xmlns:a16="http://schemas.microsoft.com/office/drawing/2014/main" val="10003"/>
                  </a:ext>
                </a:extLst>
              </a:tr>
              <a:tr h="461463">
                <a:tc>
                  <a:txBody>
                    <a:bodyPr/>
                    <a:lstStyle/>
                    <a:p>
                      <a:pPr marR="171450">
                        <a:lnSpc>
                          <a:spcPct val="115000"/>
                        </a:lnSpc>
                        <a:spcAft>
                          <a:spcPts val="0"/>
                        </a:spcAft>
                      </a:pPr>
                      <a:r>
                        <a:rPr lang="en-US" sz="2400">
                          <a:effectLst/>
                        </a:rPr>
                        <a:t>Terminal Exam</a:t>
                      </a:r>
                      <a:endParaRPr lang="en-US" sz="2400">
                        <a:effectLst/>
                        <a:latin typeface="Times New Roman"/>
                        <a:ea typeface="Times New Roman"/>
                      </a:endParaRPr>
                    </a:p>
                  </a:txBody>
                  <a:tcPr marL="68580" marR="68580" marT="0" marB="0"/>
                </a:tc>
                <a:tc>
                  <a:txBody>
                    <a:bodyPr/>
                    <a:lstStyle/>
                    <a:p>
                      <a:pPr marR="171450" algn="ctr">
                        <a:lnSpc>
                          <a:spcPct val="115000"/>
                        </a:lnSpc>
                        <a:spcAft>
                          <a:spcPts val="0"/>
                        </a:spcAft>
                      </a:pPr>
                      <a:r>
                        <a:rPr lang="en-US" sz="2400">
                          <a:effectLst/>
                        </a:rPr>
                        <a:t>50</a:t>
                      </a:r>
                      <a:endParaRPr lang="en-US" sz="2400">
                        <a:effectLst/>
                        <a:latin typeface="Times New Roman"/>
                        <a:ea typeface="Times New Roman"/>
                      </a:endParaRPr>
                    </a:p>
                  </a:txBody>
                  <a:tcPr marL="68580" marR="68580" marT="0" marB="0"/>
                </a:tc>
                <a:tc>
                  <a:txBody>
                    <a:bodyPr/>
                    <a:lstStyle/>
                    <a:p>
                      <a:pPr marR="171450" algn="ctr">
                        <a:lnSpc>
                          <a:spcPct val="115000"/>
                        </a:lnSpc>
                        <a:spcAft>
                          <a:spcPts val="0"/>
                        </a:spcAft>
                      </a:pPr>
                      <a:r>
                        <a:rPr lang="en-US" sz="2400" dirty="0">
                          <a:effectLst/>
                          <a:latin typeface="Times New Roman"/>
                          <a:ea typeface="Times New Roman"/>
                        </a:rPr>
                        <a:t>50</a:t>
                      </a:r>
                    </a:p>
                  </a:txBody>
                  <a:tcPr marL="68580" marR="68580" marT="0" marB="0"/>
                </a:tc>
                <a:extLst>
                  <a:ext uri="{0D108BD9-81ED-4DB2-BD59-A6C34878D82A}">
                    <a16:rowId xmlns:a16="http://schemas.microsoft.com/office/drawing/2014/main" val="10005"/>
                  </a:ext>
                </a:extLst>
              </a:tr>
              <a:tr h="461463">
                <a:tc>
                  <a:txBody>
                    <a:bodyPr/>
                    <a:lstStyle/>
                    <a:p>
                      <a:pPr marR="171450">
                        <a:lnSpc>
                          <a:spcPct val="115000"/>
                        </a:lnSpc>
                        <a:spcAft>
                          <a:spcPts val="0"/>
                        </a:spcAft>
                      </a:pPr>
                      <a:r>
                        <a:rPr lang="en-US" sz="2400" dirty="0">
                          <a:effectLst/>
                        </a:rPr>
                        <a:t>Sub Total</a:t>
                      </a:r>
                      <a:endParaRPr lang="en-US" sz="2400" dirty="0">
                        <a:effectLst/>
                        <a:latin typeface="Times New Roman"/>
                        <a:ea typeface="Times New Roman"/>
                      </a:endParaRPr>
                    </a:p>
                  </a:txBody>
                  <a:tcPr marL="68580" marR="68580" marT="0" marB="0"/>
                </a:tc>
                <a:tc>
                  <a:txBody>
                    <a:bodyPr/>
                    <a:lstStyle/>
                    <a:p>
                      <a:pPr marR="171450" algn="ctr">
                        <a:lnSpc>
                          <a:spcPct val="115000"/>
                        </a:lnSpc>
                        <a:spcAft>
                          <a:spcPts val="0"/>
                        </a:spcAft>
                      </a:pPr>
                      <a:r>
                        <a:rPr lang="en-US" sz="2400" dirty="0">
                          <a:effectLst/>
                        </a:rPr>
                        <a:t>100</a:t>
                      </a:r>
                      <a:endParaRPr lang="en-US" sz="2400" dirty="0">
                        <a:effectLst/>
                        <a:latin typeface="Times New Roman"/>
                        <a:ea typeface="Times New Roman"/>
                      </a:endParaRPr>
                    </a:p>
                  </a:txBody>
                  <a:tcPr marL="68580" marR="68580" marT="0" marB="0"/>
                </a:tc>
                <a:tc>
                  <a:txBody>
                    <a:bodyPr/>
                    <a:lstStyle/>
                    <a:p>
                      <a:pPr marR="171450" algn="ctr">
                        <a:lnSpc>
                          <a:spcPct val="115000"/>
                        </a:lnSpc>
                        <a:spcAft>
                          <a:spcPts val="0"/>
                        </a:spcAft>
                      </a:pPr>
                      <a:r>
                        <a:rPr lang="en-US" sz="2400" dirty="0">
                          <a:effectLst/>
                          <a:latin typeface="Times New Roman"/>
                          <a:ea typeface="Times New Roman"/>
                        </a:rPr>
                        <a:t>100</a:t>
                      </a:r>
                    </a:p>
                  </a:txBody>
                  <a:tcPr marL="68580" marR="68580" marT="0" marB="0"/>
                </a:tc>
                <a:extLst>
                  <a:ext uri="{0D108BD9-81ED-4DB2-BD59-A6C34878D82A}">
                    <a16:rowId xmlns:a16="http://schemas.microsoft.com/office/drawing/2014/main" val="10006"/>
                  </a:ext>
                </a:extLst>
              </a:tr>
              <a:tr h="461463">
                <a:tc>
                  <a:txBody>
                    <a:bodyPr/>
                    <a:lstStyle/>
                    <a:p>
                      <a:pPr marR="171450">
                        <a:lnSpc>
                          <a:spcPct val="115000"/>
                        </a:lnSpc>
                        <a:spcAft>
                          <a:spcPts val="0"/>
                        </a:spcAft>
                      </a:pPr>
                      <a:r>
                        <a:rPr lang="en-US" sz="2400" dirty="0">
                          <a:effectLst/>
                          <a:latin typeface="Times New Roman"/>
                          <a:ea typeface="Times New Roman"/>
                        </a:rPr>
                        <a:t>Total</a:t>
                      </a:r>
                    </a:p>
                  </a:txBody>
                  <a:tcPr marL="68580" marR="68580" marT="0" marB="0"/>
                </a:tc>
                <a:tc>
                  <a:txBody>
                    <a:bodyPr/>
                    <a:lstStyle/>
                    <a:p>
                      <a:pPr marR="171450" algn="ctr">
                        <a:lnSpc>
                          <a:spcPct val="115000"/>
                        </a:lnSpc>
                        <a:spcAft>
                          <a:spcPts val="0"/>
                        </a:spcAft>
                      </a:pPr>
                      <a:r>
                        <a:rPr lang="en-US" sz="2400" dirty="0">
                          <a:effectLst/>
                          <a:latin typeface="Times New Roman"/>
                          <a:ea typeface="Times New Roman"/>
                        </a:rPr>
                        <a:t>67%</a:t>
                      </a:r>
                    </a:p>
                  </a:txBody>
                  <a:tcPr marL="68580" marR="68580" marT="0" marB="0"/>
                </a:tc>
                <a:tc>
                  <a:txBody>
                    <a:bodyPr/>
                    <a:lstStyle/>
                    <a:p>
                      <a:pPr marR="171450" algn="ctr">
                        <a:lnSpc>
                          <a:spcPct val="115000"/>
                        </a:lnSpc>
                        <a:spcAft>
                          <a:spcPts val="0"/>
                        </a:spcAft>
                      </a:pPr>
                      <a:r>
                        <a:rPr lang="en-US" sz="2400" dirty="0">
                          <a:effectLst/>
                          <a:latin typeface="Times New Roman"/>
                          <a:ea typeface="Times New Roman"/>
                        </a:rPr>
                        <a:t>33%</a:t>
                      </a:r>
                    </a:p>
                  </a:txBody>
                  <a:tcPr marL="68580" marR="68580" marT="0" marB="0"/>
                </a:tc>
                <a:extLst>
                  <a:ext uri="{0D108BD9-81ED-4DB2-BD59-A6C34878D82A}">
                    <a16:rowId xmlns:a16="http://schemas.microsoft.com/office/drawing/2014/main" val="1904081815"/>
                  </a:ext>
                </a:extLst>
              </a:tr>
            </a:tbl>
          </a:graphicData>
        </a:graphic>
      </p:graphicFrame>
    </p:spTree>
    <p:extLst>
      <p:ext uri="{BB962C8B-B14F-4D97-AF65-F5344CB8AC3E}">
        <p14:creationId xmlns:p14="http://schemas.microsoft.com/office/powerpoint/2010/main" val="36046565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124714" y="329691"/>
            <a:ext cx="8894571" cy="523220"/>
          </a:xfrm>
        </p:spPr>
        <p:txBody>
          <a:bodyPr/>
          <a:lstStyle/>
          <a:p>
            <a:pPr algn="ctr" eaLnBrk="1" hangingPunct="1"/>
            <a:r>
              <a:rPr lang="en-US">
                <a:cs typeface="Arial" charset="0"/>
              </a:rPr>
              <a:t>Course Requirements</a:t>
            </a:r>
          </a:p>
        </p:txBody>
      </p:sp>
      <p:sp>
        <p:nvSpPr>
          <p:cNvPr id="547843" name="Rectangle 3"/>
          <p:cNvSpPr>
            <a:spLocks noGrp="1" noChangeArrowheads="1"/>
          </p:cNvSpPr>
          <p:nvPr>
            <p:ph idx="1"/>
          </p:nvPr>
        </p:nvSpPr>
        <p:spPr>
          <a:xfrm>
            <a:off x="499554" y="1127051"/>
            <a:ext cx="8263446" cy="5121349"/>
          </a:xfrm>
        </p:spPr>
        <p:txBody>
          <a:bodyPr>
            <a:normAutofit fontScale="77500" lnSpcReduction="20000"/>
          </a:bodyPr>
          <a:lstStyle/>
          <a:p>
            <a:pPr marL="274320" indent="-274320" eaLnBrk="1" fontAlgn="auto" hangingPunct="1">
              <a:spcAft>
                <a:spcPts val="0"/>
              </a:spcAft>
              <a:buClr>
                <a:schemeClr val="accent3"/>
              </a:buClr>
              <a:buFont typeface="Wingdings 2"/>
              <a:buChar char=""/>
              <a:defRPr/>
            </a:pPr>
            <a:r>
              <a:rPr lang="en-US" sz="2800" b="1" dirty="0"/>
              <a:t>Assignments/Quizzes/Presentation</a:t>
            </a:r>
          </a:p>
          <a:p>
            <a:pPr marL="730567" lvl="1" indent="-246888">
              <a:buFont typeface="Wingdings 2"/>
              <a:buChar char=""/>
              <a:defRPr/>
            </a:pPr>
            <a:r>
              <a:rPr lang="en-US" sz="2400" dirty="0">
                <a:effectLst>
                  <a:outerShdw blurRad="38100" dist="38100" dir="2700000" algn="tl">
                    <a:srgbClr val="C0C0C0"/>
                  </a:outerShdw>
                </a:effectLst>
              </a:rPr>
              <a:t>Written assignments (Small Tasks) (details in coming lectures)</a:t>
            </a:r>
          </a:p>
          <a:p>
            <a:pPr marL="730567" lvl="1" indent="-246888">
              <a:buFont typeface="Wingdings 2"/>
              <a:buChar char=""/>
              <a:defRPr/>
            </a:pPr>
            <a:r>
              <a:rPr lang="en-US" sz="2400" dirty="0"/>
              <a:t>Idea is to initiate research-oriented writing not “copy-paste”</a:t>
            </a:r>
          </a:p>
          <a:p>
            <a:pPr marL="730567" lvl="1" indent="-246888">
              <a:buFont typeface="Wingdings 2"/>
              <a:buChar char=""/>
              <a:defRPr/>
            </a:pPr>
            <a:r>
              <a:rPr lang="en-US" sz="2400" dirty="0">
                <a:effectLst>
                  <a:outerShdw blurRad="38100" dist="38100" dir="2700000" algn="tl">
                    <a:srgbClr val="C0C0C0"/>
                  </a:outerShdw>
                </a:effectLst>
              </a:rPr>
              <a:t>Attendance, Presentations, Quiz &amp; Class Discussion &amp; Participation (as a regular activity)</a:t>
            </a:r>
          </a:p>
          <a:p>
            <a:pPr marL="730567" lvl="1" indent="-246888">
              <a:buFont typeface="Wingdings 2"/>
              <a:buChar char=""/>
              <a:defRPr/>
            </a:pPr>
            <a:r>
              <a:rPr lang="en-US" sz="2400" dirty="0">
                <a:effectLst>
                  <a:outerShdw blurRad="38100" dist="38100" dir="2700000" algn="tl">
                    <a:srgbClr val="C0C0C0"/>
                  </a:outerShdw>
                </a:effectLst>
              </a:rPr>
              <a:t>Volunteer presentations (you must not be that familiar with this kind of stuff, but you need to respond to it quickly!)</a:t>
            </a:r>
          </a:p>
          <a:p>
            <a:pPr marL="730567" lvl="1" indent="-246888">
              <a:buFont typeface="Wingdings 2"/>
              <a:buChar char=""/>
              <a:defRPr/>
            </a:pPr>
            <a:r>
              <a:rPr lang="en-US" sz="2400" dirty="0">
                <a:effectLst>
                  <a:outerShdw blurRad="38100" dist="38100" dir="2700000" algn="tl">
                    <a:srgbClr val="C0C0C0"/>
                  </a:outerShdw>
                </a:effectLst>
              </a:rPr>
              <a:t>Formal Presentations in groups:</a:t>
            </a:r>
          </a:p>
          <a:p>
            <a:pPr marL="483679" lvl="1">
              <a:defRPr/>
            </a:pPr>
            <a:endParaRPr lang="en-US" sz="2400" dirty="0">
              <a:effectLst>
                <a:outerShdw blurRad="38100" dist="38100" dir="2700000" algn="tl">
                  <a:srgbClr val="C0C0C0"/>
                </a:outerShdw>
              </a:effectLst>
            </a:endParaRPr>
          </a:p>
          <a:p>
            <a:pPr marL="273367" indent="-246888" eaLnBrk="1" fontAlgn="auto" hangingPunct="1">
              <a:spcAft>
                <a:spcPts val="0"/>
              </a:spcAft>
              <a:buFont typeface="Wingdings 2"/>
              <a:buChar char=""/>
              <a:defRPr/>
            </a:pPr>
            <a:r>
              <a:rPr lang="en-US" sz="2400" b="1" dirty="0">
                <a:effectLst>
                  <a:outerShdw blurRad="38100" dist="38100" dir="2700000" algn="tl">
                    <a:srgbClr val="C0C0C0"/>
                  </a:outerShdw>
                </a:effectLst>
              </a:rPr>
              <a:t>Mid Term &amp; Terminal: </a:t>
            </a:r>
            <a:r>
              <a:rPr lang="en-US" sz="2400" dirty="0">
                <a:effectLst>
                  <a:outerShdw blurRad="38100" dist="38100" dir="2700000" algn="tl">
                    <a:srgbClr val="C0C0C0"/>
                  </a:outerShdw>
                </a:effectLst>
              </a:rPr>
              <a:t>Complete Course Contents </a:t>
            </a:r>
          </a:p>
          <a:p>
            <a:pPr marL="273367" indent="-246888" algn="just">
              <a:buFont typeface="Wingdings 2"/>
              <a:buChar char=""/>
              <a:defRPr/>
            </a:pPr>
            <a:endParaRPr lang="en-US" sz="2400" dirty="0"/>
          </a:p>
          <a:p>
            <a:pPr marL="273367" indent="-246888" algn="just">
              <a:buFont typeface="Wingdings 2"/>
              <a:buChar char=""/>
              <a:defRPr/>
            </a:pPr>
            <a:r>
              <a:rPr lang="en-US" sz="2600" b="1" dirty="0"/>
              <a:t>Student coming in late in the class will be marked as absent.</a:t>
            </a:r>
          </a:p>
          <a:p>
            <a:pPr marL="273367" indent="-246888" algn="just">
              <a:buFont typeface="Wingdings 2"/>
              <a:buChar char=""/>
              <a:defRPr/>
            </a:pPr>
            <a:endParaRPr lang="en-US" sz="2400" b="1" dirty="0">
              <a:solidFill>
                <a:srgbClr val="FF0000"/>
              </a:solidFill>
            </a:endParaRPr>
          </a:p>
          <a:p>
            <a:pPr marL="273367" indent="-246888" algn="just">
              <a:buFont typeface="Wingdings 2"/>
              <a:buChar char=""/>
              <a:defRPr/>
            </a:pPr>
            <a:r>
              <a:rPr lang="en-US" sz="2400" b="1" dirty="0">
                <a:solidFill>
                  <a:srgbClr val="FF0000"/>
                </a:solidFill>
              </a:rPr>
              <a:t>If you are found to be cheating, you will fail at least the Quiz/ test and perhaps the entire class.</a:t>
            </a:r>
          </a:p>
          <a:p>
            <a:pPr marL="273367" indent="-246888" eaLnBrk="1" fontAlgn="auto" hangingPunct="1">
              <a:spcAft>
                <a:spcPts val="0"/>
              </a:spcAft>
              <a:buFont typeface="Wingdings 2"/>
              <a:buChar char=""/>
              <a:defRPr/>
            </a:pPr>
            <a:endParaRPr lang="en-US" sz="2400" dirty="0">
              <a:effectLst>
                <a:outerShdw blurRad="38100" dist="38100" dir="2700000" algn="tl">
                  <a:srgbClr val="C0C0C0"/>
                </a:outerShdw>
              </a:effectLst>
            </a:endParaRPr>
          </a:p>
          <a:p>
            <a:pPr marL="273367" indent="-246888" eaLnBrk="1" fontAlgn="auto" hangingPunct="1">
              <a:spcAft>
                <a:spcPts val="0"/>
              </a:spcAft>
              <a:buFont typeface="Wingdings 2"/>
              <a:buChar char=""/>
              <a:defRPr/>
            </a:pPr>
            <a:endParaRPr lang="en-US" sz="2400" dirty="0">
              <a:effectLst>
                <a:outerShdw blurRad="38100" dist="38100" dir="2700000" algn="tl">
                  <a:srgbClr val="C0C0C0"/>
                </a:outerShdw>
              </a:effectLst>
            </a:endParaRPr>
          </a:p>
          <a:p>
            <a:pPr marL="26479" eaLnBrk="1" fontAlgn="auto" hangingPunct="1">
              <a:spcAft>
                <a:spcPts val="0"/>
              </a:spcAft>
              <a:defRPr/>
            </a:pPr>
            <a:endParaRPr lang="en-US" sz="2400" dirty="0">
              <a:effectLst>
                <a:outerShdw blurRad="38100" dist="38100" dir="2700000" algn="tl">
                  <a:srgbClr val="C0C0C0"/>
                </a:outerShdw>
              </a:effectLst>
            </a:endParaRPr>
          </a:p>
        </p:txBody>
      </p:sp>
      <p:sp>
        <p:nvSpPr>
          <p:cNvPr id="4101" name="Rectangle 4"/>
          <p:cNvSpPr>
            <a:spLocks noGrp="1" noChangeArrowheads="1"/>
          </p:cNvSpPr>
          <p:nvPr>
            <p:ph type="sldNum" sz="quarter" idx="12"/>
          </p:nvPr>
        </p:nvSpPr>
        <p:spPr bwMode="auto">
          <a:xfrm>
            <a:off x="8534400" y="6248400"/>
            <a:ext cx="609600" cy="609600"/>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defPPr>
              <a:defRPr lang="en-US"/>
            </a:defPPr>
            <a:lvl1pPr algn="ctr" rtl="0" fontAlgn="base">
              <a:spcBef>
                <a:spcPct val="0"/>
              </a:spcBef>
              <a:spcAft>
                <a:spcPct val="0"/>
              </a:spcAft>
              <a:defRPr sz="1200" b="1" kern="1200">
                <a:solidFill>
                  <a:srgbClr val="EEEBCA"/>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994B858A-808B-4C17-9DF5-5A378C0523D5}" type="slidenum">
              <a:rPr lang="en-US" smtClean="0"/>
              <a:pPr>
                <a:defRPr/>
              </a:pPr>
              <a:t>9</a:t>
            </a:fld>
            <a:endParaRPr lang="en-US"/>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ets start big words concept with team people and rocket startup launch business with team people and smoke with modern flat style - vector lets start big words concept with team people and rocket startup launch business with team people and smoke with modern flat style - vector illustration Beginnings stock vector">
            <a:extLst>
              <a:ext uri="{FF2B5EF4-FFF2-40B4-BE49-F238E27FC236}">
                <a16:creationId xmlns:a16="http://schemas.microsoft.com/office/drawing/2014/main" id="{E1219B61-4BBD-4A14-C8D5-4FF82CE6DDE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3668" b="1"/>
          <a:stretch/>
        </p:blipFill>
        <p:spPr bwMode="auto">
          <a:xfrm>
            <a:off x="20" y="10"/>
            <a:ext cx="9143980" cy="6857990"/>
          </a:xfrm>
          <a:prstGeom prst="rect">
            <a:avLst/>
          </a:prstGeom>
          <a:solidFill>
            <a:srgbClr val="FFFFFF"/>
          </a:solidFill>
        </p:spPr>
      </p:pic>
    </p:spTree>
    <p:extLst>
      <p:ext uri="{BB962C8B-B14F-4D97-AF65-F5344CB8AC3E}">
        <p14:creationId xmlns:p14="http://schemas.microsoft.com/office/powerpoint/2010/main" val="36286747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E-commerce 2023: business. technology. society">
            <a:extLst>
              <a:ext uri="{FF2B5EF4-FFF2-40B4-BE49-F238E27FC236}">
                <a16:creationId xmlns:a16="http://schemas.microsoft.com/office/drawing/2014/main" id="{57E98728-A241-43F4-95FF-6C49FEEA0911}"/>
              </a:ext>
              <a:ext uri="{C183D7F6-B498-43B3-948B-1728B52AA6E4}">
                <adec:decorative xmlns:adec="http://schemas.microsoft.com/office/drawing/2017/decorative" val="0"/>
              </a:ext>
            </a:extLst>
          </p:cNvPr>
          <p:cNvSpPr>
            <a:spLocks noGrp="1"/>
          </p:cNvSpPr>
          <p:nvPr>
            <p:ph type="title"/>
          </p:nvPr>
        </p:nvSpPr>
        <p:spPr>
          <a:xfrm>
            <a:off x="457199" y="143692"/>
            <a:ext cx="8516680" cy="987333"/>
          </a:xfrm>
        </p:spPr>
        <p:txBody>
          <a:bodyPr anchor="ctr"/>
          <a:lstStyle/>
          <a:p>
            <a:r>
              <a:rPr lang="en-US" altLang="en-US" sz="3000" noProof="0" dirty="0">
                <a:solidFill>
                  <a:schemeClr val="tx2"/>
                </a:solidFill>
                <a:cs typeface="Times New Roman" panose="02020603050405020304" pitchFamily="18" charset="0"/>
              </a:rPr>
              <a:t>E-commerce: Business. Technology. Society.</a:t>
            </a:r>
            <a:endParaRPr lang="en-US" sz="3000" noProof="0" dirty="0"/>
          </a:p>
        </p:txBody>
      </p:sp>
      <p:sp>
        <p:nvSpPr>
          <p:cNvPr id="3" name="Content Placeholder 2" descr="Seventeenth Edition">
            <a:extLst>
              <a:ext uri="{FF2B5EF4-FFF2-40B4-BE49-F238E27FC236}">
                <a16:creationId xmlns:a16="http://schemas.microsoft.com/office/drawing/2014/main" id="{ABE18F80-D4FC-4D8F-B2BD-E7BEE7E012B5}"/>
              </a:ext>
              <a:ext uri="{C183D7F6-B498-43B3-948B-1728B52AA6E4}">
                <adec:decorative xmlns:adec="http://schemas.microsoft.com/office/drawing/2017/decorative" val="0"/>
              </a:ext>
            </a:extLst>
          </p:cNvPr>
          <p:cNvSpPr>
            <a:spLocks noGrp="1"/>
          </p:cNvSpPr>
          <p:nvPr>
            <p:ph type="body" idx="1"/>
          </p:nvPr>
        </p:nvSpPr>
        <p:spPr>
          <a:xfrm>
            <a:off x="457200" y="1212419"/>
            <a:ext cx="8229600" cy="413524"/>
          </a:xfrm>
        </p:spPr>
        <p:txBody>
          <a:bodyPr anchor="ctr"/>
          <a:lstStyle/>
          <a:p>
            <a:r>
              <a:rPr lang="en-US" noProof="0" dirty="0">
                <a:solidFill>
                  <a:schemeClr val="tx2"/>
                </a:solidFill>
              </a:rPr>
              <a:t>Seventeenth Edition</a:t>
            </a:r>
          </a:p>
        </p:txBody>
      </p:sp>
      <p:pic>
        <p:nvPicPr>
          <p:cNvPr id="7" name="Picture 6" descr="Front cover: E-commerce 20 23: business. technology. society. Seventeenth Edition. By Kenneth C. Laudon and Carol Guercio Traver">
            <a:extLst>
              <a:ext uri="{FF2B5EF4-FFF2-40B4-BE49-F238E27FC236}">
                <a16:creationId xmlns:a16="http://schemas.microsoft.com/office/drawing/2014/main" id="{B63F154A-5AB8-1012-719B-446B638B6161}"/>
              </a:ext>
            </a:extLst>
          </p:cNvPr>
          <p:cNvPicPr>
            <a:picLocks noChangeAspect="1"/>
          </p:cNvPicPr>
          <p:nvPr/>
        </p:nvPicPr>
        <p:blipFill>
          <a:blip r:embed="rId3"/>
          <a:stretch>
            <a:fillRect/>
          </a:stretch>
        </p:blipFill>
        <p:spPr>
          <a:xfrm>
            <a:off x="457199" y="1707337"/>
            <a:ext cx="3600000" cy="4500000"/>
          </a:xfrm>
          <a:prstGeom prst="rect">
            <a:avLst/>
          </a:prstGeom>
        </p:spPr>
      </p:pic>
      <p:sp>
        <p:nvSpPr>
          <p:cNvPr id="5" name="Content Placeholder 4" descr="Chapter 1">
            <a:extLst>
              <a:ext uri="{FF2B5EF4-FFF2-40B4-BE49-F238E27FC236}">
                <a16:creationId xmlns:a16="http://schemas.microsoft.com/office/drawing/2014/main" id="{2D222376-7AD7-4443-B67A-120BE12F4DDB}"/>
              </a:ext>
              <a:ext uri="{C183D7F6-B498-43B3-948B-1728B52AA6E4}">
                <adec:decorative xmlns:adec="http://schemas.microsoft.com/office/drawing/2017/decorative" val="0"/>
              </a:ext>
            </a:extLst>
          </p:cNvPr>
          <p:cNvSpPr>
            <a:spLocks noGrp="1"/>
          </p:cNvSpPr>
          <p:nvPr>
            <p:ph sz="quarter" idx="14"/>
          </p:nvPr>
        </p:nvSpPr>
        <p:spPr>
          <a:xfrm>
            <a:off x="5029200" y="1906104"/>
            <a:ext cx="3657600" cy="1186345"/>
          </a:xfrm>
        </p:spPr>
        <p:txBody>
          <a:bodyPr/>
          <a:lstStyle/>
          <a:p>
            <a:pPr marL="0" algn="ctr"/>
            <a:r>
              <a:rPr lang="en-US" b="1" noProof="0" dirty="0">
                <a:latin typeface="+mn-lt"/>
              </a:rPr>
              <a:t>Chapter 1</a:t>
            </a:r>
          </a:p>
        </p:txBody>
      </p:sp>
      <p:sp>
        <p:nvSpPr>
          <p:cNvPr id="6" name="Content Placeholder 5" descr="The Revolution Is Just Beginning">
            <a:extLst>
              <a:ext uri="{FF2B5EF4-FFF2-40B4-BE49-F238E27FC236}">
                <a16:creationId xmlns:a16="http://schemas.microsoft.com/office/drawing/2014/main" id="{82FD4EC9-4778-4E2F-B136-2A176CA2BA69}"/>
              </a:ext>
              <a:ext uri="{C183D7F6-B498-43B3-948B-1728B52AA6E4}">
                <adec:decorative xmlns:adec="http://schemas.microsoft.com/office/drawing/2017/decorative" val="0"/>
              </a:ext>
            </a:extLst>
          </p:cNvPr>
          <p:cNvSpPr>
            <a:spLocks noGrp="1"/>
          </p:cNvSpPr>
          <p:nvPr>
            <p:ph sz="quarter" idx="15"/>
          </p:nvPr>
        </p:nvSpPr>
        <p:spPr>
          <a:xfrm>
            <a:off x="5029200" y="3252789"/>
            <a:ext cx="3657600" cy="1552675"/>
          </a:xfrm>
        </p:spPr>
        <p:txBody>
          <a:bodyPr/>
          <a:lstStyle/>
          <a:p>
            <a:r>
              <a:rPr lang="en-US" noProof="0" dirty="0"/>
              <a:t>The Revolution Is Just Beginning</a:t>
            </a:r>
          </a:p>
        </p:txBody>
      </p:sp>
      <p:pic>
        <p:nvPicPr>
          <p:cNvPr id="22" name="Picture Placeholder 21" descr="Pearson Logo">
            <a:extLst>
              <a:ext uri="{FF2B5EF4-FFF2-40B4-BE49-F238E27FC236}">
                <a16:creationId xmlns:a16="http://schemas.microsoft.com/office/drawing/2014/main" id="{463657D3-0029-4FB6-A24C-CAB832988B4E}"/>
              </a:ext>
              <a:ext uri="{C183D7F6-B498-43B3-948B-1728B52AA6E4}">
                <adec:decorative xmlns:adec="http://schemas.microsoft.com/office/drawing/2017/decorative" val="0"/>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val="0"/>
              </a:ext>
            </a:extLst>
          </p:cNvPr>
          <p:cNvSpPr>
            <a:spLocks noGrp="1"/>
          </p:cNvSpPr>
          <p:nvPr>
            <p:ph sz="quarter" idx="17"/>
          </p:nvPr>
        </p:nvSpPr>
        <p:spPr>
          <a:xfrm>
            <a:off x="2173000" y="6415232"/>
            <a:ext cx="6589712" cy="228600"/>
          </a:xfrm>
        </p:spPr>
        <p:txBody>
          <a:bodyPr/>
          <a:lstStyle/>
          <a:p>
            <a:pPr marL="0" indent="0"/>
            <a:r>
              <a:rPr lang="en-US" altLang="en-US" sz="1200" b="0" noProof="0" dirty="0">
                <a:latin typeface="Verdana"/>
                <a:ea typeface="Verdana" panose="020B0604030504040204" pitchFamily="34" charset="0"/>
                <a:cs typeface="Verdana" panose="020B0604030504040204" pitchFamily="34" charset="0"/>
              </a:rPr>
              <a:t>Copyright © </a:t>
            </a:r>
            <a:r>
              <a:rPr lang="en-US" noProof="0" dirty="0"/>
              <a:t>2024, 2022, 2020 </a:t>
            </a:r>
            <a:r>
              <a:rPr lang="en-US" altLang="en-US" sz="1200" b="0" noProof="0" dirty="0">
                <a:latin typeface="Verdana"/>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noProof="0" dirty="0">
                <a:cs typeface="Times New Roman" panose="02020603050405020304" pitchFamily="18" charset="0"/>
              </a:rPr>
              <a:t>Learning Objectives</a:t>
            </a:r>
            <a:endParaRPr lang="en-US" noProof="0" dirty="0"/>
          </a:p>
        </p:txBody>
      </p:sp>
      <p:sp>
        <p:nvSpPr>
          <p:cNvPr id="3" name="Content Placeholder 2"/>
          <p:cNvSpPr>
            <a:spLocks noGrp="1"/>
          </p:cNvSpPr>
          <p:nvPr>
            <p:ph sz="quarter" idx="13"/>
          </p:nvPr>
        </p:nvSpPr>
        <p:spPr>
          <a:xfrm>
            <a:off x="457201" y="1554920"/>
            <a:ext cx="8229600" cy="4790318"/>
          </a:xfrm>
        </p:spPr>
        <p:txBody>
          <a:bodyPr/>
          <a:lstStyle/>
          <a:p>
            <a:pPr marL="0" lvl="0" indent="0">
              <a:spcAft>
                <a:spcPct val="0"/>
              </a:spcAft>
              <a:buSzPts val="2400"/>
              <a:buNone/>
            </a:pPr>
            <a:r>
              <a:rPr lang="en-US" sz="2000" b="1" kern="1200" noProof="0" dirty="0">
                <a:solidFill>
                  <a:schemeClr val="tx2"/>
                </a:solidFill>
                <a:latin typeface="Arial" panose="020B0604020202020204" pitchFamily="34" charset="0"/>
              </a:rPr>
              <a:t>1.1</a:t>
            </a:r>
            <a:r>
              <a:rPr lang="en-US" sz="2000" b="1" kern="1200" noProof="0" dirty="0">
                <a:solidFill>
                  <a:srgbClr val="000000"/>
                </a:solidFill>
                <a:latin typeface="Arial" panose="020B0604020202020204" pitchFamily="34" charset="0"/>
              </a:rPr>
              <a:t> </a:t>
            </a:r>
            <a:r>
              <a:rPr lang="en-US" sz="2000" kern="1200" noProof="0" dirty="0">
                <a:solidFill>
                  <a:srgbClr val="000000"/>
                </a:solidFill>
                <a:latin typeface="Arial" panose="020B0604020202020204" pitchFamily="34" charset="0"/>
              </a:rPr>
              <a:t>Understand why it is important to study e-commerce.</a:t>
            </a:r>
          </a:p>
          <a:p>
            <a:pPr marL="0" lvl="0" indent="0">
              <a:spcAft>
                <a:spcPct val="0"/>
              </a:spcAft>
              <a:buSzPts val="2400"/>
              <a:buNone/>
            </a:pPr>
            <a:r>
              <a:rPr lang="en-US" sz="2000" b="1" kern="1200" noProof="0" dirty="0">
                <a:solidFill>
                  <a:schemeClr val="tx2"/>
                </a:solidFill>
                <a:latin typeface="Arial" panose="020B0604020202020204" pitchFamily="34" charset="0"/>
              </a:rPr>
              <a:t>1.2</a:t>
            </a:r>
            <a:r>
              <a:rPr lang="en-US" sz="2000" b="1" kern="1200" noProof="0" dirty="0">
                <a:solidFill>
                  <a:srgbClr val="000000"/>
                </a:solidFill>
                <a:latin typeface="Arial" panose="020B0604020202020204" pitchFamily="34" charset="0"/>
              </a:rPr>
              <a:t> </a:t>
            </a:r>
            <a:r>
              <a:rPr lang="en-US" sz="2000" kern="1200" noProof="0" dirty="0">
                <a:solidFill>
                  <a:srgbClr val="000000"/>
                </a:solidFill>
                <a:latin typeface="Arial" panose="020B0604020202020204" pitchFamily="34" charset="0"/>
              </a:rPr>
              <a:t>Define e-commerce, understand how e-commerce differs from e-business, identify the primary technological building blocks underlying e-commerce, and recognize major current themes in e-commerce.</a:t>
            </a:r>
          </a:p>
          <a:p>
            <a:pPr marL="0" lvl="0" indent="0">
              <a:spcAft>
                <a:spcPct val="0"/>
              </a:spcAft>
              <a:buSzPts val="2400"/>
              <a:buNone/>
            </a:pPr>
            <a:r>
              <a:rPr lang="en-US" sz="2000" b="1" kern="1200" noProof="0" dirty="0">
                <a:solidFill>
                  <a:schemeClr val="tx2"/>
                </a:solidFill>
                <a:latin typeface="Arial" panose="020B0604020202020204" pitchFamily="34" charset="0"/>
              </a:rPr>
              <a:t>1.3</a:t>
            </a:r>
            <a:r>
              <a:rPr lang="en-US" sz="2000" b="1" kern="1200" noProof="0" dirty="0">
                <a:solidFill>
                  <a:srgbClr val="000000"/>
                </a:solidFill>
                <a:latin typeface="Arial" panose="020B0604020202020204" pitchFamily="34" charset="0"/>
              </a:rPr>
              <a:t> </a:t>
            </a:r>
            <a:r>
              <a:rPr lang="en-US" sz="2000" kern="1200" noProof="0" dirty="0">
                <a:solidFill>
                  <a:srgbClr val="000000"/>
                </a:solidFill>
                <a:latin typeface="Arial" panose="020B0604020202020204" pitchFamily="34" charset="0"/>
              </a:rPr>
              <a:t>Identify and describe the unique features of e-commerce technology and discuss their business significance.</a:t>
            </a:r>
          </a:p>
          <a:p>
            <a:pPr marL="0" lvl="0" indent="0">
              <a:spcAft>
                <a:spcPct val="0"/>
              </a:spcAft>
              <a:buSzPts val="2400"/>
              <a:buNone/>
            </a:pPr>
            <a:r>
              <a:rPr lang="en-US" sz="2000" b="1" kern="1200" noProof="0" dirty="0">
                <a:solidFill>
                  <a:schemeClr val="tx2"/>
                </a:solidFill>
                <a:latin typeface="Arial" panose="020B0604020202020204" pitchFamily="34" charset="0"/>
              </a:rPr>
              <a:t>1.4</a:t>
            </a:r>
            <a:r>
              <a:rPr lang="en-US" sz="2000" b="1" kern="1200" noProof="0" dirty="0">
                <a:solidFill>
                  <a:srgbClr val="000000"/>
                </a:solidFill>
                <a:latin typeface="Arial" panose="020B0604020202020204" pitchFamily="34" charset="0"/>
              </a:rPr>
              <a:t> </a:t>
            </a:r>
            <a:r>
              <a:rPr lang="en-US" sz="2000" kern="1200" noProof="0" dirty="0">
                <a:solidFill>
                  <a:srgbClr val="000000"/>
                </a:solidFill>
                <a:latin typeface="Arial" panose="020B0604020202020204" pitchFamily="34" charset="0"/>
              </a:rPr>
              <a:t>Describe the major types of e-commerce.</a:t>
            </a:r>
          </a:p>
          <a:p>
            <a:pPr marL="0" lvl="0" indent="0">
              <a:spcAft>
                <a:spcPct val="0"/>
              </a:spcAft>
              <a:buSzPts val="2400"/>
              <a:buNone/>
            </a:pPr>
            <a:r>
              <a:rPr lang="en-US" sz="2000" b="1" kern="1200" noProof="0" dirty="0">
                <a:solidFill>
                  <a:schemeClr val="tx2"/>
                </a:solidFill>
                <a:latin typeface="Arial" panose="020B0604020202020204" pitchFamily="34" charset="0"/>
              </a:rPr>
              <a:t>1.5</a:t>
            </a:r>
            <a:r>
              <a:rPr lang="en-US" sz="2000" b="1" kern="1200" noProof="0" dirty="0">
                <a:solidFill>
                  <a:srgbClr val="000000"/>
                </a:solidFill>
                <a:latin typeface="Arial" panose="020B0604020202020204" pitchFamily="34" charset="0"/>
              </a:rPr>
              <a:t> </a:t>
            </a:r>
            <a:r>
              <a:rPr lang="en-US" sz="2000" kern="1200" noProof="0" dirty="0">
                <a:solidFill>
                  <a:srgbClr val="000000"/>
                </a:solidFill>
                <a:latin typeface="Arial" panose="020B0604020202020204" pitchFamily="34" charset="0"/>
              </a:rPr>
              <a:t>Understand the evolution of e-commerce from its early years to today.</a:t>
            </a:r>
          </a:p>
          <a:p>
            <a:pPr marL="0" lvl="0" indent="0">
              <a:spcAft>
                <a:spcPct val="0"/>
              </a:spcAft>
              <a:buSzPts val="2400"/>
              <a:buNone/>
            </a:pPr>
            <a:r>
              <a:rPr lang="en-US" sz="2000" b="1" kern="1200" noProof="0" dirty="0">
                <a:solidFill>
                  <a:schemeClr val="tx2"/>
                </a:solidFill>
                <a:latin typeface="Arial" panose="020B0604020202020204" pitchFamily="34" charset="0"/>
              </a:rPr>
              <a:t>1.6</a:t>
            </a:r>
            <a:r>
              <a:rPr lang="en-US" sz="2000" b="1" kern="1200" noProof="0" dirty="0">
                <a:solidFill>
                  <a:srgbClr val="000000"/>
                </a:solidFill>
                <a:latin typeface="Arial" panose="020B0604020202020204" pitchFamily="34" charset="0"/>
              </a:rPr>
              <a:t> </a:t>
            </a:r>
            <a:r>
              <a:rPr lang="en-US" sz="2000" kern="1200" noProof="0" dirty="0">
                <a:solidFill>
                  <a:srgbClr val="000000"/>
                </a:solidFill>
                <a:latin typeface="Arial" panose="020B0604020202020204" pitchFamily="34" charset="0"/>
              </a:rPr>
              <a:t>Describe the major themes underlying the study of e-commerce.</a:t>
            </a:r>
          </a:p>
        </p:txBody>
      </p:sp>
    </p:spTree>
    <p:extLst>
      <p:ext uri="{BB962C8B-B14F-4D97-AF65-F5344CB8AC3E}">
        <p14:creationId xmlns:p14="http://schemas.microsoft.com/office/powerpoint/2010/main" val="3452098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3400" kern="1200" noProof="0" dirty="0">
                <a:cs typeface="Times New Roman" panose="02020603050405020304" pitchFamily="18" charset="0"/>
              </a:rPr>
              <a:t>TikTok: Creators and the Creator Economy</a:t>
            </a:r>
            <a:endParaRPr lang="en-US" sz="3400" noProof="0" dirty="0"/>
          </a:p>
        </p:txBody>
      </p:sp>
      <p:sp>
        <p:nvSpPr>
          <p:cNvPr id="2" name="Content Placeholder 1"/>
          <p:cNvSpPr>
            <a:spLocks noGrp="1"/>
          </p:cNvSpPr>
          <p:nvPr>
            <p:ph sz="quarter" idx="13"/>
          </p:nvPr>
        </p:nvSpPr>
        <p:spPr/>
        <p:txBody>
          <a:bodyPr/>
          <a:lstStyle/>
          <a:p>
            <a:pPr marL="255651" lvl="0" indent="-255651">
              <a:spcAft>
                <a:spcPct val="0"/>
              </a:spcAft>
              <a:buSzPts val="2400"/>
              <a:tabLst/>
            </a:pPr>
            <a:r>
              <a:rPr lang="en-US" kern="1200" noProof="0" dirty="0">
                <a:solidFill>
                  <a:srgbClr val="000000"/>
                </a:solidFill>
                <a:latin typeface="Arial" panose="020B0604020202020204" pitchFamily="34" charset="0"/>
              </a:rPr>
              <a:t>Class Discussion</a:t>
            </a:r>
          </a:p>
          <a:p>
            <a:pPr marL="741600" lvl="1">
              <a:spcAft>
                <a:spcPct val="0"/>
              </a:spcAft>
              <a:buClr>
                <a:schemeClr val="tx2"/>
              </a:buClr>
              <a:buSzPts val="2400"/>
            </a:pPr>
            <a:r>
              <a:rPr lang="en-US" kern="1200" noProof="0" dirty="0">
                <a:solidFill>
                  <a:srgbClr val="000000"/>
                </a:solidFill>
                <a:latin typeface="Arial" panose="020B0604020202020204" pitchFamily="34" charset="0"/>
              </a:rPr>
              <a:t>Why is TikTok so popular?</a:t>
            </a:r>
          </a:p>
          <a:p>
            <a:pPr marL="741600" lvl="1">
              <a:spcAft>
                <a:spcPct val="0"/>
              </a:spcAft>
              <a:buClr>
                <a:schemeClr val="tx2"/>
              </a:buClr>
              <a:buSzPts val="2400"/>
            </a:pPr>
            <a:r>
              <a:rPr lang="en-US" kern="1200" noProof="0" dirty="0">
                <a:solidFill>
                  <a:srgbClr val="000000"/>
                </a:solidFill>
                <a:latin typeface="Arial" panose="020B0604020202020204" pitchFamily="34" charset="0"/>
              </a:rPr>
              <a:t>Do you use TikTok? If so, in what manner—do you just view content or also post content?</a:t>
            </a:r>
          </a:p>
          <a:p>
            <a:pPr marL="741600" lvl="1">
              <a:spcAft>
                <a:spcPct val="0"/>
              </a:spcAft>
              <a:buClr>
                <a:schemeClr val="tx2"/>
              </a:buClr>
              <a:buSzPts val="2400"/>
            </a:pPr>
            <a:r>
              <a:rPr lang="en-US" kern="1200" noProof="0" dirty="0">
                <a:solidFill>
                  <a:srgbClr val="000000"/>
                </a:solidFill>
                <a:latin typeface="Arial" panose="020B0604020202020204" pitchFamily="34" charset="0"/>
              </a:rPr>
              <a:t>Do you consider yourself a creator? Have you ever received payments for content you have created?</a:t>
            </a:r>
          </a:p>
          <a:p>
            <a:pPr marL="741600" lvl="1">
              <a:spcAft>
                <a:spcPct val="0"/>
              </a:spcAft>
              <a:buClr>
                <a:schemeClr val="tx2"/>
              </a:buClr>
              <a:buSzPts val="2400"/>
            </a:pPr>
            <a:r>
              <a:rPr lang="en-US" kern="1200" noProof="0" dirty="0">
                <a:solidFill>
                  <a:srgbClr val="000000"/>
                </a:solidFill>
                <a:latin typeface="Arial" panose="020B0604020202020204" pitchFamily="34" charset="0"/>
              </a:rPr>
              <a:t>What are some of the negative consequences associated with being a creator?</a:t>
            </a:r>
          </a:p>
        </p:txBody>
      </p:sp>
    </p:spTree>
    <p:extLst>
      <p:ext uri="{BB962C8B-B14F-4D97-AF65-F5344CB8AC3E}">
        <p14:creationId xmlns:p14="http://schemas.microsoft.com/office/powerpoint/2010/main" val="27126610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noProof="0" dirty="0">
                <a:cs typeface="Times New Roman" panose="02020603050405020304" pitchFamily="18" charset="0"/>
              </a:rPr>
              <a:t>The First Five Minutes: Why You Should Study E-commerce</a:t>
            </a:r>
            <a:endParaRPr lang="en-US" sz="3200" noProof="0" dirty="0"/>
          </a:p>
        </p:txBody>
      </p:sp>
      <p:sp>
        <p:nvSpPr>
          <p:cNvPr id="3" name="Content Placeholder 2"/>
          <p:cNvSpPr>
            <a:spLocks noGrp="1"/>
          </p:cNvSpPr>
          <p:nvPr>
            <p:ph sz="quarter" idx="13"/>
          </p:nvPr>
        </p:nvSpPr>
        <p:spPr/>
        <p:txBody>
          <a:bodyPr/>
          <a:lstStyle/>
          <a:p>
            <a:pPr marL="255651" lvl="0" indent="-255651">
              <a:spcAft>
                <a:spcPct val="0"/>
              </a:spcAft>
              <a:buSzPts val="2400"/>
              <a:tabLst/>
            </a:pPr>
            <a:r>
              <a:rPr lang="en-US" kern="1200" noProof="0" dirty="0">
                <a:solidFill>
                  <a:srgbClr val="000000"/>
                </a:solidFill>
              </a:rPr>
              <a:t>First quarter-century or so</a:t>
            </a:r>
            <a:r>
              <a:rPr lang="en-US" noProof="0" dirty="0"/>
              <a:t> </a:t>
            </a:r>
            <a:r>
              <a:rPr lang="en-US" kern="1200" noProof="0" dirty="0">
                <a:solidFill>
                  <a:srgbClr val="000000"/>
                </a:solidFill>
              </a:rPr>
              <a:t>of e-commerce</a:t>
            </a:r>
          </a:p>
          <a:p>
            <a:pPr marL="741553" lvl="1" indent="-284353">
              <a:spcAft>
                <a:spcPct val="0"/>
              </a:spcAft>
              <a:buSzPts val="2400"/>
            </a:pPr>
            <a:r>
              <a:rPr lang="en-US" kern="1200" noProof="0" dirty="0">
                <a:solidFill>
                  <a:srgbClr val="000000"/>
                </a:solidFill>
              </a:rPr>
              <a:t>Still just the beginning</a:t>
            </a:r>
          </a:p>
          <a:p>
            <a:pPr marL="741553" lvl="1" indent="-284353">
              <a:spcAft>
                <a:spcPct val="0"/>
              </a:spcAft>
              <a:buSzPts val="2400"/>
            </a:pPr>
            <a:r>
              <a:rPr lang="en-US" kern="1200" noProof="0" dirty="0">
                <a:solidFill>
                  <a:srgbClr val="000000"/>
                </a:solidFill>
              </a:rPr>
              <a:t>Rapid growth and change</a:t>
            </a:r>
          </a:p>
          <a:p>
            <a:pPr marL="255651" lvl="0" indent="-255651">
              <a:spcAft>
                <a:spcPct val="0"/>
              </a:spcAft>
              <a:buSzPts val="2400"/>
              <a:tabLst/>
            </a:pPr>
            <a:r>
              <a:rPr lang="en-US" kern="1200" noProof="0" dirty="0">
                <a:solidFill>
                  <a:srgbClr val="000000"/>
                </a:solidFill>
              </a:rPr>
              <a:t>Technologies evolve at exponential rates</a:t>
            </a:r>
          </a:p>
          <a:p>
            <a:pPr marL="741553" lvl="1" indent="-284353">
              <a:spcAft>
                <a:spcPct val="0"/>
              </a:spcAft>
              <a:buSzPts val="2400"/>
            </a:pPr>
            <a:r>
              <a:rPr lang="en-US" kern="1200" noProof="0" dirty="0">
                <a:solidFill>
                  <a:srgbClr val="000000"/>
                </a:solidFill>
              </a:rPr>
              <a:t>Disruptive business change</a:t>
            </a:r>
          </a:p>
          <a:p>
            <a:pPr marL="741553" lvl="1" indent="-284353">
              <a:spcAft>
                <a:spcPct val="0"/>
              </a:spcAft>
              <a:buSzPts val="2400"/>
            </a:pPr>
            <a:r>
              <a:rPr lang="en-US" kern="1200" noProof="0" dirty="0">
                <a:solidFill>
                  <a:srgbClr val="000000"/>
                </a:solidFill>
              </a:rPr>
              <a:t>New opportunities</a:t>
            </a:r>
          </a:p>
          <a:p>
            <a:pPr marL="255651" lvl="0" indent="-255651">
              <a:spcAft>
                <a:spcPct val="0"/>
              </a:spcAft>
              <a:buSzPts val="2400"/>
              <a:tabLst/>
            </a:pPr>
            <a:r>
              <a:rPr lang="en-US" kern="1200" noProof="0" dirty="0">
                <a:solidFill>
                  <a:srgbClr val="000000"/>
                </a:solidFill>
              </a:rPr>
              <a:t>Why study e-commerce</a:t>
            </a:r>
          </a:p>
          <a:p>
            <a:pPr marL="741553" lvl="1" indent="-284353">
              <a:spcAft>
                <a:spcPct val="0"/>
              </a:spcAft>
              <a:buSzPts val="2400"/>
            </a:pPr>
            <a:r>
              <a:rPr lang="en-US" kern="1200" noProof="0" dirty="0">
                <a:solidFill>
                  <a:srgbClr val="000000"/>
                </a:solidFill>
              </a:rPr>
              <a:t>Understand opportunities and risks</a:t>
            </a:r>
          </a:p>
          <a:p>
            <a:pPr marL="741553" lvl="1" indent="-284353">
              <a:spcAft>
                <a:spcPct val="0"/>
              </a:spcAft>
              <a:buSzPts val="2400"/>
            </a:pPr>
            <a:r>
              <a:rPr lang="en-US" kern="1200" noProof="0" dirty="0">
                <a:solidFill>
                  <a:srgbClr val="000000"/>
                </a:solidFill>
              </a:rPr>
              <a:t>Analyze e-commerce ideas, models, issues</a:t>
            </a:r>
          </a:p>
        </p:txBody>
      </p:sp>
    </p:spTree>
    <p:extLst>
      <p:ext uri="{BB962C8B-B14F-4D97-AF65-F5344CB8AC3E}">
        <p14:creationId xmlns:p14="http://schemas.microsoft.com/office/powerpoint/2010/main" val="16511388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AA33A-E94E-717F-2048-7FADB8B24B60}"/>
              </a:ext>
            </a:extLst>
          </p:cNvPr>
          <p:cNvSpPr>
            <a:spLocks noGrp="1"/>
          </p:cNvSpPr>
          <p:nvPr>
            <p:ph type="title"/>
          </p:nvPr>
        </p:nvSpPr>
        <p:spPr>
          <a:xfrm>
            <a:off x="457200" y="533400"/>
            <a:ext cx="8229600" cy="523220"/>
          </a:xfrm>
        </p:spPr>
        <p:txBody>
          <a:bodyPr/>
          <a:lstStyle/>
          <a:p>
            <a:pPr algn="ctr">
              <a:defRPr/>
            </a:pPr>
            <a:r>
              <a:rPr lang="en-US"/>
              <a:t>What Is E-commerce? </a:t>
            </a:r>
          </a:p>
        </p:txBody>
      </p:sp>
      <p:sp>
        <p:nvSpPr>
          <p:cNvPr id="3" name="Content Placeholder 2">
            <a:extLst>
              <a:ext uri="{FF2B5EF4-FFF2-40B4-BE49-F238E27FC236}">
                <a16:creationId xmlns:a16="http://schemas.microsoft.com/office/drawing/2014/main" id="{B7EC4227-3527-8637-1703-163B58B0238B}"/>
              </a:ext>
            </a:extLst>
          </p:cNvPr>
          <p:cNvSpPr>
            <a:spLocks noGrp="1"/>
          </p:cNvSpPr>
          <p:nvPr>
            <p:ph type="body" idx="1"/>
          </p:nvPr>
        </p:nvSpPr>
        <p:spPr>
          <a:xfrm>
            <a:off x="180753" y="2796363"/>
            <a:ext cx="8229600" cy="492443"/>
          </a:xfrm>
        </p:spPr>
        <p:txBody>
          <a:bodyPr/>
          <a:lstStyle/>
          <a:p>
            <a:pPr algn="ctr">
              <a:spcAft>
                <a:spcPct val="10000"/>
              </a:spcAft>
              <a:buFont typeface="Wingdings" panose="05000000000000000000" pitchFamily="2" charset="2"/>
              <a:buNone/>
              <a:defRPr/>
            </a:pPr>
            <a:r>
              <a:rPr lang="en-US" sz="3200" dirty="0">
                <a:solidFill>
                  <a:srgbClr val="FF0000"/>
                </a:solidFill>
              </a:rPr>
              <a:t>Define? </a:t>
            </a:r>
          </a:p>
        </p:txBody>
      </p:sp>
    </p:spTree>
    <p:extLst>
      <p:ext uri="{BB962C8B-B14F-4D97-AF65-F5344CB8AC3E}">
        <p14:creationId xmlns:p14="http://schemas.microsoft.com/office/powerpoint/2010/main" val="28284809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noProof="0" dirty="0">
                <a:cs typeface="Times New Roman" panose="02020603050405020304" pitchFamily="18" charset="0"/>
              </a:rPr>
              <a:t>What Is E-commerce?</a:t>
            </a:r>
            <a:endParaRPr lang="en-US" noProof="0" dirty="0"/>
          </a:p>
        </p:txBody>
      </p:sp>
      <p:sp>
        <p:nvSpPr>
          <p:cNvPr id="3" name="Content Placeholder 2"/>
          <p:cNvSpPr>
            <a:spLocks noGrp="1"/>
          </p:cNvSpPr>
          <p:nvPr>
            <p:ph sz="quarter" idx="13"/>
          </p:nvPr>
        </p:nvSpPr>
        <p:spPr/>
        <p:txBody>
          <a:bodyPr/>
          <a:lstStyle/>
          <a:p>
            <a:pPr marL="255651" lvl="0" indent="-255651">
              <a:spcAft>
                <a:spcPct val="0"/>
              </a:spcAft>
              <a:buSzPts val="2400"/>
              <a:tabLst/>
            </a:pPr>
            <a:r>
              <a:rPr lang="en-US" kern="1200" noProof="0" dirty="0">
                <a:solidFill>
                  <a:srgbClr val="000000"/>
                </a:solidFill>
                <a:latin typeface="Arial" panose="020B0604020202020204" pitchFamily="34" charset="0"/>
              </a:rPr>
              <a:t>Use of Internet to transact business</a:t>
            </a:r>
          </a:p>
          <a:p>
            <a:pPr marL="741553" lvl="1" indent="-284353">
              <a:spcAft>
                <a:spcPct val="0"/>
              </a:spcAft>
              <a:buSzPts val="2400"/>
            </a:pPr>
            <a:r>
              <a:rPr lang="en-US" kern="1200" noProof="0" dirty="0">
                <a:solidFill>
                  <a:srgbClr val="000000"/>
                </a:solidFill>
                <a:latin typeface="Arial" panose="020B0604020202020204" pitchFamily="34" charset="0"/>
              </a:rPr>
              <a:t>Includes Web, mobile browsers and apps</a:t>
            </a:r>
          </a:p>
          <a:p>
            <a:pPr marL="457200" lvl="1" indent="0">
              <a:spcAft>
                <a:spcPct val="0"/>
              </a:spcAft>
              <a:buSzPts val="2400"/>
              <a:buNone/>
            </a:pPr>
            <a:endParaRPr lang="en-US" kern="1200" noProof="0" dirty="0">
              <a:solidFill>
                <a:srgbClr val="000000"/>
              </a:solidFill>
              <a:latin typeface="Arial" panose="020B0604020202020204" pitchFamily="34" charset="0"/>
            </a:endParaRPr>
          </a:p>
          <a:p>
            <a:pPr marL="255651" lvl="0" indent="-255651">
              <a:spcAft>
                <a:spcPct val="0"/>
              </a:spcAft>
              <a:buSzPts val="2400"/>
              <a:tabLst/>
            </a:pPr>
            <a:r>
              <a:rPr lang="en-US" kern="1200" noProof="0" dirty="0">
                <a:solidFill>
                  <a:srgbClr val="000000"/>
                </a:solidFill>
                <a:latin typeface="Arial" panose="020B0604020202020204" pitchFamily="34" charset="0"/>
              </a:rPr>
              <a:t>More formally:</a:t>
            </a:r>
          </a:p>
          <a:p>
            <a:pPr marL="741553" lvl="1" indent="-284353">
              <a:spcAft>
                <a:spcPct val="0"/>
              </a:spcAft>
              <a:buSzPts val="2400"/>
            </a:pPr>
            <a:r>
              <a:rPr lang="en-US" kern="1200" noProof="0" dirty="0">
                <a:solidFill>
                  <a:srgbClr val="000000"/>
                </a:solidFill>
                <a:latin typeface="Arial" panose="020B0604020202020204" pitchFamily="34" charset="0"/>
              </a:rPr>
              <a:t>Digitally enabled commercial transactions between and among organizations and individuals</a:t>
            </a:r>
          </a:p>
        </p:txBody>
      </p:sp>
    </p:spTree>
    <p:extLst>
      <p:ext uri="{BB962C8B-B14F-4D97-AF65-F5344CB8AC3E}">
        <p14:creationId xmlns:p14="http://schemas.microsoft.com/office/powerpoint/2010/main" val="3627980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AA33A-E94E-717F-2048-7FADB8B24B60}"/>
              </a:ext>
            </a:extLst>
          </p:cNvPr>
          <p:cNvSpPr>
            <a:spLocks noGrp="1"/>
          </p:cNvSpPr>
          <p:nvPr>
            <p:ph type="title"/>
          </p:nvPr>
        </p:nvSpPr>
        <p:spPr>
          <a:xfrm>
            <a:off x="457200" y="271790"/>
            <a:ext cx="8229600" cy="523220"/>
          </a:xfrm>
        </p:spPr>
        <p:txBody>
          <a:bodyPr/>
          <a:lstStyle/>
          <a:p>
            <a:pPr algn="ctr">
              <a:defRPr/>
            </a:pPr>
            <a:r>
              <a:rPr lang="en-US" dirty="0"/>
              <a:t>What Is E-commerce? </a:t>
            </a:r>
          </a:p>
        </p:txBody>
      </p:sp>
      <p:sp>
        <p:nvSpPr>
          <p:cNvPr id="3" name="Content Placeholder 2">
            <a:extLst>
              <a:ext uri="{FF2B5EF4-FFF2-40B4-BE49-F238E27FC236}">
                <a16:creationId xmlns:a16="http://schemas.microsoft.com/office/drawing/2014/main" id="{B7EC4227-3527-8637-1703-163B58B0238B}"/>
              </a:ext>
            </a:extLst>
          </p:cNvPr>
          <p:cNvSpPr>
            <a:spLocks noGrp="1"/>
          </p:cNvSpPr>
          <p:nvPr>
            <p:ph type="body" idx="1"/>
          </p:nvPr>
        </p:nvSpPr>
        <p:spPr>
          <a:xfrm>
            <a:off x="457200" y="830904"/>
            <a:ext cx="8495414" cy="5644324"/>
          </a:xfrm>
        </p:spPr>
        <p:txBody>
          <a:bodyPr/>
          <a:lstStyle/>
          <a:p>
            <a:pPr algn="ctr">
              <a:spcAft>
                <a:spcPct val="10000"/>
              </a:spcAft>
              <a:buFont typeface="Wingdings" panose="05000000000000000000" pitchFamily="2" charset="2"/>
              <a:buNone/>
              <a:defRPr/>
            </a:pPr>
            <a:r>
              <a:rPr lang="en-US" sz="3200" dirty="0">
                <a:solidFill>
                  <a:srgbClr val="FF0000"/>
                </a:solidFill>
              </a:rPr>
              <a:t>A comprehensive definition</a:t>
            </a:r>
          </a:p>
          <a:p>
            <a:pPr algn="just">
              <a:spcAft>
                <a:spcPct val="10000"/>
              </a:spcAft>
              <a:defRPr/>
            </a:pPr>
            <a:r>
              <a:rPr lang="en-US" sz="2800" dirty="0"/>
              <a:t>Electronic commerce encompasses the entire online process of</a:t>
            </a:r>
          </a:p>
          <a:p>
            <a:pPr marL="800100" lvl="1" indent="-342900">
              <a:spcAft>
                <a:spcPct val="10000"/>
              </a:spcAft>
              <a:buFont typeface="Arial" panose="020B0604020202020204" pitchFamily="34" charset="0"/>
              <a:buChar char="•"/>
              <a:defRPr/>
            </a:pPr>
            <a:r>
              <a:rPr lang="en-US" sz="2400" b="1" dirty="0"/>
              <a:t>Developing</a:t>
            </a:r>
          </a:p>
          <a:p>
            <a:pPr marL="800100" lvl="1" indent="-342900">
              <a:spcAft>
                <a:spcPct val="10000"/>
              </a:spcAft>
              <a:buFont typeface="Arial" panose="020B0604020202020204" pitchFamily="34" charset="0"/>
              <a:buChar char="•"/>
              <a:defRPr/>
            </a:pPr>
            <a:r>
              <a:rPr lang="en-US" sz="2400" b="1" dirty="0"/>
              <a:t>Marketing</a:t>
            </a:r>
          </a:p>
          <a:p>
            <a:pPr marL="800100" lvl="1" indent="-342900">
              <a:spcAft>
                <a:spcPct val="10000"/>
              </a:spcAft>
              <a:buFont typeface="Arial" panose="020B0604020202020204" pitchFamily="34" charset="0"/>
              <a:buChar char="•"/>
              <a:defRPr/>
            </a:pPr>
            <a:r>
              <a:rPr lang="en-US" sz="2400" b="1" dirty="0"/>
              <a:t>Selling (</a:t>
            </a:r>
            <a:r>
              <a:rPr lang="en-US" sz="2000" b="1" dirty="0"/>
              <a:t>Get Payment for products or services online)</a:t>
            </a:r>
            <a:endParaRPr lang="en-US" sz="2400" b="1" dirty="0"/>
          </a:p>
          <a:p>
            <a:pPr marL="800100" lvl="1" indent="-342900">
              <a:spcAft>
                <a:spcPct val="10000"/>
              </a:spcAft>
              <a:buFont typeface="Arial" panose="020B0604020202020204" pitchFamily="34" charset="0"/>
              <a:buChar char="•"/>
              <a:defRPr/>
            </a:pPr>
            <a:r>
              <a:rPr lang="en-US" sz="2400" b="1" dirty="0"/>
              <a:t>Delivering</a:t>
            </a:r>
          </a:p>
          <a:p>
            <a:pPr marL="800100" lvl="1" indent="-342900">
              <a:spcAft>
                <a:spcPct val="10000"/>
              </a:spcAft>
              <a:buFont typeface="Arial" panose="020B0604020202020204" pitchFamily="34" charset="0"/>
              <a:buChar char="•"/>
              <a:defRPr/>
            </a:pPr>
            <a:r>
              <a:rPr lang="en-US" sz="2400" b="1" dirty="0"/>
              <a:t>Servicing</a:t>
            </a:r>
          </a:p>
          <a:p>
            <a:pPr algn="just">
              <a:spcBef>
                <a:spcPct val="40000"/>
              </a:spcBef>
              <a:defRPr/>
            </a:pPr>
            <a:r>
              <a:rPr lang="en-US" sz="2800" dirty="0"/>
              <a:t>It relies on the Internet and other information technologies to support every step of the process</a:t>
            </a:r>
          </a:p>
          <a:p>
            <a:pPr>
              <a:defRPr/>
            </a:pPr>
            <a:endParaRPr lang="en-US" sz="2800" dirty="0"/>
          </a:p>
        </p:txBody>
      </p:sp>
    </p:spTree>
    <p:extLst>
      <p:ext uri="{BB962C8B-B14F-4D97-AF65-F5344CB8AC3E}">
        <p14:creationId xmlns:p14="http://schemas.microsoft.com/office/powerpoint/2010/main" val="33966572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noProof="0" dirty="0">
                <a:cs typeface="Times New Roman" panose="02020603050405020304" pitchFamily="18" charset="0"/>
              </a:rPr>
              <a:t>The Difference Between E-commerce and E-business</a:t>
            </a:r>
            <a:endParaRPr lang="en-US" sz="3200" noProof="0" dirty="0"/>
          </a:p>
        </p:txBody>
      </p:sp>
      <p:sp>
        <p:nvSpPr>
          <p:cNvPr id="3" name="Content Placeholder 2"/>
          <p:cNvSpPr>
            <a:spLocks noGrp="1"/>
          </p:cNvSpPr>
          <p:nvPr>
            <p:ph sz="quarter" idx="13"/>
          </p:nvPr>
        </p:nvSpPr>
        <p:spPr/>
        <p:txBody>
          <a:bodyPr/>
          <a:lstStyle/>
          <a:p>
            <a:pPr marL="255651" lvl="0" indent="-255651">
              <a:spcAft>
                <a:spcPct val="0"/>
              </a:spcAft>
              <a:buSzPts val="2400"/>
              <a:tabLst/>
              <a:defRPr/>
            </a:pPr>
            <a:r>
              <a:rPr lang="en-US" altLang="en-US" kern="1200" noProof="0" dirty="0">
                <a:solidFill>
                  <a:srgbClr val="000000"/>
                </a:solidFill>
              </a:rPr>
              <a:t>E-business</a:t>
            </a:r>
          </a:p>
          <a:p>
            <a:pPr marL="741553" lvl="1" indent="-284353">
              <a:spcAft>
                <a:spcPct val="0"/>
              </a:spcAft>
              <a:buSzPts val="2400"/>
              <a:defRPr/>
            </a:pPr>
            <a:r>
              <a:rPr lang="en-US" altLang="en-US" kern="1200" noProof="0" dirty="0">
                <a:solidFill>
                  <a:srgbClr val="000000"/>
                </a:solidFill>
              </a:rPr>
              <a:t>Digital enabling of transactions and processes within a firm, involving information systems under firm</a:t>
            </a:r>
            <a:r>
              <a:rPr lang="en-US" altLang="ja-JP" kern="1200" noProof="0" dirty="0">
                <a:solidFill>
                  <a:srgbClr val="000000"/>
                </a:solidFill>
              </a:rPr>
              <a:t>’s control</a:t>
            </a:r>
          </a:p>
          <a:p>
            <a:pPr marL="741553" lvl="1" indent="-284353">
              <a:spcAft>
                <a:spcPct val="0"/>
              </a:spcAft>
              <a:buSzPts val="2400"/>
              <a:defRPr/>
            </a:pPr>
            <a:r>
              <a:rPr lang="en-US" altLang="en-US" kern="1200" noProof="0" dirty="0">
                <a:solidFill>
                  <a:srgbClr val="000000"/>
                </a:solidFill>
              </a:rPr>
              <a:t>Does not include commercial transactions involving an exchange of value across organizational boundaries</a:t>
            </a:r>
          </a:p>
        </p:txBody>
      </p:sp>
    </p:spTree>
    <p:extLst>
      <p:ext uri="{BB962C8B-B14F-4D97-AF65-F5344CB8AC3E}">
        <p14:creationId xmlns:p14="http://schemas.microsoft.com/office/powerpoint/2010/main" val="9348963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noProof="0" dirty="0">
                <a:cs typeface="Times New Roman" panose="02020603050405020304" pitchFamily="18" charset="0"/>
              </a:rPr>
              <a:t>Figure 1.1 The Difference Between </a:t>
            </a:r>
            <a:br>
              <a:rPr lang="en-US" sz="3200" kern="1200" noProof="0" dirty="0">
                <a:cs typeface="Times New Roman" panose="02020603050405020304" pitchFamily="18" charset="0"/>
              </a:rPr>
            </a:br>
            <a:r>
              <a:rPr lang="en-US" sz="3200" kern="1200" noProof="0" dirty="0">
                <a:cs typeface="Times New Roman" panose="02020603050405020304" pitchFamily="18" charset="0"/>
              </a:rPr>
              <a:t>E-commerce and E-business</a:t>
            </a:r>
            <a:endParaRPr lang="en-US" sz="3200" noProof="0" dirty="0"/>
          </a:p>
        </p:txBody>
      </p:sp>
      <p:pic>
        <p:nvPicPr>
          <p:cNvPr id="4" name="Picture 3" descr="An illustration depicts the difference between e-commerce and e-business. For a full description, see Notes. Press F6.">
            <a:extLst>
              <a:ext uri="{FF2B5EF4-FFF2-40B4-BE49-F238E27FC236}">
                <a16:creationId xmlns:a16="http://schemas.microsoft.com/office/drawing/2014/main" id="{187C2FAE-18A2-22CA-9D1C-5F7D6379492C}"/>
              </a:ext>
            </a:extLst>
          </p:cNvPr>
          <p:cNvPicPr>
            <a:picLocks noChangeAspect="1"/>
          </p:cNvPicPr>
          <p:nvPr/>
        </p:nvPicPr>
        <p:blipFill>
          <a:blip r:embed="rId3"/>
          <a:stretch>
            <a:fillRect/>
          </a:stretch>
        </p:blipFill>
        <p:spPr>
          <a:xfrm>
            <a:off x="1084024" y="1435807"/>
            <a:ext cx="7204552" cy="4782278"/>
          </a:xfrm>
          <a:prstGeom prst="rect">
            <a:avLst/>
          </a:prstGeom>
        </p:spPr>
      </p:pic>
    </p:spTree>
    <p:extLst>
      <p:ext uri="{BB962C8B-B14F-4D97-AF65-F5344CB8AC3E}">
        <p14:creationId xmlns:p14="http://schemas.microsoft.com/office/powerpoint/2010/main" val="12029496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noProof="0" dirty="0">
                <a:cs typeface="Times New Roman" panose="02020603050405020304" pitchFamily="18" charset="0"/>
              </a:rPr>
              <a:t>Technological Building Blocks Underlying E-commerce</a:t>
            </a:r>
            <a:endParaRPr lang="en-US" sz="3200" noProof="0" dirty="0"/>
          </a:p>
        </p:txBody>
      </p:sp>
      <p:sp>
        <p:nvSpPr>
          <p:cNvPr id="3" name="Content Placeholder 2"/>
          <p:cNvSpPr>
            <a:spLocks noGrp="1"/>
          </p:cNvSpPr>
          <p:nvPr>
            <p:ph sz="quarter" idx="13"/>
          </p:nvPr>
        </p:nvSpPr>
        <p:spPr/>
        <p:txBody>
          <a:bodyPr/>
          <a:lstStyle/>
          <a:p>
            <a:pPr marL="255651" lvl="0" indent="-255651">
              <a:spcAft>
                <a:spcPct val="0"/>
              </a:spcAft>
              <a:buSzPts val="2400"/>
              <a:tabLst/>
            </a:pPr>
            <a:r>
              <a:rPr lang="en-US" kern="1200" noProof="0" dirty="0">
                <a:solidFill>
                  <a:srgbClr val="000000"/>
                </a:solidFill>
                <a:latin typeface="Arial" panose="020B0604020202020204" pitchFamily="34" charset="0"/>
              </a:rPr>
              <a:t>The Internet</a:t>
            </a:r>
          </a:p>
          <a:p>
            <a:pPr marL="742569" lvl="1" indent="-255651">
              <a:spcAft>
                <a:spcPct val="0"/>
              </a:spcAft>
              <a:buSzPts val="2400"/>
            </a:pPr>
            <a:r>
              <a:rPr lang="en-US" kern="1200" noProof="0" dirty="0">
                <a:solidFill>
                  <a:srgbClr val="000000"/>
                </a:solidFill>
                <a:latin typeface="Arial" panose="020B0604020202020204" pitchFamily="34" charset="0"/>
              </a:rPr>
              <a:t>Worldwide network of computer networks built on common standards</a:t>
            </a:r>
          </a:p>
          <a:p>
            <a:pPr marL="255651" lvl="0" indent="-255651">
              <a:spcAft>
                <a:spcPct val="0"/>
              </a:spcAft>
              <a:buSzPts val="2400"/>
              <a:tabLst/>
            </a:pPr>
            <a:r>
              <a:rPr lang="en-US" kern="1200" noProof="0" dirty="0">
                <a:solidFill>
                  <a:srgbClr val="000000"/>
                </a:solidFill>
                <a:latin typeface="Arial" panose="020B0604020202020204" pitchFamily="34" charset="0"/>
              </a:rPr>
              <a:t>The World Wide Web</a:t>
            </a:r>
          </a:p>
          <a:p>
            <a:pPr marL="742569" lvl="1" indent="-255651">
              <a:spcAft>
                <a:spcPct val="0"/>
              </a:spcAft>
              <a:buSzPts val="2400"/>
            </a:pPr>
            <a:r>
              <a:rPr lang="en-US" kern="1200" noProof="0" dirty="0">
                <a:solidFill>
                  <a:srgbClr val="000000"/>
                </a:solidFill>
                <a:latin typeface="Arial" panose="020B0604020202020204" pitchFamily="34" charset="0"/>
              </a:rPr>
              <a:t>Provides access to trillions of web pages created in HTML</a:t>
            </a:r>
          </a:p>
          <a:p>
            <a:pPr marL="741553" lvl="1" indent="-284353">
              <a:spcAft>
                <a:spcPct val="0"/>
              </a:spcAft>
              <a:buSzPts val="2400"/>
            </a:pPr>
            <a:r>
              <a:rPr lang="en-US" kern="1200" noProof="0" dirty="0">
                <a:solidFill>
                  <a:srgbClr val="000000"/>
                </a:solidFill>
                <a:latin typeface="Arial" panose="020B0604020202020204" pitchFamily="34" charset="0"/>
              </a:rPr>
              <a:t>“Surface” Web </a:t>
            </a:r>
            <a:r>
              <a:rPr lang="en-US" kern="1200" noProof="0" dirty="0">
                <a:solidFill>
                  <a:schemeClr val="tx1"/>
                </a:solidFill>
                <a:latin typeface="Arial" panose="020B0604020202020204" pitchFamily="34" charset="0"/>
              </a:rPr>
              <a:t>versus </a:t>
            </a:r>
            <a:r>
              <a:rPr lang="en-US" kern="1200" noProof="0" dirty="0">
                <a:solidFill>
                  <a:srgbClr val="000000"/>
                </a:solidFill>
                <a:latin typeface="Arial" panose="020B0604020202020204" pitchFamily="34" charset="0"/>
              </a:rPr>
              <a:t>“deep” Web</a:t>
            </a:r>
          </a:p>
          <a:p>
            <a:pPr marL="255651" lvl="0" indent="-255651">
              <a:spcAft>
                <a:spcPct val="0"/>
              </a:spcAft>
              <a:buSzPts val="2400"/>
              <a:tabLst/>
            </a:pPr>
            <a:r>
              <a:rPr lang="en-US" kern="1200" noProof="0" dirty="0">
                <a:solidFill>
                  <a:srgbClr val="000000"/>
                </a:solidFill>
                <a:latin typeface="Arial" panose="020B0604020202020204" pitchFamily="34" charset="0"/>
              </a:rPr>
              <a:t>Mobile platform</a:t>
            </a:r>
          </a:p>
          <a:p>
            <a:pPr marL="741553" lvl="1" indent="-284353">
              <a:spcAft>
                <a:spcPct val="0"/>
              </a:spcAft>
              <a:buSzPts val="2400"/>
            </a:pPr>
            <a:r>
              <a:rPr lang="en-US" kern="1200" noProof="0" dirty="0">
                <a:solidFill>
                  <a:srgbClr val="000000"/>
                </a:solidFill>
                <a:latin typeface="Arial" panose="020B0604020202020204" pitchFamily="34" charset="0"/>
              </a:rPr>
              <a:t>Smartphones, tablets, ultra-lightweight laptops</a:t>
            </a:r>
          </a:p>
          <a:p>
            <a:pPr marL="741553" lvl="1" indent="-284353">
              <a:spcAft>
                <a:spcPct val="0"/>
              </a:spcAft>
              <a:buSzPts val="2400"/>
            </a:pPr>
            <a:r>
              <a:rPr lang="en-US" kern="1200" noProof="0" dirty="0">
                <a:solidFill>
                  <a:srgbClr val="000000"/>
                </a:solidFill>
                <a:latin typeface="Arial" panose="020B0604020202020204" pitchFamily="34" charset="0"/>
              </a:rPr>
              <a:t>Mobile apps</a:t>
            </a:r>
          </a:p>
        </p:txBody>
      </p:sp>
    </p:spTree>
    <p:extLst>
      <p:ext uri="{BB962C8B-B14F-4D97-AF65-F5344CB8AC3E}">
        <p14:creationId xmlns:p14="http://schemas.microsoft.com/office/powerpoint/2010/main" val="23308185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noProof="0" dirty="0">
                <a:cs typeface="Times New Roman" panose="02020603050405020304" pitchFamily="18" charset="0"/>
              </a:rPr>
              <a:t>Insight on Technology: Will Apps Make the Web Irrelevant?</a:t>
            </a:r>
            <a:endParaRPr lang="en-US" sz="3200" noProof="0" dirty="0"/>
          </a:p>
        </p:txBody>
      </p:sp>
      <p:sp>
        <p:nvSpPr>
          <p:cNvPr id="3" name="Content Placeholder 2"/>
          <p:cNvSpPr>
            <a:spLocks noGrp="1"/>
          </p:cNvSpPr>
          <p:nvPr>
            <p:ph sz="quarter" idx="13"/>
          </p:nvPr>
        </p:nvSpPr>
        <p:spPr>
          <a:xfrm>
            <a:off x="457200" y="1554920"/>
            <a:ext cx="7796151" cy="4663335"/>
          </a:xfrm>
        </p:spPr>
        <p:txBody>
          <a:bodyPr/>
          <a:lstStyle/>
          <a:p>
            <a:pPr marL="255651" lvl="0" indent="-255651">
              <a:spcAft>
                <a:spcPct val="0"/>
              </a:spcAft>
              <a:buSzPts val="2400"/>
              <a:tabLst/>
            </a:pPr>
            <a:r>
              <a:rPr lang="en-US" kern="1200" noProof="0" dirty="0">
                <a:solidFill>
                  <a:srgbClr val="000000"/>
                </a:solidFill>
                <a:latin typeface="Arial" panose="020B0604020202020204" pitchFamily="34" charset="0"/>
              </a:rPr>
              <a:t>Class Discussion</a:t>
            </a:r>
          </a:p>
          <a:p>
            <a:pPr marL="741553" lvl="1" indent="-284353">
              <a:spcAft>
                <a:spcPct val="0"/>
              </a:spcAft>
              <a:buSzPts val="2400"/>
            </a:pPr>
            <a:r>
              <a:rPr lang="en-US" kern="1200" noProof="0" dirty="0">
                <a:solidFill>
                  <a:srgbClr val="000000"/>
                </a:solidFill>
                <a:latin typeface="Arial" panose="020B0604020202020204" pitchFamily="34" charset="0"/>
              </a:rPr>
              <a:t>What are the advantages and disadvantages of apps, compared with websites, for mobile users?</a:t>
            </a:r>
          </a:p>
          <a:p>
            <a:pPr marL="741553" lvl="1" indent="-284353">
              <a:spcAft>
                <a:spcPct val="0"/>
              </a:spcAft>
              <a:buSzPts val="2400"/>
            </a:pPr>
            <a:r>
              <a:rPr lang="en-US" kern="1200" noProof="0" dirty="0">
                <a:solidFill>
                  <a:srgbClr val="000000"/>
                </a:solidFill>
                <a:latin typeface="Arial" panose="020B0604020202020204" pitchFamily="34" charset="0"/>
              </a:rPr>
              <a:t>What are the benefits of apps for content owners and creators?</a:t>
            </a:r>
          </a:p>
          <a:p>
            <a:pPr marL="741553" lvl="1" indent="-284353">
              <a:spcAft>
                <a:spcPct val="0"/>
              </a:spcAft>
              <a:buSzPts val="2400"/>
            </a:pPr>
            <a:r>
              <a:rPr lang="en-US" kern="1200" noProof="0" dirty="0">
                <a:solidFill>
                  <a:srgbClr val="000000"/>
                </a:solidFill>
                <a:latin typeface="Arial" panose="020B0604020202020204" pitchFamily="34" charset="0"/>
              </a:rPr>
              <a:t>What are progressive web apps and how do they differ from native apps?</a:t>
            </a:r>
          </a:p>
          <a:p>
            <a:pPr marL="741553" lvl="1" indent="-284353">
              <a:spcAft>
                <a:spcPct val="0"/>
              </a:spcAft>
              <a:buSzPts val="2400"/>
            </a:pPr>
            <a:r>
              <a:rPr lang="en-US" kern="1200" noProof="0" dirty="0">
                <a:solidFill>
                  <a:srgbClr val="000000"/>
                </a:solidFill>
                <a:latin typeface="Arial" panose="020B0604020202020204" pitchFamily="34" charset="0"/>
              </a:rPr>
              <a:t>Will apps eventually make the Web irrelevant? Why or why not?</a:t>
            </a:r>
          </a:p>
        </p:txBody>
      </p:sp>
    </p:spTree>
    <p:extLst>
      <p:ext uri="{BB962C8B-B14F-4D97-AF65-F5344CB8AC3E}">
        <p14:creationId xmlns:p14="http://schemas.microsoft.com/office/powerpoint/2010/main" val="29319625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noProof="0" dirty="0">
                <a:cs typeface="Times New Roman" panose="02020603050405020304" pitchFamily="18" charset="0"/>
              </a:rPr>
              <a:t>Major Trends in E-commerce </a:t>
            </a:r>
            <a:r>
              <a:rPr lang="en-US" sz="2000" b="0" kern="1200" noProof="0" dirty="0">
                <a:cs typeface="Times New Roman" panose="02020603050405020304" pitchFamily="18" charset="0"/>
              </a:rPr>
              <a:t>(1 of 3)</a:t>
            </a:r>
            <a:endParaRPr lang="en-US" sz="2000" noProof="0" dirty="0"/>
          </a:p>
        </p:txBody>
      </p:sp>
      <p:sp>
        <p:nvSpPr>
          <p:cNvPr id="3" name="Content Placeholder 2"/>
          <p:cNvSpPr>
            <a:spLocks noGrp="1"/>
          </p:cNvSpPr>
          <p:nvPr>
            <p:ph sz="quarter" idx="13"/>
          </p:nvPr>
        </p:nvSpPr>
        <p:spPr/>
        <p:txBody>
          <a:bodyPr/>
          <a:lstStyle/>
          <a:p>
            <a:pPr marL="255651" lvl="0" indent="-255651">
              <a:spcAft>
                <a:spcPct val="0"/>
              </a:spcAft>
              <a:buSzPts val="2400"/>
              <a:tabLst/>
            </a:pPr>
            <a:r>
              <a:rPr lang="en-US" kern="1200" noProof="0" dirty="0">
                <a:solidFill>
                  <a:srgbClr val="000000"/>
                </a:solidFill>
                <a:latin typeface="Arial" panose="020B0604020202020204" pitchFamily="34" charset="0"/>
              </a:rPr>
              <a:t>Business trends include:</a:t>
            </a:r>
          </a:p>
          <a:p>
            <a:pPr marL="741553" lvl="1" indent="-284353">
              <a:spcAft>
                <a:spcPct val="0"/>
              </a:spcAft>
              <a:buSzPts val="2400"/>
            </a:pPr>
            <a:r>
              <a:rPr lang="en-US" kern="1200" noProof="0" dirty="0">
                <a:solidFill>
                  <a:srgbClr val="000000"/>
                </a:solidFill>
                <a:latin typeface="Arial" panose="020B0604020202020204" pitchFamily="34" charset="0"/>
              </a:rPr>
              <a:t>Retail e-commerce and m-commerce settle back to normal growth rates (around 10%) after Covid-19 pandemic</a:t>
            </a:r>
          </a:p>
          <a:p>
            <a:pPr marL="741553" lvl="1" indent="-284353">
              <a:spcAft>
                <a:spcPct val="0"/>
              </a:spcAft>
              <a:buSzPts val="2400"/>
            </a:pPr>
            <a:r>
              <a:rPr lang="en-US" kern="1200" noProof="0" dirty="0">
                <a:solidFill>
                  <a:srgbClr val="000000"/>
                </a:solidFill>
                <a:latin typeface="Arial" panose="020B0604020202020204" pitchFamily="34" charset="0"/>
              </a:rPr>
              <a:t>Mobile app ecosystem: almost 250 million U.S. adults use smartphone apps</a:t>
            </a:r>
          </a:p>
          <a:p>
            <a:pPr marL="741553" lvl="1" indent="-284353">
              <a:spcAft>
                <a:spcPct val="0"/>
              </a:spcAft>
              <a:buSzPts val="2400"/>
            </a:pPr>
            <a:r>
              <a:rPr lang="en-US" kern="1200" noProof="0" dirty="0">
                <a:solidFill>
                  <a:srgbClr val="000000"/>
                </a:solidFill>
                <a:latin typeface="Arial" panose="020B0604020202020204" pitchFamily="34" charset="0"/>
              </a:rPr>
              <a:t>Social e-commerce estimated to generate around $55 billion in 2022</a:t>
            </a:r>
          </a:p>
          <a:p>
            <a:pPr marL="741553" lvl="1" indent="-284353">
              <a:spcAft>
                <a:spcPct val="0"/>
              </a:spcAft>
              <a:buSzPts val="2400"/>
            </a:pPr>
            <a:r>
              <a:rPr lang="en-US" kern="1200" noProof="0" dirty="0">
                <a:solidFill>
                  <a:srgbClr val="000000"/>
                </a:solidFill>
                <a:latin typeface="Arial" panose="020B0604020202020204" pitchFamily="34" charset="0"/>
              </a:rPr>
              <a:t>B2B e-commerce revenues expected to reach about $8.5 trillion in 2022</a:t>
            </a:r>
          </a:p>
        </p:txBody>
      </p:sp>
    </p:spTree>
    <p:extLst>
      <p:ext uri="{BB962C8B-B14F-4D97-AF65-F5344CB8AC3E}">
        <p14:creationId xmlns:p14="http://schemas.microsoft.com/office/powerpoint/2010/main" val="3626439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noProof="0" dirty="0">
                <a:cs typeface="Times New Roman" panose="02020603050405020304" pitchFamily="18" charset="0"/>
              </a:rPr>
              <a:t>Major Trends in E-commerce </a:t>
            </a:r>
            <a:r>
              <a:rPr lang="en-US" sz="2000" b="0" kern="1200" noProof="0" dirty="0">
                <a:cs typeface="Times New Roman" panose="02020603050405020304" pitchFamily="18" charset="0"/>
              </a:rPr>
              <a:t>(2 of 3)</a:t>
            </a:r>
            <a:endParaRPr lang="en-US" sz="2000" noProof="0" dirty="0"/>
          </a:p>
        </p:txBody>
      </p:sp>
      <p:sp>
        <p:nvSpPr>
          <p:cNvPr id="3" name="Content Placeholder 2"/>
          <p:cNvSpPr>
            <a:spLocks noGrp="1"/>
          </p:cNvSpPr>
          <p:nvPr>
            <p:ph sz="quarter" idx="13"/>
          </p:nvPr>
        </p:nvSpPr>
        <p:spPr/>
        <p:txBody>
          <a:bodyPr/>
          <a:lstStyle/>
          <a:p>
            <a:pPr marL="255651" lvl="0" indent="-255651">
              <a:spcAft>
                <a:spcPct val="0"/>
              </a:spcAft>
              <a:buSzPts val="2400"/>
              <a:tabLst/>
            </a:pPr>
            <a:r>
              <a:rPr lang="en-US" kern="1200" noProof="0" dirty="0">
                <a:solidFill>
                  <a:srgbClr val="000000"/>
                </a:solidFill>
                <a:latin typeface="Arial" panose="020B0604020202020204" pitchFamily="34" charset="0"/>
              </a:rPr>
              <a:t>Technology trends include:</a:t>
            </a:r>
          </a:p>
          <a:p>
            <a:pPr marL="741553" lvl="1" indent="-284353">
              <a:spcAft>
                <a:spcPct val="0"/>
              </a:spcAft>
              <a:buSzPts val="2400"/>
            </a:pPr>
            <a:r>
              <a:rPr lang="en-US" kern="1200" noProof="0" dirty="0">
                <a:solidFill>
                  <a:srgbClr val="000000"/>
                </a:solidFill>
                <a:latin typeface="Arial" panose="020B0604020202020204" pitchFamily="34" charset="0"/>
              </a:rPr>
              <a:t>Mobile platform</a:t>
            </a:r>
          </a:p>
          <a:p>
            <a:pPr marL="741553" lvl="1" indent="-284353">
              <a:spcAft>
                <a:spcPct val="0"/>
              </a:spcAft>
              <a:buSzPts val="2400"/>
            </a:pPr>
            <a:r>
              <a:rPr lang="en-US" kern="1200" noProof="0" dirty="0">
                <a:solidFill>
                  <a:srgbClr val="000000"/>
                </a:solidFill>
                <a:latin typeface="Arial" panose="020B0604020202020204" pitchFamily="34" charset="0"/>
              </a:rPr>
              <a:t>Cloud computing</a:t>
            </a:r>
          </a:p>
          <a:p>
            <a:pPr marL="741553" lvl="1" indent="-284353">
              <a:spcAft>
                <a:spcPct val="0"/>
              </a:spcAft>
              <a:buSzPts val="2400"/>
            </a:pPr>
            <a:r>
              <a:rPr lang="en-US" kern="1200" noProof="0" dirty="0">
                <a:solidFill>
                  <a:srgbClr val="000000"/>
                </a:solidFill>
                <a:latin typeface="Arial" panose="020B0604020202020204" pitchFamily="34" charset="0"/>
              </a:rPr>
              <a:t>Internet of Things</a:t>
            </a:r>
          </a:p>
          <a:p>
            <a:pPr marL="741553" lvl="1" indent="-284353">
              <a:spcAft>
                <a:spcPct val="0"/>
              </a:spcAft>
              <a:buSzPts val="2400"/>
            </a:pPr>
            <a:r>
              <a:rPr lang="en-US" kern="1200" noProof="0" dirty="0">
                <a:solidFill>
                  <a:srgbClr val="000000"/>
                </a:solidFill>
                <a:latin typeface="Arial" panose="020B0604020202020204" pitchFamily="34" charset="0"/>
              </a:rPr>
              <a:t>Big data</a:t>
            </a:r>
          </a:p>
          <a:p>
            <a:pPr marL="741553" lvl="1" indent="-284353">
              <a:spcAft>
                <a:spcPct val="0"/>
              </a:spcAft>
              <a:buSzPts val="2400"/>
            </a:pPr>
            <a:r>
              <a:rPr lang="en-US" kern="1200" noProof="0" dirty="0">
                <a:solidFill>
                  <a:srgbClr val="000000"/>
                </a:solidFill>
                <a:latin typeface="Arial" panose="020B0604020202020204" pitchFamily="34" charset="0"/>
              </a:rPr>
              <a:t>Artificial intelligence technologies</a:t>
            </a:r>
          </a:p>
          <a:p>
            <a:pPr marL="741553" lvl="1" indent="-284353">
              <a:spcAft>
                <a:spcPct val="0"/>
              </a:spcAft>
              <a:buSzPts val="2400"/>
            </a:pPr>
            <a:r>
              <a:rPr lang="en-US" kern="1200" noProof="0" dirty="0">
                <a:solidFill>
                  <a:srgbClr val="000000"/>
                </a:solidFill>
                <a:latin typeface="Arial" panose="020B0604020202020204" pitchFamily="34" charset="0"/>
              </a:rPr>
              <a:t>Blockchain</a:t>
            </a:r>
          </a:p>
          <a:p>
            <a:pPr marL="741553" lvl="1" indent="-284353">
              <a:spcAft>
                <a:spcPct val="0"/>
              </a:spcAft>
              <a:buSzPts val="2400"/>
            </a:pPr>
            <a:r>
              <a:rPr lang="en-US" kern="1200" noProof="0" dirty="0">
                <a:solidFill>
                  <a:srgbClr val="000000"/>
                </a:solidFill>
                <a:latin typeface="Arial" panose="020B0604020202020204" pitchFamily="34" charset="0"/>
              </a:rPr>
              <a:t>Web3</a:t>
            </a:r>
          </a:p>
          <a:p>
            <a:pPr marL="741553" lvl="1" indent="-284353">
              <a:spcAft>
                <a:spcPct val="0"/>
              </a:spcAft>
              <a:buSzPts val="2400"/>
            </a:pPr>
            <a:r>
              <a:rPr lang="en-US" kern="1200" noProof="0" dirty="0">
                <a:solidFill>
                  <a:srgbClr val="000000"/>
                </a:solidFill>
                <a:latin typeface="Arial" panose="020B0604020202020204" pitchFamily="34" charset="0"/>
              </a:rPr>
              <a:t>Metaverse</a:t>
            </a:r>
          </a:p>
        </p:txBody>
      </p:sp>
    </p:spTree>
    <p:extLst>
      <p:ext uri="{BB962C8B-B14F-4D97-AF65-F5344CB8AC3E}">
        <p14:creationId xmlns:p14="http://schemas.microsoft.com/office/powerpoint/2010/main" val="24531314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noProof="0" dirty="0">
                <a:cs typeface="Times New Roman" panose="02020603050405020304" pitchFamily="18" charset="0"/>
              </a:rPr>
              <a:t>Major Trends in E-commerce </a:t>
            </a:r>
            <a:r>
              <a:rPr lang="en-US" sz="2000" b="0" kern="1200" noProof="0" dirty="0">
                <a:cs typeface="Times New Roman" panose="02020603050405020304" pitchFamily="18" charset="0"/>
              </a:rPr>
              <a:t>(3 of 3)</a:t>
            </a:r>
            <a:endParaRPr lang="en-US" sz="2000" noProof="0" dirty="0"/>
          </a:p>
        </p:txBody>
      </p:sp>
      <p:sp>
        <p:nvSpPr>
          <p:cNvPr id="3" name="Content Placeholder 2"/>
          <p:cNvSpPr>
            <a:spLocks noGrp="1"/>
          </p:cNvSpPr>
          <p:nvPr>
            <p:ph sz="quarter" idx="13"/>
          </p:nvPr>
        </p:nvSpPr>
        <p:spPr/>
        <p:txBody>
          <a:bodyPr/>
          <a:lstStyle/>
          <a:p>
            <a:pPr marL="255651" lvl="0" indent="-255651">
              <a:spcAft>
                <a:spcPct val="0"/>
              </a:spcAft>
              <a:buSzPts val="2400"/>
              <a:tabLst/>
            </a:pPr>
            <a:r>
              <a:rPr lang="en-US" kern="1200" noProof="0" dirty="0">
                <a:solidFill>
                  <a:srgbClr val="000000"/>
                </a:solidFill>
                <a:latin typeface="Arial" panose="020B0604020202020204" pitchFamily="34" charset="0"/>
              </a:rPr>
              <a:t>Societal trends include:</a:t>
            </a:r>
          </a:p>
          <a:p>
            <a:pPr marL="0" lvl="0" indent="0">
              <a:spcAft>
                <a:spcPct val="0"/>
              </a:spcAft>
              <a:buSzPts val="2400"/>
              <a:buNone/>
              <a:tabLst/>
            </a:pPr>
            <a:endParaRPr lang="en-US" kern="1200" noProof="0" dirty="0">
              <a:solidFill>
                <a:srgbClr val="000000"/>
              </a:solidFill>
              <a:latin typeface="Arial" panose="020B0604020202020204" pitchFamily="34" charset="0"/>
            </a:endParaRPr>
          </a:p>
          <a:p>
            <a:pPr marL="741553" lvl="1" indent="-284353">
              <a:spcAft>
                <a:spcPct val="0"/>
              </a:spcAft>
              <a:buSzPts val="2400"/>
            </a:pPr>
            <a:r>
              <a:rPr lang="en-US" kern="1200" noProof="0" dirty="0">
                <a:solidFill>
                  <a:srgbClr val="000000"/>
                </a:solidFill>
                <a:latin typeface="Arial" panose="020B0604020202020204" pitchFamily="34" charset="0"/>
              </a:rPr>
              <a:t>User-generated content </a:t>
            </a:r>
          </a:p>
          <a:p>
            <a:pPr marL="741553" lvl="1" indent="-284353">
              <a:spcAft>
                <a:spcPct val="0"/>
              </a:spcAft>
              <a:buSzPts val="2400"/>
            </a:pPr>
            <a:r>
              <a:rPr lang="en-US" kern="1200" noProof="0" dirty="0">
                <a:solidFill>
                  <a:srgbClr val="000000"/>
                </a:solidFill>
                <a:latin typeface="Arial" panose="020B0604020202020204" pitchFamily="34" charset="0"/>
              </a:rPr>
              <a:t>Commercial and governmental invasion of privacy</a:t>
            </a:r>
          </a:p>
          <a:p>
            <a:pPr marL="741553" lvl="1" indent="-284353">
              <a:spcAft>
                <a:spcPct val="0"/>
              </a:spcAft>
              <a:buSzPts val="2400"/>
            </a:pPr>
            <a:r>
              <a:rPr lang="en-US" kern="1200" noProof="0" dirty="0">
                <a:solidFill>
                  <a:srgbClr val="000000"/>
                </a:solidFill>
                <a:latin typeface="Arial" panose="020B0604020202020204" pitchFamily="34" charset="0"/>
              </a:rPr>
              <a:t>Concerns about increasing market dominance of Amazon, Google, Meta (Big Tech)</a:t>
            </a:r>
          </a:p>
          <a:p>
            <a:pPr marL="741553" lvl="1" indent="-284353">
              <a:spcAft>
                <a:spcPct val="0"/>
              </a:spcAft>
              <a:buSzPts val="2400"/>
            </a:pPr>
            <a:r>
              <a:rPr lang="en-US" kern="1200" noProof="0" dirty="0">
                <a:solidFill>
                  <a:srgbClr val="000000"/>
                </a:solidFill>
                <a:latin typeface="Arial" panose="020B0604020202020204" pitchFamily="34" charset="0"/>
              </a:rPr>
              <a:t>Online security issues</a:t>
            </a:r>
          </a:p>
        </p:txBody>
      </p:sp>
    </p:spTree>
    <p:extLst>
      <p:ext uri="{BB962C8B-B14F-4D97-AF65-F5344CB8AC3E}">
        <p14:creationId xmlns:p14="http://schemas.microsoft.com/office/powerpoint/2010/main" val="6821374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noProof="0" dirty="0">
                <a:cs typeface="Times New Roman" panose="02020603050405020304" pitchFamily="18" charset="0"/>
              </a:rPr>
              <a:t>Unique Features of E-commerce Technology </a:t>
            </a:r>
            <a:r>
              <a:rPr lang="en-US" sz="2000" b="0" kern="1200" noProof="0" dirty="0">
                <a:cs typeface="Times New Roman" panose="02020603050405020304" pitchFamily="18" charset="0"/>
              </a:rPr>
              <a:t>(1 of 2)</a:t>
            </a:r>
            <a:endParaRPr lang="en-US" sz="2000" noProof="0" dirty="0"/>
          </a:p>
        </p:txBody>
      </p:sp>
      <p:sp>
        <p:nvSpPr>
          <p:cNvPr id="3" name="Content Placeholder 2"/>
          <p:cNvSpPr>
            <a:spLocks noGrp="1"/>
          </p:cNvSpPr>
          <p:nvPr>
            <p:ph sz="quarter" idx="13"/>
          </p:nvPr>
        </p:nvSpPr>
        <p:spPr/>
        <p:txBody>
          <a:bodyPr/>
          <a:lstStyle/>
          <a:p>
            <a:pPr marL="432054" lvl="0" indent="-432054">
              <a:spcAft>
                <a:spcPct val="0"/>
              </a:spcAft>
              <a:buSzPts val="2400"/>
              <a:buFont typeface="+mj-lt"/>
              <a:buAutoNum type="arabicPeriod"/>
              <a:tabLst/>
            </a:pPr>
            <a:r>
              <a:rPr lang="en-US" kern="1200" noProof="0" dirty="0">
                <a:solidFill>
                  <a:srgbClr val="000000"/>
                </a:solidFill>
                <a:latin typeface="Arial" panose="020B0604020202020204" pitchFamily="34" charset="0"/>
              </a:rPr>
              <a:t>Ubiquity</a:t>
            </a:r>
          </a:p>
          <a:p>
            <a:pPr marL="432054" lvl="0" indent="-432054">
              <a:spcAft>
                <a:spcPct val="0"/>
              </a:spcAft>
              <a:buSzPts val="2400"/>
              <a:buFont typeface="+mj-lt"/>
              <a:buAutoNum type="arabicPeriod"/>
              <a:tabLst/>
            </a:pPr>
            <a:r>
              <a:rPr lang="en-US" kern="1200" noProof="0" dirty="0">
                <a:solidFill>
                  <a:srgbClr val="000000"/>
                </a:solidFill>
                <a:latin typeface="Arial" panose="020B0604020202020204" pitchFamily="34" charset="0"/>
              </a:rPr>
              <a:t>Global reach</a:t>
            </a:r>
          </a:p>
          <a:p>
            <a:pPr marL="432054" lvl="0" indent="-432054">
              <a:spcAft>
                <a:spcPct val="0"/>
              </a:spcAft>
              <a:buSzPts val="2400"/>
              <a:buFont typeface="+mj-lt"/>
              <a:buAutoNum type="arabicPeriod"/>
              <a:tabLst/>
            </a:pPr>
            <a:r>
              <a:rPr lang="en-US" kern="1200" noProof="0" dirty="0">
                <a:solidFill>
                  <a:srgbClr val="000000"/>
                </a:solidFill>
                <a:latin typeface="Arial" panose="020B0604020202020204" pitchFamily="34" charset="0"/>
              </a:rPr>
              <a:t>Universal standards</a:t>
            </a:r>
          </a:p>
          <a:p>
            <a:pPr marL="432054" lvl="0" indent="-432054">
              <a:spcAft>
                <a:spcPct val="0"/>
              </a:spcAft>
              <a:buSzPts val="2400"/>
              <a:buFont typeface="+mj-lt"/>
              <a:buAutoNum type="arabicPeriod"/>
              <a:tabLst/>
            </a:pPr>
            <a:r>
              <a:rPr lang="en-US" kern="1200" noProof="0" dirty="0">
                <a:solidFill>
                  <a:srgbClr val="000000"/>
                </a:solidFill>
                <a:latin typeface="Arial" panose="020B0604020202020204" pitchFamily="34" charset="0"/>
              </a:rPr>
              <a:t>Information richness</a:t>
            </a:r>
          </a:p>
        </p:txBody>
      </p:sp>
    </p:spTree>
    <p:extLst>
      <p:ext uri="{BB962C8B-B14F-4D97-AF65-F5344CB8AC3E}">
        <p14:creationId xmlns:p14="http://schemas.microsoft.com/office/powerpoint/2010/main" val="33490812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noProof="0" dirty="0">
                <a:cs typeface="Times New Roman" panose="02020603050405020304" pitchFamily="18" charset="0"/>
              </a:rPr>
              <a:t>Unique Features of E-commerce Technology </a:t>
            </a:r>
            <a:r>
              <a:rPr lang="en-US" sz="2000" b="0" kern="1200" noProof="0" dirty="0">
                <a:cs typeface="Times New Roman" panose="02020603050405020304" pitchFamily="18" charset="0"/>
              </a:rPr>
              <a:t>(2 of 2)</a:t>
            </a:r>
            <a:endParaRPr lang="en-US" sz="2000" noProof="0" dirty="0"/>
          </a:p>
        </p:txBody>
      </p:sp>
      <p:sp>
        <p:nvSpPr>
          <p:cNvPr id="3" name="Content Placeholder 2"/>
          <p:cNvSpPr>
            <a:spLocks noGrp="1"/>
          </p:cNvSpPr>
          <p:nvPr>
            <p:ph sz="quarter" idx="13"/>
          </p:nvPr>
        </p:nvSpPr>
        <p:spPr/>
        <p:txBody>
          <a:bodyPr/>
          <a:lstStyle/>
          <a:p>
            <a:pPr marL="432054" lvl="0" indent="-432054">
              <a:spcAft>
                <a:spcPct val="0"/>
              </a:spcAft>
              <a:buSzPts val="2400"/>
              <a:buFont typeface="+mj-lt"/>
              <a:buAutoNum type="arabicPeriod" startAt="5"/>
              <a:tabLst/>
            </a:pPr>
            <a:r>
              <a:rPr lang="en-US" kern="1200" noProof="0" dirty="0">
                <a:solidFill>
                  <a:srgbClr val="000000"/>
                </a:solidFill>
                <a:latin typeface="Arial" panose="020B0604020202020204" pitchFamily="34" charset="0"/>
              </a:rPr>
              <a:t>Interactivity</a:t>
            </a:r>
          </a:p>
          <a:p>
            <a:pPr marL="432054" lvl="0" indent="-432054">
              <a:spcAft>
                <a:spcPct val="0"/>
              </a:spcAft>
              <a:buSzPts val="2400"/>
              <a:buFont typeface="+mj-lt"/>
              <a:buAutoNum type="arabicPeriod" startAt="5"/>
              <a:tabLst/>
            </a:pPr>
            <a:r>
              <a:rPr lang="en-US" kern="1200" noProof="0" dirty="0">
                <a:solidFill>
                  <a:srgbClr val="000000"/>
                </a:solidFill>
                <a:latin typeface="Arial" panose="020B0604020202020204" pitchFamily="34" charset="0"/>
              </a:rPr>
              <a:t>Information density</a:t>
            </a:r>
          </a:p>
          <a:p>
            <a:pPr marL="432054" lvl="0" indent="-432054">
              <a:spcAft>
                <a:spcPct val="0"/>
              </a:spcAft>
              <a:buSzPts val="2400"/>
              <a:buFont typeface="+mj-lt"/>
              <a:buAutoNum type="arabicPeriod" startAt="5"/>
              <a:tabLst/>
            </a:pPr>
            <a:r>
              <a:rPr lang="en-US" kern="1200" noProof="0" dirty="0">
                <a:solidFill>
                  <a:srgbClr val="000000"/>
                </a:solidFill>
                <a:latin typeface="Arial" panose="020B0604020202020204" pitchFamily="34" charset="0"/>
              </a:rPr>
              <a:t>Personalization/customization</a:t>
            </a:r>
          </a:p>
          <a:p>
            <a:pPr marL="432054" lvl="0" indent="-432054">
              <a:spcAft>
                <a:spcPct val="0"/>
              </a:spcAft>
              <a:buSzPts val="2400"/>
              <a:buFont typeface="+mj-lt"/>
              <a:buAutoNum type="arabicPeriod" startAt="5"/>
              <a:tabLst/>
            </a:pPr>
            <a:r>
              <a:rPr lang="en-US" kern="1200" noProof="0" dirty="0">
                <a:solidFill>
                  <a:srgbClr val="000000"/>
                </a:solidFill>
                <a:latin typeface="Arial" panose="020B0604020202020204" pitchFamily="34" charset="0"/>
              </a:rPr>
              <a:t>Social technology</a:t>
            </a:r>
          </a:p>
        </p:txBody>
      </p:sp>
    </p:spTree>
    <p:extLst>
      <p:ext uri="{BB962C8B-B14F-4D97-AF65-F5344CB8AC3E}">
        <p14:creationId xmlns:p14="http://schemas.microsoft.com/office/powerpoint/2010/main" val="41972550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noProof="0" dirty="0">
                <a:cs typeface="Times New Roman" panose="02020603050405020304" pitchFamily="18" charset="0"/>
              </a:rPr>
              <a:t>Figure 1.4 Eight Unique Features of </a:t>
            </a:r>
            <a:br>
              <a:rPr lang="en-US" sz="3200" kern="1200" noProof="0" dirty="0">
                <a:cs typeface="Times New Roman" panose="02020603050405020304" pitchFamily="18" charset="0"/>
              </a:rPr>
            </a:br>
            <a:r>
              <a:rPr lang="en-US" sz="3200" kern="1200" noProof="0" dirty="0">
                <a:cs typeface="Times New Roman" panose="02020603050405020304" pitchFamily="18" charset="0"/>
              </a:rPr>
              <a:t>E-commerce Technology</a:t>
            </a:r>
            <a:endParaRPr lang="en-US" sz="3200" noProof="0" dirty="0"/>
          </a:p>
        </p:txBody>
      </p:sp>
      <p:pic>
        <p:nvPicPr>
          <p:cNvPr id="5" name="Picture 4" descr="An illustration depicts the eight unique features of e-commerce technology. For a full description, see Notes. Press F6.&#10;">
            <a:extLst>
              <a:ext uri="{FF2B5EF4-FFF2-40B4-BE49-F238E27FC236}">
                <a16:creationId xmlns:a16="http://schemas.microsoft.com/office/drawing/2014/main" id="{ABBA5537-56D5-F803-3D96-1C5C217EBF10}"/>
              </a:ext>
            </a:extLst>
          </p:cNvPr>
          <p:cNvPicPr>
            <a:picLocks noChangeAspect="1"/>
          </p:cNvPicPr>
          <p:nvPr/>
        </p:nvPicPr>
        <p:blipFill>
          <a:blip r:embed="rId3"/>
          <a:stretch>
            <a:fillRect/>
          </a:stretch>
        </p:blipFill>
        <p:spPr>
          <a:xfrm>
            <a:off x="2013903" y="1414511"/>
            <a:ext cx="5116194" cy="4728324"/>
          </a:xfrm>
          <a:prstGeom prst="rect">
            <a:avLst/>
          </a:prstGeom>
        </p:spPr>
      </p:pic>
    </p:spTree>
    <p:extLst>
      <p:ext uri="{BB962C8B-B14F-4D97-AF65-F5344CB8AC3E}">
        <p14:creationId xmlns:p14="http://schemas.microsoft.com/office/powerpoint/2010/main" val="37972015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noProof="0" dirty="0">
                <a:cs typeface="Times New Roman" panose="02020603050405020304" pitchFamily="18" charset="0"/>
              </a:rPr>
              <a:t>Types of E-commerce</a:t>
            </a:r>
            <a:endParaRPr lang="en-US" noProof="0" dirty="0"/>
          </a:p>
        </p:txBody>
      </p:sp>
      <p:sp>
        <p:nvSpPr>
          <p:cNvPr id="3" name="Content Placeholder 2"/>
          <p:cNvSpPr>
            <a:spLocks noGrp="1"/>
          </p:cNvSpPr>
          <p:nvPr>
            <p:ph sz="quarter" idx="13"/>
          </p:nvPr>
        </p:nvSpPr>
        <p:spPr/>
        <p:txBody>
          <a:bodyPr/>
          <a:lstStyle/>
          <a:p>
            <a:pPr marL="255651" lvl="0" indent="-255651">
              <a:spcAft>
                <a:spcPct val="0"/>
              </a:spcAft>
              <a:buSzPts val="2400"/>
              <a:tabLst/>
              <a:defRPr/>
            </a:pPr>
            <a:r>
              <a:rPr lang="en-US" kern="1200" noProof="0" dirty="0">
                <a:solidFill>
                  <a:srgbClr val="000000"/>
                </a:solidFill>
                <a:latin typeface="Arial" panose="020B0604020202020204" pitchFamily="34" charset="0"/>
              </a:rPr>
              <a:t>Business-to-consumer (B2C)</a:t>
            </a:r>
          </a:p>
          <a:p>
            <a:pPr marL="255651" lvl="0" indent="-255651">
              <a:spcAft>
                <a:spcPct val="0"/>
              </a:spcAft>
              <a:buSzPts val="2400"/>
              <a:tabLst/>
              <a:defRPr/>
            </a:pPr>
            <a:r>
              <a:rPr lang="en-US" kern="1200" noProof="0" dirty="0">
                <a:solidFill>
                  <a:srgbClr val="000000"/>
                </a:solidFill>
                <a:latin typeface="Arial" panose="020B0604020202020204" pitchFamily="34" charset="0"/>
              </a:rPr>
              <a:t>Business-to-business (B2B)</a:t>
            </a:r>
          </a:p>
          <a:p>
            <a:pPr marL="255651" lvl="0" indent="-255651">
              <a:spcAft>
                <a:spcPct val="0"/>
              </a:spcAft>
              <a:buSzPts val="2400"/>
              <a:tabLst/>
              <a:defRPr/>
            </a:pPr>
            <a:r>
              <a:rPr lang="en-US" kern="1200" noProof="0" dirty="0">
                <a:solidFill>
                  <a:srgbClr val="000000"/>
                </a:solidFill>
                <a:latin typeface="Arial" panose="020B0604020202020204" pitchFamily="34" charset="0"/>
              </a:rPr>
              <a:t>Consumer-to-consumer (C2C)</a:t>
            </a:r>
          </a:p>
          <a:p>
            <a:pPr marL="255651" lvl="0" indent="-255651">
              <a:spcAft>
                <a:spcPct val="0"/>
              </a:spcAft>
              <a:buSzPts val="2400"/>
              <a:tabLst/>
              <a:defRPr/>
            </a:pPr>
            <a:r>
              <a:rPr lang="en-US" kern="1200" noProof="0" dirty="0">
                <a:solidFill>
                  <a:srgbClr val="000000"/>
                </a:solidFill>
                <a:latin typeface="Arial" panose="020B0604020202020204" pitchFamily="34" charset="0"/>
              </a:rPr>
              <a:t>Mobile e-commerce (M-commerce)</a:t>
            </a:r>
          </a:p>
          <a:p>
            <a:pPr marL="255651" lvl="0" indent="-255651">
              <a:spcAft>
                <a:spcPct val="0"/>
              </a:spcAft>
              <a:buSzPts val="2400"/>
              <a:tabLst/>
              <a:defRPr/>
            </a:pPr>
            <a:r>
              <a:rPr lang="en-US" kern="1200" noProof="0" dirty="0">
                <a:solidFill>
                  <a:srgbClr val="000000"/>
                </a:solidFill>
                <a:latin typeface="Arial" panose="020B0604020202020204" pitchFamily="34" charset="0"/>
              </a:rPr>
              <a:t>Social e-commerce</a:t>
            </a:r>
          </a:p>
          <a:p>
            <a:pPr marL="255651" lvl="0" indent="-255651">
              <a:spcAft>
                <a:spcPct val="0"/>
              </a:spcAft>
              <a:buSzPts val="2400"/>
              <a:tabLst/>
              <a:defRPr/>
            </a:pPr>
            <a:r>
              <a:rPr lang="en-US" kern="1200" noProof="0" dirty="0">
                <a:solidFill>
                  <a:srgbClr val="000000"/>
                </a:solidFill>
                <a:latin typeface="Arial" panose="020B0604020202020204" pitchFamily="34" charset="0"/>
              </a:rPr>
              <a:t>Local e-commerce</a:t>
            </a:r>
          </a:p>
        </p:txBody>
      </p:sp>
      <p:sp>
        <p:nvSpPr>
          <p:cNvPr id="5" name="TextBox 4">
            <a:extLst>
              <a:ext uri="{FF2B5EF4-FFF2-40B4-BE49-F238E27FC236}">
                <a16:creationId xmlns:a16="http://schemas.microsoft.com/office/drawing/2014/main" id="{7270702C-B1AC-B5A4-250A-EC9C9A772C9E}"/>
              </a:ext>
            </a:extLst>
          </p:cNvPr>
          <p:cNvSpPr txBox="1"/>
          <p:nvPr/>
        </p:nvSpPr>
        <p:spPr>
          <a:xfrm rot="18279547">
            <a:off x="4359350" y="2942088"/>
            <a:ext cx="4572000" cy="646331"/>
          </a:xfrm>
          <a:prstGeom prst="rect">
            <a:avLst/>
          </a:prstGeom>
          <a:noFill/>
        </p:spPr>
        <p:txBody>
          <a:bodyPr wrap="square">
            <a:spAutoFit/>
          </a:bodyPr>
          <a:lstStyle/>
          <a:p>
            <a:r>
              <a:rPr lang="en-US" sz="1800" b="1" kern="1200" noProof="0" dirty="0">
                <a:solidFill>
                  <a:srgbClr val="FF0000"/>
                </a:solidFill>
                <a:cs typeface="Times New Roman" panose="02020603050405020304" pitchFamily="18" charset="0"/>
              </a:rPr>
              <a:t>What is The Relative Size of Different Types of E-commerce ?</a:t>
            </a:r>
            <a:endParaRPr lang="en-PK" sz="1800" b="1" dirty="0">
              <a:solidFill>
                <a:srgbClr val="FF0000"/>
              </a:solidFill>
            </a:endParaRPr>
          </a:p>
        </p:txBody>
      </p:sp>
    </p:spTree>
    <p:extLst>
      <p:ext uri="{BB962C8B-B14F-4D97-AF65-F5344CB8AC3E}">
        <p14:creationId xmlns:p14="http://schemas.microsoft.com/office/powerpoint/2010/main" val="3494980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4714" y="113919"/>
            <a:ext cx="8894571" cy="505267"/>
          </a:xfrm>
          <a:prstGeom prst="rect">
            <a:avLst/>
          </a:prstGeom>
        </p:spPr>
        <p:txBody>
          <a:bodyPr vert="horz" wrap="square" lIns="0" tIns="12700" rIns="0" bIns="0" rtlCol="0">
            <a:spAutoFit/>
          </a:bodyPr>
          <a:lstStyle/>
          <a:p>
            <a:pPr marL="157480" marR="5080" algn="ctr">
              <a:lnSpc>
                <a:spcPct val="100000"/>
              </a:lnSpc>
              <a:spcBef>
                <a:spcPts val="100"/>
              </a:spcBef>
            </a:pPr>
            <a:r>
              <a:rPr lang="en-US" sz="3200" spc="-5"/>
              <a:t>Types of E-Commerce</a:t>
            </a:r>
            <a:endParaRPr sz="3200"/>
          </a:p>
        </p:txBody>
      </p:sp>
      <p:grpSp>
        <p:nvGrpSpPr>
          <p:cNvPr id="3" name="object 3"/>
          <p:cNvGrpSpPr/>
          <p:nvPr/>
        </p:nvGrpSpPr>
        <p:grpSpPr>
          <a:xfrm>
            <a:off x="533400" y="619186"/>
            <a:ext cx="8077199" cy="6124895"/>
            <a:chOff x="912875" y="1588033"/>
            <a:chExt cx="6984365" cy="5010785"/>
          </a:xfrm>
        </p:grpSpPr>
        <p:pic>
          <p:nvPicPr>
            <p:cNvPr id="4" name="object 4"/>
            <p:cNvPicPr/>
            <p:nvPr/>
          </p:nvPicPr>
          <p:blipFill>
            <a:blip r:embed="rId2" cstate="print"/>
            <a:stretch>
              <a:fillRect/>
            </a:stretch>
          </p:blipFill>
          <p:spPr>
            <a:xfrm>
              <a:off x="912875" y="1588033"/>
              <a:ext cx="6984110" cy="5010658"/>
            </a:xfrm>
            <a:prstGeom prst="rect">
              <a:avLst/>
            </a:prstGeom>
          </p:spPr>
        </p:pic>
        <p:pic>
          <p:nvPicPr>
            <p:cNvPr id="5" name="object 5"/>
            <p:cNvPicPr/>
            <p:nvPr/>
          </p:nvPicPr>
          <p:blipFill>
            <a:blip r:embed="rId3" cstate="print"/>
            <a:stretch>
              <a:fillRect/>
            </a:stretch>
          </p:blipFill>
          <p:spPr>
            <a:xfrm>
              <a:off x="1106804" y="1781937"/>
              <a:ext cx="6472428" cy="4498085"/>
            </a:xfrm>
            <a:prstGeom prst="rect">
              <a:avLst/>
            </a:prstGeom>
          </p:spPr>
        </p:pic>
      </p:grpSp>
    </p:spTree>
    <p:extLst>
      <p:ext uri="{BB962C8B-B14F-4D97-AF65-F5344CB8AC3E}">
        <p14:creationId xmlns:p14="http://schemas.microsoft.com/office/powerpoint/2010/main" val="40520430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423"/>
            <a:ext cx="8229600" cy="1097279"/>
          </a:xfrm>
        </p:spPr>
        <p:txBody>
          <a:bodyPr/>
          <a:lstStyle/>
          <a:p>
            <a:r>
              <a:rPr lang="en-US" sz="3200" kern="1200" noProof="0" dirty="0">
                <a:cs typeface="Times New Roman" panose="02020603050405020304" pitchFamily="18" charset="0"/>
              </a:rPr>
              <a:t>Figure 1.9 The Relative Size of Different Types of E-commerce</a:t>
            </a:r>
            <a:endParaRPr lang="en-US" sz="3200" noProof="0" dirty="0"/>
          </a:p>
        </p:txBody>
      </p:sp>
      <p:pic>
        <p:nvPicPr>
          <p:cNvPr id="9" name="Picture 8" descr="An illustration depicts the relative size of different types of e-commerce in 20 22.">
            <a:extLst>
              <a:ext uri="{FF2B5EF4-FFF2-40B4-BE49-F238E27FC236}">
                <a16:creationId xmlns:a16="http://schemas.microsoft.com/office/drawing/2014/main" id="{25A9EE40-9543-FF05-E610-0693A70EB42A}"/>
              </a:ext>
            </a:extLst>
          </p:cNvPr>
          <p:cNvPicPr>
            <a:picLocks noChangeAspect="1"/>
          </p:cNvPicPr>
          <p:nvPr/>
        </p:nvPicPr>
        <p:blipFill>
          <a:blip r:embed="rId3"/>
          <a:stretch>
            <a:fillRect/>
          </a:stretch>
        </p:blipFill>
        <p:spPr>
          <a:xfrm>
            <a:off x="2170697" y="1241638"/>
            <a:ext cx="4802605" cy="4859552"/>
          </a:xfrm>
          <a:prstGeom prst="rect">
            <a:avLst/>
          </a:prstGeom>
        </p:spPr>
      </p:pic>
    </p:spTree>
    <p:extLst>
      <p:ext uri="{BB962C8B-B14F-4D97-AF65-F5344CB8AC3E}">
        <p14:creationId xmlns:p14="http://schemas.microsoft.com/office/powerpoint/2010/main" val="12073440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kern="1200" noProof="0" dirty="0">
                <a:cs typeface="Times New Roman" panose="02020603050405020304" pitchFamily="18" charset="0"/>
              </a:rPr>
              <a:t>E-commerce: A Brief History </a:t>
            </a:r>
            <a:r>
              <a:rPr lang="en-US" sz="2000" b="0" kern="1200" noProof="0" dirty="0">
                <a:cs typeface="Times New Roman" panose="02020603050405020304" pitchFamily="18" charset="0"/>
              </a:rPr>
              <a:t>(1 of 4)</a:t>
            </a:r>
            <a:endParaRPr lang="en-US" noProof="0" dirty="0"/>
          </a:p>
        </p:txBody>
      </p:sp>
      <p:sp>
        <p:nvSpPr>
          <p:cNvPr id="7" name="Content Placeholder 6"/>
          <p:cNvSpPr>
            <a:spLocks noGrp="1"/>
          </p:cNvSpPr>
          <p:nvPr>
            <p:ph sz="quarter" idx="13"/>
          </p:nvPr>
        </p:nvSpPr>
        <p:spPr/>
        <p:txBody>
          <a:bodyPr/>
          <a:lstStyle/>
          <a:p>
            <a:pPr marL="255651" lvl="0" indent="-255651">
              <a:spcAft>
                <a:spcPct val="0"/>
              </a:spcAft>
              <a:buSzPts val="2400"/>
              <a:tabLst/>
            </a:pPr>
            <a:r>
              <a:rPr lang="en-US" kern="1200" noProof="0" dirty="0">
                <a:solidFill>
                  <a:srgbClr val="000000"/>
                </a:solidFill>
                <a:latin typeface="Arial" panose="020B0604020202020204" pitchFamily="34" charset="0"/>
              </a:rPr>
              <a:t>Precursors</a:t>
            </a:r>
          </a:p>
          <a:p>
            <a:pPr marL="741553" lvl="1" indent="-284353">
              <a:spcAft>
                <a:spcPct val="0"/>
              </a:spcAft>
              <a:buSzPts val="2400"/>
            </a:pPr>
            <a:r>
              <a:rPr lang="en-US" kern="1200" noProof="0" dirty="0">
                <a:solidFill>
                  <a:srgbClr val="000000"/>
                </a:solidFill>
                <a:latin typeface="Arial" panose="020B0604020202020204" pitchFamily="34" charset="0"/>
              </a:rPr>
              <a:t>Baxter Healthcare modem-based system (1970s)</a:t>
            </a:r>
          </a:p>
          <a:p>
            <a:pPr marL="741553" lvl="1" indent="-284353">
              <a:spcAft>
                <a:spcPct val="0"/>
              </a:spcAft>
              <a:buSzPts val="2400"/>
            </a:pPr>
            <a:r>
              <a:rPr lang="en-US" kern="1200" noProof="0" dirty="0">
                <a:solidFill>
                  <a:srgbClr val="000000"/>
                </a:solidFill>
                <a:latin typeface="Arial" panose="020B0604020202020204" pitchFamily="34" charset="0"/>
              </a:rPr>
              <a:t>Order entry systems (1980s)</a:t>
            </a:r>
          </a:p>
          <a:p>
            <a:pPr marL="741553" lvl="1" indent="-284353">
              <a:spcAft>
                <a:spcPct val="0"/>
              </a:spcAft>
              <a:buSzPts val="2400"/>
            </a:pPr>
            <a:r>
              <a:rPr lang="en-US" kern="1200" noProof="0" dirty="0">
                <a:solidFill>
                  <a:srgbClr val="000000"/>
                </a:solidFill>
                <a:latin typeface="Arial" panose="020B0604020202020204" pitchFamily="34" charset="0"/>
              </a:rPr>
              <a:t>Electronic Data Interchange (E</a:t>
            </a:r>
            <a:r>
              <a:rPr lang="en-US" sz="100" kern="1200" noProof="0" dirty="0">
                <a:solidFill>
                  <a:srgbClr val="000000"/>
                </a:solidFill>
                <a:latin typeface="Arial" panose="020B0604020202020204" pitchFamily="34" charset="0"/>
              </a:rPr>
              <a:t> </a:t>
            </a:r>
            <a:r>
              <a:rPr lang="en-US" kern="1200" noProof="0" dirty="0">
                <a:solidFill>
                  <a:srgbClr val="000000"/>
                </a:solidFill>
                <a:latin typeface="Arial" panose="020B0604020202020204" pitchFamily="34" charset="0"/>
              </a:rPr>
              <a:t>D</a:t>
            </a:r>
            <a:r>
              <a:rPr lang="en-US" sz="100" kern="1200" noProof="0" dirty="0">
                <a:solidFill>
                  <a:srgbClr val="000000"/>
                </a:solidFill>
                <a:latin typeface="Arial" panose="020B0604020202020204" pitchFamily="34" charset="0"/>
              </a:rPr>
              <a:t> </a:t>
            </a:r>
            <a:r>
              <a:rPr lang="en-US" kern="1200" noProof="0" dirty="0">
                <a:solidFill>
                  <a:srgbClr val="000000"/>
                </a:solidFill>
                <a:latin typeface="Arial" panose="020B0604020202020204" pitchFamily="34" charset="0"/>
              </a:rPr>
              <a:t>I) standards (1980s)</a:t>
            </a:r>
          </a:p>
          <a:p>
            <a:pPr marL="741553" lvl="1" indent="-284353">
              <a:spcAft>
                <a:spcPct val="0"/>
              </a:spcAft>
              <a:buSzPts val="2400"/>
            </a:pPr>
            <a:r>
              <a:rPr lang="en-US" kern="1200" noProof="0" dirty="0">
                <a:solidFill>
                  <a:srgbClr val="000000"/>
                </a:solidFill>
                <a:latin typeface="Arial" panose="020B0604020202020204" pitchFamily="34" charset="0"/>
              </a:rPr>
              <a:t>French Minitel (1981)</a:t>
            </a:r>
          </a:p>
        </p:txBody>
      </p:sp>
    </p:spTree>
    <p:extLst>
      <p:ext uri="{BB962C8B-B14F-4D97-AF65-F5344CB8AC3E}">
        <p14:creationId xmlns:p14="http://schemas.microsoft.com/office/powerpoint/2010/main" val="2301512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kern="1200" noProof="0" dirty="0">
                <a:cs typeface="Times New Roman" panose="02020603050405020304" pitchFamily="18" charset="0"/>
              </a:rPr>
              <a:t>E-commerce: A Brief History </a:t>
            </a:r>
            <a:r>
              <a:rPr lang="en-US" sz="2000" b="0" kern="1200" noProof="0" dirty="0">
                <a:cs typeface="Times New Roman" panose="02020603050405020304" pitchFamily="18" charset="0"/>
              </a:rPr>
              <a:t>(2 of 4)</a:t>
            </a:r>
            <a:endParaRPr lang="en-US" noProof="0" dirty="0"/>
          </a:p>
        </p:txBody>
      </p:sp>
      <p:sp>
        <p:nvSpPr>
          <p:cNvPr id="2" name="Content Placeholder 1">
            <a:extLst>
              <a:ext uri="{FF2B5EF4-FFF2-40B4-BE49-F238E27FC236}">
                <a16:creationId xmlns:a16="http://schemas.microsoft.com/office/drawing/2014/main" id="{2805346A-BA82-46E9-8496-B1CCDBB82F43}"/>
              </a:ext>
            </a:extLst>
          </p:cNvPr>
          <p:cNvSpPr>
            <a:spLocks noGrp="1"/>
          </p:cNvSpPr>
          <p:nvPr>
            <p:ph sz="quarter" idx="13"/>
          </p:nvPr>
        </p:nvSpPr>
        <p:spPr/>
        <p:txBody>
          <a:bodyPr/>
          <a:lstStyle/>
          <a:p>
            <a:pPr marL="255651" lvl="0" indent="-255651">
              <a:spcAft>
                <a:spcPct val="0"/>
              </a:spcAft>
              <a:buSzPts val="2400"/>
              <a:tabLst/>
            </a:pPr>
            <a:r>
              <a:rPr lang="en-US" kern="1200" noProof="0" dirty="0">
                <a:solidFill>
                  <a:srgbClr val="000000"/>
                </a:solidFill>
                <a:latin typeface="Arial" panose="020B0604020202020204" pitchFamily="34" charset="0"/>
              </a:rPr>
              <a:t>1995–2000: Invention</a:t>
            </a:r>
          </a:p>
          <a:p>
            <a:pPr marL="741553" lvl="1" indent="-284353">
              <a:spcAft>
                <a:spcPct val="0"/>
              </a:spcAft>
              <a:buSzPts val="2400"/>
            </a:pPr>
            <a:r>
              <a:rPr lang="en-US" altLang="en-US" kern="1200" noProof="0" dirty="0">
                <a:solidFill>
                  <a:srgbClr val="000000"/>
                </a:solidFill>
                <a:latin typeface="Arial" panose="020B0604020202020204" pitchFamily="34" charset="0"/>
              </a:rPr>
              <a:t>Sale of simple retail goods</a:t>
            </a:r>
          </a:p>
          <a:p>
            <a:pPr marL="741553" lvl="1" indent="-284353">
              <a:spcAft>
                <a:spcPct val="0"/>
              </a:spcAft>
              <a:buSzPts val="2400"/>
            </a:pPr>
            <a:r>
              <a:rPr lang="en-US" altLang="en-US" kern="1200" noProof="0" dirty="0">
                <a:solidFill>
                  <a:srgbClr val="000000"/>
                </a:solidFill>
                <a:latin typeface="Arial" panose="020B0604020202020204" pitchFamily="34" charset="0"/>
              </a:rPr>
              <a:t>Limited bandwidth and media</a:t>
            </a:r>
          </a:p>
          <a:p>
            <a:pPr marL="741553" lvl="1" indent="-284353">
              <a:spcAft>
                <a:spcPct val="0"/>
              </a:spcAft>
              <a:buSzPts val="2400"/>
            </a:pPr>
            <a:r>
              <a:rPr lang="en-US" altLang="en-US" kern="1200" noProof="0" dirty="0">
                <a:solidFill>
                  <a:srgbClr val="000000"/>
                </a:solidFill>
                <a:latin typeface="Arial" panose="020B0604020202020204" pitchFamily="34" charset="0"/>
              </a:rPr>
              <a:t>Euphoric visions of:</a:t>
            </a:r>
          </a:p>
          <a:p>
            <a:pPr marL="1144778" lvl="2" indent="-230378">
              <a:spcAft>
                <a:spcPct val="0"/>
              </a:spcAft>
              <a:buSzPts val="2400"/>
            </a:pPr>
            <a:r>
              <a:rPr lang="en-US" altLang="en-US" kern="1200" noProof="0" dirty="0">
                <a:solidFill>
                  <a:srgbClr val="000000"/>
                </a:solidFill>
                <a:latin typeface="Arial" panose="020B0604020202020204" pitchFamily="34" charset="0"/>
              </a:rPr>
              <a:t>Friction-free commerce</a:t>
            </a:r>
          </a:p>
          <a:p>
            <a:pPr marL="1144778" lvl="2" indent="-230378">
              <a:spcAft>
                <a:spcPct val="0"/>
              </a:spcAft>
              <a:buSzPts val="2400"/>
            </a:pPr>
            <a:r>
              <a:rPr lang="en-US" altLang="en-US" kern="1200" noProof="0" dirty="0">
                <a:solidFill>
                  <a:srgbClr val="000000"/>
                </a:solidFill>
                <a:latin typeface="Arial" panose="020B0604020202020204" pitchFamily="34" charset="0"/>
              </a:rPr>
              <a:t>First-mover advantages</a:t>
            </a:r>
          </a:p>
          <a:p>
            <a:pPr marL="741553" lvl="1" indent="-284353">
              <a:spcAft>
                <a:spcPct val="0"/>
              </a:spcAft>
              <a:buSzPts val="2400"/>
            </a:pPr>
            <a:r>
              <a:rPr lang="en-US" altLang="en-US" kern="1200" noProof="0" dirty="0">
                <a:solidFill>
                  <a:srgbClr val="000000"/>
                </a:solidFill>
                <a:latin typeface="Arial" panose="020B0604020202020204" pitchFamily="34" charset="0"/>
              </a:rPr>
              <a:t>Dot-com crash of 2000</a:t>
            </a:r>
          </a:p>
        </p:txBody>
      </p:sp>
    </p:spTree>
    <p:extLst>
      <p:ext uri="{BB962C8B-B14F-4D97-AF65-F5344CB8AC3E}">
        <p14:creationId xmlns:p14="http://schemas.microsoft.com/office/powerpoint/2010/main" val="31073540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kern="1200" noProof="0" dirty="0">
                <a:cs typeface="Times New Roman" panose="02020603050405020304" pitchFamily="18" charset="0"/>
              </a:rPr>
              <a:t>E-commerce: A Brief History </a:t>
            </a:r>
            <a:r>
              <a:rPr lang="en-US" sz="2000" b="0" kern="1200" noProof="0" dirty="0">
                <a:cs typeface="Times New Roman" panose="02020603050405020304" pitchFamily="18" charset="0"/>
              </a:rPr>
              <a:t>(3 of 4)</a:t>
            </a:r>
            <a:endParaRPr lang="en-US" noProof="0" dirty="0"/>
          </a:p>
        </p:txBody>
      </p:sp>
      <p:sp>
        <p:nvSpPr>
          <p:cNvPr id="7" name="Content Placeholder 6"/>
          <p:cNvSpPr>
            <a:spLocks noGrp="1"/>
          </p:cNvSpPr>
          <p:nvPr>
            <p:ph sz="quarter" idx="13"/>
          </p:nvPr>
        </p:nvSpPr>
        <p:spPr/>
        <p:txBody>
          <a:bodyPr/>
          <a:lstStyle/>
          <a:p>
            <a:pPr marL="255651" lvl="0" indent="-255651">
              <a:spcAft>
                <a:spcPct val="0"/>
              </a:spcAft>
              <a:buSzPts val="2400"/>
              <a:tabLst/>
              <a:defRPr/>
            </a:pPr>
            <a:r>
              <a:rPr lang="en-US" altLang="en-US" kern="1200" noProof="0" dirty="0">
                <a:solidFill>
                  <a:srgbClr val="000000"/>
                </a:solidFill>
                <a:latin typeface="Arial" panose="020B0604020202020204" pitchFamily="34" charset="0"/>
              </a:rPr>
              <a:t>2001–2006: Consolidation</a:t>
            </a:r>
          </a:p>
          <a:p>
            <a:pPr marL="741553" lvl="1" indent="-284353">
              <a:spcAft>
                <a:spcPct val="0"/>
              </a:spcAft>
              <a:buSzPts val="2400"/>
              <a:defRPr/>
            </a:pPr>
            <a:r>
              <a:rPr lang="en-US" altLang="en-US" kern="1200" noProof="0" dirty="0">
                <a:solidFill>
                  <a:srgbClr val="000000"/>
                </a:solidFill>
                <a:latin typeface="Arial" panose="020B0604020202020204" pitchFamily="34" charset="0"/>
              </a:rPr>
              <a:t>Emphasis on business-driven approach</a:t>
            </a:r>
          </a:p>
          <a:p>
            <a:pPr marL="741553" lvl="1" indent="-284353">
              <a:spcAft>
                <a:spcPct val="0"/>
              </a:spcAft>
              <a:buSzPts val="2400"/>
              <a:defRPr/>
            </a:pPr>
            <a:r>
              <a:rPr lang="en-US" altLang="en-US" kern="1200" noProof="0" dirty="0">
                <a:solidFill>
                  <a:srgbClr val="000000"/>
                </a:solidFill>
                <a:latin typeface="Arial" panose="020B0604020202020204" pitchFamily="34" charset="0"/>
              </a:rPr>
              <a:t>Traditional large firms expand presence</a:t>
            </a:r>
          </a:p>
          <a:p>
            <a:pPr marL="741553" lvl="1" indent="-284353">
              <a:spcAft>
                <a:spcPct val="0"/>
              </a:spcAft>
              <a:buSzPts val="2400"/>
              <a:defRPr/>
            </a:pPr>
            <a:r>
              <a:rPr lang="en-US" altLang="en-US" kern="1200" noProof="0" dirty="0">
                <a:solidFill>
                  <a:srgbClr val="000000"/>
                </a:solidFill>
                <a:latin typeface="Arial" panose="020B0604020202020204" pitchFamily="34" charset="0"/>
              </a:rPr>
              <a:t>Start-up financing shrinks</a:t>
            </a:r>
          </a:p>
          <a:p>
            <a:pPr marL="741553" lvl="1" indent="-284353">
              <a:spcAft>
                <a:spcPct val="0"/>
              </a:spcAft>
              <a:buSzPts val="2400"/>
              <a:defRPr/>
            </a:pPr>
            <a:r>
              <a:rPr lang="en-US" altLang="en-US" kern="1200" noProof="0" dirty="0">
                <a:solidFill>
                  <a:srgbClr val="000000"/>
                </a:solidFill>
                <a:latin typeface="Arial" panose="020B0604020202020204" pitchFamily="34" charset="0"/>
              </a:rPr>
              <a:t>More complex products and services sold</a:t>
            </a:r>
          </a:p>
          <a:p>
            <a:pPr marL="741553" lvl="1" indent="-284353">
              <a:spcAft>
                <a:spcPct val="0"/>
              </a:spcAft>
              <a:buSzPts val="2400"/>
              <a:defRPr/>
            </a:pPr>
            <a:r>
              <a:rPr lang="en-US" altLang="en-US" kern="1200" noProof="0" dirty="0">
                <a:solidFill>
                  <a:srgbClr val="000000"/>
                </a:solidFill>
                <a:latin typeface="Arial" panose="020B0604020202020204" pitchFamily="34" charset="0"/>
              </a:rPr>
              <a:t>Growth of search engine advertising</a:t>
            </a:r>
          </a:p>
          <a:p>
            <a:pPr marL="741553" lvl="1" indent="-284353">
              <a:spcAft>
                <a:spcPct val="0"/>
              </a:spcAft>
              <a:buSzPts val="2400"/>
              <a:defRPr/>
            </a:pPr>
            <a:r>
              <a:rPr lang="en-US" altLang="en-US" kern="1200" noProof="0" dirty="0">
                <a:solidFill>
                  <a:srgbClr val="000000"/>
                </a:solidFill>
                <a:latin typeface="Arial" panose="020B0604020202020204" pitchFamily="34" charset="0"/>
              </a:rPr>
              <a:t>Business web presences expand</a:t>
            </a:r>
            <a:endParaRPr lang="en-US" kern="1200" noProof="0" dirty="0">
              <a:solidFill>
                <a:srgbClr val="000000"/>
              </a:solidFill>
              <a:latin typeface="Arial" panose="020B0604020202020204" pitchFamily="34" charset="0"/>
            </a:endParaRPr>
          </a:p>
        </p:txBody>
      </p:sp>
    </p:spTree>
    <p:extLst>
      <p:ext uri="{BB962C8B-B14F-4D97-AF65-F5344CB8AC3E}">
        <p14:creationId xmlns:p14="http://schemas.microsoft.com/office/powerpoint/2010/main" val="27058768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kern="1200" noProof="0" dirty="0">
                <a:cs typeface="Times New Roman" panose="02020603050405020304" pitchFamily="18" charset="0"/>
              </a:rPr>
              <a:t>E-commerce: A Brief History </a:t>
            </a:r>
            <a:r>
              <a:rPr lang="en-US" sz="2000" b="0" kern="1200" noProof="0" dirty="0">
                <a:cs typeface="Times New Roman" panose="02020603050405020304" pitchFamily="18" charset="0"/>
              </a:rPr>
              <a:t>(4 of 4)</a:t>
            </a:r>
            <a:endParaRPr lang="en-US" noProof="0" dirty="0"/>
          </a:p>
        </p:txBody>
      </p:sp>
      <p:sp>
        <p:nvSpPr>
          <p:cNvPr id="7" name="Content Placeholder 6"/>
          <p:cNvSpPr>
            <a:spLocks noGrp="1"/>
          </p:cNvSpPr>
          <p:nvPr>
            <p:ph sz="quarter" idx="13"/>
          </p:nvPr>
        </p:nvSpPr>
        <p:spPr/>
        <p:txBody>
          <a:bodyPr/>
          <a:lstStyle/>
          <a:p>
            <a:pPr marL="255600">
              <a:spcAft>
                <a:spcPct val="0"/>
              </a:spcAft>
              <a:buSzPts val="2400"/>
            </a:pPr>
            <a:r>
              <a:rPr lang="en-US" altLang="en-US" kern="1200" noProof="0" dirty="0">
                <a:solidFill>
                  <a:srgbClr val="000000"/>
                </a:solidFill>
                <a:latin typeface="Arial" panose="020B0604020202020204" pitchFamily="34" charset="0"/>
              </a:rPr>
              <a:t>2007–Present: Reinvention</a:t>
            </a:r>
          </a:p>
          <a:p>
            <a:pPr marL="741600" lvl="1">
              <a:spcAft>
                <a:spcPct val="0"/>
              </a:spcAft>
              <a:buSzPts val="2400"/>
            </a:pPr>
            <a:r>
              <a:rPr lang="en-US" altLang="en-US" kern="1200" noProof="0" dirty="0">
                <a:solidFill>
                  <a:srgbClr val="000000"/>
                </a:solidFill>
                <a:latin typeface="Arial" panose="020B0604020202020204" pitchFamily="34" charset="0"/>
              </a:rPr>
              <a:t>Rapid growth of:</a:t>
            </a:r>
          </a:p>
          <a:p>
            <a:pPr marL="1144800" lvl="2">
              <a:spcAft>
                <a:spcPct val="0"/>
              </a:spcAft>
              <a:buSzPts val="2400"/>
            </a:pPr>
            <a:r>
              <a:rPr lang="en-US" altLang="en-US" kern="1200" noProof="0" dirty="0">
                <a:solidFill>
                  <a:srgbClr val="000000"/>
                </a:solidFill>
                <a:latin typeface="Arial" panose="020B0604020202020204" pitchFamily="34" charset="0"/>
              </a:rPr>
              <a:t>Web 2.0, including online social networks</a:t>
            </a:r>
          </a:p>
          <a:p>
            <a:pPr marL="1144800" lvl="2">
              <a:spcAft>
                <a:spcPct val="0"/>
              </a:spcAft>
              <a:buSzPts val="2400"/>
            </a:pPr>
            <a:r>
              <a:rPr lang="en-US" altLang="en-US" kern="1200" noProof="0" dirty="0">
                <a:solidFill>
                  <a:srgbClr val="000000"/>
                </a:solidFill>
                <a:latin typeface="Arial" panose="020B0604020202020204" pitchFamily="34" charset="0"/>
              </a:rPr>
              <a:t>Mobile platform</a:t>
            </a:r>
          </a:p>
          <a:p>
            <a:pPr marL="1144800" lvl="2">
              <a:spcAft>
                <a:spcPct val="0"/>
              </a:spcAft>
              <a:buSzPts val="2400"/>
            </a:pPr>
            <a:r>
              <a:rPr lang="en-US" altLang="en-US" kern="1200" noProof="0" dirty="0">
                <a:solidFill>
                  <a:srgbClr val="000000"/>
                </a:solidFill>
                <a:latin typeface="Arial" panose="020B0604020202020204" pitchFamily="34" charset="0"/>
              </a:rPr>
              <a:t>Local commerce</a:t>
            </a:r>
          </a:p>
          <a:p>
            <a:pPr marL="1144800" lvl="2">
              <a:spcAft>
                <a:spcPct val="0"/>
              </a:spcAft>
              <a:buSzPts val="2400"/>
            </a:pPr>
            <a:r>
              <a:rPr lang="en-US" altLang="en-US" kern="1200" noProof="0" dirty="0">
                <a:solidFill>
                  <a:srgbClr val="000000"/>
                </a:solidFill>
                <a:latin typeface="Arial" panose="020B0604020202020204" pitchFamily="34" charset="0"/>
              </a:rPr>
              <a:t>On-demand service economy</a:t>
            </a:r>
          </a:p>
          <a:p>
            <a:pPr marL="741600" lvl="1">
              <a:spcAft>
                <a:spcPct val="0"/>
              </a:spcAft>
              <a:buSzPts val="2400"/>
            </a:pPr>
            <a:r>
              <a:rPr lang="en-US" altLang="en-US" kern="1200" noProof="0" dirty="0">
                <a:solidFill>
                  <a:srgbClr val="000000"/>
                </a:solidFill>
                <a:latin typeface="Arial" panose="020B0604020202020204" pitchFamily="34" charset="0"/>
              </a:rPr>
              <a:t>Entertainment content develops as source of revenues</a:t>
            </a:r>
          </a:p>
          <a:p>
            <a:pPr marL="741600" lvl="1">
              <a:spcAft>
                <a:spcPct val="0"/>
              </a:spcAft>
              <a:buSzPts val="2400"/>
            </a:pPr>
            <a:r>
              <a:rPr lang="en-US" altLang="en-US" kern="1200" noProof="0" dirty="0">
                <a:solidFill>
                  <a:srgbClr val="000000"/>
                </a:solidFill>
                <a:latin typeface="Arial" panose="020B0604020202020204" pitchFamily="34" charset="0"/>
              </a:rPr>
              <a:t>Transformation of marketing</a:t>
            </a:r>
          </a:p>
        </p:txBody>
      </p:sp>
    </p:spTree>
    <p:extLst>
      <p:ext uri="{BB962C8B-B14F-4D97-AF65-F5344CB8AC3E}">
        <p14:creationId xmlns:p14="http://schemas.microsoft.com/office/powerpoint/2010/main" val="36523227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200" kern="1200" noProof="0" dirty="0">
                <a:cs typeface="Times New Roman" panose="02020603050405020304" pitchFamily="18" charset="0"/>
              </a:rPr>
              <a:t>Figure 1.10 Periods in the Development of E-commerce</a:t>
            </a:r>
            <a:endParaRPr lang="en-US" sz="3200" noProof="0" dirty="0"/>
          </a:p>
        </p:txBody>
      </p:sp>
      <p:pic>
        <p:nvPicPr>
          <p:cNvPr id="5" name="Content Placeholder 4" descr="A graph illustrates phases of the development of e-commerce in terms of billions of dollars of revenue for retail, services, and content, from 19 95 to 20 18. For a full description, see Notes. Press F6."/>
          <p:cNvPicPr>
            <a:picLocks noGrp="1" noChangeAspect="1"/>
          </p:cNvPicPr>
          <p:nvPr>
            <p:ph sz="quarter" idx="13"/>
          </p:nvPr>
        </p:nvPicPr>
        <p:blipFill rotWithShape="1">
          <a:blip r:embed="rId3"/>
          <a:srcRect b="5042"/>
          <a:stretch/>
        </p:blipFill>
        <p:spPr>
          <a:xfrm>
            <a:off x="789231" y="1669220"/>
            <a:ext cx="7565537" cy="4324405"/>
          </a:xfrm>
          <a:prstGeom prst="rect">
            <a:avLst/>
          </a:prstGeom>
        </p:spPr>
      </p:pic>
    </p:spTree>
    <p:extLst>
      <p:ext uri="{BB962C8B-B14F-4D97-AF65-F5344CB8AC3E}">
        <p14:creationId xmlns:p14="http://schemas.microsoft.com/office/powerpoint/2010/main" val="3546639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200" kern="1200" noProof="0" dirty="0">
                <a:cs typeface="Times New Roman" panose="02020603050405020304" pitchFamily="18" charset="0"/>
              </a:rPr>
              <a:t>Insight on Business: Y Combinator’s Startup Boot Camp</a:t>
            </a:r>
            <a:endParaRPr lang="en-US" sz="3200" noProof="0" dirty="0"/>
          </a:p>
        </p:txBody>
      </p:sp>
      <p:sp>
        <p:nvSpPr>
          <p:cNvPr id="7" name="Content Placeholder 6"/>
          <p:cNvSpPr>
            <a:spLocks noGrp="1"/>
          </p:cNvSpPr>
          <p:nvPr>
            <p:ph sz="quarter" idx="13"/>
          </p:nvPr>
        </p:nvSpPr>
        <p:spPr>
          <a:xfrm>
            <a:off x="457201" y="1554920"/>
            <a:ext cx="8009906" cy="4663335"/>
          </a:xfrm>
        </p:spPr>
        <p:txBody>
          <a:bodyPr/>
          <a:lstStyle/>
          <a:p>
            <a:pPr marL="255651" lvl="0" indent="-255651">
              <a:spcAft>
                <a:spcPct val="0"/>
              </a:spcAft>
              <a:buSzPts val="2400"/>
              <a:tabLst/>
            </a:pPr>
            <a:r>
              <a:rPr lang="en-US" kern="1200" noProof="0" dirty="0">
                <a:solidFill>
                  <a:srgbClr val="000000"/>
                </a:solidFill>
                <a:latin typeface="Arial" panose="020B0604020202020204" pitchFamily="34" charset="0"/>
              </a:rPr>
              <a:t>Class Discussion</a:t>
            </a:r>
          </a:p>
          <a:p>
            <a:pPr marL="741553" lvl="1" indent="-284353">
              <a:spcAft>
                <a:spcPct val="0"/>
              </a:spcAft>
              <a:buSzPts val="2400"/>
            </a:pPr>
            <a:r>
              <a:rPr lang="en-US" kern="1200" noProof="0" dirty="0">
                <a:solidFill>
                  <a:srgbClr val="000000"/>
                </a:solidFill>
                <a:latin typeface="Arial" panose="020B0604020202020204" pitchFamily="34" charset="0"/>
              </a:rPr>
              <a:t>Why do you think investors today are still interested in investing in startups?</a:t>
            </a:r>
          </a:p>
          <a:p>
            <a:pPr marL="741553" lvl="1" indent="-284353">
              <a:spcAft>
                <a:spcPct val="0"/>
              </a:spcAft>
              <a:buSzPts val="2400"/>
            </a:pPr>
            <a:r>
              <a:rPr lang="en-US" kern="1200" noProof="0" dirty="0">
                <a:solidFill>
                  <a:srgbClr val="000000"/>
                </a:solidFill>
                <a:latin typeface="Arial" panose="020B0604020202020204" pitchFamily="34" charset="0"/>
              </a:rPr>
              <a:t>What are the benefits of investing in a company that is a graduate of a Y Combinator boot camp?</a:t>
            </a:r>
          </a:p>
          <a:p>
            <a:pPr marL="741553" lvl="1" indent="-284353">
              <a:spcAft>
                <a:spcPct val="0"/>
              </a:spcAft>
              <a:buSzPts val="2400"/>
            </a:pPr>
            <a:r>
              <a:rPr lang="en-US" kern="1200" noProof="0" dirty="0">
                <a:solidFill>
                  <a:srgbClr val="000000"/>
                </a:solidFill>
                <a:latin typeface="Arial" panose="020B0604020202020204" pitchFamily="34" charset="0"/>
              </a:rPr>
              <a:t>Is an incubator the best solution for startups to find funding? Why or why not?</a:t>
            </a:r>
          </a:p>
        </p:txBody>
      </p:sp>
    </p:spTree>
    <p:extLst>
      <p:ext uri="{BB962C8B-B14F-4D97-AF65-F5344CB8AC3E}">
        <p14:creationId xmlns:p14="http://schemas.microsoft.com/office/powerpoint/2010/main" val="3568649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kern="1200" noProof="0" dirty="0">
                <a:cs typeface="Times New Roman" panose="02020603050405020304" pitchFamily="18" charset="0"/>
              </a:rPr>
              <a:t>Assessing E-commerce </a:t>
            </a:r>
            <a:r>
              <a:rPr lang="en-US" sz="2000" b="0" kern="1200" noProof="0" dirty="0">
                <a:cs typeface="Times New Roman" panose="02020603050405020304" pitchFamily="18" charset="0"/>
              </a:rPr>
              <a:t>(1 of 2)</a:t>
            </a:r>
            <a:endParaRPr lang="en-US" noProof="0" dirty="0"/>
          </a:p>
        </p:txBody>
      </p:sp>
      <p:sp>
        <p:nvSpPr>
          <p:cNvPr id="7" name="Content Placeholder 6"/>
          <p:cNvSpPr>
            <a:spLocks noGrp="1"/>
          </p:cNvSpPr>
          <p:nvPr>
            <p:ph sz="quarter" idx="13"/>
          </p:nvPr>
        </p:nvSpPr>
        <p:spPr/>
        <p:txBody>
          <a:bodyPr/>
          <a:lstStyle/>
          <a:p>
            <a:pPr marL="255651" lvl="0" indent="-255651">
              <a:spcAft>
                <a:spcPct val="0"/>
              </a:spcAft>
              <a:buSzPts val="2400"/>
              <a:tabLst/>
              <a:defRPr/>
            </a:pPr>
            <a:r>
              <a:rPr lang="en-US" kern="1200" noProof="0" dirty="0">
                <a:solidFill>
                  <a:srgbClr val="000000"/>
                </a:solidFill>
                <a:latin typeface="Arial" panose="020B0604020202020204" pitchFamily="34" charset="0"/>
              </a:rPr>
              <a:t>Stunning technological success</a:t>
            </a:r>
          </a:p>
          <a:p>
            <a:pPr marL="255651" lvl="0" indent="-255651">
              <a:spcAft>
                <a:spcPct val="0"/>
              </a:spcAft>
              <a:buSzPts val="2400"/>
              <a:tabLst/>
              <a:defRPr/>
            </a:pPr>
            <a:r>
              <a:rPr lang="en-US" kern="1200" noProof="0" dirty="0">
                <a:solidFill>
                  <a:srgbClr val="000000"/>
                </a:solidFill>
                <a:latin typeface="Arial" panose="020B0604020202020204" pitchFamily="34" charset="0"/>
              </a:rPr>
              <a:t>Early years a mixed business success</a:t>
            </a:r>
          </a:p>
          <a:p>
            <a:pPr marL="741553" lvl="1" indent="-284353">
              <a:spcAft>
                <a:spcPct val="0"/>
              </a:spcAft>
              <a:buSzPts val="2400"/>
              <a:defRPr/>
            </a:pPr>
            <a:r>
              <a:rPr lang="en-US" kern="1200" noProof="0" dirty="0">
                <a:solidFill>
                  <a:srgbClr val="000000"/>
                </a:solidFill>
                <a:latin typeface="Arial" panose="020B0604020202020204" pitchFamily="34" charset="0"/>
                <a:ea typeface="ＭＳ Ｐゴシック" charset="0"/>
              </a:rPr>
              <a:t>Few early dot-coms have survived</a:t>
            </a:r>
          </a:p>
          <a:p>
            <a:pPr marL="741553" lvl="1" indent="-284353">
              <a:spcAft>
                <a:spcPct val="0"/>
              </a:spcAft>
              <a:buSzPts val="2400"/>
              <a:defRPr/>
            </a:pPr>
            <a:r>
              <a:rPr lang="en-US" kern="1200" noProof="0" dirty="0">
                <a:solidFill>
                  <a:srgbClr val="000000"/>
                </a:solidFill>
                <a:latin typeface="Arial" panose="020B0604020202020204" pitchFamily="34" charset="0"/>
                <a:ea typeface="ＭＳ Ｐゴシック" charset="0"/>
              </a:rPr>
              <a:t>Online sales growing rapidly</a:t>
            </a:r>
          </a:p>
          <a:p>
            <a:pPr marL="255651" lvl="0" indent="-255651">
              <a:spcAft>
                <a:spcPct val="0"/>
              </a:spcAft>
              <a:buSzPts val="2400"/>
              <a:tabLst/>
              <a:defRPr/>
            </a:pPr>
            <a:r>
              <a:rPr lang="en-US" kern="1200" noProof="0" dirty="0">
                <a:solidFill>
                  <a:srgbClr val="000000"/>
                </a:solidFill>
                <a:latin typeface="Arial" panose="020B0604020202020204" pitchFamily="34" charset="0"/>
              </a:rPr>
              <a:t>Many early visions not fulfilled</a:t>
            </a:r>
          </a:p>
          <a:p>
            <a:pPr marL="741553" lvl="1" indent="-284353">
              <a:spcAft>
                <a:spcPct val="0"/>
              </a:spcAft>
              <a:buSzPts val="2400"/>
              <a:defRPr/>
            </a:pPr>
            <a:r>
              <a:rPr lang="en-US" kern="1200" noProof="0" dirty="0">
                <a:solidFill>
                  <a:srgbClr val="000000"/>
                </a:solidFill>
                <a:latin typeface="Arial" panose="020B0604020202020204" pitchFamily="34" charset="0"/>
              </a:rPr>
              <a:t>Price dispersion</a:t>
            </a:r>
          </a:p>
          <a:p>
            <a:pPr marL="741553" lvl="1" indent="-284353">
              <a:spcAft>
                <a:spcPct val="0"/>
              </a:spcAft>
              <a:buSzPts val="2400"/>
              <a:defRPr/>
            </a:pPr>
            <a:r>
              <a:rPr lang="en-US" kern="1200" noProof="0" dirty="0">
                <a:solidFill>
                  <a:srgbClr val="000000"/>
                </a:solidFill>
                <a:latin typeface="Arial" panose="020B0604020202020204" pitchFamily="34" charset="0"/>
              </a:rPr>
              <a:t>Information asymmetry</a:t>
            </a:r>
          </a:p>
          <a:p>
            <a:pPr marL="741553" lvl="1" indent="-284353">
              <a:spcAft>
                <a:spcPct val="0"/>
              </a:spcAft>
              <a:buSzPts val="2400"/>
              <a:defRPr/>
            </a:pPr>
            <a:r>
              <a:rPr lang="en-US" kern="1200" noProof="0" dirty="0">
                <a:solidFill>
                  <a:srgbClr val="000000"/>
                </a:solidFill>
                <a:latin typeface="Arial" panose="020B0604020202020204" pitchFamily="34" charset="0"/>
              </a:rPr>
              <a:t>New intermediaries</a:t>
            </a:r>
          </a:p>
        </p:txBody>
      </p:sp>
    </p:spTree>
    <p:extLst>
      <p:ext uri="{BB962C8B-B14F-4D97-AF65-F5344CB8AC3E}">
        <p14:creationId xmlns:p14="http://schemas.microsoft.com/office/powerpoint/2010/main" val="9249943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kern="1200" noProof="0" dirty="0">
                <a:cs typeface="Times New Roman" panose="02020603050405020304" pitchFamily="18" charset="0"/>
              </a:rPr>
              <a:t>Assessing E-commerce </a:t>
            </a:r>
            <a:r>
              <a:rPr lang="en-US" sz="2000" b="0" kern="1200" noProof="0" dirty="0">
                <a:cs typeface="Times New Roman" panose="02020603050405020304" pitchFamily="18" charset="0"/>
              </a:rPr>
              <a:t>(2 of 2)</a:t>
            </a:r>
            <a:endParaRPr lang="en-US" noProof="0" dirty="0"/>
          </a:p>
        </p:txBody>
      </p:sp>
      <p:sp>
        <p:nvSpPr>
          <p:cNvPr id="7" name="Content Placeholder 6"/>
          <p:cNvSpPr>
            <a:spLocks noGrp="1"/>
          </p:cNvSpPr>
          <p:nvPr>
            <p:ph sz="quarter" idx="13"/>
          </p:nvPr>
        </p:nvSpPr>
        <p:spPr/>
        <p:txBody>
          <a:bodyPr/>
          <a:lstStyle/>
          <a:p>
            <a:pPr marL="255651" lvl="0" indent="-255651">
              <a:spcAft>
                <a:spcPct val="0"/>
              </a:spcAft>
              <a:buSzPts val="2400"/>
              <a:tabLst/>
              <a:defRPr/>
            </a:pPr>
            <a:r>
              <a:rPr lang="en-US" kern="1200" noProof="0" dirty="0">
                <a:solidFill>
                  <a:srgbClr val="000000"/>
                </a:solidFill>
                <a:latin typeface="Arial" panose="020B0604020202020204" pitchFamily="34" charset="0"/>
              </a:rPr>
              <a:t>Other surprises</a:t>
            </a:r>
          </a:p>
          <a:p>
            <a:pPr marL="741553" lvl="1" indent="-284353">
              <a:spcAft>
                <a:spcPct val="0"/>
              </a:spcAft>
              <a:buSzPts val="2400"/>
              <a:defRPr/>
            </a:pPr>
            <a:r>
              <a:rPr lang="en-US" kern="1200" noProof="0" dirty="0">
                <a:solidFill>
                  <a:srgbClr val="000000"/>
                </a:solidFill>
                <a:latin typeface="Arial" panose="020B0604020202020204" pitchFamily="34" charset="0"/>
              </a:rPr>
              <a:t>Fast-follower advantages</a:t>
            </a:r>
          </a:p>
          <a:p>
            <a:pPr marL="741553" lvl="1" indent="-284353">
              <a:spcAft>
                <a:spcPct val="0"/>
              </a:spcAft>
              <a:buSzPts val="2400"/>
              <a:defRPr/>
            </a:pPr>
            <a:r>
              <a:rPr lang="en-US" kern="1200" noProof="0" dirty="0">
                <a:solidFill>
                  <a:srgbClr val="000000"/>
                </a:solidFill>
                <a:latin typeface="Arial" panose="020B0604020202020204" pitchFamily="34" charset="0"/>
              </a:rPr>
              <a:t>Start-up costs</a:t>
            </a:r>
          </a:p>
          <a:p>
            <a:pPr marL="741553" lvl="1" indent="-284353">
              <a:spcAft>
                <a:spcPct val="0"/>
              </a:spcAft>
              <a:buSzPts val="2400"/>
              <a:defRPr/>
            </a:pPr>
            <a:r>
              <a:rPr lang="en-US" kern="1200" noProof="0" dirty="0">
                <a:solidFill>
                  <a:srgbClr val="000000"/>
                </a:solidFill>
                <a:latin typeface="Arial" panose="020B0604020202020204" pitchFamily="34" charset="0"/>
              </a:rPr>
              <a:t>Impact of mobile platform</a:t>
            </a:r>
          </a:p>
          <a:p>
            <a:pPr marL="741553" lvl="1" indent="-284353">
              <a:spcAft>
                <a:spcPct val="0"/>
              </a:spcAft>
              <a:buSzPts val="2400"/>
              <a:defRPr/>
            </a:pPr>
            <a:r>
              <a:rPr lang="en-US" kern="1200" noProof="0" dirty="0">
                <a:solidFill>
                  <a:srgbClr val="000000"/>
                </a:solidFill>
                <a:latin typeface="Arial" panose="020B0604020202020204" pitchFamily="34" charset="0"/>
              </a:rPr>
              <a:t>Emergence of on-demand e-commerce</a:t>
            </a:r>
          </a:p>
        </p:txBody>
      </p:sp>
    </p:spTree>
    <p:extLst>
      <p:ext uri="{BB962C8B-B14F-4D97-AF65-F5344CB8AC3E}">
        <p14:creationId xmlns:p14="http://schemas.microsoft.com/office/powerpoint/2010/main" val="32475614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BC98E3E9-93BF-ADF2-416A-724EF88215E7}"/>
              </a:ext>
            </a:extLst>
          </p:cNvPr>
          <p:cNvSpPr>
            <a:spLocks noGrp="1"/>
          </p:cNvSpPr>
          <p:nvPr>
            <p:ph type="title"/>
          </p:nvPr>
        </p:nvSpPr>
        <p:spPr>
          <a:xfrm>
            <a:off x="457200" y="381000"/>
            <a:ext cx="8229600" cy="553998"/>
          </a:xfrm>
        </p:spPr>
        <p:txBody>
          <a:bodyPr/>
          <a:lstStyle/>
          <a:p>
            <a:pPr algn="ctr">
              <a:defRPr/>
            </a:pPr>
            <a:r>
              <a:rPr lang="en-US">
                <a:ea typeface="+mj-ea"/>
                <a:cs typeface="+mj-cs"/>
              </a:rPr>
              <a:t>E-commerce: </a:t>
            </a:r>
            <a:r>
              <a:rPr lang="en-US" sz="3600">
                <a:latin typeface="Arial MT"/>
                <a:cs typeface="Arial MT"/>
              </a:rPr>
              <a:t>Key Concepts</a:t>
            </a:r>
            <a:endParaRPr lang="en-US">
              <a:ea typeface="+mj-ea"/>
              <a:cs typeface="+mj-cs"/>
            </a:endParaRPr>
          </a:p>
        </p:txBody>
      </p:sp>
      <p:sp>
        <p:nvSpPr>
          <p:cNvPr id="52226" name="Content Placeholder 2">
            <a:extLst>
              <a:ext uri="{FF2B5EF4-FFF2-40B4-BE49-F238E27FC236}">
                <a16:creationId xmlns:a16="http://schemas.microsoft.com/office/drawing/2014/main" id="{944BE30A-FED8-05CF-E373-8B702D16F931}"/>
              </a:ext>
            </a:extLst>
          </p:cNvPr>
          <p:cNvSpPr>
            <a:spLocks noGrp="1"/>
          </p:cNvSpPr>
          <p:nvPr>
            <p:ph type="body" idx="1"/>
          </p:nvPr>
        </p:nvSpPr>
        <p:spPr>
          <a:xfrm>
            <a:off x="228600" y="1219200"/>
            <a:ext cx="8686800" cy="4185761"/>
          </a:xfrm>
        </p:spPr>
        <p:txBody>
          <a:bodyPr/>
          <a:lstStyle/>
          <a:p>
            <a:pPr marL="342900" indent="-342900" algn="just">
              <a:buFont typeface="Arial" panose="020B0604020202020204" pitchFamily="34" charset="0"/>
              <a:buChar char="•"/>
              <a:defRPr/>
            </a:pPr>
            <a:r>
              <a:rPr lang="en-US" sz="2400" b="1" dirty="0">
                <a:solidFill>
                  <a:srgbClr val="0C0C0C"/>
                </a:solidFill>
              </a:rPr>
              <a:t>Friction-Free Commerce: </a:t>
            </a:r>
            <a:r>
              <a:rPr lang="en-US" sz="2000" dirty="0">
                <a:solidFill>
                  <a:srgbClr val="0C0C0C"/>
                </a:solidFill>
              </a:rPr>
              <a:t>A seamless, obstacle-free online buying and selling experience.</a:t>
            </a:r>
            <a:r>
              <a:rPr lang="en-US" sz="2000" b="0" i="0" dirty="0">
                <a:solidFill>
                  <a:srgbClr val="374151"/>
                </a:solidFill>
                <a:effectLst/>
                <a:latin typeface="Söhne"/>
              </a:rPr>
              <a:t> This typically involves easy navigation, quick loading times, secure payment options, and a user-friendly interface.</a:t>
            </a:r>
            <a:endParaRPr lang="en-US" sz="2000" dirty="0">
              <a:solidFill>
                <a:srgbClr val="0C0C0C"/>
              </a:solidFill>
            </a:endParaRPr>
          </a:p>
          <a:p>
            <a:pPr marL="342900" indent="-342900" algn="just">
              <a:buFont typeface="Arial" panose="020B0604020202020204" pitchFamily="34" charset="0"/>
              <a:buChar char="•"/>
              <a:defRPr/>
            </a:pPr>
            <a:r>
              <a:rPr lang="en-US" sz="2400" b="1" dirty="0">
                <a:solidFill>
                  <a:srgbClr val="0C0C0C"/>
                </a:solidFill>
              </a:rPr>
              <a:t>Lowered Search Costs:</a:t>
            </a:r>
            <a:r>
              <a:rPr lang="en-US" sz="2000" b="1" dirty="0">
                <a:solidFill>
                  <a:srgbClr val="0C0C0C"/>
                </a:solidFill>
              </a:rPr>
              <a:t> </a:t>
            </a:r>
            <a:r>
              <a:rPr lang="en-US" sz="2000" dirty="0">
                <a:solidFill>
                  <a:srgbClr val="0C0C0C"/>
                </a:solidFill>
              </a:rPr>
              <a:t>Reduced time and effort required for customers to find products or services online. </a:t>
            </a:r>
            <a:r>
              <a:rPr lang="en-US" sz="2000" b="0" i="0" dirty="0">
                <a:solidFill>
                  <a:srgbClr val="374151"/>
                </a:solidFill>
                <a:effectLst/>
                <a:latin typeface="Söhne"/>
              </a:rPr>
              <a:t>This can be achieved through various means such as </a:t>
            </a:r>
            <a:r>
              <a:rPr lang="en-US" sz="2000" b="1" i="0" dirty="0">
                <a:solidFill>
                  <a:srgbClr val="374151"/>
                </a:solidFill>
                <a:effectLst/>
                <a:latin typeface="Söhne"/>
              </a:rPr>
              <a:t>advanced search algorithms</a:t>
            </a:r>
            <a:r>
              <a:rPr lang="en-US" sz="2000" b="0" i="0" dirty="0">
                <a:solidFill>
                  <a:srgbClr val="374151"/>
                </a:solidFill>
                <a:effectLst/>
                <a:latin typeface="Söhne"/>
              </a:rPr>
              <a:t>, </a:t>
            </a:r>
            <a:r>
              <a:rPr lang="en-US" sz="2000" b="1" i="0" dirty="0">
                <a:solidFill>
                  <a:srgbClr val="374151"/>
                </a:solidFill>
                <a:effectLst/>
                <a:latin typeface="Söhne"/>
              </a:rPr>
              <a:t>personalized recommendations</a:t>
            </a:r>
            <a:r>
              <a:rPr lang="en-US" sz="2000" b="0" i="0" dirty="0">
                <a:solidFill>
                  <a:srgbClr val="374151"/>
                </a:solidFill>
                <a:effectLst/>
                <a:latin typeface="Söhne"/>
              </a:rPr>
              <a:t>, </a:t>
            </a:r>
            <a:r>
              <a:rPr lang="en-US" sz="2000" b="1" i="0" dirty="0">
                <a:solidFill>
                  <a:srgbClr val="374151"/>
                </a:solidFill>
                <a:effectLst/>
                <a:latin typeface="Söhne"/>
              </a:rPr>
              <a:t>intuitive website design</a:t>
            </a:r>
            <a:r>
              <a:rPr lang="en-US" sz="2000" b="0" i="0" dirty="0">
                <a:solidFill>
                  <a:srgbClr val="374151"/>
                </a:solidFill>
                <a:effectLst/>
                <a:latin typeface="Söhne"/>
              </a:rPr>
              <a:t>, and </a:t>
            </a:r>
            <a:r>
              <a:rPr lang="en-US" sz="2000" b="1" i="0" dirty="0">
                <a:solidFill>
                  <a:srgbClr val="374151"/>
                </a:solidFill>
                <a:effectLst/>
                <a:latin typeface="Söhne"/>
              </a:rPr>
              <a:t>efficient categorization</a:t>
            </a:r>
            <a:r>
              <a:rPr lang="en-US" sz="2000" b="0" i="0" dirty="0">
                <a:solidFill>
                  <a:srgbClr val="374151"/>
                </a:solidFill>
                <a:effectLst/>
                <a:latin typeface="Söhne"/>
              </a:rPr>
              <a:t>, all of which help users quickly locate the products or services that match their preferences and needs.</a:t>
            </a:r>
            <a:endParaRPr lang="en-US" sz="2000" dirty="0">
              <a:solidFill>
                <a:srgbClr val="0C0C0C"/>
              </a:solidFill>
            </a:endParaRPr>
          </a:p>
          <a:p>
            <a:pPr marL="342900" indent="-342900" algn="just">
              <a:buFont typeface="Arial" panose="020B0604020202020204" pitchFamily="34" charset="0"/>
              <a:buChar char="•"/>
              <a:defRPr/>
            </a:pPr>
            <a:r>
              <a:rPr lang="en-US" sz="2400" b="1" dirty="0">
                <a:solidFill>
                  <a:srgbClr val="0C0C0C"/>
                </a:solidFill>
              </a:rPr>
              <a:t>Disintermediation:</a:t>
            </a:r>
            <a:r>
              <a:rPr lang="en-US" sz="2000" b="1" dirty="0">
                <a:solidFill>
                  <a:srgbClr val="0C0C0C"/>
                </a:solidFill>
              </a:rPr>
              <a:t> </a:t>
            </a:r>
            <a:r>
              <a:rPr lang="en-US" sz="2000" dirty="0">
                <a:solidFill>
                  <a:srgbClr val="0C0C0C"/>
                </a:solidFill>
              </a:rPr>
              <a:t>Eliminating </a:t>
            </a:r>
            <a:r>
              <a:rPr lang="en-US" sz="2000" b="1" dirty="0">
                <a:solidFill>
                  <a:srgbClr val="0C0C0C"/>
                </a:solidFill>
              </a:rPr>
              <a:t>middlemen from the supply chain </a:t>
            </a:r>
            <a:r>
              <a:rPr lang="en-US" sz="2000" dirty="0">
                <a:solidFill>
                  <a:srgbClr val="0C0C0C"/>
                </a:solidFill>
              </a:rPr>
              <a:t>in online transactions. </a:t>
            </a:r>
            <a:r>
              <a:rPr lang="en-US" sz="2000" b="0" i="0" dirty="0">
                <a:solidFill>
                  <a:srgbClr val="374151"/>
                </a:solidFill>
                <a:effectLst/>
                <a:latin typeface="Söhne"/>
              </a:rPr>
              <a:t>It often occurs due to the direct interaction </a:t>
            </a:r>
            <a:r>
              <a:rPr lang="en-US" sz="2000" b="1" i="0" dirty="0">
                <a:solidFill>
                  <a:srgbClr val="374151"/>
                </a:solidFill>
                <a:effectLst/>
                <a:latin typeface="Söhne"/>
              </a:rPr>
              <a:t>between producers or manufacturers and consumers </a:t>
            </a:r>
            <a:r>
              <a:rPr lang="en-US" sz="2000" b="0" i="0" dirty="0">
                <a:solidFill>
                  <a:srgbClr val="374151"/>
                </a:solidFill>
                <a:effectLst/>
                <a:latin typeface="Söhne"/>
              </a:rPr>
              <a:t>facilitated by digital platforms. </a:t>
            </a:r>
            <a:endParaRPr lang="en-US" sz="2000" dirty="0">
              <a:solidFill>
                <a:srgbClr val="0C0C0C"/>
              </a:solidFill>
            </a:endParaRPr>
          </a:p>
        </p:txBody>
      </p:sp>
      <p:pic>
        <p:nvPicPr>
          <p:cNvPr id="1030" name="Picture 6" descr="Supply chain">
            <a:extLst>
              <a:ext uri="{FF2B5EF4-FFF2-40B4-BE49-F238E27FC236}">
                <a16:creationId xmlns:a16="http://schemas.microsoft.com/office/drawing/2014/main" id="{ED909579-28E0-55EE-FE03-8AE8140672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2350" y="5404961"/>
            <a:ext cx="5029200" cy="13465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82083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35669" y="416113"/>
            <a:ext cx="5825871" cy="536044"/>
          </a:xfrm>
          <a:prstGeom prst="rect">
            <a:avLst/>
          </a:prstGeom>
        </p:spPr>
        <p:txBody>
          <a:bodyPr vert="horz" wrap="square" lIns="0" tIns="12700" rIns="0" bIns="0" rtlCol="0">
            <a:spAutoFit/>
          </a:bodyPr>
          <a:lstStyle/>
          <a:p>
            <a:pPr marL="12700">
              <a:lnSpc>
                <a:spcPct val="100000"/>
              </a:lnSpc>
              <a:spcBef>
                <a:spcPts val="100"/>
              </a:spcBef>
            </a:pPr>
            <a:r>
              <a:rPr spc="-5"/>
              <a:t>New</a:t>
            </a:r>
            <a:r>
              <a:rPr spc="-25"/>
              <a:t> </a:t>
            </a:r>
            <a:r>
              <a:rPr spc="-5"/>
              <a:t>channel</a:t>
            </a:r>
            <a:r>
              <a:rPr spc="-40"/>
              <a:t> </a:t>
            </a:r>
            <a:r>
              <a:rPr spc="-5"/>
              <a:t>structures</a:t>
            </a:r>
          </a:p>
        </p:txBody>
      </p:sp>
      <p:pic>
        <p:nvPicPr>
          <p:cNvPr id="5" name="object 5"/>
          <p:cNvPicPr/>
          <p:nvPr/>
        </p:nvPicPr>
        <p:blipFill rotWithShape="1">
          <a:blip r:embed="rId3" cstate="print"/>
          <a:srcRect r="-210"/>
          <a:stretch/>
        </p:blipFill>
        <p:spPr>
          <a:xfrm>
            <a:off x="228600" y="1600200"/>
            <a:ext cx="4073508" cy="2057399"/>
          </a:xfrm>
          <a:prstGeom prst="rect">
            <a:avLst/>
          </a:prstGeom>
        </p:spPr>
      </p:pic>
      <p:pic>
        <p:nvPicPr>
          <p:cNvPr id="1026" name="Picture 2" descr="Chapter-4">
            <a:extLst>
              <a:ext uri="{FF2B5EF4-FFF2-40B4-BE49-F238E27FC236}">
                <a16:creationId xmlns:a16="http://schemas.microsoft.com/office/drawing/2014/main" id="{A243E98A-5074-01CD-1826-D6F4870FCA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91873" y="1245326"/>
            <a:ext cx="4073508" cy="2438400"/>
          </a:xfrm>
          <a:prstGeom prst="rect">
            <a:avLst/>
          </a:prstGeom>
          <a:noFill/>
          <a:extLst>
            <a:ext uri="{909E8E84-426E-40DD-AFC4-6F175D3DCCD1}">
              <a14:hiddenFill xmlns:a14="http://schemas.microsoft.com/office/drawing/2010/main">
                <a:solidFill>
                  <a:srgbClr val="FFFFFF"/>
                </a:solidFill>
              </a14:hiddenFill>
            </a:ext>
          </a:extLst>
        </p:spPr>
      </p:pic>
      <p:pic>
        <p:nvPicPr>
          <p:cNvPr id="9" name="object 7">
            <a:extLst>
              <a:ext uri="{FF2B5EF4-FFF2-40B4-BE49-F238E27FC236}">
                <a16:creationId xmlns:a16="http://schemas.microsoft.com/office/drawing/2014/main" id="{E35B2FFD-FB7E-3F35-BA09-051C9852F770}"/>
              </a:ext>
            </a:extLst>
          </p:cNvPr>
          <p:cNvPicPr/>
          <p:nvPr/>
        </p:nvPicPr>
        <p:blipFill>
          <a:blip r:embed="rId5" cstate="print"/>
          <a:stretch>
            <a:fillRect/>
          </a:stretch>
        </p:blipFill>
        <p:spPr>
          <a:xfrm>
            <a:off x="2420946" y="3962400"/>
            <a:ext cx="4302107" cy="2438400"/>
          </a:xfrm>
          <a:prstGeom prst="rect">
            <a:avLst/>
          </a:prstGeom>
        </p:spPr>
      </p:pic>
      <p:sp>
        <p:nvSpPr>
          <p:cNvPr id="3" name="Footer Placeholder 2">
            <a:extLst>
              <a:ext uri="{FF2B5EF4-FFF2-40B4-BE49-F238E27FC236}">
                <a16:creationId xmlns:a16="http://schemas.microsoft.com/office/drawing/2014/main" id="{AE87FCBA-BC1C-B9E9-6412-5C255415B395}"/>
              </a:ext>
            </a:extLst>
          </p:cNvPr>
          <p:cNvSpPr>
            <a:spLocks noGrp="1"/>
          </p:cNvSpPr>
          <p:nvPr>
            <p:ph type="ftr" sz="quarter" idx="5"/>
          </p:nvPr>
        </p:nvSpPr>
        <p:spPr/>
        <p:txBody>
          <a:bodyPr/>
          <a:lstStyle/>
          <a:p>
            <a:pPr marL="12700">
              <a:lnSpc>
                <a:spcPct val="100000"/>
              </a:lnSpc>
              <a:spcBef>
                <a:spcPts val="105"/>
              </a:spcBef>
            </a:pPr>
            <a:endParaRPr lang="en-US" spc="-1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BC98E3E9-93BF-ADF2-416A-724EF88215E7}"/>
              </a:ext>
            </a:extLst>
          </p:cNvPr>
          <p:cNvSpPr>
            <a:spLocks noGrp="1"/>
          </p:cNvSpPr>
          <p:nvPr>
            <p:ph type="title"/>
          </p:nvPr>
        </p:nvSpPr>
        <p:spPr>
          <a:xfrm>
            <a:off x="457200" y="258604"/>
            <a:ext cx="8229600" cy="553998"/>
          </a:xfrm>
        </p:spPr>
        <p:txBody>
          <a:bodyPr/>
          <a:lstStyle/>
          <a:p>
            <a:pPr algn="ctr">
              <a:defRPr/>
            </a:pPr>
            <a:r>
              <a:rPr lang="en-US">
                <a:ea typeface="+mj-ea"/>
                <a:cs typeface="+mj-cs"/>
              </a:rPr>
              <a:t>E-commerce: </a:t>
            </a:r>
            <a:r>
              <a:rPr lang="en-US" sz="3600">
                <a:latin typeface="Arial MT"/>
                <a:cs typeface="Arial MT"/>
              </a:rPr>
              <a:t>Key Concepts</a:t>
            </a:r>
            <a:endParaRPr lang="en-US">
              <a:ea typeface="+mj-ea"/>
              <a:cs typeface="+mj-cs"/>
            </a:endParaRPr>
          </a:p>
        </p:txBody>
      </p:sp>
      <p:sp>
        <p:nvSpPr>
          <p:cNvPr id="52226" name="Content Placeholder 2">
            <a:extLst>
              <a:ext uri="{FF2B5EF4-FFF2-40B4-BE49-F238E27FC236}">
                <a16:creationId xmlns:a16="http://schemas.microsoft.com/office/drawing/2014/main" id="{944BE30A-FED8-05CF-E373-8B702D16F931}"/>
              </a:ext>
            </a:extLst>
          </p:cNvPr>
          <p:cNvSpPr>
            <a:spLocks noGrp="1"/>
          </p:cNvSpPr>
          <p:nvPr>
            <p:ph type="body" idx="1"/>
          </p:nvPr>
        </p:nvSpPr>
        <p:spPr>
          <a:xfrm>
            <a:off x="228600" y="762000"/>
            <a:ext cx="8458200" cy="5786199"/>
          </a:xfrm>
        </p:spPr>
        <p:txBody>
          <a:bodyPr/>
          <a:lstStyle/>
          <a:p>
            <a:pPr marL="342900" indent="-342900" algn="just">
              <a:buFont typeface="Arial" panose="020B0604020202020204" pitchFamily="34" charset="0"/>
              <a:buChar char="•"/>
              <a:defRPr/>
            </a:pPr>
            <a:r>
              <a:rPr lang="en-US" sz="2400" b="1" dirty="0">
                <a:solidFill>
                  <a:srgbClr val="0C0C0C"/>
                </a:solidFill>
              </a:rPr>
              <a:t>Price Transparency: </a:t>
            </a:r>
          </a:p>
          <a:p>
            <a:pPr marL="800100" lvl="1" indent="-342900" algn="just">
              <a:buFont typeface="Arial" panose="020B0604020202020204" pitchFamily="34" charset="0"/>
              <a:buChar char="•"/>
              <a:defRPr/>
            </a:pPr>
            <a:r>
              <a:rPr lang="en-US" sz="2000" dirty="0">
                <a:solidFill>
                  <a:srgbClr val="0C0C0C"/>
                </a:solidFill>
              </a:rPr>
              <a:t>Clearly displaying all costs associated with a product or service for consumers to make informed decisions</a:t>
            </a:r>
            <a:r>
              <a:rPr lang="en-US" sz="2000" b="1" dirty="0">
                <a:solidFill>
                  <a:srgbClr val="0C0C0C"/>
                </a:solidFill>
              </a:rPr>
              <a:t>. </a:t>
            </a:r>
          </a:p>
          <a:p>
            <a:pPr marL="800100" lvl="1" indent="-342900" algn="just">
              <a:buFont typeface="Arial" panose="020B0604020202020204" pitchFamily="34" charset="0"/>
              <a:buChar char="•"/>
              <a:defRPr/>
            </a:pPr>
            <a:r>
              <a:rPr lang="en-US" sz="2000" b="0" i="0" dirty="0">
                <a:solidFill>
                  <a:srgbClr val="374151"/>
                </a:solidFill>
                <a:effectLst/>
                <a:latin typeface="Söhne"/>
              </a:rPr>
              <a:t>It involves providing comprehensive and readily accessible information about pricing structures, discounts, shipping fees, and any other charges. Price transparency helps consumers make informed purchasing decisions </a:t>
            </a:r>
            <a:endParaRPr lang="en-US" sz="2000" b="1" dirty="0">
              <a:solidFill>
                <a:srgbClr val="0C0C0C"/>
              </a:solidFill>
            </a:endParaRPr>
          </a:p>
          <a:p>
            <a:pPr marL="342900" indent="-342900">
              <a:buFont typeface="Arial" panose="020B0604020202020204" pitchFamily="34" charset="0"/>
              <a:buChar char="•"/>
              <a:defRPr/>
            </a:pPr>
            <a:endParaRPr lang="en-US" sz="2400" b="1" dirty="0">
              <a:solidFill>
                <a:srgbClr val="0C0C0C"/>
              </a:solidFill>
            </a:endParaRPr>
          </a:p>
          <a:p>
            <a:pPr marL="342900" indent="-342900">
              <a:buFont typeface="Arial" panose="020B0604020202020204" pitchFamily="34" charset="0"/>
              <a:buChar char="•"/>
              <a:defRPr/>
            </a:pPr>
            <a:r>
              <a:rPr lang="en-US" sz="2400" b="1" dirty="0">
                <a:solidFill>
                  <a:srgbClr val="0C0C0C"/>
                </a:solidFill>
              </a:rPr>
              <a:t>Elimination of Unfair Competitive Advantage:</a:t>
            </a:r>
          </a:p>
          <a:p>
            <a:pPr marL="800100" lvl="1" indent="-342900">
              <a:buFont typeface="Arial" panose="020B0604020202020204" pitchFamily="34" charset="0"/>
              <a:buChar char="•"/>
              <a:defRPr/>
            </a:pPr>
            <a:r>
              <a:rPr lang="en-US" sz="2000" dirty="0">
                <a:solidFill>
                  <a:srgbClr val="0C0C0C"/>
                </a:solidFill>
              </a:rPr>
              <a:t>First-mover advantages(</a:t>
            </a:r>
            <a:r>
              <a:rPr lang="en-US" sz="2000" dirty="0"/>
              <a:t>those firms who were first to market in particular area and who moved quickly to gather market share)</a:t>
            </a:r>
          </a:p>
          <a:p>
            <a:pPr marL="800100" lvl="1" indent="-342900">
              <a:buFont typeface="Arial" panose="020B0604020202020204" pitchFamily="34" charset="0"/>
              <a:buChar char="•"/>
              <a:defRPr/>
            </a:pPr>
            <a:r>
              <a:rPr lang="en-US" sz="2000" dirty="0"/>
              <a:t>Brand Value </a:t>
            </a:r>
          </a:p>
        </p:txBody>
      </p:sp>
      <p:sp>
        <p:nvSpPr>
          <p:cNvPr id="2" name="Footer Placeholder 1">
            <a:extLst>
              <a:ext uri="{FF2B5EF4-FFF2-40B4-BE49-F238E27FC236}">
                <a16:creationId xmlns:a16="http://schemas.microsoft.com/office/drawing/2014/main" id="{2CE2411D-D411-785F-C748-4D4FA2AD7247}"/>
              </a:ext>
            </a:extLst>
          </p:cNvPr>
          <p:cNvSpPr>
            <a:spLocks noGrp="1"/>
          </p:cNvSpPr>
          <p:nvPr>
            <p:ph type="ftr" sz="quarter" idx="5"/>
          </p:nvPr>
        </p:nvSpPr>
        <p:spPr/>
        <p:txBody>
          <a:bodyPr/>
          <a:lstStyle/>
          <a:p>
            <a:pPr marL="12700">
              <a:lnSpc>
                <a:spcPct val="100000"/>
              </a:lnSpc>
              <a:spcBef>
                <a:spcPts val="105"/>
              </a:spcBef>
            </a:pPr>
            <a:endParaRPr lang="en-US" spc="-10" dirty="0"/>
          </a:p>
        </p:txBody>
      </p:sp>
    </p:spTree>
    <p:extLst>
      <p:ext uri="{BB962C8B-B14F-4D97-AF65-F5344CB8AC3E}">
        <p14:creationId xmlns:p14="http://schemas.microsoft.com/office/powerpoint/2010/main" val="35297195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5371"/>
            <a:ext cx="7744691" cy="1097279"/>
          </a:xfrm>
        </p:spPr>
        <p:txBody>
          <a:bodyPr/>
          <a:lstStyle/>
          <a:p>
            <a:r>
              <a:rPr lang="en-US" sz="3200" kern="1200" noProof="0" dirty="0">
                <a:cs typeface="Times New Roman" panose="02020603050405020304" pitchFamily="18" charset="0"/>
              </a:rPr>
              <a:t>Understanding E-commerce: Organizing Themes</a:t>
            </a:r>
            <a:endParaRPr lang="en-US" sz="3200" noProof="0" dirty="0"/>
          </a:p>
        </p:txBody>
      </p:sp>
      <p:sp>
        <p:nvSpPr>
          <p:cNvPr id="7" name="Content Placeholder 6"/>
          <p:cNvSpPr>
            <a:spLocks noGrp="1"/>
          </p:cNvSpPr>
          <p:nvPr>
            <p:ph sz="quarter" idx="13"/>
          </p:nvPr>
        </p:nvSpPr>
        <p:spPr/>
        <p:txBody>
          <a:bodyPr/>
          <a:lstStyle/>
          <a:p>
            <a:pPr marL="255651" lvl="0" indent="-255651">
              <a:spcAft>
                <a:spcPct val="0"/>
              </a:spcAft>
              <a:buSzPts val="2400"/>
              <a:tabLst/>
              <a:defRPr/>
            </a:pPr>
            <a:r>
              <a:rPr lang="en-US" kern="1200" noProof="0" dirty="0">
                <a:solidFill>
                  <a:srgbClr val="000000"/>
                </a:solidFill>
                <a:latin typeface="Arial" panose="020B0604020202020204" pitchFamily="34" charset="0"/>
              </a:rPr>
              <a:t>Technology</a:t>
            </a:r>
          </a:p>
          <a:p>
            <a:pPr marL="741553" lvl="1" indent="-284353">
              <a:spcAft>
                <a:spcPct val="0"/>
              </a:spcAft>
              <a:buSzPts val="2400"/>
              <a:defRPr/>
            </a:pPr>
            <a:r>
              <a:rPr lang="en-US" kern="1200" noProof="0" dirty="0">
                <a:solidFill>
                  <a:srgbClr val="000000"/>
                </a:solidFill>
                <a:latin typeface="Arial" panose="020B0604020202020204" pitchFamily="34" charset="0"/>
                <a:ea typeface="ＭＳ Ｐゴシック" charset="0"/>
              </a:rPr>
              <a:t>Development and mastery of digital computing and communications technology</a:t>
            </a:r>
          </a:p>
          <a:p>
            <a:pPr marL="255651" lvl="0" indent="-255651">
              <a:spcAft>
                <a:spcPct val="0"/>
              </a:spcAft>
              <a:buSzPts val="2400"/>
              <a:tabLst/>
              <a:defRPr/>
            </a:pPr>
            <a:r>
              <a:rPr lang="en-US" kern="1200" noProof="0" dirty="0">
                <a:solidFill>
                  <a:srgbClr val="000000"/>
                </a:solidFill>
                <a:latin typeface="Arial" panose="020B0604020202020204" pitchFamily="34" charset="0"/>
              </a:rPr>
              <a:t>Business</a:t>
            </a:r>
          </a:p>
          <a:p>
            <a:pPr marL="741553" lvl="1" indent="-284353">
              <a:spcAft>
                <a:spcPct val="0"/>
              </a:spcAft>
              <a:buSzPts val="2400"/>
              <a:defRPr/>
            </a:pPr>
            <a:r>
              <a:rPr lang="en-US" kern="1200" noProof="0" dirty="0">
                <a:solidFill>
                  <a:srgbClr val="000000"/>
                </a:solidFill>
                <a:latin typeface="Arial" panose="020B0604020202020204" pitchFamily="34" charset="0"/>
                <a:ea typeface="ＭＳ Ｐゴシック" charset="0"/>
              </a:rPr>
              <a:t>New technologies present businesses with new ways of organizing production and transacting business</a:t>
            </a:r>
          </a:p>
          <a:p>
            <a:pPr marL="255651" lvl="0" indent="-255651">
              <a:spcAft>
                <a:spcPct val="0"/>
              </a:spcAft>
              <a:buSzPts val="2400"/>
              <a:tabLst/>
              <a:defRPr/>
            </a:pPr>
            <a:r>
              <a:rPr lang="en-US" kern="1200" noProof="0" dirty="0">
                <a:solidFill>
                  <a:srgbClr val="000000"/>
                </a:solidFill>
                <a:latin typeface="Arial" panose="020B0604020202020204" pitchFamily="34" charset="0"/>
              </a:rPr>
              <a:t>Society</a:t>
            </a:r>
          </a:p>
          <a:p>
            <a:pPr marL="741553" lvl="1" indent="-284353">
              <a:spcAft>
                <a:spcPct val="0"/>
              </a:spcAft>
              <a:buSzPts val="2400"/>
              <a:defRPr/>
            </a:pPr>
            <a:r>
              <a:rPr lang="en-US" kern="1200" noProof="0" dirty="0">
                <a:solidFill>
                  <a:srgbClr val="000000"/>
                </a:solidFill>
                <a:latin typeface="Arial" panose="020B0604020202020204" pitchFamily="34" charset="0"/>
                <a:ea typeface="ＭＳ Ｐゴシック" charset="0"/>
              </a:rPr>
              <a:t>Intellectual property, individual privacy, public welfare policy</a:t>
            </a:r>
          </a:p>
        </p:txBody>
      </p:sp>
    </p:spTree>
    <p:extLst>
      <p:ext uri="{BB962C8B-B14F-4D97-AF65-F5344CB8AC3E}">
        <p14:creationId xmlns:p14="http://schemas.microsoft.com/office/powerpoint/2010/main" val="11677278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200" kern="1200" noProof="0" dirty="0">
                <a:cs typeface="Times New Roman" panose="02020603050405020304" pitchFamily="18" charset="0"/>
              </a:rPr>
              <a:t>Insight on Society: Facebook and the Age of Privacy</a:t>
            </a:r>
            <a:endParaRPr lang="en-US" sz="3200" noProof="0" dirty="0"/>
          </a:p>
        </p:txBody>
      </p:sp>
      <p:sp>
        <p:nvSpPr>
          <p:cNvPr id="7" name="Content Placeholder 6"/>
          <p:cNvSpPr>
            <a:spLocks noGrp="1"/>
          </p:cNvSpPr>
          <p:nvPr>
            <p:ph sz="quarter" idx="13"/>
          </p:nvPr>
        </p:nvSpPr>
        <p:spPr/>
        <p:txBody>
          <a:bodyPr/>
          <a:lstStyle/>
          <a:p>
            <a:pPr marL="255651" lvl="0" indent="-255651">
              <a:spcAft>
                <a:spcPct val="0"/>
              </a:spcAft>
              <a:buSzPts val="2400"/>
              <a:tabLst/>
            </a:pPr>
            <a:r>
              <a:rPr lang="en-US" kern="1200" noProof="0" dirty="0">
                <a:solidFill>
                  <a:srgbClr val="000000"/>
                </a:solidFill>
                <a:latin typeface="Arial" panose="020B0604020202020204" pitchFamily="34" charset="0"/>
              </a:rPr>
              <a:t>Class Discussion</a:t>
            </a:r>
          </a:p>
          <a:p>
            <a:pPr marL="741553" lvl="1" indent="-284353">
              <a:spcAft>
                <a:spcPct val="0"/>
              </a:spcAft>
              <a:buSzPts val="2400"/>
            </a:pPr>
            <a:r>
              <a:rPr lang="en-US" altLang="en-US" kern="1200" noProof="0" dirty="0">
                <a:solidFill>
                  <a:srgbClr val="000000"/>
                </a:solidFill>
                <a:latin typeface="Arial" panose="020B0604020202020204" pitchFamily="34" charset="0"/>
              </a:rPr>
              <a:t>Why are social networks interested in collecting user information?</a:t>
            </a:r>
          </a:p>
          <a:p>
            <a:pPr marL="741553" lvl="1" indent="-284353">
              <a:spcAft>
                <a:spcPct val="0"/>
              </a:spcAft>
              <a:buSzPts val="2400"/>
            </a:pPr>
            <a:r>
              <a:rPr lang="en-US" altLang="en-US" kern="1200" noProof="0" dirty="0">
                <a:solidFill>
                  <a:srgbClr val="000000"/>
                </a:solidFill>
                <a:latin typeface="Arial" panose="020B0604020202020204" pitchFamily="34" charset="0"/>
              </a:rPr>
              <a:t>What types of privacy invasion are described in the case? Which is the most privacy-invading, and why?</a:t>
            </a:r>
          </a:p>
          <a:p>
            <a:pPr marL="741553" lvl="1" indent="-284353">
              <a:spcAft>
                <a:spcPct val="0"/>
              </a:spcAft>
              <a:buSzPts val="2400"/>
            </a:pPr>
            <a:r>
              <a:rPr lang="en-US" altLang="en-US" kern="1200" noProof="0" dirty="0">
                <a:solidFill>
                  <a:srgbClr val="000000"/>
                </a:solidFill>
                <a:latin typeface="Arial" panose="020B0604020202020204" pitchFamily="34" charset="0"/>
              </a:rPr>
              <a:t>Was the Federal Trade Commission’s $5 billion fine and its placement of restrictions on Facebook’s business operations sufficient in light of Facebook’s history with respect to privacy violations</a:t>
            </a:r>
            <a:r>
              <a:rPr lang="en-US" altLang="ja-JP" kern="1200" noProof="0" dirty="0">
                <a:solidFill>
                  <a:srgbClr val="000000"/>
                </a:solidFill>
                <a:latin typeface="Arial" panose="020B0604020202020204" pitchFamily="34" charset="0"/>
              </a:rPr>
              <a:t>?</a:t>
            </a:r>
          </a:p>
          <a:p>
            <a:pPr marL="741553" lvl="1" indent="-284353">
              <a:spcAft>
                <a:spcPct val="0"/>
              </a:spcAft>
              <a:buSzPts val="2400"/>
            </a:pPr>
            <a:r>
              <a:rPr lang="en-US" altLang="en-US" kern="1200" noProof="0" dirty="0">
                <a:solidFill>
                  <a:srgbClr val="000000"/>
                </a:solidFill>
                <a:latin typeface="Arial" panose="020B0604020202020204" pitchFamily="34" charset="0"/>
              </a:rPr>
              <a:t>How do you protect your privacy online?</a:t>
            </a:r>
            <a:endParaRPr lang="en-US" kern="1200" noProof="0" dirty="0">
              <a:solidFill>
                <a:srgbClr val="000000"/>
              </a:solidFill>
              <a:latin typeface="Arial" panose="020B0604020202020204" pitchFamily="34" charset="0"/>
            </a:endParaRPr>
          </a:p>
        </p:txBody>
      </p:sp>
    </p:spTree>
    <p:extLst>
      <p:ext uri="{BB962C8B-B14F-4D97-AF65-F5344CB8AC3E}">
        <p14:creationId xmlns:p14="http://schemas.microsoft.com/office/powerpoint/2010/main" val="30326336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kern="1200" noProof="0" dirty="0">
                <a:cs typeface="Times New Roman" panose="02020603050405020304" pitchFamily="18" charset="0"/>
              </a:rPr>
              <a:t>Careers in E-commerce</a:t>
            </a:r>
            <a:endParaRPr lang="en-US" noProof="0" dirty="0"/>
          </a:p>
        </p:txBody>
      </p:sp>
      <p:sp>
        <p:nvSpPr>
          <p:cNvPr id="7" name="Content Placeholder 6"/>
          <p:cNvSpPr>
            <a:spLocks noGrp="1"/>
          </p:cNvSpPr>
          <p:nvPr>
            <p:ph sz="quarter" idx="13"/>
          </p:nvPr>
        </p:nvSpPr>
        <p:spPr/>
        <p:txBody>
          <a:bodyPr/>
          <a:lstStyle/>
          <a:p>
            <a:pPr marL="255651" lvl="0" indent="-255651">
              <a:spcAft>
                <a:spcPct val="0"/>
              </a:spcAft>
              <a:buSzPts val="2400"/>
              <a:tabLst/>
            </a:pPr>
            <a:r>
              <a:rPr lang="en-US" kern="1200" noProof="0" dirty="0">
                <a:solidFill>
                  <a:srgbClr val="000000"/>
                </a:solidFill>
                <a:latin typeface="Arial" panose="020B0604020202020204" pitchFamily="34" charset="0"/>
              </a:rPr>
              <a:t>Position: Category Specialist in the E-commerce Retail Program</a:t>
            </a:r>
          </a:p>
          <a:p>
            <a:pPr marL="255651" lvl="0" indent="-255651">
              <a:spcAft>
                <a:spcPct val="0"/>
              </a:spcAft>
              <a:buSzPts val="2400"/>
              <a:tabLst/>
            </a:pPr>
            <a:r>
              <a:rPr lang="en-US" kern="1200" noProof="0" dirty="0">
                <a:solidFill>
                  <a:srgbClr val="000000"/>
                </a:solidFill>
                <a:latin typeface="Arial" panose="020B0604020202020204" pitchFamily="34" charset="0"/>
              </a:rPr>
              <a:t>Qualification/Skills</a:t>
            </a:r>
          </a:p>
          <a:p>
            <a:pPr marL="255651" lvl="0" indent="-255651">
              <a:spcAft>
                <a:spcPct val="0"/>
              </a:spcAft>
              <a:buSzPts val="2400"/>
              <a:tabLst/>
            </a:pPr>
            <a:r>
              <a:rPr lang="en-US" kern="1200" noProof="0" dirty="0">
                <a:solidFill>
                  <a:srgbClr val="000000"/>
                </a:solidFill>
                <a:latin typeface="Arial" panose="020B0604020202020204" pitchFamily="34" charset="0"/>
              </a:rPr>
              <a:t>Preparing for the Interview</a:t>
            </a:r>
          </a:p>
          <a:p>
            <a:pPr marL="255651" lvl="0" indent="-255651">
              <a:spcAft>
                <a:spcPct val="0"/>
              </a:spcAft>
              <a:buSzPts val="2400"/>
              <a:tabLst/>
            </a:pPr>
            <a:r>
              <a:rPr lang="en-US" kern="1200" noProof="0" dirty="0">
                <a:solidFill>
                  <a:srgbClr val="000000"/>
                </a:solidFill>
                <a:latin typeface="Arial" panose="020B0604020202020204" pitchFamily="34" charset="0"/>
              </a:rPr>
              <a:t>Possible Interview Questions</a:t>
            </a:r>
          </a:p>
        </p:txBody>
      </p:sp>
    </p:spTree>
    <p:extLst>
      <p:ext uri="{BB962C8B-B14F-4D97-AF65-F5344CB8AC3E}">
        <p14:creationId xmlns:p14="http://schemas.microsoft.com/office/powerpoint/2010/main" val="5706106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58500-B1DC-8455-807B-8329B2C7E440}"/>
              </a:ext>
            </a:extLst>
          </p:cNvPr>
          <p:cNvSpPr>
            <a:spLocks noGrp="1"/>
          </p:cNvSpPr>
          <p:nvPr>
            <p:ph type="title"/>
          </p:nvPr>
        </p:nvSpPr>
        <p:spPr>
          <a:xfrm>
            <a:off x="124714" y="324739"/>
            <a:ext cx="8894571" cy="523220"/>
          </a:xfrm>
        </p:spPr>
        <p:txBody>
          <a:bodyPr/>
          <a:lstStyle/>
          <a:p>
            <a:pPr algn="ctr"/>
            <a:r>
              <a:rPr lang="en-US"/>
              <a:t>Agency roles vs. In-house roles</a:t>
            </a:r>
          </a:p>
        </p:txBody>
      </p:sp>
      <p:sp>
        <p:nvSpPr>
          <p:cNvPr id="3" name="Text Placeholder 2">
            <a:extLst>
              <a:ext uri="{FF2B5EF4-FFF2-40B4-BE49-F238E27FC236}">
                <a16:creationId xmlns:a16="http://schemas.microsoft.com/office/drawing/2014/main" id="{498ECA59-3465-9402-0891-BC4BEDC55AB8}"/>
              </a:ext>
            </a:extLst>
          </p:cNvPr>
          <p:cNvSpPr>
            <a:spLocks noGrp="1"/>
          </p:cNvSpPr>
          <p:nvPr>
            <p:ph type="body" idx="1"/>
          </p:nvPr>
        </p:nvSpPr>
        <p:spPr>
          <a:xfrm>
            <a:off x="296091" y="1038619"/>
            <a:ext cx="8415845" cy="738664"/>
          </a:xfrm>
        </p:spPr>
        <p:txBody>
          <a:bodyPr/>
          <a:lstStyle/>
          <a:p>
            <a:pPr algn="l"/>
            <a:r>
              <a:rPr lang="en-US" sz="2400">
                <a:solidFill>
                  <a:srgbClr val="333333"/>
                </a:solidFill>
                <a:latin typeface="+mj-lt"/>
              </a:rPr>
              <a:t>L</a:t>
            </a:r>
            <a:r>
              <a:rPr lang="en-US" sz="2400" b="0" i="0">
                <a:solidFill>
                  <a:srgbClr val="333333"/>
                </a:solidFill>
                <a:effectLst/>
                <a:latin typeface="+mj-lt"/>
              </a:rPr>
              <a:t>et's explore two of the main  paths you can pursue in your career, in-house and agency positions. </a:t>
            </a:r>
            <a:endParaRPr lang="en-US" sz="2400">
              <a:latin typeface="+mj-lt"/>
            </a:endParaRPr>
          </a:p>
        </p:txBody>
      </p:sp>
      <p:sp>
        <p:nvSpPr>
          <p:cNvPr id="6" name="TextBox 5">
            <a:extLst>
              <a:ext uri="{FF2B5EF4-FFF2-40B4-BE49-F238E27FC236}">
                <a16:creationId xmlns:a16="http://schemas.microsoft.com/office/drawing/2014/main" id="{A0C40992-41E0-4A90-8150-768D0DBD061A}"/>
              </a:ext>
            </a:extLst>
          </p:cNvPr>
          <p:cNvSpPr txBox="1"/>
          <p:nvPr/>
        </p:nvSpPr>
        <p:spPr>
          <a:xfrm>
            <a:off x="300128" y="1937761"/>
            <a:ext cx="8539072" cy="1569660"/>
          </a:xfrm>
          <a:prstGeom prst="rect">
            <a:avLst/>
          </a:prstGeom>
          <a:noFill/>
        </p:spPr>
        <p:txBody>
          <a:bodyPr wrap="square">
            <a:spAutoFit/>
          </a:bodyPr>
          <a:lstStyle/>
          <a:p>
            <a:pPr algn="just"/>
            <a:r>
              <a:rPr lang="en-US" sz="2400" b="1"/>
              <a:t>In-house roles:</a:t>
            </a:r>
            <a:r>
              <a:rPr lang="en-US" sz="2000" b="1"/>
              <a:t> </a:t>
            </a:r>
            <a:r>
              <a:rPr lang="en-US" sz="2000" b="0" i="0">
                <a:solidFill>
                  <a:srgbClr val="333333"/>
                </a:solidFill>
                <a:effectLst/>
                <a:latin typeface="OpenSans"/>
              </a:rPr>
              <a:t> </a:t>
            </a:r>
            <a:r>
              <a:rPr lang="en-US" sz="2400" b="0" i="0">
                <a:solidFill>
                  <a:srgbClr val="333333"/>
                </a:solidFill>
                <a:effectLst/>
                <a:latin typeface="OpenSans"/>
              </a:rPr>
              <a:t>Work for a single company to market and sell their products.</a:t>
            </a:r>
          </a:p>
          <a:p>
            <a:pPr marL="800100" lvl="1" indent="-342900" algn="just">
              <a:buFont typeface="Arial" panose="020B0604020202020204" pitchFamily="34" charset="0"/>
              <a:buChar char="•"/>
            </a:pPr>
            <a:r>
              <a:rPr lang="en-US" sz="2400">
                <a:solidFill>
                  <a:srgbClr val="333333"/>
                </a:solidFill>
                <a:latin typeface="OpenSans"/>
              </a:rPr>
              <a:t>G</a:t>
            </a:r>
            <a:r>
              <a:rPr lang="en-US" sz="2400" b="0" i="0">
                <a:solidFill>
                  <a:srgbClr val="333333"/>
                </a:solidFill>
                <a:effectLst/>
                <a:latin typeface="OpenSans"/>
              </a:rPr>
              <a:t>et to know one company and its products extremely well. </a:t>
            </a:r>
          </a:p>
          <a:p>
            <a:pPr marL="800100" lvl="1" indent="-342900" algn="just">
              <a:buFont typeface="Arial" panose="020B0604020202020204" pitchFamily="34" charset="0"/>
              <a:buChar char="•"/>
            </a:pPr>
            <a:r>
              <a:rPr lang="en-US" sz="2400">
                <a:solidFill>
                  <a:srgbClr val="333333"/>
                </a:solidFill>
                <a:latin typeface="OpenSans"/>
              </a:rPr>
              <a:t>G</a:t>
            </a:r>
            <a:r>
              <a:rPr lang="en-US" sz="2400" b="0" i="0">
                <a:solidFill>
                  <a:srgbClr val="333333"/>
                </a:solidFill>
                <a:effectLst/>
                <a:latin typeface="OpenSans"/>
              </a:rPr>
              <a:t>ain deep knowledge and expertise in a specific industry.</a:t>
            </a:r>
            <a:endParaRPr lang="en-US" b="1"/>
          </a:p>
        </p:txBody>
      </p:sp>
      <p:sp>
        <p:nvSpPr>
          <p:cNvPr id="8" name="TextBox 7">
            <a:extLst>
              <a:ext uri="{FF2B5EF4-FFF2-40B4-BE49-F238E27FC236}">
                <a16:creationId xmlns:a16="http://schemas.microsoft.com/office/drawing/2014/main" id="{C8F3D61C-D1CD-258D-C22B-7F9016C37BE9}"/>
              </a:ext>
            </a:extLst>
          </p:cNvPr>
          <p:cNvSpPr txBox="1"/>
          <p:nvPr/>
        </p:nvSpPr>
        <p:spPr>
          <a:xfrm>
            <a:off x="298268" y="3535802"/>
            <a:ext cx="8413668" cy="2985433"/>
          </a:xfrm>
          <a:prstGeom prst="rect">
            <a:avLst/>
          </a:prstGeom>
          <a:noFill/>
        </p:spPr>
        <p:txBody>
          <a:bodyPr wrap="square">
            <a:spAutoFit/>
          </a:bodyPr>
          <a:lstStyle/>
          <a:p>
            <a:pPr algn="just"/>
            <a:r>
              <a:rPr lang="en-US" sz="2400" b="1" i="0">
                <a:solidFill>
                  <a:srgbClr val="333333"/>
                </a:solidFill>
                <a:effectLst/>
                <a:latin typeface="+mj-lt"/>
              </a:rPr>
              <a:t>Agency roles:</a:t>
            </a:r>
            <a:r>
              <a:rPr lang="en-US" sz="2400" b="0" i="0">
                <a:solidFill>
                  <a:srgbClr val="333333"/>
                </a:solidFill>
                <a:effectLst/>
                <a:latin typeface="+mj-lt"/>
              </a:rPr>
              <a:t> Agencies partner with companies that don't have in house marketing teams to fill their digital marketing and advertising needs. </a:t>
            </a:r>
          </a:p>
          <a:p>
            <a:pPr marL="742950" lvl="1" indent="-285750" algn="just">
              <a:buFont typeface="Arial" panose="020B0604020202020204" pitchFamily="34" charset="0"/>
              <a:buChar char="•"/>
            </a:pPr>
            <a:r>
              <a:rPr lang="en-US" sz="2400" b="0" i="0">
                <a:solidFill>
                  <a:srgbClr val="1F1F1F"/>
                </a:solidFill>
                <a:effectLst/>
                <a:latin typeface="+mj-lt"/>
              </a:rPr>
              <a:t>Collaborate on a variety of initiatives and multiple industries.</a:t>
            </a:r>
          </a:p>
          <a:p>
            <a:pPr marL="742950" lvl="1" indent="-285750" algn="just">
              <a:buFont typeface="Arial" panose="020B0604020202020204" pitchFamily="34" charset="0"/>
              <a:buChar char="•"/>
            </a:pPr>
            <a:r>
              <a:rPr lang="en-US" sz="2400">
                <a:solidFill>
                  <a:srgbClr val="333333"/>
                </a:solidFill>
                <a:latin typeface="+mj-lt"/>
              </a:rPr>
              <a:t>D</a:t>
            </a:r>
            <a:r>
              <a:rPr lang="en-US" sz="2400" b="0" i="0">
                <a:solidFill>
                  <a:srgbClr val="333333"/>
                </a:solidFill>
                <a:effectLst/>
                <a:latin typeface="+mj-lt"/>
              </a:rPr>
              <a:t>evelop a broad and flexible expertise </a:t>
            </a:r>
          </a:p>
          <a:p>
            <a:pPr marL="742950" lvl="1" indent="-285750" algn="just">
              <a:buFont typeface="Arial" panose="020B0604020202020204" pitchFamily="34" charset="0"/>
              <a:buChar char="•"/>
            </a:pPr>
            <a:r>
              <a:rPr lang="en-US" sz="2400">
                <a:solidFill>
                  <a:srgbClr val="1F1F1F"/>
                </a:solidFill>
                <a:latin typeface="+mj-lt"/>
              </a:rPr>
              <a:t>G</a:t>
            </a:r>
            <a:r>
              <a:rPr lang="en-US" sz="2400" b="0" i="0">
                <a:solidFill>
                  <a:srgbClr val="1F1F1F"/>
                </a:solidFill>
                <a:effectLst/>
                <a:latin typeface="+mj-lt"/>
              </a:rPr>
              <a:t>et to know certain skill sets very well.</a:t>
            </a:r>
            <a:endParaRPr lang="en-US" sz="2400" b="0" i="0">
              <a:solidFill>
                <a:srgbClr val="333333"/>
              </a:solidFill>
              <a:effectLst/>
              <a:latin typeface="+mj-lt"/>
            </a:endParaRPr>
          </a:p>
          <a:p>
            <a:pPr marL="742950" lvl="1" indent="-285750">
              <a:buFont typeface="Arial" panose="020B0604020202020204" pitchFamily="34" charset="0"/>
              <a:buChar char="•"/>
            </a:pPr>
            <a:endParaRPr lang="en-US" sz="2000" b="0" i="0">
              <a:solidFill>
                <a:srgbClr val="333333"/>
              </a:solidFill>
              <a:effectLst/>
              <a:latin typeface="OpenSans"/>
            </a:endParaRPr>
          </a:p>
        </p:txBody>
      </p:sp>
    </p:spTree>
    <p:extLst>
      <p:ext uri="{BB962C8B-B14F-4D97-AF65-F5344CB8AC3E}">
        <p14:creationId xmlns:p14="http://schemas.microsoft.com/office/powerpoint/2010/main" val="25094538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B711D-AA5E-40F6-CBE1-FB3CF124B880}"/>
              </a:ext>
            </a:extLst>
          </p:cNvPr>
          <p:cNvSpPr>
            <a:spLocks noGrp="1"/>
          </p:cNvSpPr>
          <p:nvPr>
            <p:ph type="title"/>
          </p:nvPr>
        </p:nvSpPr>
        <p:spPr>
          <a:xfrm>
            <a:off x="124714" y="113919"/>
            <a:ext cx="8894571" cy="1107996"/>
          </a:xfrm>
        </p:spPr>
        <p:txBody>
          <a:bodyPr/>
          <a:lstStyle/>
          <a:p>
            <a:pPr algn="ctr"/>
            <a:r>
              <a:rPr lang="en-US" sz="3600">
                <a:latin typeface="Arial MT"/>
                <a:cs typeface="Arial MT"/>
              </a:rPr>
              <a:t>Roles and responsibilities in digital marketing and e-commerce</a:t>
            </a:r>
            <a:endParaRPr lang="en-US"/>
          </a:p>
        </p:txBody>
      </p:sp>
      <p:sp>
        <p:nvSpPr>
          <p:cNvPr id="6" name="TextBox 5">
            <a:extLst>
              <a:ext uri="{FF2B5EF4-FFF2-40B4-BE49-F238E27FC236}">
                <a16:creationId xmlns:a16="http://schemas.microsoft.com/office/drawing/2014/main" id="{193B8DBD-387B-9E94-23CF-4EEB76A83152}"/>
              </a:ext>
            </a:extLst>
          </p:cNvPr>
          <p:cNvSpPr txBox="1"/>
          <p:nvPr/>
        </p:nvSpPr>
        <p:spPr>
          <a:xfrm>
            <a:off x="779417" y="1331965"/>
            <a:ext cx="5486400" cy="461665"/>
          </a:xfrm>
          <a:prstGeom prst="rect">
            <a:avLst/>
          </a:prstGeom>
          <a:noFill/>
        </p:spPr>
        <p:txBody>
          <a:bodyPr wrap="square">
            <a:spAutoFit/>
          </a:bodyPr>
          <a:lstStyle/>
          <a:p>
            <a:pPr algn="l"/>
            <a:r>
              <a:rPr lang="en-US" sz="2400" b="1" i="0">
                <a:solidFill>
                  <a:srgbClr val="1F1F1F"/>
                </a:solidFill>
                <a:effectLst/>
                <a:latin typeface="var(--cds-font-family-source-sans-pro)"/>
              </a:rPr>
              <a:t>Associate-level roles in digital marketing</a:t>
            </a:r>
          </a:p>
        </p:txBody>
      </p:sp>
      <p:sp>
        <p:nvSpPr>
          <p:cNvPr id="9" name="TextBox 8">
            <a:extLst>
              <a:ext uri="{FF2B5EF4-FFF2-40B4-BE49-F238E27FC236}">
                <a16:creationId xmlns:a16="http://schemas.microsoft.com/office/drawing/2014/main" id="{23F5695F-7E02-FC65-696D-1F72DF742886}"/>
              </a:ext>
            </a:extLst>
          </p:cNvPr>
          <p:cNvSpPr txBox="1"/>
          <p:nvPr/>
        </p:nvSpPr>
        <p:spPr>
          <a:xfrm>
            <a:off x="762000" y="1740790"/>
            <a:ext cx="6096000" cy="2215991"/>
          </a:xfrm>
          <a:prstGeom prst="rect">
            <a:avLst/>
          </a:prstGeom>
          <a:noFill/>
        </p:spPr>
        <p:txBody>
          <a:bodyPr wrap="square">
            <a:spAutoFit/>
          </a:bodyPr>
          <a:lstStyle/>
          <a:p>
            <a:pPr marL="1200150" lvl="2" indent="-285750">
              <a:buFont typeface="Arial" panose="020B0604020202020204" pitchFamily="34" charset="0"/>
              <a:buChar char="•"/>
            </a:pPr>
            <a:r>
              <a:rPr lang="en-US" sz="2000" i="0">
                <a:solidFill>
                  <a:srgbClr val="1F1F1F"/>
                </a:solidFill>
                <a:effectLst/>
                <a:latin typeface="Source Sans Pro" panose="020B0503030403020204" pitchFamily="34" charset="0"/>
              </a:rPr>
              <a:t>Digital marketing coordinator*</a:t>
            </a:r>
          </a:p>
          <a:p>
            <a:pPr marL="1200150" lvl="2" indent="-285750">
              <a:buFont typeface="Arial" panose="020B0604020202020204" pitchFamily="34" charset="0"/>
              <a:buChar char="•"/>
            </a:pPr>
            <a:r>
              <a:rPr lang="en-US" sz="2000" i="0">
                <a:solidFill>
                  <a:srgbClr val="1F1F1F"/>
                </a:solidFill>
                <a:effectLst/>
                <a:latin typeface="Source Sans Pro" panose="020B0503030403020204" pitchFamily="34" charset="0"/>
              </a:rPr>
              <a:t>Marketing associate</a:t>
            </a:r>
            <a:endParaRPr lang="en-US" sz="2000">
              <a:solidFill>
                <a:srgbClr val="1F1F1F"/>
              </a:solidFill>
              <a:latin typeface="Source Sans Pro" panose="020B0503030403020204" pitchFamily="34" charset="0"/>
            </a:endParaRPr>
          </a:p>
          <a:p>
            <a:pPr marL="1200150" lvl="2" indent="-285750">
              <a:buFont typeface="Arial" panose="020B0604020202020204" pitchFamily="34" charset="0"/>
              <a:buChar char="•"/>
            </a:pPr>
            <a:r>
              <a:rPr lang="en-US" sz="2000" i="0">
                <a:solidFill>
                  <a:srgbClr val="1F1F1F"/>
                </a:solidFill>
                <a:effectLst/>
                <a:latin typeface="Source Sans Pro" panose="020B0503030403020204" pitchFamily="34" charset="0"/>
              </a:rPr>
              <a:t>Search Engine Optimization (SEO) specialist</a:t>
            </a:r>
          </a:p>
          <a:p>
            <a:pPr marL="1200150" lvl="2" indent="-285750">
              <a:buFont typeface="Arial" panose="020B0604020202020204" pitchFamily="34" charset="0"/>
              <a:buChar char="•"/>
            </a:pPr>
            <a:r>
              <a:rPr lang="en-US" sz="2000" i="0">
                <a:solidFill>
                  <a:srgbClr val="1F1F1F"/>
                </a:solidFill>
                <a:effectLst/>
                <a:latin typeface="Source Sans Pro" panose="020B0503030403020204" pitchFamily="34" charset="0"/>
              </a:rPr>
              <a:t>Search Engine Marketing (SEM) specialist</a:t>
            </a:r>
            <a:endParaRPr lang="en-US" sz="2000">
              <a:solidFill>
                <a:srgbClr val="1F1F1F"/>
              </a:solidFill>
              <a:latin typeface="Source Sans Pro" panose="020B0503030403020204" pitchFamily="34" charset="0"/>
            </a:endParaRPr>
          </a:p>
          <a:p>
            <a:pPr marL="1200150" lvl="2" indent="-285750">
              <a:buFont typeface="Arial" panose="020B0604020202020204" pitchFamily="34" charset="0"/>
              <a:buChar char="•"/>
            </a:pPr>
            <a:r>
              <a:rPr lang="en-US" sz="2000" i="0">
                <a:solidFill>
                  <a:srgbClr val="1F1F1F"/>
                </a:solidFill>
                <a:effectLst/>
                <a:latin typeface="Source Sans Pro" panose="020B0503030403020204" pitchFamily="34" charset="0"/>
              </a:rPr>
              <a:t>Social media specialist</a:t>
            </a:r>
          </a:p>
          <a:p>
            <a:pPr marL="1200150" lvl="2" indent="-285750">
              <a:buFont typeface="Arial" panose="020B0604020202020204" pitchFamily="34" charset="0"/>
              <a:buChar char="•"/>
            </a:pPr>
            <a:r>
              <a:rPr lang="en-US" sz="2000" i="0">
                <a:solidFill>
                  <a:srgbClr val="1F1F1F"/>
                </a:solidFill>
                <a:effectLst/>
                <a:latin typeface="Source Sans Pro" panose="020B0503030403020204" pitchFamily="34" charset="0"/>
              </a:rPr>
              <a:t>Email marketing specialist</a:t>
            </a:r>
          </a:p>
          <a:p>
            <a:pPr marL="285750" indent="-285750">
              <a:buFont typeface="Arial" panose="020B0604020202020204" pitchFamily="34" charset="0"/>
              <a:buChar char="•"/>
            </a:pPr>
            <a:endParaRPr lang="en-US"/>
          </a:p>
        </p:txBody>
      </p:sp>
      <p:sp>
        <p:nvSpPr>
          <p:cNvPr id="13" name="TextBox 12">
            <a:extLst>
              <a:ext uri="{FF2B5EF4-FFF2-40B4-BE49-F238E27FC236}">
                <a16:creationId xmlns:a16="http://schemas.microsoft.com/office/drawing/2014/main" id="{A2950641-6C72-AA40-2BCC-A7CE4A53406F}"/>
              </a:ext>
            </a:extLst>
          </p:cNvPr>
          <p:cNvSpPr txBox="1"/>
          <p:nvPr/>
        </p:nvSpPr>
        <p:spPr>
          <a:xfrm>
            <a:off x="801188" y="3610532"/>
            <a:ext cx="5181600" cy="461665"/>
          </a:xfrm>
          <a:prstGeom prst="rect">
            <a:avLst/>
          </a:prstGeom>
          <a:noFill/>
        </p:spPr>
        <p:txBody>
          <a:bodyPr wrap="square">
            <a:spAutoFit/>
          </a:bodyPr>
          <a:lstStyle/>
          <a:p>
            <a:pPr algn="l"/>
            <a:r>
              <a:rPr lang="en-US" sz="2400" b="1" i="0">
                <a:solidFill>
                  <a:srgbClr val="1F1F1F"/>
                </a:solidFill>
                <a:effectLst/>
                <a:latin typeface="var(--cds-font-family-source-sans-pro)"/>
              </a:rPr>
              <a:t>Associate-level roles in e-commerce</a:t>
            </a:r>
          </a:p>
        </p:txBody>
      </p:sp>
      <p:sp>
        <p:nvSpPr>
          <p:cNvPr id="15" name="TextBox 14">
            <a:extLst>
              <a:ext uri="{FF2B5EF4-FFF2-40B4-BE49-F238E27FC236}">
                <a16:creationId xmlns:a16="http://schemas.microsoft.com/office/drawing/2014/main" id="{67029D8E-8870-E9D0-EF7F-756D0A4E5873}"/>
              </a:ext>
            </a:extLst>
          </p:cNvPr>
          <p:cNvSpPr txBox="1"/>
          <p:nvPr/>
        </p:nvSpPr>
        <p:spPr>
          <a:xfrm>
            <a:off x="779417" y="4000263"/>
            <a:ext cx="4572000" cy="707886"/>
          </a:xfrm>
          <a:prstGeom prst="rect">
            <a:avLst/>
          </a:prstGeom>
          <a:noFill/>
        </p:spPr>
        <p:txBody>
          <a:bodyPr wrap="square">
            <a:spAutoFit/>
          </a:bodyPr>
          <a:lstStyle/>
          <a:p>
            <a:pPr marL="1200150" lvl="2" indent="-285750">
              <a:buFont typeface="Arial" panose="020B0604020202020204" pitchFamily="34" charset="0"/>
              <a:buChar char="•"/>
            </a:pPr>
            <a:r>
              <a:rPr lang="en-US" sz="2000" i="0">
                <a:solidFill>
                  <a:srgbClr val="1F1F1F"/>
                </a:solidFill>
                <a:effectLst/>
                <a:latin typeface="Source Sans Pro" panose="020B0503030403020204" pitchFamily="34" charset="0"/>
              </a:rPr>
              <a:t>E-commerce analyst*</a:t>
            </a:r>
          </a:p>
          <a:p>
            <a:pPr marL="1200150" lvl="2" indent="-285750">
              <a:buFont typeface="Arial" panose="020B0604020202020204" pitchFamily="34" charset="0"/>
              <a:buChar char="•"/>
            </a:pPr>
            <a:r>
              <a:rPr lang="en-US" sz="2000" i="0">
                <a:solidFill>
                  <a:srgbClr val="1F1F1F"/>
                </a:solidFill>
                <a:effectLst/>
                <a:latin typeface="Source Sans Pro" panose="020B0503030403020204" pitchFamily="34" charset="0"/>
              </a:rPr>
              <a:t>E-commerce specialist</a:t>
            </a:r>
            <a:endParaRPr lang="en-US" sz="2000"/>
          </a:p>
        </p:txBody>
      </p:sp>
      <p:sp>
        <p:nvSpPr>
          <p:cNvPr id="17" name="TextBox 16">
            <a:extLst>
              <a:ext uri="{FF2B5EF4-FFF2-40B4-BE49-F238E27FC236}">
                <a16:creationId xmlns:a16="http://schemas.microsoft.com/office/drawing/2014/main" id="{77CC021B-1615-9312-CC49-46231BF2ABF0}"/>
              </a:ext>
            </a:extLst>
          </p:cNvPr>
          <p:cNvSpPr txBox="1"/>
          <p:nvPr/>
        </p:nvSpPr>
        <p:spPr>
          <a:xfrm>
            <a:off x="762000" y="4646594"/>
            <a:ext cx="4572000" cy="461665"/>
          </a:xfrm>
          <a:prstGeom prst="rect">
            <a:avLst/>
          </a:prstGeom>
          <a:noFill/>
        </p:spPr>
        <p:txBody>
          <a:bodyPr wrap="square">
            <a:spAutoFit/>
          </a:bodyPr>
          <a:lstStyle/>
          <a:p>
            <a:pPr algn="l"/>
            <a:r>
              <a:rPr lang="en-US" sz="2400" b="1" i="0">
                <a:solidFill>
                  <a:srgbClr val="1F1F1F"/>
                </a:solidFill>
                <a:effectLst/>
                <a:latin typeface="var(--cds-font-family-source-sans-pro)"/>
              </a:rPr>
              <a:t>Advance to roles</a:t>
            </a:r>
          </a:p>
        </p:txBody>
      </p:sp>
      <p:sp>
        <p:nvSpPr>
          <p:cNvPr id="19" name="TextBox 18">
            <a:extLst>
              <a:ext uri="{FF2B5EF4-FFF2-40B4-BE49-F238E27FC236}">
                <a16:creationId xmlns:a16="http://schemas.microsoft.com/office/drawing/2014/main" id="{E43D5852-0B03-2F35-5C20-1E067DA6FF0A}"/>
              </a:ext>
            </a:extLst>
          </p:cNvPr>
          <p:cNvSpPr txBox="1"/>
          <p:nvPr/>
        </p:nvSpPr>
        <p:spPr>
          <a:xfrm>
            <a:off x="818604" y="5087351"/>
            <a:ext cx="5808979" cy="1323439"/>
          </a:xfrm>
          <a:prstGeom prst="rect">
            <a:avLst/>
          </a:prstGeom>
          <a:noFill/>
        </p:spPr>
        <p:txBody>
          <a:bodyPr wrap="square">
            <a:spAutoFit/>
          </a:bodyPr>
          <a:lstStyle/>
          <a:p>
            <a:pPr marL="1200150" lvl="2" indent="-285750">
              <a:buFont typeface="Arial" panose="020B0604020202020204" pitchFamily="34" charset="0"/>
              <a:buChar char="•"/>
            </a:pPr>
            <a:r>
              <a:rPr lang="en-US" sz="2000" i="0">
                <a:solidFill>
                  <a:srgbClr val="1F1F1F"/>
                </a:solidFill>
                <a:effectLst/>
                <a:latin typeface="Source Sans Pro" panose="020B0503030403020204" pitchFamily="34" charset="0"/>
              </a:rPr>
              <a:t>Digital marketing manager</a:t>
            </a:r>
          </a:p>
          <a:p>
            <a:pPr marL="1200150" lvl="2" indent="-285750">
              <a:buFont typeface="Arial" panose="020B0604020202020204" pitchFamily="34" charset="0"/>
              <a:buChar char="•"/>
            </a:pPr>
            <a:r>
              <a:rPr lang="en-US" sz="2000" i="0">
                <a:solidFill>
                  <a:srgbClr val="1F1F1F"/>
                </a:solidFill>
                <a:effectLst/>
                <a:latin typeface="Source Sans Pro" panose="020B0503030403020204" pitchFamily="34" charset="0"/>
              </a:rPr>
              <a:t>Social media strategist</a:t>
            </a:r>
            <a:endParaRPr lang="en-US" sz="2000">
              <a:solidFill>
                <a:srgbClr val="1F1F1F"/>
              </a:solidFill>
              <a:latin typeface="Source Sans Pro" panose="020B0503030403020204" pitchFamily="34" charset="0"/>
            </a:endParaRPr>
          </a:p>
          <a:p>
            <a:pPr marL="1200150" lvl="2" indent="-285750">
              <a:buFont typeface="Arial" panose="020B0604020202020204" pitchFamily="34" charset="0"/>
              <a:buChar char="•"/>
            </a:pPr>
            <a:r>
              <a:rPr lang="en-US" sz="2000" i="0">
                <a:solidFill>
                  <a:srgbClr val="1F1F1F"/>
                </a:solidFill>
                <a:effectLst/>
                <a:latin typeface="Source Sans Pro" panose="020B0503030403020204" pitchFamily="34" charset="0"/>
              </a:rPr>
              <a:t>Account manager</a:t>
            </a:r>
          </a:p>
          <a:p>
            <a:pPr marL="1200150" lvl="2" indent="-285750">
              <a:buFont typeface="Arial" panose="020B0604020202020204" pitchFamily="34" charset="0"/>
              <a:buChar char="•"/>
            </a:pPr>
            <a:r>
              <a:rPr lang="en-US" sz="2000" i="0">
                <a:solidFill>
                  <a:srgbClr val="1F1F1F"/>
                </a:solidFill>
                <a:effectLst/>
                <a:latin typeface="Source Sans Pro" panose="020B0503030403020204" pitchFamily="34" charset="0"/>
              </a:rPr>
              <a:t>E-commerce product manager</a:t>
            </a:r>
            <a:endParaRPr lang="en-US" sz="2000"/>
          </a:p>
        </p:txBody>
      </p:sp>
    </p:spTree>
    <p:extLst>
      <p:ext uri="{BB962C8B-B14F-4D97-AF65-F5344CB8AC3E}">
        <p14:creationId xmlns:p14="http://schemas.microsoft.com/office/powerpoint/2010/main" val="8141337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trategy vs. tactics: What's the difference? | Zapier">
            <a:extLst>
              <a:ext uri="{FF2B5EF4-FFF2-40B4-BE49-F238E27FC236}">
                <a16:creationId xmlns:a16="http://schemas.microsoft.com/office/drawing/2014/main" id="{8C1C09BC-B6B6-443C-439C-6E6E8D99459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178" t="7634" r="9129" b="12222"/>
          <a:stretch/>
        </p:blipFill>
        <p:spPr bwMode="auto">
          <a:xfrm>
            <a:off x="4816539" y="3657600"/>
            <a:ext cx="4417622" cy="3223003"/>
          </a:xfrm>
          <a:prstGeom prst="rect">
            <a:avLst/>
          </a:prstGeom>
          <a:noFill/>
          <a:extLst>
            <a:ext uri="{909E8E84-426E-40DD-AFC4-6F175D3DCCD1}">
              <a14:hiddenFill xmlns:a14="http://schemas.microsoft.com/office/drawing/2010/main">
                <a:solidFill>
                  <a:srgbClr val="FFFFFF"/>
                </a:solidFill>
              </a14:hiddenFill>
            </a:ext>
          </a:extLst>
        </p:spPr>
      </p:pic>
      <p:sp>
        <p:nvSpPr>
          <p:cNvPr id="2" name="object 2"/>
          <p:cNvSpPr txBox="1">
            <a:spLocks noGrp="1"/>
          </p:cNvSpPr>
          <p:nvPr>
            <p:ph type="title"/>
          </p:nvPr>
        </p:nvSpPr>
        <p:spPr>
          <a:xfrm>
            <a:off x="124714" y="124736"/>
            <a:ext cx="8890127" cy="713464"/>
          </a:xfrm>
          <a:prstGeom prst="rect">
            <a:avLst/>
          </a:prstGeom>
        </p:spPr>
        <p:txBody>
          <a:bodyPr vert="horz" wrap="square" lIns="0" tIns="218884" rIns="0" bIns="0" rtlCol="0">
            <a:spAutoFit/>
          </a:bodyPr>
          <a:lstStyle/>
          <a:p>
            <a:pPr marL="3290570" marR="5080" indent="-2141220" algn="ctr">
              <a:lnSpc>
                <a:spcPct val="100000"/>
              </a:lnSpc>
              <a:spcBef>
                <a:spcPts val="100"/>
              </a:spcBef>
            </a:pPr>
            <a:r>
              <a:rPr sz="3200"/>
              <a:t>What</a:t>
            </a:r>
            <a:r>
              <a:rPr sz="3200" spc="-25"/>
              <a:t> </a:t>
            </a:r>
            <a:r>
              <a:rPr lang="en-US" sz="3200" spc="-25"/>
              <a:t>is</a:t>
            </a:r>
            <a:r>
              <a:rPr sz="3200" spc="-10"/>
              <a:t> </a:t>
            </a:r>
            <a:r>
              <a:rPr lang="en-US" sz="3200" spc="-5"/>
              <a:t>D</a:t>
            </a:r>
            <a:r>
              <a:rPr sz="3200" spc="-5"/>
              <a:t>igital</a:t>
            </a:r>
            <a:r>
              <a:rPr sz="3200" spc="-35"/>
              <a:t> </a:t>
            </a:r>
            <a:r>
              <a:rPr lang="en-US" sz="3200" spc="-35"/>
              <a:t>M</a:t>
            </a:r>
            <a:r>
              <a:rPr sz="3200" spc="-5"/>
              <a:t>arketing?</a:t>
            </a:r>
            <a:endParaRPr sz="3200"/>
          </a:p>
        </p:txBody>
      </p:sp>
      <p:sp>
        <p:nvSpPr>
          <p:cNvPr id="3" name="object 3"/>
          <p:cNvSpPr txBox="1"/>
          <p:nvPr/>
        </p:nvSpPr>
        <p:spPr>
          <a:xfrm>
            <a:off x="371475" y="1177101"/>
            <a:ext cx="8396604" cy="4503797"/>
          </a:xfrm>
          <a:prstGeom prst="rect">
            <a:avLst/>
          </a:prstGeom>
        </p:spPr>
        <p:txBody>
          <a:bodyPr vert="horz" wrap="square" lIns="0" tIns="12700" rIns="0" bIns="0" rtlCol="0">
            <a:spAutoFit/>
          </a:bodyPr>
          <a:lstStyle/>
          <a:p>
            <a:pPr marL="12700">
              <a:lnSpc>
                <a:spcPct val="100000"/>
              </a:lnSpc>
              <a:spcBef>
                <a:spcPts val="100"/>
              </a:spcBef>
            </a:pPr>
            <a:r>
              <a:rPr sz="2400" spc="-5">
                <a:solidFill>
                  <a:srgbClr val="172939"/>
                </a:solidFill>
                <a:latin typeface="Arial MT"/>
                <a:cs typeface="Arial MT"/>
              </a:rPr>
              <a:t>Digital</a:t>
            </a:r>
            <a:r>
              <a:rPr sz="2400" spc="15">
                <a:solidFill>
                  <a:srgbClr val="172939"/>
                </a:solidFill>
                <a:latin typeface="Arial MT"/>
                <a:cs typeface="Arial MT"/>
              </a:rPr>
              <a:t> </a:t>
            </a:r>
            <a:r>
              <a:rPr sz="2400" spc="-5">
                <a:solidFill>
                  <a:srgbClr val="172939"/>
                </a:solidFill>
                <a:latin typeface="Arial MT"/>
                <a:cs typeface="Arial MT"/>
              </a:rPr>
              <a:t>marketing</a:t>
            </a:r>
            <a:r>
              <a:rPr sz="2400" spc="20">
                <a:solidFill>
                  <a:srgbClr val="172939"/>
                </a:solidFill>
                <a:latin typeface="Arial MT"/>
                <a:cs typeface="Arial MT"/>
              </a:rPr>
              <a:t> </a:t>
            </a:r>
            <a:r>
              <a:rPr sz="2400" spc="-5">
                <a:solidFill>
                  <a:srgbClr val="172939"/>
                </a:solidFill>
                <a:latin typeface="Arial MT"/>
                <a:cs typeface="Arial MT"/>
              </a:rPr>
              <a:t>can</a:t>
            </a:r>
            <a:r>
              <a:rPr sz="2400" spc="5">
                <a:solidFill>
                  <a:srgbClr val="172939"/>
                </a:solidFill>
                <a:latin typeface="Arial MT"/>
                <a:cs typeface="Arial MT"/>
              </a:rPr>
              <a:t> </a:t>
            </a:r>
            <a:r>
              <a:rPr sz="2400" spc="-5">
                <a:solidFill>
                  <a:srgbClr val="172939"/>
                </a:solidFill>
                <a:latin typeface="Arial MT"/>
                <a:cs typeface="Arial MT"/>
              </a:rPr>
              <a:t>be</a:t>
            </a:r>
            <a:r>
              <a:rPr sz="2400" spc="10">
                <a:solidFill>
                  <a:srgbClr val="172939"/>
                </a:solidFill>
                <a:latin typeface="Arial MT"/>
                <a:cs typeface="Arial MT"/>
              </a:rPr>
              <a:t> </a:t>
            </a:r>
            <a:r>
              <a:rPr sz="2400" spc="-5">
                <a:solidFill>
                  <a:srgbClr val="172939"/>
                </a:solidFill>
                <a:latin typeface="Arial MT"/>
                <a:cs typeface="Arial MT"/>
              </a:rPr>
              <a:t>defined</a:t>
            </a:r>
            <a:r>
              <a:rPr sz="2400" spc="15">
                <a:solidFill>
                  <a:srgbClr val="172939"/>
                </a:solidFill>
                <a:latin typeface="Arial MT"/>
                <a:cs typeface="Arial MT"/>
              </a:rPr>
              <a:t> </a:t>
            </a:r>
            <a:r>
              <a:rPr sz="2400">
                <a:solidFill>
                  <a:srgbClr val="172939"/>
                </a:solidFill>
                <a:latin typeface="Arial MT"/>
                <a:cs typeface="Arial MT"/>
              </a:rPr>
              <a:t>as:</a:t>
            </a:r>
            <a:endParaRPr lang="en-US" sz="2400">
              <a:solidFill>
                <a:srgbClr val="172939"/>
              </a:solidFill>
              <a:latin typeface="Arial MT"/>
              <a:cs typeface="Arial MT"/>
            </a:endParaRPr>
          </a:p>
          <a:p>
            <a:pPr marL="12700">
              <a:lnSpc>
                <a:spcPct val="100000"/>
              </a:lnSpc>
              <a:spcBef>
                <a:spcPts val="100"/>
              </a:spcBef>
            </a:pPr>
            <a:endParaRPr sz="2400">
              <a:latin typeface="Arial MT"/>
              <a:cs typeface="Arial MT"/>
            </a:endParaRPr>
          </a:p>
          <a:p>
            <a:pPr marL="12700" marR="5080" algn="just">
              <a:lnSpc>
                <a:spcPct val="100000"/>
              </a:lnSpc>
            </a:pPr>
            <a:r>
              <a:rPr lang="en-US" sz="2400" b="1" spc="-5">
                <a:solidFill>
                  <a:srgbClr val="172939"/>
                </a:solidFill>
                <a:latin typeface="Arial MT"/>
                <a:cs typeface="Arial MT"/>
              </a:rPr>
              <a:t>The use of digital channels, platforms, and technologies to promote and advertise products, services, or brands to a target audience.</a:t>
            </a:r>
          </a:p>
          <a:p>
            <a:pPr marL="12700" marR="5080">
              <a:lnSpc>
                <a:spcPct val="100000"/>
              </a:lnSpc>
            </a:pPr>
            <a:r>
              <a:rPr lang="en-US" sz="2300" spc="-5">
                <a:solidFill>
                  <a:srgbClr val="172939"/>
                </a:solidFill>
                <a:latin typeface="Arial MT"/>
                <a:cs typeface="Arial MT"/>
              </a:rPr>
              <a:t>It encompasses a wide range of online </a:t>
            </a:r>
            <a:r>
              <a:rPr lang="en-US" sz="2300" b="1" spc="-5">
                <a:solidFill>
                  <a:srgbClr val="FF0000"/>
                </a:solidFill>
                <a:latin typeface="Arial MT"/>
                <a:cs typeface="Arial MT"/>
              </a:rPr>
              <a:t>tactics</a:t>
            </a:r>
            <a:r>
              <a:rPr lang="en-US" sz="2300" spc="-5">
                <a:solidFill>
                  <a:srgbClr val="172939"/>
                </a:solidFill>
                <a:latin typeface="Arial MT"/>
                <a:cs typeface="Arial MT"/>
              </a:rPr>
              <a:t> and </a:t>
            </a:r>
            <a:r>
              <a:rPr lang="en-US" sz="2300" b="1" spc="-5">
                <a:solidFill>
                  <a:srgbClr val="FF0000"/>
                </a:solidFill>
                <a:latin typeface="Arial MT"/>
                <a:cs typeface="Arial MT"/>
              </a:rPr>
              <a:t>strategies</a:t>
            </a:r>
            <a:r>
              <a:rPr lang="en-US" sz="2300" spc="-5">
                <a:solidFill>
                  <a:srgbClr val="172939"/>
                </a:solidFill>
                <a:latin typeface="Arial MT"/>
                <a:cs typeface="Arial MT"/>
              </a:rPr>
              <a:t>:</a:t>
            </a:r>
          </a:p>
          <a:p>
            <a:pPr marL="12700" marR="5080">
              <a:lnSpc>
                <a:spcPct val="100000"/>
              </a:lnSpc>
            </a:pPr>
            <a:r>
              <a:rPr lang="en-US" sz="2400" spc="-5">
                <a:solidFill>
                  <a:srgbClr val="172939"/>
                </a:solidFill>
                <a:latin typeface="Arial MT"/>
                <a:cs typeface="Arial MT"/>
              </a:rPr>
              <a:t> </a:t>
            </a:r>
          </a:p>
          <a:p>
            <a:pPr marL="355600" marR="5080" indent="-342900">
              <a:lnSpc>
                <a:spcPct val="100000"/>
              </a:lnSpc>
              <a:buFont typeface="Arial" panose="020B0604020202020204" pitchFamily="34" charset="0"/>
              <a:buChar char="•"/>
            </a:pPr>
            <a:r>
              <a:rPr lang="en-US" sz="2000" b="1" spc="-5">
                <a:solidFill>
                  <a:srgbClr val="172939"/>
                </a:solidFill>
                <a:latin typeface="Arial MT"/>
                <a:cs typeface="Arial MT"/>
              </a:rPr>
              <a:t>Search engine optimization (SEO), </a:t>
            </a:r>
          </a:p>
          <a:p>
            <a:pPr marL="355600" marR="5080" indent="-342900">
              <a:lnSpc>
                <a:spcPct val="100000"/>
              </a:lnSpc>
              <a:buFont typeface="Arial" panose="020B0604020202020204" pitchFamily="34" charset="0"/>
              <a:buChar char="•"/>
            </a:pPr>
            <a:r>
              <a:rPr lang="en-US" sz="2000" b="1" spc="-5">
                <a:solidFill>
                  <a:srgbClr val="172939"/>
                </a:solidFill>
                <a:latin typeface="Arial MT"/>
                <a:cs typeface="Arial MT"/>
              </a:rPr>
              <a:t>Social Media Marketing, (SEM)</a:t>
            </a:r>
          </a:p>
          <a:p>
            <a:pPr marL="355600" marR="5080" indent="-342900">
              <a:lnSpc>
                <a:spcPct val="100000"/>
              </a:lnSpc>
              <a:buFont typeface="Arial" panose="020B0604020202020204" pitchFamily="34" charset="0"/>
              <a:buChar char="•"/>
            </a:pPr>
            <a:r>
              <a:rPr lang="en-US" sz="2000" b="1" spc="-5">
                <a:solidFill>
                  <a:srgbClr val="172939"/>
                </a:solidFill>
                <a:latin typeface="Arial MT"/>
                <a:cs typeface="Arial MT"/>
              </a:rPr>
              <a:t>Email marketing,</a:t>
            </a:r>
          </a:p>
          <a:p>
            <a:pPr marL="355600" marR="5080" indent="-342900">
              <a:lnSpc>
                <a:spcPct val="100000"/>
              </a:lnSpc>
              <a:buFont typeface="Arial" panose="020B0604020202020204" pitchFamily="34" charset="0"/>
              <a:buChar char="•"/>
            </a:pPr>
            <a:r>
              <a:rPr lang="en-US" sz="2000" b="1" spc="-5">
                <a:solidFill>
                  <a:srgbClr val="172939"/>
                </a:solidFill>
                <a:latin typeface="Arial MT"/>
                <a:cs typeface="Arial MT"/>
              </a:rPr>
              <a:t>Content Marketing, </a:t>
            </a:r>
          </a:p>
          <a:p>
            <a:pPr marL="355600" marR="5080" indent="-342900">
              <a:lnSpc>
                <a:spcPct val="100000"/>
              </a:lnSpc>
              <a:buFont typeface="Arial" panose="020B0604020202020204" pitchFamily="34" charset="0"/>
              <a:buChar char="•"/>
            </a:pPr>
            <a:r>
              <a:rPr lang="en-US" sz="2000" b="1" spc="-5">
                <a:solidFill>
                  <a:srgbClr val="172939"/>
                </a:solidFill>
                <a:latin typeface="Arial MT"/>
                <a:cs typeface="Arial MT"/>
              </a:rPr>
              <a:t>Pay-per-click advertising (PPC), </a:t>
            </a:r>
          </a:p>
          <a:p>
            <a:pPr marL="355600" marR="5080" indent="-342900">
              <a:lnSpc>
                <a:spcPct val="100000"/>
              </a:lnSpc>
              <a:buFont typeface="Arial" panose="020B0604020202020204" pitchFamily="34" charset="0"/>
              <a:buChar char="•"/>
            </a:pPr>
            <a:r>
              <a:rPr lang="en-US" sz="2000" b="1" spc="-5">
                <a:solidFill>
                  <a:srgbClr val="172939"/>
                </a:solidFill>
                <a:latin typeface="Arial MT"/>
                <a:cs typeface="Arial MT"/>
              </a:rPr>
              <a:t>and more</a:t>
            </a:r>
            <a:r>
              <a:rPr lang="en-US" sz="2400" spc="-5">
                <a:solidFill>
                  <a:srgbClr val="172939"/>
                </a:solidFill>
                <a:latin typeface="Arial MT"/>
                <a:cs typeface="Arial MT"/>
              </a:rPr>
              <a:t>.</a:t>
            </a:r>
          </a:p>
        </p:txBody>
      </p:sp>
    </p:spTree>
    <p:extLst>
      <p:ext uri="{BB962C8B-B14F-4D97-AF65-F5344CB8AC3E}">
        <p14:creationId xmlns:p14="http://schemas.microsoft.com/office/powerpoint/2010/main" val="38615700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5867399" y="3809999"/>
            <a:ext cx="2952307" cy="2729643"/>
            <a:chOff x="4882134" y="3195129"/>
            <a:chExt cx="3390900" cy="3375660"/>
          </a:xfrm>
        </p:grpSpPr>
        <p:pic>
          <p:nvPicPr>
            <p:cNvPr id="5" name="object 5"/>
            <p:cNvPicPr/>
            <p:nvPr/>
          </p:nvPicPr>
          <p:blipFill>
            <a:blip r:embed="rId2" cstate="print"/>
            <a:stretch>
              <a:fillRect/>
            </a:stretch>
          </p:blipFill>
          <p:spPr>
            <a:xfrm>
              <a:off x="4882134" y="3195129"/>
              <a:ext cx="3390391" cy="3375405"/>
            </a:xfrm>
            <a:prstGeom prst="rect">
              <a:avLst/>
            </a:prstGeom>
          </p:spPr>
        </p:pic>
        <p:pic>
          <p:nvPicPr>
            <p:cNvPr id="6" name="object 6"/>
            <p:cNvPicPr/>
            <p:nvPr/>
          </p:nvPicPr>
          <p:blipFill>
            <a:blip r:embed="rId3" cstate="print"/>
            <a:stretch>
              <a:fillRect/>
            </a:stretch>
          </p:blipFill>
          <p:spPr>
            <a:xfrm>
              <a:off x="5076063" y="3388995"/>
              <a:ext cx="2877312" cy="2862072"/>
            </a:xfrm>
            <a:prstGeom prst="rect">
              <a:avLst/>
            </a:prstGeom>
          </p:spPr>
        </p:pic>
      </p:grpSp>
      <p:sp>
        <p:nvSpPr>
          <p:cNvPr id="2" name="object 2"/>
          <p:cNvSpPr txBox="1">
            <a:spLocks noGrp="1"/>
          </p:cNvSpPr>
          <p:nvPr>
            <p:ph type="title"/>
          </p:nvPr>
        </p:nvSpPr>
        <p:spPr>
          <a:xfrm>
            <a:off x="0" y="200936"/>
            <a:ext cx="8541393" cy="1205907"/>
          </a:xfrm>
          <a:prstGeom prst="rect">
            <a:avLst/>
          </a:prstGeom>
        </p:spPr>
        <p:txBody>
          <a:bodyPr vert="horz" wrap="square" lIns="0" tIns="218884" rIns="0" bIns="0" rtlCol="0">
            <a:spAutoFit/>
          </a:bodyPr>
          <a:lstStyle/>
          <a:p>
            <a:pPr marL="3290570" marR="5080" indent="-2141220" algn="ctr">
              <a:lnSpc>
                <a:spcPct val="100000"/>
              </a:lnSpc>
              <a:spcBef>
                <a:spcPts val="100"/>
              </a:spcBef>
            </a:pPr>
            <a:r>
              <a:rPr lang="en-US" sz="3200" spc="-5"/>
              <a:t>Digital Marketing Process</a:t>
            </a:r>
            <a:br>
              <a:rPr lang="en-US" sz="3200" spc="-5"/>
            </a:br>
            <a:endParaRPr sz="3200"/>
          </a:p>
        </p:txBody>
      </p:sp>
      <p:sp>
        <p:nvSpPr>
          <p:cNvPr id="3" name="object 3"/>
          <p:cNvSpPr txBox="1"/>
          <p:nvPr/>
        </p:nvSpPr>
        <p:spPr>
          <a:xfrm>
            <a:off x="304800" y="1219200"/>
            <a:ext cx="8534400" cy="2967479"/>
          </a:xfrm>
          <a:prstGeom prst="rect">
            <a:avLst/>
          </a:prstGeom>
        </p:spPr>
        <p:txBody>
          <a:bodyPr vert="horz" wrap="square" lIns="0" tIns="12700" rIns="0" bIns="0" rtlCol="0">
            <a:spAutoFit/>
          </a:bodyPr>
          <a:lstStyle/>
          <a:p>
            <a:pPr algn="l"/>
            <a:endParaRPr lang="en-US" sz="2400" b="0" i="0" dirty="0">
              <a:solidFill>
                <a:srgbClr val="374151"/>
              </a:solidFill>
              <a:effectLst/>
              <a:latin typeface="Söhne"/>
            </a:endParaRPr>
          </a:p>
          <a:p>
            <a:pPr marL="342900" indent="-342900" algn="l">
              <a:buFont typeface="Arial" panose="020B0604020202020204" pitchFamily="34" charset="0"/>
              <a:buChar char="•"/>
            </a:pPr>
            <a:r>
              <a:rPr lang="en-US" sz="2400" b="1" i="0" dirty="0">
                <a:solidFill>
                  <a:srgbClr val="374151"/>
                </a:solidFill>
                <a:effectLst/>
                <a:latin typeface="Söhne"/>
              </a:rPr>
              <a:t>Objective:</a:t>
            </a:r>
            <a:r>
              <a:rPr lang="en-US" sz="2400" b="0" i="0" dirty="0">
                <a:solidFill>
                  <a:srgbClr val="374151"/>
                </a:solidFill>
                <a:effectLst/>
                <a:latin typeface="Söhne"/>
              </a:rPr>
              <a:t> Promoting products, services, or brands to a targeted audience.</a:t>
            </a:r>
          </a:p>
          <a:p>
            <a:pPr marL="342900" indent="-342900">
              <a:buFont typeface="Arial" panose="020B0604020202020204" pitchFamily="34" charset="0"/>
              <a:buChar char="•"/>
            </a:pPr>
            <a:r>
              <a:rPr lang="en-US" sz="2400" b="1" i="0" dirty="0">
                <a:solidFill>
                  <a:srgbClr val="374151"/>
                </a:solidFill>
                <a:effectLst/>
                <a:latin typeface="Söhne"/>
              </a:rPr>
              <a:t>Strategy:</a:t>
            </a:r>
            <a:r>
              <a:rPr lang="en-US" sz="2400" b="0" i="0" dirty="0">
                <a:solidFill>
                  <a:srgbClr val="374151"/>
                </a:solidFill>
                <a:effectLst/>
                <a:latin typeface="Söhne"/>
              </a:rPr>
              <a:t> Utilizing digital channels and technologies.</a:t>
            </a:r>
          </a:p>
          <a:p>
            <a:pPr marL="342900" indent="-342900" algn="l">
              <a:buFont typeface="Arial" panose="020B0604020202020204" pitchFamily="34" charset="0"/>
              <a:buChar char="•"/>
            </a:pPr>
            <a:r>
              <a:rPr lang="en-US" sz="2400" b="1" i="0">
                <a:solidFill>
                  <a:srgbClr val="374151"/>
                </a:solidFill>
                <a:effectLst/>
                <a:latin typeface="Söhne"/>
              </a:rPr>
              <a:t>Methods/Tactics:</a:t>
            </a:r>
            <a:r>
              <a:rPr lang="en-US" sz="2400" b="0" i="0">
                <a:solidFill>
                  <a:srgbClr val="374151"/>
                </a:solidFill>
                <a:effectLst/>
                <a:latin typeface="Söhne"/>
              </a:rPr>
              <a:t> SEO/SEM, </a:t>
            </a:r>
            <a:r>
              <a:rPr lang="en-US" sz="2400">
                <a:solidFill>
                  <a:srgbClr val="374151"/>
                </a:solidFill>
                <a:latin typeface="Söhne"/>
              </a:rPr>
              <a:t>S</a:t>
            </a:r>
            <a:r>
              <a:rPr lang="en-US" sz="2400" b="0" i="0">
                <a:solidFill>
                  <a:srgbClr val="374151"/>
                </a:solidFill>
                <a:effectLst/>
                <a:latin typeface="Söhne"/>
              </a:rPr>
              <a:t>ocial </a:t>
            </a:r>
            <a:r>
              <a:rPr lang="en-US" sz="2400">
                <a:solidFill>
                  <a:srgbClr val="374151"/>
                </a:solidFill>
                <a:latin typeface="Söhne"/>
              </a:rPr>
              <a:t>M</a:t>
            </a:r>
            <a:r>
              <a:rPr lang="en-US" sz="2400" b="0" i="0">
                <a:solidFill>
                  <a:srgbClr val="374151"/>
                </a:solidFill>
                <a:effectLst/>
                <a:latin typeface="Söhne"/>
              </a:rPr>
              <a:t>edia </a:t>
            </a:r>
            <a:r>
              <a:rPr lang="en-US" sz="2400">
                <a:solidFill>
                  <a:srgbClr val="374151"/>
                </a:solidFill>
                <a:latin typeface="Söhne"/>
              </a:rPr>
              <a:t>M</a:t>
            </a:r>
            <a:r>
              <a:rPr lang="en-US" sz="2400" b="0" i="0">
                <a:solidFill>
                  <a:srgbClr val="374151"/>
                </a:solidFill>
                <a:effectLst/>
                <a:latin typeface="Söhne"/>
              </a:rPr>
              <a:t>arketing, Email </a:t>
            </a:r>
            <a:r>
              <a:rPr lang="en-US" sz="2400">
                <a:solidFill>
                  <a:srgbClr val="374151"/>
                </a:solidFill>
                <a:latin typeface="Söhne"/>
              </a:rPr>
              <a:t>C</a:t>
            </a:r>
            <a:r>
              <a:rPr lang="en-US" sz="2400" b="0" i="0">
                <a:solidFill>
                  <a:srgbClr val="374151"/>
                </a:solidFill>
                <a:effectLst/>
                <a:latin typeface="Söhne"/>
              </a:rPr>
              <a:t>ampaigns, and Metrics &amp; More.</a:t>
            </a:r>
          </a:p>
          <a:p>
            <a:pPr marL="342900" indent="-342900" algn="l">
              <a:buFont typeface="Arial" panose="020B0604020202020204" pitchFamily="34" charset="0"/>
              <a:buChar char="•"/>
            </a:pPr>
            <a:r>
              <a:rPr lang="en-US" sz="2400" b="1" i="0" dirty="0">
                <a:solidFill>
                  <a:srgbClr val="374151"/>
                </a:solidFill>
                <a:effectLst/>
                <a:latin typeface="Söhne"/>
              </a:rPr>
              <a:t>Result/Purpose:</a:t>
            </a:r>
            <a:r>
              <a:rPr lang="en-US" sz="2400" b="0" i="0" dirty="0">
                <a:solidFill>
                  <a:srgbClr val="374151"/>
                </a:solidFill>
                <a:effectLst/>
                <a:latin typeface="Söhne"/>
              </a:rPr>
              <a:t> Enhancing Brand </a:t>
            </a:r>
            <a:r>
              <a:rPr lang="en-US" sz="2400" dirty="0">
                <a:solidFill>
                  <a:srgbClr val="374151"/>
                </a:solidFill>
                <a:latin typeface="Söhne"/>
              </a:rPr>
              <a:t>V</a:t>
            </a:r>
            <a:r>
              <a:rPr lang="en-US" sz="2400" b="0" i="0" dirty="0">
                <a:solidFill>
                  <a:srgbClr val="374151"/>
                </a:solidFill>
                <a:effectLst/>
                <a:latin typeface="Söhne"/>
              </a:rPr>
              <a:t>isibility, Engaging </a:t>
            </a:r>
            <a:r>
              <a:rPr lang="en-US" sz="2400" dirty="0">
                <a:solidFill>
                  <a:srgbClr val="374151"/>
                </a:solidFill>
                <a:latin typeface="Söhne"/>
              </a:rPr>
              <a:t>C</a:t>
            </a:r>
            <a:r>
              <a:rPr lang="en-US" sz="2400" b="0" i="0" dirty="0">
                <a:solidFill>
                  <a:srgbClr val="374151"/>
                </a:solidFill>
                <a:effectLst/>
                <a:latin typeface="Söhne"/>
              </a:rPr>
              <a:t>ustomers, and Driving </a:t>
            </a:r>
            <a:r>
              <a:rPr lang="en-US" sz="2400" dirty="0">
                <a:solidFill>
                  <a:srgbClr val="374151"/>
                </a:solidFill>
                <a:latin typeface="Söhne"/>
              </a:rPr>
              <a:t>D</a:t>
            </a:r>
            <a:r>
              <a:rPr lang="en-US" sz="2400" b="0" i="0" dirty="0">
                <a:solidFill>
                  <a:srgbClr val="374151"/>
                </a:solidFill>
                <a:effectLst/>
                <a:latin typeface="Söhne"/>
              </a:rPr>
              <a:t>igital </a:t>
            </a:r>
            <a:r>
              <a:rPr lang="en-US" sz="2400" dirty="0">
                <a:solidFill>
                  <a:srgbClr val="374151"/>
                </a:solidFill>
                <a:latin typeface="Söhne"/>
              </a:rPr>
              <a:t>C</a:t>
            </a:r>
            <a:r>
              <a:rPr lang="en-US" sz="2400" b="0" i="0" dirty="0">
                <a:solidFill>
                  <a:srgbClr val="374151"/>
                </a:solidFill>
                <a:effectLst/>
                <a:latin typeface="Söhne"/>
              </a:rPr>
              <a:t>onversions.</a:t>
            </a:r>
          </a:p>
        </p:txBody>
      </p:sp>
    </p:spTree>
    <p:extLst>
      <p:ext uri="{BB962C8B-B14F-4D97-AF65-F5344CB8AC3E}">
        <p14:creationId xmlns:p14="http://schemas.microsoft.com/office/powerpoint/2010/main" val="16830688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6858000" y="4953000"/>
            <a:ext cx="2286000" cy="2057400"/>
            <a:chOff x="4882134" y="3195129"/>
            <a:chExt cx="3390900" cy="3375660"/>
          </a:xfrm>
        </p:grpSpPr>
        <p:pic>
          <p:nvPicPr>
            <p:cNvPr id="5" name="object 5"/>
            <p:cNvPicPr/>
            <p:nvPr/>
          </p:nvPicPr>
          <p:blipFill>
            <a:blip r:embed="rId2" cstate="print"/>
            <a:stretch>
              <a:fillRect/>
            </a:stretch>
          </p:blipFill>
          <p:spPr>
            <a:xfrm>
              <a:off x="4882134" y="3195129"/>
              <a:ext cx="3390391" cy="3375405"/>
            </a:xfrm>
            <a:prstGeom prst="rect">
              <a:avLst/>
            </a:prstGeom>
          </p:spPr>
        </p:pic>
        <p:pic>
          <p:nvPicPr>
            <p:cNvPr id="6" name="object 6"/>
            <p:cNvPicPr/>
            <p:nvPr/>
          </p:nvPicPr>
          <p:blipFill>
            <a:blip r:embed="rId3" cstate="print"/>
            <a:stretch>
              <a:fillRect/>
            </a:stretch>
          </p:blipFill>
          <p:spPr>
            <a:xfrm>
              <a:off x="5076063" y="3388995"/>
              <a:ext cx="2877312" cy="2862072"/>
            </a:xfrm>
            <a:prstGeom prst="rect">
              <a:avLst/>
            </a:prstGeom>
          </p:spPr>
        </p:pic>
      </p:grpSp>
      <p:sp>
        <p:nvSpPr>
          <p:cNvPr id="2" name="object 2"/>
          <p:cNvSpPr txBox="1">
            <a:spLocks noGrp="1"/>
          </p:cNvSpPr>
          <p:nvPr>
            <p:ph type="title"/>
          </p:nvPr>
        </p:nvSpPr>
        <p:spPr>
          <a:xfrm>
            <a:off x="0" y="200936"/>
            <a:ext cx="8541393" cy="713464"/>
          </a:xfrm>
          <a:prstGeom prst="rect">
            <a:avLst/>
          </a:prstGeom>
        </p:spPr>
        <p:txBody>
          <a:bodyPr vert="horz" wrap="square" lIns="0" tIns="218884" rIns="0" bIns="0" rtlCol="0">
            <a:spAutoFit/>
          </a:bodyPr>
          <a:lstStyle/>
          <a:p>
            <a:pPr marL="3290570" marR="5080" indent="-2141220" algn="ctr">
              <a:lnSpc>
                <a:spcPct val="100000"/>
              </a:lnSpc>
              <a:spcBef>
                <a:spcPts val="100"/>
              </a:spcBef>
            </a:pPr>
            <a:r>
              <a:rPr lang="en-US" sz="3200">
                <a:ea typeface="+mj-ea"/>
                <a:cs typeface="+mj-cs"/>
              </a:rPr>
              <a:t>Digital Marketing: </a:t>
            </a:r>
            <a:r>
              <a:rPr lang="en-US" sz="3200">
                <a:latin typeface="Arial MT"/>
                <a:cs typeface="Arial MT"/>
              </a:rPr>
              <a:t>Key Concepts</a:t>
            </a:r>
            <a:endParaRPr sz="3200"/>
          </a:p>
        </p:txBody>
      </p:sp>
      <p:sp>
        <p:nvSpPr>
          <p:cNvPr id="3" name="object 3"/>
          <p:cNvSpPr txBox="1"/>
          <p:nvPr/>
        </p:nvSpPr>
        <p:spPr>
          <a:xfrm>
            <a:off x="304800" y="1219200"/>
            <a:ext cx="8534400" cy="4198585"/>
          </a:xfrm>
          <a:prstGeom prst="rect">
            <a:avLst/>
          </a:prstGeom>
        </p:spPr>
        <p:txBody>
          <a:bodyPr vert="horz" wrap="square" lIns="0" tIns="12700" rIns="0" bIns="0" rtlCol="0">
            <a:spAutoFit/>
          </a:bodyPr>
          <a:lstStyle/>
          <a:p>
            <a:pPr algn="just">
              <a:buFont typeface="+mj-lt"/>
              <a:buAutoNum type="arabicPeriod"/>
            </a:pPr>
            <a:r>
              <a:rPr lang="en-US" sz="2400" b="1" i="0">
                <a:solidFill>
                  <a:srgbClr val="374151"/>
                </a:solidFill>
                <a:effectLst/>
                <a:latin typeface="+mj-lt"/>
              </a:rPr>
              <a:t>Search Engine Optimization (SEO):</a:t>
            </a:r>
            <a:r>
              <a:rPr lang="en-US" sz="2400" b="0" i="0">
                <a:solidFill>
                  <a:srgbClr val="374151"/>
                </a:solidFill>
                <a:effectLst/>
                <a:latin typeface="+mj-lt"/>
              </a:rPr>
              <a:t> </a:t>
            </a:r>
            <a:r>
              <a:rPr lang="en-US" sz="2200" b="0" i="0">
                <a:solidFill>
                  <a:srgbClr val="374151"/>
                </a:solidFill>
                <a:effectLst/>
                <a:latin typeface="+mj-lt"/>
              </a:rPr>
              <a:t>The practice of optimizing your website to rank higher in search engine results pages (</a:t>
            </a:r>
            <a:r>
              <a:rPr lang="en-US" sz="2200" b="1" i="0">
                <a:solidFill>
                  <a:srgbClr val="374151"/>
                </a:solidFill>
                <a:effectLst/>
                <a:latin typeface="+mj-lt"/>
              </a:rPr>
              <a:t>SERPs</a:t>
            </a:r>
            <a:r>
              <a:rPr lang="en-US" sz="2200" b="0" i="0">
                <a:solidFill>
                  <a:srgbClr val="374151"/>
                </a:solidFill>
                <a:effectLst/>
                <a:latin typeface="+mj-lt"/>
              </a:rPr>
              <a:t>), increasing </a:t>
            </a:r>
            <a:r>
              <a:rPr lang="en-US" sz="2200" b="1" i="0">
                <a:solidFill>
                  <a:srgbClr val="374151"/>
                </a:solidFill>
                <a:effectLst/>
                <a:latin typeface="+mj-lt"/>
              </a:rPr>
              <a:t>organic (non-paid</a:t>
            </a:r>
            <a:r>
              <a:rPr lang="en-US" sz="2200" b="0" i="0">
                <a:solidFill>
                  <a:srgbClr val="374151"/>
                </a:solidFill>
                <a:effectLst/>
                <a:latin typeface="+mj-lt"/>
              </a:rPr>
              <a:t>) traffic. </a:t>
            </a:r>
          </a:p>
          <a:p>
            <a:pPr algn="just">
              <a:buFont typeface="+mj-lt"/>
              <a:buAutoNum type="arabicPeriod"/>
            </a:pPr>
            <a:r>
              <a:rPr lang="en-US" sz="2400" b="1" i="0">
                <a:solidFill>
                  <a:srgbClr val="374151"/>
                </a:solidFill>
                <a:effectLst/>
                <a:latin typeface="+mj-lt"/>
              </a:rPr>
              <a:t>Search Engine Marketing (SEM):</a:t>
            </a:r>
            <a:r>
              <a:rPr lang="en-US" sz="2400" b="0" i="0">
                <a:solidFill>
                  <a:srgbClr val="374151"/>
                </a:solidFill>
                <a:effectLst/>
                <a:latin typeface="+mj-lt"/>
              </a:rPr>
              <a:t> </a:t>
            </a:r>
            <a:r>
              <a:rPr lang="en-US" sz="2200" b="0" i="0">
                <a:solidFill>
                  <a:srgbClr val="374151"/>
                </a:solidFill>
                <a:effectLst/>
                <a:latin typeface="+mj-lt"/>
              </a:rPr>
              <a:t>The practice of promoting websites by increasing their visibility in search engine results pages(</a:t>
            </a:r>
            <a:r>
              <a:rPr lang="en-US" sz="2200" b="1" i="0">
                <a:solidFill>
                  <a:srgbClr val="374151"/>
                </a:solidFill>
                <a:effectLst/>
                <a:latin typeface="+mj-lt"/>
              </a:rPr>
              <a:t>SERPs</a:t>
            </a:r>
            <a:r>
              <a:rPr lang="en-US" sz="2200" b="0" i="0">
                <a:solidFill>
                  <a:srgbClr val="374151"/>
                </a:solidFill>
                <a:effectLst/>
                <a:latin typeface="+mj-lt"/>
              </a:rPr>
              <a:t>) through paid advertising methods like PPC and other paid search strategies.</a:t>
            </a:r>
          </a:p>
          <a:p>
            <a:pPr algn="just">
              <a:buFont typeface="+mj-lt"/>
              <a:buAutoNum type="arabicPeriod"/>
            </a:pPr>
            <a:r>
              <a:rPr lang="en-US" sz="2400" b="1" i="0">
                <a:solidFill>
                  <a:srgbClr val="374151"/>
                </a:solidFill>
                <a:effectLst/>
                <a:latin typeface="+mj-lt"/>
              </a:rPr>
              <a:t>Pay-Per-Click Advertising (PPC):</a:t>
            </a:r>
            <a:r>
              <a:rPr lang="en-US" sz="2400" b="0" i="0">
                <a:solidFill>
                  <a:srgbClr val="374151"/>
                </a:solidFill>
                <a:effectLst/>
                <a:latin typeface="+mj-lt"/>
              </a:rPr>
              <a:t> </a:t>
            </a:r>
            <a:r>
              <a:rPr lang="en-US" sz="2200" b="0" i="0">
                <a:solidFill>
                  <a:srgbClr val="374151"/>
                </a:solidFill>
                <a:effectLst/>
                <a:latin typeface="+mj-lt"/>
              </a:rPr>
              <a:t>A paid advertising model where advertisers pay a fee each time their ad is clicked, often used in platforms like Google Ads.</a:t>
            </a:r>
          </a:p>
          <a:p>
            <a:pPr algn="just">
              <a:buFont typeface="+mj-lt"/>
              <a:buAutoNum type="arabicPeriod"/>
            </a:pPr>
            <a:r>
              <a:rPr lang="en-US" sz="2400" b="1" i="0">
                <a:solidFill>
                  <a:srgbClr val="374151"/>
                </a:solidFill>
                <a:effectLst/>
                <a:latin typeface="+mj-lt"/>
              </a:rPr>
              <a:t>Analytics and Data Analysis:</a:t>
            </a:r>
            <a:r>
              <a:rPr lang="en-US" sz="2400" b="0" i="0">
                <a:solidFill>
                  <a:srgbClr val="374151"/>
                </a:solidFill>
                <a:effectLst/>
                <a:latin typeface="+mj-lt"/>
              </a:rPr>
              <a:t> </a:t>
            </a:r>
            <a:r>
              <a:rPr lang="en-US" sz="2200" b="0" i="0">
                <a:solidFill>
                  <a:srgbClr val="374151"/>
                </a:solidFill>
                <a:effectLst/>
                <a:latin typeface="+mj-lt"/>
              </a:rPr>
              <a:t>Using tools like Google Analytics to measure and analyze website and campaign performance to make data-driven decisions.</a:t>
            </a:r>
            <a:endParaRPr lang="en-US" sz="2400" b="0" i="0">
              <a:solidFill>
                <a:srgbClr val="374151"/>
              </a:solidFill>
              <a:effectLst/>
              <a:latin typeface="+mj-lt"/>
            </a:endParaRPr>
          </a:p>
        </p:txBody>
      </p:sp>
    </p:spTree>
    <p:extLst>
      <p:ext uri="{BB962C8B-B14F-4D97-AF65-F5344CB8AC3E}">
        <p14:creationId xmlns:p14="http://schemas.microsoft.com/office/powerpoint/2010/main" val="29524121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200936"/>
            <a:ext cx="8541393" cy="713464"/>
          </a:xfrm>
          <a:prstGeom prst="rect">
            <a:avLst/>
          </a:prstGeom>
        </p:spPr>
        <p:txBody>
          <a:bodyPr vert="horz" wrap="square" lIns="0" tIns="218884" rIns="0" bIns="0" rtlCol="0">
            <a:spAutoFit/>
          </a:bodyPr>
          <a:lstStyle/>
          <a:p>
            <a:pPr marL="3290570" marR="5080" indent="-2141220" algn="ctr">
              <a:lnSpc>
                <a:spcPct val="100000"/>
              </a:lnSpc>
              <a:spcBef>
                <a:spcPts val="100"/>
              </a:spcBef>
            </a:pPr>
            <a:r>
              <a:rPr lang="en-US" sz="3200">
                <a:ea typeface="+mj-ea"/>
                <a:cs typeface="+mj-cs"/>
              </a:rPr>
              <a:t>Digital Marketing: </a:t>
            </a:r>
            <a:r>
              <a:rPr lang="en-US" sz="3200">
                <a:latin typeface="Arial MT"/>
                <a:cs typeface="Arial MT"/>
              </a:rPr>
              <a:t>Key Concepts</a:t>
            </a:r>
            <a:endParaRPr sz="3200"/>
          </a:p>
        </p:txBody>
      </p:sp>
      <p:sp>
        <p:nvSpPr>
          <p:cNvPr id="3" name="object 3"/>
          <p:cNvSpPr txBox="1"/>
          <p:nvPr/>
        </p:nvSpPr>
        <p:spPr>
          <a:xfrm>
            <a:off x="342900" y="1066800"/>
            <a:ext cx="8458200" cy="4229363"/>
          </a:xfrm>
          <a:prstGeom prst="rect">
            <a:avLst/>
          </a:prstGeom>
        </p:spPr>
        <p:txBody>
          <a:bodyPr vert="horz" wrap="square" lIns="0" tIns="12700" rIns="0" bIns="0" rtlCol="0">
            <a:spAutoFit/>
          </a:bodyPr>
          <a:lstStyle/>
          <a:p>
            <a:pPr algn="just">
              <a:buFont typeface="+mj-lt"/>
              <a:buAutoNum type="arabicPeriod"/>
            </a:pPr>
            <a:r>
              <a:rPr lang="en-US" sz="2400" b="1" i="0">
                <a:solidFill>
                  <a:srgbClr val="374151"/>
                </a:solidFill>
                <a:effectLst/>
                <a:latin typeface="+mj-lt"/>
              </a:rPr>
              <a:t>Content Management System (CMS):</a:t>
            </a:r>
            <a:r>
              <a:rPr lang="en-US" sz="2400" b="0" i="0">
                <a:solidFill>
                  <a:srgbClr val="374151"/>
                </a:solidFill>
                <a:effectLst/>
                <a:latin typeface="+mj-lt"/>
              </a:rPr>
              <a:t> </a:t>
            </a:r>
            <a:r>
              <a:rPr lang="en-US" sz="2200" b="0" i="0">
                <a:solidFill>
                  <a:srgbClr val="374151"/>
                </a:solidFill>
                <a:effectLst/>
                <a:latin typeface="+mj-lt"/>
              </a:rPr>
              <a:t>A software platform (e.g., </a:t>
            </a:r>
            <a:r>
              <a:rPr lang="en-US" sz="2200" b="1" i="0">
                <a:solidFill>
                  <a:srgbClr val="374151"/>
                </a:solidFill>
                <a:effectLst/>
                <a:latin typeface="+mj-lt"/>
              </a:rPr>
              <a:t>WordPress</a:t>
            </a:r>
            <a:r>
              <a:rPr lang="en-US" sz="2200" b="0" i="0">
                <a:solidFill>
                  <a:srgbClr val="374151"/>
                </a:solidFill>
                <a:effectLst/>
                <a:latin typeface="+mj-lt"/>
              </a:rPr>
              <a:t>) that allows you to create, manage, and publish digital content easily. </a:t>
            </a:r>
          </a:p>
          <a:p>
            <a:pPr algn="just">
              <a:buFont typeface="+mj-lt"/>
              <a:buAutoNum type="arabicPeriod"/>
            </a:pPr>
            <a:r>
              <a:rPr lang="en-US" sz="2400" b="1" i="0">
                <a:solidFill>
                  <a:srgbClr val="374151"/>
                </a:solidFill>
                <a:effectLst/>
                <a:latin typeface="+mj-lt"/>
              </a:rPr>
              <a:t>Digital Advertising Channels:</a:t>
            </a:r>
            <a:r>
              <a:rPr lang="en-US" sz="2400" b="0" i="0">
                <a:solidFill>
                  <a:srgbClr val="374151"/>
                </a:solidFill>
                <a:effectLst/>
                <a:latin typeface="+mj-lt"/>
              </a:rPr>
              <a:t> </a:t>
            </a:r>
            <a:r>
              <a:rPr lang="en-US" sz="2200" b="0" i="0">
                <a:solidFill>
                  <a:srgbClr val="374151"/>
                </a:solidFill>
                <a:effectLst/>
                <a:latin typeface="+mj-lt"/>
              </a:rPr>
              <a:t>Various platforms and channels for advertising, including display ads, social media ads, video ads, and more.</a:t>
            </a:r>
          </a:p>
          <a:p>
            <a:pPr algn="just">
              <a:buFont typeface="+mj-lt"/>
              <a:buAutoNum type="arabicPeriod"/>
            </a:pPr>
            <a:r>
              <a:rPr lang="en-US" sz="2400" b="1" i="0">
                <a:solidFill>
                  <a:srgbClr val="374151"/>
                </a:solidFill>
                <a:effectLst/>
                <a:latin typeface="+mj-lt"/>
              </a:rPr>
              <a:t>Influencer Marketing:</a:t>
            </a:r>
            <a:r>
              <a:rPr lang="en-US" sz="2400" b="0" i="0">
                <a:solidFill>
                  <a:srgbClr val="374151"/>
                </a:solidFill>
                <a:effectLst/>
                <a:latin typeface="+mj-lt"/>
              </a:rPr>
              <a:t> </a:t>
            </a:r>
            <a:r>
              <a:rPr lang="en-US" sz="2200" b="0" i="0">
                <a:solidFill>
                  <a:srgbClr val="374151"/>
                </a:solidFill>
                <a:effectLst/>
                <a:latin typeface="+mj-lt"/>
              </a:rPr>
              <a:t>Partnering with individuals with a significant online following (influencers) to promote products or services.</a:t>
            </a:r>
          </a:p>
          <a:p>
            <a:pPr algn="just">
              <a:buFont typeface="+mj-lt"/>
              <a:buAutoNum type="arabicPeriod"/>
            </a:pPr>
            <a:r>
              <a:rPr lang="en-US" sz="2400" b="1" i="0">
                <a:solidFill>
                  <a:srgbClr val="374151"/>
                </a:solidFill>
                <a:effectLst/>
                <a:latin typeface="+mj-lt"/>
              </a:rPr>
              <a:t>Marketing Funnel:</a:t>
            </a:r>
            <a:r>
              <a:rPr lang="en-US" sz="2400" b="0" i="0">
                <a:solidFill>
                  <a:srgbClr val="374151"/>
                </a:solidFill>
                <a:effectLst/>
                <a:latin typeface="+mj-lt"/>
              </a:rPr>
              <a:t> </a:t>
            </a:r>
            <a:r>
              <a:rPr lang="en-US" sz="2200" b="0" i="0">
                <a:solidFill>
                  <a:srgbClr val="374151"/>
                </a:solidFill>
                <a:effectLst/>
                <a:latin typeface="+mj-lt"/>
              </a:rPr>
              <a:t>A visual representation of the customer journey from awareness to conversion, often divided into stages like </a:t>
            </a:r>
            <a:r>
              <a:rPr lang="en-US" sz="2200" b="1" i="0">
                <a:solidFill>
                  <a:srgbClr val="374151"/>
                </a:solidFill>
                <a:effectLst/>
                <a:latin typeface="+mj-lt"/>
              </a:rPr>
              <a:t>Awareness, Consideration, Conversion </a:t>
            </a:r>
            <a:r>
              <a:rPr lang="en-US" sz="2200" i="0">
                <a:solidFill>
                  <a:srgbClr val="374151"/>
                </a:solidFill>
                <a:effectLst/>
                <a:latin typeface="+mj-lt"/>
              </a:rPr>
              <a:t>and </a:t>
            </a:r>
            <a:r>
              <a:rPr lang="en-US" sz="2200" b="1" i="0">
                <a:solidFill>
                  <a:srgbClr val="374151"/>
                </a:solidFill>
                <a:effectLst/>
                <a:latin typeface="+mj-lt"/>
              </a:rPr>
              <a:t>Loyalty.</a:t>
            </a:r>
          </a:p>
          <a:p>
            <a:pPr algn="just">
              <a:buFont typeface="+mj-lt"/>
              <a:buAutoNum type="arabicPeriod"/>
            </a:pPr>
            <a:r>
              <a:rPr lang="en-US" sz="2400" b="1" i="0">
                <a:solidFill>
                  <a:srgbClr val="374151"/>
                </a:solidFill>
                <a:effectLst/>
                <a:latin typeface="+mj-lt"/>
              </a:rPr>
              <a:t>Remarketing/Retargeting:</a:t>
            </a:r>
            <a:r>
              <a:rPr lang="en-US" sz="2400" b="0" i="0">
                <a:solidFill>
                  <a:srgbClr val="374151"/>
                </a:solidFill>
                <a:effectLst/>
                <a:latin typeface="+mj-lt"/>
              </a:rPr>
              <a:t> </a:t>
            </a:r>
            <a:r>
              <a:rPr lang="en-US" sz="2200" b="0" i="0">
                <a:solidFill>
                  <a:srgbClr val="374151"/>
                </a:solidFill>
                <a:effectLst/>
                <a:latin typeface="+mj-lt"/>
              </a:rPr>
              <a:t>Displaying targeted ads to users who have previously visited your website or interacted with your brand online.</a:t>
            </a:r>
          </a:p>
        </p:txBody>
      </p:sp>
    </p:spTree>
    <p:extLst>
      <p:ext uri="{BB962C8B-B14F-4D97-AF65-F5344CB8AC3E}">
        <p14:creationId xmlns:p14="http://schemas.microsoft.com/office/powerpoint/2010/main" val="26817690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noProof="0"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noProof="0" dirty="0"/>
              <a:t>This work is protected by United States copyright laws and is</a:t>
            </a:r>
            <a:r>
              <a:rPr lang="en-US" b="1" baseline="0" noProof="0" dirty="0"/>
              <a:t> </a:t>
            </a:r>
            <a:r>
              <a:rPr lang="en-US" b="1" noProof="0"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147544</TotalTime>
  <Words>3265</Words>
  <Application>Microsoft Office PowerPoint</Application>
  <PresentationFormat>On-screen Show (4:3)</PresentationFormat>
  <Paragraphs>398</Paragraphs>
  <Slides>51</Slides>
  <Notes>18</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51</vt:i4>
      </vt:variant>
    </vt:vector>
  </HeadingPairs>
  <TitlesOfParts>
    <vt:vector size="66" baseType="lpstr">
      <vt:lpstr>Wingdings</vt:lpstr>
      <vt:lpstr>var(--cds-font-family-source-sans-pro)</vt:lpstr>
      <vt:lpstr>Wingdings 2</vt:lpstr>
      <vt:lpstr>Calibri</vt:lpstr>
      <vt:lpstr>Noto Sans Symbols</vt:lpstr>
      <vt:lpstr>Arial MT</vt:lpstr>
      <vt:lpstr>OpenSans</vt:lpstr>
      <vt:lpstr>Cambria</vt:lpstr>
      <vt:lpstr>Verdana</vt:lpstr>
      <vt:lpstr>Source Sans Pro</vt:lpstr>
      <vt:lpstr>Söhne</vt:lpstr>
      <vt:lpstr>Times New Roman</vt:lpstr>
      <vt:lpstr>Arial</vt:lpstr>
      <vt:lpstr>USHE</vt:lpstr>
      <vt:lpstr>USHE_slide options</vt:lpstr>
      <vt:lpstr>PowerPoint Presentation</vt:lpstr>
      <vt:lpstr>E-Commerce &amp; Digital Marketing</vt:lpstr>
      <vt:lpstr>E-COMMERCE &amp; DIGITAL MARKETING</vt:lpstr>
      <vt:lpstr>Catalog Description:  </vt:lpstr>
      <vt:lpstr>PowerPoint Presentation</vt:lpstr>
      <vt:lpstr>PowerPoint Presentation</vt:lpstr>
      <vt:lpstr>Course Learning Outcomes:</vt:lpstr>
      <vt:lpstr>Course Evaluation Break Down</vt:lpstr>
      <vt:lpstr>Course Requirements</vt:lpstr>
      <vt:lpstr>PowerPoint Presentation</vt:lpstr>
      <vt:lpstr>E-commerce: Business. Technology. Society.</vt:lpstr>
      <vt:lpstr>Learning Objectives</vt:lpstr>
      <vt:lpstr>TikTok: Creators and the Creator Economy</vt:lpstr>
      <vt:lpstr>The First Five Minutes: Why You Should Study E-commerce</vt:lpstr>
      <vt:lpstr>What Is E-commerce? </vt:lpstr>
      <vt:lpstr>What Is E-commerce?</vt:lpstr>
      <vt:lpstr>What Is E-commerce? </vt:lpstr>
      <vt:lpstr>The Difference Between E-commerce and E-business</vt:lpstr>
      <vt:lpstr>Figure 1.1 The Difference Between  E-commerce and E-business</vt:lpstr>
      <vt:lpstr>Technological Building Blocks Underlying E-commerce</vt:lpstr>
      <vt:lpstr>Insight on Technology: Will Apps Make the Web Irrelevant?</vt:lpstr>
      <vt:lpstr>Major Trends in E-commerce (1 of 3)</vt:lpstr>
      <vt:lpstr>Major Trends in E-commerce (2 of 3)</vt:lpstr>
      <vt:lpstr>Major Trends in E-commerce (3 of 3)</vt:lpstr>
      <vt:lpstr>Unique Features of E-commerce Technology (1 of 2)</vt:lpstr>
      <vt:lpstr>Unique Features of E-commerce Technology (2 of 2)</vt:lpstr>
      <vt:lpstr>Figure 1.4 Eight Unique Features of  E-commerce Technology</vt:lpstr>
      <vt:lpstr>Types of E-commerce</vt:lpstr>
      <vt:lpstr>Types of E-Commerce</vt:lpstr>
      <vt:lpstr>Figure 1.9 The Relative Size of Different Types of E-commerce</vt:lpstr>
      <vt:lpstr>E-commerce: A Brief History (1 of 4)</vt:lpstr>
      <vt:lpstr>E-commerce: A Brief History (2 of 4)</vt:lpstr>
      <vt:lpstr>E-commerce: A Brief History (3 of 4)</vt:lpstr>
      <vt:lpstr>E-commerce: A Brief History (4 of 4)</vt:lpstr>
      <vt:lpstr>Figure 1.10 Periods in the Development of E-commerce</vt:lpstr>
      <vt:lpstr>Insight on Business: Y Combinator’s Startup Boot Camp</vt:lpstr>
      <vt:lpstr>Assessing E-commerce (1 of 2)</vt:lpstr>
      <vt:lpstr>Assessing E-commerce (2 of 2)</vt:lpstr>
      <vt:lpstr>E-commerce: Key Concepts</vt:lpstr>
      <vt:lpstr>New channel structures</vt:lpstr>
      <vt:lpstr>E-commerce: Key Concepts</vt:lpstr>
      <vt:lpstr>Understanding E-commerce: Organizing Themes</vt:lpstr>
      <vt:lpstr>Insight on Society: Facebook and the Age of Privacy</vt:lpstr>
      <vt:lpstr>Careers in E-commerce</vt:lpstr>
      <vt:lpstr>Agency roles vs. In-house roles</vt:lpstr>
      <vt:lpstr>Roles and responsibilities in digital marketing and e-commerce</vt:lpstr>
      <vt:lpstr>What is Digital Marketing?</vt:lpstr>
      <vt:lpstr>Digital Marketing Process </vt:lpstr>
      <vt:lpstr>Digital Marketing: Key Concepts</vt:lpstr>
      <vt:lpstr>Digital Marketing: Key Concepts</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2023: business. technology. society., Seventeenth Edition, Chapter 1, The Revolution Is Just Beginning</dc:title>
  <dc:subject>MIS</dc:subject>
  <dc:creator>Laudon/Traver</dc:creator>
  <cp:keywords>E-commerce 2023</cp:keywords>
  <dc:description/>
  <cp:lastModifiedBy>Omervikas</cp:lastModifiedBy>
  <cp:revision>777</cp:revision>
  <dcterms:modified xsi:type="dcterms:W3CDTF">2026-02-03T12:49:17Z</dcterms:modified>
</cp:coreProperties>
</file>