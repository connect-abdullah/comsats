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26"/>
  </p:notesMasterIdLst>
  <p:sldIdLst>
    <p:sldId id="256" r:id="rId2"/>
    <p:sldId id="321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79" r:id="rId14"/>
    <p:sldId id="380" r:id="rId15"/>
    <p:sldId id="381" r:id="rId16"/>
    <p:sldId id="382" r:id="rId17"/>
    <p:sldId id="395" r:id="rId18"/>
    <p:sldId id="392" r:id="rId19"/>
    <p:sldId id="394" r:id="rId20"/>
    <p:sldId id="390" r:id="rId21"/>
    <p:sldId id="393" r:id="rId22"/>
    <p:sldId id="391" r:id="rId23"/>
    <p:sldId id="396" r:id="rId24"/>
    <p:sldId id="38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077200" cy="1499616"/>
          </a:xfrm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434" dirty="0" smtClean="0"/>
              <a:t>Outline</a:t>
            </a:r>
            <a:endParaRPr spc="-455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E-commerce: </a:t>
            </a:r>
            <a:endParaRPr lang="en-US" dirty="0" smtClean="0"/>
          </a:p>
          <a:p>
            <a:pPr lvl="1"/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 </a:t>
            </a:r>
            <a:r>
              <a:rPr lang="en-US" dirty="0" smtClean="0"/>
              <a:t>E-commerce </a:t>
            </a:r>
            <a:r>
              <a:rPr lang="en-US" dirty="0" smtClean="0"/>
              <a:t>Basics</a:t>
            </a:r>
          </a:p>
          <a:p>
            <a:pPr lvl="1"/>
            <a:r>
              <a:rPr lang="en-US" dirty="0" smtClean="0"/>
              <a:t> </a:t>
            </a:r>
            <a:r>
              <a:rPr lang="en-US" dirty="0" smtClean="0"/>
              <a:t>Business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Global </a:t>
            </a:r>
            <a:r>
              <a:rPr lang="en-US" dirty="0" smtClean="0"/>
              <a:t>Trends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Impacts</a:t>
            </a:r>
            <a:r>
              <a:rPr lang="en-US" dirty="0" smtClean="0"/>
              <a:t>: Impacts on Market &amp; </a:t>
            </a:r>
            <a:r>
              <a:rPr lang="en-US" dirty="0" smtClean="0"/>
              <a:t>Retailers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Supply Chain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Employment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Customers 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Traditional </a:t>
            </a:r>
            <a:r>
              <a:rPr lang="en-US" dirty="0" smtClean="0"/>
              <a:t>Retail </a:t>
            </a:r>
          </a:p>
          <a:p>
            <a:pPr lvl="1"/>
            <a:r>
              <a:rPr lang="en-US" dirty="0" smtClean="0"/>
              <a:t>Impact on Distribution Channels</a:t>
            </a:r>
            <a:endParaRPr lang="en-US" dirty="0" smtClean="0"/>
          </a:p>
          <a:p>
            <a:pPr>
              <a:buNone/>
            </a:pPr>
            <a:r>
              <a:rPr lang="en-GB" dirty="0" smtClean="0"/>
              <a:t>  </a:t>
            </a:r>
          </a:p>
          <a:p>
            <a:endParaRPr lang="en-GB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71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What </a:t>
            </a:r>
            <a:r>
              <a:rPr spc="-560" dirty="0"/>
              <a:t>Is</a:t>
            </a:r>
            <a:r>
              <a:rPr spc="-90" dirty="0"/>
              <a:t> </a:t>
            </a:r>
            <a:r>
              <a:rPr spc="-470" dirty="0"/>
              <a:t>E-Commerce?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513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E-Commerce</a:t>
            </a:r>
            <a:endParaRPr sz="2400">
              <a:latin typeface="Carlito"/>
              <a:cs typeface="Carlito"/>
            </a:endParaRPr>
          </a:p>
          <a:p>
            <a:pPr marL="756285" marR="4889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act </a:t>
            </a:r>
            <a:r>
              <a:rPr sz="2400" spc="-5" dirty="0">
                <a:latin typeface="Carlito"/>
                <a:cs typeface="Carlito"/>
              </a:rPr>
              <a:t>of doing business transactions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or  similar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spc="-15" dirty="0">
                <a:latin typeface="Carlito"/>
                <a:cs typeface="Carlito"/>
              </a:rPr>
              <a:t>existed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years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20" dirty="0">
                <a:latin typeface="Carlito"/>
                <a:cs typeface="Carlito"/>
              </a:rPr>
              <a:t>private </a:t>
            </a:r>
            <a:r>
              <a:rPr sz="2400" spc="-15" dirty="0">
                <a:latin typeface="Carlito"/>
                <a:cs typeface="Carlito"/>
              </a:rPr>
              <a:t>networks </a:t>
            </a:r>
            <a:r>
              <a:rPr sz="2400" spc="-5" dirty="0">
                <a:latin typeface="Carlito"/>
                <a:cs typeface="Carlito"/>
              </a:rPr>
              <a:t>(electronic funds  </a:t>
            </a:r>
            <a:r>
              <a:rPr sz="2400" spc="-20" dirty="0">
                <a:latin typeface="Carlito"/>
                <a:cs typeface="Carlito"/>
              </a:rPr>
              <a:t>transfers,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Now most often performed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Dot-com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Internet-only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no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presence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Brick-and-Mortar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conventional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presence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2179" y="1628800"/>
            <a:ext cx="2752725" cy="4886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71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What </a:t>
            </a:r>
            <a:r>
              <a:rPr spc="-560" dirty="0"/>
              <a:t>Is</a:t>
            </a:r>
            <a:r>
              <a:rPr spc="-90" dirty="0"/>
              <a:t> </a:t>
            </a:r>
            <a:r>
              <a:rPr spc="-470" dirty="0"/>
              <a:t>E-Commerce?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461262"/>
            <a:ext cx="4957445" cy="2806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M-Commerce</a:t>
            </a:r>
            <a:endParaRPr sz="2400">
              <a:latin typeface="Carlito"/>
              <a:cs typeface="Carlito"/>
            </a:endParaRPr>
          </a:p>
          <a:p>
            <a:pPr marL="756285" marR="35687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E-commerce </a:t>
            </a:r>
            <a:r>
              <a:rPr sz="2400" spc="-5" dirty="0">
                <a:latin typeface="Carlito"/>
                <a:cs typeface="Carlito"/>
              </a:rPr>
              <a:t>carried out via  smartphones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mobile  devices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Near </a:t>
            </a:r>
            <a:r>
              <a:rPr sz="2400" spc="-5" dirty="0">
                <a:latin typeface="Carlito"/>
                <a:cs typeface="Carlito"/>
              </a:rPr>
              <a:t>Field </a:t>
            </a:r>
            <a:r>
              <a:rPr sz="2400" spc="-10" dirty="0">
                <a:latin typeface="Carlito"/>
                <a:cs typeface="Carlito"/>
              </a:rPr>
              <a:t>Communications (NFC)  </a:t>
            </a: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RFID </a:t>
            </a:r>
            <a:r>
              <a:rPr sz="2400" spc="-15" dirty="0">
                <a:latin typeface="Carlito"/>
                <a:cs typeface="Carlito"/>
              </a:rPr>
              <a:t>to facilitate  </a:t>
            </a:r>
            <a:r>
              <a:rPr sz="2400" spc="-10" dirty="0">
                <a:latin typeface="Carlito"/>
                <a:cs typeface="Carlito"/>
              </a:rPr>
              <a:t>communications </a:t>
            </a:r>
            <a:r>
              <a:rPr sz="2400" spc="-5" dirty="0">
                <a:latin typeface="Carlito"/>
                <a:cs typeface="Carlito"/>
              </a:rPr>
              <a:t>between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656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Advantages </a:t>
            </a:r>
            <a:r>
              <a:rPr spc="-285" dirty="0"/>
              <a:t>of</a:t>
            </a:r>
            <a:r>
              <a:rPr dirty="0"/>
              <a:t> </a:t>
            </a:r>
            <a:r>
              <a:rPr spc="-459" dirty="0"/>
              <a:t>E-Commerce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8909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Businesses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Reduced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costs</a:t>
            </a:r>
            <a:endParaRPr sz="2400">
              <a:latin typeface="Carlito"/>
              <a:cs typeface="Carlito"/>
            </a:endParaRPr>
          </a:p>
          <a:p>
            <a:pPr marL="1155700" marR="314325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Dot-coms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10" dirty="0">
                <a:latin typeface="Carlito"/>
                <a:cs typeface="Carlito"/>
              </a:rPr>
              <a:t>expensive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brick-and-mortar  </a:t>
            </a:r>
            <a:r>
              <a:rPr sz="2400" spc="-20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because </a:t>
            </a:r>
            <a:r>
              <a:rPr sz="2400" spc="-10" dirty="0">
                <a:latin typeface="Carlito"/>
                <a:cs typeface="Carlito"/>
              </a:rPr>
              <a:t>there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no </a:t>
            </a: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20" dirty="0">
                <a:latin typeface="Carlito"/>
                <a:cs typeface="Carlito"/>
              </a:rPr>
              <a:t>storefront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maintain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Increased </a:t>
            </a:r>
            <a:r>
              <a:rPr sz="2400" spc="-10" dirty="0">
                <a:latin typeface="Carlito"/>
                <a:cs typeface="Carlito"/>
              </a:rPr>
              <a:t>customer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satisfaction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Shopping experience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convenient </a:t>
            </a:r>
            <a:r>
              <a:rPr sz="2400" spc="-5" dirty="0">
                <a:latin typeface="Carlito"/>
                <a:cs typeface="Carlito"/>
              </a:rPr>
              <a:t>(open </a:t>
            </a:r>
            <a:r>
              <a:rPr sz="2400" dirty="0">
                <a:latin typeface="Carlito"/>
                <a:cs typeface="Carlito"/>
              </a:rPr>
              <a:t>all the time,  </a:t>
            </a:r>
            <a:r>
              <a:rPr sz="2400" spc="-5" dirty="0">
                <a:latin typeface="Carlito"/>
                <a:cs typeface="Carlito"/>
              </a:rPr>
              <a:t>no driving,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send </a:t>
            </a:r>
            <a:r>
              <a:rPr sz="2400" spc="-15" dirty="0">
                <a:latin typeface="Carlito"/>
                <a:cs typeface="Carlito"/>
              </a:rPr>
              <a:t>customers personalized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Broader customer </a:t>
            </a:r>
            <a:r>
              <a:rPr sz="2400" spc="-5" dirty="0">
                <a:latin typeface="Carlito"/>
                <a:cs typeface="Carlito"/>
              </a:rPr>
              <a:t>base (less </a:t>
            </a:r>
            <a:r>
              <a:rPr sz="2400" spc="-10" dirty="0">
                <a:latin typeface="Carlito"/>
                <a:cs typeface="Carlito"/>
              </a:rPr>
              <a:t>geographical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restrictions)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Potentially </a:t>
            </a:r>
            <a:r>
              <a:rPr sz="2400" spc="-5" dirty="0">
                <a:latin typeface="Carlito"/>
                <a:cs typeface="Carlito"/>
              </a:rPr>
              <a:t>higher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sales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656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Advantages </a:t>
            </a:r>
            <a:r>
              <a:rPr spc="-285" dirty="0"/>
              <a:t>of</a:t>
            </a:r>
            <a:r>
              <a:rPr dirty="0"/>
              <a:t> </a:t>
            </a:r>
            <a:r>
              <a:rPr spc="-459" dirty="0"/>
              <a:t>E-Commerce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09205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Customers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Convenience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Higher </a:t>
            </a:r>
            <a:r>
              <a:rPr sz="2400" spc="-10" dirty="0">
                <a:latin typeface="Carlito"/>
                <a:cs typeface="Carlito"/>
              </a:rPr>
              <a:t>degree of </a:t>
            </a:r>
            <a:r>
              <a:rPr sz="2400" spc="-5" dirty="0">
                <a:latin typeface="Carlito"/>
                <a:cs typeface="Carlito"/>
              </a:rPr>
              <a:t>selection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Easier comparison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shopping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Higher number of </a:t>
            </a:r>
            <a:r>
              <a:rPr sz="2400" spc="-10" dirty="0">
                <a:latin typeface="Carlito"/>
                <a:cs typeface="Carlito"/>
              </a:rPr>
              <a:t>merchants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choose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from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Geographical location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issue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Shopping bots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comparison </a:t>
            </a:r>
            <a:r>
              <a:rPr sz="2400" spc="-5" dirty="0">
                <a:latin typeface="Carlito"/>
                <a:cs typeface="Carlito"/>
              </a:rPr>
              <a:t>shopping </a:t>
            </a:r>
            <a:r>
              <a:rPr sz="2400" spc="-10" dirty="0">
                <a:latin typeface="Carlito"/>
                <a:cs typeface="Carlito"/>
              </a:rPr>
              <a:t>tools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Potential cost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savings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Customized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Technology </a:t>
            </a:r>
            <a:r>
              <a:rPr spc="-405" dirty="0"/>
              <a:t>and </a:t>
            </a:r>
            <a:r>
              <a:rPr spc="-490" dirty="0"/>
              <a:t>You</a:t>
            </a:r>
            <a:r>
              <a:rPr spc="95" dirty="0"/>
              <a:t> </a:t>
            </a:r>
            <a:r>
              <a:rPr spc="-600" dirty="0"/>
              <a:t>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029835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Mobile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Payments</a:t>
            </a:r>
            <a:endParaRPr sz="2400">
              <a:latin typeface="Carlito"/>
              <a:cs typeface="Carlito"/>
            </a:endParaRPr>
          </a:p>
          <a:p>
            <a:pPr marL="756285" marR="6985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65" dirty="0">
                <a:latin typeface="Carlito"/>
                <a:cs typeface="Carlito"/>
              </a:rPr>
              <a:t>You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10" dirty="0">
                <a:latin typeface="Carlito"/>
                <a:cs typeface="Carlito"/>
              </a:rPr>
              <a:t>purchases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send  money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others </a:t>
            </a:r>
            <a:r>
              <a:rPr sz="2400" dirty="0">
                <a:latin typeface="Carlito"/>
                <a:cs typeface="Carlito"/>
              </a:rPr>
              <a:t>via a </a:t>
            </a:r>
            <a:r>
              <a:rPr sz="2400" spc="-5" dirty="0">
                <a:latin typeface="Carlito"/>
                <a:cs typeface="Carlito"/>
              </a:rPr>
              <a:t>mobile  device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10" dirty="0">
                <a:latin typeface="Carlito"/>
                <a:cs typeface="Carlito"/>
              </a:rPr>
              <a:t>payment processing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allows  payments </a:t>
            </a:r>
            <a:r>
              <a:rPr sz="2400" spc="-5" dirty="0">
                <a:latin typeface="Carlito"/>
                <a:cs typeface="Carlito"/>
              </a:rPr>
              <a:t>(typically credit </a:t>
            </a:r>
            <a:r>
              <a:rPr sz="2400" spc="-15" dirty="0">
                <a:latin typeface="Carlito"/>
                <a:cs typeface="Carlito"/>
              </a:rPr>
              <a:t>card  </a:t>
            </a:r>
            <a:r>
              <a:rPr sz="2400" spc="-10" dirty="0">
                <a:latin typeface="Carlito"/>
                <a:cs typeface="Carlito"/>
              </a:rPr>
              <a:t>payments)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collected </a:t>
            </a:r>
            <a:r>
              <a:rPr sz="2400" dirty="0">
                <a:latin typeface="Carlito"/>
                <a:cs typeface="Carlito"/>
              </a:rPr>
              <a:t>via a  mobile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Field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workers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Craft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vendors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Sales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personnel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1396" y="2636913"/>
            <a:ext cx="3399917" cy="3391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21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Disadvantages </a:t>
            </a:r>
            <a:r>
              <a:rPr spc="-285" dirty="0"/>
              <a:t>of</a:t>
            </a:r>
            <a:r>
              <a:rPr dirty="0"/>
              <a:t> </a:t>
            </a:r>
            <a:r>
              <a:rPr spc="-459" dirty="0"/>
              <a:t>E-Commerce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41259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Businesses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Pressure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always </a:t>
            </a:r>
            <a:r>
              <a:rPr sz="2400" spc="-5" dirty="0">
                <a:latin typeface="Carlito"/>
                <a:cs typeface="Carlito"/>
              </a:rPr>
              <a:t>open, </a:t>
            </a:r>
            <a:r>
              <a:rPr sz="2400" spc="-10" dirty="0">
                <a:latin typeface="Carlito"/>
                <a:cs typeface="Carlito"/>
              </a:rPr>
              <a:t>site </a:t>
            </a:r>
            <a:r>
              <a:rPr sz="2400" spc="-20" dirty="0">
                <a:latin typeface="Carlito"/>
                <a:cs typeface="Carlito"/>
              </a:rPr>
              <a:t>always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working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Solid, </a:t>
            </a:r>
            <a:r>
              <a:rPr sz="2400" spc="-10" dirty="0">
                <a:latin typeface="Carlito"/>
                <a:cs typeface="Carlito"/>
              </a:rPr>
              <a:t>well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0" dirty="0">
                <a:latin typeface="Carlito"/>
                <a:cs typeface="Carlito"/>
              </a:rPr>
              <a:t>sites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hosting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Lost </a:t>
            </a:r>
            <a:r>
              <a:rPr sz="2400" spc="-5" dirty="0">
                <a:latin typeface="Carlito"/>
                <a:cs typeface="Carlito"/>
              </a:rPr>
              <a:t>business due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spc="-10" dirty="0">
                <a:latin typeface="Carlito"/>
                <a:cs typeface="Carlito"/>
              </a:rPr>
              <a:t>customer hesitation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shop  </a:t>
            </a:r>
            <a:r>
              <a:rPr sz="2400" spc="-5" dirty="0">
                <a:latin typeface="Carlito"/>
                <a:cs typeface="Carlito"/>
              </a:rPr>
              <a:t>online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Risk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fraudulent </a:t>
            </a:r>
            <a:r>
              <a:rPr sz="2400" spc="-5" dirty="0">
                <a:latin typeface="Carlito"/>
                <a:cs typeface="Carlito"/>
              </a:rPr>
              <a:t>credit </a:t>
            </a:r>
            <a:r>
              <a:rPr sz="2400" spc="-15" dirty="0">
                <a:latin typeface="Carlito"/>
                <a:cs typeface="Carlito"/>
              </a:rPr>
              <a:t>card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transactions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Ease </a:t>
            </a:r>
            <a:r>
              <a:rPr sz="2400" spc="-5" dirty="0">
                <a:latin typeface="Carlito"/>
                <a:cs typeface="Carlito"/>
              </a:rPr>
              <a:t>of entry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competitors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21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Disadvantages </a:t>
            </a:r>
            <a:r>
              <a:rPr spc="-285" dirty="0"/>
              <a:t>of</a:t>
            </a:r>
            <a:r>
              <a:rPr dirty="0"/>
              <a:t> </a:t>
            </a:r>
            <a:r>
              <a:rPr spc="-459" dirty="0"/>
              <a:t>E-Commerce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73034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Customers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Potential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fraud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potential </a:t>
            </a:r>
            <a:r>
              <a:rPr sz="2400" spc="-5" dirty="0">
                <a:latin typeface="Carlito"/>
                <a:cs typeface="Carlito"/>
              </a:rPr>
              <a:t>security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problems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Buyer </a:t>
            </a:r>
            <a:r>
              <a:rPr sz="2400" spc="-10" dirty="0">
                <a:latin typeface="Carlito"/>
                <a:cs typeface="Carlito"/>
              </a:rPr>
              <a:t>protection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using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credit </a:t>
            </a:r>
            <a:r>
              <a:rPr sz="2400" spc="-15" dirty="0">
                <a:latin typeface="Carlito"/>
                <a:cs typeface="Carlito"/>
              </a:rPr>
              <a:t>card </a:t>
            </a:r>
            <a:r>
              <a:rPr sz="2400" spc="-10" dirty="0">
                <a:latin typeface="Carlito"/>
                <a:cs typeface="Carlito"/>
              </a:rPr>
              <a:t>protection can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help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Not being </a:t>
            </a:r>
            <a:r>
              <a:rPr sz="2400" dirty="0">
                <a:latin typeface="Carlito"/>
                <a:cs typeface="Carlito"/>
              </a:rPr>
              <a:t>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see or </a:t>
            </a:r>
            <a:r>
              <a:rPr sz="2400" spc="-10" dirty="0">
                <a:latin typeface="Carlito"/>
                <a:cs typeface="Carlito"/>
              </a:rPr>
              <a:t>touch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goods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3D </a:t>
            </a:r>
            <a:r>
              <a:rPr sz="2400" spc="-5" dirty="0">
                <a:latin typeface="Carlito"/>
                <a:cs typeface="Carlito"/>
              </a:rPr>
              <a:t>online </a:t>
            </a:r>
            <a:r>
              <a:rPr sz="2400" spc="-20" dirty="0">
                <a:latin typeface="Carlito"/>
                <a:cs typeface="Carlito"/>
              </a:rPr>
              <a:t>stores may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help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Possible expense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returning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merchandise</a:t>
            </a:r>
            <a:endParaRPr sz="2400">
              <a:latin typeface="Carlito"/>
              <a:cs typeface="Carlito"/>
            </a:endParaRPr>
          </a:p>
          <a:p>
            <a:pPr marL="1155700" marR="31369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Some click-and-mortar </a:t>
            </a:r>
            <a:r>
              <a:rPr sz="2400" spc="-20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0" dirty="0">
                <a:latin typeface="Carlito"/>
                <a:cs typeface="Carlito"/>
              </a:rPr>
              <a:t>returns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local  </a:t>
            </a:r>
            <a:r>
              <a:rPr sz="2400" spc="-20" dirty="0">
                <a:latin typeface="Carlito"/>
                <a:cs typeface="Carlito"/>
              </a:rPr>
              <a:t>stores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9435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E-Commerce </a:t>
            </a:r>
            <a:r>
              <a:rPr spc="-545" dirty="0"/>
              <a:t>Business</a:t>
            </a:r>
            <a:r>
              <a:rPr spc="-10" dirty="0"/>
              <a:t> </a:t>
            </a:r>
            <a:r>
              <a:rPr spc="-380"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63534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Business-to-Consumer (B2C) </a:t>
            </a:r>
            <a:r>
              <a:rPr sz="2400" dirty="0">
                <a:latin typeface="Carlito"/>
                <a:cs typeface="Carlito"/>
              </a:rPr>
              <a:t>Business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Model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e-commerce </a:t>
            </a:r>
            <a:r>
              <a:rPr sz="2400" dirty="0">
                <a:latin typeface="Carlito"/>
                <a:cs typeface="Carlito"/>
              </a:rPr>
              <a:t>model in which a </a:t>
            </a:r>
            <a:r>
              <a:rPr sz="2400" spc="-5" dirty="0">
                <a:latin typeface="Carlito"/>
                <a:cs typeface="Carlito"/>
              </a:rPr>
              <a:t>business </a:t>
            </a:r>
            <a:r>
              <a:rPr sz="2400" spc="-10" dirty="0">
                <a:latin typeface="Carlito"/>
                <a:cs typeface="Carlito"/>
              </a:rPr>
              <a:t>provides goods 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services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consumers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Business-to-Business (B2B) </a:t>
            </a:r>
            <a:r>
              <a:rPr sz="2400" dirty="0">
                <a:latin typeface="Carlito"/>
                <a:cs typeface="Carlito"/>
              </a:rPr>
              <a:t>Business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Model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e-commerce </a:t>
            </a:r>
            <a:r>
              <a:rPr sz="2400" dirty="0">
                <a:latin typeface="Carlito"/>
                <a:cs typeface="Carlito"/>
              </a:rPr>
              <a:t>model in which a </a:t>
            </a:r>
            <a:r>
              <a:rPr sz="2400" spc="-5" dirty="0">
                <a:latin typeface="Carlito"/>
                <a:cs typeface="Carlito"/>
              </a:rPr>
              <a:t>business </a:t>
            </a:r>
            <a:r>
              <a:rPr sz="2400" spc="-10" dirty="0">
                <a:latin typeface="Carlito"/>
                <a:cs typeface="Carlito"/>
              </a:rPr>
              <a:t>provides goods 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services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businesses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Intermediary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Hubs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Bring </a:t>
            </a:r>
            <a:r>
              <a:rPr sz="2400" spc="-15" dirty="0">
                <a:latin typeface="Carlito"/>
                <a:cs typeface="Carlito"/>
              </a:rPr>
              <a:t>buyers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sellers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together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20" dirty="0">
                <a:latin typeface="Carlito"/>
                <a:cs typeface="Carlito"/>
              </a:rPr>
              <a:t>Vertical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hubs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5" dirty="0">
                <a:latin typeface="Carlito"/>
                <a:cs typeface="Carlito"/>
              </a:rPr>
              <a:t>Horizontal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hubs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9435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E-Commerce </a:t>
            </a:r>
            <a:r>
              <a:rPr spc="-545" dirty="0"/>
              <a:t>Business</a:t>
            </a:r>
            <a:r>
              <a:rPr spc="-10" dirty="0"/>
              <a:t> </a:t>
            </a:r>
            <a:r>
              <a:rPr spc="-380"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607934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Consumer-to-Consumer </a:t>
            </a:r>
            <a:r>
              <a:rPr sz="2400" dirty="0">
                <a:latin typeface="Carlito"/>
                <a:cs typeface="Carlito"/>
              </a:rPr>
              <a:t>(C2C) Business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Model</a:t>
            </a:r>
            <a:endParaRPr sz="2400">
              <a:latin typeface="Carlito"/>
              <a:cs typeface="Carlito"/>
            </a:endParaRPr>
          </a:p>
          <a:p>
            <a:pPr marL="697865" marR="34925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e-commerce </a:t>
            </a:r>
            <a:r>
              <a:rPr sz="2400" dirty="0">
                <a:latin typeface="Carlito"/>
                <a:cs typeface="Carlito"/>
              </a:rPr>
              <a:t>model in which a </a:t>
            </a:r>
            <a:r>
              <a:rPr sz="2400" spc="-10" dirty="0">
                <a:latin typeface="Carlito"/>
                <a:cs typeface="Carlito"/>
              </a:rPr>
              <a:t>consumer provides  goods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services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consumers</a:t>
            </a:r>
            <a:endParaRPr sz="2400">
              <a:latin typeface="Carlito"/>
              <a:cs typeface="Carlito"/>
            </a:endParaRPr>
          </a:p>
          <a:p>
            <a:pPr marL="697865" marR="47752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Craigslist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online </a:t>
            </a:r>
            <a:r>
              <a:rPr sz="2400" dirty="0">
                <a:latin typeface="Carlito"/>
                <a:cs typeface="Carlito"/>
              </a:rPr>
              <a:t>auctions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common </a:t>
            </a:r>
            <a:r>
              <a:rPr sz="2400" dirty="0">
                <a:latin typeface="Carlito"/>
                <a:cs typeface="Carlito"/>
              </a:rPr>
              <a:t>means</a:t>
            </a:r>
            <a:r>
              <a:rPr sz="2400" spc="-1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  C2C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transactions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Business-to-Government (B2G) </a:t>
            </a:r>
            <a:r>
              <a:rPr sz="2400" dirty="0">
                <a:latin typeface="Carlito"/>
                <a:cs typeface="Carlito"/>
              </a:rPr>
              <a:t>Business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Model</a:t>
            </a:r>
            <a:endParaRPr sz="2400">
              <a:latin typeface="Carlito"/>
              <a:cs typeface="Carlito"/>
            </a:endParaRPr>
          </a:p>
          <a:p>
            <a:pPr marL="697865" marR="518159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e-commerce </a:t>
            </a:r>
            <a:r>
              <a:rPr sz="2400" dirty="0">
                <a:latin typeface="Carlito"/>
                <a:cs typeface="Carlito"/>
              </a:rPr>
              <a:t>model in which a </a:t>
            </a:r>
            <a:r>
              <a:rPr sz="2400" spc="-5" dirty="0">
                <a:latin typeface="Carlito"/>
                <a:cs typeface="Carlito"/>
              </a:rPr>
              <a:t>business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provides  goods </a:t>
            </a:r>
            <a:r>
              <a:rPr sz="2400" dirty="0">
                <a:latin typeface="Carlito"/>
                <a:cs typeface="Carlito"/>
              </a:rPr>
              <a:t>and services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government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organizations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Businesses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10" dirty="0">
                <a:latin typeface="Carlito"/>
                <a:cs typeface="Carlito"/>
              </a:rPr>
              <a:t>paying </a:t>
            </a:r>
            <a:r>
              <a:rPr sz="2400" spc="-25" dirty="0">
                <a:latin typeface="Carlito"/>
                <a:cs typeface="Carlito"/>
              </a:rPr>
              <a:t>taxes </a:t>
            </a:r>
            <a:r>
              <a:rPr sz="2400" spc="-5" dirty="0">
                <a:latin typeface="Carlito"/>
                <a:cs typeface="Carlito"/>
              </a:rPr>
              <a:t>online </a:t>
            </a:r>
            <a:r>
              <a:rPr sz="2400" spc="-10" dirty="0">
                <a:latin typeface="Carlito"/>
                <a:cs typeface="Carlito"/>
              </a:rPr>
              <a:t>etc. can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viewed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G2B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G2C transactions,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respectively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9435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E-Commerce </a:t>
            </a:r>
            <a:r>
              <a:rPr spc="-545" dirty="0"/>
              <a:t>Business</a:t>
            </a:r>
            <a:r>
              <a:rPr spc="-10" dirty="0"/>
              <a:t> </a:t>
            </a:r>
            <a:r>
              <a:rPr spc="-380" dirty="0"/>
              <a:t>Models</a:t>
            </a:r>
          </a:p>
        </p:txBody>
      </p:sp>
      <p:sp>
        <p:nvSpPr>
          <p:cNvPr id="3" name="object 3"/>
          <p:cNvSpPr/>
          <p:nvPr/>
        </p:nvSpPr>
        <p:spPr>
          <a:xfrm>
            <a:off x="1259636" y="1556791"/>
            <a:ext cx="5255821" cy="4736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04279" y="3068954"/>
            <a:ext cx="1066800" cy="447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Manufacturer and E-</a:t>
            </a:r>
            <a:r>
              <a:rPr lang="en-US" dirty="0" err="1"/>
              <a:t>Tailer</a:t>
            </a:r>
            <a:r>
              <a:rPr lang="en-US" dirty="0"/>
              <a:t> Sites </a:t>
            </a:r>
            <a:endParaRPr lang="en-US" dirty="0" smtClean="0"/>
          </a:p>
          <a:p>
            <a:pPr lvl="1"/>
            <a:r>
              <a:rPr lang="en-US" dirty="0" smtClean="0"/>
              <a:t>Manufacturers </a:t>
            </a:r>
            <a:r>
              <a:rPr lang="en-US" dirty="0"/>
              <a:t>and online retailers sell directly </a:t>
            </a:r>
            <a:r>
              <a:rPr lang="en-US" dirty="0" smtClean="0"/>
              <a:t>to customers </a:t>
            </a:r>
            <a:r>
              <a:rPr lang="en-US" dirty="0"/>
              <a:t>via their Web </a:t>
            </a:r>
            <a:r>
              <a:rPr lang="en-US" dirty="0" smtClean="0"/>
              <a:t>sites</a:t>
            </a:r>
          </a:p>
          <a:p>
            <a:r>
              <a:rPr lang="en-US" dirty="0"/>
              <a:t>Subscription Sites </a:t>
            </a:r>
          </a:p>
          <a:p>
            <a:pPr lvl="1"/>
            <a:r>
              <a:rPr lang="en-US" dirty="0" smtClean="0"/>
              <a:t>Sells </a:t>
            </a:r>
            <a:r>
              <a:rPr lang="en-US" dirty="0"/>
              <a:t>access to </a:t>
            </a:r>
            <a:r>
              <a:rPr lang="en-US" dirty="0" smtClean="0"/>
              <a:t>its online </a:t>
            </a:r>
            <a:r>
              <a:rPr lang="en-US" dirty="0"/>
              <a:t>content </a:t>
            </a:r>
            <a:endParaRPr lang="en-US" dirty="0" smtClean="0"/>
          </a:p>
          <a:p>
            <a:pPr lvl="2"/>
            <a:r>
              <a:rPr lang="en-US" dirty="0"/>
              <a:t>Newspapers and </a:t>
            </a:r>
            <a:r>
              <a:rPr lang="en-US" dirty="0" smtClean="0"/>
              <a:t>journals</a:t>
            </a:r>
          </a:p>
          <a:p>
            <a:pPr lvl="2"/>
            <a:r>
              <a:rPr lang="en-US" dirty="0"/>
              <a:t>E-book </a:t>
            </a:r>
            <a:r>
              <a:rPr lang="en-US" dirty="0" smtClean="0"/>
              <a:t>rentals</a:t>
            </a:r>
          </a:p>
          <a:p>
            <a:pPr lvl="2"/>
            <a:r>
              <a:rPr lang="en-US" dirty="0"/>
              <a:t>Premium social </a:t>
            </a:r>
            <a:r>
              <a:rPr lang="en-US" dirty="0" smtClean="0"/>
              <a:t>networking </a:t>
            </a:r>
            <a:r>
              <a:rPr lang="en-US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xmlns="" val="393810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Brokerage Sites </a:t>
            </a:r>
            <a:endParaRPr lang="en-US" dirty="0" smtClean="0"/>
          </a:p>
          <a:p>
            <a:pPr lvl="1"/>
            <a:r>
              <a:rPr lang="en-US" dirty="0" smtClean="0"/>
              <a:t>Bring </a:t>
            </a:r>
            <a:r>
              <a:rPr lang="en-US" dirty="0"/>
              <a:t>buyers and sellers together and earn revenue by </a:t>
            </a:r>
            <a:r>
              <a:rPr lang="en-US" dirty="0" smtClean="0"/>
              <a:t>charging </a:t>
            </a:r>
            <a:r>
              <a:rPr lang="en-US" dirty="0"/>
              <a:t>commissions on sales made via the site </a:t>
            </a:r>
            <a:endParaRPr lang="en-US" dirty="0" smtClean="0"/>
          </a:p>
          <a:p>
            <a:pPr lvl="1"/>
            <a:r>
              <a:rPr lang="en-US" dirty="0"/>
              <a:t>Online Auctions </a:t>
            </a:r>
            <a:endParaRPr lang="en-US" dirty="0" smtClean="0"/>
          </a:p>
          <a:p>
            <a:r>
              <a:rPr lang="en-US" dirty="0"/>
              <a:t>Financial Brokerages </a:t>
            </a:r>
            <a:endParaRPr lang="en-US" dirty="0" smtClean="0"/>
          </a:p>
          <a:p>
            <a:pPr lvl="1"/>
            <a:r>
              <a:rPr lang="en-US" dirty="0" smtClean="0"/>
              <a:t>Allow </a:t>
            </a:r>
            <a:r>
              <a:rPr lang="en-US" dirty="0"/>
              <a:t>individuals to sell stocks, bonds, futures, etc. </a:t>
            </a:r>
            <a:endParaRPr lang="en-US" dirty="0" smtClean="0"/>
          </a:p>
          <a:p>
            <a:pPr lvl="1"/>
            <a:r>
              <a:rPr lang="en-US" dirty="0" smtClean="0"/>
              <a:t>Generate </a:t>
            </a:r>
            <a:r>
              <a:rPr lang="en-US" dirty="0"/>
              <a:t>revenue by charging commissions </a:t>
            </a:r>
            <a:r>
              <a:rPr lang="en-US" dirty="0" smtClean="0"/>
              <a:t>or transaction </a:t>
            </a:r>
            <a:r>
              <a:rPr lang="en-US" dirty="0"/>
              <a:t>fees </a:t>
            </a:r>
            <a:endParaRPr lang="en-US" dirty="0" smtClean="0"/>
          </a:p>
          <a:p>
            <a:r>
              <a:rPr lang="en-US" dirty="0"/>
              <a:t>Real Estate, Travel, and Other Consumer Brokerages </a:t>
            </a:r>
            <a:endParaRPr lang="en-US" dirty="0" smtClean="0"/>
          </a:p>
          <a:p>
            <a:pPr lvl="1"/>
            <a:r>
              <a:rPr lang="en-US" dirty="0" smtClean="0"/>
              <a:t>Assist </a:t>
            </a:r>
            <a:r>
              <a:rPr lang="en-US" dirty="0"/>
              <a:t>consumer in finding resources they desire </a:t>
            </a:r>
            <a:endParaRPr lang="en-US" dirty="0" smtClean="0"/>
          </a:p>
          <a:p>
            <a:pPr lvl="2"/>
            <a:r>
              <a:rPr lang="en-US" dirty="0" smtClean="0"/>
              <a:t>Real </a:t>
            </a:r>
            <a:r>
              <a:rPr lang="en-US" dirty="0"/>
              <a:t>estate </a:t>
            </a:r>
            <a:endParaRPr lang="en-US" dirty="0" smtClean="0"/>
          </a:p>
          <a:p>
            <a:pPr lvl="2"/>
            <a:r>
              <a:rPr lang="en-US" dirty="0"/>
              <a:t>A</a:t>
            </a:r>
            <a:r>
              <a:rPr lang="en-US" dirty="0" smtClean="0"/>
              <a:t>irline </a:t>
            </a:r>
            <a:r>
              <a:rPr lang="en-US" dirty="0"/>
              <a:t>tickets </a:t>
            </a:r>
            <a:endParaRPr lang="en-US" dirty="0" smtClean="0"/>
          </a:p>
          <a:p>
            <a:pPr lvl="2"/>
            <a:r>
              <a:rPr lang="en-US" dirty="0" smtClean="0"/>
              <a:t>Hotel </a:t>
            </a:r>
            <a:r>
              <a:rPr lang="en-US" dirty="0"/>
              <a:t>reservations </a:t>
            </a:r>
          </a:p>
        </p:txBody>
      </p:sp>
    </p:spTree>
    <p:extLst>
      <p:ext uri="{BB962C8B-B14F-4D97-AF65-F5344CB8AC3E}">
        <p14:creationId xmlns:p14="http://schemas.microsoft.com/office/powerpoint/2010/main" xmlns="" val="1261838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E-commerce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global ecommerce market is expected to total $5.55 trillion in </a:t>
            </a:r>
            <a:r>
              <a:rPr lang="en-US" dirty="0" smtClean="0"/>
              <a:t>2022</a:t>
            </a:r>
          </a:p>
          <a:p>
            <a:r>
              <a:rPr lang="en-US" dirty="0"/>
              <a:t>Global retail sales growth will continue to rise and take up more retail market </a:t>
            </a:r>
            <a:r>
              <a:rPr lang="en-US" dirty="0" smtClean="0"/>
              <a:t>share</a:t>
            </a:r>
          </a:p>
          <a:p>
            <a:pPr lvl="1"/>
            <a:r>
              <a:rPr lang="en-US" dirty="0"/>
              <a:t>According to </a:t>
            </a:r>
            <a:r>
              <a:rPr lang="en-US" i="1" dirty="0" err="1"/>
              <a:t>eMarketer</a:t>
            </a:r>
            <a:r>
              <a:rPr lang="en-US" dirty="0"/>
              <a:t>, online retail sales will reach $6.17 trillion by </a:t>
            </a:r>
            <a:r>
              <a:rPr lang="en-US" dirty="0" smtClean="0"/>
              <a:t>2023</a:t>
            </a:r>
          </a:p>
          <a:p>
            <a:pPr lvl="1"/>
            <a:r>
              <a:rPr lang="en-US" dirty="0" smtClean="0"/>
              <a:t>China is </a:t>
            </a:r>
            <a:r>
              <a:rPr lang="en-US" dirty="0"/>
              <a:t>accounting for </a:t>
            </a:r>
            <a:r>
              <a:rPr lang="en-US" b="1" dirty="0">
                <a:solidFill>
                  <a:srgbClr val="FF0000"/>
                </a:solidFill>
              </a:rPr>
              <a:t>52.1% of all retail</a:t>
            </a:r>
            <a:r>
              <a:rPr lang="en-US" dirty="0"/>
              <a:t> ecommerce sales worldwide</a:t>
            </a:r>
            <a:endParaRPr lang="en-US" dirty="0" smtClean="0"/>
          </a:p>
          <a:p>
            <a:pPr lvl="1"/>
            <a:r>
              <a:rPr lang="en-US" b="1" dirty="0"/>
              <a:t>Latin America saw </a:t>
            </a:r>
            <a:r>
              <a:rPr lang="en-US" b="1" dirty="0">
                <a:solidFill>
                  <a:srgbClr val="FF0000"/>
                </a:solidFill>
              </a:rPr>
              <a:t>$85 billion </a:t>
            </a:r>
            <a:r>
              <a:rPr lang="en-US" dirty="0"/>
              <a:t>in ecommerce sales in </a:t>
            </a:r>
            <a:r>
              <a:rPr lang="en-US" dirty="0" smtClean="0"/>
              <a:t>2021</a:t>
            </a:r>
            <a:endParaRPr lang="en-US" dirty="0"/>
          </a:p>
          <a:p>
            <a:pPr lvl="1"/>
            <a:r>
              <a:rPr lang="en-US" dirty="0"/>
              <a:t>The </a:t>
            </a:r>
            <a:r>
              <a:rPr lang="en-US" b="1" dirty="0"/>
              <a:t>Indian ecommerce market</a:t>
            </a:r>
            <a:r>
              <a:rPr lang="en-US" dirty="0"/>
              <a:t> is expected to grow to </a:t>
            </a:r>
            <a:r>
              <a:rPr lang="en-US" b="1" dirty="0">
                <a:solidFill>
                  <a:srgbClr val="FF0000"/>
                </a:solidFill>
              </a:rPr>
              <a:t>$111.4 </a:t>
            </a:r>
            <a:r>
              <a:rPr lang="en-US" dirty="0"/>
              <a:t>billion by </a:t>
            </a:r>
            <a:r>
              <a:rPr lang="en-US" b="1" dirty="0" smtClean="0">
                <a:solidFill>
                  <a:srgbClr val="FF0000"/>
                </a:solidFill>
              </a:rPr>
              <a:t>2025</a:t>
            </a:r>
          </a:p>
          <a:p>
            <a:pPr lvl="1"/>
            <a:r>
              <a:rPr lang="en-US" b="1" dirty="0" smtClean="0"/>
              <a:t>Russia</a:t>
            </a:r>
            <a:r>
              <a:rPr lang="en-US" b="1" dirty="0"/>
              <a:t>, the UK, and the Philippines</a:t>
            </a:r>
            <a:r>
              <a:rPr lang="en-US" dirty="0"/>
              <a:t> saw more than </a:t>
            </a:r>
            <a:r>
              <a:rPr lang="en-US" b="1" dirty="0">
                <a:solidFill>
                  <a:srgbClr val="FF0000"/>
                </a:solidFill>
              </a:rPr>
              <a:t>20%</a:t>
            </a:r>
            <a:r>
              <a:rPr lang="en-US" dirty="0"/>
              <a:t> ecommerce sales growth in </a:t>
            </a:r>
            <a:r>
              <a:rPr lang="en-US" b="1" dirty="0">
                <a:solidFill>
                  <a:srgbClr val="FF0000"/>
                </a:solidFill>
              </a:rPr>
              <a:t>2021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5715000" cy="365125"/>
          </a:xfrm>
        </p:spPr>
        <p:txBody>
          <a:bodyPr/>
          <a:lstStyle/>
          <a:p>
            <a:r>
              <a:rPr lang="en-US" dirty="0" smtClean="0"/>
              <a:t>https://www.shopify.com/enterprise/global-ecommerce-statistics#1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9736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dirty="0"/>
              <a:t>E-commerce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Mobile shopping and social commerce</a:t>
            </a:r>
          </a:p>
          <a:p>
            <a:pPr lvl="1">
              <a:defRPr/>
            </a:pPr>
            <a:r>
              <a:rPr lang="en-US" dirty="0"/>
              <a:t>Online retail continues to expand due to the increasing use of smartphones and tablets </a:t>
            </a:r>
            <a:r>
              <a:rPr lang="en-US" dirty="0" smtClean="0"/>
              <a:t>globally</a:t>
            </a:r>
          </a:p>
          <a:p>
            <a:pPr lvl="1">
              <a:defRPr/>
            </a:pPr>
            <a:r>
              <a:rPr lang="en-US" dirty="0"/>
              <a:t>30% of US consumers report purchasing goods through social </a:t>
            </a:r>
            <a:r>
              <a:rPr lang="en-US" dirty="0" smtClean="0"/>
              <a:t>platforms</a:t>
            </a:r>
          </a:p>
          <a:p>
            <a:pPr>
              <a:defRPr/>
            </a:pPr>
            <a:r>
              <a:rPr lang="en-US" dirty="0"/>
              <a:t>The </a:t>
            </a:r>
            <a:r>
              <a:rPr lang="en-US" dirty="0" err="1"/>
              <a:t>metaverse</a:t>
            </a:r>
            <a:r>
              <a:rPr lang="en-US" dirty="0"/>
              <a:t> and interactive shopping</a:t>
            </a:r>
          </a:p>
          <a:p>
            <a:pPr lvl="1">
              <a:defRPr/>
            </a:pPr>
            <a:r>
              <a:rPr lang="en-US" dirty="0"/>
              <a:t>Brands are betting on virtual shopping and experimenting with augmented and virtual reality </a:t>
            </a:r>
            <a:r>
              <a:rPr lang="en-US" dirty="0" smtClean="0"/>
              <a:t>retail</a:t>
            </a:r>
          </a:p>
          <a:p>
            <a:pPr>
              <a:defRPr/>
            </a:pPr>
            <a:r>
              <a:rPr lang="en-US" dirty="0"/>
              <a:t>Language localization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4960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Impact on markets and </a:t>
            </a:r>
            <a:r>
              <a:rPr lang="en-US" dirty="0" smtClean="0"/>
              <a:t>retailers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610600" cy="4525963"/>
          </a:xfrm>
        </p:spPr>
        <p:txBody>
          <a:bodyPr/>
          <a:lstStyle/>
          <a:p>
            <a:r>
              <a:rPr lang="en-US" dirty="0"/>
              <a:t>E-commerce markets are growing at noticeable rates </a:t>
            </a:r>
            <a:endParaRPr lang="en-US" dirty="0" smtClean="0"/>
          </a:p>
          <a:p>
            <a:pPr lvl="1"/>
            <a:r>
              <a:rPr lang="en-US" dirty="0" smtClean="0"/>
              <a:t>Traditional </a:t>
            </a:r>
            <a:r>
              <a:rPr lang="en-US" dirty="0"/>
              <a:t>markets are </a:t>
            </a:r>
            <a:r>
              <a:rPr lang="en-US" dirty="0" smtClean="0"/>
              <a:t>reported slow growth as compared to online business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Online and traditional markets have different strategies for conducting </a:t>
            </a:r>
            <a:r>
              <a:rPr lang="en-US" dirty="0" smtClean="0"/>
              <a:t>business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03467872"/>
              </p:ext>
            </p:extLst>
          </p:nvPr>
        </p:nvGraphicFramePr>
        <p:xfrm>
          <a:off x="381000" y="4648201"/>
          <a:ext cx="861060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  <a:gridCol w="4572000"/>
              </a:tblGrid>
              <a:tr h="523240">
                <a:tc>
                  <a:txBody>
                    <a:bodyPr/>
                    <a:lstStyle/>
                    <a:p>
                      <a:r>
                        <a:rPr lang="en-US" dirty="0" smtClean="0"/>
                        <a:t>Traditional Business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Online Business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Geographical Barrier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Over Come Geographical Barriers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Prices to cover</a:t>
                      </a:r>
                      <a:r>
                        <a:rPr lang="en-US" baseline="0" dirty="0" smtClean="0"/>
                        <a:t> cost of keeping inventory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Pricing based on speed</a:t>
                      </a:r>
                      <a:r>
                        <a:rPr lang="en-US" baseline="0" dirty="0" smtClean="0"/>
                        <a:t> of delivery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Few</a:t>
                      </a:r>
                      <a:r>
                        <a:rPr lang="en-US" baseline="0" dirty="0" smtClean="0"/>
                        <a:t> products due to shelf 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Warehouses, </a:t>
                      </a:r>
                      <a:r>
                        <a:rPr lang="en-US" baseline="0" dirty="0" smtClean="0"/>
                        <a:t> sometime have no inventory, but send customer order number to manufacturer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88090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on Supply Chain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000" b="1" dirty="0" smtClean="0"/>
              <a:t>Increase warehouse capacity and customer proximity:</a:t>
            </a:r>
            <a:r>
              <a:rPr lang="en-US" sz="5000" dirty="0" smtClean="0"/>
              <a:t> The closer your warehouses are to customers, the faster you can fulfill orders directly to consumers or brick-and-mortar retailers.</a:t>
            </a:r>
          </a:p>
          <a:p>
            <a:endParaRPr lang="en-US" sz="5000" b="1" smtClean="0"/>
          </a:p>
          <a:p>
            <a:r>
              <a:rPr lang="en-US" sz="5000" b="1" smtClean="0"/>
              <a:t>Lower </a:t>
            </a:r>
            <a:r>
              <a:rPr lang="en-US" sz="5000" b="1" dirty="0" smtClean="0"/>
              <a:t>the cost of shipping:</a:t>
            </a:r>
            <a:r>
              <a:rPr lang="en-US" sz="5000" dirty="0" smtClean="0"/>
              <a:t> </a:t>
            </a:r>
            <a:r>
              <a:rPr lang="en-US" sz="5000" dirty="0" smtClean="0"/>
              <a:t>shipping </a:t>
            </a:r>
            <a:r>
              <a:rPr lang="en-US" sz="5000" dirty="0" smtClean="0"/>
              <a:t>deals for orders over a certain price, as well as incentives to bundle items, such as price discounts and free shipping.</a:t>
            </a:r>
          </a:p>
          <a:p>
            <a:endParaRPr lang="en-US" sz="5000" b="1" smtClean="0"/>
          </a:p>
          <a:p>
            <a:r>
              <a:rPr lang="en-US" sz="5000" b="1" smtClean="0"/>
              <a:t>Integrate </a:t>
            </a:r>
            <a:r>
              <a:rPr lang="en-US" sz="5000" b="1" dirty="0" smtClean="0"/>
              <a:t>an</a:t>
            </a:r>
            <a:r>
              <a:rPr lang="en-US" sz="5000" b="1" smtClean="0"/>
              <a:t> </a:t>
            </a:r>
            <a:r>
              <a:rPr lang="en-US" sz="5000" b="1" smtClean="0"/>
              <a:t>order management system: </a:t>
            </a:r>
            <a:r>
              <a:rPr lang="en-US" sz="5000" smtClean="0"/>
              <a:t>The </a:t>
            </a:r>
            <a:r>
              <a:rPr lang="en-US" sz="5000" dirty="0" smtClean="0"/>
              <a:t>end-to-end order management process is automated, working hand-in-hand with each link of the supply chain to guarantee customer satisfaction.</a:t>
            </a:r>
          </a:p>
          <a:p>
            <a:endParaRPr lang="en-US" sz="5000" b="1" smtClean="0"/>
          </a:p>
          <a:p>
            <a:r>
              <a:rPr lang="en-US" sz="5000" b="1" smtClean="0"/>
              <a:t>Kit </a:t>
            </a:r>
            <a:r>
              <a:rPr lang="en-US" sz="5000" b="1" dirty="0" smtClean="0"/>
              <a:t>items</a:t>
            </a:r>
            <a:r>
              <a:rPr lang="en-US" sz="5000" dirty="0" smtClean="0"/>
              <a:t>: Kitting items is the process of automatically manufacturing and storing bundled items together</a:t>
            </a:r>
            <a:r>
              <a:rPr lang="en-US" sz="5000" smtClean="0"/>
              <a:t>. </a:t>
            </a:r>
            <a:endParaRPr lang="en-US" sz="5000" dirty="0" smtClean="0"/>
          </a:p>
          <a:p>
            <a:endParaRPr lang="en-US" sz="5000" b="1" smtClean="0"/>
          </a:p>
          <a:p>
            <a:r>
              <a:rPr lang="en-US" sz="5000" b="1" smtClean="0"/>
              <a:t>Automated Invoice: </a:t>
            </a:r>
            <a:r>
              <a:rPr lang="en-US" sz="5000" smtClean="0"/>
              <a:t>With </a:t>
            </a:r>
            <a:r>
              <a:rPr lang="en-US" sz="5000" dirty="0" smtClean="0"/>
              <a:t>online invoicing, your customers can pay online and access all important payment documentation whenever they need to</a:t>
            </a:r>
            <a:r>
              <a:rPr lang="en-US" sz="5000" smtClean="0"/>
              <a:t>. </a:t>
            </a:r>
            <a:endParaRPr lang="en-US" sz="5000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on Employment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 </a:t>
            </a:r>
            <a:r>
              <a:rPr lang="en-GB" sz="2000" b="1" dirty="0" smtClean="0"/>
              <a:t>Increased Demand for Worker</a:t>
            </a:r>
          </a:p>
          <a:p>
            <a:pPr lvl="1"/>
            <a:r>
              <a:rPr lang="en-GB" sz="1800" dirty="0" smtClean="0"/>
              <a:t>Remote sales agents</a:t>
            </a:r>
          </a:p>
          <a:p>
            <a:r>
              <a:rPr lang="en-US" sz="2000" dirty="0" smtClean="0"/>
              <a:t> </a:t>
            </a:r>
            <a:r>
              <a:rPr lang="en-US" sz="2000" b="1" dirty="0" smtClean="0"/>
              <a:t>Technology provides workers with an upper hand</a:t>
            </a:r>
          </a:p>
          <a:p>
            <a:pPr lvl="1"/>
            <a:r>
              <a:rPr lang="en-US" sz="1800" dirty="0" smtClean="0"/>
              <a:t>The </a:t>
            </a:r>
            <a:r>
              <a:rPr lang="en-US" sz="1800" dirty="0" smtClean="0"/>
              <a:t>continual growth of the e-commerce sector has fueled the development of new technology. </a:t>
            </a:r>
          </a:p>
          <a:p>
            <a:r>
              <a:rPr lang="en-GB" sz="2000" b="1" dirty="0" err="1" smtClean="0"/>
              <a:t>Omnichannel</a:t>
            </a:r>
            <a:r>
              <a:rPr lang="en-GB" sz="2000" b="1" dirty="0" smtClean="0"/>
              <a:t> sales and recruitment </a:t>
            </a:r>
            <a:r>
              <a:rPr lang="en-GB" sz="2000" dirty="0" smtClean="0"/>
              <a:t> </a:t>
            </a:r>
          </a:p>
          <a:p>
            <a:pPr lvl="1"/>
            <a:r>
              <a:rPr lang="en-US" sz="1800" dirty="0" err="1" smtClean="0"/>
              <a:t>Omnichannel</a:t>
            </a:r>
            <a:r>
              <a:rPr lang="en-US" sz="1800" dirty="0" smtClean="0"/>
              <a:t> selling means accessing consumers at every </a:t>
            </a:r>
            <a:r>
              <a:rPr lang="en-US" sz="1800" dirty="0" smtClean="0"/>
              <a:t>point</a:t>
            </a:r>
            <a:r>
              <a:rPr lang="en-US" sz="1800" dirty="0" smtClean="0"/>
              <a:t>, both online and offline. Many established stores have taken advantage of this and launched online shopping experiences to mimic the ones found in their stores. </a:t>
            </a:r>
            <a:endParaRPr lang="en-GB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of E-commerce on Customers</a:t>
            </a:r>
            <a:br>
              <a:rPr lang="en-US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Increased customers</a:t>
            </a:r>
          </a:p>
          <a:p>
            <a:pPr fontAlgn="base"/>
            <a:r>
              <a:rPr lang="en-US" dirty="0" smtClean="0"/>
              <a:t>Convenience</a:t>
            </a:r>
          </a:p>
          <a:p>
            <a:pPr fontAlgn="base"/>
            <a:r>
              <a:rPr lang="en-US" dirty="0" smtClean="0"/>
              <a:t>Availability</a:t>
            </a:r>
          </a:p>
          <a:p>
            <a:pPr fontAlgn="base"/>
            <a:endParaRPr lang="en-US" dirty="0" smtClean="0"/>
          </a:p>
          <a:p>
            <a:r>
              <a:rPr lang="en-US" dirty="0" smtClean="0"/>
              <a:t>E-commerce lacks human interaction for customers</a:t>
            </a:r>
          </a:p>
          <a:p>
            <a:r>
              <a:rPr lang="en-US" dirty="0" smtClean="0"/>
              <a:t>Customers are also concerned with the security of online transactions and tend to remain loyal to well-known retailers</a:t>
            </a:r>
          </a:p>
          <a:p>
            <a:pPr fontAlgn="base"/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of E-Commerce on Environment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 smtClean="0"/>
              <a:t>Transportation emissions</a:t>
            </a:r>
          </a:p>
          <a:p>
            <a:pPr lvl="1"/>
            <a:r>
              <a:rPr lang="en-US" sz="1800" dirty="0" smtClean="0"/>
              <a:t>E-commerce business models allow for organizations to conduct business without physically commuting. </a:t>
            </a:r>
            <a:endParaRPr lang="en-US" sz="1800" dirty="0" smtClean="0"/>
          </a:p>
          <a:p>
            <a:pPr lvl="1"/>
            <a:r>
              <a:rPr lang="en-US" sz="1800" dirty="0" smtClean="0"/>
              <a:t>work </a:t>
            </a:r>
            <a:r>
              <a:rPr lang="en-US" sz="1800" dirty="0" smtClean="0"/>
              <a:t>from </a:t>
            </a:r>
            <a:r>
              <a:rPr lang="en-US" sz="1800" dirty="0" smtClean="0"/>
              <a:t>home</a:t>
            </a:r>
            <a:endParaRPr lang="en-GB" sz="1800" dirty="0" smtClean="0"/>
          </a:p>
          <a:p>
            <a:r>
              <a:rPr lang="en-GB" sz="2000" b="1" dirty="0" smtClean="0"/>
              <a:t>Paper waste</a:t>
            </a:r>
          </a:p>
          <a:p>
            <a:pPr lvl="1"/>
            <a:r>
              <a:rPr lang="en-US" sz="1800" dirty="0" smtClean="0"/>
              <a:t>When </a:t>
            </a:r>
            <a:r>
              <a:rPr lang="en-US" sz="1800" dirty="0" smtClean="0"/>
              <a:t>information is transferred digitally, it reduces the need for the use of physical paper throughout the business. </a:t>
            </a:r>
            <a:endParaRPr lang="en-GB" sz="1800" dirty="0" smtClean="0"/>
          </a:p>
          <a:p>
            <a:r>
              <a:rPr lang="en-GB" sz="2000" b="1" dirty="0" smtClean="0"/>
              <a:t>Digital storage</a:t>
            </a:r>
          </a:p>
          <a:p>
            <a:pPr lvl="1"/>
            <a:r>
              <a:rPr lang="en-US" sz="1800" dirty="0" smtClean="0"/>
              <a:t>The digital transfer of information paired with digital manufacturing could eliminate warehouses and create on-demand production. </a:t>
            </a:r>
            <a:endParaRPr lang="en-GB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of E-commerce on Traditional Business </a:t>
            </a:r>
            <a:br>
              <a:rPr lang="en-US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778009"/>
          </a:xfrm>
        </p:spPr>
        <p:txBody>
          <a:bodyPr>
            <a:noAutofit/>
          </a:bodyPr>
          <a:lstStyle/>
          <a:p>
            <a:pPr fontAlgn="base"/>
            <a:r>
              <a:rPr lang="en-US" sz="2800" b="1" dirty="0" smtClean="0"/>
              <a:t>Elimination </a:t>
            </a:r>
            <a:r>
              <a:rPr lang="en-US" sz="2800" b="1" dirty="0" smtClean="0"/>
              <a:t>of middlemen: </a:t>
            </a:r>
            <a:r>
              <a:rPr lang="en-US" sz="2800" dirty="0" smtClean="0"/>
              <a:t>Businesses can sell directly to the </a:t>
            </a:r>
            <a:r>
              <a:rPr lang="en-US" sz="2800" dirty="0" smtClean="0"/>
              <a:t>customers</a:t>
            </a:r>
            <a:endParaRPr lang="en-US" sz="2800" dirty="0" smtClean="0"/>
          </a:p>
          <a:p>
            <a:pPr fontAlgn="base"/>
            <a:r>
              <a:rPr lang="en-US" sz="2800" b="1" dirty="0" smtClean="0"/>
              <a:t>Marketing:</a:t>
            </a:r>
            <a:r>
              <a:rPr lang="en-US" sz="2800" dirty="0" smtClean="0"/>
              <a:t> </a:t>
            </a:r>
            <a:r>
              <a:rPr lang="en-US" sz="2800" dirty="0" smtClean="0"/>
              <a:t>The rise </a:t>
            </a:r>
            <a:r>
              <a:rPr lang="en-US" sz="2800" dirty="0" smtClean="0"/>
              <a:t>in e-commerce, digital marketing has replaced traditional marketing methods.</a:t>
            </a:r>
          </a:p>
          <a:p>
            <a:pPr fontAlgn="base"/>
            <a:r>
              <a:rPr lang="en-US" sz="2800" b="1" dirty="0" smtClean="0"/>
              <a:t>Higher Profits: </a:t>
            </a:r>
            <a:r>
              <a:rPr lang="en-US" sz="2800" dirty="0" smtClean="0"/>
              <a:t>24*7 </a:t>
            </a:r>
            <a:r>
              <a:rPr lang="en-US" sz="2800" dirty="0" smtClean="0"/>
              <a:t>availability and convenience has resulted in huge profits.</a:t>
            </a:r>
          </a:p>
          <a:p>
            <a:pPr fontAlgn="base"/>
            <a:r>
              <a:rPr lang="en-US" sz="2800" b="1" dirty="0" smtClean="0"/>
              <a:t>Global marketplace: </a:t>
            </a:r>
            <a:r>
              <a:rPr lang="en-US" sz="2800" dirty="0" smtClean="0"/>
              <a:t>All the customers from overall the world can access your products by simply sitting at home. 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of E-Commerce on Distribution Channels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Evolving Channels</a:t>
            </a:r>
            <a:endParaRPr lang="en-GB" dirty="0" smtClean="0"/>
          </a:p>
          <a:p>
            <a:r>
              <a:rPr lang="en-US" dirty="0" smtClean="0"/>
              <a:t>The end of old distribution channels mainly had the consumer purchasing a product by visiting a physical retail location. Increasingly customers now expect the product to come directly to them. </a:t>
            </a:r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434" dirty="0" smtClean="0"/>
              <a:t>Summary</a:t>
            </a:r>
            <a:endParaRPr spc="-455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E-commerce: </a:t>
            </a:r>
            <a:endParaRPr lang="en-US" dirty="0" smtClean="0"/>
          </a:p>
          <a:p>
            <a:pPr lvl="1"/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 </a:t>
            </a:r>
            <a:r>
              <a:rPr lang="en-US" dirty="0" smtClean="0"/>
              <a:t>E-commerce </a:t>
            </a:r>
            <a:r>
              <a:rPr lang="en-US" dirty="0" smtClean="0"/>
              <a:t>Basics</a:t>
            </a:r>
          </a:p>
          <a:p>
            <a:pPr lvl="1"/>
            <a:r>
              <a:rPr lang="en-US" dirty="0" smtClean="0"/>
              <a:t> </a:t>
            </a:r>
            <a:r>
              <a:rPr lang="en-US" dirty="0" smtClean="0"/>
              <a:t>Business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Global </a:t>
            </a:r>
            <a:r>
              <a:rPr lang="en-US" dirty="0" smtClean="0"/>
              <a:t>Trends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Impacts</a:t>
            </a:r>
            <a:r>
              <a:rPr lang="en-US" dirty="0" smtClean="0"/>
              <a:t>: Impacts on Market &amp; </a:t>
            </a:r>
            <a:r>
              <a:rPr lang="en-US" dirty="0" smtClean="0"/>
              <a:t>Retailers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Supply Chain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Employment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Customers 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</a:t>
            </a:r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Impact </a:t>
            </a:r>
            <a:r>
              <a:rPr lang="en-US" dirty="0" smtClean="0"/>
              <a:t>on Traditional </a:t>
            </a:r>
            <a:r>
              <a:rPr lang="en-US" dirty="0" smtClean="0"/>
              <a:t>Retail </a:t>
            </a:r>
          </a:p>
          <a:p>
            <a:pPr lvl="1"/>
            <a:r>
              <a:rPr lang="en-US" dirty="0" smtClean="0"/>
              <a:t>Impact on Distribution Channels</a:t>
            </a:r>
            <a:endParaRPr lang="en-US" dirty="0" smtClean="0"/>
          </a:p>
          <a:p>
            <a:pPr>
              <a:buNone/>
            </a:pPr>
            <a:r>
              <a:rPr lang="en-GB" dirty="0" smtClean="0"/>
              <a:t>  </a:t>
            </a:r>
          </a:p>
          <a:p>
            <a:endParaRPr lang="en-GB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15578901</TotalTime>
  <Words>890</Words>
  <Application>Microsoft Office PowerPoint</Application>
  <PresentationFormat>On-screen Show (4:3)</PresentationFormat>
  <Paragraphs>205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Module</vt:lpstr>
      <vt:lpstr>CSC 101 – Introduction to Computing</vt:lpstr>
      <vt:lpstr>Outline</vt:lpstr>
      <vt:lpstr>What Is E-Commerce?</vt:lpstr>
      <vt:lpstr>What Is E-Commerce?</vt:lpstr>
      <vt:lpstr>Advantages of E-Commerce</vt:lpstr>
      <vt:lpstr>Advantages of E-Commerce</vt:lpstr>
      <vt:lpstr>Technology and You Box</vt:lpstr>
      <vt:lpstr>Disadvantages of E-Commerce</vt:lpstr>
      <vt:lpstr>Disadvantages of E-Commerce</vt:lpstr>
      <vt:lpstr>E-Commerce Business Models</vt:lpstr>
      <vt:lpstr>E-Commerce Business Models</vt:lpstr>
      <vt:lpstr>E-Commerce Business Models</vt:lpstr>
      <vt:lpstr>Business Applications</vt:lpstr>
      <vt:lpstr>Business Applications</vt:lpstr>
      <vt:lpstr>E-commerce Trends</vt:lpstr>
      <vt:lpstr>E-commerce Trends</vt:lpstr>
      <vt:lpstr>Impact on markets and retailers</vt:lpstr>
      <vt:lpstr>Impact on Supply Chain management</vt:lpstr>
      <vt:lpstr>Impact on Employment</vt:lpstr>
      <vt:lpstr>Impact of E-commerce on Customers </vt:lpstr>
      <vt:lpstr>Impact of E-Commerce on Environment</vt:lpstr>
      <vt:lpstr>Impact of E-commerce on Traditional Business  </vt:lpstr>
      <vt:lpstr>Impact of E-Commerce on Distribution Channels</vt:lpstr>
      <vt:lpstr>Summary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182</cp:revision>
  <dcterms:created xsi:type="dcterms:W3CDTF">2015-07-29T13:27:11Z</dcterms:created>
  <dcterms:modified xsi:type="dcterms:W3CDTF">2022-10-21T08:40:36Z</dcterms:modified>
</cp:coreProperties>
</file>