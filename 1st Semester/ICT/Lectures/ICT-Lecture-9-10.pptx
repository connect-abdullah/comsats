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60" r:id="rId4"/>
  </p:sldMasterIdLst>
  <p:notesMasterIdLst>
    <p:notesMasterId r:id="rId52"/>
  </p:notesMasterIdLst>
  <p:sldIdLst>
    <p:sldId id="256" r:id="rId5"/>
    <p:sldId id="464" r:id="rId6"/>
    <p:sldId id="465" r:id="rId7"/>
    <p:sldId id="466" r:id="rId8"/>
    <p:sldId id="467" r:id="rId9"/>
    <p:sldId id="468" r:id="rId10"/>
    <p:sldId id="469" r:id="rId11"/>
    <p:sldId id="470" r:id="rId12"/>
    <p:sldId id="471" r:id="rId13"/>
    <p:sldId id="472" r:id="rId14"/>
    <p:sldId id="473" r:id="rId15"/>
    <p:sldId id="474" r:id="rId16"/>
    <p:sldId id="475" r:id="rId17"/>
    <p:sldId id="476" r:id="rId18"/>
    <p:sldId id="477" r:id="rId19"/>
    <p:sldId id="478" r:id="rId20"/>
    <p:sldId id="479" r:id="rId21"/>
    <p:sldId id="480" r:id="rId22"/>
    <p:sldId id="481" r:id="rId23"/>
    <p:sldId id="482" r:id="rId24"/>
    <p:sldId id="483" r:id="rId25"/>
    <p:sldId id="484" r:id="rId26"/>
    <p:sldId id="485" r:id="rId27"/>
    <p:sldId id="486" r:id="rId28"/>
    <p:sldId id="487" r:id="rId29"/>
    <p:sldId id="488" r:id="rId30"/>
    <p:sldId id="489" r:id="rId31"/>
    <p:sldId id="490" r:id="rId32"/>
    <p:sldId id="491" r:id="rId33"/>
    <p:sldId id="492" r:id="rId34"/>
    <p:sldId id="493" r:id="rId35"/>
    <p:sldId id="494" r:id="rId36"/>
    <p:sldId id="496" r:id="rId37"/>
    <p:sldId id="499" r:id="rId38"/>
    <p:sldId id="500" r:id="rId39"/>
    <p:sldId id="501" r:id="rId40"/>
    <p:sldId id="503" r:id="rId41"/>
    <p:sldId id="504" r:id="rId42"/>
    <p:sldId id="505" r:id="rId43"/>
    <p:sldId id="512" r:id="rId44"/>
    <p:sldId id="513" r:id="rId45"/>
    <p:sldId id="514" r:id="rId46"/>
    <p:sldId id="516" r:id="rId47"/>
    <p:sldId id="517" r:id="rId48"/>
    <p:sldId id="518" r:id="rId49"/>
    <p:sldId id="522" r:id="rId50"/>
    <p:sldId id="521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B6F5D3-6E95-1B0F-F0CA-4BFECBA4CB22}" v="15" dt="2023-02-20T08:59:32.6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3" autoAdjust="0"/>
    <p:restoredTop sz="96370" autoAdjust="0"/>
  </p:normalViewPr>
  <p:slideViewPr>
    <p:cSldViewPr>
      <p:cViewPr varScale="1">
        <p:scale>
          <a:sx n="111" d="100"/>
          <a:sy n="111" d="100"/>
        </p:scale>
        <p:origin x="165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01c2427dda35d2ee6a2307f81f3e58f292c47afc6611ded4c180efc746fe912c::" providerId="AD" clId="Web-{A7B6F5D3-6E95-1B0F-F0CA-4BFECBA4CB22}"/>
    <pc:docChg chg="modSld">
      <pc:chgData name="Guest User" userId="S::urn:spo:anon#01c2427dda35d2ee6a2307f81f3e58f292c47afc6611ded4c180efc746fe912c::" providerId="AD" clId="Web-{A7B6F5D3-6E95-1B0F-F0CA-4BFECBA4CB22}" dt="2023-02-20T08:59:32.193" v="13" actId="20577"/>
      <pc:docMkLst>
        <pc:docMk/>
      </pc:docMkLst>
      <pc:sldChg chg="modSp">
        <pc:chgData name="Guest User" userId="S::urn:spo:anon#01c2427dda35d2ee6a2307f81f3e58f292c47afc6611ded4c180efc746fe912c::" providerId="AD" clId="Web-{A7B6F5D3-6E95-1B0F-F0CA-4BFECBA4CB22}" dt="2023-02-20T08:59:32.193" v="13" actId="20577"/>
        <pc:sldMkLst>
          <pc:docMk/>
          <pc:sldMk cId="0" sldId="314"/>
        </pc:sldMkLst>
        <pc:spChg chg="mod">
          <ac:chgData name="Guest User" userId="S::urn:spo:anon#01c2427dda35d2ee6a2307f81f3e58f292c47afc6611ded4c180efc746fe912c::" providerId="AD" clId="Web-{A7B6F5D3-6E95-1B0F-F0CA-4BFECBA4CB22}" dt="2023-02-20T08:59:32.193" v="13" actId="20577"/>
          <ac:spMkLst>
            <pc:docMk/>
            <pc:sldMk cId="0" sldId="31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47964-3B62-4D5B-A939-DE505F670888}" type="datetimeFigureOut">
              <a:rPr lang="en-US" smtClean="0"/>
              <a:pPr/>
              <a:t>11/5/24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7BA28-8807-43C5-99C4-A55965820A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43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11/5/24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11/5/24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11/5/24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11/5/24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11/5/24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1447800"/>
          </a:xfr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none"/>
        </p:style>
        <p:txBody>
          <a:bodyPr/>
          <a:lstStyle>
            <a:lvl1pPr algn="ctr">
              <a:defRPr i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kumimoji="0" lang="en-US" dirty="0"/>
              <a:t>    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11/5/24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11/5/24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11/5/24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6D0A0426-1E93-4650-A475-F448298E202D}" type="datetimeFigureOut">
              <a:rPr lang="en-US" smtClean="0"/>
              <a:pPr/>
              <a:t>11/5/24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11/5/24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11/5/24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1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034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48106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6D0A0426-1E93-4650-A475-F448298E202D}" type="datetimeFigureOut">
              <a:rPr lang="en-US" smtClean="0"/>
              <a:pPr/>
              <a:t>11/5/24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r>
              <a:rPr lang="en-US" dirty="0"/>
              <a:t>Applications of Information and Communications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500" b="1" kern="1200">
          <a:solidFill>
            <a:schemeClr val="bg1">
              <a:lumMod val="95000"/>
            </a:schemeClr>
          </a:solidFill>
          <a:effectLst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CSC 101 – Introduction to Computing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2286000" y="2971800"/>
            <a:ext cx="4114800" cy="1196609"/>
          </a:xfrm>
        </p:spPr>
        <p:txBody>
          <a:bodyPr>
            <a:normAutofit/>
          </a:bodyPr>
          <a:lstStyle/>
          <a:p>
            <a:pPr marL="118872" indent="0" algn="ctr">
              <a:buNone/>
            </a:pPr>
            <a:r>
              <a:rPr lang="en-US" sz="4800" dirty="0"/>
              <a:t>Lecture 9-10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 </a:t>
            </a:r>
            <a:r>
              <a:rPr lang="en-US" sz="3400" dirty="0"/>
              <a:t>Computer Software</a:t>
            </a:r>
          </a:p>
          <a:p>
            <a:pPr lvl="1"/>
            <a:r>
              <a:rPr lang="en-US" sz="3400" dirty="0"/>
              <a:t>System Software </a:t>
            </a:r>
          </a:p>
          <a:p>
            <a:pPr lvl="1"/>
            <a:r>
              <a:rPr lang="en-US" sz="3400" dirty="0"/>
              <a:t>Application Software</a:t>
            </a:r>
          </a:p>
          <a:p>
            <a:r>
              <a:rPr lang="en-US" sz="3400" dirty="0"/>
              <a:t>Operating System (OS)</a:t>
            </a:r>
          </a:p>
          <a:p>
            <a:pPr lvl="1"/>
            <a:r>
              <a:rPr lang="en-US" sz="3400" dirty="0"/>
              <a:t>Basic Purpose of OS </a:t>
            </a:r>
          </a:p>
          <a:p>
            <a:pPr lvl="1"/>
            <a:r>
              <a:rPr lang="en-US" sz="3400" dirty="0"/>
              <a:t>Types of OS </a:t>
            </a:r>
          </a:p>
          <a:p>
            <a:r>
              <a:rPr lang="en-GB" sz="3400" dirty="0"/>
              <a:t> </a:t>
            </a:r>
            <a:r>
              <a:rPr lang="en-US" sz="3400" dirty="0"/>
              <a:t>Operating System Functions</a:t>
            </a:r>
          </a:p>
          <a:p>
            <a:pPr lvl="1"/>
            <a:r>
              <a:rPr lang="en-US" sz="3400" dirty="0"/>
              <a:t>Providing User Interface</a:t>
            </a:r>
          </a:p>
          <a:p>
            <a:pPr lvl="1"/>
            <a:r>
              <a:rPr lang="en-US" sz="3400" dirty="0"/>
              <a:t>Running Programs</a:t>
            </a:r>
          </a:p>
          <a:p>
            <a:pPr lvl="1"/>
            <a:r>
              <a:rPr lang="en-US" sz="3400" dirty="0"/>
              <a:t>Managing Hardware </a:t>
            </a:r>
          </a:p>
          <a:p>
            <a:r>
              <a:rPr lang="en-US" sz="3400" dirty="0"/>
              <a:t>Utility Programs </a:t>
            </a:r>
          </a:p>
          <a:p>
            <a:r>
              <a:rPr lang="en-US" sz="3400" dirty="0"/>
              <a:t>PC Operating System</a:t>
            </a:r>
          </a:p>
          <a:p>
            <a:r>
              <a:rPr lang="en-US" sz="3400" dirty="0"/>
              <a:t>Network Operating System</a:t>
            </a:r>
          </a:p>
          <a:p>
            <a:r>
              <a:rPr lang="en-US" sz="3400" dirty="0"/>
              <a:t>Embedded Operating System</a:t>
            </a: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2451619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228600" y="429151"/>
            <a:ext cx="891540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480" dirty="0"/>
              <a:t>System </a:t>
            </a:r>
            <a:r>
              <a:rPr spc="-434" dirty="0"/>
              <a:t>Software </a:t>
            </a:r>
            <a:r>
              <a:rPr spc="-465" dirty="0"/>
              <a:t>vs. </a:t>
            </a:r>
            <a:r>
              <a:rPr spc="-360" dirty="0"/>
              <a:t>Application  </a:t>
            </a:r>
            <a:r>
              <a:rPr spc="-434" dirty="0"/>
              <a:t>Software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52080" cy="48545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rlito"/>
                <a:cs typeface="Carlito"/>
              </a:rPr>
              <a:t>System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Software</a:t>
            </a:r>
            <a:endParaRPr sz="2400">
              <a:latin typeface="Carlito"/>
              <a:cs typeface="Carlito"/>
            </a:endParaRPr>
          </a:p>
          <a:p>
            <a:pPr marL="756285" marR="5334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utility </a:t>
            </a:r>
            <a:r>
              <a:rPr sz="2400" spc="-15" dirty="0">
                <a:latin typeface="Carlito"/>
                <a:cs typeface="Carlito"/>
              </a:rPr>
              <a:t>programs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15" dirty="0">
                <a:latin typeface="Carlito"/>
                <a:cs typeface="Carlito"/>
              </a:rPr>
              <a:t>control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allow </a:t>
            </a:r>
            <a:r>
              <a:rPr sz="2400" spc="-10" dirty="0">
                <a:latin typeface="Carlito"/>
                <a:cs typeface="Carlito"/>
              </a:rPr>
              <a:t>you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spc="-10" dirty="0">
                <a:latin typeface="Carlito"/>
                <a:cs typeface="Carlito"/>
              </a:rPr>
              <a:t>your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>
              <a:latin typeface="Carlito"/>
              <a:cs typeface="Carlito"/>
            </a:endParaRPr>
          </a:p>
          <a:p>
            <a:pPr marL="1155700" marR="341630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Enables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boot </a:t>
            </a:r>
            <a:r>
              <a:rPr sz="2400" spc="-10" dirty="0">
                <a:latin typeface="Carlito"/>
                <a:cs typeface="Carlito"/>
              </a:rPr>
              <a:t>process, </a:t>
            </a:r>
            <a:r>
              <a:rPr sz="2400" spc="-5" dirty="0">
                <a:latin typeface="Carlito"/>
                <a:cs typeface="Carlito"/>
              </a:rPr>
              <a:t>launches applications,  </a:t>
            </a:r>
            <a:r>
              <a:rPr sz="2400" spc="-20" dirty="0">
                <a:latin typeface="Carlito"/>
                <a:cs typeface="Carlito"/>
              </a:rPr>
              <a:t>transfers </a:t>
            </a:r>
            <a:r>
              <a:rPr sz="2400" spc="-5" dirty="0">
                <a:latin typeface="Carlito"/>
                <a:cs typeface="Carlito"/>
              </a:rPr>
              <a:t>files, </a:t>
            </a:r>
            <a:r>
              <a:rPr sz="2400" spc="-15" dirty="0">
                <a:latin typeface="Carlito"/>
                <a:cs typeface="Carlito"/>
              </a:rPr>
              <a:t>controls hardware </a:t>
            </a:r>
            <a:r>
              <a:rPr sz="2400" spc="-10" dirty="0">
                <a:latin typeface="Carlito"/>
                <a:cs typeface="Carlito"/>
              </a:rPr>
              <a:t>configuration,  </a:t>
            </a:r>
            <a:r>
              <a:rPr sz="2400" spc="-5" dirty="0">
                <a:latin typeface="Carlito"/>
                <a:cs typeface="Carlito"/>
              </a:rPr>
              <a:t>manages files </a:t>
            </a:r>
            <a:r>
              <a:rPr sz="2400" spc="-10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hard </a:t>
            </a:r>
            <a:r>
              <a:rPr sz="2400" spc="-10" dirty="0">
                <a:latin typeface="Carlito"/>
                <a:cs typeface="Carlito"/>
              </a:rPr>
              <a:t>drive,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protects </a:t>
            </a:r>
            <a:r>
              <a:rPr sz="2400" spc="-15" dirty="0">
                <a:latin typeface="Carlito"/>
                <a:cs typeface="Carlito"/>
              </a:rPr>
              <a:t>from  </a:t>
            </a:r>
            <a:r>
              <a:rPr sz="2400" spc="-10" dirty="0">
                <a:latin typeface="Carlito"/>
                <a:cs typeface="Carlito"/>
              </a:rPr>
              <a:t>unauthorized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Application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Software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Programs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5" dirty="0">
                <a:latin typeface="Carlito"/>
                <a:cs typeface="Carlito"/>
              </a:rPr>
              <a:t>allow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user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perform </a:t>
            </a:r>
            <a:r>
              <a:rPr sz="2400" spc="-5" dirty="0">
                <a:latin typeface="Carlito"/>
                <a:cs typeface="Carlito"/>
              </a:rPr>
              <a:t>specific </a:t>
            </a:r>
            <a:r>
              <a:rPr sz="2400" spc="-10" dirty="0">
                <a:latin typeface="Carlito"/>
                <a:cs typeface="Carlito"/>
              </a:rPr>
              <a:t>tasks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>
              <a:latin typeface="Carlito"/>
              <a:cs typeface="Carlito"/>
            </a:endParaRPr>
          </a:p>
          <a:p>
            <a:pPr marL="1155700" marR="9271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  <a:tab pos="4384040" algn="l"/>
              </a:tabLst>
            </a:pPr>
            <a:r>
              <a:rPr sz="2400" spc="-40" dirty="0">
                <a:latin typeface="Carlito"/>
                <a:cs typeface="Carlito"/>
              </a:rPr>
              <a:t>Word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processing,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playing	games, </a:t>
            </a:r>
            <a:r>
              <a:rPr sz="2400" spc="-15" dirty="0">
                <a:latin typeface="Carlito"/>
                <a:cs typeface="Carlito"/>
              </a:rPr>
              <a:t>browsing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Web,  </a:t>
            </a:r>
            <a:r>
              <a:rPr sz="2400" spc="-10" dirty="0">
                <a:latin typeface="Carlito"/>
                <a:cs typeface="Carlito"/>
              </a:rPr>
              <a:t>listening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music,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34652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4983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35" dirty="0"/>
              <a:t>The </a:t>
            </a:r>
            <a:r>
              <a:rPr sz="3600" spc="-375" dirty="0"/>
              <a:t>Operating</a:t>
            </a:r>
            <a:r>
              <a:rPr sz="3600" spc="-600" dirty="0"/>
              <a:t> </a:t>
            </a:r>
            <a:r>
              <a:rPr sz="3600" spc="-545" dirty="0"/>
              <a:t>System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4801" y="1461262"/>
            <a:ext cx="8000999" cy="467243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Operating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</a:t>
            </a:r>
            <a:endParaRPr sz="2400" dirty="0">
              <a:latin typeface="Carlito"/>
              <a:cs typeface="Carlito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collection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programs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5" dirty="0">
                <a:latin typeface="Carlito"/>
                <a:cs typeface="Carlito"/>
              </a:rPr>
              <a:t>manage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coordinate </a:t>
            </a:r>
            <a:r>
              <a:rPr sz="2400" dirty="0">
                <a:latin typeface="Carlito"/>
                <a:cs typeface="Carlito"/>
              </a:rPr>
              <a:t>the  activities </a:t>
            </a:r>
            <a:r>
              <a:rPr sz="2400" spc="-5" dirty="0">
                <a:latin typeface="Carlito"/>
                <a:cs typeface="Carlito"/>
              </a:rPr>
              <a:t>taking place </a:t>
            </a:r>
            <a:r>
              <a:rPr sz="2400" dirty="0">
                <a:latin typeface="Carlito"/>
                <a:cs typeface="Carlito"/>
              </a:rPr>
              <a:t>within a</a:t>
            </a:r>
            <a:r>
              <a:rPr sz="2400" spc="-10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 dirty="0">
              <a:latin typeface="Carlito"/>
              <a:cs typeface="Carlito"/>
            </a:endParaRPr>
          </a:p>
          <a:p>
            <a:pPr marL="756285" marR="5317490" lvl="1" indent="-287020" algn="just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Acts as an  </a:t>
            </a:r>
            <a:r>
              <a:rPr sz="2400" spc="-5" dirty="0">
                <a:latin typeface="Carlito"/>
                <a:cs typeface="Carlito"/>
              </a:rPr>
              <a:t>intermediary  </a:t>
            </a:r>
            <a:r>
              <a:rPr sz="2400" spc="-10" dirty="0">
                <a:latin typeface="Carlito"/>
                <a:cs typeface="Carlito"/>
              </a:rPr>
              <a:t>between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5" dirty="0">
                <a:latin typeface="Carlito"/>
                <a:cs typeface="Carlito"/>
              </a:rPr>
              <a:t>user </a:t>
            </a:r>
            <a:r>
              <a:rPr sz="2400" dirty="0">
                <a:latin typeface="Carlito"/>
                <a:cs typeface="Carlito"/>
              </a:rPr>
              <a:t>and the  </a:t>
            </a:r>
            <a:r>
              <a:rPr sz="2400" spc="-10" dirty="0">
                <a:latin typeface="Carlito"/>
                <a:cs typeface="Carlito"/>
              </a:rPr>
              <a:t>computer</a:t>
            </a:r>
            <a:r>
              <a:rPr lang="en-US" sz="2400" spc="-10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5" dirty="0">
                <a:latin typeface="Carlito"/>
                <a:cs typeface="Carlito"/>
              </a:rPr>
              <a:t>between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</a:p>
          <a:p>
            <a:pPr marL="756285" marR="4415155" algn="just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Carlito"/>
                <a:cs typeface="Carlito"/>
              </a:rPr>
              <a:t>application </a:t>
            </a:r>
            <a:r>
              <a:rPr sz="2400" spc="-15" dirty="0">
                <a:latin typeface="Carlito"/>
                <a:cs typeface="Carlito"/>
              </a:rPr>
              <a:t>programs 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lang="en-US" sz="240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lang="en-US" sz="2400" spc="-25" dirty="0">
              <a:latin typeface="Carlito"/>
              <a:cs typeface="Carlito"/>
            </a:endParaRPr>
          </a:p>
          <a:p>
            <a:pPr marL="756285" marR="4415155" algn="just">
              <a:lnSpc>
                <a:spcPct val="100000"/>
              </a:lnSpc>
              <a:spcBef>
                <a:spcPts val="5"/>
              </a:spcBef>
            </a:pPr>
            <a:r>
              <a:rPr sz="2400" spc="-15" dirty="0">
                <a:latin typeface="Carlito"/>
                <a:cs typeface="Carlito"/>
              </a:rPr>
              <a:t>hardware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48417" y="6073549"/>
            <a:ext cx="1066184" cy="5330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55972" y="2780917"/>
            <a:ext cx="4514487" cy="3211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3006164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1" y="318532"/>
            <a:ext cx="7062596" cy="7059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15" dirty="0"/>
              <a:t>Functions </a:t>
            </a:r>
            <a:r>
              <a:rPr spc="-250" dirty="0"/>
              <a:t>of </a:t>
            </a:r>
            <a:r>
              <a:rPr spc="-415" dirty="0"/>
              <a:t>an </a:t>
            </a:r>
            <a:r>
              <a:rPr spc="-330" dirty="0"/>
              <a:t>Operating</a:t>
            </a:r>
            <a:r>
              <a:rPr spc="250" dirty="0"/>
              <a:t> </a:t>
            </a:r>
            <a:r>
              <a:rPr spc="-480" dirty="0"/>
              <a:t>System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306309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Interfacing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10" dirty="0">
                <a:latin typeface="Carlito"/>
                <a:cs typeface="Carlito"/>
              </a:rPr>
              <a:t>Users </a:t>
            </a:r>
            <a:r>
              <a:rPr sz="2400" spc="-5" dirty="0">
                <a:latin typeface="Carlito"/>
                <a:cs typeface="Carlito"/>
              </a:rPr>
              <a:t>(typically </a:t>
            </a:r>
            <a:r>
              <a:rPr sz="2400" dirty="0">
                <a:latin typeface="Carlito"/>
                <a:cs typeface="Carlito"/>
              </a:rPr>
              <a:t>via a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GUI)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Booting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Loads essential part of </a:t>
            </a: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10" dirty="0">
                <a:latin typeface="Carlito"/>
                <a:cs typeface="Carlito"/>
              </a:rPr>
              <a:t>(kernel)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into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dirty="0">
                <a:latin typeface="Carlito"/>
                <a:cs typeface="Carlito"/>
              </a:rPr>
              <a:t>memory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Reads </a:t>
            </a:r>
            <a:r>
              <a:rPr sz="2400" spc="-5" dirty="0">
                <a:latin typeface="Carlito"/>
                <a:cs typeface="Carlito"/>
              </a:rPr>
              <a:t>opening </a:t>
            </a:r>
            <a:r>
              <a:rPr sz="2400" spc="-15" dirty="0">
                <a:latin typeface="Carlito"/>
                <a:cs typeface="Carlito"/>
              </a:rPr>
              <a:t>batch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instructions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Determines </a:t>
            </a:r>
            <a:r>
              <a:rPr sz="2400" spc="-15" dirty="0">
                <a:latin typeface="Carlito"/>
                <a:cs typeface="Carlito"/>
              </a:rPr>
              <a:t>hardware </a:t>
            </a:r>
            <a:r>
              <a:rPr sz="2400" spc="-10" dirty="0">
                <a:latin typeface="Carlito"/>
                <a:cs typeface="Carlito"/>
              </a:rPr>
              <a:t>connected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Configuring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Devices</a:t>
            </a:r>
            <a:endParaRPr sz="2400">
              <a:latin typeface="Carlito"/>
              <a:cs typeface="Carlito"/>
            </a:endParaRPr>
          </a:p>
          <a:p>
            <a:pPr marL="756285" marR="3746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Device </a:t>
            </a:r>
            <a:r>
              <a:rPr sz="2400" spc="-15" dirty="0">
                <a:latin typeface="Carlito"/>
                <a:cs typeface="Carlito"/>
              </a:rPr>
              <a:t>drivers are </a:t>
            </a:r>
            <a:r>
              <a:rPr sz="2400" spc="-10" dirty="0">
                <a:latin typeface="Carlito"/>
                <a:cs typeface="Carlito"/>
              </a:rPr>
              <a:t>often </a:t>
            </a:r>
            <a:r>
              <a:rPr sz="2400" spc="-5" dirty="0">
                <a:latin typeface="Carlito"/>
                <a:cs typeface="Carlito"/>
              </a:rPr>
              <a:t>needed;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reinstalled </a:t>
            </a:r>
            <a:r>
              <a:rPr sz="2400" dirty="0">
                <a:latin typeface="Carlito"/>
                <a:cs typeface="Carlito"/>
              </a:rPr>
              <a:t>if  </a:t>
            </a:r>
            <a:r>
              <a:rPr sz="2400" spc="-5" dirty="0">
                <a:latin typeface="Carlito"/>
                <a:cs typeface="Carlito"/>
              </a:rPr>
              <a:t>needed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Plug and </a:t>
            </a:r>
            <a:r>
              <a:rPr sz="2400" spc="-15" dirty="0">
                <a:latin typeface="Carlito"/>
                <a:cs typeface="Carlito"/>
              </a:rPr>
              <a:t>Play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spc="-15" dirty="0">
                <a:latin typeface="Carlito"/>
                <a:cs typeface="Carlito"/>
              </a:rPr>
              <a:t>are recognized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automatically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117991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81000"/>
            <a:ext cx="7390155" cy="7059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15" dirty="0"/>
              <a:t>Functions </a:t>
            </a:r>
            <a:r>
              <a:rPr spc="-250" dirty="0"/>
              <a:t>of </a:t>
            </a:r>
            <a:r>
              <a:rPr spc="-415" dirty="0"/>
              <a:t>an </a:t>
            </a:r>
            <a:r>
              <a:rPr spc="-330" dirty="0"/>
              <a:t>Operating</a:t>
            </a:r>
            <a:r>
              <a:rPr spc="250" dirty="0"/>
              <a:t> </a:t>
            </a:r>
            <a:r>
              <a:rPr spc="-480" dirty="0"/>
              <a:t>System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6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81620" cy="430593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Managing </a:t>
            </a:r>
            <a:r>
              <a:rPr sz="2400" spc="-10" dirty="0">
                <a:latin typeface="Carlito"/>
                <a:cs typeface="Carlito"/>
              </a:rPr>
              <a:t>Network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Connections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Manages </a:t>
            </a:r>
            <a:r>
              <a:rPr sz="2400" spc="-10" dirty="0">
                <a:latin typeface="Carlito"/>
                <a:cs typeface="Carlito"/>
              </a:rPr>
              <a:t>wired connections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home or </a:t>
            </a:r>
            <a:r>
              <a:rPr sz="2400" spc="-10" dirty="0">
                <a:latin typeface="Carlito"/>
                <a:cs typeface="Carlito"/>
              </a:rPr>
              <a:t>office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ts val="2735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Manages wireless </a:t>
            </a:r>
            <a:r>
              <a:rPr sz="2400" spc="-10" dirty="0">
                <a:latin typeface="Carlito"/>
                <a:cs typeface="Carlito"/>
              </a:rPr>
              <a:t>connections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spc="-5" dirty="0">
                <a:latin typeface="Carlito"/>
                <a:cs typeface="Carlito"/>
              </a:rPr>
              <a:t>home, school, </a:t>
            </a:r>
            <a:r>
              <a:rPr sz="2400" spc="-10" dirty="0">
                <a:latin typeface="Carlito"/>
                <a:cs typeface="Carlito"/>
              </a:rPr>
              <a:t>work,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or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ts val="2735"/>
              </a:lnSpc>
            </a:pP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go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Managing and </a:t>
            </a:r>
            <a:r>
              <a:rPr sz="2400" spc="-5" dirty="0">
                <a:latin typeface="Carlito"/>
                <a:cs typeface="Carlito"/>
              </a:rPr>
              <a:t>Monitoring </a:t>
            </a:r>
            <a:r>
              <a:rPr sz="2400" spc="-10" dirty="0">
                <a:latin typeface="Carlito"/>
                <a:cs typeface="Carlito"/>
              </a:rPr>
              <a:t>Resources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Jobs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Makes </a:t>
            </a:r>
            <a:r>
              <a:rPr sz="2400" spc="-10" dirty="0">
                <a:latin typeface="Carlito"/>
                <a:cs typeface="Carlito"/>
              </a:rPr>
              <a:t>resources available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programs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ts val="2590"/>
              </a:lnSpc>
              <a:spcBef>
                <a:spcPts val="61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Monitors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problems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attempts to correct </a:t>
            </a:r>
            <a:r>
              <a:rPr sz="2400" spc="-5" dirty="0">
                <a:latin typeface="Carlito"/>
                <a:cs typeface="Carlito"/>
              </a:rPr>
              <a:t>those that  </a:t>
            </a:r>
            <a:r>
              <a:rPr sz="2400" dirty="0">
                <a:latin typeface="Carlito"/>
                <a:cs typeface="Carlito"/>
              </a:rPr>
              <a:t>arise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5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Schedules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jobs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Jobs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printed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Files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retrieved </a:t>
            </a:r>
            <a:r>
              <a:rPr sz="2400" spc="-15" dirty="0">
                <a:latin typeface="Carlito"/>
                <a:cs typeface="Carlito"/>
              </a:rPr>
              <a:t>from hard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373822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378355"/>
            <a:ext cx="7337299" cy="7059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15" dirty="0"/>
              <a:t>Functions </a:t>
            </a:r>
            <a:r>
              <a:rPr spc="-250" dirty="0"/>
              <a:t>of </a:t>
            </a:r>
            <a:r>
              <a:rPr spc="-415" dirty="0"/>
              <a:t>an </a:t>
            </a:r>
            <a:r>
              <a:rPr spc="-330" dirty="0"/>
              <a:t>Operating</a:t>
            </a:r>
            <a:r>
              <a:rPr spc="250" dirty="0"/>
              <a:t> </a:t>
            </a:r>
            <a:r>
              <a:rPr spc="-480" dirty="0"/>
              <a:t>System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7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449820" cy="34645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File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Management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Keeps track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20" dirty="0">
                <a:latin typeface="Carlito"/>
                <a:cs typeface="Carlito"/>
              </a:rPr>
              <a:t>stored </a:t>
            </a:r>
            <a:r>
              <a:rPr sz="2400" spc="-5" dirty="0">
                <a:latin typeface="Carlito"/>
                <a:cs typeface="Carlito"/>
              </a:rPr>
              <a:t>files </a:t>
            </a:r>
            <a:r>
              <a:rPr sz="2400" spc="-10" dirty="0">
                <a:latin typeface="Carlito"/>
                <a:cs typeface="Carlito"/>
              </a:rPr>
              <a:t>on computer </a:t>
            </a:r>
            <a:r>
              <a:rPr sz="2400" spc="-5" dirty="0">
                <a:latin typeface="Carlito"/>
                <a:cs typeface="Carlito"/>
              </a:rPr>
              <a:t>so they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 </a:t>
            </a:r>
            <a:r>
              <a:rPr sz="2400" spc="-10" dirty="0">
                <a:latin typeface="Carlito"/>
                <a:cs typeface="Carlito"/>
              </a:rPr>
              <a:t>retrieved </a:t>
            </a:r>
            <a:r>
              <a:rPr sz="2400" dirty="0">
                <a:latin typeface="Carlito"/>
                <a:cs typeface="Carlito"/>
              </a:rPr>
              <a:t>when</a:t>
            </a:r>
            <a:r>
              <a:rPr sz="2400" spc="-5" dirty="0">
                <a:latin typeface="Carlito"/>
                <a:cs typeface="Carlito"/>
              </a:rPr>
              <a:t> needed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Files usually </a:t>
            </a:r>
            <a:r>
              <a:rPr sz="2400" spc="-10" dirty="0">
                <a:latin typeface="Carlito"/>
                <a:cs typeface="Carlito"/>
              </a:rPr>
              <a:t>viewed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10" dirty="0">
                <a:latin typeface="Carlito"/>
                <a:cs typeface="Carlito"/>
              </a:rPr>
              <a:t>hierarchical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format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Security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Passwords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Biometric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characteristics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Firewalls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23455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47622" y="1620517"/>
            <a:ext cx="4540517" cy="43174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26352" y="2561463"/>
            <a:ext cx="1280160" cy="4648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8</a:t>
            </a:fld>
            <a:endParaRPr spc="-165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415" dirty="0"/>
              <a:t>Functions </a:t>
            </a:r>
            <a:r>
              <a:rPr lang="en-US" spc="-250" dirty="0"/>
              <a:t>of </a:t>
            </a:r>
            <a:r>
              <a:rPr lang="en-US" spc="-415" dirty="0"/>
              <a:t>an </a:t>
            </a:r>
            <a:r>
              <a:rPr lang="en-US" spc="-330" dirty="0"/>
              <a:t>Operating</a:t>
            </a:r>
            <a:r>
              <a:rPr lang="en-US" spc="250" dirty="0"/>
              <a:t> </a:t>
            </a:r>
            <a:r>
              <a:rPr lang="en-US" spc="-480" dirty="0"/>
              <a:t>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85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52400" y="82903"/>
            <a:ext cx="883920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Processing Techniques </a:t>
            </a:r>
            <a:r>
              <a:rPr spc="-270" dirty="0"/>
              <a:t>for </a:t>
            </a:r>
            <a:r>
              <a:rPr spc="-445" dirty="0"/>
              <a:t>Increased  </a:t>
            </a:r>
            <a:r>
              <a:rPr spc="-425" dirty="0"/>
              <a:t>Efficiency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9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45425" cy="29521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Multitasking</a:t>
            </a:r>
            <a:endParaRPr sz="2400">
              <a:latin typeface="Carlito"/>
              <a:cs typeface="Carlito"/>
            </a:endParaRPr>
          </a:p>
          <a:p>
            <a:pPr marL="756285" marR="2794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dirty="0">
                <a:latin typeface="Carlito"/>
                <a:cs typeface="Carlito"/>
              </a:rPr>
              <a:t>ability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an </a:t>
            </a:r>
            <a:r>
              <a:rPr sz="2400" spc="-15" dirty="0">
                <a:latin typeface="Carlito"/>
                <a:cs typeface="Carlito"/>
              </a:rPr>
              <a:t>operating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spc="-10" dirty="0">
                <a:latin typeface="Carlito"/>
                <a:cs typeface="Carlito"/>
              </a:rPr>
              <a:t>more </a:t>
            </a:r>
            <a:r>
              <a:rPr sz="2400" dirty="0">
                <a:latin typeface="Carlito"/>
                <a:cs typeface="Carlito"/>
              </a:rPr>
              <a:t>than </a:t>
            </a:r>
            <a:r>
              <a:rPr sz="2400" spc="-5" dirty="0">
                <a:latin typeface="Carlito"/>
                <a:cs typeface="Carlito"/>
              </a:rPr>
              <a:t>one  </a:t>
            </a:r>
            <a:r>
              <a:rPr sz="2400" spc="-15" dirty="0">
                <a:latin typeface="Carlito"/>
                <a:cs typeface="Carlito"/>
              </a:rPr>
              <a:t>program </a:t>
            </a:r>
            <a:r>
              <a:rPr sz="2400" spc="-5" dirty="0">
                <a:latin typeface="Carlito"/>
                <a:cs typeface="Carlito"/>
              </a:rPr>
              <a:t>(task) open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spc="-10" dirty="0">
                <a:latin typeface="Carlito"/>
                <a:cs typeface="Carlito"/>
              </a:rPr>
              <a:t>one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CPU </a:t>
            </a:r>
            <a:r>
              <a:rPr sz="2400" spc="-20" dirty="0">
                <a:latin typeface="Carlito"/>
                <a:cs typeface="Carlito"/>
              </a:rPr>
              <a:t>rotates </a:t>
            </a:r>
            <a:r>
              <a:rPr sz="2400" spc="-5" dirty="0">
                <a:latin typeface="Carlito"/>
                <a:cs typeface="Carlito"/>
              </a:rPr>
              <a:t>between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tasks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Switching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done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quickly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Appears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5" dirty="0">
                <a:latin typeface="Carlito"/>
                <a:cs typeface="Carlito"/>
              </a:rPr>
              <a:t>though </a:t>
            </a:r>
            <a:r>
              <a:rPr sz="2400" dirty="0">
                <a:latin typeface="Carlito"/>
                <a:cs typeface="Carlito"/>
              </a:rPr>
              <a:t>all </a:t>
            </a:r>
            <a:r>
              <a:rPr sz="2400" spc="-15" dirty="0">
                <a:latin typeface="Carlito"/>
                <a:cs typeface="Carlito"/>
              </a:rPr>
              <a:t>programs executing at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same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dirty="0">
                <a:latin typeface="Carlito"/>
                <a:cs typeface="Carlito"/>
              </a:rPr>
              <a:t>time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831076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Processing Techniques </a:t>
            </a:r>
            <a:r>
              <a:rPr spc="-270" dirty="0"/>
              <a:t>for </a:t>
            </a:r>
            <a:r>
              <a:rPr spc="-445" dirty="0"/>
              <a:t>Increased  </a:t>
            </a:r>
            <a:r>
              <a:rPr spc="-425" dirty="0"/>
              <a:t>Efficiency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10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513320" cy="41960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Multithreading</a:t>
            </a:r>
            <a:endParaRPr sz="2400">
              <a:latin typeface="Carlito"/>
              <a:cs typeface="Carlito"/>
            </a:endParaRPr>
          </a:p>
          <a:p>
            <a:pPr marL="756285" marR="12763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dirty="0">
                <a:latin typeface="Carlito"/>
                <a:cs typeface="Carlito"/>
              </a:rPr>
              <a:t>ability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0" dirty="0">
                <a:latin typeface="Carlito"/>
                <a:cs typeface="Carlito"/>
              </a:rPr>
              <a:t>rotate </a:t>
            </a:r>
            <a:r>
              <a:rPr sz="2400" spc="-5" dirty="0">
                <a:latin typeface="Carlito"/>
                <a:cs typeface="Carlito"/>
              </a:rPr>
              <a:t>between </a:t>
            </a:r>
            <a:r>
              <a:rPr sz="2400" dirty="0">
                <a:latin typeface="Carlito"/>
                <a:cs typeface="Carlito"/>
              </a:rPr>
              <a:t>multiple </a:t>
            </a:r>
            <a:r>
              <a:rPr sz="2400" spc="-5" dirty="0">
                <a:latin typeface="Carlito"/>
                <a:cs typeface="Carlito"/>
              </a:rPr>
              <a:t>threads so</a:t>
            </a:r>
            <a:r>
              <a:rPr sz="2400" spc="-1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that  processing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completed </a:t>
            </a:r>
            <a:r>
              <a:rPr sz="2400" spc="-20" dirty="0">
                <a:latin typeface="Carlito"/>
                <a:cs typeface="Carlito"/>
              </a:rPr>
              <a:t>faster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more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efficiently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Thread</a:t>
            </a:r>
            <a:endParaRPr sz="2400">
              <a:latin typeface="Carlito"/>
              <a:cs typeface="Carlito"/>
            </a:endParaRPr>
          </a:p>
          <a:p>
            <a:pPr marL="1155700" marR="283845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Sequence of instructions </a:t>
            </a:r>
            <a:r>
              <a:rPr sz="2400" dirty="0">
                <a:latin typeface="Carlito"/>
                <a:cs typeface="Carlito"/>
              </a:rPr>
              <a:t>within a </a:t>
            </a:r>
            <a:r>
              <a:rPr sz="2400" spc="-15" dirty="0">
                <a:latin typeface="Carlito"/>
                <a:cs typeface="Carlito"/>
              </a:rPr>
              <a:t>program </a:t>
            </a:r>
            <a:r>
              <a:rPr sz="2400" spc="-10" dirty="0">
                <a:latin typeface="Carlito"/>
                <a:cs typeface="Carlito"/>
              </a:rPr>
              <a:t>that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is  </a:t>
            </a:r>
            <a:r>
              <a:rPr sz="2400" spc="-5" dirty="0">
                <a:latin typeface="Carlito"/>
                <a:cs typeface="Carlito"/>
              </a:rPr>
              <a:t>independent </a:t>
            </a:r>
            <a:r>
              <a:rPr sz="2400" spc="-10" dirty="0">
                <a:latin typeface="Carlito"/>
                <a:cs typeface="Carlito"/>
              </a:rPr>
              <a:t>of </a:t>
            </a:r>
            <a:r>
              <a:rPr sz="2400" spc="-5" dirty="0">
                <a:latin typeface="Carlito"/>
                <a:cs typeface="Carlito"/>
              </a:rPr>
              <a:t>other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thread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Multiprocessing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Parallel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Processing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Multiple </a:t>
            </a:r>
            <a:r>
              <a:rPr sz="2400" spc="-15" dirty="0">
                <a:latin typeface="Carlito"/>
                <a:cs typeface="Carlito"/>
              </a:rPr>
              <a:t>processors </a:t>
            </a:r>
            <a:r>
              <a:rPr sz="2400" spc="-5" dirty="0">
                <a:latin typeface="Carlito"/>
                <a:cs typeface="Carlito"/>
              </a:rPr>
              <a:t>(or </a:t>
            </a:r>
            <a:r>
              <a:rPr sz="2400" dirty="0">
                <a:latin typeface="Carlito"/>
                <a:cs typeface="Carlito"/>
              </a:rPr>
              <a:t>multiple </a:t>
            </a:r>
            <a:r>
              <a:rPr sz="2400" spc="-15" dirty="0">
                <a:latin typeface="Carlito"/>
                <a:cs typeface="Carlito"/>
              </a:rPr>
              <a:t>cores) are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one 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perform work more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efficiently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45" dirty="0">
                <a:latin typeface="Carlito"/>
                <a:cs typeface="Carlito"/>
              </a:rPr>
              <a:t>Tasks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10" dirty="0">
                <a:latin typeface="Carlito"/>
                <a:cs typeface="Carlito"/>
              </a:rPr>
              <a:t>performed</a:t>
            </a:r>
            <a:r>
              <a:rPr sz="2400" spc="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sequentially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209175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i="0" spc="-430" dirty="0"/>
              <a:t>Processing Techniques </a:t>
            </a:r>
            <a:r>
              <a:rPr i="0" spc="-270" dirty="0"/>
              <a:t>for </a:t>
            </a:r>
            <a:r>
              <a:rPr i="0" spc="-445" dirty="0"/>
              <a:t>Increased  </a:t>
            </a:r>
            <a:r>
              <a:rPr i="0" spc="-425" dirty="0"/>
              <a:t>Efficiency</a:t>
            </a:r>
          </a:p>
        </p:txBody>
      </p:sp>
      <p:sp>
        <p:nvSpPr>
          <p:cNvPr id="3" name="object 3"/>
          <p:cNvSpPr/>
          <p:nvPr/>
        </p:nvSpPr>
        <p:spPr>
          <a:xfrm>
            <a:off x="575346" y="1794632"/>
            <a:ext cx="8135380" cy="33088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40754" y="5333974"/>
            <a:ext cx="1276350" cy="790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11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3337330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Processing Techniques </a:t>
            </a:r>
            <a:r>
              <a:rPr spc="-270" dirty="0"/>
              <a:t>for </a:t>
            </a:r>
            <a:r>
              <a:rPr spc="-445" dirty="0"/>
              <a:t>Increased  </a:t>
            </a:r>
            <a:r>
              <a:rPr spc="-425" dirty="0"/>
              <a:t>Efficiency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95895" cy="21475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Memory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Management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Optimizing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use of </a:t>
            </a:r>
            <a:r>
              <a:rPr sz="2400" dirty="0">
                <a:latin typeface="Carlito"/>
                <a:cs typeface="Carlito"/>
              </a:rPr>
              <a:t>main memory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(RAM)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Virtual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Memory-management technique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5" dirty="0">
                <a:latin typeface="Carlito"/>
                <a:cs typeface="Carlito"/>
              </a:rPr>
              <a:t>uses </a:t>
            </a:r>
            <a:r>
              <a:rPr sz="2400" spc="-15" dirty="0">
                <a:latin typeface="Carlito"/>
                <a:cs typeface="Carlito"/>
              </a:rPr>
              <a:t>hard </a:t>
            </a:r>
            <a:r>
              <a:rPr sz="2400" spc="-10" dirty="0">
                <a:latin typeface="Carlito"/>
                <a:cs typeface="Carlito"/>
              </a:rPr>
              <a:t>drive  </a:t>
            </a:r>
            <a:r>
              <a:rPr sz="2400" spc="-5" dirty="0">
                <a:latin typeface="Carlito"/>
                <a:cs typeface="Carlito"/>
              </a:rPr>
              <a:t>space </a:t>
            </a:r>
            <a:r>
              <a:rPr sz="2400" dirty="0">
                <a:latin typeface="Carlito"/>
                <a:cs typeface="Carlito"/>
              </a:rPr>
              <a:t>as additional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RAM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7125" y="3715145"/>
            <a:ext cx="5411875" cy="24350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94804" y="4698872"/>
            <a:ext cx="1531620" cy="525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12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3673315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Processing Techniques </a:t>
            </a:r>
            <a:r>
              <a:rPr spc="-270" dirty="0"/>
              <a:t>for </a:t>
            </a:r>
            <a:r>
              <a:rPr spc="-445" dirty="0"/>
              <a:t>Increased  </a:t>
            </a:r>
            <a:r>
              <a:rPr spc="-425" dirty="0"/>
              <a:t>Efficiency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25130" cy="33178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Buffering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Spooling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Buffer</a:t>
            </a:r>
            <a:endParaRPr sz="2400">
              <a:latin typeface="Carlito"/>
              <a:cs typeface="Carlito"/>
            </a:endParaRPr>
          </a:p>
          <a:p>
            <a:pPr marL="1155700" marR="408305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Area </a:t>
            </a:r>
            <a:r>
              <a:rPr sz="2400" dirty="0">
                <a:latin typeface="Carlito"/>
                <a:cs typeface="Carlito"/>
              </a:rPr>
              <a:t>in RAM </a:t>
            </a:r>
            <a:r>
              <a:rPr sz="2400" spc="-5" dirty="0">
                <a:latin typeface="Carlito"/>
                <a:cs typeface="Carlito"/>
              </a:rPr>
              <a:t>or 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hard </a:t>
            </a:r>
            <a:r>
              <a:rPr sz="2400" spc="-10" dirty="0">
                <a:latin typeface="Carlito"/>
                <a:cs typeface="Carlito"/>
              </a:rPr>
              <a:t>drive designated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hold 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spc="-20" dirty="0">
                <a:latin typeface="Carlito"/>
                <a:cs typeface="Carlito"/>
              </a:rPr>
              <a:t>different </a:t>
            </a:r>
            <a:r>
              <a:rPr sz="2400" spc="-15" dirty="0">
                <a:latin typeface="Carlito"/>
                <a:cs typeface="Carlito"/>
              </a:rPr>
              <a:t>hardware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spc="-10" dirty="0">
                <a:latin typeface="Carlito"/>
                <a:cs typeface="Carlito"/>
              </a:rPr>
              <a:t>or  </a:t>
            </a:r>
            <a:r>
              <a:rPr sz="2400" spc="-15" dirty="0">
                <a:latin typeface="Carlito"/>
                <a:cs typeface="Carlito"/>
              </a:rPr>
              <a:t>programs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Buffering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Spooling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Placing </a:t>
            </a:r>
            <a:r>
              <a:rPr sz="2400" spc="-5" dirty="0">
                <a:latin typeface="Carlito"/>
                <a:cs typeface="Carlito"/>
              </a:rPr>
              <a:t>items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20" dirty="0">
                <a:latin typeface="Carlito"/>
                <a:cs typeface="Carlito"/>
              </a:rPr>
              <a:t>buffer </a:t>
            </a:r>
            <a:r>
              <a:rPr sz="2400" spc="-5" dirty="0">
                <a:latin typeface="Carlito"/>
                <a:cs typeface="Carlito"/>
              </a:rPr>
              <a:t>so they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retrieved by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10" dirty="0">
                <a:latin typeface="Carlito"/>
                <a:cs typeface="Carlito"/>
              </a:rPr>
              <a:t>appropriate </a:t>
            </a:r>
            <a:r>
              <a:rPr sz="2400" spc="-5" dirty="0">
                <a:latin typeface="Carlito"/>
                <a:cs typeface="Carlito"/>
              </a:rPr>
              <a:t>device </a:t>
            </a:r>
            <a:r>
              <a:rPr sz="2400" dirty="0">
                <a:latin typeface="Carlito"/>
                <a:cs typeface="Carlito"/>
              </a:rPr>
              <a:t>when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needed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171888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Differences </a:t>
            </a:r>
            <a:r>
              <a:rPr spc="-345" dirty="0"/>
              <a:t>Among </a:t>
            </a:r>
            <a:r>
              <a:rPr spc="-330" dirty="0"/>
              <a:t>Operating  </a:t>
            </a:r>
            <a:r>
              <a:rPr spc="-500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4921250" cy="25869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Command Line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Interface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Require users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input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commands  </a:t>
            </a:r>
            <a:r>
              <a:rPr sz="2400" spc="-5" dirty="0">
                <a:latin typeface="Carlito"/>
                <a:cs typeface="Carlito"/>
              </a:rPr>
              <a:t>using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keyboard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Graphical </a:t>
            </a:r>
            <a:r>
              <a:rPr sz="2400" spc="-5" dirty="0">
                <a:latin typeface="Carlito"/>
                <a:cs typeface="Carlito"/>
              </a:rPr>
              <a:t>User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Interface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Graphics </a:t>
            </a:r>
            <a:r>
              <a:rPr sz="2400" spc="-5" dirty="0">
                <a:latin typeface="Carlito"/>
                <a:cs typeface="Carlito"/>
              </a:rPr>
              <a:t>based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interface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0" dirty="0">
                <a:latin typeface="Carlito"/>
                <a:cs typeface="Carlito"/>
              </a:rPr>
              <a:t>by most operating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15230" y="1487512"/>
            <a:ext cx="4204335" cy="4966335"/>
            <a:chOff x="4515230" y="1487512"/>
            <a:chExt cx="4204335" cy="4966335"/>
          </a:xfrm>
        </p:grpSpPr>
        <p:sp>
          <p:nvSpPr>
            <p:cNvPr id="5" name="object 5"/>
            <p:cNvSpPr/>
            <p:nvPr/>
          </p:nvSpPr>
          <p:spPr>
            <a:xfrm>
              <a:off x="6014847" y="1487512"/>
              <a:ext cx="2704210" cy="496582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15230" y="5130901"/>
              <a:ext cx="1303020" cy="7315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14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2758726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Differences </a:t>
            </a:r>
            <a:r>
              <a:rPr spc="-345" dirty="0"/>
              <a:t>Among </a:t>
            </a:r>
            <a:r>
              <a:rPr spc="-330" dirty="0"/>
              <a:t>Operating  </a:t>
            </a:r>
            <a:r>
              <a:rPr spc="-500" dirty="0"/>
              <a:t>Systems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145" y="1600200"/>
            <a:ext cx="7801609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Categories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Operating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Systems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Personal </a:t>
            </a:r>
            <a:r>
              <a:rPr sz="2400" spc="-10" dirty="0">
                <a:latin typeface="Carlito"/>
                <a:cs typeface="Carlito"/>
              </a:rPr>
              <a:t>(Desktop) Operating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Systems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installed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single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Server </a:t>
            </a:r>
            <a:r>
              <a:rPr sz="2400" spc="-10" dirty="0">
                <a:latin typeface="Carlito"/>
                <a:cs typeface="Carlito"/>
              </a:rPr>
              <a:t>(Network) Operating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Systems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installed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network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server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Client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spc="-10" dirty="0">
                <a:latin typeface="Carlito"/>
                <a:cs typeface="Carlito"/>
              </a:rPr>
              <a:t>still </a:t>
            </a: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personal operating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 dirty="0">
              <a:latin typeface="Carlito"/>
              <a:cs typeface="Carlito"/>
            </a:endParaRPr>
          </a:p>
          <a:p>
            <a:pPr marL="1155700" marR="305435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Server </a:t>
            </a: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15" dirty="0">
                <a:latin typeface="Carlito"/>
                <a:cs typeface="Carlito"/>
              </a:rPr>
              <a:t>controls </a:t>
            </a:r>
            <a:r>
              <a:rPr sz="2400" dirty="0">
                <a:latin typeface="Carlito"/>
                <a:cs typeface="Carlito"/>
              </a:rPr>
              <a:t>access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network  resources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Mobile </a:t>
            </a:r>
            <a:r>
              <a:rPr sz="2400" dirty="0">
                <a:latin typeface="Carlito"/>
                <a:cs typeface="Carlito"/>
              </a:rPr>
              <a:t>and embedded </a:t>
            </a: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0" dirty="0">
                <a:latin typeface="Carlito"/>
                <a:cs typeface="Carlito"/>
              </a:rPr>
              <a:t>systems </a:t>
            </a:r>
            <a:r>
              <a:rPr sz="2400" spc="-15" dirty="0">
                <a:latin typeface="Carlito"/>
                <a:cs typeface="Carlito"/>
              </a:rPr>
              <a:t>are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also</a:t>
            </a:r>
          </a:p>
          <a:p>
            <a:pPr marL="756285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common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377012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Differences </a:t>
            </a:r>
            <a:r>
              <a:rPr spc="-345" dirty="0"/>
              <a:t>Among </a:t>
            </a:r>
            <a:r>
              <a:rPr spc="-330" dirty="0"/>
              <a:t>Operating  </a:t>
            </a:r>
            <a:r>
              <a:rPr spc="-50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947512" y="1740614"/>
            <a:ext cx="7507593" cy="42569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16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723212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Operating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409" dirty="0"/>
              <a:t>Personal  </a:t>
            </a:r>
            <a:r>
              <a:rPr spc="-395" dirty="0"/>
              <a:t>Computers </a:t>
            </a:r>
            <a:r>
              <a:rPr spc="-360" dirty="0"/>
              <a:t>and</a:t>
            </a:r>
            <a:r>
              <a:rPr spc="5" dirty="0"/>
              <a:t> </a:t>
            </a:r>
            <a:r>
              <a:rPr spc="-455" dirty="0"/>
              <a:t>Servers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17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86370" cy="35375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DOS (Disk </a:t>
            </a:r>
            <a:r>
              <a:rPr sz="2400" spc="-10" dirty="0">
                <a:latin typeface="Carlito"/>
                <a:cs typeface="Carlito"/>
              </a:rPr>
              <a:t>Operating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System)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DOS traditionally used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command-line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interface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Dominant </a:t>
            </a: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dirty="0">
                <a:latin typeface="Carlito"/>
                <a:cs typeface="Carlito"/>
              </a:rPr>
              <a:t>in the </a:t>
            </a:r>
            <a:r>
              <a:rPr sz="2400" spc="-5" dirty="0">
                <a:latin typeface="Carlito"/>
                <a:cs typeface="Carlito"/>
              </a:rPr>
              <a:t>1980s </a:t>
            </a:r>
            <a:r>
              <a:rPr sz="2400" dirty="0">
                <a:latin typeface="Carlito"/>
                <a:cs typeface="Carlito"/>
              </a:rPr>
              <a:t>and early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1990s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PC-DOS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Created </a:t>
            </a:r>
            <a:r>
              <a:rPr sz="2400" spc="-5" dirty="0">
                <a:latin typeface="Carlito"/>
                <a:cs typeface="Carlito"/>
              </a:rPr>
              <a:t>originally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IBM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microcomputers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MS-DOS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Created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5" dirty="0">
                <a:latin typeface="Carlito"/>
                <a:cs typeface="Carlito"/>
              </a:rPr>
              <a:t>IBM-compatible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computers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</a:t>
            </a:r>
            <a:r>
              <a:rPr sz="2400" spc="-10" dirty="0">
                <a:latin typeface="Carlito"/>
                <a:cs typeface="Carlito"/>
              </a:rPr>
              <a:t>enter </a:t>
            </a:r>
            <a:r>
              <a:rPr sz="2400" spc="-5" dirty="0">
                <a:latin typeface="Carlito"/>
                <a:cs typeface="Carlito"/>
              </a:rPr>
              <a:t>DOS </a:t>
            </a:r>
            <a:r>
              <a:rPr sz="2400" spc="-10" dirty="0">
                <a:latin typeface="Carlito"/>
                <a:cs typeface="Carlito"/>
              </a:rPr>
              <a:t>commands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Windows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435248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449705"/>
            <a:chOff x="0" y="0"/>
            <a:chExt cx="9144000" cy="1449705"/>
          </a:xfrm>
        </p:grpSpPr>
        <p:sp>
          <p:nvSpPr>
            <p:cNvPr id="3" name="object 3"/>
            <p:cNvSpPr/>
            <p:nvPr/>
          </p:nvSpPr>
          <p:spPr>
            <a:xfrm>
              <a:off x="0" y="1376425"/>
              <a:ext cx="9144000" cy="730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8767"/>
              <a:ext cx="1572768" cy="13898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572768" cy="138683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806701" y="382651"/>
            <a:ext cx="933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5" dirty="0">
                <a:latin typeface="Arial Black"/>
                <a:cs typeface="Arial Black"/>
              </a:rPr>
              <a:t>DOS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94789" y="2233722"/>
            <a:ext cx="1516038" cy="15231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6473" y="2309352"/>
            <a:ext cx="6390627" cy="297082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18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3107642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884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30" dirty="0"/>
              <a:t>Windows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19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71155" cy="38309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Windows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predominant personal operating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5" dirty="0">
                <a:latin typeface="Carlito"/>
                <a:cs typeface="Carlito"/>
              </a:rPr>
              <a:t>developed </a:t>
            </a:r>
            <a:r>
              <a:rPr sz="2400" spc="-10" dirty="0">
                <a:latin typeface="Carlito"/>
                <a:cs typeface="Carlito"/>
              </a:rPr>
              <a:t>by  Microsoft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Corporation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1.0 </a:t>
            </a:r>
            <a:r>
              <a:rPr sz="2400" spc="-10" dirty="0">
                <a:latin typeface="Carlito"/>
                <a:cs typeface="Carlito"/>
              </a:rPr>
              <a:t>through Windows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Vista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1.0 released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1985</a:t>
            </a:r>
            <a:endParaRPr sz="2400">
              <a:latin typeface="Carlito"/>
              <a:cs typeface="Carlito"/>
            </a:endParaRPr>
          </a:p>
          <a:p>
            <a:pPr marL="13843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10" dirty="0">
                <a:latin typeface="Carlito"/>
                <a:cs typeface="Carlito"/>
              </a:rPr>
              <a:t>Windows 1.0 through Windows </a:t>
            </a:r>
            <a:r>
              <a:rPr sz="2400" dirty="0">
                <a:latin typeface="Carlito"/>
                <a:cs typeface="Carlito"/>
              </a:rPr>
              <a:t>3.x </a:t>
            </a:r>
            <a:r>
              <a:rPr sz="2400" spc="-15" dirty="0">
                <a:latin typeface="Carlito"/>
                <a:cs typeface="Carlito"/>
              </a:rPr>
              <a:t>were</a:t>
            </a:r>
            <a:r>
              <a:rPr sz="2400" spc="-2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operating</a:t>
            </a:r>
            <a:endParaRPr sz="2400">
              <a:latin typeface="Carlito"/>
              <a:cs typeface="Carlito"/>
            </a:endParaRPr>
          </a:p>
          <a:p>
            <a:pPr marL="1612900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environments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DOS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95, </a:t>
            </a: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98,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dirty="0">
                <a:latin typeface="Carlito"/>
                <a:cs typeface="Carlito"/>
              </a:rPr>
              <a:t>ME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personal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computers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460754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884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30" dirty="0"/>
              <a:t>Windows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20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1450594" y="1461262"/>
            <a:ext cx="6878955" cy="390397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NT (New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Technology)</a:t>
            </a:r>
            <a:endParaRPr sz="2400">
              <a:latin typeface="Carlito"/>
              <a:cs typeface="Carlito"/>
            </a:endParaRPr>
          </a:p>
          <a:p>
            <a:pPr marL="698500" marR="27305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15" dirty="0">
                <a:latin typeface="Carlito"/>
                <a:cs typeface="Carlito"/>
              </a:rPr>
              <a:t>First </a:t>
            </a:r>
            <a:r>
              <a:rPr sz="2400" spc="-5" dirty="0">
                <a:latin typeface="Carlito"/>
                <a:cs typeface="Carlito"/>
              </a:rPr>
              <a:t>32-bit </a:t>
            </a:r>
            <a:r>
              <a:rPr sz="2400" spc="-15" dirty="0">
                <a:latin typeface="Carlito"/>
                <a:cs typeface="Carlito"/>
              </a:rPr>
              <a:t>version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high-  end </a:t>
            </a:r>
            <a:r>
              <a:rPr sz="2400" spc="-15" dirty="0">
                <a:latin typeface="Carlito"/>
                <a:cs typeface="Carlito"/>
              </a:rPr>
              <a:t>workstations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servers</a:t>
            </a:r>
            <a:endParaRPr sz="240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Replaced </a:t>
            </a:r>
            <a:r>
              <a:rPr sz="2400" spc="-10" dirty="0">
                <a:latin typeface="Carlito"/>
                <a:cs typeface="Carlito"/>
              </a:rPr>
              <a:t>by Windows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2000</a:t>
            </a:r>
            <a:endParaRPr sz="24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XP</a:t>
            </a:r>
            <a:endParaRPr sz="240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Replaced both </a:t>
            </a: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2000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Windows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</a:t>
            </a:r>
            <a:endParaRPr sz="24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15" dirty="0">
                <a:latin typeface="Carlito"/>
                <a:cs typeface="Carlito"/>
              </a:rPr>
              <a:t>Vista</a:t>
            </a:r>
            <a:endParaRPr sz="240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Replaced </a:t>
            </a:r>
            <a:r>
              <a:rPr sz="2400" spc="-10" dirty="0">
                <a:latin typeface="Carlito"/>
                <a:cs typeface="Carlito"/>
              </a:rPr>
              <a:t>Windows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XP</a:t>
            </a:r>
            <a:endParaRPr sz="240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Introduced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Aero </a:t>
            </a:r>
            <a:r>
              <a:rPr sz="2400" spc="-15" dirty="0">
                <a:latin typeface="Carlito"/>
                <a:cs typeface="Carlito"/>
              </a:rPr>
              <a:t>interface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Sidebar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feature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554896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884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30" dirty="0"/>
              <a:t>Windows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21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6769734" cy="437896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dirty="0">
                <a:latin typeface="Carlito"/>
                <a:cs typeface="Carlito"/>
              </a:rPr>
              <a:t>7</a:t>
            </a:r>
          </a:p>
          <a:p>
            <a:pPr marL="697865" lvl="1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Released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5" dirty="0">
                <a:latin typeface="Carlito"/>
                <a:cs typeface="Carlito"/>
              </a:rPr>
              <a:t>late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2009</a:t>
            </a:r>
            <a:endParaRPr sz="2400" dirty="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Home Premium (primary </a:t>
            </a:r>
            <a:r>
              <a:rPr sz="2400" spc="-15" dirty="0">
                <a:latin typeface="Carlito"/>
                <a:cs typeface="Carlito"/>
              </a:rPr>
              <a:t>version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home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users)</a:t>
            </a:r>
            <a:endParaRPr sz="2400" dirty="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Professional </a:t>
            </a:r>
            <a:r>
              <a:rPr sz="2400" dirty="0">
                <a:latin typeface="Carlito"/>
                <a:cs typeface="Carlito"/>
              </a:rPr>
              <a:t>(primary </a:t>
            </a:r>
            <a:r>
              <a:rPr sz="2400" spc="-15" dirty="0">
                <a:latin typeface="Carlito"/>
                <a:cs typeface="Carlito"/>
              </a:rPr>
              <a:t>version </a:t>
            </a:r>
            <a:r>
              <a:rPr sz="2400" spc="-20" dirty="0">
                <a:latin typeface="Carlito"/>
                <a:cs typeface="Carlito"/>
              </a:rPr>
              <a:t>for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businesses)</a:t>
            </a:r>
            <a:endParaRPr sz="2400" dirty="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Libraries </a:t>
            </a:r>
            <a:r>
              <a:rPr sz="2400" spc="-20" dirty="0">
                <a:latin typeface="Carlito"/>
                <a:cs typeface="Carlito"/>
              </a:rPr>
              <a:t>feature </a:t>
            </a:r>
            <a:r>
              <a:rPr sz="2400" spc="-10" dirty="0">
                <a:latin typeface="Carlito"/>
                <a:cs typeface="Carlito"/>
              </a:rPr>
              <a:t>gives you </a:t>
            </a:r>
            <a:r>
              <a:rPr sz="2400" dirty="0">
                <a:latin typeface="Carlito"/>
                <a:cs typeface="Carlito"/>
              </a:rPr>
              <a:t>virtual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folders</a:t>
            </a:r>
            <a:endParaRPr sz="2400" dirty="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dirty="0">
                <a:latin typeface="Carlito"/>
                <a:cs typeface="Carlito"/>
              </a:rPr>
              <a:t>8</a:t>
            </a:r>
          </a:p>
          <a:p>
            <a:pPr marL="697865" lvl="1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Current </a:t>
            </a:r>
            <a:r>
              <a:rPr sz="2400" spc="-15" dirty="0">
                <a:latin typeface="Carlito"/>
                <a:cs typeface="Carlito"/>
              </a:rPr>
              <a:t>version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Windows</a:t>
            </a:r>
            <a:endParaRPr sz="2400" dirty="0">
              <a:latin typeface="Carlito"/>
              <a:cs typeface="Carlito"/>
            </a:endParaRPr>
          </a:p>
          <a:p>
            <a:pPr marL="697865" marR="8255" lvl="1" indent="-228600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765175" algn="l"/>
                <a:tab pos="765810" algn="l"/>
              </a:tabLst>
            </a:pPr>
            <a:r>
              <a:rPr dirty="0"/>
              <a:t>	</a:t>
            </a: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used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5" dirty="0">
                <a:latin typeface="Carlito"/>
                <a:cs typeface="Carlito"/>
              </a:rPr>
              <a:t>smartphones, </a:t>
            </a:r>
            <a:r>
              <a:rPr sz="2400" spc="-10" dirty="0">
                <a:latin typeface="Carlito"/>
                <a:cs typeface="Carlito"/>
              </a:rPr>
              <a:t>desktop  </a:t>
            </a:r>
            <a:r>
              <a:rPr sz="2400" spc="-15" dirty="0">
                <a:latin typeface="Carlito"/>
                <a:cs typeface="Carlito"/>
              </a:rPr>
              <a:t>computers,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dirty="0">
                <a:latin typeface="Carlito"/>
                <a:cs typeface="Carlito"/>
              </a:rPr>
              <a:t>without a </a:t>
            </a:r>
            <a:r>
              <a:rPr sz="2400" spc="-15" dirty="0">
                <a:latin typeface="Carlito"/>
                <a:cs typeface="Carlito"/>
              </a:rPr>
              <a:t>keyboard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-1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mouse</a:t>
            </a:r>
            <a:endParaRPr sz="2400" dirty="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Supports multi-touch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input</a:t>
            </a:r>
          </a:p>
          <a:p>
            <a:pPr marL="697865" lvl="1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rlito"/>
                <a:cs typeface="Carlito"/>
              </a:rPr>
              <a:t>Includes </a:t>
            </a:r>
            <a:r>
              <a:rPr sz="2400" spc="-10" dirty="0">
                <a:latin typeface="Carlito"/>
                <a:cs typeface="Carlito"/>
              </a:rPr>
              <a:t>Start screen, </a:t>
            </a:r>
            <a:r>
              <a:rPr sz="2400" dirty="0">
                <a:latin typeface="Carlito"/>
                <a:cs typeface="Carlito"/>
              </a:rPr>
              <a:t>tiles, and charms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bar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38330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79603"/>
            <a:ext cx="1884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30" dirty="0"/>
              <a:t>Windows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683564" y="1556854"/>
            <a:ext cx="7604125" cy="5137785"/>
            <a:chOff x="683564" y="1556854"/>
            <a:chExt cx="7604125" cy="5137785"/>
          </a:xfrm>
        </p:grpSpPr>
        <p:sp>
          <p:nvSpPr>
            <p:cNvPr id="4" name="object 4"/>
            <p:cNvSpPr/>
            <p:nvPr/>
          </p:nvSpPr>
          <p:spPr>
            <a:xfrm>
              <a:off x="683564" y="1556854"/>
              <a:ext cx="7604023" cy="470446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80126" y="6237312"/>
              <a:ext cx="1095375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22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2361805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884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30" dirty="0"/>
              <a:t>Windows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30275" y="1749094"/>
            <a:ext cx="7283450" cy="390397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Server</a:t>
            </a:r>
            <a:endParaRPr sz="2400" dirty="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version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server</a:t>
            </a:r>
            <a:r>
              <a:rPr sz="2400" spc="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</a:t>
            </a:r>
            <a:endParaRPr sz="2400" dirty="0">
              <a:latin typeface="Carlito"/>
              <a:cs typeface="Carlito"/>
            </a:endParaRPr>
          </a:p>
          <a:p>
            <a:pPr marL="1155065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1155700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Server 2012 </a:t>
            </a:r>
            <a:r>
              <a:rPr sz="2400" dirty="0">
                <a:latin typeface="Carlito"/>
                <a:cs typeface="Carlito"/>
              </a:rPr>
              <a:t>is the </a:t>
            </a:r>
            <a:r>
              <a:rPr sz="2400" spc="-15" dirty="0">
                <a:latin typeface="Carlito"/>
                <a:cs typeface="Carlito"/>
              </a:rPr>
              <a:t>latest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version</a:t>
            </a:r>
            <a:endParaRPr sz="2400" dirty="0">
              <a:latin typeface="Carlito"/>
              <a:cs typeface="Carlito"/>
            </a:endParaRPr>
          </a:p>
          <a:p>
            <a:pPr marL="1155065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155700" algn="l"/>
              </a:tabLst>
            </a:pPr>
            <a:r>
              <a:rPr sz="2400" spc="-5" dirty="0">
                <a:latin typeface="Carlito"/>
                <a:cs typeface="Carlito"/>
              </a:rPr>
              <a:t>Supports both virtualization </a:t>
            </a:r>
            <a:r>
              <a:rPr sz="2400" dirty="0">
                <a:latin typeface="Carlito"/>
                <a:cs typeface="Carlito"/>
              </a:rPr>
              <a:t>and cloud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computing</a:t>
            </a:r>
            <a:endParaRPr sz="2400" dirty="0">
              <a:latin typeface="Carlito"/>
              <a:cs typeface="Carlito"/>
            </a:endParaRPr>
          </a:p>
          <a:p>
            <a:pPr marL="365760" indent="-35369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365760" algn="l"/>
                <a:tab pos="366395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Home Server</a:t>
            </a:r>
            <a:endParaRPr sz="2400" dirty="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Preinstalled </a:t>
            </a:r>
            <a:r>
              <a:rPr sz="2400" spc="-5" dirty="0">
                <a:latin typeface="Carlito"/>
                <a:cs typeface="Carlito"/>
              </a:rPr>
              <a:t>on home server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devices</a:t>
            </a:r>
            <a:endParaRPr sz="2400" dirty="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provide </a:t>
            </a:r>
            <a:r>
              <a:rPr sz="2400" dirty="0">
                <a:latin typeface="Carlito"/>
                <a:cs typeface="Carlito"/>
              </a:rPr>
              <a:t>services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home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 dirty="0">
              <a:latin typeface="Carlito"/>
              <a:cs typeface="Carlito"/>
            </a:endParaRPr>
          </a:p>
          <a:p>
            <a:pPr marL="697865" marR="3556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Can be set up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back up </a:t>
            </a:r>
            <a:r>
              <a:rPr sz="2400" dirty="0">
                <a:latin typeface="Carlito"/>
                <a:cs typeface="Carlito"/>
              </a:rPr>
              <a:t>all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dirty="0">
                <a:latin typeface="Carlito"/>
                <a:cs typeface="Carlito"/>
              </a:rPr>
              <a:t>in the </a:t>
            </a:r>
            <a:r>
              <a:rPr sz="2400" spc="-5" dirty="0">
                <a:latin typeface="Carlito"/>
                <a:cs typeface="Carlito"/>
              </a:rPr>
              <a:t>home on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5" dirty="0">
                <a:latin typeface="Carlito"/>
                <a:cs typeface="Carlito"/>
              </a:rPr>
              <a:t>regular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basis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881780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5932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95" dirty="0"/>
              <a:t>Mac</a:t>
            </a:r>
            <a:r>
              <a:rPr sz="3600" spc="-290" dirty="0"/>
              <a:t> </a:t>
            </a:r>
            <a:r>
              <a:rPr sz="3600" spc="-490" dirty="0"/>
              <a:t>OS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24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525384" cy="390397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Mac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OS</a:t>
            </a:r>
            <a:endParaRPr sz="2400">
              <a:latin typeface="Carlito"/>
              <a:cs typeface="Carlito"/>
            </a:endParaRPr>
          </a:p>
          <a:p>
            <a:pPr marL="756285" marR="23622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Proprietary operating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dirty="0">
                <a:latin typeface="Carlito"/>
                <a:cs typeface="Carlito"/>
              </a:rPr>
              <a:t>made </a:t>
            </a:r>
            <a:r>
              <a:rPr sz="2400" spc="-10" dirty="0">
                <a:latin typeface="Carlito"/>
                <a:cs typeface="Carlito"/>
              </a:rPr>
              <a:t>by  </a:t>
            </a:r>
            <a:r>
              <a:rPr sz="2400" dirty="0">
                <a:latin typeface="Carlito"/>
                <a:cs typeface="Carlito"/>
              </a:rPr>
              <a:t>Apple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Corporation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Based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UNIX </a:t>
            </a:r>
            <a:r>
              <a:rPr sz="2400" spc="-10" dirty="0">
                <a:latin typeface="Carlito"/>
                <a:cs typeface="Carlito"/>
              </a:rPr>
              <a:t>operating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Originally set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standard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graphical </a:t>
            </a:r>
            <a:r>
              <a:rPr sz="2400" spc="-5" dirty="0">
                <a:latin typeface="Carlito"/>
                <a:cs typeface="Carlito"/>
              </a:rPr>
              <a:t>user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interfaces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Mac </a:t>
            </a:r>
            <a:r>
              <a:rPr sz="2400" spc="-5" dirty="0">
                <a:latin typeface="Carlito"/>
                <a:cs typeface="Carlito"/>
              </a:rPr>
              <a:t>OS </a:t>
            </a:r>
            <a:r>
              <a:rPr sz="2400" dirty="0">
                <a:latin typeface="Carlito"/>
                <a:cs typeface="Carlito"/>
              </a:rPr>
              <a:t>X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Family</a:t>
            </a:r>
            <a:endParaRPr sz="2400">
              <a:latin typeface="Carlito"/>
              <a:cs typeface="Carlito"/>
            </a:endParaRPr>
          </a:p>
          <a:p>
            <a:pPr marL="1223010" lvl="2" indent="-29591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222375" algn="l"/>
                <a:tab pos="1223010" algn="l"/>
              </a:tabLst>
            </a:pPr>
            <a:r>
              <a:rPr sz="2400" dirty="0">
                <a:latin typeface="Carlito"/>
                <a:cs typeface="Carlito"/>
              </a:rPr>
              <a:t>Mac </a:t>
            </a:r>
            <a:r>
              <a:rPr sz="2400" spc="-5" dirty="0">
                <a:latin typeface="Carlito"/>
                <a:cs typeface="Carlito"/>
              </a:rPr>
              <a:t>OS </a:t>
            </a:r>
            <a:r>
              <a:rPr sz="2400" dirty="0">
                <a:latin typeface="Carlito"/>
                <a:cs typeface="Carlito"/>
              </a:rPr>
              <a:t>X </a:t>
            </a:r>
            <a:r>
              <a:rPr sz="2400" spc="-10" dirty="0">
                <a:latin typeface="Carlito"/>
                <a:cs typeface="Carlito"/>
              </a:rPr>
              <a:t>Mountain </a:t>
            </a:r>
            <a:r>
              <a:rPr sz="2400" spc="-5" dirty="0">
                <a:latin typeface="Carlito"/>
                <a:cs typeface="Carlito"/>
              </a:rPr>
              <a:t>Lion </a:t>
            </a:r>
            <a:r>
              <a:rPr sz="2400" dirty="0">
                <a:latin typeface="Carlito"/>
                <a:cs typeface="Carlito"/>
              </a:rPr>
              <a:t>and Mac </a:t>
            </a:r>
            <a:r>
              <a:rPr sz="2400" spc="-5" dirty="0">
                <a:latin typeface="Carlito"/>
                <a:cs typeface="Carlito"/>
              </a:rPr>
              <a:t>OS </a:t>
            </a:r>
            <a:r>
              <a:rPr sz="2400" dirty="0">
                <a:latin typeface="Carlito"/>
                <a:cs typeface="Carlito"/>
              </a:rPr>
              <a:t>X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Mavericks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Mac </a:t>
            </a:r>
            <a:r>
              <a:rPr sz="2400" spc="-5" dirty="0">
                <a:latin typeface="Carlito"/>
                <a:cs typeface="Carlito"/>
              </a:rPr>
              <a:t>OS </a:t>
            </a:r>
            <a:r>
              <a:rPr sz="2400" dirty="0">
                <a:latin typeface="Carlito"/>
                <a:cs typeface="Carlito"/>
              </a:rPr>
              <a:t>X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Server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Server </a:t>
            </a:r>
            <a:r>
              <a:rPr sz="2400" spc="-15" dirty="0">
                <a:latin typeface="Carlito"/>
                <a:cs typeface="Carlito"/>
              </a:rPr>
              <a:t>version </a:t>
            </a:r>
            <a:r>
              <a:rPr sz="2400" spc="-10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Mac </a:t>
            </a:r>
            <a:r>
              <a:rPr sz="2400" spc="-5" dirty="0">
                <a:latin typeface="Carlito"/>
                <a:cs typeface="Carlito"/>
              </a:rPr>
              <a:t>OS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X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3078921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5932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95" dirty="0"/>
              <a:t>Mac</a:t>
            </a:r>
            <a:r>
              <a:rPr sz="3600" spc="-290" dirty="0"/>
              <a:t> </a:t>
            </a:r>
            <a:r>
              <a:rPr sz="3600" spc="-490" dirty="0"/>
              <a:t>OS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6582918" y="2478023"/>
            <a:ext cx="1247775" cy="5524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9591" y="1786986"/>
            <a:ext cx="4636279" cy="44063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25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2475622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6941" y="426632"/>
            <a:ext cx="1073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90" dirty="0"/>
              <a:t>U</a:t>
            </a:r>
            <a:r>
              <a:rPr lang="en-US" sz="3600" spc="-490" dirty="0"/>
              <a:t> </a:t>
            </a:r>
            <a:r>
              <a:rPr sz="3600" spc="-490" dirty="0"/>
              <a:t>N</a:t>
            </a:r>
            <a:r>
              <a:rPr lang="en-US" sz="3600" spc="-490" dirty="0"/>
              <a:t> </a:t>
            </a:r>
            <a:r>
              <a:rPr sz="3600" spc="-490" dirty="0"/>
              <a:t>I</a:t>
            </a:r>
            <a:r>
              <a:rPr lang="en-US" sz="3600" spc="-490" dirty="0"/>
              <a:t> </a:t>
            </a:r>
            <a:r>
              <a:rPr sz="3600" spc="-490" dirty="0"/>
              <a:t>X</a:t>
            </a:r>
            <a:endParaRPr sz="360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26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39405" cy="45618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UNIX</a:t>
            </a:r>
            <a:endParaRPr sz="2400" dirty="0">
              <a:latin typeface="Carlito"/>
              <a:cs typeface="Carlito"/>
            </a:endParaRPr>
          </a:p>
          <a:p>
            <a:pPr marL="756285" marR="110744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5" dirty="0">
                <a:latin typeface="Carlito"/>
                <a:cs typeface="Carlito"/>
              </a:rPr>
              <a:t>developed </a:t>
            </a:r>
            <a:r>
              <a:rPr sz="2400" dirty="0">
                <a:latin typeface="Carlito"/>
                <a:cs typeface="Carlito"/>
              </a:rPr>
              <a:t>in the </a:t>
            </a:r>
            <a:r>
              <a:rPr sz="2400" spc="-15" dirty="0">
                <a:latin typeface="Carlito"/>
                <a:cs typeface="Carlito"/>
              </a:rPr>
              <a:t>late </a:t>
            </a:r>
            <a:r>
              <a:rPr sz="2400" spc="-5" dirty="0">
                <a:latin typeface="Carlito"/>
                <a:cs typeface="Carlito"/>
              </a:rPr>
              <a:t>1960s </a:t>
            </a:r>
            <a:r>
              <a:rPr sz="2400" spc="-25" dirty="0">
                <a:latin typeface="Carlito"/>
                <a:cs typeface="Carlito"/>
              </a:rPr>
              <a:t>for  </a:t>
            </a:r>
            <a:r>
              <a:rPr sz="2400" spc="-10" dirty="0">
                <a:latin typeface="Carlito"/>
                <a:cs typeface="Carlito"/>
              </a:rPr>
              <a:t>midrange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servers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Multiuser, </a:t>
            </a:r>
            <a:r>
              <a:rPr sz="2400" spc="-5" dirty="0">
                <a:latin typeface="Carlito"/>
                <a:cs typeface="Carlito"/>
              </a:rPr>
              <a:t>multitasking </a:t>
            </a:r>
            <a:r>
              <a:rPr sz="2400" spc="-10" dirty="0">
                <a:latin typeface="Carlito"/>
                <a:cs typeface="Carlito"/>
              </a:rPr>
              <a:t>operating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 dirty="0">
              <a:latin typeface="Carlito"/>
              <a:cs typeface="Carlito"/>
            </a:endParaRPr>
          </a:p>
          <a:p>
            <a:pPr marL="756285" marR="78803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More expensive, requires </a:t>
            </a:r>
            <a:r>
              <a:rPr sz="2400" spc="-5" dirty="0">
                <a:latin typeface="Carlito"/>
                <a:cs typeface="Carlito"/>
              </a:rPr>
              <a:t>high </a:t>
            </a:r>
            <a:r>
              <a:rPr sz="2400" spc="-10" dirty="0">
                <a:latin typeface="Carlito"/>
                <a:cs typeface="Carlito"/>
              </a:rPr>
              <a:t>level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technical  </a:t>
            </a:r>
            <a:r>
              <a:rPr sz="2400" spc="-5" dirty="0">
                <a:latin typeface="Carlito"/>
                <a:cs typeface="Carlito"/>
              </a:rPr>
              <a:t>knowledge; </a:t>
            </a:r>
            <a:r>
              <a:rPr sz="2400" spc="-10" dirty="0">
                <a:latin typeface="Carlito"/>
                <a:cs typeface="Carlito"/>
              </a:rPr>
              <a:t>harder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install, </a:t>
            </a:r>
            <a:r>
              <a:rPr sz="2400" spc="-5" dirty="0">
                <a:latin typeface="Carlito"/>
                <a:cs typeface="Carlito"/>
              </a:rPr>
              <a:t>maintain,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upgrade</a:t>
            </a:r>
            <a:endParaRPr sz="2400" dirty="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80"/>
              </a:spcBef>
              <a:buChar char="–"/>
              <a:tabLst>
                <a:tab pos="756920" algn="l"/>
              </a:tabLst>
            </a:pPr>
            <a:r>
              <a:rPr sz="2400" spc="-70" dirty="0">
                <a:latin typeface="Arial"/>
                <a:cs typeface="Arial"/>
              </a:rPr>
              <a:t>“UNIX” </a:t>
            </a:r>
            <a:r>
              <a:rPr sz="2400" spc="-20" dirty="0">
                <a:latin typeface="Arial"/>
                <a:cs typeface="Arial"/>
              </a:rPr>
              <a:t>initially </a:t>
            </a:r>
            <a:r>
              <a:rPr sz="2400" spc="-60" dirty="0">
                <a:latin typeface="Arial"/>
                <a:cs typeface="Arial"/>
              </a:rPr>
              <a:t>referred </a:t>
            </a:r>
            <a:r>
              <a:rPr sz="2400" spc="20" dirty="0">
                <a:latin typeface="Arial"/>
                <a:cs typeface="Arial"/>
              </a:rPr>
              <a:t>to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60" dirty="0">
                <a:latin typeface="Arial"/>
                <a:cs typeface="Arial"/>
              </a:rPr>
              <a:t>original </a:t>
            </a:r>
            <a:r>
              <a:rPr sz="2400" spc="-204" dirty="0">
                <a:latin typeface="Arial"/>
                <a:cs typeface="Arial"/>
              </a:rPr>
              <a:t>UNIX </a:t>
            </a:r>
            <a:r>
              <a:rPr sz="2400" spc="-75" dirty="0">
                <a:latin typeface="Arial"/>
                <a:cs typeface="Arial"/>
              </a:rPr>
              <a:t>operating  </a:t>
            </a:r>
            <a:r>
              <a:rPr sz="2400" spc="-20" dirty="0">
                <a:latin typeface="Carlito"/>
                <a:cs typeface="Carlito"/>
              </a:rPr>
              <a:t>system, </a:t>
            </a:r>
            <a:r>
              <a:rPr sz="2400" spc="-10" dirty="0">
                <a:latin typeface="Carlito"/>
                <a:cs typeface="Carlito"/>
              </a:rPr>
              <a:t>now </a:t>
            </a:r>
            <a:r>
              <a:rPr sz="2400" spc="-30" dirty="0">
                <a:latin typeface="Carlito"/>
                <a:cs typeface="Carlito"/>
              </a:rPr>
              <a:t>refers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group of </a:t>
            </a:r>
            <a:r>
              <a:rPr sz="2400" spc="-5" dirty="0">
                <a:latin typeface="Carlito"/>
                <a:cs typeface="Carlito"/>
              </a:rPr>
              <a:t>similar </a:t>
            </a: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0" dirty="0">
                <a:latin typeface="Carlito"/>
                <a:cs typeface="Carlito"/>
              </a:rPr>
              <a:t>systems  </a:t>
            </a:r>
            <a:r>
              <a:rPr sz="2400" spc="-5" dirty="0">
                <a:latin typeface="Carlito"/>
                <a:cs typeface="Carlito"/>
              </a:rPr>
              <a:t>based on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UNIX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Single UNIX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Specification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15" dirty="0">
                <a:latin typeface="Carlito"/>
                <a:cs typeface="Carlito"/>
              </a:rPr>
              <a:t>standardized </a:t>
            </a:r>
            <a:r>
              <a:rPr sz="2400" spc="-5" dirty="0">
                <a:latin typeface="Carlito"/>
                <a:cs typeface="Carlito"/>
              </a:rPr>
              <a:t>UNIX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environment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8593534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079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5" dirty="0"/>
              <a:t>Linux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27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53705" cy="44888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Linux</a:t>
            </a:r>
            <a:endParaRPr sz="2400">
              <a:latin typeface="Carlito"/>
              <a:cs typeface="Carlito"/>
            </a:endParaRPr>
          </a:p>
          <a:p>
            <a:pPr marL="756285" marR="8572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Developed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spc="-5" dirty="0">
                <a:latin typeface="Carlito"/>
                <a:cs typeface="Carlito"/>
              </a:rPr>
              <a:t>Linus </a:t>
            </a:r>
            <a:r>
              <a:rPr sz="2400" spc="-35" dirty="0">
                <a:latin typeface="Carlito"/>
                <a:cs typeface="Carlito"/>
              </a:rPr>
              <a:t>Torvalds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20" dirty="0">
                <a:latin typeface="Carlito"/>
                <a:cs typeface="Carlito"/>
              </a:rPr>
              <a:t>1991</a:t>
            </a:r>
            <a:r>
              <a:rPr sz="2400" spc="-20" dirty="0">
                <a:latin typeface="Arial"/>
                <a:cs typeface="Arial"/>
              </a:rPr>
              <a:t>—</a:t>
            </a:r>
            <a:r>
              <a:rPr sz="2400" spc="-20" dirty="0">
                <a:latin typeface="Carlito"/>
                <a:cs typeface="Carlito"/>
              </a:rPr>
              <a:t>resembles </a:t>
            </a:r>
            <a:r>
              <a:rPr sz="2400" spc="-5" dirty="0">
                <a:latin typeface="Carlito"/>
                <a:cs typeface="Carlito"/>
              </a:rPr>
              <a:t>UNIX but  </a:t>
            </a:r>
            <a:r>
              <a:rPr sz="2400" spc="-10" dirty="0">
                <a:latin typeface="Carlito"/>
                <a:cs typeface="Carlito"/>
              </a:rPr>
              <a:t>was </a:t>
            </a:r>
            <a:r>
              <a:rPr sz="2400" spc="-5" dirty="0">
                <a:latin typeface="Carlito"/>
                <a:cs typeface="Carlito"/>
              </a:rPr>
              <a:t>developed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independently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open-source software; </a:t>
            </a:r>
            <a:r>
              <a:rPr sz="2400" spc="-5" dirty="0">
                <a:latin typeface="Carlito"/>
                <a:cs typeface="Carlito"/>
              </a:rPr>
              <a:t>has been </a:t>
            </a:r>
            <a:r>
              <a:rPr sz="2400" spc="-15" dirty="0">
                <a:latin typeface="Carlito"/>
                <a:cs typeface="Carlito"/>
              </a:rPr>
              <a:t>collaboratively </a:t>
            </a:r>
            <a:r>
              <a:rPr sz="2400" dirty="0">
                <a:latin typeface="Carlito"/>
                <a:cs typeface="Carlito"/>
              </a:rPr>
              <a:t>modified 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spc="-15" dirty="0">
                <a:latin typeface="Carlito"/>
                <a:cs typeface="Carlito"/>
              </a:rPr>
              <a:t>volunteer programmers </a:t>
            </a:r>
            <a:r>
              <a:rPr sz="2400" dirty="0">
                <a:latin typeface="Carlito"/>
                <a:cs typeface="Carlito"/>
              </a:rPr>
              <a:t>all </a:t>
            </a:r>
            <a:r>
              <a:rPr sz="2400" spc="-15" dirty="0">
                <a:latin typeface="Carlito"/>
                <a:cs typeface="Carlito"/>
              </a:rPr>
              <a:t>over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world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Originally used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command </a:t>
            </a:r>
            <a:r>
              <a:rPr sz="2400" dirty="0">
                <a:latin typeface="Carlito"/>
                <a:cs typeface="Carlito"/>
              </a:rPr>
              <a:t>line </a:t>
            </a:r>
            <a:r>
              <a:rPr sz="2400" spc="-10" dirty="0">
                <a:latin typeface="Carlito"/>
                <a:cs typeface="Carlito"/>
              </a:rPr>
              <a:t>interface, most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recent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15" dirty="0">
                <a:latin typeface="Carlito"/>
                <a:cs typeface="Carlito"/>
              </a:rPr>
              <a:t>versions </a:t>
            </a: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GUI</a:t>
            </a:r>
            <a:endParaRPr sz="2400">
              <a:latin typeface="Carlito"/>
              <a:cs typeface="Carlito"/>
            </a:endParaRPr>
          </a:p>
          <a:p>
            <a:pPr marL="756285" marR="6858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  <a:tab pos="7399020" algn="l"/>
              </a:tabLst>
            </a:pPr>
            <a:r>
              <a:rPr sz="2400" spc="-5" dirty="0">
                <a:latin typeface="Carlito"/>
                <a:cs typeface="Carlito"/>
              </a:rPr>
              <a:t>St</a:t>
            </a:r>
            <a:r>
              <a:rPr sz="2400" spc="-35" dirty="0">
                <a:latin typeface="Carlito"/>
                <a:cs typeface="Carlito"/>
              </a:rPr>
              <a:t>r</a:t>
            </a:r>
            <a:r>
              <a:rPr sz="2400" spc="-5" dirty="0">
                <a:latin typeface="Carlito"/>
                <a:cs typeface="Carlito"/>
              </a:rPr>
              <a:t>on</a:t>
            </a:r>
            <a:r>
              <a:rPr sz="2400" dirty="0">
                <a:latin typeface="Carlito"/>
                <a:cs typeface="Carlito"/>
              </a:rPr>
              <a:t>g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supp</a:t>
            </a:r>
            <a:r>
              <a:rPr sz="2400" spc="-10" dirty="0">
                <a:latin typeface="Carlito"/>
                <a:cs typeface="Carlito"/>
              </a:rPr>
              <a:t>o</a:t>
            </a:r>
            <a:r>
              <a:rPr sz="2400" dirty="0">
                <a:latin typeface="Carlito"/>
                <a:cs typeface="Carlito"/>
              </a:rPr>
              <a:t>rt </a:t>
            </a:r>
            <a:r>
              <a:rPr sz="2400" spc="-5" dirty="0">
                <a:latin typeface="Carlito"/>
                <a:cs typeface="Carlito"/>
              </a:rPr>
              <a:t>f</a:t>
            </a:r>
            <a:r>
              <a:rPr sz="2400" spc="-35" dirty="0">
                <a:latin typeface="Carlito"/>
                <a:cs typeface="Carlito"/>
              </a:rPr>
              <a:t>r</a:t>
            </a:r>
            <a:r>
              <a:rPr sz="2400" spc="-5" dirty="0">
                <a:latin typeface="Carlito"/>
                <a:cs typeface="Carlito"/>
              </a:rPr>
              <a:t>o</a:t>
            </a:r>
            <a:r>
              <a:rPr sz="2400" dirty="0">
                <a:latin typeface="Carlito"/>
                <a:cs typeface="Carlito"/>
              </a:rPr>
              <a:t>m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main</a:t>
            </a:r>
            <a:r>
              <a:rPr sz="2400" spc="-30" dirty="0">
                <a:latin typeface="Carlito"/>
                <a:cs typeface="Carlito"/>
              </a:rPr>
              <a:t>s</a:t>
            </a:r>
            <a:r>
              <a:rPr sz="2400" dirty="0">
                <a:latin typeface="Carlito"/>
                <a:cs typeface="Carlito"/>
              </a:rPr>
              <a:t>t</a:t>
            </a:r>
            <a:r>
              <a:rPr sz="2400" spc="-35" dirty="0">
                <a:latin typeface="Carlito"/>
                <a:cs typeface="Carlito"/>
              </a:rPr>
              <a:t>r</a:t>
            </a:r>
            <a:r>
              <a:rPr sz="2400" dirty="0">
                <a:latin typeface="Carlito"/>
                <a:cs typeface="Carlito"/>
              </a:rPr>
              <a:t>e</a:t>
            </a:r>
            <a:r>
              <a:rPr sz="2400" spc="5" dirty="0">
                <a:latin typeface="Carlito"/>
                <a:cs typeface="Carlito"/>
              </a:rPr>
              <a:t>a</a:t>
            </a:r>
            <a:r>
              <a:rPr sz="2400" dirty="0">
                <a:latin typeface="Carlito"/>
                <a:cs typeface="Carlito"/>
              </a:rPr>
              <a:t>m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c</a:t>
            </a:r>
            <a:r>
              <a:rPr sz="2400" spc="-5" dirty="0">
                <a:latin typeface="Carlito"/>
                <a:cs typeface="Carlito"/>
              </a:rPr>
              <a:t>ompanies</a:t>
            </a:r>
            <a:r>
              <a:rPr sz="2400" dirty="0">
                <a:latin typeface="Carlito"/>
                <a:cs typeface="Carlito"/>
              </a:rPr>
              <a:t>,</a:t>
            </a:r>
            <a:r>
              <a:rPr sz="2400" spc="-5" dirty="0">
                <a:latin typeface="Carlito"/>
                <a:cs typeface="Carlito"/>
              </a:rPr>
              <a:t> suc</a:t>
            </a:r>
            <a:r>
              <a:rPr sz="2400" dirty="0">
                <a:latin typeface="Carlito"/>
                <a:cs typeface="Carlito"/>
              </a:rPr>
              <a:t>h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as	</a:t>
            </a:r>
            <a:r>
              <a:rPr sz="2400" spc="-10" dirty="0">
                <a:latin typeface="Carlito"/>
                <a:cs typeface="Carlito"/>
              </a:rPr>
              <a:t>I</a:t>
            </a:r>
            <a:r>
              <a:rPr sz="2400" dirty="0">
                <a:latin typeface="Carlito"/>
                <a:cs typeface="Carlito"/>
              </a:rPr>
              <a:t>BM,  </a:t>
            </a:r>
            <a:r>
              <a:rPr sz="2400" spc="-5" dirty="0">
                <a:latin typeface="Carlito"/>
                <a:cs typeface="Carlito"/>
              </a:rPr>
              <a:t>NVIDIA, </a:t>
            </a:r>
            <a:r>
              <a:rPr sz="2400" spc="-105" dirty="0">
                <a:latin typeface="Carlito"/>
                <a:cs typeface="Carlito"/>
              </a:rPr>
              <a:t>HP, </a:t>
            </a:r>
            <a:r>
              <a:rPr sz="2400" spc="-5" dirty="0">
                <a:latin typeface="Carlito"/>
                <a:cs typeface="Carlito"/>
              </a:rPr>
              <a:t>Dell,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8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Novell</a:t>
            </a:r>
            <a:endParaRPr sz="2400">
              <a:latin typeface="Carlito"/>
              <a:cs typeface="Carlito"/>
            </a:endParaRPr>
          </a:p>
          <a:p>
            <a:pPr marL="756285" marR="426084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Individuals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organizations are </a:t>
            </a:r>
            <a:r>
              <a:rPr sz="2400" spc="-5" dirty="0">
                <a:latin typeface="Carlito"/>
                <a:cs typeface="Carlito"/>
              </a:rPr>
              <a:t>switching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Linux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5" dirty="0">
                <a:latin typeface="Carlito"/>
                <a:cs typeface="Carlito"/>
              </a:rPr>
              <a:t>other open </a:t>
            </a:r>
            <a:r>
              <a:rPr sz="2400" spc="-10" dirty="0">
                <a:latin typeface="Carlito"/>
                <a:cs typeface="Carlito"/>
              </a:rPr>
              <a:t>source </a:t>
            </a:r>
            <a:r>
              <a:rPr sz="2400" spc="-15" dirty="0">
                <a:latin typeface="Carlito"/>
                <a:cs typeface="Carlito"/>
              </a:rPr>
              <a:t>software </a:t>
            </a:r>
            <a:r>
              <a:rPr sz="2400" spc="-5" dirty="0">
                <a:latin typeface="Carlito"/>
                <a:cs typeface="Carlito"/>
              </a:rPr>
              <a:t>because of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cost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2637396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079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5" dirty="0"/>
              <a:t>Linux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6893965" y="2270404"/>
            <a:ext cx="1423736" cy="913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2132856"/>
            <a:ext cx="6311674" cy="34671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28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22177862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337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Chrome</a:t>
            </a:r>
            <a:r>
              <a:rPr sz="3600" spc="-295" dirty="0"/>
              <a:t> </a:t>
            </a:r>
            <a:r>
              <a:rPr sz="3600" spc="-490" dirty="0"/>
              <a:t>OS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29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49895" cy="25869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Chrome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20" dirty="0">
                <a:latin typeface="Carlito"/>
                <a:cs typeface="Carlito"/>
              </a:rPr>
              <a:t>first </a:t>
            </a:r>
            <a:r>
              <a:rPr sz="2400" dirty="0">
                <a:latin typeface="Carlito"/>
                <a:cs typeface="Carlito"/>
              </a:rPr>
              <a:t>cloud </a:t>
            </a:r>
            <a:r>
              <a:rPr sz="2400" spc="-10" dirty="0">
                <a:latin typeface="Carlito"/>
                <a:cs typeface="Carlito"/>
              </a:rPr>
              <a:t>operating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Essentially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Chrome </a:t>
            </a:r>
            <a:r>
              <a:rPr sz="2400" spc="-30" dirty="0">
                <a:latin typeface="Carlito"/>
                <a:cs typeface="Carlito"/>
              </a:rPr>
              <a:t>Web </a:t>
            </a:r>
            <a:r>
              <a:rPr sz="2400" spc="-15" dirty="0">
                <a:latin typeface="Carlito"/>
                <a:cs typeface="Carlito"/>
              </a:rPr>
              <a:t>browser </a:t>
            </a:r>
            <a:r>
              <a:rPr sz="2400" spc="-5" dirty="0">
                <a:latin typeface="Carlito"/>
                <a:cs typeface="Carlito"/>
              </a:rPr>
              <a:t>redesigned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run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30" dirty="0">
                <a:latin typeface="Carlito"/>
                <a:cs typeface="Carlito"/>
              </a:rPr>
              <a:t>computer, </a:t>
            </a:r>
            <a:r>
              <a:rPr sz="2400" dirty="0">
                <a:latin typeface="Carlito"/>
                <a:cs typeface="Carlito"/>
              </a:rPr>
              <a:t>in addition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accessing </a:t>
            </a:r>
            <a:r>
              <a:rPr sz="2400" spc="-30" dirty="0">
                <a:latin typeface="Carlito"/>
                <a:cs typeface="Carlito"/>
              </a:rPr>
              <a:t>Web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resources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Replaces traditional </a:t>
            </a:r>
            <a:r>
              <a:rPr sz="2400" spc="-10" dirty="0">
                <a:latin typeface="Carlito"/>
                <a:cs typeface="Carlito"/>
              </a:rPr>
              <a:t>desktop </a:t>
            </a:r>
            <a:r>
              <a:rPr sz="2400" spc="-15" dirty="0">
                <a:latin typeface="Carlito"/>
                <a:cs typeface="Carlito"/>
              </a:rPr>
              <a:t>operating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currently </a:t>
            </a:r>
            <a:r>
              <a:rPr sz="2400" spc="-5" dirty="0">
                <a:latin typeface="Carlito"/>
                <a:cs typeface="Carlito"/>
              </a:rPr>
              <a:t>only </a:t>
            </a:r>
            <a:r>
              <a:rPr sz="2400" spc="-10" dirty="0">
                <a:latin typeface="Carlito"/>
                <a:cs typeface="Carlito"/>
              </a:rPr>
              <a:t>available preinstalled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spc="-10" dirty="0">
                <a:latin typeface="Carlito"/>
                <a:cs typeface="Carlito"/>
              </a:rPr>
              <a:t>Chrome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devices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6097903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026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34" dirty="0"/>
              <a:t>Technology </a:t>
            </a:r>
            <a:r>
              <a:rPr sz="3600" spc="-405" dirty="0"/>
              <a:t>and </a:t>
            </a:r>
            <a:r>
              <a:rPr sz="3600" spc="-490" dirty="0"/>
              <a:t>You</a:t>
            </a:r>
            <a:r>
              <a:rPr sz="3600" spc="95" dirty="0"/>
              <a:t> </a:t>
            </a:r>
            <a:r>
              <a:rPr sz="3600" spc="-600" dirty="0"/>
              <a:t>Box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6795134" cy="430593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400" b="1" dirty="0">
                <a:latin typeface="Carlito"/>
                <a:cs typeface="Carlito"/>
              </a:rPr>
              <a:t>Smart</a:t>
            </a:r>
            <a:r>
              <a:rPr sz="2400" b="1" spc="-25" dirty="0">
                <a:latin typeface="Carlito"/>
                <a:cs typeface="Carlito"/>
              </a:rPr>
              <a:t> </a:t>
            </a:r>
            <a:r>
              <a:rPr sz="2400" b="1" spc="-10" dirty="0">
                <a:latin typeface="Carlito"/>
                <a:cs typeface="Carlito"/>
              </a:rPr>
              <a:t>Cars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 of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5" dirty="0">
                <a:latin typeface="Carlito"/>
                <a:cs typeface="Carlito"/>
              </a:rPr>
              <a:t>cars </a:t>
            </a:r>
            <a:r>
              <a:rPr sz="2400" spc="-5" dirty="0">
                <a:latin typeface="Carlito"/>
                <a:cs typeface="Carlito"/>
              </a:rPr>
              <a:t>has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skyrocketed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Self-driving </a:t>
            </a:r>
            <a:r>
              <a:rPr sz="2400" spc="-20" dirty="0">
                <a:latin typeface="Carlito"/>
                <a:cs typeface="Carlito"/>
              </a:rPr>
              <a:t>systems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self-parking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Lane </a:t>
            </a:r>
            <a:r>
              <a:rPr sz="2400" spc="-10" dirty="0">
                <a:latin typeface="Carlito"/>
                <a:cs typeface="Carlito"/>
              </a:rPr>
              <a:t>departure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blind spot detection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Windshield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displays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ts val="2735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Collision warnings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auto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ts val="2735"/>
              </a:lnSpc>
            </a:pPr>
            <a:r>
              <a:rPr sz="2400" spc="-25" dirty="0">
                <a:latin typeface="Carlito"/>
                <a:cs typeface="Carlito"/>
              </a:rPr>
              <a:t>brake </a:t>
            </a:r>
            <a:r>
              <a:rPr sz="2400" spc="-20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756285" marR="2860040" indent="-287020">
              <a:lnSpc>
                <a:spcPts val="2590"/>
              </a:lnSpc>
              <a:spcBef>
                <a:spcPts val="61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Keyless </a:t>
            </a:r>
            <a:r>
              <a:rPr sz="2400" spc="-5" dirty="0">
                <a:latin typeface="Carlito"/>
                <a:cs typeface="Carlito"/>
              </a:rPr>
              <a:t>entry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ignition  </a:t>
            </a:r>
            <a:r>
              <a:rPr sz="2400" spc="-20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254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Distraction-prevention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Safety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gadgets </a:t>
            </a:r>
            <a:r>
              <a:rPr sz="2400" dirty="0">
                <a:latin typeface="Carlito"/>
                <a:cs typeface="Carlito"/>
              </a:rPr>
              <a:t>is a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concern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92090" y="3573017"/>
            <a:ext cx="3676650" cy="2724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30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38219578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Operating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285" dirty="0"/>
              <a:t>Mobile  </a:t>
            </a:r>
            <a:r>
              <a:rPr spc="-455" dirty="0"/>
              <a:t>Devices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31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42909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Phone 8, </a:t>
            </a: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90" dirty="0">
                <a:latin typeface="Carlito"/>
                <a:cs typeface="Carlito"/>
              </a:rPr>
              <a:t>RT,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Windows</a:t>
            </a:r>
            <a:r>
              <a:rPr sz="2400" spc="8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Embedded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Windows Phone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Latest version </a:t>
            </a:r>
            <a:r>
              <a:rPr sz="2400" spc="-10" dirty="0">
                <a:latin typeface="Carlito"/>
                <a:cs typeface="Carlito"/>
              </a:rPr>
              <a:t>of Windows </a:t>
            </a: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for</a:t>
            </a:r>
            <a:r>
              <a:rPr sz="2400" spc="-5" dirty="0">
                <a:latin typeface="Carlito"/>
                <a:cs typeface="Carlito"/>
              </a:rPr>
              <a:t> smartphones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Phone </a:t>
            </a:r>
            <a:r>
              <a:rPr sz="2400" dirty="0">
                <a:latin typeface="Carlito"/>
                <a:cs typeface="Carlito"/>
              </a:rPr>
              <a:t>8 is </a:t>
            </a:r>
            <a:r>
              <a:rPr sz="2400" spc="-5" dirty="0">
                <a:latin typeface="Carlito"/>
                <a:cs typeface="Carlito"/>
              </a:rPr>
              <a:t>based </a:t>
            </a:r>
            <a:r>
              <a:rPr sz="2400" spc="-10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dirty="0">
                <a:latin typeface="Carlito"/>
                <a:cs typeface="Carlito"/>
              </a:rPr>
              <a:t>8 </a:t>
            </a:r>
            <a:r>
              <a:rPr sz="2400" spc="-10" dirty="0">
                <a:latin typeface="Carlito"/>
                <a:cs typeface="Carlito"/>
              </a:rPr>
              <a:t>operating 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15" dirty="0">
                <a:latin typeface="Carlito"/>
                <a:cs typeface="Carlito"/>
              </a:rPr>
              <a:t>RT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tablet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Embedded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Designed primarily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consumer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industrial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devices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not </a:t>
            </a:r>
            <a:r>
              <a:rPr sz="2400" spc="-10" dirty="0">
                <a:latin typeface="Carlito"/>
                <a:cs typeface="Carlito"/>
              </a:rPr>
              <a:t>personal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computers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6240687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Operating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285" dirty="0"/>
              <a:t>Mobile  </a:t>
            </a:r>
            <a:r>
              <a:rPr spc="-420" dirty="0"/>
              <a:t>Phones </a:t>
            </a:r>
            <a:r>
              <a:rPr spc="-360" dirty="0"/>
              <a:t>and </a:t>
            </a:r>
            <a:r>
              <a:rPr spc="-340" dirty="0"/>
              <a:t>Other</a:t>
            </a:r>
            <a:r>
              <a:rPr spc="165" dirty="0"/>
              <a:t> </a:t>
            </a:r>
            <a:r>
              <a:rPr spc="-450" dirty="0"/>
              <a:t>Devices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550784" cy="37572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65760" indent="-35369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365760" algn="l"/>
                <a:tab pos="366395" algn="l"/>
              </a:tabLst>
            </a:pPr>
            <a:r>
              <a:rPr sz="2400" spc="-10" dirty="0">
                <a:latin typeface="Carlito"/>
                <a:cs typeface="Carlito"/>
              </a:rPr>
              <a:t>Android</a:t>
            </a:r>
            <a:endParaRPr sz="2400">
              <a:latin typeface="Carlito"/>
              <a:cs typeface="Carlito"/>
            </a:endParaRPr>
          </a:p>
          <a:p>
            <a:pPr marL="697865" marR="5765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Linux-based </a:t>
            </a: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15" dirty="0">
                <a:latin typeface="Carlito"/>
                <a:cs typeface="Carlito"/>
              </a:rPr>
              <a:t>created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10" dirty="0">
                <a:latin typeface="Carlito"/>
                <a:cs typeface="Carlito"/>
              </a:rPr>
              <a:t>current  </a:t>
            </a:r>
            <a:r>
              <a:rPr sz="2400" spc="-5" dirty="0">
                <a:latin typeface="Carlito"/>
                <a:cs typeface="Carlito"/>
              </a:rPr>
              <a:t>mobile device capabilities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mind</a:t>
            </a:r>
            <a:endParaRPr sz="2400">
              <a:latin typeface="Carlito"/>
              <a:cs typeface="Carlito"/>
            </a:endParaRPr>
          </a:p>
          <a:p>
            <a:pPr marL="697865" marR="321945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Can </a:t>
            </a:r>
            <a:r>
              <a:rPr sz="2400" spc="-15" dirty="0">
                <a:latin typeface="Carlito"/>
                <a:cs typeface="Carlito"/>
              </a:rPr>
              <a:t>create </a:t>
            </a:r>
            <a:r>
              <a:rPr sz="2400" spc="-5" dirty="0">
                <a:latin typeface="Carlito"/>
                <a:cs typeface="Carlito"/>
              </a:rPr>
              <a:t>applications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25" dirty="0">
                <a:latin typeface="Carlito"/>
                <a:cs typeface="Carlito"/>
              </a:rPr>
              <a:t>take </a:t>
            </a:r>
            <a:r>
              <a:rPr sz="2400" spc="-5" dirty="0">
                <a:latin typeface="Carlito"/>
                <a:cs typeface="Carlito"/>
              </a:rPr>
              <a:t>full </a:t>
            </a:r>
            <a:r>
              <a:rPr sz="2400" spc="-15" dirty="0">
                <a:latin typeface="Carlito"/>
                <a:cs typeface="Carlito"/>
              </a:rPr>
              <a:t>advantage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all  the </a:t>
            </a:r>
            <a:r>
              <a:rPr sz="2400" spc="-15" dirty="0">
                <a:latin typeface="Carlito"/>
                <a:cs typeface="Carlito"/>
              </a:rPr>
              <a:t>features </a:t>
            </a:r>
            <a:r>
              <a:rPr sz="2400" dirty="0">
                <a:latin typeface="Carlito"/>
                <a:cs typeface="Carlito"/>
              </a:rPr>
              <a:t>a mobile </a:t>
            </a:r>
            <a:r>
              <a:rPr sz="2400" spc="-5" dirty="0">
                <a:latin typeface="Carlito"/>
                <a:cs typeface="Carlito"/>
              </a:rPr>
              <a:t>device has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offer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Open</a:t>
            </a:r>
            <a:r>
              <a:rPr sz="2400" spc="-15" dirty="0">
                <a:latin typeface="Carlito"/>
                <a:cs typeface="Carlito"/>
              </a:rPr>
              <a:t> platform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Current </a:t>
            </a:r>
            <a:r>
              <a:rPr sz="2400" spc="-15" dirty="0">
                <a:latin typeface="Carlito"/>
                <a:cs typeface="Carlito"/>
              </a:rPr>
              <a:t>version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Android 4.3, </a:t>
            </a: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5" dirty="0">
                <a:latin typeface="Carlito"/>
                <a:cs typeface="Carlito"/>
              </a:rPr>
              <a:t>known </a:t>
            </a:r>
            <a:r>
              <a:rPr sz="2400" dirty="0">
                <a:latin typeface="Carlito"/>
                <a:cs typeface="Carlito"/>
              </a:rPr>
              <a:t>as Jelly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Bean</a:t>
            </a:r>
            <a:endParaRPr sz="2400">
              <a:latin typeface="Carlito"/>
              <a:cs typeface="Carlito"/>
            </a:endParaRPr>
          </a:p>
          <a:p>
            <a:pPr marL="697865" marR="635635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Devices support multitasking, </a:t>
            </a:r>
            <a:r>
              <a:rPr sz="2400" dirty="0">
                <a:latin typeface="Carlito"/>
                <a:cs typeface="Carlito"/>
              </a:rPr>
              <a:t>multiple </a:t>
            </a:r>
            <a:r>
              <a:rPr sz="2400" spc="-15" dirty="0">
                <a:latin typeface="Carlito"/>
                <a:cs typeface="Carlito"/>
              </a:rPr>
              <a:t>cores, </a:t>
            </a:r>
            <a:r>
              <a:rPr sz="2400" spc="-10" dirty="0">
                <a:latin typeface="Carlito"/>
                <a:cs typeface="Carlito"/>
              </a:rPr>
              <a:t>NFC  </a:t>
            </a:r>
            <a:r>
              <a:rPr sz="2400" spc="-5" dirty="0">
                <a:latin typeface="Carlito"/>
                <a:cs typeface="Carlito"/>
              </a:rPr>
              <a:t>mobile </a:t>
            </a:r>
            <a:r>
              <a:rPr sz="2400" spc="-15" dirty="0">
                <a:latin typeface="Carlito"/>
                <a:cs typeface="Carlito"/>
              </a:rPr>
              <a:t>payment </a:t>
            </a:r>
            <a:r>
              <a:rPr sz="2400" spc="-5" dirty="0">
                <a:latin typeface="Carlito"/>
                <a:cs typeface="Carlito"/>
              </a:rPr>
              <a:t>transactions, </a:t>
            </a:r>
            <a:r>
              <a:rPr sz="2400" spc="-10" dirty="0">
                <a:latin typeface="Carlito"/>
                <a:cs typeface="Carlito"/>
              </a:rPr>
              <a:t>Internet </a:t>
            </a:r>
            <a:r>
              <a:rPr sz="2400" spc="-5" dirty="0">
                <a:latin typeface="Carlito"/>
                <a:cs typeface="Carlito"/>
              </a:rPr>
              <a:t>phone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calls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3751700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Operating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285" dirty="0"/>
              <a:t>Mobile  </a:t>
            </a:r>
            <a:r>
              <a:rPr spc="-420" dirty="0"/>
              <a:t>Phones </a:t>
            </a:r>
            <a:r>
              <a:rPr spc="-360" dirty="0"/>
              <a:t>and </a:t>
            </a:r>
            <a:r>
              <a:rPr spc="-340" dirty="0"/>
              <a:t>Other</a:t>
            </a:r>
            <a:r>
              <a:rPr spc="165" dirty="0"/>
              <a:t> </a:t>
            </a:r>
            <a:r>
              <a:rPr spc="-450" dirty="0"/>
              <a:t>Devices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497445" cy="33178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dirty="0">
                <a:latin typeface="Carlito"/>
                <a:cs typeface="Carlito"/>
              </a:rPr>
              <a:t>iOS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Apple Mobile </a:t>
            </a:r>
            <a:r>
              <a:rPr sz="2400" spc="-5" dirty="0">
                <a:latin typeface="Carlito"/>
                <a:cs typeface="Carlito"/>
              </a:rPr>
              <a:t>phones </a:t>
            </a:r>
            <a:r>
              <a:rPr sz="2400" dirty="0">
                <a:latin typeface="Carlito"/>
                <a:cs typeface="Carlito"/>
              </a:rPr>
              <a:t>and mobile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devices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Current </a:t>
            </a:r>
            <a:r>
              <a:rPr sz="2400" spc="-15" dirty="0">
                <a:latin typeface="Carlito"/>
                <a:cs typeface="Carlito"/>
              </a:rPr>
              <a:t>version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iOS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7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Supports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multitasking</a:t>
            </a:r>
            <a:endParaRPr sz="2400">
              <a:latin typeface="Carlito"/>
              <a:cs typeface="Carlito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rlito"/>
                <a:cs typeface="Carlito"/>
              </a:rPr>
              <a:t>Includes </a:t>
            </a:r>
            <a:r>
              <a:rPr sz="2400" spc="-15" dirty="0">
                <a:latin typeface="Carlito"/>
                <a:cs typeface="Carlito"/>
              </a:rPr>
              <a:t>Safari </a:t>
            </a:r>
            <a:r>
              <a:rPr sz="2400" spc="-30" dirty="0">
                <a:latin typeface="Carlito"/>
                <a:cs typeface="Carlito"/>
              </a:rPr>
              <a:t>Web </a:t>
            </a:r>
            <a:r>
              <a:rPr sz="2400" spc="-40" dirty="0">
                <a:latin typeface="Carlito"/>
                <a:cs typeface="Carlito"/>
              </a:rPr>
              <a:t>browser,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Siri </a:t>
            </a:r>
            <a:r>
              <a:rPr sz="2400" spc="-10" dirty="0">
                <a:latin typeface="Carlito"/>
                <a:cs typeface="Carlito"/>
              </a:rPr>
              <a:t>intelligent  assistant, </a:t>
            </a:r>
            <a:r>
              <a:rPr sz="2400" i="1" spc="-10" dirty="0">
                <a:latin typeface="Carlito"/>
                <a:cs typeface="Carlito"/>
              </a:rPr>
              <a:t>Facetime </a:t>
            </a:r>
            <a:r>
              <a:rPr sz="2400" spc="-5" dirty="0">
                <a:latin typeface="Carlito"/>
                <a:cs typeface="Carlito"/>
              </a:rPr>
              <a:t>video </a:t>
            </a:r>
            <a:r>
              <a:rPr sz="2400" dirty="0">
                <a:latin typeface="Carlito"/>
                <a:cs typeface="Carlito"/>
              </a:rPr>
              <a:t>calling, </a:t>
            </a:r>
            <a:r>
              <a:rPr sz="2400" i="1" dirty="0">
                <a:latin typeface="Carlito"/>
                <a:cs typeface="Carlito"/>
              </a:rPr>
              <a:t>AirDrop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send items 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others,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apps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email, messaging, music, and  </a:t>
            </a:r>
            <a:r>
              <a:rPr sz="2400" spc="-10" dirty="0">
                <a:latin typeface="Carlito"/>
                <a:cs typeface="Carlito"/>
              </a:rPr>
              <a:t>search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8621507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Operating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409" dirty="0"/>
              <a:t>Larger  </a:t>
            </a:r>
            <a:r>
              <a:rPr spc="-395" dirty="0"/>
              <a:t>Computers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34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34414"/>
            <a:ext cx="8058150" cy="2806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18745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Larger computers </a:t>
            </a:r>
            <a:r>
              <a:rPr sz="2400" spc="-5" dirty="0">
                <a:latin typeface="Carlito"/>
                <a:cs typeface="Carlito"/>
              </a:rPr>
              <a:t>sometimes use </a:t>
            </a: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0" dirty="0">
                <a:latin typeface="Carlito"/>
                <a:cs typeface="Carlito"/>
              </a:rPr>
              <a:t>systems </a:t>
            </a:r>
            <a:r>
              <a:rPr sz="2400" spc="-5" dirty="0">
                <a:latin typeface="Carlito"/>
                <a:cs typeface="Carlito"/>
              </a:rPr>
              <a:t>designed  solely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dirty="0">
                <a:latin typeface="Carlito"/>
                <a:cs typeface="Carlito"/>
              </a:rPr>
              <a:t>type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130" dirty="0">
                <a:latin typeface="Arial"/>
                <a:cs typeface="Arial"/>
              </a:rPr>
              <a:t>IBM’s </a:t>
            </a:r>
            <a:r>
              <a:rPr sz="2400" spc="-195" dirty="0">
                <a:latin typeface="Arial"/>
                <a:cs typeface="Arial"/>
              </a:rPr>
              <a:t>z/OS </a:t>
            </a:r>
            <a:r>
              <a:rPr sz="2400" spc="-125" dirty="0">
                <a:latin typeface="Arial"/>
                <a:cs typeface="Arial"/>
              </a:rPr>
              <a:t>is designed </a:t>
            </a:r>
            <a:r>
              <a:rPr sz="2400" spc="-10" dirty="0">
                <a:latin typeface="Arial"/>
                <a:cs typeface="Arial"/>
              </a:rPr>
              <a:t>for </a:t>
            </a:r>
            <a:r>
              <a:rPr sz="2400" spc="-105" dirty="0">
                <a:latin typeface="Arial"/>
                <a:cs typeface="Arial"/>
              </a:rPr>
              <a:t>IBM</a:t>
            </a:r>
            <a:r>
              <a:rPr sz="2400" spc="-265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mainframes</a:t>
            </a:r>
            <a:endParaRPr sz="2400">
              <a:latin typeface="Arial"/>
              <a:cs typeface="Arial"/>
            </a:endParaRPr>
          </a:p>
          <a:p>
            <a:pPr marL="355600" marR="109728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Windows, </a:t>
            </a:r>
            <a:r>
              <a:rPr sz="2400" spc="-5" dirty="0">
                <a:latin typeface="Carlito"/>
                <a:cs typeface="Carlito"/>
              </a:rPr>
              <a:t>UNIX,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Linux </a:t>
            </a:r>
            <a:r>
              <a:rPr sz="2400" spc="-10" dirty="0">
                <a:latin typeface="Carlito"/>
                <a:cs typeface="Carlito"/>
              </a:rPr>
              <a:t>are </a:t>
            </a: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10" dirty="0">
                <a:latin typeface="Carlito"/>
                <a:cs typeface="Carlito"/>
              </a:rPr>
              <a:t>servers,  mainframes,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supercomputers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Larger computers </a:t>
            </a:r>
            <a:r>
              <a:rPr sz="2400" spc="-20" dirty="0">
                <a:latin typeface="Carlito"/>
                <a:cs typeface="Carlito"/>
              </a:rPr>
              <a:t>may </a:t>
            </a: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5" dirty="0">
                <a:latin typeface="Carlito"/>
                <a:cs typeface="Carlito"/>
              </a:rPr>
              <a:t>customized </a:t>
            </a:r>
            <a:r>
              <a:rPr sz="2400" spc="-10" dirty="0">
                <a:latin typeface="Carlito"/>
                <a:cs typeface="Carlito"/>
              </a:rPr>
              <a:t>operating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based 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5" dirty="0">
                <a:latin typeface="Carlito"/>
                <a:cs typeface="Carlito"/>
              </a:rPr>
              <a:t>conventional operating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3000963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6266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Inside </a:t>
            </a:r>
            <a:r>
              <a:rPr sz="3600" spc="-425" dirty="0"/>
              <a:t>the </a:t>
            </a:r>
            <a:r>
              <a:rPr sz="3600" spc="-415" dirty="0"/>
              <a:t>Industry</a:t>
            </a:r>
            <a:r>
              <a:rPr sz="3600" spc="175" dirty="0"/>
              <a:t> </a:t>
            </a:r>
            <a:r>
              <a:rPr sz="3600" spc="-600" dirty="0"/>
              <a:t>Box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96859" cy="33178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20" dirty="0">
                <a:latin typeface="Carlito"/>
                <a:cs typeface="Carlito"/>
              </a:rPr>
              <a:t>Weather </a:t>
            </a:r>
            <a:r>
              <a:rPr sz="2400" b="1" spc="-10" dirty="0">
                <a:latin typeface="Carlito"/>
                <a:cs typeface="Carlito"/>
              </a:rPr>
              <a:t>Forecasting </a:t>
            </a:r>
            <a:r>
              <a:rPr sz="2400" b="1" dirty="0">
                <a:latin typeface="Carlito"/>
                <a:cs typeface="Carlito"/>
              </a:rPr>
              <a:t>in </a:t>
            </a:r>
            <a:r>
              <a:rPr sz="2400" b="1" spc="-5" dirty="0">
                <a:latin typeface="Carlito"/>
                <a:cs typeface="Carlito"/>
              </a:rPr>
              <a:t>the</a:t>
            </a:r>
            <a:r>
              <a:rPr sz="2400" b="1" spc="-10" dirty="0">
                <a:latin typeface="Carlito"/>
                <a:cs typeface="Carlito"/>
              </a:rPr>
              <a:t> Alps</a:t>
            </a:r>
            <a:endParaRPr sz="2400">
              <a:latin typeface="Carlito"/>
              <a:cs typeface="Carlito"/>
            </a:endParaRPr>
          </a:p>
          <a:p>
            <a:pPr marL="756285" marR="5080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Weather forecasting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difficult </a:t>
            </a:r>
            <a:r>
              <a:rPr sz="2400" dirty="0">
                <a:latin typeface="Carlito"/>
                <a:cs typeface="Carlito"/>
              </a:rPr>
              <a:t>in the </a:t>
            </a:r>
            <a:r>
              <a:rPr sz="2400" spc="-5" dirty="0">
                <a:latin typeface="Carlito"/>
                <a:cs typeface="Carlito"/>
              </a:rPr>
              <a:t>Alps due </a:t>
            </a:r>
            <a:r>
              <a:rPr sz="2400" spc="-15" dirty="0">
                <a:latin typeface="Carlito"/>
                <a:cs typeface="Carlito"/>
              </a:rPr>
              <a:t>to complex  topography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intense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precipitation</a:t>
            </a:r>
            <a:endParaRPr sz="2400">
              <a:latin typeface="Carlito"/>
              <a:cs typeface="Carlito"/>
            </a:endParaRPr>
          </a:p>
          <a:p>
            <a:pPr marL="756285" marR="35242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Supercomputer </a:t>
            </a:r>
            <a:r>
              <a:rPr sz="2400" dirty="0">
                <a:latin typeface="Carlito"/>
                <a:cs typeface="Carlito"/>
              </a:rPr>
              <a:t>Piz </a:t>
            </a:r>
            <a:r>
              <a:rPr sz="2400" spc="-10" dirty="0">
                <a:latin typeface="Carlito"/>
                <a:cs typeface="Carlito"/>
              </a:rPr>
              <a:t>Daint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Linux based, uses CPUs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5" dirty="0">
                <a:latin typeface="Carlito"/>
                <a:cs typeface="Carlito"/>
              </a:rPr>
              <a:t>GPUS, </a:t>
            </a:r>
            <a:r>
              <a:rPr sz="2400" dirty="0">
                <a:latin typeface="Carlito"/>
                <a:cs typeface="Carlito"/>
              </a:rPr>
              <a:t>and runs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spc="-5" dirty="0">
                <a:latin typeface="Carlito"/>
                <a:cs typeface="Carlito"/>
              </a:rPr>
              <a:t>750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teraflops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</a:t>
            </a:r>
            <a:r>
              <a:rPr sz="2400" dirty="0">
                <a:latin typeface="Carlito"/>
                <a:cs typeface="Carlito"/>
              </a:rPr>
              <a:t>run </a:t>
            </a:r>
            <a:r>
              <a:rPr sz="2400" spc="-5" dirty="0">
                <a:latin typeface="Carlito"/>
                <a:cs typeface="Carlito"/>
              </a:rPr>
              <a:t>30 </a:t>
            </a:r>
            <a:r>
              <a:rPr sz="2400" spc="-10" dirty="0">
                <a:latin typeface="Carlito"/>
                <a:cs typeface="Carlito"/>
              </a:rPr>
              <a:t>weather </a:t>
            </a:r>
            <a:r>
              <a:rPr sz="2400" spc="-15" dirty="0">
                <a:latin typeface="Carlito"/>
                <a:cs typeface="Carlito"/>
              </a:rPr>
              <a:t>forecasting </a:t>
            </a:r>
            <a:r>
              <a:rPr sz="2400" dirty="0">
                <a:latin typeface="Carlito"/>
                <a:cs typeface="Carlito"/>
              </a:rPr>
              <a:t>models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simultaneously</a:t>
            </a:r>
            <a:endParaRPr sz="2400">
              <a:latin typeface="Carlito"/>
              <a:cs typeface="Carlito"/>
            </a:endParaRPr>
          </a:p>
          <a:p>
            <a:pPr marL="756285" marR="3986529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Cooled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20" dirty="0">
                <a:latin typeface="Carlito"/>
                <a:cs typeface="Carlito"/>
              </a:rPr>
              <a:t>water </a:t>
            </a:r>
            <a:r>
              <a:rPr sz="2400" spc="-15" dirty="0">
                <a:latin typeface="Carlito"/>
                <a:cs typeface="Carlito"/>
              </a:rPr>
              <a:t>from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5" dirty="0">
                <a:latin typeface="Carlito"/>
                <a:cs typeface="Carlito"/>
              </a:rPr>
              <a:t>nearby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lake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73573" y="4005110"/>
            <a:ext cx="3781805" cy="23597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35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9830525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258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0" dirty="0"/>
              <a:t>Utility</a:t>
            </a:r>
            <a:r>
              <a:rPr sz="3600" spc="-280" dirty="0"/>
              <a:t> </a:t>
            </a:r>
            <a:r>
              <a:rPr sz="3600" spc="-455" dirty="0"/>
              <a:t>Programs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09534" cy="36106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Utility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Program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Software </a:t>
            </a:r>
            <a:r>
              <a:rPr sz="2400" spc="-10" dirty="0">
                <a:latin typeface="Carlito"/>
                <a:cs typeface="Carlito"/>
              </a:rPr>
              <a:t>that performs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specific task, usually </a:t>
            </a:r>
            <a:r>
              <a:rPr sz="2400" spc="-15" dirty="0">
                <a:latin typeface="Carlito"/>
                <a:cs typeface="Carlito"/>
              </a:rPr>
              <a:t>related to  </a:t>
            </a:r>
            <a:r>
              <a:rPr sz="2400" dirty="0">
                <a:latin typeface="Carlito"/>
                <a:cs typeface="Carlito"/>
              </a:rPr>
              <a:t>managing </a:t>
            </a:r>
            <a:r>
              <a:rPr sz="2400" spc="-5" dirty="0">
                <a:latin typeface="Carlito"/>
                <a:cs typeface="Carlito"/>
              </a:rPr>
              <a:t>or maintaining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computer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756285" marR="235394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Many </a:t>
            </a:r>
            <a:r>
              <a:rPr sz="2400" spc="-5" dirty="0">
                <a:latin typeface="Carlito"/>
                <a:cs typeface="Carlito"/>
              </a:rPr>
              <a:t>utilities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built </a:t>
            </a:r>
            <a:r>
              <a:rPr sz="2400" spc="-15" dirty="0">
                <a:latin typeface="Carlito"/>
                <a:cs typeface="Carlito"/>
              </a:rPr>
              <a:t>into operating  </a:t>
            </a:r>
            <a:r>
              <a:rPr sz="2400" spc="-20" dirty="0">
                <a:latin typeface="Carlito"/>
                <a:cs typeface="Carlito"/>
              </a:rPr>
              <a:t>systems </a:t>
            </a:r>
            <a:r>
              <a:rPr sz="2400" spc="-15" dirty="0">
                <a:latin typeface="Carlito"/>
                <a:cs typeface="Carlito"/>
              </a:rPr>
              <a:t>(for </a:t>
            </a:r>
            <a:r>
              <a:rPr sz="2400" spc="-5" dirty="0">
                <a:latin typeface="Carlito"/>
                <a:cs typeface="Carlito"/>
              </a:rPr>
              <a:t>finding files, viewing  images, backing up files,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etc.)</a:t>
            </a:r>
            <a:endParaRPr sz="2400">
              <a:latin typeface="Carlito"/>
              <a:cs typeface="Carlito"/>
            </a:endParaRPr>
          </a:p>
          <a:p>
            <a:pPr marL="756285" marR="3472179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Utilities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10" dirty="0">
                <a:latin typeface="Carlito"/>
                <a:cs typeface="Carlito"/>
              </a:rPr>
              <a:t>available</a:t>
            </a:r>
            <a:r>
              <a:rPr sz="2400" spc="-10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as  </a:t>
            </a:r>
            <a:r>
              <a:rPr sz="2400" spc="-10" dirty="0">
                <a:latin typeface="Carlito"/>
                <a:cs typeface="Carlito"/>
              </a:rPr>
              <a:t>stand-alone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products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dirty="0">
                <a:latin typeface="Carlito"/>
                <a:cs typeface="Carlito"/>
              </a:rPr>
              <a:t>and as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suites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52590" y="3144514"/>
            <a:ext cx="2109980" cy="29495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00600" y="4979292"/>
            <a:ext cx="1579736" cy="7494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36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34760254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583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59" dirty="0"/>
              <a:t>File </a:t>
            </a:r>
            <a:r>
              <a:rPr sz="3600" spc="-425" dirty="0"/>
              <a:t>Management</a:t>
            </a:r>
            <a:r>
              <a:rPr sz="3600" spc="-5" dirty="0"/>
              <a:t> </a:t>
            </a:r>
            <a:r>
              <a:rPr sz="3600" spc="-455" dirty="0"/>
              <a:t>Programs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827582" y="1535583"/>
            <a:ext cx="7468796" cy="47924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37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36675722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613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15" dirty="0"/>
              <a:t>How </a:t>
            </a:r>
            <a:r>
              <a:rPr sz="3600" spc="-415" dirty="0"/>
              <a:t>It </a:t>
            </a:r>
            <a:r>
              <a:rPr sz="3600" spc="-440" dirty="0"/>
              <a:t>Works</a:t>
            </a:r>
            <a:r>
              <a:rPr sz="3600" spc="-470" dirty="0"/>
              <a:t> </a:t>
            </a:r>
            <a:r>
              <a:rPr sz="3600" spc="-600" dirty="0"/>
              <a:t>Box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2654300" cy="390397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5" dirty="0">
                <a:latin typeface="Carlito"/>
                <a:cs typeface="Carlito"/>
              </a:rPr>
              <a:t>Sending </a:t>
            </a:r>
            <a:r>
              <a:rPr sz="2400" b="1" spc="-15" dirty="0">
                <a:latin typeface="Carlito"/>
                <a:cs typeface="Carlito"/>
              </a:rPr>
              <a:t>to </a:t>
            </a:r>
            <a:r>
              <a:rPr sz="2400" b="1" spc="-5" dirty="0">
                <a:latin typeface="Carlito"/>
                <a:cs typeface="Carlito"/>
              </a:rPr>
              <a:t>the</a:t>
            </a:r>
            <a:r>
              <a:rPr sz="2400" b="1" spc="-55" dirty="0">
                <a:latin typeface="Carlito"/>
                <a:cs typeface="Carlito"/>
              </a:rPr>
              <a:t> </a:t>
            </a:r>
            <a:r>
              <a:rPr sz="2400" b="1" spc="-5" dirty="0">
                <a:latin typeface="Carlito"/>
                <a:cs typeface="Carlito"/>
              </a:rPr>
              <a:t>Cloud</a:t>
            </a:r>
            <a:endParaRPr sz="2400">
              <a:latin typeface="Carlito"/>
              <a:cs typeface="Carlito"/>
            </a:endParaRPr>
          </a:p>
          <a:p>
            <a:pPr marL="756285" marR="64452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Add</a:t>
            </a:r>
            <a:r>
              <a:rPr sz="2400" spc="-11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cloud  </a:t>
            </a:r>
            <a:r>
              <a:rPr sz="2400" spc="-10" dirty="0">
                <a:latin typeface="Carlito"/>
                <a:cs typeface="Carlito"/>
              </a:rPr>
              <a:t>locations 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5" dirty="0">
                <a:latin typeface="Carlito"/>
                <a:cs typeface="Carlito"/>
              </a:rPr>
              <a:t>Send </a:t>
            </a:r>
            <a:r>
              <a:rPr sz="2400" spc="-114" dirty="0">
                <a:latin typeface="Carlito"/>
                <a:cs typeface="Carlito"/>
              </a:rPr>
              <a:t>To  </a:t>
            </a:r>
            <a:r>
              <a:rPr sz="2400" dirty="0">
                <a:latin typeface="Carlito"/>
                <a:cs typeface="Carlito"/>
              </a:rPr>
              <a:t>menu</a:t>
            </a:r>
            <a:endParaRPr sz="2400">
              <a:latin typeface="Carlito"/>
              <a:cs typeface="Carlito"/>
            </a:endParaRPr>
          </a:p>
          <a:p>
            <a:pPr marL="756285" marR="746760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Google  </a:t>
            </a:r>
            <a:r>
              <a:rPr sz="2400" spc="-10" dirty="0">
                <a:latin typeface="Carlito"/>
                <a:cs typeface="Carlito"/>
              </a:rPr>
              <a:t>Drive,  </a:t>
            </a:r>
            <a:r>
              <a:rPr sz="2400" spc="-5" dirty="0">
                <a:latin typeface="Carlito"/>
                <a:cs typeface="Carlito"/>
              </a:rPr>
              <a:t>SkyD</a:t>
            </a:r>
            <a:r>
              <a:rPr sz="2400" spc="5" dirty="0">
                <a:latin typeface="Carlito"/>
                <a:cs typeface="Carlito"/>
              </a:rPr>
              <a:t>r</a:t>
            </a:r>
            <a:r>
              <a:rPr sz="2400" dirty="0">
                <a:latin typeface="Carlito"/>
                <a:cs typeface="Carlito"/>
              </a:rPr>
              <a:t>i</a:t>
            </a:r>
            <a:r>
              <a:rPr sz="2400" spc="-30" dirty="0">
                <a:latin typeface="Carlito"/>
                <a:cs typeface="Carlito"/>
              </a:rPr>
              <a:t>v</a:t>
            </a:r>
            <a:r>
              <a:rPr sz="2400" dirty="0">
                <a:latin typeface="Carlito"/>
                <a:cs typeface="Carlito"/>
              </a:rPr>
              <a:t>e,  </a:t>
            </a:r>
            <a:r>
              <a:rPr sz="2400" spc="-10" dirty="0">
                <a:latin typeface="Carlito"/>
                <a:cs typeface="Carlito"/>
              </a:rPr>
              <a:t>etc.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96972" y="2281212"/>
            <a:ext cx="6195568" cy="4032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38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39701341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258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0" dirty="0"/>
              <a:t>Utility</a:t>
            </a:r>
            <a:r>
              <a:rPr sz="3600" spc="-280" dirty="0"/>
              <a:t> </a:t>
            </a:r>
            <a:r>
              <a:rPr sz="3600" spc="-455" dirty="0"/>
              <a:t>Programs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39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86395" cy="4340291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Search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0" dirty="0">
                <a:latin typeface="Carlito"/>
                <a:cs typeface="Carlito"/>
              </a:rPr>
              <a:t>Tools</a:t>
            </a:r>
            <a:endParaRPr sz="24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Diagnostic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Disk Management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Programs</a:t>
            </a:r>
            <a:endParaRPr sz="2400" dirty="0">
              <a:latin typeface="Carlito"/>
              <a:cs typeface="Carlito"/>
            </a:endParaRPr>
          </a:p>
          <a:p>
            <a:pPr marL="756285" marR="746760" lvl="1" indent="-287020">
              <a:lnSpc>
                <a:spcPts val="2590"/>
              </a:lnSpc>
              <a:spcBef>
                <a:spcPts val="615"/>
              </a:spcBef>
              <a:buFont typeface="Arial"/>
              <a:buChar char="–"/>
              <a:tabLst>
                <a:tab pos="756920" algn="l"/>
              </a:tabLst>
            </a:pPr>
            <a:r>
              <a:rPr spc="-15" dirty="0">
                <a:latin typeface="Carlito"/>
                <a:cs typeface="Carlito"/>
              </a:rPr>
              <a:t>evaluate </a:t>
            </a:r>
            <a:r>
              <a:rPr spc="-10" dirty="0">
                <a:latin typeface="Carlito"/>
                <a:cs typeface="Carlito"/>
              </a:rPr>
              <a:t>your </a:t>
            </a:r>
            <a:r>
              <a:rPr spc="-25" dirty="0">
                <a:latin typeface="Carlito"/>
                <a:cs typeface="Carlito"/>
              </a:rPr>
              <a:t>system </a:t>
            </a:r>
            <a:r>
              <a:rPr dirty="0">
                <a:latin typeface="Carlito"/>
                <a:cs typeface="Carlito"/>
              </a:rPr>
              <a:t>and </a:t>
            </a:r>
            <a:r>
              <a:rPr spc="-20" dirty="0">
                <a:latin typeface="Carlito"/>
                <a:cs typeface="Carlito"/>
              </a:rPr>
              <a:t>make </a:t>
            </a:r>
            <a:r>
              <a:rPr spc="-10" dirty="0">
                <a:latin typeface="Carlito"/>
                <a:cs typeface="Carlito"/>
              </a:rPr>
              <a:t>recommendations </a:t>
            </a:r>
            <a:r>
              <a:rPr spc="-20" dirty="0">
                <a:latin typeface="Carlito"/>
                <a:cs typeface="Carlito"/>
              </a:rPr>
              <a:t>for </a:t>
            </a:r>
            <a:r>
              <a:rPr spc="-5" dirty="0">
                <a:latin typeface="Carlito"/>
                <a:cs typeface="Carlito"/>
              </a:rPr>
              <a:t>fixing </a:t>
            </a:r>
            <a:r>
              <a:rPr spc="-20" dirty="0">
                <a:latin typeface="Carlito"/>
                <a:cs typeface="Carlito"/>
              </a:rPr>
              <a:t>any </a:t>
            </a:r>
            <a:r>
              <a:rPr spc="-15" dirty="0">
                <a:latin typeface="Carlito"/>
                <a:cs typeface="Carlito"/>
              </a:rPr>
              <a:t>errors</a:t>
            </a:r>
            <a:r>
              <a:rPr spc="-30" dirty="0">
                <a:latin typeface="Carlito"/>
                <a:cs typeface="Carlito"/>
              </a:rPr>
              <a:t> </a:t>
            </a:r>
            <a:r>
              <a:rPr spc="-15" dirty="0">
                <a:latin typeface="Carlito"/>
                <a:cs typeface="Carlito"/>
              </a:rPr>
              <a:t>found</a:t>
            </a:r>
            <a:endParaRPr lang="en-US" spc="-15" dirty="0">
              <a:latin typeface="Carlito"/>
              <a:cs typeface="Carlito"/>
            </a:endParaRPr>
          </a:p>
          <a:p>
            <a:pPr marL="354965" marR="746760" indent="-342900">
              <a:lnSpc>
                <a:spcPts val="2590"/>
              </a:lnSpc>
              <a:spcBef>
                <a:spcPts val="615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spc="-10" dirty="0">
                <a:latin typeface="Carlito"/>
                <a:cs typeface="Carlito"/>
              </a:rPr>
              <a:t>Uninstall </a:t>
            </a:r>
            <a:r>
              <a:rPr lang="en-US" sz="2400" dirty="0">
                <a:latin typeface="Carlito"/>
                <a:cs typeface="Carlito"/>
              </a:rPr>
              <a:t>and </a:t>
            </a:r>
            <a:r>
              <a:rPr lang="en-US" sz="2400" spc="-5" dirty="0">
                <a:latin typeface="Carlito"/>
                <a:cs typeface="Carlito"/>
              </a:rPr>
              <a:t>Cleanup</a:t>
            </a:r>
            <a:r>
              <a:rPr lang="en-US" sz="2400" spc="-40" dirty="0">
                <a:latin typeface="Carlito"/>
                <a:cs typeface="Carlito"/>
              </a:rPr>
              <a:t> </a:t>
            </a:r>
            <a:r>
              <a:rPr lang="en-US" sz="2400" dirty="0">
                <a:latin typeface="Carlito"/>
                <a:cs typeface="Carlito"/>
              </a:rPr>
              <a:t>Utilities</a:t>
            </a:r>
          </a:p>
          <a:p>
            <a:pPr marL="354965" marR="746760" indent="-342900">
              <a:lnSpc>
                <a:spcPts val="2590"/>
              </a:lnSpc>
              <a:spcBef>
                <a:spcPts val="615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spc="-5" dirty="0">
                <a:latin typeface="Carlito"/>
                <a:cs typeface="Carlito"/>
              </a:rPr>
              <a:t>File Compression</a:t>
            </a:r>
            <a:r>
              <a:rPr lang="en-US" sz="2400" spc="-25" dirty="0">
                <a:latin typeface="Carlito"/>
                <a:cs typeface="Carlito"/>
              </a:rPr>
              <a:t> </a:t>
            </a:r>
            <a:r>
              <a:rPr lang="en-US" sz="2400" spc="-15" dirty="0">
                <a:latin typeface="Carlito"/>
                <a:cs typeface="Carlito"/>
              </a:rPr>
              <a:t>Programs</a:t>
            </a:r>
            <a:endParaRPr lang="en-US" sz="2400" dirty="0">
              <a:latin typeface="Carlito"/>
              <a:cs typeface="Carlito"/>
            </a:endParaRPr>
          </a:p>
          <a:p>
            <a:pPr marL="354965" marR="746760" indent="-342900">
              <a:lnSpc>
                <a:spcPts val="2590"/>
              </a:lnSpc>
              <a:spcBef>
                <a:spcPts val="615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spc="-10" dirty="0">
                <a:latin typeface="Carlito"/>
                <a:cs typeface="Carlito"/>
              </a:rPr>
              <a:t>Backup </a:t>
            </a:r>
            <a:r>
              <a:rPr lang="en-US" sz="2400" dirty="0">
                <a:latin typeface="Carlito"/>
                <a:cs typeface="Carlito"/>
              </a:rPr>
              <a:t>and </a:t>
            </a:r>
            <a:r>
              <a:rPr lang="en-US" sz="2400" spc="-15" dirty="0">
                <a:latin typeface="Carlito"/>
                <a:cs typeface="Carlito"/>
              </a:rPr>
              <a:t>Recovery</a:t>
            </a:r>
            <a:r>
              <a:rPr lang="en-US" sz="2400" spc="-35" dirty="0">
                <a:latin typeface="Carlito"/>
                <a:cs typeface="Carlito"/>
              </a:rPr>
              <a:t> </a:t>
            </a:r>
            <a:r>
              <a:rPr lang="en-US" sz="2400" spc="-5" dirty="0">
                <a:latin typeface="Carlito"/>
                <a:cs typeface="Carlito"/>
              </a:rPr>
              <a:t>Utilities</a:t>
            </a:r>
          </a:p>
          <a:p>
            <a:pPr marL="354965" marR="746760" indent="-342900">
              <a:lnSpc>
                <a:spcPts val="2590"/>
              </a:lnSpc>
              <a:spcBef>
                <a:spcPts val="615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spc="-5" dirty="0">
                <a:latin typeface="Carlito"/>
                <a:cs typeface="Carlito"/>
              </a:rPr>
              <a:t>Antivirus, </a:t>
            </a:r>
            <a:r>
              <a:rPr lang="en-US" sz="2400" spc="-10" dirty="0">
                <a:latin typeface="Carlito"/>
                <a:cs typeface="Carlito"/>
              </a:rPr>
              <a:t>Antispyware, Firewalls, </a:t>
            </a:r>
            <a:r>
              <a:rPr lang="en-US" sz="2400" dirty="0">
                <a:latin typeface="Carlito"/>
                <a:cs typeface="Carlito"/>
              </a:rPr>
              <a:t>and </a:t>
            </a:r>
            <a:r>
              <a:rPr lang="en-US" sz="2400" spc="-5" dirty="0">
                <a:latin typeface="Carlito"/>
                <a:cs typeface="Carlito"/>
              </a:rPr>
              <a:t>Other Security  </a:t>
            </a:r>
            <a:r>
              <a:rPr lang="en-US" sz="2400" spc="-15" dirty="0">
                <a:latin typeface="Carlito"/>
                <a:cs typeface="Carlito"/>
              </a:rPr>
              <a:t>Programs</a:t>
            </a:r>
            <a:endParaRPr lang="en-US" sz="2400" dirty="0">
              <a:latin typeface="Carlito"/>
              <a:cs typeface="Carlito"/>
            </a:endParaRPr>
          </a:p>
          <a:p>
            <a:pPr marL="354965" marR="746760" indent="-342900">
              <a:lnSpc>
                <a:spcPts val="2590"/>
              </a:lnSpc>
              <a:spcBef>
                <a:spcPts val="615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endParaRPr lang="en-US" sz="2400" dirty="0">
              <a:latin typeface="Carlito"/>
              <a:cs typeface="Carlito"/>
            </a:endParaRPr>
          </a:p>
          <a:p>
            <a:pPr marL="354965" marR="746760" indent="-342900">
              <a:lnSpc>
                <a:spcPts val="2590"/>
              </a:lnSpc>
              <a:spcBef>
                <a:spcPts val="615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32809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1709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475" dirty="0"/>
              <a:t>The </a:t>
            </a:r>
            <a:r>
              <a:rPr sz="3200" spc="-555" dirty="0"/>
              <a:t>Basics </a:t>
            </a:r>
            <a:r>
              <a:rPr sz="3200" spc="-254" dirty="0"/>
              <a:t>of </a:t>
            </a:r>
            <a:r>
              <a:rPr sz="3200" spc="-355" dirty="0"/>
              <a:t>Application</a:t>
            </a:r>
            <a:r>
              <a:rPr sz="3200" spc="-660" dirty="0"/>
              <a:t> </a:t>
            </a:r>
            <a:r>
              <a:rPr sz="3200" spc="-434" dirty="0"/>
              <a:t>Software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40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9796"/>
            <a:ext cx="8684260" cy="4699363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10" dirty="0">
                <a:latin typeface="Carlito"/>
                <a:cs typeface="Carlito"/>
              </a:rPr>
              <a:t>Commercial</a:t>
            </a:r>
            <a:r>
              <a:rPr sz="220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Software</a:t>
            </a:r>
            <a:endParaRPr sz="2200" dirty="0">
              <a:latin typeface="Carlito"/>
              <a:cs typeface="Carlito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26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rlito"/>
                <a:cs typeface="Carlito"/>
              </a:rPr>
              <a:t>Copyrighted software developed </a:t>
            </a:r>
            <a:r>
              <a:rPr sz="2000" spc="-5" dirty="0">
                <a:latin typeface="Carlito"/>
                <a:cs typeface="Carlito"/>
              </a:rPr>
              <a:t>and sold </a:t>
            </a:r>
            <a:r>
              <a:rPr sz="2000" spc="-20" dirty="0">
                <a:latin typeface="Carlito"/>
                <a:cs typeface="Carlito"/>
              </a:rPr>
              <a:t>for</a:t>
            </a:r>
            <a:r>
              <a:rPr sz="2000" spc="45" dirty="0">
                <a:latin typeface="Carlito"/>
                <a:cs typeface="Carlito"/>
              </a:rPr>
              <a:t> </a:t>
            </a:r>
            <a:r>
              <a:rPr sz="2000" spc="-15" dirty="0">
                <a:latin typeface="Carlito"/>
                <a:cs typeface="Carlito"/>
              </a:rPr>
              <a:t>profit</a:t>
            </a:r>
            <a:endParaRPr sz="2000" dirty="0">
              <a:latin typeface="Carlito"/>
              <a:cs typeface="Carlito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26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20" dirty="0">
                <a:latin typeface="Carlito"/>
                <a:cs typeface="Carlito"/>
              </a:rPr>
              <a:t>Typically </a:t>
            </a:r>
            <a:r>
              <a:rPr sz="2000" spc="-10" dirty="0">
                <a:latin typeface="Carlito"/>
                <a:cs typeface="Carlito"/>
              </a:rPr>
              <a:t>comes </a:t>
            </a:r>
            <a:r>
              <a:rPr sz="2000" spc="-5" dirty="0">
                <a:latin typeface="Carlito"/>
                <a:cs typeface="Carlito"/>
              </a:rPr>
              <a:t>with a </a:t>
            </a:r>
            <a:r>
              <a:rPr sz="2000" spc="-10" dirty="0">
                <a:latin typeface="Carlito"/>
                <a:cs typeface="Carlito"/>
              </a:rPr>
              <a:t>single-user</a:t>
            </a:r>
            <a:r>
              <a:rPr sz="2000" spc="6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license</a:t>
            </a:r>
            <a:endParaRPr sz="2000" dirty="0">
              <a:latin typeface="Carlito"/>
              <a:cs typeface="Carlito"/>
            </a:endParaRPr>
          </a:p>
          <a:p>
            <a:pPr marL="355600" indent="-343535" algn="just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15" dirty="0">
                <a:latin typeface="Carlito"/>
                <a:cs typeface="Carlito"/>
              </a:rPr>
              <a:t>Shareware</a:t>
            </a:r>
            <a:endParaRPr sz="2200" dirty="0">
              <a:latin typeface="Carlito"/>
              <a:cs typeface="Carlito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26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rlito"/>
                <a:cs typeface="Carlito"/>
              </a:rPr>
              <a:t>Copyrighted software distributed </a:t>
            </a:r>
            <a:r>
              <a:rPr sz="2000" dirty="0">
                <a:latin typeface="Carlito"/>
                <a:cs typeface="Carlito"/>
              </a:rPr>
              <a:t>on </a:t>
            </a:r>
            <a:r>
              <a:rPr sz="2000" spc="-1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honor</a:t>
            </a:r>
            <a:r>
              <a:rPr sz="2000" spc="30" dirty="0">
                <a:latin typeface="Carlito"/>
                <a:cs typeface="Carlito"/>
              </a:rPr>
              <a:t> </a:t>
            </a:r>
            <a:r>
              <a:rPr sz="2000" spc="-25" dirty="0">
                <a:latin typeface="Carlito"/>
                <a:cs typeface="Carlito"/>
              </a:rPr>
              <a:t>system</a:t>
            </a:r>
            <a:endParaRPr sz="2000" dirty="0">
              <a:latin typeface="Carlito"/>
              <a:cs typeface="Carlito"/>
            </a:endParaRPr>
          </a:p>
          <a:p>
            <a:pPr marL="756285" lvl="1" indent="-287020" algn="just">
              <a:lnSpc>
                <a:spcPts val="2510"/>
              </a:lnSpc>
              <a:spcBef>
                <a:spcPts val="26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rlito"/>
                <a:cs typeface="Carlito"/>
              </a:rPr>
              <a:t>Consumers </a:t>
            </a:r>
            <a:r>
              <a:rPr sz="2000" spc="-5" dirty="0">
                <a:latin typeface="Carlito"/>
                <a:cs typeface="Carlito"/>
              </a:rPr>
              <a:t>should either </a:t>
            </a:r>
            <a:r>
              <a:rPr sz="2000" spc="-20" dirty="0">
                <a:latin typeface="Carlito"/>
                <a:cs typeface="Carlito"/>
              </a:rPr>
              <a:t>pay for </a:t>
            </a:r>
            <a:r>
              <a:rPr sz="2000" spc="-5" dirty="0">
                <a:latin typeface="Carlito"/>
                <a:cs typeface="Carlito"/>
              </a:rPr>
              <a:t>it or </a:t>
            </a:r>
            <a:r>
              <a:rPr sz="2000" spc="-10" dirty="0">
                <a:latin typeface="Carlito"/>
                <a:cs typeface="Carlito"/>
              </a:rPr>
              <a:t>uninstall </a:t>
            </a:r>
            <a:r>
              <a:rPr sz="2000" spc="-5" dirty="0">
                <a:latin typeface="Carlito"/>
                <a:cs typeface="Carlito"/>
              </a:rPr>
              <a:t>it </a:t>
            </a:r>
            <a:r>
              <a:rPr sz="2000" spc="-10" dirty="0">
                <a:latin typeface="Carlito"/>
                <a:cs typeface="Carlito"/>
              </a:rPr>
              <a:t>after </a:t>
            </a:r>
            <a:r>
              <a:rPr sz="2000" spc="-5" dirty="0">
                <a:latin typeface="Carlito"/>
                <a:cs typeface="Carlito"/>
              </a:rPr>
              <a:t>the</a:t>
            </a:r>
            <a:r>
              <a:rPr sz="2000" spc="6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trial</a:t>
            </a:r>
            <a:endParaRPr sz="2000" dirty="0">
              <a:latin typeface="Carlito"/>
              <a:cs typeface="Carlito"/>
            </a:endParaRPr>
          </a:p>
          <a:p>
            <a:pPr marL="756285" algn="just">
              <a:lnSpc>
                <a:spcPts val="2510"/>
              </a:lnSpc>
            </a:pPr>
            <a:r>
              <a:rPr sz="2000" spc="-10" dirty="0">
                <a:latin typeface="Carlito"/>
                <a:cs typeface="Carlito"/>
              </a:rPr>
              <a:t>period</a:t>
            </a:r>
            <a:endParaRPr sz="2000" dirty="0">
              <a:latin typeface="Carlito"/>
              <a:cs typeface="Carlito"/>
            </a:endParaRPr>
          </a:p>
          <a:p>
            <a:pPr marL="355600" indent="-343535" algn="just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15" dirty="0">
                <a:latin typeface="Carlito"/>
                <a:cs typeface="Carlito"/>
              </a:rPr>
              <a:t>Freeware</a:t>
            </a:r>
            <a:endParaRPr sz="2200" dirty="0">
              <a:latin typeface="Carlito"/>
              <a:cs typeface="Carlito"/>
            </a:endParaRPr>
          </a:p>
          <a:p>
            <a:pPr marL="756285" lvl="1" indent="-287020" algn="just">
              <a:lnSpc>
                <a:spcPts val="2510"/>
              </a:lnSpc>
              <a:spcBef>
                <a:spcPts val="26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rlito"/>
                <a:cs typeface="Carlito"/>
              </a:rPr>
              <a:t>Copyrighted software </a:t>
            </a:r>
            <a:r>
              <a:rPr sz="2000" spc="-15" dirty="0">
                <a:latin typeface="Carlito"/>
                <a:cs typeface="Carlito"/>
              </a:rPr>
              <a:t>programs </a:t>
            </a:r>
            <a:r>
              <a:rPr sz="2000" spc="-10" dirty="0">
                <a:latin typeface="Carlito"/>
                <a:cs typeface="Carlito"/>
              </a:rPr>
              <a:t>that are given </a:t>
            </a:r>
            <a:r>
              <a:rPr sz="2000" spc="-20" dirty="0">
                <a:latin typeface="Carlito"/>
                <a:cs typeface="Carlito"/>
              </a:rPr>
              <a:t>away </a:t>
            </a:r>
            <a:r>
              <a:rPr sz="2000" spc="-10" dirty="0">
                <a:latin typeface="Carlito"/>
                <a:cs typeface="Carlito"/>
              </a:rPr>
              <a:t>by</a:t>
            </a:r>
            <a:r>
              <a:rPr sz="2000" spc="6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the</a:t>
            </a:r>
            <a:endParaRPr sz="2000" dirty="0">
              <a:latin typeface="Carlito"/>
              <a:cs typeface="Carlito"/>
            </a:endParaRPr>
          </a:p>
          <a:p>
            <a:pPr marL="756285" algn="just">
              <a:lnSpc>
                <a:spcPts val="2510"/>
              </a:lnSpc>
            </a:pPr>
            <a:r>
              <a:rPr sz="2000" spc="-5" dirty="0">
                <a:latin typeface="Carlito"/>
                <a:cs typeface="Carlito"/>
              </a:rPr>
              <a:t>author </a:t>
            </a:r>
            <a:r>
              <a:rPr sz="2000" spc="-20" dirty="0">
                <a:latin typeface="Carlito"/>
                <a:cs typeface="Carlito"/>
              </a:rPr>
              <a:t>for </a:t>
            </a:r>
            <a:r>
              <a:rPr sz="2000" spc="-10" dirty="0">
                <a:latin typeface="Carlito"/>
                <a:cs typeface="Carlito"/>
              </a:rPr>
              <a:t>others </a:t>
            </a:r>
            <a:r>
              <a:rPr sz="2000" spc="-20" dirty="0">
                <a:latin typeface="Carlito"/>
                <a:cs typeface="Carlito"/>
              </a:rPr>
              <a:t>to </a:t>
            </a:r>
            <a:r>
              <a:rPr sz="2000" spc="-5" dirty="0">
                <a:latin typeface="Carlito"/>
                <a:cs typeface="Carlito"/>
              </a:rPr>
              <a:t>use </a:t>
            </a:r>
            <a:r>
              <a:rPr sz="2000" spc="-10" dirty="0">
                <a:latin typeface="Carlito"/>
                <a:cs typeface="Carlito"/>
              </a:rPr>
              <a:t>free </a:t>
            </a:r>
            <a:r>
              <a:rPr sz="2000" spc="-5" dirty="0">
                <a:latin typeface="Carlito"/>
                <a:cs typeface="Carlito"/>
              </a:rPr>
              <a:t>of</a:t>
            </a:r>
            <a:r>
              <a:rPr sz="2000" spc="55" dirty="0">
                <a:latin typeface="Carlito"/>
                <a:cs typeface="Carlito"/>
              </a:rPr>
              <a:t> </a:t>
            </a:r>
            <a:r>
              <a:rPr sz="2000" spc="-15" dirty="0">
                <a:latin typeface="Carlito"/>
                <a:cs typeface="Carlito"/>
              </a:rPr>
              <a:t>charge</a:t>
            </a:r>
            <a:endParaRPr sz="2000" dirty="0">
              <a:latin typeface="Carlito"/>
              <a:cs typeface="Carlito"/>
            </a:endParaRPr>
          </a:p>
          <a:p>
            <a:pPr marL="355600" indent="-343535" algn="just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5" dirty="0">
                <a:latin typeface="Carlito"/>
                <a:cs typeface="Carlito"/>
              </a:rPr>
              <a:t>Public Domain</a:t>
            </a:r>
            <a:r>
              <a:rPr sz="2200" spc="-4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Software</a:t>
            </a:r>
            <a:endParaRPr sz="2200" dirty="0">
              <a:latin typeface="Carlito"/>
              <a:cs typeface="Carlito"/>
            </a:endParaRPr>
          </a:p>
          <a:p>
            <a:pPr marL="756285" marR="334645" lvl="1" indent="-287020" algn="just">
              <a:lnSpc>
                <a:spcPts val="2380"/>
              </a:lnSpc>
              <a:spcBef>
                <a:spcPts val="56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rlito"/>
                <a:cs typeface="Carlito"/>
              </a:rPr>
              <a:t>Software </a:t>
            </a:r>
            <a:r>
              <a:rPr sz="2000" spc="-15" dirty="0">
                <a:latin typeface="Carlito"/>
                <a:cs typeface="Carlito"/>
              </a:rPr>
              <a:t>that </a:t>
            </a:r>
            <a:r>
              <a:rPr sz="2000" spc="-5" dirty="0">
                <a:latin typeface="Carlito"/>
                <a:cs typeface="Carlito"/>
              </a:rPr>
              <a:t>is </a:t>
            </a:r>
            <a:r>
              <a:rPr sz="2000" spc="-10" dirty="0">
                <a:latin typeface="Carlito"/>
                <a:cs typeface="Carlito"/>
              </a:rPr>
              <a:t>not </a:t>
            </a:r>
            <a:r>
              <a:rPr sz="2000" spc="-15" dirty="0">
                <a:latin typeface="Carlito"/>
                <a:cs typeface="Carlito"/>
              </a:rPr>
              <a:t>copyrighted </a:t>
            </a:r>
            <a:r>
              <a:rPr sz="2000" spc="-5" dirty="0">
                <a:latin typeface="Carlito"/>
                <a:cs typeface="Carlito"/>
              </a:rPr>
              <a:t>and </a:t>
            </a:r>
            <a:r>
              <a:rPr sz="2000" spc="-15" dirty="0">
                <a:latin typeface="Carlito"/>
                <a:cs typeface="Carlito"/>
              </a:rPr>
              <a:t>ownership </a:t>
            </a:r>
            <a:r>
              <a:rPr sz="2000" spc="-10" dirty="0">
                <a:latin typeface="Carlito"/>
                <a:cs typeface="Carlito"/>
              </a:rPr>
              <a:t>rights </a:t>
            </a:r>
            <a:r>
              <a:rPr sz="2000" spc="-20" dirty="0">
                <a:latin typeface="Carlito"/>
                <a:cs typeface="Carlito"/>
              </a:rPr>
              <a:t>have  </a:t>
            </a:r>
            <a:r>
              <a:rPr sz="2000" spc="-10" dirty="0">
                <a:latin typeface="Carlito"/>
                <a:cs typeface="Carlito"/>
              </a:rPr>
              <a:t>been </a:t>
            </a:r>
            <a:r>
              <a:rPr sz="2000" spc="-15" dirty="0">
                <a:latin typeface="Carlito"/>
                <a:cs typeface="Carlito"/>
              </a:rPr>
              <a:t>donated to </a:t>
            </a:r>
            <a:r>
              <a:rPr sz="2000" spc="-5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public</a:t>
            </a:r>
            <a:r>
              <a:rPr sz="2000" spc="2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domain</a:t>
            </a:r>
            <a:endParaRPr sz="20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31638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1709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475" dirty="0"/>
              <a:t>The </a:t>
            </a:r>
            <a:r>
              <a:rPr sz="3200" spc="-555" dirty="0"/>
              <a:t>Basics </a:t>
            </a:r>
            <a:r>
              <a:rPr sz="3200" spc="-254" dirty="0"/>
              <a:t>of </a:t>
            </a:r>
            <a:r>
              <a:rPr sz="3200" spc="-355" dirty="0"/>
              <a:t>Application</a:t>
            </a:r>
            <a:r>
              <a:rPr sz="3200" spc="-660" dirty="0"/>
              <a:t> </a:t>
            </a:r>
            <a:r>
              <a:rPr sz="3200" spc="-434" dirty="0"/>
              <a:t>Software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899591" y="1628813"/>
            <a:ext cx="6768719" cy="43002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12179" y="6093294"/>
            <a:ext cx="1489964" cy="6012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41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18775000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7619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40" dirty="0"/>
              <a:t>Desktop </a:t>
            </a:r>
            <a:r>
              <a:rPr spc="-525" dirty="0"/>
              <a:t>vs. </a:t>
            </a:r>
            <a:r>
              <a:rPr spc="-325" dirty="0"/>
              <a:t>Mobile</a:t>
            </a:r>
            <a:r>
              <a:rPr spc="-380" dirty="0"/>
              <a:t> </a:t>
            </a:r>
            <a:r>
              <a:rPr spc="-490" dirty="0"/>
              <a:t>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1534414"/>
            <a:ext cx="4191000" cy="463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41350" indent="-343535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Personal computers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  </a:t>
            </a:r>
            <a:r>
              <a:rPr sz="2400" spc="-10" dirty="0">
                <a:latin typeface="Carlito"/>
                <a:cs typeface="Carlito"/>
              </a:rPr>
              <a:t>desktop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software</a:t>
            </a:r>
            <a:endParaRPr sz="2400" dirty="0">
              <a:latin typeface="Carlito"/>
              <a:cs typeface="Carlito"/>
            </a:endParaRPr>
          </a:p>
          <a:p>
            <a:pPr marL="355600" marR="605790" indent="-343535" algn="just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Smartphones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other  </a:t>
            </a:r>
            <a:r>
              <a:rPr sz="2400" dirty="0">
                <a:latin typeface="Carlito"/>
                <a:cs typeface="Carlito"/>
              </a:rPr>
              <a:t>mobile </a:t>
            </a:r>
            <a:r>
              <a:rPr sz="2400" spc="-5" dirty="0">
                <a:latin typeface="Carlito"/>
                <a:cs typeface="Carlito"/>
              </a:rPr>
              <a:t>devices typically  </a:t>
            </a:r>
            <a:r>
              <a:rPr sz="2400" spc="-10" dirty="0">
                <a:latin typeface="Carlito"/>
                <a:cs typeface="Carlito"/>
              </a:rPr>
              <a:t>require </a:t>
            </a:r>
            <a:r>
              <a:rPr sz="2400" dirty="0">
                <a:latin typeface="Carlito"/>
                <a:cs typeface="Carlito"/>
              </a:rPr>
              <a:t>mobile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software  </a:t>
            </a:r>
            <a:r>
              <a:rPr sz="2400" spc="-5" dirty="0">
                <a:latin typeface="Carlito"/>
                <a:cs typeface="Carlito"/>
              </a:rPr>
              <a:t>called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apps</a:t>
            </a:r>
            <a:endParaRPr sz="2400" dirty="0">
              <a:latin typeface="Carlito"/>
              <a:cs typeface="Carlito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Specifically designed </a:t>
            </a:r>
            <a:r>
              <a:rPr sz="2400" spc="-20" dirty="0">
                <a:latin typeface="Carlito"/>
                <a:cs typeface="Carlito"/>
              </a:rPr>
              <a:t>for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5" dirty="0">
                <a:latin typeface="Carlito"/>
                <a:cs typeface="Carlito"/>
              </a:rPr>
              <a:t>specific </a:t>
            </a:r>
            <a:r>
              <a:rPr sz="2400" dirty="0">
                <a:latin typeface="Carlito"/>
                <a:cs typeface="Carlito"/>
              </a:rPr>
              <a:t>type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</a:t>
            </a:r>
            <a:endParaRPr sz="2400" dirty="0">
              <a:latin typeface="Carlito"/>
              <a:cs typeface="Carlito"/>
            </a:endParaRPr>
          </a:p>
          <a:p>
            <a:pPr marL="756285" marR="235585" lvl="1" indent="-287020" algn="just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Wide </a:t>
            </a:r>
            <a:r>
              <a:rPr sz="2400" spc="-15" dirty="0">
                <a:latin typeface="Carlito"/>
                <a:cs typeface="Carlito"/>
              </a:rPr>
              <a:t>range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software  </a:t>
            </a:r>
            <a:r>
              <a:rPr sz="2400" spc="-10" dirty="0">
                <a:latin typeface="Carlito"/>
                <a:cs typeface="Carlito"/>
              </a:rPr>
              <a:t>available </a:t>
            </a:r>
            <a:r>
              <a:rPr sz="2400" dirty="0">
                <a:latin typeface="Carlito"/>
                <a:cs typeface="Carlito"/>
              </a:rPr>
              <a:t>via app </a:t>
            </a:r>
            <a:r>
              <a:rPr sz="2400" spc="-20" dirty="0">
                <a:latin typeface="Carlito"/>
                <a:cs typeface="Carlito"/>
              </a:rPr>
              <a:t>stores  </a:t>
            </a:r>
            <a:r>
              <a:rPr sz="2400" spc="-5" dirty="0">
                <a:latin typeface="Carlito"/>
                <a:cs typeface="Carlito"/>
              </a:rPr>
              <a:t>(Google </a:t>
            </a:r>
            <a:r>
              <a:rPr sz="2400" spc="-45" dirty="0">
                <a:latin typeface="Carlito"/>
                <a:cs typeface="Carlito"/>
              </a:rPr>
              <a:t>Play, </a:t>
            </a:r>
            <a:r>
              <a:rPr sz="2400" dirty="0">
                <a:latin typeface="Carlito"/>
                <a:cs typeface="Carlito"/>
              </a:rPr>
              <a:t>Apple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App  </a:t>
            </a:r>
            <a:r>
              <a:rPr sz="2400" spc="-15" dirty="0">
                <a:latin typeface="Carlito"/>
                <a:cs typeface="Carlito"/>
              </a:rPr>
              <a:t>Store, </a:t>
            </a:r>
            <a:r>
              <a:rPr sz="2400" spc="-10" dirty="0">
                <a:latin typeface="Carlito"/>
                <a:cs typeface="Carlito"/>
              </a:rPr>
              <a:t>etc.)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21986" y="1706727"/>
            <a:ext cx="4197412" cy="3882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72225" y="5855106"/>
            <a:ext cx="1368171" cy="4209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42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13528482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5645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4" dirty="0"/>
              <a:t>Installed </a:t>
            </a:r>
            <a:r>
              <a:rPr spc="-525" dirty="0"/>
              <a:t>vs. </a:t>
            </a:r>
            <a:r>
              <a:rPr spc="-375" dirty="0"/>
              <a:t>Cloud</a:t>
            </a:r>
            <a:r>
              <a:rPr spc="-415" dirty="0"/>
              <a:t> </a:t>
            </a:r>
            <a:r>
              <a:rPr spc="-490" dirty="0"/>
              <a:t>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3768090" cy="32448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Installed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Software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Must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installed </a:t>
            </a:r>
            <a:r>
              <a:rPr sz="2400" spc="-5" dirty="0">
                <a:latin typeface="Carlito"/>
                <a:cs typeface="Carlito"/>
              </a:rPr>
              <a:t>on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spc="-25" dirty="0">
                <a:latin typeface="Carlito"/>
                <a:cs typeface="Carlito"/>
              </a:rPr>
              <a:t>before </a:t>
            </a:r>
            <a:r>
              <a:rPr sz="2400" dirty="0">
                <a:latin typeface="Carlito"/>
                <a:cs typeface="Carlito"/>
              </a:rPr>
              <a:t>it </a:t>
            </a:r>
            <a:r>
              <a:rPr sz="2400" spc="-10" dirty="0">
                <a:latin typeface="Carlito"/>
                <a:cs typeface="Carlito"/>
              </a:rPr>
              <a:t>can  </a:t>
            </a:r>
            <a:r>
              <a:rPr sz="2400" spc="-5" dirty="0">
                <a:latin typeface="Carlito"/>
                <a:cs typeface="Carlito"/>
              </a:rPr>
              <a:t>be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run</a:t>
            </a:r>
            <a:endParaRPr sz="2400">
              <a:latin typeface="Carlito"/>
              <a:cs typeface="Carlito"/>
            </a:endParaRPr>
          </a:p>
          <a:p>
            <a:pPr marL="756285" marR="50038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be </a:t>
            </a:r>
            <a:r>
              <a:rPr sz="2400" spc="-10" dirty="0">
                <a:latin typeface="Carlito"/>
                <a:cs typeface="Carlito"/>
              </a:rPr>
              <a:t>purchased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in  </a:t>
            </a:r>
            <a:r>
              <a:rPr sz="2400" spc="-15" dirty="0">
                <a:latin typeface="Carlito"/>
                <a:cs typeface="Carlito"/>
              </a:rPr>
              <a:t>physical</a:t>
            </a:r>
            <a:r>
              <a:rPr sz="2400" spc="-20" dirty="0">
                <a:latin typeface="Carlito"/>
                <a:cs typeface="Carlito"/>
              </a:rPr>
              <a:t> form</a:t>
            </a:r>
            <a:endParaRPr sz="2400">
              <a:latin typeface="Carlito"/>
              <a:cs typeface="Carlito"/>
            </a:endParaRPr>
          </a:p>
          <a:p>
            <a:pPr marL="756285" marR="54229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be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downloaded 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Internet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27982" y="1556892"/>
            <a:ext cx="4511913" cy="38413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47679" y="5641787"/>
            <a:ext cx="1464069" cy="7057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43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12502847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5645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4" dirty="0"/>
              <a:t>Installed </a:t>
            </a:r>
            <a:r>
              <a:rPr spc="-525" dirty="0"/>
              <a:t>vs. </a:t>
            </a:r>
            <a:r>
              <a:rPr spc="-375" dirty="0"/>
              <a:t>Cloud</a:t>
            </a:r>
            <a:r>
              <a:rPr spc="-415" dirty="0"/>
              <a:t> </a:t>
            </a:r>
            <a:r>
              <a:rPr spc="-490" dirty="0"/>
              <a:t>Software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44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826135" y="1676400"/>
            <a:ext cx="7491730" cy="430593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Cloud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Software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delivered </a:t>
            </a:r>
            <a:r>
              <a:rPr sz="2400" spc="-5" dirty="0">
                <a:latin typeface="Carlito"/>
                <a:cs typeface="Carlito"/>
              </a:rPr>
              <a:t>on-demand </a:t>
            </a:r>
            <a:r>
              <a:rPr sz="2400" dirty="0">
                <a:latin typeface="Carlito"/>
                <a:cs typeface="Carlito"/>
              </a:rPr>
              <a:t>via the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30" dirty="0">
                <a:latin typeface="Carlito"/>
                <a:cs typeface="Carlito"/>
              </a:rPr>
              <a:t>Web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5" dirty="0">
                <a:latin typeface="Carlito"/>
                <a:cs typeface="Carlito"/>
              </a:rPr>
              <a:t>called </a:t>
            </a:r>
            <a:r>
              <a:rPr sz="2400" spc="-15" dirty="0">
                <a:latin typeface="Carlito"/>
                <a:cs typeface="Carlito"/>
              </a:rPr>
              <a:t>Software </a:t>
            </a:r>
            <a:r>
              <a:rPr sz="2400" dirty="0">
                <a:latin typeface="Carlito"/>
                <a:cs typeface="Carlito"/>
              </a:rPr>
              <a:t>as a Service </a:t>
            </a:r>
            <a:r>
              <a:rPr sz="2400" spc="-5" dirty="0">
                <a:latin typeface="Carlito"/>
                <a:cs typeface="Carlito"/>
              </a:rPr>
              <a:t>(SaaS)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cloudware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Includes </a:t>
            </a:r>
            <a:r>
              <a:rPr sz="2400" spc="-10" dirty="0">
                <a:latin typeface="Carlito"/>
                <a:cs typeface="Carlito"/>
              </a:rPr>
              <a:t>free </a:t>
            </a:r>
            <a:r>
              <a:rPr sz="2400" spc="-15" dirty="0">
                <a:latin typeface="Carlito"/>
                <a:cs typeface="Carlito"/>
              </a:rPr>
              <a:t>software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fee-based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software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Advantages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cloud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software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ts val="2735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Files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accessed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spc="-20" dirty="0">
                <a:latin typeface="Carlito"/>
                <a:cs typeface="Carlito"/>
              </a:rPr>
              <a:t>any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dirty="0">
                <a:latin typeface="Carlito"/>
                <a:cs typeface="Carlito"/>
              </a:rPr>
              <a:t>with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</a:t>
            </a:r>
          </a:p>
          <a:p>
            <a:pPr marL="1155700">
              <a:lnSpc>
                <a:spcPts val="2735"/>
              </a:lnSpc>
            </a:pPr>
            <a:r>
              <a:rPr sz="2400" spc="-10" dirty="0">
                <a:latin typeface="Carlito"/>
                <a:cs typeface="Carlito"/>
              </a:rPr>
              <a:t>Internet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connection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Ease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implementation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1156335" algn="l"/>
              </a:tabLst>
            </a:pPr>
            <a:r>
              <a:rPr lang="en-US" sz="2400" spc="-15" dirty="0">
                <a:latin typeface="Carlito"/>
                <a:cs typeface="Carlito"/>
              </a:rPr>
              <a:t>  </a:t>
            </a:r>
            <a:r>
              <a:rPr sz="2400" spc="-15" dirty="0">
                <a:latin typeface="Carlito"/>
                <a:cs typeface="Carlito"/>
              </a:rPr>
              <a:t>Improved </a:t>
            </a:r>
            <a:r>
              <a:rPr sz="2400" spc="-10" dirty="0">
                <a:latin typeface="Carlito"/>
                <a:cs typeface="Carlito"/>
              </a:rPr>
              <a:t>collaboration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capabilities</a:t>
            </a:r>
            <a:endParaRPr sz="2400" dirty="0">
              <a:latin typeface="Carlito"/>
              <a:cs typeface="Carlito"/>
            </a:endParaRPr>
          </a:p>
          <a:p>
            <a:pPr marL="1155700" marR="360045" lvl="2" indent="-228600">
              <a:lnSpc>
                <a:spcPts val="2590"/>
              </a:lnSpc>
              <a:spcBef>
                <a:spcPts val="62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20" dirty="0">
                <a:latin typeface="Carlito"/>
                <a:cs typeface="Carlito"/>
              </a:rPr>
              <a:t>Always </a:t>
            </a:r>
            <a:r>
              <a:rPr sz="2400" spc="-10" dirty="0">
                <a:latin typeface="Carlito"/>
                <a:cs typeface="Carlito"/>
              </a:rPr>
              <a:t>working </a:t>
            </a:r>
            <a:r>
              <a:rPr sz="2400" dirty="0">
                <a:latin typeface="Carlito"/>
                <a:cs typeface="Carlito"/>
              </a:rPr>
              <a:t>with the </a:t>
            </a:r>
            <a:r>
              <a:rPr sz="2400" spc="-10" dirty="0">
                <a:latin typeface="Carlito"/>
                <a:cs typeface="Carlito"/>
              </a:rPr>
              <a:t>most current </a:t>
            </a:r>
            <a:r>
              <a:rPr sz="2400" spc="-15" dirty="0">
                <a:latin typeface="Carlito"/>
                <a:cs typeface="Carlito"/>
              </a:rPr>
              <a:t>version </a:t>
            </a:r>
            <a:r>
              <a:rPr sz="2400" spc="-5" dirty="0">
                <a:latin typeface="Carlito"/>
                <a:cs typeface="Carlito"/>
              </a:rPr>
              <a:t>of  </a:t>
            </a:r>
            <a:r>
              <a:rPr sz="2400" spc="-10" dirty="0">
                <a:latin typeface="Carlito"/>
                <a:cs typeface="Carlito"/>
              </a:rPr>
              <a:t>software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349752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5645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4" dirty="0"/>
              <a:t>Installed </a:t>
            </a:r>
            <a:r>
              <a:rPr spc="-525" dirty="0"/>
              <a:t>vs. </a:t>
            </a:r>
            <a:r>
              <a:rPr spc="-375" dirty="0"/>
              <a:t>Cloud</a:t>
            </a:r>
            <a:r>
              <a:rPr spc="-415" dirty="0"/>
              <a:t> </a:t>
            </a:r>
            <a:r>
              <a:rPr spc="-490" dirty="0"/>
              <a:t>Software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14400" y="1676400"/>
            <a:ext cx="7133590" cy="21475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5" dirty="0">
                <a:latin typeface="Carlito"/>
                <a:cs typeface="Carlito"/>
              </a:rPr>
              <a:t>Potential disadvantages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cloud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software</a:t>
            </a:r>
            <a:endParaRPr sz="2400" dirty="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Online applications </a:t>
            </a:r>
            <a:r>
              <a:rPr sz="2400" spc="-10" dirty="0">
                <a:latin typeface="Carlito"/>
                <a:cs typeface="Carlito"/>
              </a:rPr>
              <a:t>tend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run </a:t>
            </a:r>
            <a:r>
              <a:rPr sz="2400" spc="-10" dirty="0">
                <a:latin typeface="Carlito"/>
                <a:cs typeface="Carlito"/>
              </a:rPr>
              <a:t>more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slowly</a:t>
            </a:r>
            <a:endParaRPr sz="2400" dirty="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spc="-5" dirty="0">
                <a:latin typeface="Carlito"/>
                <a:cs typeface="Carlito"/>
              </a:rPr>
              <a:t>file </a:t>
            </a:r>
            <a:r>
              <a:rPr sz="2400" spc="-20" dirty="0">
                <a:latin typeface="Carlito"/>
                <a:cs typeface="Carlito"/>
              </a:rPr>
              <a:t>size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limits</a:t>
            </a:r>
          </a:p>
          <a:p>
            <a:pPr marL="697865" marR="50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Cost </a:t>
            </a:r>
            <a:r>
              <a:rPr sz="2400" spc="-15" dirty="0">
                <a:latin typeface="Carlito"/>
                <a:cs typeface="Carlito"/>
              </a:rPr>
              <a:t>may </a:t>
            </a:r>
            <a:r>
              <a:rPr sz="2400" spc="-10" dirty="0">
                <a:latin typeface="Carlito"/>
                <a:cs typeface="Carlito"/>
              </a:rPr>
              <a:t>eventually </a:t>
            </a:r>
            <a:r>
              <a:rPr sz="2400" spc="-15" dirty="0">
                <a:latin typeface="Carlito"/>
                <a:cs typeface="Carlito"/>
              </a:rPr>
              <a:t>exceed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cost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purchasing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5" dirty="0">
                <a:latin typeface="Carlito"/>
                <a:cs typeface="Carlito"/>
              </a:rPr>
              <a:t>similar </a:t>
            </a:r>
            <a:r>
              <a:rPr sz="2400" spc="-10" dirty="0">
                <a:latin typeface="Carlito"/>
                <a:cs typeface="Carlito"/>
              </a:rPr>
              <a:t>installed </a:t>
            </a:r>
            <a:r>
              <a:rPr sz="2400" spc="-15" dirty="0">
                <a:latin typeface="Carlito"/>
                <a:cs typeface="Carlito"/>
              </a:rPr>
              <a:t>version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software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1268582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Network vs Embedded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b="1" dirty="0"/>
              <a:t>Network OS</a:t>
            </a:r>
          </a:p>
          <a:p>
            <a:pPr lvl="1" algn="just"/>
            <a:r>
              <a:rPr lang="en-US" sz="2400" dirty="0"/>
              <a:t>Connects multiple devices and computers on the network and allows them to share resources on the network.</a:t>
            </a:r>
            <a:endParaRPr lang="en-US" sz="2600" dirty="0"/>
          </a:p>
          <a:p>
            <a:pPr marL="457200" lvl="1" indent="0" algn="just">
              <a:buNone/>
            </a:pPr>
            <a:r>
              <a:rPr lang="en-US" sz="3500" b="1" dirty="0"/>
              <a:t>Central OS </a:t>
            </a:r>
            <a:r>
              <a:rPr lang="en-US" sz="2600" dirty="0"/>
              <a:t>controls the resources of multiple computers, and presents to the user as if they were available on the actual physical computer</a:t>
            </a:r>
          </a:p>
          <a:p>
            <a:pPr lvl="1" algn="just"/>
            <a:r>
              <a:rPr lang="en-US" sz="2600" dirty="0"/>
              <a:t>E.g. MS Windows Server, Mac OS X </a:t>
            </a:r>
          </a:p>
          <a:p>
            <a:pPr algn="just"/>
            <a:r>
              <a:rPr lang="en-US" sz="2800" b="1" dirty="0"/>
              <a:t>Embedded OS</a:t>
            </a:r>
          </a:p>
          <a:p>
            <a:pPr lvl="1" algn="just"/>
            <a:r>
              <a:rPr lang="en-US" sz="2600" dirty="0"/>
              <a:t>Serve a function in highly specific contexts</a:t>
            </a:r>
          </a:p>
          <a:p>
            <a:pPr lvl="1"/>
            <a:r>
              <a:rPr lang="en-US" sz="2600" dirty="0"/>
              <a:t>Embedded in consumers appliances/machines, such as:</a:t>
            </a:r>
          </a:p>
          <a:p>
            <a:pPr lvl="2"/>
            <a:r>
              <a:rPr lang="en-US" sz="2200" dirty="0"/>
              <a:t>Toasters, </a:t>
            </a:r>
            <a:r>
              <a:rPr lang="en-US" sz="2200" dirty="0" err="1"/>
              <a:t>Acs</a:t>
            </a:r>
            <a:r>
              <a:rPr lang="en-US" sz="2200" dirty="0"/>
              <a:t> </a:t>
            </a:r>
            <a:r>
              <a:rPr lang="en-US" sz="2200" dirty="0" err="1"/>
              <a:t>etc</a:t>
            </a:r>
            <a:endParaRPr lang="en-US" sz="2200" dirty="0"/>
          </a:p>
          <a:p>
            <a:pPr lvl="2"/>
            <a:r>
              <a:rPr lang="en-US" sz="2200" dirty="0"/>
              <a:t>Medical instruments</a:t>
            </a:r>
          </a:p>
          <a:p>
            <a:pPr lvl="1"/>
            <a:r>
              <a:rPr lang="en-US" sz="2600" dirty="0"/>
              <a:t>E.g. QNX, Linux embedded OS, </a:t>
            </a:r>
            <a:r>
              <a:rPr lang="en-US" sz="2600" dirty="0" err="1"/>
              <a:t>VxWorks</a:t>
            </a:r>
            <a:r>
              <a:rPr lang="en-US" sz="2600" dirty="0"/>
              <a:t> </a:t>
            </a:r>
          </a:p>
          <a:p>
            <a:pPr lvl="1"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944767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 </a:t>
            </a:r>
            <a:r>
              <a:rPr lang="en-US" sz="3400" dirty="0"/>
              <a:t>Computer Software</a:t>
            </a:r>
          </a:p>
          <a:p>
            <a:pPr lvl="1"/>
            <a:r>
              <a:rPr lang="en-US" sz="3400" dirty="0"/>
              <a:t>System Software </a:t>
            </a:r>
          </a:p>
          <a:p>
            <a:pPr lvl="1"/>
            <a:r>
              <a:rPr lang="en-US" sz="3400" dirty="0"/>
              <a:t>Application Software</a:t>
            </a:r>
          </a:p>
          <a:p>
            <a:r>
              <a:rPr lang="en-US" sz="3400" dirty="0"/>
              <a:t>Operating System (OS)</a:t>
            </a:r>
          </a:p>
          <a:p>
            <a:pPr lvl="1"/>
            <a:r>
              <a:rPr lang="en-US" sz="3400" dirty="0"/>
              <a:t>Basic Purpose of OS </a:t>
            </a:r>
          </a:p>
          <a:p>
            <a:pPr lvl="1"/>
            <a:r>
              <a:rPr lang="en-US" sz="3400" dirty="0"/>
              <a:t>Types of OS </a:t>
            </a:r>
          </a:p>
          <a:p>
            <a:r>
              <a:rPr lang="en-GB" sz="3400" dirty="0"/>
              <a:t> </a:t>
            </a:r>
            <a:r>
              <a:rPr lang="en-US" sz="3400" dirty="0"/>
              <a:t>Operating System Functions</a:t>
            </a:r>
          </a:p>
          <a:p>
            <a:pPr lvl="1"/>
            <a:r>
              <a:rPr lang="en-US" sz="3400" dirty="0"/>
              <a:t>Providing User Interface</a:t>
            </a:r>
          </a:p>
          <a:p>
            <a:pPr lvl="1"/>
            <a:r>
              <a:rPr lang="en-US" sz="3400" dirty="0"/>
              <a:t>Running Programs</a:t>
            </a:r>
          </a:p>
          <a:p>
            <a:pPr lvl="1"/>
            <a:r>
              <a:rPr lang="en-US" sz="3400" dirty="0"/>
              <a:t>Managing Hardware </a:t>
            </a:r>
          </a:p>
          <a:p>
            <a:r>
              <a:rPr lang="en-US" sz="3400" dirty="0"/>
              <a:t>Utility Programs </a:t>
            </a:r>
          </a:p>
          <a:p>
            <a:r>
              <a:rPr lang="en-US" sz="3400" dirty="0"/>
              <a:t>PC Operating System</a:t>
            </a:r>
          </a:p>
          <a:p>
            <a:r>
              <a:rPr lang="en-US" sz="3400" dirty="0"/>
              <a:t>Network Operating System</a:t>
            </a:r>
          </a:p>
          <a:p>
            <a:r>
              <a:rPr lang="en-US" sz="3400" dirty="0"/>
              <a:t>Embedded Operating System</a:t>
            </a: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39466567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2B1452A8B9644E8C8746036957D926" ma:contentTypeVersion="4" ma:contentTypeDescription="Create a new document." ma:contentTypeScope="" ma:versionID="c180a0b494e1df634ea8a136120aaaa5">
  <xsd:schema xmlns:xsd="http://www.w3.org/2001/XMLSchema" xmlns:xs="http://www.w3.org/2001/XMLSchema" xmlns:p="http://schemas.microsoft.com/office/2006/metadata/properties" xmlns:ns2="ecb9fd39-69ca-44d1-bf6e-cb49dbade056" targetNamespace="http://schemas.microsoft.com/office/2006/metadata/properties" ma:root="true" ma:fieldsID="f3bb93dc3ae910b110e4de89499c188f" ns2:_="">
    <xsd:import namespace="ecb9fd39-69ca-44d1-bf6e-cb49dbade0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fd39-69ca-44d1-bf6e-cb49dbade0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8E8F66-29BB-4C2F-8F77-4E656307686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5645F73-4882-4D5B-AAD7-A5B77FCBF10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DF1D8BD-A65A-4454-9FF5-9F56EC39FC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cb9fd39-69ca-44d1-bf6e-cb49dbade0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3683814</TotalTime>
  <Words>2387</Words>
  <Application>Microsoft Macintosh PowerPoint</Application>
  <PresentationFormat>On-screen Show (4:3)</PresentationFormat>
  <Paragraphs>404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Arial</vt:lpstr>
      <vt:lpstr>Arial Black</vt:lpstr>
      <vt:lpstr>Calibri</vt:lpstr>
      <vt:lpstr>Carlito</vt:lpstr>
      <vt:lpstr>Corbel</vt:lpstr>
      <vt:lpstr>Wingdings</vt:lpstr>
      <vt:lpstr>Wingdings 2</vt:lpstr>
      <vt:lpstr>Wingdings 3</vt:lpstr>
      <vt:lpstr>Module</vt:lpstr>
      <vt:lpstr>CSC 101 – Introduction to Computing</vt:lpstr>
      <vt:lpstr>Outline</vt:lpstr>
      <vt:lpstr>System Software vs. Application  Software</vt:lpstr>
      <vt:lpstr>The Operating System</vt:lpstr>
      <vt:lpstr>Functions of an Operating System</vt:lpstr>
      <vt:lpstr>Functions of an Operating System</vt:lpstr>
      <vt:lpstr>Functions of an Operating System</vt:lpstr>
      <vt:lpstr>Functions of an Operating System</vt:lpstr>
      <vt:lpstr>Processing Techniques for Increased  Efficiency</vt:lpstr>
      <vt:lpstr>Processing Techniques for Increased  Efficiency</vt:lpstr>
      <vt:lpstr>Processing Techniques for Increased  Efficiency</vt:lpstr>
      <vt:lpstr>Processing Techniques for Increased  Efficiency</vt:lpstr>
      <vt:lpstr>Processing Techniques for Increased  Efficiency</vt:lpstr>
      <vt:lpstr>Differences Among Operating  Systems</vt:lpstr>
      <vt:lpstr>Differences Among Operating  Systems</vt:lpstr>
      <vt:lpstr>Differences Among Operating  Systems</vt:lpstr>
      <vt:lpstr>Operating Systems for Personal  Computers and Servers</vt:lpstr>
      <vt:lpstr>PowerPoint Presentation</vt:lpstr>
      <vt:lpstr>Windows</vt:lpstr>
      <vt:lpstr>Windows</vt:lpstr>
      <vt:lpstr>Windows</vt:lpstr>
      <vt:lpstr>Windows</vt:lpstr>
      <vt:lpstr>Windows</vt:lpstr>
      <vt:lpstr>Mac OS</vt:lpstr>
      <vt:lpstr>Mac OS</vt:lpstr>
      <vt:lpstr>U N I X</vt:lpstr>
      <vt:lpstr>Linux</vt:lpstr>
      <vt:lpstr>Linux</vt:lpstr>
      <vt:lpstr>Chrome OS</vt:lpstr>
      <vt:lpstr>Technology and You Box</vt:lpstr>
      <vt:lpstr>Operating Systems for Mobile  Devices</vt:lpstr>
      <vt:lpstr>Operating Systems for Mobile  Phones and Other Devices</vt:lpstr>
      <vt:lpstr>Operating Systems for Mobile  Phones and Other Devices</vt:lpstr>
      <vt:lpstr>Operating Systems for Larger  Computers</vt:lpstr>
      <vt:lpstr>Inside the Industry Box</vt:lpstr>
      <vt:lpstr>Utility Programs</vt:lpstr>
      <vt:lpstr>File Management Programs</vt:lpstr>
      <vt:lpstr>How It Works Box</vt:lpstr>
      <vt:lpstr>Utility Programs</vt:lpstr>
      <vt:lpstr>The Basics of Application Software</vt:lpstr>
      <vt:lpstr>The Basics of Application Software</vt:lpstr>
      <vt:lpstr>Desktop vs. Mobile Software</vt:lpstr>
      <vt:lpstr>Installed vs. Cloud Software</vt:lpstr>
      <vt:lpstr>Installed vs. Cloud Software</vt:lpstr>
      <vt:lpstr>Installed vs. Cloud Software</vt:lpstr>
      <vt:lpstr>Network vs Embedded Operating System</vt:lpstr>
      <vt:lpstr>Outline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Shehla</dc:creator>
  <cp:lastModifiedBy>(FA24-BSE-042) MUHAMMAD ABDULLAH</cp:lastModifiedBy>
  <cp:revision>172</cp:revision>
  <dcterms:created xsi:type="dcterms:W3CDTF">2015-07-29T13:27:11Z</dcterms:created>
  <dcterms:modified xsi:type="dcterms:W3CDTF">2024-11-04T23:33:32Z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0x0101002C2B1452A8B9644E8C8746036957D926</vt:lpwstr>
  </property>
</Properties>
</file>