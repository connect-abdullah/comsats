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60" r:id="rId4"/>
  </p:sldMasterIdLst>
  <p:notesMasterIdLst>
    <p:notesMasterId r:id="rId75"/>
  </p:notesMasterIdLst>
  <p:sldIdLst>
    <p:sldId id="256" r:id="rId5"/>
    <p:sldId id="258" r:id="rId6"/>
    <p:sldId id="429" r:id="rId7"/>
    <p:sldId id="422" r:id="rId8"/>
    <p:sldId id="423" r:id="rId9"/>
    <p:sldId id="424" r:id="rId10"/>
    <p:sldId id="425" r:id="rId11"/>
    <p:sldId id="426" r:id="rId12"/>
    <p:sldId id="427" r:id="rId13"/>
    <p:sldId id="428" r:id="rId14"/>
    <p:sldId id="430" r:id="rId15"/>
    <p:sldId id="322" r:id="rId16"/>
    <p:sldId id="362" r:id="rId17"/>
    <p:sldId id="327" r:id="rId18"/>
    <p:sldId id="329" r:id="rId19"/>
    <p:sldId id="340" r:id="rId20"/>
    <p:sldId id="342" r:id="rId21"/>
    <p:sldId id="344" r:id="rId22"/>
    <p:sldId id="332" r:id="rId23"/>
    <p:sldId id="363" r:id="rId24"/>
    <p:sldId id="263" r:id="rId25"/>
    <p:sldId id="266" r:id="rId26"/>
    <p:sldId id="275" r:id="rId27"/>
    <p:sldId id="349" r:id="rId28"/>
    <p:sldId id="351" r:id="rId29"/>
    <p:sldId id="352" r:id="rId30"/>
    <p:sldId id="353" r:id="rId31"/>
    <p:sldId id="288" r:id="rId32"/>
    <p:sldId id="289" r:id="rId33"/>
    <p:sldId id="290" r:id="rId34"/>
    <p:sldId id="354" r:id="rId35"/>
    <p:sldId id="365" r:id="rId36"/>
    <p:sldId id="366" r:id="rId37"/>
    <p:sldId id="367" r:id="rId38"/>
    <p:sldId id="368" r:id="rId39"/>
    <p:sldId id="369" r:id="rId40"/>
    <p:sldId id="370" r:id="rId41"/>
    <p:sldId id="371" r:id="rId42"/>
    <p:sldId id="376" r:id="rId43"/>
    <p:sldId id="377" r:id="rId44"/>
    <p:sldId id="378" r:id="rId45"/>
    <p:sldId id="379" r:id="rId46"/>
    <p:sldId id="380" r:id="rId47"/>
    <p:sldId id="381" r:id="rId48"/>
    <p:sldId id="382" r:id="rId49"/>
    <p:sldId id="383" r:id="rId50"/>
    <p:sldId id="397" r:id="rId51"/>
    <p:sldId id="398" r:id="rId52"/>
    <p:sldId id="399" r:id="rId53"/>
    <p:sldId id="400" r:id="rId54"/>
    <p:sldId id="401" r:id="rId55"/>
    <p:sldId id="402" r:id="rId56"/>
    <p:sldId id="403" r:id="rId57"/>
    <p:sldId id="404" r:id="rId58"/>
    <p:sldId id="405" r:id="rId59"/>
    <p:sldId id="406" r:id="rId60"/>
    <p:sldId id="407" r:id="rId61"/>
    <p:sldId id="408" r:id="rId62"/>
    <p:sldId id="409" r:id="rId63"/>
    <p:sldId id="410" r:id="rId64"/>
    <p:sldId id="411" r:id="rId65"/>
    <p:sldId id="412" r:id="rId66"/>
    <p:sldId id="413" r:id="rId67"/>
    <p:sldId id="414" r:id="rId68"/>
    <p:sldId id="415" r:id="rId69"/>
    <p:sldId id="416" r:id="rId70"/>
    <p:sldId id="417" r:id="rId71"/>
    <p:sldId id="418" r:id="rId72"/>
    <p:sldId id="419" r:id="rId73"/>
    <p:sldId id="420" r:id="rId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7287E2-849F-C2A1-4509-1B20D136BEED}" v="25" dt="2023-04-09T10:36:30.706"/>
    <p1510:client id="{F344EDEA-AB4D-4423-E986-079BE71C30A6}" v="14" dt="2022-10-24T06:20:10.0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9063" autoAdjust="0"/>
  </p:normalViewPr>
  <p:slideViewPr>
    <p:cSldViewPr>
      <p:cViewPr varScale="1">
        <p:scale>
          <a:sx n="98" d="100"/>
          <a:sy n="98" d="100"/>
        </p:scale>
        <p:origin x="2040"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urram Iqbal" userId="S::khurram.iqbal@comsats.edu.pk::af32904b-6c78-4cff-8330-5f3a20d540de" providerId="AD" clId="Web-{F344EDEA-AB4D-4423-E986-079BE71C30A6}"/>
    <pc:docChg chg="modSld">
      <pc:chgData name="Khurram Iqbal" userId="S::khurram.iqbal@comsats.edu.pk::af32904b-6c78-4cff-8330-5f3a20d540de" providerId="AD" clId="Web-{F344EDEA-AB4D-4423-E986-079BE71C30A6}" dt="2022-10-24T06:17:42.004" v="9" actId="20577"/>
      <pc:docMkLst>
        <pc:docMk/>
      </pc:docMkLst>
      <pc:sldChg chg="modSp">
        <pc:chgData name="Khurram Iqbal" userId="S::khurram.iqbal@comsats.edu.pk::af32904b-6c78-4cff-8330-5f3a20d540de" providerId="AD" clId="Web-{F344EDEA-AB4D-4423-E986-079BE71C30A6}" dt="2022-10-24T06:17:42.004" v="9" actId="20577"/>
        <pc:sldMkLst>
          <pc:docMk/>
          <pc:sldMk cId="0" sldId="358"/>
        </pc:sldMkLst>
        <pc:spChg chg="mod">
          <ac:chgData name="Khurram Iqbal" userId="S::khurram.iqbal@comsats.edu.pk::af32904b-6c78-4cff-8330-5f3a20d540de" providerId="AD" clId="Web-{F344EDEA-AB4D-4423-E986-079BE71C30A6}" dt="2022-10-24T06:17:42.004" v="9" actId="20577"/>
          <ac:spMkLst>
            <pc:docMk/>
            <pc:sldMk cId="0" sldId="358"/>
            <ac:spMk id="3" creationId="{00000000-0000-0000-0000-000000000000}"/>
          </ac:spMkLst>
        </pc:spChg>
      </pc:sldChg>
    </pc:docChg>
  </pc:docChgLst>
  <pc:docChgLst>
    <pc:chgData name="Prof. Dr. Majid Iqbal Khan" userId="S::majid_iqbal@comsats.edu.pk::2ed9fcd9-8d33-470e-ac7d-0fc3a76fc1c1" providerId="AD" clId="Web-{427287E2-849F-C2A1-4509-1B20D136BEED}"/>
    <pc:docChg chg="modSld">
      <pc:chgData name="Prof. Dr. Majid Iqbal Khan" userId="S::majid_iqbal@comsats.edu.pk::2ed9fcd9-8d33-470e-ac7d-0fc3a76fc1c1" providerId="AD" clId="Web-{427287E2-849F-C2A1-4509-1B20D136BEED}" dt="2023-04-09T10:36:29.112" v="14" actId="20577"/>
      <pc:docMkLst>
        <pc:docMk/>
      </pc:docMkLst>
      <pc:sldChg chg="modSp">
        <pc:chgData name="Prof. Dr. Majid Iqbal Khan" userId="S::majid_iqbal@comsats.edu.pk::2ed9fcd9-8d33-470e-ac7d-0fc3a76fc1c1" providerId="AD" clId="Web-{427287E2-849F-C2A1-4509-1B20D136BEED}" dt="2023-04-09T10:33:27.786" v="8" actId="14100"/>
        <pc:sldMkLst>
          <pc:docMk/>
          <pc:sldMk cId="0" sldId="277"/>
        </pc:sldMkLst>
        <pc:spChg chg="mod">
          <ac:chgData name="Prof. Dr. Majid Iqbal Khan" userId="S::majid_iqbal@comsats.edu.pk::2ed9fcd9-8d33-470e-ac7d-0fc3a76fc1c1" providerId="AD" clId="Web-{427287E2-849F-C2A1-4509-1B20D136BEED}" dt="2023-04-09T10:33:27.786" v="8" actId="14100"/>
          <ac:spMkLst>
            <pc:docMk/>
            <pc:sldMk cId="0" sldId="277"/>
            <ac:spMk id="3" creationId="{00000000-0000-0000-0000-000000000000}"/>
          </ac:spMkLst>
        </pc:spChg>
      </pc:sldChg>
      <pc:sldChg chg="modSp">
        <pc:chgData name="Prof. Dr. Majid Iqbal Khan" userId="S::majid_iqbal@comsats.edu.pk::2ed9fcd9-8d33-470e-ac7d-0fc3a76fc1c1" providerId="AD" clId="Web-{427287E2-849F-C2A1-4509-1B20D136BEED}" dt="2023-04-09T10:36:29.112" v="14" actId="20577"/>
        <pc:sldMkLst>
          <pc:docMk/>
          <pc:sldMk cId="0" sldId="306"/>
        </pc:sldMkLst>
        <pc:spChg chg="mod">
          <ac:chgData name="Prof. Dr. Majid Iqbal Khan" userId="S::majid_iqbal@comsats.edu.pk::2ed9fcd9-8d33-470e-ac7d-0fc3a76fc1c1" providerId="AD" clId="Web-{427287E2-849F-C2A1-4509-1B20D136BEED}" dt="2023-04-09T10:36:29.112" v="14" actId="20577"/>
          <ac:spMkLst>
            <pc:docMk/>
            <pc:sldMk cId="0" sldId="306"/>
            <ac:spMk id="3" creationId="{00000000-0000-0000-0000-000000000000}"/>
          </ac:spMkLst>
        </pc:spChg>
      </pc:sldChg>
      <pc:sldChg chg="delSp modSp">
        <pc:chgData name="Prof. Dr. Majid Iqbal Khan" userId="S::majid_iqbal@comsats.edu.pk::2ed9fcd9-8d33-470e-ac7d-0fc3a76fc1c1" providerId="AD" clId="Web-{427287E2-849F-C2A1-4509-1B20D136BEED}" dt="2023-04-09T10:33:41.130" v="10"/>
        <pc:sldMkLst>
          <pc:docMk/>
          <pc:sldMk cId="0" sldId="350"/>
        </pc:sldMkLst>
        <pc:spChg chg="del">
          <ac:chgData name="Prof. Dr. Majid Iqbal Khan" userId="S::majid_iqbal@comsats.edu.pk::2ed9fcd9-8d33-470e-ac7d-0fc3a76fc1c1" providerId="AD" clId="Web-{427287E2-849F-C2A1-4509-1B20D136BEED}" dt="2023-04-09T10:33:41.130" v="10"/>
          <ac:spMkLst>
            <pc:docMk/>
            <pc:sldMk cId="0" sldId="350"/>
            <ac:spMk id="22531" creationId="{00000000-0000-0000-0000-000000000000}"/>
          </ac:spMkLst>
        </pc:spChg>
        <pc:picChg chg="mod">
          <ac:chgData name="Prof. Dr. Majid Iqbal Khan" userId="S::majid_iqbal@comsats.edu.pk::2ed9fcd9-8d33-470e-ac7d-0fc3a76fc1c1" providerId="AD" clId="Web-{427287E2-849F-C2A1-4509-1B20D136BEED}" dt="2023-04-09T10:33:37.052" v="9" actId="1076"/>
          <ac:picMkLst>
            <pc:docMk/>
            <pc:sldMk cId="0" sldId="350"/>
            <ac:picMk id="2253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D47964-3B62-4D5B-A939-DE505F670888}" type="datetimeFigureOut">
              <a:rPr lang="en-US" smtClean="0"/>
              <a:pPr/>
              <a:t>11/5/24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C7BA28-8807-43C5-99C4-A55965820A4C}" type="slidenum">
              <a:rPr lang="en-US" smtClean="0"/>
              <a:pPr/>
              <a:t>‹#›</a:t>
            </a:fld>
            <a:endParaRPr lang="en-US"/>
          </a:p>
        </p:txBody>
      </p:sp>
    </p:spTree>
    <p:extLst>
      <p:ext uri="{BB962C8B-B14F-4D97-AF65-F5344CB8AC3E}">
        <p14:creationId xmlns:p14="http://schemas.microsoft.com/office/powerpoint/2010/main" val="280138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altLang="en-US" b="1" dirty="0"/>
              <a:t>Threat</a:t>
            </a:r>
            <a:r>
              <a:rPr lang="en-GB" altLang="en-US" dirty="0"/>
              <a:t>: Set of circumstances that has the potential to cause loss or harm</a:t>
            </a:r>
          </a:p>
        </p:txBody>
      </p:sp>
      <p:sp>
        <p:nvSpPr>
          <p:cNvPr id="4" name="Slide Number Placeholder 3"/>
          <p:cNvSpPr>
            <a:spLocks noGrp="1"/>
          </p:cNvSpPr>
          <p:nvPr>
            <p:ph type="sldNum" sz="quarter" idx="10"/>
          </p:nvPr>
        </p:nvSpPr>
        <p:spPr/>
        <p:txBody>
          <a:bodyPr/>
          <a:lstStyle/>
          <a:p>
            <a:fld id="{EA7EEC5A-F870-42E0-9BEC-FCE5075CD1FB}" type="slidenum">
              <a:rPr lang="en-US" smtClean="0"/>
              <a:t>4</a:t>
            </a:fld>
            <a:endParaRPr lang="en-US"/>
          </a:p>
        </p:txBody>
      </p:sp>
    </p:spTree>
    <p:extLst>
      <p:ext uri="{BB962C8B-B14F-4D97-AF65-F5344CB8AC3E}">
        <p14:creationId xmlns:p14="http://schemas.microsoft.com/office/powerpoint/2010/main" val="372968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authentication is the process of verifying who someone is, whereas authorization is the process of verifying what specific applications, files, and data a user has access to</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Reject denial </a:t>
            </a:r>
            <a:endParaRPr lang="en-US" dirty="0"/>
          </a:p>
        </p:txBody>
      </p:sp>
      <p:sp>
        <p:nvSpPr>
          <p:cNvPr id="4" name="Slide Number Placeholder 3"/>
          <p:cNvSpPr>
            <a:spLocks noGrp="1"/>
          </p:cNvSpPr>
          <p:nvPr>
            <p:ph type="sldNum" sz="quarter" idx="10"/>
          </p:nvPr>
        </p:nvSpPr>
        <p:spPr/>
        <p:txBody>
          <a:bodyPr/>
          <a:lstStyle/>
          <a:p>
            <a:fld id="{EA7EEC5A-F870-42E0-9BEC-FCE5075CD1FB}" type="slidenum">
              <a:rPr lang="en-US" smtClean="0"/>
              <a:t>5</a:t>
            </a:fld>
            <a:endParaRPr lang="en-US"/>
          </a:p>
        </p:txBody>
      </p:sp>
    </p:spTree>
    <p:extLst>
      <p:ext uri="{BB962C8B-B14F-4D97-AF65-F5344CB8AC3E}">
        <p14:creationId xmlns:p14="http://schemas.microsoft.com/office/powerpoint/2010/main" val="3966821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DC3BD656-D8C9-4520-9EE2-6B59EA0F1B6E}" type="slidenum">
              <a:rPr lang="en-US" smtClean="0">
                <a:latin typeface="Arial" charset="0"/>
              </a:rPr>
              <a:pPr/>
              <a:t>12</a:t>
            </a:fld>
            <a:endParaRPr lang="en-US">
              <a:latin typeface="Arial"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r>
              <a:rPr lang="en-US" b="1" i="1" dirty="0">
                <a:latin typeface="Arial" charset="0"/>
                <a:cs typeface="Times New Roman" pitchFamily="18" charset="0"/>
              </a:rPr>
              <a:t>Teaching tip</a:t>
            </a:r>
          </a:p>
          <a:p>
            <a:pPr eaLnBrk="1" hangingPunct="1"/>
            <a:r>
              <a:rPr lang="en-US" dirty="0">
                <a:latin typeface="Arial" charset="0"/>
                <a:cs typeface="Times" pitchFamily="18" charset="0"/>
              </a:rPr>
              <a:t>The move Hackers includes scenes demonstrating most of these crimes in action.</a:t>
            </a:r>
            <a:r>
              <a:rPr lang="en-US" dirty="0">
                <a:latin typeface="Arial" charset="0"/>
              </a:rPr>
              <a:t> </a:t>
            </a:r>
          </a:p>
        </p:txBody>
      </p:sp>
    </p:spTree>
    <p:extLst>
      <p:ext uri="{BB962C8B-B14F-4D97-AF65-F5344CB8AC3E}">
        <p14:creationId xmlns:p14="http://schemas.microsoft.com/office/powerpoint/2010/main" val="821668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DC3BD656-D8C9-4520-9EE2-6B59EA0F1B6E}" type="slidenum">
              <a:rPr lang="en-US" smtClean="0">
                <a:latin typeface="Arial" charset="0"/>
              </a:rPr>
              <a:pPr/>
              <a:t>13</a:t>
            </a:fld>
            <a:endParaRPr lang="en-US">
              <a:latin typeface="Arial"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r>
              <a:rPr lang="en-US" b="1" i="1" dirty="0">
                <a:latin typeface="Arial" charset="0"/>
                <a:cs typeface="Times New Roman" pitchFamily="18" charset="0"/>
              </a:rPr>
              <a:t>Teaching tip</a:t>
            </a:r>
          </a:p>
          <a:p>
            <a:pPr eaLnBrk="1" hangingPunct="1"/>
            <a:r>
              <a:rPr lang="en-US" dirty="0">
                <a:latin typeface="Arial" charset="0"/>
                <a:cs typeface="Times" pitchFamily="18" charset="0"/>
              </a:rPr>
              <a:t>The move Hackers includes scenes demonstrating most of these crimes in action.</a:t>
            </a:r>
            <a:r>
              <a:rPr lang="en-US" dirty="0">
                <a:latin typeface="Arial" charset="0"/>
              </a:rPr>
              <a:t> </a:t>
            </a:r>
          </a:p>
        </p:txBody>
      </p:sp>
    </p:spTree>
    <p:extLst>
      <p:ext uri="{BB962C8B-B14F-4D97-AF65-F5344CB8AC3E}">
        <p14:creationId xmlns:p14="http://schemas.microsoft.com/office/powerpoint/2010/main" val="818530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1BF6800D-6CB3-4C54-8E2E-9655F36C46C5}" type="slidenum">
              <a:rPr lang="en-US" smtClean="0">
                <a:latin typeface="Arial" charset="0"/>
              </a:rPr>
              <a:pPr/>
              <a:t>15</a:t>
            </a:fld>
            <a:endParaRPr lang="en-US">
              <a:latin typeface="Arial"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latin typeface="Arial" charset="0"/>
            </a:endParaRPr>
          </a:p>
        </p:txBody>
      </p:sp>
    </p:spTree>
    <p:extLst>
      <p:ext uri="{BB962C8B-B14F-4D97-AF65-F5344CB8AC3E}">
        <p14:creationId xmlns:p14="http://schemas.microsoft.com/office/powerpoint/2010/main" val="2099940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248F4CB4-6896-45C3-AB5D-4D4F4FCDC314}" type="slidenum">
              <a:rPr lang="en-US" smtClean="0">
                <a:latin typeface="Arial" charset="0"/>
              </a:rPr>
              <a:pPr/>
              <a:t>19</a:t>
            </a:fld>
            <a:endParaRPr lang="en-US">
              <a:latin typeface="Arial"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r>
              <a:rPr lang="en-US" b="1" i="1">
                <a:latin typeface="Arial" charset="0"/>
                <a:cs typeface="Times New Roman" pitchFamily="18" charset="0"/>
              </a:rPr>
              <a:t>Teaching tip</a:t>
            </a:r>
          </a:p>
          <a:p>
            <a:pPr eaLnBrk="1" hangingPunct="1"/>
            <a:r>
              <a:rPr lang="en-US">
                <a:latin typeface="Arial" charset="0"/>
                <a:cs typeface="Times" pitchFamily="18" charset="0"/>
              </a:rPr>
              <a:t>Visit www.apc.com for information regarding UPS solutions.</a:t>
            </a:r>
            <a:r>
              <a:rPr lang="en-US">
                <a:latin typeface="Arial" charset="0"/>
              </a:rPr>
              <a:t> </a:t>
            </a:r>
          </a:p>
          <a:p>
            <a:pPr eaLnBrk="1" hangingPunct="1"/>
            <a:endParaRPr lang="en-US">
              <a:latin typeface="Arial" charset="0"/>
            </a:endParaRPr>
          </a:p>
          <a:p>
            <a:pPr eaLnBrk="1" hangingPunct="1"/>
            <a:r>
              <a:rPr lang="en-US" b="1" i="1">
                <a:latin typeface="Arial" charset="0"/>
                <a:cs typeface="Times New Roman" pitchFamily="18" charset="0"/>
              </a:rPr>
              <a:t>Teaching tip</a:t>
            </a:r>
          </a:p>
          <a:p>
            <a:pPr eaLnBrk="1" hangingPunct="1"/>
            <a:r>
              <a:rPr lang="en-US">
                <a:latin typeface="Arial" charset="0"/>
                <a:cs typeface="Times" pitchFamily="18" charset="0"/>
              </a:rPr>
              <a:t>Larger installations use generators to protect networks. Hospitals, grocery stores and insurance companies may all use generators. Quite often the power solution is a combination of battery and generator. The batteries run long enough for the generators to start and stabilize. Then the batteries stop and the generators provide power to the facility.</a:t>
            </a:r>
            <a:r>
              <a:rPr lang="en-US">
                <a:latin typeface="Arial" charset="0"/>
              </a:rPr>
              <a:t> </a:t>
            </a:r>
          </a:p>
        </p:txBody>
      </p:sp>
    </p:spTree>
    <p:extLst>
      <p:ext uri="{BB962C8B-B14F-4D97-AF65-F5344CB8AC3E}">
        <p14:creationId xmlns:p14="http://schemas.microsoft.com/office/powerpoint/2010/main" val="1138012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248F4CB4-6896-45C3-AB5D-4D4F4FCDC314}" type="slidenum">
              <a:rPr lang="en-US" smtClean="0">
                <a:latin typeface="Arial" charset="0"/>
              </a:rPr>
              <a:pPr/>
              <a:t>20</a:t>
            </a:fld>
            <a:endParaRPr lang="en-US">
              <a:latin typeface="Arial"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r>
              <a:rPr lang="en-US" b="1" i="1">
                <a:latin typeface="Arial" charset="0"/>
                <a:cs typeface="Times New Roman" pitchFamily="18" charset="0"/>
              </a:rPr>
              <a:t>Teaching tip</a:t>
            </a:r>
          </a:p>
          <a:p>
            <a:pPr eaLnBrk="1" hangingPunct="1"/>
            <a:r>
              <a:rPr lang="en-US">
                <a:latin typeface="Arial" charset="0"/>
                <a:cs typeface="Times" pitchFamily="18" charset="0"/>
              </a:rPr>
              <a:t>Visit www.apc.com for information regarding UPS solutions.</a:t>
            </a:r>
            <a:r>
              <a:rPr lang="en-US">
                <a:latin typeface="Arial" charset="0"/>
              </a:rPr>
              <a:t> </a:t>
            </a:r>
          </a:p>
          <a:p>
            <a:pPr eaLnBrk="1" hangingPunct="1"/>
            <a:endParaRPr lang="en-US">
              <a:latin typeface="Arial" charset="0"/>
            </a:endParaRPr>
          </a:p>
          <a:p>
            <a:pPr eaLnBrk="1" hangingPunct="1"/>
            <a:r>
              <a:rPr lang="en-US" b="1" i="1">
                <a:latin typeface="Arial" charset="0"/>
                <a:cs typeface="Times New Roman" pitchFamily="18" charset="0"/>
              </a:rPr>
              <a:t>Teaching tip</a:t>
            </a:r>
          </a:p>
          <a:p>
            <a:pPr eaLnBrk="1" hangingPunct="1"/>
            <a:r>
              <a:rPr lang="en-US">
                <a:latin typeface="Arial" charset="0"/>
                <a:cs typeface="Times" pitchFamily="18" charset="0"/>
              </a:rPr>
              <a:t>Larger installations use generators to protect networks. Hospitals, grocery stores and insurance companies may all use generators. Quite often the power solution is a combination of battery and generator. The batteries run long enough for the generators to start and stabilize. Then the batteries stop and the generators provide power to the facility.</a:t>
            </a:r>
            <a:r>
              <a:rPr lang="en-US">
                <a:latin typeface="Arial" charset="0"/>
              </a:rPr>
              <a:t> </a:t>
            </a:r>
          </a:p>
        </p:txBody>
      </p:sp>
    </p:spTree>
    <p:extLst>
      <p:ext uri="{BB962C8B-B14F-4D97-AF65-F5344CB8AC3E}">
        <p14:creationId xmlns:p14="http://schemas.microsoft.com/office/powerpoint/2010/main" val="295123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160DAD2B-1554-4EA1-A155-7A5768FD6453}" type="slidenum">
              <a:rPr lang="en-US" smtClean="0">
                <a:latin typeface="Arial" charset="0"/>
              </a:rPr>
              <a:pPr/>
              <a:t>24</a:t>
            </a:fld>
            <a:endParaRPr lang="en-US">
              <a:latin typeface="Arial"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r>
              <a:rPr lang="en-US" b="1" i="1">
                <a:latin typeface="Arial" charset="0"/>
                <a:cs typeface="Times New Roman" pitchFamily="18" charset="0"/>
              </a:rPr>
              <a:t>Discussion point</a:t>
            </a:r>
          </a:p>
          <a:p>
            <a:pPr eaLnBrk="1" hangingPunct="1"/>
            <a:r>
              <a:rPr lang="en-US">
                <a:latin typeface="Arial" charset="0"/>
                <a:cs typeface="Times" pitchFamily="18" charset="0"/>
              </a:rPr>
              <a:t>In 2004 Hurricane Ivan caused massive damage to Florida and several other states. Network administrations in Florida are used to planning for hurricanes. However, computers in Southeastern Pennsylvania suffered massive loss of data due to Ivan. How culpable are the administrators in PA who did not plan for Ivan?</a:t>
            </a:r>
            <a:r>
              <a:rPr lang="en-US">
                <a:latin typeface="Arial" charset="0"/>
              </a:rPr>
              <a:t> </a:t>
            </a:r>
          </a:p>
        </p:txBody>
      </p:sp>
    </p:spTree>
    <p:extLst>
      <p:ext uri="{BB962C8B-B14F-4D97-AF65-F5344CB8AC3E}">
        <p14:creationId xmlns:p14="http://schemas.microsoft.com/office/powerpoint/2010/main" val="3420652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Integrated: </a:t>
            </a:r>
            <a:r>
              <a:rPr lang="en-US" sz="1200" spc="-15" dirty="0">
                <a:latin typeface="Carlito"/>
                <a:cs typeface="Carlito"/>
              </a:rPr>
              <a:t>Inventory </a:t>
            </a:r>
            <a:r>
              <a:rPr lang="en-US" sz="1200" dirty="0">
                <a:latin typeface="Carlito"/>
                <a:cs typeface="Carlito"/>
              </a:rPr>
              <a:t>and </a:t>
            </a:r>
            <a:r>
              <a:rPr lang="en-US" sz="1200" spc="-10" dirty="0">
                <a:latin typeface="Carlito"/>
                <a:cs typeface="Carlito"/>
              </a:rPr>
              <a:t>Product </a:t>
            </a:r>
            <a:r>
              <a:rPr lang="en-US" sz="1200" spc="-5" dirty="0">
                <a:latin typeface="Carlito"/>
                <a:cs typeface="Carlito"/>
              </a:rPr>
              <a:t>Management</a:t>
            </a:r>
            <a:r>
              <a:rPr lang="en-US" sz="1200" spc="-80" dirty="0">
                <a:latin typeface="Carlito"/>
                <a:cs typeface="Carlito"/>
              </a:rPr>
              <a:t> </a:t>
            </a:r>
            <a:r>
              <a:rPr lang="en-US" sz="1200" spc="-15" dirty="0">
                <a:latin typeface="Carlito"/>
                <a:cs typeface="Carlito"/>
              </a:rPr>
              <a:t>Systems</a:t>
            </a:r>
            <a:endParaRPr lang="en-US" sz="1200" dirty="0">
              <a:latin typeface="Carlito"/>
              <a:cs typeface="Carlito"/>
            </a:endParaRPr>
          </a:p>
          <a:p>
            <a:endParaRPr lang="en-US" dirty="0"/>
          </a:p>
        </p:txBody>
      </p:sp>
      <p:sp>
        <p:nvSpPr>
          <p:cNvPr id="4" name="Slide Number Placeholder 3"/>
          <p:cNvSpPr>
            <a:spLocks noGrp="1"/>
          </p:cNvSpPr>
          <p:nvPr>
            <p:ph type="sldNum" sz="quarter" idx="10"/>
          </p:nvPr>
        </p:nvSpPr>
        <p:spPr/>
        <p:txBody>
          <a:bodyPr/>
          <a:lstStyle/>
          <a:p>
            <a:fld id="{05C7BA28-8807-43C5-99C4-A55965820A4C}" type="slidenum">
              <a:rPr lang="en-US" smtClean="0"/>
              <a:pPr/>
              <a:t>40</a:t>
            </a:fld>
            <a:endParaRPr lang="en-US"/>
          </a:p>
        </p:txBody>
      </p:sp>
    </p:spTree>
    <p:extLst>
      <p:ext uri="{BB962C8B-B14F-4D97-AF65-F5344CB8AC3E}">
        <p14:creationId xmlns:p14="http://schemas.microsoft.com/office/powerpoint/2010/main" val="519668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dirty="0"/>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dirty="0"/>
              <a:t>Click to edit Master subtitle style</a:t>
            </a:r>
          </a:p>
        </p:txBody>
      </p:sp>
      <p:sp>
        <p:nvSpPr>
          <p:cNvPr id="4" name="Date Placeholder 3"/>
          <p:cNvSpPr>
            <a:spLocks noGrp="1"/>
          </p:cNvSpPr>
          <p:nvPr>
            <p:ph type="dt" sz="half" idx="10"/>
          </p:nvPr>
        </p:nvSpPr>
        <p:spPr/>
        <p:txBody>
          <a:bodyPr/>
          <a:lstStyle/>
          <a:p>
            <a:fld id="{6D0A0426-1E93-4650-A475-F448298E202D}" type="datetimeFigureOut">
              <a:rPr lang="en-US" smtClean="0"/>
              <a:pPr/>
              <a:t>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0A0426-1E93-4650-A475-F448298E202D}" type="datetimeFigureOut">
              <a:rPr lang="en-US" smtClean="0"/>
              <a:pPr/>
              <a:t>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D0A0426-1E93-4650-A475-F448298E202D}" type="datetimeFigureOut">
              <a:rPr lang="en-US" smtClean="0"/>
              <a:pPr/>
              <a:t>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D0A0426-1E93-4650-A475-F448298E202D}" type="datetimeFigureOut">
              <a:rPr lang="en-US" smtClean="0"/>
              <a:pPr/>
              <a:t>11/5/24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6D0A0426-1E93-4650-A475-F448298E202D}" type="datetimeFigureOut">
              <a:rPr lang="en-US" smtClean="0"/>
              <a:pPr/>
              <a:t>11/5/24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D0A0426-1E93-4650-A475-F448298E202D}" type="datetimeFigureOut">
              <a:rPr lang="en-US" smtClean="0"/>
              <a:pPr/>
              <a:t>11/5/24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A0426-1E93-4650-A475-F448298E202D}" type="datetimeFigureOut">
              <a:rPr lang="en-US" smtClean="0"/>
              <a:pPr/>
              <a:t>11/5/24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D0A0426-1E93-4650-A475-F448298E202D}" type="datetimeFigureOut">
              <a:rPr lang="en-US" smtClean="0"/>
              <a:pPr/>
              <a:t>11/5/24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B2727-650B-418F-B6A3-9EC51F60F0ED}"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6D0A0426-1E93-4650-A475-F448298E202D}" type="datetimeFigureOut">
              <a:rPr lang="en-US" smtClean="0"/>
              <a:pPr/>
              <a:t>11/5/24</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22DB2727-650B-418F-B6A3-9EC51F60F0E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0A0426-1E93-4650-A475-F448298E202D}" type="datetimeFigureOut">
              <a:rPr lang="en-US" smtClean="0"/>
              <a:pPr/>
              <a:t>11/5/24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dirty="0"/>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D0A0426-1E93-4650-A475-F448298E202D}" type="datetimeFigureOut">
              <a:rPr lang="en-US" smtClean="0"/>
              <a:pPr/>
              <a:t>11/5/24</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22DB2727-650B-418F-B6A3-9EC51F60F0E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6D0A0426-1E93-4650-A475-F448298E202D}" type="datetimeFigureOut">
              <a:rPr lang="en-US" smtClean="0"/>
              <a:pPr/>
              <a:t>11/5/24</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22DB2727-650B-418F-B6A3-9EC51F60F0E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6.jpe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CSC 101 – Introduction to Computing</a:t>
            </a:r>
          </a:p>
        </p:txBody>
      </p:sp>
      <p:sp>
        <p:nvSpPr>
          <p:cNvPr id="3" name="Subtitle 2"/>
          <p:cNvSpPr>
            <a:spLocks noGrp="1"/>
          </p:cNvSpPr>
          <p:nvPr>
            <p:ph type="subTitle" idx="1"/>
          </p:nvPr>
        </p:nvSpPr>
        <p:spPr/>
        <p:txBody>
          <a:bodyPr/>
          <a:lstStyle/>
          <a:p>
            <a:r>
              <a:rPr lang="en-US" dirty="0"/>
              <a:t>Lecture 13 (Morley </a:t>
            </a:r>
            <a:r>
              <a:rPr lang="en-US" dirty="0" err="1"/>
              <a:t>Ch</a:t>
            </a:r>
            <a:r>
              <a:rPr lang="en-US" dirty="0"/>
              <a:t> 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normAutofit/>
          </a:bodyPr>
          <a:lstStyle/>
          <a:p>
            <a:r>
              <a:rPr lang="en-US" dirty="0"/>
              <a:t>Basic Security Concepts</a:t>
            </a:r>
          </a:p>
          <a:p>
            <a:r>
              <a:rPr lang="en-US" dirty="0"/>
              <a:t>Threats to User</a:t>
            </a:r>
          </a:p>
          <a:p>
            <a:r>
              <a:rPr lang="en-US" dirty="0"/>
              <a:t>Threats to Hardware</a:t>
            </a:r>
          </a:p>
          <a:p>
            <a:r>
              <a:rPr lang="en-US" dirty="0"/>
              <a:t>Threats to Data</a:t>
            </a:r>
          </a:p>
          <a:p>
            <a:r>
              <a:rPr lang="en-US" dirty="0"/>
              <a:t>Counter Measures</a:t>
            </a:r>
            <a:endParaRPr lang="en-GB" dirty="0"/>
          </a:p>
        </p:txBody>
      </p:sp>
      <p:sp>
        <p:nvSpPr>
          <p:cNvPr id="5" name="object 5"/>
          <p:cNvSpPr txBox="1">
            <a:spLocks noGrp="1"/>
          </p:cNvSpPr>
          <p:nvPr>
            <p:ph type="sldNum" sz="quarter" idx="12"/>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a:t>
            </a:fld>
            <a:endParaRPr spc="-165" dirty="0"/>
          </a:p>
        </p:txBody>
      </p:sp>
      <p:sp>
        <p:nvSpPr>
          <p:cNvPr id="7" name="Title 6"/>
          <p:cNvSpPr>
            <a:spLocks noGrp="1"/>
          </p:cNvSpPr>
          <p:nvPr>
            <p:ph type="title"/>
          </p:nvPr>
        </p:nvSpPr>
        <p:spPr/>
        <p:txBody>
          <a:bodyPr/>
          <a:lstStyle/>
          <a:p>
            <a:r>
              <a:rPr lang="en-US" dirty="0"/>
              <a:t>Outline</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Security</a:t>
            </a:r>
          </a:p>
        </p:txBody>
      </p:sp>
      <p:sp>
        <p:nvSpPr>
          <p:cNvPr id="3" name="Content Placeholder 2"/>
          <p:cNvSpPr>
            <a:spLocks noGrp="1"/>
          </p:cNvSpPr>
          <p:nvPr>
            <p:ph idx="1"/>
          </p:nvPr>
        </p:nvSpPr>
        <p:spPr/>
        <p:txBody>
          <a:bodyPr>
            <a:normAutofit/>
          </a:bodyPr>
          <a:lstStyle/>
          <a:p>
            <a:r>
              <a:rPr lang="en-US" dirty="0">
                <a:latin typeface="Calibri" panose="020F0502020204030204" pitchFamily="34" charset="0"/>
              </a:rPr>
              <a:t>There are a number of security concerns related to computers that users should be concerned about, including:</a:t>
            </a:r>
          </a:p>
          <a:p>
            <a:pPr marL="411480" lvl="1" indent="0">
              <a:buNone/>
            </a:pPr>
            <a:r>
              <a:rPr lang="en-US" dirty="0">
                <a:latin typeface="Arial" panose="020B0604020202020204" pitchFamily="34" charset="0"/>
              </a:rPr>
              <a:t>– </a:t>
            </a:r>
            <a:r>
              <a:rPr lang="en-US" dirty="0">
                <a:latin typeface="Calibri" panose="020F0502020204030204" pitchFamily="34" charset="0"/>
              </a:rPr>
              <a:t>Having a computer or other device stolen</a:t>
            </a:r>
          </a:p>
          <a:p>
            <a:pPr marL="411480" lvl="1" indent="0">
              <a:buNone/>
            </a:pPr>
            <a:r>
              <a:rPr lang="en-US" dirty="0">
                <a:latin typeface="Arial" panose="020B0604020202020204" pitchFamily="34" charset="0"/>
              </a:rPr>
              <a:t>– </a:t>
            </a:r>
            <a:r>
              <a:rPr lang="en-US" dirty="0">
                <a:latin typeface="Calibri" panose="020F0502020204030204" pitchFamily="34" charset="0"/>
              </a:rPr>
              <a:t>Losing important documents</a:t>
            </a:r>
          </a:p>
          <a:p>
            <a:pPr marL="411480" lvl="1" indent="0">
              <a:buNone/>
            </a:pPr>
            <a:r>
              <a:rPr lang="en-US" dirty="0">
                <a:latin typeface="Arial" panose="020B0604020202020204" pitchFamily="34" charset="0"/>
              </a:rPr>
              <a:t>– </a:t>
            </a:r>
            <a:r>
              <a:rPr lang="en-US" dirty="0">
                <a:latin typeface="Calibri" panose="020F0502020204030204" pitchFamily="34" charset="0"/>
              </a:rPr>
              <a:t>Losing a smartphone containing contacts and other important data</a:t>
            </a:r>
          </a:p>
          <a:p>
            <a:pPr marL="411480" lvl="1" indent="0">
              <a:buNone/>
            </a:pPr>
            <a:r>
              <a:rPr lang="en-US" dirty="0">
                <a:latin typeface="Arial" panose="020B0604020202020204" pitchFamily="34" charset="0"/>
              </a:rPr>
              <a:t>– </a:t>
            </a:r>
            <a:r>
              <a:rPr lang="en-US" dirty="0">
                <a:latin typeface="Calibri" panose="020F0502020204030204" pitchFamily="34" charset="0"/>
              </a:rPr>
              <a:t>Buying pirated or counterfeited products</a:t>
            </a:r>
            <a:endParaRPr lang="en-US" dirty="0"/>
          </a:p>
        </p:txBody>
      </p:sp>
    </p:spTree>
    <p:extLst>
      <p:ext uri="{BB962C8B-B14F-4D97-AF65-F5344CB8AC3E}">
        <p14:creationId xmlns:p14="http://schemas.microsoft.com/office/powerpoint/2010/main" val="4286558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dirty="0"/>
              <a:t>Basic Security Terminology</a:t>
            </a:r>
          </a:p>
        </p:txBody>
      </p:sp>
      <p:sp>
        <p:nvSpPr>
          <p:cNvPr id="9219" name="Content Placeholder 2"/>
          <p:cNvSpPr>
            <a:spLocks noGrp="1"/>
          </p:cNvSpPr>
          <p:nvPr>
            <p:ph idx="1"/>
          </p:nvPr>
        </p:nvSpPr>
        <p:spPr>
          <a:xfrm>
            <a:off x="457200" y="1524000"/>
            <a:ext cx="8229600" cy="4953000"/>
          </a:xfrm>
        </p:spPr>
        <p:txBody>
          <a:bodyPr>
            <a:normAutofit fontScale="92500" lnSpcReduction="20000"/>
          </a:bodyPr>
          <a:lstStyle/>
          <a:p>
            <a:pPr>
              <a:lnSpc>
                <a:spcPct val="150000"/>
              </a:lnSpc>
            </a:pPr>
            <a:r>
              <a:rPr lang="en-US" altLang="en-US" sz="2400" dirty="0"/>
              <a:t>Vulnerability</a:t>
            </a:r>
          </a:p>
          <a:p>
            <a:pPr lvl="1">
              <a:lnSpc>
                <a:spcPct val="150000"/>
              </a:lnSpc>
            </a:pPr>
            <a:r>
              <a:rPr lang="en-GB" altLang="en-US" sz="2000" dirty="0"/>
              <a:t>Weakness in the system </a:t>
            </a:r>
            <a:r>
              <a:rPr lang="en-US" altLang="en-US" sz="2000" dirty="0"/>
              <a:t>that can be exploited to do harm e.g. unlocked car.</a:t>
            </a:r>
            <a:endParaRPr lang="en-US" altLang="en-US" sz="2400" dirty="0"/>
          </a:p>
          <a:p>
            <a:pPr>
              <a:lnSpc>
                <a:spcPct val="150000"/>
              </a:lnSpc>
            </a:pPr>
            <a:r>
              <a:rPr lang="en-US" altLang="en-US" sz="2400" dirty="0"/>
              <a:t>Threat</a:t>
            </a:r>
          </a:p>
          <a:p>
            <a:pPr lvl="1">
              <a:lnSpc>
                <a:spcPct val="150000"/>
              </a:lnSpc>
            </a:pPr>
            <a:r>
              <a:rPr lang="en-GB" altLang="en-US" sz="2000" dirty="0"/>
              <a:t>Set of circumstances that has the potential to cause loss or harm</a:t>
            </a:r>
          </a:p>
          <a:p>
            <a:pPr lvl="1">
              <a:lnSpc>
                <a:spcPct val="150000"/>
              </a:lnSpc>
            </a:pPr>
            <a:r>
              <a:rPr lang="en-US" altLang="en-US" sz="2000" dirty="0"/>
              <a:t>Anything that can cause harm e.g. thief, a virus, earthquake.</a:t>
            </a:r>
          </a:p>
          <a:p>
            <a:pPr>
              <a:lnSpc>
                <a:spcPct val="150000"/>
              </a:lnSpc>
            </a:pPr>
            <a:r>
              <a:rPr lang="en-US" altLang="en-US" sz="2400" dirty="0"/>
              <a:t>Attack</a:t>
            </a:r>
          </a:p>
          <a:p>
            <a:pPr lvl="1">
              <a:lnSpc>
                <a:spcPct val="150000"/>
              </a:lnSpc>
            </a:pPr>
            <a:r>
              <a:rPr lang="en-GB" altLang="en-US" sz="2000" dirty="0"/>
              <a:t>When an entity exploits a vulnerability on system</a:t>
            </a:r>
            <a:r>
              <a:rPr lang="en-US" sz="2000" dirty="0"/>
              <a:t> e.g. car stolen, Denial of Service.</a:t>
            </a:r>
          </a:p>
          <a:p>
            <a:pPr>
              <a:lnSpc>
                <a:spcPct val="150000"/>
              </a:lnSpc>
            </a:pPr>
            <a:r>
              <a:rPr lang="en-US" altLang="en-US" sz="2400" dirty="0"/>
              <a:t>Countermeasure</a:t>
            </a:r>
            <a:endParaRPr lang="en-US" altLang="en-US" sz="2800" dirty="0"/>
          </a:p>
          <a:p>
            <a:pPr lvl="1">
              <a:lnSpc>
                <a:spcPct val="150000"/>
              </a:lnSpc>
            </a:pPr>
            <a:r>
              <a:rPr lang="en-US" altLang="en-US" sz="2000" dirty="0"/>
              <a:t>Steps taken to ward off threat e.g. car lock, firewall,.</a:t>
            </a:r>
          </a:p>
        </p:txBody>
      </p:sp>
    </p:spTree>
    <p:extLst>
      <p:ext uri="{BB962C8B-B14F-4D97-AF65-F5344CB8AC3E}">
        <p14:creationId xmlns:p14="http://schemas.microsoft.com/office/powerpoint/2010/main" val="1198141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dirty="0"/>
              <a:t>Basic Security Requirements</a:t>
            </a:r>
          </a:p>
        </p:txBody>
      </p:sp>
      <p:sp>
        <p:nvSpPr>
          <p:cNvPr id="9219" name="Content Placeholder 2"/>
          <p:cNvSpPr>
            <a:spLocks noGrp="1"/>
          </p:cNvSpPr>
          <p:nvPr>
            <p:ph idx="1"/>
          </p:nvPr>
        </p:nvSpPr>
        <p:spPr>
          <a:xfrm>
            <a:off x="457200" y="1524000"/>
            <a:ext cx="8229600" cy="4800600"/>
          </a:xfrm>
        </p:spPr>
        <p:txBody>
          <a:bodyPr>
            <a:normAutofit fontScale="92500" lnSpcReduction="20000"/>
          </a:bodyPr>
          <a:lstStyle/>
          <a:p>
            <a:pPr marL="342900" lvl="1" indent="-342900">
              <a:spcBef>
                <a:spcPts val="0"/>
              </a:spcBef>
              <a:buClr>
                <a:schemeClr val="accent6">
                  <a:lumMod val="75000"/>
                </a:schemeClr>
              </a:buClr>
              <a:defRPr/>
            </a:pPr>
            <a:r>
              <a:rPr lang="en-US" dirty="0">
                <a:solidFill>
                  <a:schemeClr val="tx1"/>
                </a:solidFill>
              </a:rPr>
              <a:t>“CIA” triad of security requirements:</a:t>
            </a:r>
          </a:p>
          <a:p>
            <a:pPr marL="800100" lvl="2" indent="-342900">
              <a:spcBef>
                <a:spcPts val="0"/>
              </a:spcBef>
              <a:buClr>
                <a:schemeClr val="accent6">
                  <a:lumMod val="75000"/>
                </a:schemeClr>
              </a:buClr>
              <a:defRPr/>
            </a:pPr>
            <a:r>
              <a:rPr lang="en-US" dirty="0">
                <a:solidFill>
                  <a:schemeClr val="tx1">
                    <a:lumMod val="85000"/>
                    <a:lumOff val="15000"/>
                  </a:schemeClr>
                </a:solidFill>
              </a:rPr>
              <a:t>Confidentiality </a:t>
            </a:r>
          </a:p>
          <a:p>
            <a:pPr marL="1074420" lvl="3" indent="-342900">
              <a:spcBef>
                <a:spcPts val="0"/>
              </a:spcBef>
              <a:buClr>
                <a:schemeClr val="accent6">
                  <a:lumMod val="75000"/>
                </a:schemeClr>
              </a:buClr>
              <a:defRPr/>
            </a:pPr>
            <a:r>
              <a:rPr lang="en-US" dirty="0">
                <a:solidFill>
                  <a:schemeClr val="tx1">
                    <a:lumMod val="75000"/>
                    <a:lumOff val="25000"/>
                  </a:schemeClr>
                </a:solidFill>
              </a:rPr>
              <a:t>Only authorized person can read data</a:t>
            </a:r>
          </a:p>
          <a:p>
            <a:pPr marL="800100" lvl="2" indent="-342900">
              <a:spcBef>
                <a:spcPts val="0"/>
              </a:spcBef>
              <a:buClr>
                <a:schemeClr val="accent6">
                  <a:lumMod val="75000"/>
                </a:schemeClr>
              </a:buClr>
              <a:defRPr/>
            </a:pPr>
            <a:r>
              <a:rPr lang="en-US" dirty="0">
                <a:solidFill>
                  <a:schemeClr val="tx1">
                    <a:lumMod val="85000"/>
                    <a:lumOff val="15000"/>
                  </a:schemeClr>
                </a:solidFill>
              </a:rPr>
              <a:t>Integrity</a:t>
            </a:r>
          </a:p>
          <a:p>
            <a:pPr marL="1074420" lvl="3" indent="-342900">
              <a:spcBef>
                <a:spcPts val="0"/>
              </a:spcBef>
              <a:buClr>
                <a:schemeClr val="accent6">
                  <a:lumMod val="75000"/>
                </a:schemeClr>
              </a:buClr>
              <a:defRPr/>
            </a:pPr>
            <a:r>
              <a:rPr lang="en-US" dirty="0">
                <a:solidFill>
                  <a:schemeClr val="tx1">
                    <a:lumMod val="75000"/>
                    <a:lumOff val="25000"/>
                  </a:schemeClr>
                </a:solidFill>
              </a:rPr>
              <a:t>Data is not modified</a:t>
            </a:r>
          </a:p>
          <a:p>
            <a:pPr marL="800100" lvl="2" indent="-342900">
              <a:spcBef>
                <a:spcPts val="0"/>
              </a:spcBef>
              <a:buClr>
                <a:schemeClr val="accent6">
                  <a:lumMod val="75000"/>
                </a:schemeClr>
              </a:buClr>
              <a:defRPr/>
            </a:pPr>
            <a:r>
              <a:rPr lang="en-US" dirty="0">
                <a:solidFill>
                  <a:schemeClr val="tx1">
                    <a:lumMod val="85000"/>
                    <a:lumOff val="15000"/>
                  </a:schemeClr>
                </a:solidFill>
              </a:rPr>
              <a:t>Availability </a:t>
            </a:r>
          </a:p>
          <a:p>
            <a:pPr marL="1074420" lvl="3" indent="-342900">
              <a:spcBef>
                <a:spcPts val="0"/>
              </a:spcBef>
              <a:buClr>
                <a:schemeClr val="accent6">
                  <a:lumMod val="75000"/>
                </a:schemeClr>
              </a:buClr>
              <a:defRPr/>
            </a:pPr>
            <a:r>
              <a:rPr lang="en-US" dirty="0">
                <a:solidFill>
                  <a:schemeClr val="tx1">
                    <a:lumMod val="75000"/>
                    <a:lumOff val="25000"/>
                  </a:schemeClr>
                </a:solidFill>
              </a:rPr>
              <a:t>Resources are available when required</a:t>
            </a:r>
          </a:p>
          <a:p>
            <a:pPr marL="914400" lvl="3" indent="0" fontAlgn="auto">
              <a:spcBef>
                <a:spcPts val="0"/>
              </a:spcBef>
              <a:spcAft>
                <a:spcPts val="0"/>
              </a:spcAft>
              <a:buClr>
                <a:schemeClr val="accent6">
                  <a:lumMod val="75000"/>
                </a:schemeClr>
              </a:buClr>
              <a:buNone/>
              <a:defRPr/>
            </a:pPr>
            <a:endParaRPr lang="en-US" dirty="0"/>
          </a:p>
          <a:p>
            <a:pPr marL="342900" lvl="1" indent="-342900">
              <a:spcBef>
                <a:spcPts val="0"/>
              </a:spcBef>
              <a:buClr>
                <a:schemeClr val="accent6">
                  <a:lumMod val="75000"/>
                </a:schemeClr>
              </a:buClr>
              <a:defRPr/>
            </a:pPr>
            <a:r>
              <a:rPr lang="en-US" dirty="0">
                <a:solidFill>
                  <a:schemeClr val="tx1"/>
                </a:solidFill>
              </a:rPr>
              <a:t>Other core security requirements:</a:t>
            </a:r>
          </a:p>
          <a:p>
            <a:pPr marL="800100" lvl="2" indent="-342900">
              <a:spcBef>
                <a:spcPts val="0"/>
              </a:spcBef>
              <a:buClr>
                <a:schemeClr val="accent6">
                  <a:lumMod val="75000"/>
                </a:schemeClr>
              </a:buClr>
              <a:defRPr/>
            </a:pPr>
            <a:r>
              <a:rPr lang="en-US" dirty="0">
                <a:solidFill>
                  <a:schemeClr val="tx1">
                    <a:lumMod val="85000"/>
                    <a:lumOff val="15000"/>
                  </a:schemeClr>
                </a:solidFill>
              </a:rPr>
              <a:t>Authentication</a:t>
            </a:r>
          </a:p>
          <a:p>
            <a:pPr marL="1074420" lvl="3" indent="-342900">
              <a:spcBef>
                <a:spcPts val="0"/>
              </a:spcBef>
              <a:buClr>
                <a:schemeClr val="accent6">
                  <a:lumMod val="75000"/>
                </a:schemeClr>
              </a:buClr>
              <a:defRPr/>
            </a:pPr>
            <a:r>
              <a:rPr lang="en-US" dirty="0">
                <a:solidFill>
                  <a:schemeClr val="tx1">
                    <a:lumMod val="75000"/>
                    <a:lumOff val="25000"/>
                  </a:schemeClr>
                </a:solidFill>
              </a:rPr>
              <a:t>Proof of identity</a:t>
            </a:r>
          </a:p>
          <a:p>
            <a:pPr marL="800100" lvl="2" indent="-342900">
              <a:spcBef>
                <a:spcPts val="0"/>
              </a:spcBef>
              <a:buClr>
                <a:schemeClr val="accent6">
                  <a:lumMod val="75000"/>
                </a:schemeClr>
              </a:buClr>
              <a:defRPr/>
            </a:pPr>
            <a:r>
              <a:rPr lang="en-US" dirty="0">
                <a:solidFill>
                  <a:schemeClr val="tx1">
                    <a:lumMod val="75000"/>
                    <a:lumOff val="25000"/>
                  </a:schemeClr>
                </a:solidFill>
              </a:rPr>
              <a:t>Authorization</a:t>
            </a:r>
          </a:p>
          <a:p>
            <a:pPr marL="1074420" lvl="3" indent="-342900">
              <a:spcBef>
                <a:spcPts val="0"/>
              </a:spcBef>
              <a:buClr>
                <a:schemeClr val="accent6">
                  <a:lumMod val="75000"/>
                </a:schemeClr>
              </a:buClr>
              <a:defRPr/>
            </a:pPr>
            <a:r>
              <a:rPr lang="en-US" dirty="0">
                <a:solidFill>
                  <a:schemeClr val="tx1">
                    <a:lumMod val="75000"/>
                    <a:lumOff val="25000"/>
                  </a:schemeClr>
                </a:solidFill>
              </a:rPr>
              <a:t>Related to access control</a:t>
            </a:r>
          </a:p>
          <a:p>
            <a:pPr marL="800100" lvl="2" indent="-342900">
              <a:spcBef>
                <a:spcPts val="0"/>
              </a:spcBef>
              <a:buClr>
                <a:schemeClr val="accent6">
                  <a:lumMod val="75000"/>
                </a:schemeClr>
              </a:buClr>
              <a:defRPr/>
            </a:pPr>
            <a:r>
              <a:rPr lang="en-US" dirty="0">
                <a:solidFill>
                  <a:schemeClr val="tx1">
                    <a:lumMod val="85000"/>
                    <a:lumOff val="15000"/>
                  </a:schemeClr>
                </a:solidFill>
              </a:rPr>
              <a:t>Non-repudiation</a:t>
            </a:r>
          </a:p>
          <a:p>
            <a:pPr marL="1074420" lvl="3" indent="-342900">
              <a:spcBef>
                <a:spcPts val="0"/>
              </a:spcBef>
              <a:buClr>
                <a:schemeClr val="accent6">
                  <a:lumMod val="75000"/>
                </a:schemeClr>
              </a:buClr>
              <a:defRPr/>
            </a:pPr>
            <a:r>
              <a:rPr lang="en-US" dirty="0">
                <a:solidFill>
                  <a:schemeClr val="tx1">
                    <a:lumMod val="75000"/>
                    <a:lumOff val="25000"/>
                  </a:schemeClr>
                </a:solidFill>
              </a:rPr>
              <a:t>Assurance that a transferred message has been sent and received by the parties claiming to have sent and received the message respectively.</a:t>
            </a:r>
          </a:p>
        </p:txBody>
      </p:sp>
      <p:sp>
        <p:nvSpPr>
          <p:cNvPr id="2" name="AutoShape 2" descr="Image result for cia triad"/>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5361" y="1752600"/>
            <a:ext cx="2900039" cy="2438400"/>
          </a:xfrm>
          <a:prstGeom prst="rect">
            <a:avLst/>
          </a:prstGeom>
        </p:spPr>
      </p:pic>
    </p:spTree>
    <p:extLst>
      <p:ext uri="{BB962C8B-B14F-4D97-AF65-F5344CB8AC3E}">
        <p14:creationId xmlns:p14="http://schemas.microsoft.com/office/powerpoint/2010/main" val="2997604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t>Information security</a:t>
            </a:r>
            <a:endParaRPr lang="en-US" dirty="0"/>
          </a:p>
        </p:txBody>
      </p:sp>
      <p:sp>
        <p:nvSpPr>
          <p:cNvPr id="3" name="Content Placeholder 2"/>
          <p:cNvSpPr>
            <a:spLocks noGrp="1"/>
          </p:cNvSpPr>
          <p:nvPr>
            <p:ph sz="quarter" idx="1"/>
          </p:nvPr>
        </p:nvSpPr>
        <p:spPr/>
        <p:txBody>
          <a:bodyPr>
            <a:normAutofit/>
          </a:bodyPr>
          <a:lstStyle/>
          <a:p>
            <a:pPr marL="0" indent="0">
              <a:buNone/>
            </a:pPr>
            <a:r>
              <a:rPr lang="en-US" altLang="ko-KR" sz="2600" dirty="0"/>
              <a:t>Information security is the process of protecting information from unauthorized access, use, disclosure, destruction, modification, or disruption.</a:t>
            </a:r>
          </a:p>
          <a:p>
            <a:pPr marL="0" indent="0">
              <a:buNone/>
            </a:pPr>
            <a:endParaRPr lang="en-US" sz="2600" dirty="0"/>
          </a:p>
          <a:p>
            <a:pPr marL="0" indent="0" algn="ctr">
              <a:buNone/>
            </a:pPr>
            <a:r>
              <a:rPr lang="en-US" sz="2600" u="sng" dirty="0"/>
              <a:t>OR</a:t>
            </a:r>
          </a:p>
          <a:p>
            <a:pPr marL="0" indent="0" algn="ctr">
              <a:buNone/>
            </a:pPr>
            <a:endParaRPr lang="en-US" sz="2600" dirty="0"/>
          </a:p>
          <a:p>
            <a:pPr marL="0" lvl="1" indent="0">
              <a:spcBef>
                <a:spcPts val="600"/>
              </a:spcBef>
              <a:buClr>
                <a:schemeClr val="accent1"/>
              </a:buClr>
              <a:buNone/>
            </a:pPr>
            <a:r>
              <a:rPr lang="en-US" altLang="ko-KR" sz="2600" dirty="0">
                <a:solidFill>
                  <a:schemeClr val="tx1"/>
                </a:solidFill>
              </a:rPr>
              <a:t>Information security is protecting the </a:t>
            </a:r>
            <a:r>
              <a:rPr lang="en-US" altLang="ko-KR" sz="2600" b="1" dirty="0">
                <a:solidFill>
                  <a:schemeClr val="tx1"/>
                </a:solidFill>
              </a:rPr>
              <a:t>confidentiality</a:t>
            </a:r>
            <a:r>
              <a:rPr lang="en-US" altLang="ko-KR" sz="2600" dirty="0">
                <a:solidFill>
                  <a:schemeClr val="tx1"/>
                </a:solidFill>
              </a:rPr>
              <a:t>, </a:t>
            </a:r>
            <a:r>
              <a:rPr lang="en-US" altLang="ko-KR" sz="2600" b="1" dirty="0">
                <a:solidFill>
                  <a:schemeClr val="tx1"/>
                </a:solidFill>
              </a:rPr>
              <a:t>integrity</a:t>
            </a:r>
            <a:r>
              <a:rPr lang="en-US" altLang="ko-KR" sz="2600" dirty="0">
                <a:solidFill>
                  <a:schemeClr val="tx1"/>
                </a:solidFill>
              </a:rPr>
              <a:t> and </a:t>
            </a:r>
            <a:r>
              <a:rPr lang="en-US" altLang="ko-KR" sz="2600" b="1" dirty="0">
                <a:solidFill>
                  <a:schemeClr val="tx1"/>
                </a:solidFill>
              </a:rPr>
              <a:t>availability</a:t>
            </a:r>
            <a:r>
              <a:rPr lang="en-US" altLang="ko-KR" sz="2600" dirty="0">
                <a:solidFill>
                  <a:schemeClr val="tx1"/>
                </a:solidFill>
              </a:rPr>
              <a:t> of information </a:t>
            </a:r>
          </a:p>
          <a:p>
            <a:pPr marL="0" indent="0">
              <a:buNone/>
            </a:pPr>
            <a:endParaRPr lang="en-US" sz="2600" dirty="0"/>
          </a:p>
        </p:txBody>
      </p:sp>
    </p:spTree>
    <p:extLst>
      <p:ext uri="{BB962C8B-B14F-4D97-AF65-F5344CB8AC3E}">
        <p14:creationId xmlns:p14="http://schemas.microsoft.com/office/powerpoint/2010/main" val="967939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92344"/>
            <a:ext cx="7498080" cy="1143000"/>
          </a:xfrm>
        </p:spPr>
        <p:txBody>
          <a:bodyPr/>
          <a:lstStyle/>
          <a:p>
            <a:pPr algn="ctr"/>
            <a:r>
              <a:rPr lang="en-US" dirty="0"/>
              <a:t>Why Security?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2743200"/>
            <a:ext cx="3190875" cy="3068820"/>
          </a:xfrm>
          <a:prstGeom prst="rect">
            <a:avLst/>
          </a:prstGeom>
        </p:spPr>
      </p:pic>
    </p:spTree>
    <p:extLst>
      <p:ext uri="{BB962C8B-B14F-4D97-AF65-F5344CB8AC3E}">
        <p14:creationId xmlns:p14="http://schemas.microsoft.com/office/powerpoint/2010/main" val="3760162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430" t="25595" r="32176" b="33333"/>
          <a:stretch/>
        </p:blipFill>
        <p:spPr bwMode="auto">
          <a:xfrm>
            <a:off x="1402156" y="1676400"/>
            <a:ext cx="7589445"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0663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pic>
        <p:nvPicPr>
          <p:cNvPr id="4100" name="Picture 4" descr="CS111 Winter 2013 Lecture 17: Introduction to Secur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485899"/>
            <a:ext cx="6858000" cy="514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117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884" t="31547" r="23921" b="29735"/>
          <a:stretch/>
        </p:blipFill>
        <p:spPr bwMode="auto">
          <a:xfrm>
            <a:off x="1143000" y="1905000"/>
            <a:ext cx="7924800" cy="35066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3678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Threats</a:t>
            </a:r>
          </a:p>
        </p:txBody>
      </p:sp>
      <p:sp>
        <p:nvSpPr>
          <p:cNvPr id="3" name="Content Placeholder 2"/>
          <p:cNvSpPr>
            <a:spLocks noGrp="1"/>
          </p:cNvSpPr>
          <p:nvPr>
            <p:ph idx="1"/>
          </p:nvPr>
        </p:nvSpPr>
        <p:spPr/>
        <p:txBody>
          <a:bodyPr/>
          <a:lstStyle/>
          <a:p>
            <a:r>
              <a:rPr lang="en-US" dirty="0"/>
              <a:t>Threat to User</a:t>
            </a:r>
          </a:p>
          <a:p>
            <a:r>
              <a:rPr lang="en-US" dirty="0"/>
              <a:t>Threat to Hardware</a:t>
            </a:r>
          </a:p>
          <a:p>
            <a:r>
              <a:rPr lang="en-US" dirty="0"/>
              <a:t>Threat to Data</a:t>
            </a:r>
          </a:p>
        </p:txBody>
      </p:sp>
    </p:spTree>
    <p:extLst>
      <p:ext uri="{BB962C8B-B14F-4D97-AF65-F5344CB8AC3E}">
        <p14:creationId xmlns:p14="http://schemas.microsoft.com/office/powerpoint/2010/main" val="4003565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305800" cy="685800"/>
          </a:xfrm>
        </p:spPr>
        <p:txBody>
          <a:bodyPr>
            <a:normAutofit fontScale="90000"/>
          </a:bodyPr>
          <a:lstStyle/>
          <a:p>
            <a:pPr eaLnBrk="1" hangingPunct="1"/>
            <a:r>
              <a:rPr lang="en-US" dirty="0"/>
              <a:t>Threat to User</a:t>
            </a:r>
          </a:p>
        </p:txBody>
      </p:sp>
      <p:sp>
        <p:nvSpPr>
          <p:cNvPr id="9219" name="Rectangle 3"/>
          <p:cNvSpPr>
            <a:spLocks noGrp="1" noChangeArrowheads="1"/>
          </p:cNvSpPr>
          <p:nvPr>
            <p:ph idx="1"/>
          </p:nvPr>
        </p:nvSpPr>
        <p:spPr/>
        <p:txBody>
          <a:bodyPr>
            <a:normAutofit/>
          </a:bodyPr>
          <a:lstStyle/>
          <a:p>
            <a:pPr lvl="1"/>
            <a:r>
              <a:rPr lang="en-US" dirty="0"/>
              <a:t>Identity Theft</a:t>
            </a:r>
          </a:p>
          <a:p>
            <a:pPr lvl="1"/>
            <a:r>
              <a:rPr lang="en-US" dirty="0"/>
              <a:t>Loss of Privacy</a:t>
            </a:r>
          </a:p>
          <a:p>
            <a:pPr lvl="1"/>
            <a:r>
              <a:rPr lang="en-US" dirty="0"/>
              <a:t>Online Spying Tools</a:t>
            </a:r>
          </a:p>
          <a:p>
            <a:pPr lvl="1"/>
            <a:r>
              <a:rPr lang="en-US" dirty="0"/>
              <a:t>Online Theft</a:t>
            </a:r>
          </a:p>
          <a:p>
            <a:pPr lvl="1"/>
            <a:r>
              <a:rPr lang="en-US" dirty="0"/>
              <a:t>Online Fraud, &amp; Other Dot Cons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305800" cy="685800"/>
          </a:xfrm>
        </p:spPr>
        <p:txBody>
          <a:bodyPr>
            <a:normAutofit fontScale="90000"/>
          </a:bodyPr>
          <a:lstStyle/>
          <a:p>
            <a:pPr eaLnBrk="1" hangingPunct="1"/>
            <a:r>
              <a:rPr lang="en-US"/>
              <a:t>Identity Theft</a:t>
            </a:r>
          </a:p>
        </p:txBody>
      </p:sp>
      <p:sp>
        <p:nvSpPr>
          <p:cNvPr id="9219" name="Rectangle 3"/>
          <p:cNvSpPr>
            <a:spLocks noGrp="1" noChangeArrowheads="1"/>
          </p:cNvSpPr>
          <p:nvPr>
            <p:ph idx="1"/>
          </p:nvPr>
        </p:nvSpPr>
        <p:spPr/>
        <p:txBody>
          <a:bodyPr>
            <a:normAutofit fontScale="92500" lnSpcReduction="10000"/>
          </a:bodyPr>
          <a:lstStyle/>
          <a:p>
            <a:pPr eaLnBrk="1" hangingPunct="1"/>
            <a:r>
              <a:rPr lang="en-US" dirty="0"/>
              <a:t>Impersonation by private information to obtain documents and credit in your name</a:t>
            </a:r>
          </a:p>
          <a:p>
            <a:pPr lvl="1" eaLnBrk="1" hangingPunct="1"/>
            <a:r>
              <a:rPr lang="en-US" dirty="0"/>
              <a:t>Thief can ‘become’ the victim</a:t>
            </a:r>
          </a:p>
          <a:p>
            <a:pPr eaLnBrk="1" hangingPunct="1"/>
            <a:r>
              <a:rPr lang="en-US" dirty="0"/>
              <a:t>Reported incidents rising</a:t>
            </a:r>
          </a:p>
          <a:p>
            <a:pPr eaLnBrk="1" hangingPunct="1"/>
            <a:r>
              <a:rPr lang="en-US" dirty="0"/>
              <a:t>Methods of stealing information</a:t>
            </a:r>
          </a:p>
          <a:p>
            <a:pPr lvl="1" eaLnBrk="1" hangingPunct="1"/>
            <a:r>
              <a:rPr lang="en-US" dirty="0"/>
              <a:t>Shoulder surfing</a:t>
            </a:r>
          </a:p>
          <a:p>
            <a:pPr lvl="1" eaLnBrk="1" hangingPunct="1"/>
            <a:r>
              <a:rPr lang="en-US" dirty="0"/>
              <a:t>Snagging</a:t>
            </a:r>
          </a:p>
          <a:p>
            <a:pPr lvl="1" eaLnBrk="1" hangingPunct="1"/>
            <a:r>
              <a:rPr lang="en-US" dirty="0"/>
              <a:t>Dumpster diving</a:t>
            </a:r>
          </a:p>
          <a:p>
            <a:pPr lvl="1" eaLnBrk="1" hangingPunct="1"/>
            <a:r>
              <a:rPr lang="en-US" dirty="0"/>
              <a:t>Social engineering</a:t>
            </a:r>
          </a:p>
          <a:p>
            <a:pPr lvl="1" eaLnBrk="1" hangingPunct="1"/>
            <a:r>
              <a:rPr lang="en-US" dirty="0"/>
              <a:t>High-tech methods</a:t>
            </a:r>
          </a:p>
        </p:txBody>
      </p:sp>
      <p:pic>
        <p:nvPicPr>
          <p:cNvPr id="9220" name="Picture 4" descr="D:\My Documents\!books\norton im\chapter 14\dumpster.tif"/>
          <p:cNvPicPr>
            <a:picLocks noChangeAspect="1" noChangeArrowheads="1"/>
          </p:cNvPicPr>
          <p:nvPr/>
        </p:nvPicPr>
        <p:blipFill>
          <a:blip r:embed="rId3" cstate="print"/>
          <a:srcRect/>
          <a:stretch>
            <a:fillRect/>
          </a:stretch>
        </p:blipFill>
        <p:spPr bwMode="auto">
          <a:xfrm>
            <a:off x="4800600" y="4114800"/>
            <a:ext cx="3657600" cy="2214563"/>
          </a:xfrm>
          <a:prstGeom prst="rect">
            <a:avLst/>
          </a:prstGeom>
          <a:noFill/>
          <a:ln w="9525">
            <a:noFill/>
            <a:miter lim="800000"/>
            <a:headEnd/>
            <a:tailEnd/>
          </a:ln>
        </p:spPr>
      </p:pic>
    </p:spTree>
    <p:extLst>
      <p:ext uri="{BB962C8B-B14F-4D97-AF65-F5344CB8AC3E}">
        <p14:creationId xmlns:p14="http://schemas.microsoft.com/office/powerpoint/2010/main" val="3664029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304800"/>
            <a:ext cx="8305800" cy="685800"/>
          </a:xfrm>
        </p:spPr>
        <p:txBody>
          <a:bodyPr>
            <a:normAutofit fontScale="90000"/>
          </a:bodyPr>
          <a:lstStyle/>
          <a:p>
            <a:pPr eaLnBrk="1" hangingPunct="1"/>
            <a:r>
              <a:rPr lang="en-US"/>
              <a:t>Loss of privacy</a:t>
            </a:r>
          </a:p>
        </p:txBody>
      </p:sp>
      <p:sp>
        <p:nvSpPr>
          <p:cNvPr id="14339" name="Rectangle 3"/>
          <p:cNvSpPr>
            <a:spLocks noGrp="1" noChangeArrowheads="1"/>
          </p:cNvSpPr>
          <p:nvPr>
            <p:ph idx="1"/>
          </p:nvPr>
        </p:nvSpPr>
        <p:spPr/>
        <p:txBody>
          <a:bodyPr>
            <a:normAutofit fontScale="92500" lnSpcReduction="10000"/>
          </a:bodyPr>
          <a:lstStyle/>
          <a:p>
            <a:pPr eaLnBrk="1" hangingPunct="1"/>
            <a:r>
              <a:rPr lang="en-US" dirty="0"/>
              <a:t>Personal information is stored electronically</a:t>
            </a:r>
          </a:p>
          <a:p>
            <a:pPr eaLnBrk="1" hangingPunct="1"/>
            <a:r>
              <a:rPr lang="en-US" dirty="0"/>
              <a:t>Purchases are stored in a database</a:t>
            </a:r>
          </a:p>
          <a:p>
            <a:pPr lvl="1" eaLnBrk="1" hangingPunct="1"/>
            <a:r>
              <a:rPr lang="en-US" dirty="0"/>
              <a:t>Data is sold to other companies</a:t>
            </a:r>
          </a:p>
          <a:p>
            <a:pPr eaLnBrk="1" hangingPunct="1"/>
            <a:r>
              <a:rPr lang="en-US" dirty="0"/>
              <a:t>Public records on the Internet</a:t>
            </a:r>
          </a:p>
          <a:p>
            <a:pPr eaLnBrk="1" hangingPunct="1"/>
            <a:r>
              <a:rPr lang="en-US" dirty="0"/>
              <a:t>Internet use is monitored and logged</a:t>
            </a:r>
          </a:p>
          <a:p>
            <a:pPr lvl="1" eaLnBrk="1" hangingPunct="1"/>
            <a:r>
              <a:rPr lang="en-US" dirty="0"/>
              <a:t>monitoring activity can be carried out on your computer or a connected server</a:t>
            </a:r>
          </a:p>
          <a:p>
            <a:pPr lvl="1" eaLnBrk="1" hangingPunct="1"/>
            <a:r>
              <a:rPr lang="en-US" dirty="0"/>
              <a:t>Data about when you visited, what you looked at, and how long you stayed is used by most commercial Web sites “</a:t>
            </a:r>
            <a:r>
              <a:rPr lang="en-US" dirty="0">
                <a:solidFill>
                  <a:srgbClr val="0000CC"/>
                </a:solidFill>
              </a:rPr>
              <a:t>online profiling</a:t>
            </a:r>
            <a:r>
              <a:rPr lang="en-US" dirty="0"/>
              <a:t>”</a:t>
            </a:r>
          </a:p>
          <a:p>
            <a:pPr eaLnBrk="1" hangingPunct="1"/>
            <a:r>
              <a:rPr lang="en-US" dirty="0"/>
              <a:t>None of these techniques are illegal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33400" y="304800"/>
            <a:ext cx="8305800" cy="685800"/>
          </a:xfrm>
        </p:spPr>
        <p:txBody>
          <a:bodyPr>
            <a:normAutofit fontScale="90000"/>
          </a:bodyPr>
          <a:lstStyle/>
          <a:p>
            <a:pPr eaLnBrk="1" hangingPunct="1"/>
            <a:r>
              <a:rPr lang="en-US" dirty="0"/>
              <a:t>Online Spying</a:t>
            </a:r>
          </a:p>
        </p:txBody>
      </p:sp>
      <p:sp>
        <p:nvSpPr>
          <p:cNvPr id="11267" name="Rectangle 3"/>
          <p:cNvSpPr>
            <a:spLocks noGrp="1" noChangeArrowheads="1"/>
          </p:cNvSpPr>
          <p:nvPr>
            <p:ph idx="1"/>
          </p:nvPr>
        </p:nvSpPr>
        <p:spPr/>
        <p:txBody>
          <a:bodyPr>
            <a:normAutofit fontScale="55000" lnSpcReduction="20000"/>
          </a:bodyPr>
          <a:lstStyle/>
          <a:p>
            <a:pPr algn="just" eaLnBrk="1" hangingPunct="1">
              <a:defRPr/>
            </a:pPr>
            <a:r>
              <a:rPr lang="en-US" sz="3800" dirty="0"/>
              <a:t>Software downloaded to a computer</a:t>
            </a:r>
          </a:p>
          <a:p>
            <a:pPr algn="just" eaLnBrk="1" hangingPunct="1">
              <a:defRPr/>
            </a:pPr>
            <a:r>
              <a:rPr lang="en-US" sz="3800" dirty="0"/>
              <a:t>tracks a computer user's activities and report them to someone else</a:t>
            </a:r>
          </a:p>
          <a:p>
            <a:pPr algn="just" eaLnBrk="1" hangingPunct="1">
              <a:defRPr/>
            </a:pPr>
            <a:r>
              <a:rPr lang="en-US" sz="3800" dirty="0"/>
              <a:t>Another common term for spyware is </a:t>
            </a:r>
            <a:r>
              <a:rPr lang="en-US" sz="3800" dirty="0">
                <a:solidFill>
                  <a:srgbClr val="0000CC"/>
                </a:solidFill>
              </a:rPr>
              <a:t>adware</a:t>
            </a:r>
            <a:r>
              <a:rPr lang="en-US" sz="3800" dirty="0"/>
              <a:t>, </a:t>
            </a:r>
          </a:p>
          <a:p>
            <a:pPr algn="just">
              <a:defRPr/>
            </a:pPr>
            <a:r>
              <a:rPr lang="en-US" sz="3800" b="1" dirty="0">
                <a:solidFill>
                  <a:schemeClr val="accent5">
                    <a:lumMod val="75000"/>
                  </a:schemeClr>
                </a:solidFill>
                <a:cs typeface="Times New Roman" pitchFamily="18" charset="0"/>
              </a:rPr>
              <a:t>Cookies </a:t>
            </a:r>
          </a:p>
          <a:p>
            <a:pPr lvl="1" algn="just">
              <a:defRPr/>
            </a:pPr>
            <a:r>
              <a:rPr lang="en-US" sz="3200" dirty="0"/>
              <a:t>a small text file that a Web server asks your browser to place on your computer</a:t>
            </a:r>
          </a:p>
          <a:p>
            <a:pPr lvl="1" algn="just">
              <a:defRPr/>
            </a:pPr>
            <a:r>
              <a:rPr lang="en-US" sz="3200" dirty="0"/>
              <a:t>Cookie contains information like your IP address, name/email, and information about your visit to the Web site.</a:t>
            </a:r>
            <a:endParaRPr lang="en-US" sz="3200" dirty="0">
              <a:cs typeface="Times New Roman" pitchFamily="18" charset="0"/>
            </a:endParaRPr>
          </a:p>
          <a:p>
            <a:pPr lvl="1" algn="just">
              <a:defRPr/>
            </a:pPr>
            <a:r>
              <a:rPr lang="en-US" sz="3200" dirty="0"/>
              <a:t>Originally improved a site’s function but now tracks history</a:t>
            </a:r>
          </a:p>
          <a:p>
            <a:pPr marL="457200" lvl="1" indent="0" algn="just">
              <a:buNone/>
              <a:defRPr/>
            </a:pPr>
            <a:endParaRPr lang="en-US" sz="3200" dirty="0"/>
          </a:p>
          <a:p>
            <a:pPr algn="just">
              <a:defRPr/>
            </a:pPr>
            <a:r>
              <a:rPr lang="en-US" sz="3800" b="1" dirty="0">
                <a:solidFill>
                  <a:schemeClr val="accent5">
                    <a:lumMod val="75000"/>
                  </a:schemeClr>
                </a:solidFill>
                <a:cs typeface="Times New Roman" pitchFamily="18" charset="0"/>
              </a:rPr>
              <a:t>Web Bug</a:t>
            </a:r>
          </a:p>
          <a:p>
            <a:pPr lvl="1" algn="just">
              <a:defRPr/>
            </a:pPr>
            <a:r>
              <a:rPr lang="en-US" sz="3200" dirty="0"/>
              <a:t>Small GIF format image file embedded in web page or HTML format e-mail</a:t>
            </a:r>
          </a:p>
          <a:p>
            <a:pPr lvl="1" algn="just">
              <a:defRPr/>
            </a:pPr>
            <a:r>
              <a:rPr lang="en-US" sz="3200" dirty="0"/>
              <a:t>Can record webpages, passwords, and personal info. </a:t>
            </a:r>
          </a:p>
          <a:p>
            <a:pPr algn="just">
              <a:defRPr/>
            </a:pPr>
            <a:r>
              <a:rPr lang="en-US" sz="3800" b="1" dirty="0">
                <a:solidFill>
                  <a:schemeClr val="accent5">
                    <a:lumMod val="75000"/>
                  </a:schemeClr>
                </a:solidFill>
                <a:cs typeface="Times New Roman" pitchFamily="18" charset="0"/>
              </a:rPr>
              <a:t>Spam</a:t>
            </a:r>
          </a:p>
          <a:p>
            <a:pPr lvl="1" algn="just">
              <a:defRPr/>
            </a:pPr>
            <a:r>
              <a:rPr lang="en-US" sz="3200" dirty="0"/>
              <a:t>is Internet “ junk mail.” </a:t>
            </a:r>
          </a:p>
          <a:p>
            <a:pPr lvl="1" algn="just">
              <a:defRPr/>
            </a:pPr>
            <a:r>
              <a:rPr lang="en-US" sz="3200" dirty="0"/>
              <a:t>Almost all spam is commercial advertising </a:t>
            </a:r>
          </a:p>
          <a:p>
            <a:pPr marL="457200" lvl="1" indent="0">
              <a:buNone/>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37615" marR="5080">
              <a:lnSpc>
                <a:spcPct val="100000"/>
              </a:lnSpc>
              <a:spcBef>
                <a:spcPts val="100"/>
              </a:spcBef>
            </a:pPr>
            <a:r>
              <a:rPr spc="-325" dirty="0"/>
              <a:t>Online </a:t>
            </a:r>
            <a:r>
              <a:rPr spc="-395" dirty="0"/>
              <a:t>Theft, </a:t>
            </a:r>
            <a:r>
              <a:rPr spc="-325" dirty="0"/>
              <a:t>Online </a:t>
            </a:r>
            <a:r>
              <a:rPr spc="-390" dirty="0"/>
              <a:t>Fraud, </a:t>
            </a:r>
            <a:r>
              <a:rPr spc="-360" dirty="0"/>
              <a:t>and </a:t>
            </a:r>
            <a:r>
              <a:rPr spc="-340" dirty="0"/>
              <a:t>Other  </a:t>
            </a:r>
            <a:r>
              <a:rPr spc="-285" dirty="0"/>
              <a:t>Dot</a:t>
            </a:r>
            <a:r>
              <a:rPr spc="-210" dirty="0"/>
              <a:t> </a:t>
            </a:r>
            <a:r>
              <a:rPr spc="-425" dirty="0"/>
              <a:t>Cons</a:t>
            </a:r>
          </a:p>
        </p:txBody>
      </p:sp>
      <p:sp>
        <p:nvSpPr>
          <p:cNvPr id="5" name="object 5"/>
          <p:cNvSpPr txBox="1">
            <a:spLocks noGrp="1"/>
          </p:cNvSpPr>
          <p:nvPr>
            <p:ph type="sldNum" sz="quarter" idx="12"/>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16</a:t>
            </a:fld>
            <a:endParaRPr spc="-165" dirty="0"/>
          </a:p>
        </p:txBody>
      </p:sp>
      <p:sp>
        <p:nvSpPr>
          <p:cNvPr id="3" name="object 3"/>
          <p:cNvSpPr txBox="1"/>
          <p:nvPr/>
        </p:nvSpPr>
        <p:spPr>
          <a:xfrm>
            <a:off x="535940" y="1461262"/>
            <a:ext cx="7945755" cy="5091266"/>
          </a:xfrm>
          <a:prstGeom prst="rect">
            <a:avLst/>
          </a:prstGeom>
        </p:spPr>
        <p:txBody>
          <a:bodyPr vert="horz" wrap="square" lIns="0" tIns="48895" rIns="0" bIns="0" rtlCol="0">
            <a:spAutoFit/>
          </a:bodyPr>
          <a:lstStyle/>
          <a:p>
            <a:pPr marL="355600" indent="-343535" algn="just">
              <a:lnSpc>
                <a:spcPct val="80000"/>
              </a:lnSpc>
              <a:spcBef>
                <a:spcPts val="385"/>
              </a:spcBef>
              <a:buFont typeface="Wingdings" panose="05000000000000000000" pitchFamily="2" charset="2"/>
              <a:buChar char="§"/>
              <a:tabLst>
                <a:tab pos="355600" algn="l"/>
                <a:tab pos="356235" algn="l"/>
              </a:tabLst>
              <a:defRPr/>
            </a:pPr>
            <a:r>
              <a:rPr sz="2100" dirty="0"/>
              <a:t>Dot Con</a:t>
            </a:r>
          </a:p>
          <a:p>
            <a:pPr marL="812165" lvl="1" indent="-342900" algn="just">
              <a:lnSpc>
                <a:spcPct val="80000"/>
              </a:lnSpc>
              <a:spcBef>
                <a:spcPts val="290"/>
              </a:spcBef>
              <a:buFont typeface="Wingdings" panose="05000000000000000000" pitchFamily="2" charset="2"/>
              <a:buChar char="§"/>
              <a:tabLst>
                <a:tab pos="756920" algn="l"/>
              </a:tabLst>
              <a:defRPr/>
            </a:pPr>
            <a:r>
              <a:rPr sz="2100" dirty="0"/>
              <a:t>A fraud or scam carried out through the Internet</a:t>
            </a:r>
          </a:p>
          <a:p>
            <a:pPr marL="812165" marR="554355" lvl="1" indent="-342900" algn="just">
              <a:lnSpc>
                <a:spcPct val="80000"/>
              </a:lnSpc>
              <a:spcBef>
                <a:spcPts val="620"/>
              </a:spcBef>
              <a:buFont typeface="Wingdings" panose="05000000000000000000" pitchFamily="2" charset="2"/>
              <a:buChar char="§"/>
              <a:tabLst>
                <a:tab pos="756920" algn="l"/>
              </a:tabLst>
              <a:defRPr/>
            </a:pPr>
            <a:r>
              <a:rPr sz="2100" dirty="0"/>
              <a:t>The Internet Crime Complaint Center received and  processed more than 24,000 complaints per month in  2012</a:t>
            </a:r>
          </a:p>
          <a:p>
            <a:pPr marL="355600" indent="-343535" algn="just">
              <a:lnSpc>
                <a:spcPct val="80000"/>
              </a:lnSpc>
              <a:spcBef>
                <a:spcPts val="250"/>
              </a:spcBef>
              <a:buFont typeface="Wingdings" panose="05000000000000000000" pitchFamily="2" charset="2"/>
              <a:buChar char="§"/>
              <a:tabLst>
                <a:tab pos="355600" algn="l"/>
                <a:tab pos="356235" algn="l"/>
              </a:tabLst>
              <a:defRPr/>
            </a:pPr>
            <a:r>
              <a:rPr sz="2100" dirty="0"/>
              <a:t>Data or Information Theft</a:t>
            </a:r>
          </a:p>
          <a:p>
            <a:pPr marL="812165" marR="5080" lvl="1" indent="-342900" algn="just">
              <a:lnSpc>
                <a:spcPct val="80000"/>
              </a:lnSpc>
              <a:spcBef>
                <a:spcPts val="620"/>
              </a:spcBef>
              <a:buFont typeface="Wingdings" panose="05000000000000000000" pitchFamily="2" charset="2"/>
              <a:buChar char="§"/>
              <a:tabLst>
                <a:tab pos="756920" algn="l"/>
              </a:tabLst>
              <a:defRPr/>
            </a:pPr>
            <a:r>
              <a:rPr sz="2100" dirty="0"/>
              <a:t>Theft of data or information located on or being sent from  a computer</a:t>
            </a:r>
          </a:p>
          <a:p>
            <a:pPr marL="812165" lvl="1" indent="-342900" algn="just">
              <a:lnSpc>
                <a:spcPct val="80000"/>
              </a:lnSpc>
              <a:spcBef>
                <a:spcPts val="250"/>
              </a:spcBef>
              <a:buFont typeface="Wingdings" panose="05000000000000000000" pitchFamily="2" charset="2"/>
              <a:buChar char="§"/>
              <a:tabLst>
                <a:tab pos="756920" algn="l"/>
              </a:tabLst>
              <a:defRPr/>
            </a:pPr>
            <a:r>
              <a:rPr sz="2100" dirty="0"/>
              <a:t>Can occur in several ways</a:t>
            </a:r>
          </a:p>
          <a:p>
            <a:pPr marL="1269365" lvl="2" indent="-342900" algn="just">
              <a:lnSpc>
                <a:spcPct val="80000"/>
              </a:lnSpc>
              <a:spcBef>
                <a:spcPts val="295"/>
              </a:spcBef>
              <a:buFont typeface="Wingdings" panose="05000000000000000000" pitchFamily="2" charset="2"/>
              <a:buChar char="§"/>
              <a:tabLst>
                <a:tab pos="1156335" algn="l"/>
              </a:tabLst>
              <a:defRPr/>
            </a:pPr>
            <a:r>
              <a:rPr sz="2100" dirty="0"/>
              <a:t>Stealing an actual computer or mobile device</a:t>
            </a:r>
          </a:p>
          <a:p>
            <a:pPr marL="1269365" lvl="2" indent="-342900" algn="just">
              <a:lnSpc>
                <a:spcPct val="80000"/>
              </a:lnSpc>
              <a:spcBef>
                <a:spcPts val="285"/>
              </a:spcBef>
              <a:buFont typeface="Wingdings" panose="05000000000000000000" pitchFamily="2" charset="2"/>
              <a:buChar char="§"/>
              <a:tabLst>
                <a:tab pos="1156335" algn="l"/>
              </a:tabLst>
              <a:defRPr/>
            </a:pPr>
            <a:r>
              <a:rPr sz="2100" dirty="0"/>
              <a:t>A hacker gaining unauthorized access</a:t>
            </a:r>
            <a:endParaRPr lang="en-US" sz="2100" dirty="0"/>
          </a:p>
          <a:p>
            <a:pPr marL="355600" indent="-343535" algn="just">
              <a:lnSpc>
                <a:spcPct val="80000"/>
              </a:lnSpc>
              <a:spcBef>
                <a:spcPts val="675"/>
              </a:spcBef>
              <a:buFont typeface="Wingdings" panose="05000000000000000000" pitchFamily="2" charset="2"/>
              <a:buChar char="§"/>
              <a:tabLst>
                <a:tab pos="355600" algn="l"/>
                <a:tab pos="356235" algn="l"/>
              </a:tabLst>
              <a:defRPr/>
            </a:pPr>
            <a:r>
              <a:rPr lang="en-US" sz="2100" dirty="0"/>
              <a:t>Identity Theft</a:t>
            </a:r>
          </a:p>
          <a:p>
            <a:pPr marL="812165" marR="5080" lvl="1" indent="-342900" algn="just">
              <a:lnSpc>
                <a:spcPct val="80000"/>
              </a:lnSpc>
              <a:spcBef>
                <a:spcPts val="575"/>
              </a:spcBef>
              <a:buFont typeface="Wingdings" panose="05000000000000000000" pitchFamily="2" charset="2"/>
              <a:buChar char="§"/>
              <a:tabLst>
                <a:tab pos="756920" algn="l"/>
              </a:tabLst>
              <a:defRPr/>
            </a:pPr>
            <a:r>
              <a:rPr lang="en-US" sz="2100" dirty="0"/>
              <a:t>Using someone else’s identity to purchase goods or  services, obtain new credit cards or bank loans, or illegally  masquerade as that individual</a:t>
            </a:r>
          </a:p>
          <a:p>
            <a:pPr marL="812165" marR="149225" lvl="1" indent="-342900" algn="just">
              <a:lnSpc>
                <a:spcPct val="80000"/>
              </a:lnSpc>
              <a:spcBef>
                <a:spcPts val="580"/>
              </a:spcBef>
              <a:buFont typeface="Wingdings" panose="05000000000000000000" pitchFamily="2" charset="2"/>
              <a:buChar char="§"/>
              <a:tabLst>
                <a:tab pos="756920" algn="l"/>
              </a:tabLst>
              <a:defRPr/>
            </a:pPr>
            <a:r>
              <a:rPr lang="en-US" sz="2100" dirty="0"/>
              <a:t>Information obtained via documents, stolen information,  spyware, etc.</a:t>
            </a:r>
          </a:p>
          <a:p>
            <a:pPr marL="241300" indent="-229235" algn="just">
              <a:spcBef>
                <a:spcPts val="285"/>
              </a:spcBef>
              <a:buFont typeface="Arial"/>
              <a:buChar char="•"/>
              <a:tabLst>
                <a:tab pos="1156335" algn="l"/>
              </a:tabLst>
            </a:pPr>
            <a:endParaRPr dirty="0">
              <a:latin typeface="Carlito"/>
              <a:cs typeface="Carlito"/>
            </a:endParaRP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6376" y="1484757"/>
            <a:ext cx="8503814" cy="3142546"/>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237615" marR="5080">
              <a:lnSpc>
                <a:spcPct val="100000"/>
              </a:lnSpc>
              <a:spcBef>
                <a:spcPts val="100"/>
              </a:spcBef>
            </a:pPr>
            <a:r>
              <a:rPr spc="-325" dirty="0"/>
              <a:t>Online </a:t>
            </a:r>
            <a:r>
              <a:rPr spc="-395" dirty="0"/>
              <a:t>Theft, </a:t>
            </a:r>
            <a:r>
              <a:rPr spc="-325" dirty="0"/>
              <a:t>Online </a:t>
            </a:r>
            <a:r>
              <a:rPr spc="-390" dirty="0"/>
              <a:t>Fraud, </a:t>
            </a:r>
            <a:r>
              <a:rPr spc="-360" dirty="0"/>
              <a:t>and </a:t>
            </a:r>
            <a:r>
              <a:rPr spc="-340" dirty="0"/>
              <a:t>Other  </a:t>
            </a:r>
            <a:r>
              <a:rPr spc="-285" dirty="0"/>
              <a:t>Dot</a:t>
            </a:r>
            <a:r>
              <a:rPr spc="-210" dirty="0"/>
              <a:t> </a:t>
            </a:r>
            <a:r>
              <a:rPr spc="-425" dirty="0"/>
              <a:t>Cons</a:t>
            </a:r>
          </a:p>
        </p:txBody>
      </p:sp>
      <p:sp>
        <p:nvSpPr>
          <p:cNvPr id="4" name="object 4"/>
          <p:cNvSpPr/>
          <p:nvPr/>
        </p:nvSpPr>
        <p:spPr>
          <a:xfrm>
            <a:off x="3851909" y="5013172"/>
            <a:ext cx="1371600" cy="590550"/>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17</a:t>
            </a:fld>
            <a:endParaRPr spc="-16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37615" marR="5080">
              <a:lnSpc>
                <a:spcPct val="100000"/>
              </a:lnSpc>
              <a:spcBef>
                <a:spcPts val="100"/>
              </a:spcBef>
            </a:pPr>
            <a:r>
              <a:rPr spc="-325" dirty="0"/>
              <a:t>Online </a:t>
            </a:r>
            <a:r>
              <a:rPr spc="-395" dirty="0"/>
              <a:t>Theft, </a:t>
            </a:r>
            <a:r>
              <a:rPr spc="-325" dirty="0"/>
              <a:t>Online </a:t>
            </a:r>
            <a:r>
              <a:rPr spc="-390" dirty="0"/>
              <a:t>Fraud, </a:t>
            </a:r>
            <a:r>
              <a:rPr spc="-360" dirty="0"/>
              <a:t>and </a:t>
            </a:r>
            <a:r>
              <a:rPr spc="-340" dirty="0"/>
              <a:t>Other  </a:t>
            </a:r>
            <a:r>
              <a:rPr spc="-285" dirty="0"/>
              <a:t>Dot</a:t>
            </a:r>
            <a:r>
              <a:rPr spc="-210" dirty="0"/>
              <a:t> </a:t>
            </a:r>
            <a:r>
              <a:rPr spc="-425" dirty="0"/>
              <a:t>Cons</a:t>
            </a:r>
          </a:p>
        </p:txBody>
      </p:sp>
      <p:sp>
        <p:nvSpPr>
          <p:cNvPr id="3" name="object 3"/>
          <p:cNvSpPr/>
          <p:nvPr/>
        </p:nvSpPr>
        <p:spPr>
          <a:xfrm>
            <a:off x="7202540" y="4614528"/>
            <a:ext cx="1595560" cy="142725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904455" y="1849754"/>
            <a:ext cx="5915952" cy="3282078"/>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18</a:t>
            </a:fld>
            <a:endParaRPr spc="-16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3400" y="304800"/>
            <a:ext cx="8305800" cy="685800"/>
          </a:xfrm>
        </p:spPr>
        <p:txBody>
          <a:bodyPr>
            <a:normAutofit fontScale="90000"/>
          </a:bodyPr>
          <a:lstStyle/>
          <a:p>
            <a:pPr eaLnBrk="1" hangingPunct="1"/>
            <a:r>
              <a:rPr lang="en-US" dirty="0"/>
              <a:t>Threats to Hardware</a:t>
            </a:r>
          </a:p>
        </p:txBody>
      </p:sp>
      <p:sp>
        <p:nvSpPr>
          <p:cNvPr id="19459" name="Rectangle 3"/>
          <p:cNvSpPr>
            <a:spLocks noGrp="1" noChangeArrowheads="1"/>
          </p:cNvSpPr>
          <p:nvPr>
            <p:ph idx="1"/>
          </p:nvPr>
        </p:nvSpPr>
        <p:spPr/>
        <p:txBody>
          <a:bodyPr>
            <a:normAutofit fontScale="77500" lnSpcReduction="20000"/>
          </a:bodyPr>
          <a:lstStyle/>
          <a:p>
            <a:pPr eaLnBrk="1" hangingPunct="1"/>
            <a:r>
              <a:rPr lang="en-US" dirty="0"/>
              <a:t>Power-related threats</a:t>
            </a:r>
          </a:p>
          <a:p>
            <a:pPr lvl="1"/>
            <a:r>
              <a:rPr lang="en-US" dirty="0"/>
              <a:t>Power fluctuations</a:t>
            </a:r>
          </a:p>
          <a:p>
            <a:pPr lvl="1"/>
            <a:r>
              <a:rPr lang="en-US" dirty="0"/>
              <a:t>Power loss</a:t>
            </a:r>
          </a:p>
          <a:p>
            <a:pPr lvl="1"/>
            <a:r>
              <a:rPr lang="en-US" dirty="0"/>
              <a:t>Can result in loss of data</a:t>
            </a:r>
          </a:p>
          <a:p>
            <a:pPr lvl="1"/>
            <a:r>
              <a:rPr lang="en-US" dirty="0"/>
              <a:t>Countermeasures</a:t>
            </a:r>
          </a:p>
          <a:p>
            <a:pPr lvl="2"/>
            <a:r>
              <a:rPr lang="en-US" sz="2800" dirty="0"/>
              <a:t>Uninterruptible power supplies</a:t>
            </a:r>
          </a:p>
          <a:p>
            <a:pPr lvl="2"/>
            <a:r>
              <a:rPr lang="en-US" sz="2800" dirty="0"/>
              <a:t>Generators</a:t>
            </a:r>
          </a:p>
          <a:p>
            <a:r>
              <a:rPr lang="en-US" dirty="0"/>
              <a:t>Theft and wreckage</a:t>
            </a:r>
          </a:p>
          <a:p>
            <a:pPr lvl="1"/>
            <a:r>
              <a:rPr lang="en-US" dirty="0"/>
              <a:t>Thieves steal the entire computer</a:t>
            </a:r>
          </a:p>
          <a:p>
            <a:pPr lvl="1"/>
            <a:r>
              <a:rPr lang="en-US" dirty="0"/>
              <a:t>Accidental or intentional damage</a:t>
            </a:r>
          </a:p>
          <a:p>
            <a:pPr lvl="1"/>
            <a:r>
              <a:rPr lang="en-US" dirty="0"/>
              <a:t>Countermeasures</a:t>
            </a:r>
          </a:p>
          <a:p>
            <a:pPr lvl="2"/>
            <a:r>
              <a:rPr lang="en-US" dirty="0"/>
              <a:t>Keep the PC in a secure area</a:t>
            </a:r>
          </a:p>
          <a:p>
            <a:pPr lvl="2"/>
            <a:r>
              <a:rPr lang="en-US" dirty="0"/>
              <a:t>Lock the computer to a desk</a:t>
            </a:r>
          </a:p>
          <a:p>
            <a:endParaRPr lang="en-US" dirty="0"/>
          </a:p>
        </p:txBody>
      </p:sp>
      <p:pic>
        <p:nvPicPr>
          <p:cNvPr id="19460" name="Picture 4" descr="D:\My Documents\!books\norton im\chapter 14\ups.tif"/>
          <p:cNvPicPr>
            <a:picLocks noChangeAspect="1" noChangeArrowheads="1"/>
          </p:cNvPicPr>
          <p:nvPr/>
        </p:nvPicPr>
        <p:blipFill>
          <a:blip r:embed="rId3" cstate="print"/>
          <a:srcRect/>
          <a:stretch>
            <a:fillRect/>
          </a:stretch>
        </p:blipFill>
        <p:spPr bwMode="auto">
          <a:xfrm>
            <a:off x="6019800" y="1775191"/>
            <a:ext cx="1447800" cy="2182534"/>
          </a:xfrm>
          <a:prstGeom prst="rect">
            <a:avLst/>
          </a:prstGeom>
          <a:noFill/>
          <a:ln w="9525">
            <a:noFill/>
            <a:miter lim="800000"/>
            <a:headEnd/>
            <a:tailEnd/>
          </a:ln>
        </p:spPr>
      </p:pic>
      <p:pic>
        <p:nvPicPr>
          <p:cNvPr id="5" name="Picture 5" descr="D:\My Documents\!books\norton im\chapter 14\lock.tif"/>
          <p:cNvPicPr>
            <a:picLocks noChangeAspect="1" noChangeArrowheads="1"/>
          </p:cNvPicPr>
          <p:nvPr/>
        </p:nvPicPr>
        <p:blipFill>
          <a:blip r:embed="rId4" cstate="print"/>
          <a:srcRect/>
          <a:stretch>
            <a:fillRect/>
          </a:stretch>
        </p:blipFill>
        <p:spPr bwMode="auto">
          <a:xfrm>
            <a:off x="6019800" y="4163985"/>
            <a:ext cx="1371600" cy="197156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3400" y="304800"/>
            <a:ext cx="8305800" cy="685800"/>
          </a:xfrm>
        </p:spPr>
        <p:txBody>
          <a:bodyPr>
            <a:normAutofit fontScale="90000"/>
          </a:bodyPr>
          <a:lstStyle/>
          <a:p>
            <a:pPr eaLnBrk="1" hangingPunct="1"/>
            <a:r>
              <a:rPr lang="en-US" dirty="0"/>
              <a:t>Threats to Hardware</a:t>
            </a:r>
          </a:p>
        </p:txBody>
      </p:sp>
      <p:sp>
        <p:nvSpPr>
          <p:cNvPr id="19459" name="Rectangle 3"/>
          <p:cNvSpPr>
            <a:spLocks noGrp="1" noChangeArrowheads="1"/>
          </p:cNvSpPr>
          <p:nvPr>
            <p:ph idx="1"/>
          </p:nvPr>
        </p:nvSpPr>
        <p:spPr/>
        <p:txBody>
          <a:bodyPr>
            <a:normAutofit lnSpcReduction="10000"/>
          </a:bodyPr>
          <a:lstStyle/>
          <a:p>
            <a:pPr algn="just">
              <a:lnSpc>
                <a:spcPct val="90000"/>
              </a:lnSpc>
            </a:pPr>
            <a:r>
              <a:rPr lang="en-US" sz="2600" dirty="0"/>
              <a:t>Unauthorized Access</a:t>
            </a:r>
          </a:p>
          <a:p>
            <a:pPr lvl="1" algn="just">
              <a:lnSpc>
                <a:spcPct val="90000"/>
              </a:lnSpc>
            </a:pPr>
            <a:r>
              <a:rPr lang="en-US" sz="2600" dirty="0"/>
              <a:t>Gaining access to a computer, network, file, or other  resource without permission</a:t>
            </a:r>
          </a:p>
          <a:p>
            <a:pPr algn="just">
              <a:lnSpc>
                <a:spcPct val="90000"/>
              </a:lnSpc>
            </a:pPr>
            <a:r>
              <a:rPr lang="en-US" sz="2600" dirty="0"/>
              <a:t>Unauthorized Use</a:t>
            </a:r>
          </a:p>
          <a:p>
            <a:pPr lvl="1" algn="just">
              <a:lnSpc>
                <a:spcPct val="90000"/>
              </a:lnSpc>
            </a:pPr>
            <a:r>
              <a:rPr lang="en-US" sz="2600" dirty="0"/>
              <a:t>Using a computer resource for unapproved activities</a:t>
            </a:r>
          </a:p>
          <a:p>
            <a:pPr algn="just">
              <a:lnSpc>
                <a:spcPct val="90000"/>
              </a:lnSpc>
            </a:pPr>
            <a:r>
              <a:rPr lang="en-US" sz="2600" dirty="0"/>
              <a:t>Hacking</a:t>
            </a:r>
          </a:p>
          <a:p>
            <a:pPr lvl="1" algn="just">
              <a:lnSpc>
                <a:spcPct val="90000"/>
              </a:lnSpc>
            </a:pPr>
            <a:r>
              <a:rPr lang="en-US" sz="2600" dirty="0"/>
              <a:t>Using a computer to break into another computer system.</a:t>
            </a:r>
          </a:p>
          <a:p>
            <a:pPr lvl="1" algn="just">
              <a:lnSpc>
                <a:spcPct val="90000"/>
              </a:lnSpc>
            </a:pPr>
            <a:r>
              <a:rPr lang="en-US" sz="2600" dirty="0"/>
              <a:t>A serious threat for individuals, businesses, and  the country (national security), i.e.,  cyberterrorism</a:t>
            </a:r>
          </a:p>
          <a:p>
            <a:pPr algn="just">
              <a:lnSpc>
                <a:spcPct val="90000"/>
              </a:lnSpc>
            </a:pPr>
            <a:r>
              <a:rPr lang="en-US" sz="2600" dirty="0"/>
              <a:t>Wi-Fi Piggybacking</a:t>
            </a:r>
            <a:endParaRPr lang="en-GB" sz="1600" dirty="0"/>
          </a:p>
          <a:p>
            <a:pPr lvl="1"/>
            <a:r>
              <a:rPr lang="en-GB" sz="1800" dirty="0"/>
              <a:t>Wi-Fi piggybacking is the practice of using someone else's Wi-Fi network without their permission, often to access the internet for free.</a:t>
            </a:r>
          </a:p>
          <a:p>
            <a:pPr algn="just"/>
            <a:endParaRPr lang="en-US" spc="-5" dirty="0">
              <a:latin typeface="Carlito"/>
              <a:cs typeface="Carlito"/>
            </a:endParaRPr>
          </a:p>
        </p:txBody>
      </p:sp>
    </p:spTree>
    <p:extLst>
      <p:ext uri="{BB962C8B-B14F-4D97-AF65-F5344CB8AC3E}">
        <p14:creationId xmlns:p14="http://schemas.microsoft.com/office/powerpoint/2010/main" val="1112668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21</a:t>
            </a:fld>
            <a:endParaRPr spc="-165" dirty="0"/>
          </a:p>
        </p:txBody>
      </p:sp>
      <p:sp>
        <p:nvSpPr>
          <p:cNvPr id="3" name="object 3"/>
          <p:cNvSpPr txBox="1"/>
          <p:nvPr/>
        </p:nvSpPr>
        <p:spPr>
          <a:xfrm>
            <a:off x="535940" y="1778998"/>
            <a:ext cx="7755255" cy="4164602"/>
          </a:xfrm>
          <a:prstGeom prst="rect">
            <a:avLst/>
          </a:prstGeom>
        </p:spPr>
        <p:txBody>
          <a:bodyPr vert="horz" wrap="square" lIns="0" tIns="85725" rIns="0" bIns="0" rtlCol="0">
            <a:spAutoFit/>
          </a:bodyPr>
          <a:lstStyle/>
          <a:p>
            <a:pPr marL="812800" lvl="1" indent="-343535">
              <a:spcBef>
                <a:spcPts val="675"/>
              </a:spcBef>
              <a:buFont typeface="Arial"/>
              <a:buChar char="•"/>
              <a:tabLst>
                <a:tab pos="355600" algn="l"/>
                <a:tab pos="356235" algn="l"/>
              </a:tabLst>
            </a:pPr>
            <a:r>
              <a:rPr sz="2400" dirty="0">
                <a:latin typeface="Carlito"/>
                <a:cs typeface="Carlito"/>
              </a:rPr>
              <a:t>Access </a:t>
            </a:r>
            <a:r>
              <a:rPr sz="2400" spc="-15" dirty="0">
                <a:latin typeface="Carlito"/>
                <a:cs typeface="Carlito"/>
              </a:rPr>
              <a:t>Control</a:t>
            </a:r>
            <a:r>
              <a:rPr sz="2400" spc="-60" dirty="0">
                <a:latin typeface="Carlito"/>
                <a:cs typeface="Carlito"/>
              </a:rPr>
              <a:t> </a:t>
            </a:r>
            <a:r>
              <a:rPr sz="2400" spc="-15" dirty="0">
                <a:latin typeface="Carlito"/>
                <a:cs typeface="Carlito"/>
              </a:rPr>
              <a:t>Systems</a:t>
            </a:r>
            <a:endParaRPr sz="2400" dirty="0">
              <a:latin typeface="Carlito"/>
              <a:cs typeface="Carlito"/>
            </a:endParaRPr>
          </a:p>
          <a:p>
            <a:pPr marL="1213485" marR="175895" lvl="2" indent="-287020">
              <a:spcBef>
                <a:spcPts val="575"/>
              </a:spcBef>
              <a:buFont typeface="Arial"/>
              <a:buChar char="–"/>
              <a:tabLst>
                <a:tab pos="756920" algn="l"/>
              </a:tabLst>
            </a:pPr>
            <a:r>
              <a:rPr sz="2400" spc="-5" dirty="0">
                <a:latin typeface="Carlito"/>
                <a:cs typeface="Carlito"/>
              </a:rPr>
              <a:t>Used </a:t>
            </a:r>
            <a:r>
              <a:rPr sz="2400" spc="-15" dirty="0">
                <a:latin typeface="Carlito"/>
                <a:cs typeface="Carlito"/>
              </a:rPr>
              <a:t>to control </a:t>
            </a:r>
            <a:r>
              <a:rPr sz="2400" dirty="0">
                <a:latin typeface="Carlito"/>
                <a:cs typeface="Carlito"/>
              </a:rPr>
              <a:t>access </a:t>
            </a:r>
            <a:r>
              <a:rPr sz="2400" spc="-15" dirty="0">
                <a:latin typeface="Carlito"/>
                <a:cs typeface="Carlito"/>
              </a:rPr>
              <a:t>to </a:t>
            </a:r>
            <a:r>
              <a:rPr sz="2400" spc="-10" dirty="0">
                <a:latin typeface="Carlito"/>
                <a:cs typeface="Carlito"/>
              </a:rPr>
              <a:t>facilities, computer networks,  </a:t>
            </a:r>
            <a:r>
              <a:rPr sz="2400" spc="-15" dirty="0">
                <a:latin typeface="Carlito"/>
                <a:cs typeface="Carlito"/>
              </a:rPr>
              <a:t>company </a:t>
            </a:r>
            <a:r>
              <a:rPr sz="2400" spc="-5" dirty="0">
                <a:latin typeface="Carlito"/>
                <a:cs typeface="Carlito"/>
              </a:rPr>
              <a:t>databases, </a:t>
            </a:r>
            <a:r>
              <a:rPr sz="2400" dirty="0">
                <a:latin typeface="Carlito"/>
                <a:cs typeface="Carlito"/>
              </a:rPr>
              <a:t>and </a:t>
            </a:r>
            <a:r>
              <a:rPr sz="2400" spc="-30" dirty="0">
                <a:latin typeface="Carlito"/>
                <a:cs typeface="Carlito"/>
              </a:rPr>
              <a:t>Web </a:t>
            </a:r>
            <a:r>
              <a:rPr sz="2400" spc="-10" dirty="0">
                <a:latin typeface="Carlito"/>
                <a:cs typeface="Carlito"/>
              </a:rPr>
              <a:t>site</a:t>
            </a:r>
            <a:r>
              <a:rPr sz="2400" spc="-5" dirty="0">
                <a:latin typeface="Carlito"/>
                <a:cs typeface="Carlito"/>
              </a:rPr>
              <a:t> </a:t>
            </a:r>
            <a:r>
              <a:rPr sz="2400" spc="-10" dirty="0">
                <a:latin typeface="Carlito"/>
                <a:cs typeface="Carlito"/>
              </a:rPr>
              <a:t>accounts</a:t>
            </a:r>
            <a:endParaRPr lang="en-US" sz="2400" dirty="0">
              <a:latin typeface="Carlito"/>
              <a:cs typeface="Carlito"/>
            </a:endParaRPr>
          </a:p>
          <a:p>
            <a:pPr marL="1213485" marR="175895" lvl="2" indent="-287020">
              <a:spcBef>
                <a:spcPts val="575"/>
              </a:spcBef>
              <a:buFont typeface="Arial"/>
              <a:buChar char="–"/>
              <a:tabLst>
                <a:tab pos="756920" algn="l"/>
              </a:tabLst>
            </a:pPr>
            <a:r>
              <a:rPr sz="2400" spc="-5" dirty="0">
                <a:latin typeface="Carlito"/>
                <a:cs typeface="Carlito"/>
              </a:rPr>
              <a:t>Identification</a:t>
            </a:r>
            <a:r>
              <a:rPr sz="2400" spc="-25" dirty="0">
                <a:latin typeface="Carlito"/>
                <a:cs typeface="Carlito"/>
              </a:rPr>
              <a:t> </a:t>
            </a:r>
            <a:r>
              <a:rPr sz="2400" spc="-15" dirty="0">
                <a:latin typeface="Carlito"/>
                <a:cs typeface="Carlito"/>
              </a:rPr>
              <a:t>Systems</a:t>
            </a:r>
            <a:endParaRPr sz="2400" dirty="0">
              <a:latin typeface="Carlito"/>
              <a:cs typeface="Carlito"/>
            </a:endParaRPr>
          </a:p>
          <a:p>
            <a:pPr marL="1612900" marR="217804" lvl="3" indent="-228600">
              <a:spcBef>
                <a:spcPts val="575"/>
              </a:spcBef>
              <a:buFont typeface="Arial"/>
              <a:buChar char="•"/>
              <a:tabLst>
                <a:tab pos="1156335" algn="l"/>
              </a:tabLst>
            </a:pPr>
            <a:r>
              <a:rPr sz="2400" spc="-20" dirty="0">
                <a:latin typeface="Carlito"/>
                <a:cs typeface="Carlito"/>
              </a:rPr>
              <a:t>Verify </a:t>
            </a:r>
            <a:r>
              <a:rPr sz="2400" spc="-10" dirty="0">
                <a:latin typeface="Carlito"/>
                <a:cs typeface="Carlito"/>
              </a:rPr>
              <a:t>that </a:t>
            </a:r>
            <a:r>
              <a:rPr sz="2400" dirty="0">
                <a:latin typeface="Carlito"/>
                <a:cs typeface="Carlito"/>
              </a:rPr>
              <a:t>the </a:t>
            </a:r>
            <a:r>
              <a:rPr sz="2400" spc="-10" dirty="0">
                <a:latin typeface="Carlito"/>
                <a:cs typeface="Carlito"/>
              </a:rPr>
              <a:t>person </a:t>
            </a:r>
            <a:r>
              <a:rPr sz="2400" dirty="0">
                <a:latin typeface="Carlito"/>
                <a:cs typeface="Carlito"/>
              </a:rPr>
              <a:t>trying </a:t>
            </a:r>
            <a:r>
              <a:rPr sz="2400" spc="-15" dirty="0">
                <a:latin typeface="Carlito"/>
                <a:cs typeface="Carlito"/>
              </a:rPr>
              <a:t>to </a:t>
            </a:r>
            <a:r>
              <a:rPr sz="2400" dirty="0">
                <a:latin typeface="Carlito"/>
                <a:cs typeface="Carlito"/>
              </a:rPr>
              <a:t>access the </a:t>
            </a:r>
            <a:r>
              <a:rPr sz="2400" spc="-10" dirty="0">
                <a:latin typeface="Carlito"/>
                <a:cs typeface="Carlito"/>
              </a:rPr>
              <a:t>facility </a:t>
            </a:r>
            <a:r>
              <a:rPr sz="2400" spc="-5" dirty="0">
                <a:latin typeface="Carlito"/>
                <a:cs typeface="Carlito"/>
              </a:rPr>
              <a:t>or </a:t>
            </a:r>
            <a:r>
              <a:rPr sz="2400" spc="-25" dirty="0">
                <a:latin typeface="Carlito"/>
                <a:cs typeface="Carlito"/>
              </a:rPr>
              <a:t>system </a:t>
            </a:r>
            <a:r>
              <a:rPr sz="2400" dirty="0">
                <a:latin typeface="Carlito"/>
                <a:cs typeface="Carlito"/>
              </a:rPr>
              <a:t>is an </a:t>
            </a:r>
            <a:r>
              <a:rPr sz="2400" spc="-5" dirty="0">
                <a:latin typeface="Carlito"/>
                <a:cs typeface="Carlito"/>
              </a:rPr>
              <a:t>authorized</a:t>
            </a:r>
            <a:r>
              <a:rPr sz="2400" spc="-35" dirty="0">
                <a:latin typeface="Carlito"/>
                <a:cs typeface="Carlito"/>
              </a:rPr>
              <a:t> </a:t>
            </a:r>
            <a:r>
              <a:rPr sz="2400" spc="-5" dirty="0">
                <a:latin typeface="Carlito"/>
                <a:cs typeface="Carlito"/>
              </a:rPr>
              <a:t>user</a:t>
            </a:r>
            <a:endParaRPr sz="2400" dirty="0">
              <a:latin typeface="Carlito"/>
              <a:cs typeface="Carlito"/>
            </a:endParaRPr>
          </a:p>
          <a:p>
            <a:pPr marL="1213485" lvl="2" indent="-287020">
              <a:spcBef>
                <a:spcPts val="580"/>
              </a:spcBef>
              <a:buFont typeface="Arial"/>
              <a:buChar char="–"/>
              <a:tabLst>
                <a:tab pos="756920" algn="l"/>
              </a:tabLst>
            </a:pPr>
            <a:r>
              <a:rPr sz="2400" spc="-5" dirty="0">
                <a:latin typeface="Carlito"/>
                <a:cs typeface="Carlito"/>
              </a:rPr>
              <a:t>Authentication</a:t>
            </a:r>
            <a:r>
              <a:rPr sz="2400" spc="-40" dirty="0">
                <a:latin typeface="Carlito"/>
                <a:cs typeface="Carlito"/>
              </a:rPr>
              <a:t> </a:t>
            </a:r>
            <a:r>
              <a:rPr sz="2400" spc="-15" dirty="0">
                <a:latin typeface="Carlito"/>
                <a:cs typeface="Carlito"/>
              </a:rPr>
              <a:t>Systems</a:t>
            </a:r>
            <a:endParaRPr sz="2400" dirty="0">
              <a:latin typeface="Carlito"/>
              <a:cs typeface="Carlito"/>
            </a:endParaRPr>
          </a:p>
          <a:p>
            <a:pPr marL="1612900" lvl="3" indent="-229235">
              <a:spcBef>
                <a:spcPts val="575"/>
              </a:spcBef>
              <a:buFont typeface="Arial"/>
              <a:buChar char="•"/>
              <a:tabLst>
                <a:tab pos="1156335" algn="l"/>
              </a:tabLst>
            </a:pPr>
            <a:r>
              <a:rPr sz="2400" spc="-5" dirty="0">
                <a:latin typeface="Carlito"/>
                <a:cs typeface="Carlito"/>
              </a:rPr>
              <a:t>Determine </a:t>
            </a:r>
            <a:r>
              <a:rPr sz="2400" dirty="0">
                <a:latin typeface="Carlito"/>
                <a:cs typeface="Carlito"/>
              </a:rPr>
              <a:t>if the </a:t>
            </a:r>
            <a:r>
              <a:rPr sz="2400" spc="-10" dirty="0">
                <a:latin typeface="Carlito"/>
                <a:cs typeface="Carlito"/>
              </a:rPr>
              <a:t>person </a:t>
            </a:r>
            <a:r>
              <a:rPr sz="2400" dirty="0">
                <a:latin typeface="Carlito"/>
                <a:cs typeface="Carlito"/>
              </a:rPr>
              <a:t>is who </a:t>
            </a:r>
            <a:r>
              <a:rPr sz="2400" spc="-5" dirty="0">
                <a:latin typeface="Carlito"/>
                <a:cs typeface="Carlito"/>
              </a:rPr>
              <a:t>he or she </a:t>
            </a:r>
            <a:r>
              <a:rPr sz="2400" dirty="0">
                <a:latin typeface="Carlito"/>
                <a:cs typeface="Carlito"/>
              </a:rPr>
              <a:t>claims </a:t>
            </a:r>
            <a:r>
              <a:rPr sz="2400" spc="-15" dirty="0">
                <a:latin typeface="Carlito"/>
                <a:cs typeface="Carlito"/>
              </a:rPr>
              <a:t>to</a:t>
            </a:r>
            <a:r>
              <a:rPr sz="2400" spc="-155" dirty="0">
                <a:latin typeface="Carlito"/>
                <a:cs typeface="Carlito"/>
              </a:rPr>
              <a:t> </a:t>
            </a:r>
            <a:r>
              <a:rPr sz="2400" spc="-5" dirty="0">
                <a:latin typeface="Carlito"/>
                <a:cs typeface="Carlito"/>
              </a:rPr>
              <a:t>be</a:t>
            </a:r>
            <a:endParaRPr sz="2400" dirty="0">
              <a:latin typeface="Carlito"/>
              <a:cs typeface="Carlito"/>
            </a:endParaRPr>
          </a:p>
        </p:txBody>
      </p:sp>
      <p:sp>
        <p:nvSpPr>
          <p:cNvPr id="6" name="Title 5"/>
          <p:cNvSpPr>
            <a:spLocks noGrp="1"/>
          </p:cNvSpPr>
          <p:nvPr>
            <p:ph type="title"/>
          </p:nvPr>
        </p:nvSpPr>
        <p:spPr/>
        <p:txBody>
          <a:bodyPr>
            <a:normAutofit fontScale="90000"/>
          </a:bodyPr>
          <a:lstStyle/>
          <a:p>
            <a:pPr marL="355600" indent="-343535">
              <a:lnSpc>
                <a:spcPct val="100000"/>
              </a:lnSpc>
              <a:spcBef>
                <a:spcPts val="675"/>
              </a:spcBef>
              <a:tabLst>
                <a:tab pos="355600" algn="l"/>
                <a:tab pos="356235" algn="l"/>
              </a:tabLst>
            </a:pPr>
            <a:r>
              <a:rPr lang="en-US" sz="4800" spc="-380" dirty="0"/>
              <a:t>Protecting </a:t>
            </a:r>
            <a:r>
              <a:rPr lang="en-US" sz="4800" spc="-395" dirty="0"/>
              <a:t>Against </a:t>
            </a:r>
            <a:r>
              <a:rPr lang="en-US" sz="4800" spc="-350" dirty="0"/>
              <a:t>Unauthorized  </a:t>
            </a:r>
            <a:r>
              <a:rPr lang="en-US" sz="4800" spc="-570" dirty="0"/>
              <a:t>Access </a:t>
            </a:r>
            <a:r>
              <a:rPr lang="en-US" sz="4800" spc="-360" dirty="0"/>
              <a:t>and </a:t>
            </a:r>
            <a:r>
              <a:rPr lang="en-US" sz="4800" spc="-350" dirty="0"/>
              <a:t>Unauthorized</a:t>
            </a:r>
            <a:r>
              <a:rPr lang="en-US" sz="4800" spc="-170" dirty="0"/>
              <a:t> </a:t>
            </a:r>
            <a:r>
              <a:rPr lang="en-US" sz="4800" spc="-515" dirty="0"/>
              <a:t>Use</a:t>
            </a:r>
            <a:endParaRPr lang="en-US" sz="4800" dirty="0">
              <a:latin typeface="Carlito"/>
              <a:cs typeface="Carl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55448"/>
            <a:ext cx="8686800" cy="1397819"/>
          </a:xfrm>
          <a:prstGeom prst="rect">
            <a:avLst/>
          </a:prstGeom>
        </p:spPr>
        <p:txBody>
          <a:bodyPr vert="horz" wrap="square" lIns="0" tIns="12700" rIns="0" bIns="0" rtlCol="0">
            <a:spAutoFit/>
          </a:bodyPr>
          <a:lstStyle/>
          <a:p>
            <a:pPr marL="1237615" marR="5080">
              <a:lnSpc>
                <a:spcPct val="100000"/>
              </a:lnSpc>
              <a:spcBef>
                <a:spcPts val="100"/>
              </a:spcBef>
            </a:pPr>
            <a:r>
              <a:rPr spc="-380" dirty="0"/>
              <a:t>Protecting </a:t>
            </a:r>
            <a:r>
              <a:rPr spc="-395" dirty="0"/>
              <a:t>Against </a:t>
            </a:r>
            <a:r>
              <a:rPr spc="-350" dirty="0"/>
              <a:t>Unauthorized  </a:t>
            </a:r>
            <a:r>
              <a:rPr spc="-570" dirty="0"/>
              <a:t>Access </a:t>
            </a:r>
            <a:r>
              <a:rPr spc="-360" dirty="0"/>
              <a:t>and </a:t>
            </a:r>
            <a:r>
              <a:rPr spc="-350" dirty="0"/>
              <a:t>Unauthorized</a:t>
            </a:r>
            <a:r>
              <a:rPr spc="-170" dirty="0"/>
              <a:t> </a:t>
            </a:r>
            <a:r>
              <a:rPr spc="-515" dirty="0"/>
              <a:t>Use</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22</a:t>
            </a:fld>
            <a:endParaRPr spc="-165" dirty="0"/>
          </a:p>
        </p:txBody>
      </p:sp>
      <p:sp>
        <p:nvSpPr>
          <p:cNvPr id="3" name="object 3"/>
          <p:cNvSpPr txBox="1"/>
          <p:nvPr/>
        </p:nvSpPr>
        <p:spPr>
          <a:xfrm>
            <a:off x="535940" y="1461262"/>
            <a:ext cx="7830184" cy="4378960"/>
          </a:xfrm>
          <a:prstGeom prst="rect">
            <a:avLst/>
          </a:prstGeom>
        </p:spPr>
        <p:txBody>
          <a:bodyPr vert="horz" wrap="square" lIns="0" tIns="48895" rIns="0" bIns="0" rtlCol="0">
            <a:spAutoFit/>
          </a:bodyPr>
          <a:lstStyle/>
          <a:p>
            <a:pPr marL="756285" indent="-287020">
              <a:lnSpc>
                <a:spcPct val="100000"/>
              </a:lnSpc>
              <a:spcBef>
                <a:spcPts val="385"/>
              </a:spcBef>
              <a:buFont typeface="Arial"/>
              <a:buChar char="–"/>
              <a:tabLst>
                <a:tab pos="756920" algn="l"/>
              </a:tabLst>
            </a:pPr>
            <a:r>
              <a:rPr sz="2400" spc="-10" dirty="0">
                <a:latin typeface="Carlito"/>
                <a:cs typeface="Carlito"/>
              </a:rPr>
              <a:t>Cognitive </a:t>
            </a:r>
            <a:r>
              <a:rPr sz="2400" spc="-5" dirty="0">
                <a:latin typeface="Carlito"/>
                <a:cs typeface="Carlito"/>
              </a:rPr>
              <a:t>Authentication</a:t>
            </a:r>
            <a:r>
              <a:rPr sz="2400" spc="-35" dirty="0">
                <a:latin typeface="Carlito"/>
                <a:cs typeface="Carlito"/>
              </a:rPr>
              <a:t> </a:t>
            </a:r>
            <a:r>
              <a:rPr sz="2400" spc="-15" dirty="0">
                <a:latin typeface="Carlito"/>
                <a:cs typeface="Carlito"/>
              </a:rPr>
              <a:t>Systems</a:t>
            </a:r>
            <a:endParaRPr sz="2400">
              <a:latin typeface="Carlito"/>
              <a:cs typeface="Carlito"/>
            </a:endParaRPr>
          </a:p>
          <a:p>
            <a:pPr marL="1155700" marR="452755" lvl="1" indent="-228600">
              <a:lnSpc>
                <a:spcPts val="2600"/>
              </a:lnSpc>
              <a:spcBef>
                <a:spcPts val="610"/>
              </a:spcBef>
              <a:buFont typeface="Arial"/>
              <a:buChar char="•"/>
              <a:tabLst>
                <a:tab pos="1156335" algn="l"/>
              </a:tabLst>
            </a:pPr>
            <a:r>
              <a:rPr sz="2400" spc="-5" dirty="0">
                <a:latin typeface="Carlito"/>
                <a:cs typeface="Carlito"/>
              </a:rPr>
              <a:t>Use </a:t>
            </a:r>
            <a:r>
              <a:rPr sz="2400" spc="-10" dirty="0">
                <a:latin typeface="Carlito"/>
                <a:cs typeface="Carlito"/>
              </a:rPr>
              <a:t>information </a:t>
            </a:r>
            <a:r>
              <a:rPr sz="2400" dirty="0">
                <a:latin typeface="Carlito"/>
                <a:cs typeface="Carlito"/>
              </a:rPr>
              <a:t>the individual </a:t>
            </a:r>
            <a:r>
              <a:rPr sz="2400" spc="-10" dirty="0">
                <a:latin typeface="Carlito"/>
                <a:cs typeface="Carlito"/>
              </a:rPr>
              <a:t>knows or can </a:t>
            </a:r>
            <a:r>
              <a:rPr sz="2400" spc="-5" dirty="0">
                <a:latin typeface="Carlito"/>
                <a:cs typeface="Carlito"/>
              </a:rPr>
              <a:t>easily  remember (birthplace, </a:t>
            </a:r>
            <a:r>
              <a:rPr sz="2400" spc="-10" dirty="0">
                <a:latin typeface="Carlito"/>
                <a:cs typeface="Carlito"/>
              </a:rPr>
              <a:t>pet </a:t>
            </a:r>
            <a:r>
              <a:rPr sz="2400" spc="-5" dirty="0">
                <a:latin typeface="Carlito"/>
                <a:cs typeface="Carlito"/>
              </a:rPr>
              <a:t>names,</a:t>
            </a:r>
            <a:r>
              <a:rPr sz="2400" spc="-60" dirty="0">
                <a:latin typeface="Carlito"/>
                <a:cs typeface="Carlito"/>
              </a:rPr>
              <a:t> </a:t>
            </a:r>
            <a:r>
              <a:rPr sz="2400" spc="-10" dirty="0">
                <a:latin typeface="Carlito"/>
                <a:cs typeface="Carlito"/>
              </a:rPr>
              <a:t>etc.)</a:t>
            </a:r>
            <a:endParaRPr sz="2400">
              <a:latin typeface="Carlito"/>
              <a:cs typeface="Carlito"/>
            </a:endParaRPr>
          </a:p>
          <a:p>
            <a:pPr marL="1155700" lvl="1" indent="-229235">
              <a:lnSpc>
                <a:spcPct val="100000"/>
              </a:lnSpc>
              <a:spcBef>
                <a:spcPts val="240"/>
              </a:spcBef>
              <a:buFont typeface="Arial"/>
              <a:buChar char="•"/>
              <a:tabLst>
                <a:tab pos="1156335" algn="l"/>
              </a:tabLst>
            </a:pPr>
            <a:r>
              <a:rPr sz="2400" spc="-5" dirty="0">
                <a:latin typeface="Carlito"/>
                <a:cs typeface="Carlito"/>
              </a:rPr>
              <a:t>Used </a:t>
            </a:r>
            <a:r>
              <a:rPr sz="2400" dirty="0">
                <a:latin typeface="Carlito"/>
                <a:cs typeface="Carlito"/>
              </a:rPr>
              <a:t>in </a:t>
            </a:r>
            <a:r>
              <a:rPr sz="2400" spc="-15" dirty="0">
                <a:latin typeface="Carlito"/>
                <a:cs typeface="Carlito"/>
              </a:rPr>
              <a:t>many password recovery</a:t>
            </a:r>
            <a:r>
              <a:rPr sz="2400" spc="15" dirty="0">
                <a:latin typeface="Carlito"/>
                <a:cs typeface="Carlito"/>
              </a:rPr>
              <a:t> </a:t>
            </a:r>
            <a:r>
              <a:rPr sz="2400" spc="-20" dirty="0">
                <a:latin typeface="Carlito"/>
                <a:cs typeface="Carlito"/>
              </a:rPr>
              <a:t>systems</a:t>
            </a:r>
            <a:endParaRPr sz="2400">
              <a:latin typeface="Carlito"/>
              <a:cs typeface="Carlito"/>
            </a:endParaRPr>
          </a:p>
          <a:p>
            <a:pPr marL="355600" indent="-343535">
              <a:lnSpc>
                <a:spcPct val="100000"/>
              </a:lnSpc>
              <a:spcBef>
                <a:spcPts val="290"/>
              </a:spcBef>
              <a:buFont typeface="Arial"/>
              <a:buChar char="•"/>
              <a:tabLst>
                <a:tab pos="355600" algn="l"/>
                <a:tab pos="356235" algn="l"/>
              </a:tabLst>
            </a:pPr>
            <a:r>
              <a:rPr sz="2400" spc="-25" dirty="0">
                <a:latin typeface="Carlito"/>
                <a:cs typeface="Carlito"/>
              </a:rPr>
              <a:t>Two-Factor</a:t>
            </a:r>
            <a:r>
              <a:rPr sz="2400" spc="-40" dirty="0">
                <a:latin typeface="Carlito"/>
                <a:cs typeface="Carlito"/>
              </a:rPr>
              <a:t> </a:t>
            </a:r>
            <a:r>
              <a:rPr sz="2400" spc="-5" dirty="0">
                <a:latin typeface="Carlito"/>
                <a:cs typeface="Carlito"/>
              </a:rPr>
              <a:t>Authentication</a:t>
            </a:r>
            <a:endParaRPr sz="2400">
              <a:latin typeface="Carlito"/>
              <a:cs typeface="Carlito"/>
            </a:endParaRPr>
          </a:p>
          <a:p>
            <a:pPr marL="756285" lvl="1" indent="-287020">
              <a:lnSpc>
                <a:spcPct val="100000"/>
              </a:lnSpc>
              <a:spcBef>
                <a:spcPts val="290"/>
              </a:spcBef>
              <a:buFont typeface="Arial"/>
              <a:buChar char="–"/>
              <a:tabLst>
                <a:tab pos="756920" algn="l"/>
              </a:tabLst>
            </a:pPr>
            <a:r>
              <a:rPr sz="2400" spc="-5" dirty="0">
                <a:latin typeface="Carlito"/>
                <a:cs typeface="Carlito"/>
              </a:rPr>
              <a:t>Using </a:t>
            </a:r>
            <a:r>
              <a:rPr sz="2400" spc="-10" dirty="0">
                <a:latin typeface="Carlito"/>
                <a:cs typeface="Carlito"/>
              </a:rPr>
              <a:t>two </a:t>
            </a:r>
            <a:r>
              <a:rPr sz="2400" spc="-20" dirty="0">
                <a:latin typeface="Carlito"/>
                <a:cs typeface="Carlito"/>
              </a:rPr>
              <a:t>different </a:t>
            </a:r>
            <a:r>
              <a:rPr sz="2400" spc="-5" dirty="0">
                <a:latin typeface="Carlito"/>
                <a:cs typeface="Carlito"/>
              </a:rPr>
              <a:t>methods </a:t>
            </a:r>
            <a:r>
              <a:rPr sz="2400" spc="-15" dirty="0">
                <a:latin typeface="Carlito"/>
                <a:cs typeface="Carlito"/>
              </a:rPr>
              <a:t>to </a:t>
            </a:r>
            <a:r>
              <a:rPr sz="2400" spc="-10" dirty="0">
                <a:latin typeface="Carlito"/>
                <a:cs typeface="Carlito"/>
              </a:rPr>
              <a:t>authenticate</a:t>
            </a:r>
            <a:r>
              <a:rPr sz="2400" spc="-15" dirty="0">
                <a:latin typeface="Carlito"/>
                <a:cs typeface="Carlito"/>
              </a:rPr>
              <a:t> </a:t>
            </a:r>
            <a:r>
              <a:rPr sz="2400" spc="-10" dirty="0">
                <a:latin typeface="Carlito"/>
                <a:cs typeface="Carlito"/>
              </a:rPr>
              <a:t>users</a:t>
            </a:r>
            <a:endParaRPr sz="2400">
              <a:latin typeface="Carlito"/>
              <a:cs typeface="Carlito"/>
            </a:endParaRPr>
          </a:p>
          <a:p>
            <a:pPr marL="1155700" lvl="2" indent="-229235">
              <a:lnSpc>
                <a:spcPct val="100000"/>
              </a:lnSpc>
              <a:spcBef>
                <a:spcPts val="290"/>
              </a:spcBef>
              <a:buFont typeface="Arial"/>
              <a:buChar char="•"/>
              <a:tabLst>
                <a:tab pos="1156335" algn="l"/>
              </a:tabLst>
            </a:pPr>
            <a:r>
              <a:rPr sz="2400" spc="-15" dirty="0">
                <a:latin typeface="Carlito"/>
                <a:cs typeface="Carlito"/>
              </a:rPr>
              <a:t>Typically </a:t>
            </a:r>
            <a:r>
              <a:rPr sz="2400" spc="-5" dirty="0">
                <a:latin typeface="Carlito"/>
                <a:cs typeface="Carlito"/>
              </a:rPr>
              <a:t>possessed knowledge </a:t>
            </a:r>
            <a:r>
              <a:rPr sz="2400" spc="-15" dirty="0">
                <a:latin typeface="Carlito"/>
                <a:cs typeface="Carlito"/>
              </a:rPr>
              <a:t>(password) </a:t>
            </a:r>
            <a:r>
              <a:rPr sz="2400" dirty="0">
                <a:latin typeface="Carlito"/>
                <a:cs typeface="Carlito"/>
              </a:rPr>
              <a:t>with</a:t>
            </a:r>
            <a:r>
              <a:rPr sz="2400" spc="-60" dirty="0">
                <a:latin typeface="Carlito"/>
                <a:cs typeface="Carlito"/>
              </a:rPr>
              <a:t> </a:t>
            </a:r>
            <a:r>
              <a:rPr sz="2400" dirty="0">
                <a:latin typeface="Carlito"/>
                <a:cs typeface="Carlito"/>
              </a:rPr>
              <a:t>either</a:t>
            </a:r>
            <a:endParaRPr sz="2400">
              <a:latin typeface="Carlito"/>
              <a:cs typeface="Carlito"/>
            </a:endParaRPr>
          </a:p>
          <a:p>
            <a:pPr marL="1612900" lvl="3" indent="-229235">
              <a:lnSpc>
                <a:spcPct val="100000"/>
              </a:lnSpc>
              <a:spcBef>
                <a:spcPts val="285"/>
              </a:spcBef>
              <a:buFont typeface="Arial"/>
              <a:buChar char="–"/>
              <a:tabLst>
                <a:tab pos="1613535" algn="l"/>
              </a:tabLst>
            </a:pPr>
            <a:r>
              <a:rPr sz="2400" dirty="0">
                <a:latin typeface="Carlito"/>
                <a:cs typeface="Carlito"/>
              </a:rPr>
              <a:t>Biometric </a:t>
            </a:r>
            <a:r>
              <a:rPr sz="2400" spc="-15" dirty="0">
                <a:latin typeface="Carlito"/>
                <a:cs typeface="Carlito"/>
              </a:rPr>
              <a:t>Feature </a:t>
            </a:r>
            <a:r>
              <a:rPr sz="2400" spc="-140" dirty="0">
                <a:latin typeface="Arial"/>
                <a:cs typeface="Arial"/>
              </a:rPr>
              <a:t>– </a:t>
            </a:r>
            <a:r>
              <a:rPr sz="2400" spc="-5" dirty="0">
                <a:latin typeface="Carlito"/>
                <a:cs typeface="Carlito"/>
              </a:rPr>
              <a:t>something </a:t>
            </a:r>
            <a:r>
              <a:rPr sz="2400" spc="-10" dirty="0">
                <a:latin typeface="Carlito"/>
                <a:cs typeface="Carlito"/>
              </a:rPr>
              <a:t>you</a:t>
            </a:r>
            <a:r>
              <a:rPr sz="2400" spc="-65" dirty="0">
                <a:latin typeface="Carlito"/>
                <a:cs typeface="Carlito"/>
              </a:rPr>
              <a:t> </a:t>
            </a:r>
            <a:r>
              <a:rPr sz="2400" spc="-15" dirty="0">
                <a:latin typeface="Carlito"/>
                <a:cs typeface="Carlito"/>
              </a:rPr>
              <a:t>are</a:t>
            </a:r>
            <a:endParaRPr sz="2400">
              <a:latin typeface="Carlito"/>
              <a:cs typeface="Carlito"/>
            </a:endParaRPr>
          </a:p>
          <a:p>
            <a:pPr marL="1612900" lvl="3" indent="-229235">
              <a:lnSpc>
                <a:spcPct val="100000"/>
              </a:lnSpc>
              <a:spcBef>
                <a:spcPts val="290"/>
              </a:spcBef>
              <a:buFont typeface="Arial"/>
              <a:buChar char="–"/>
              <a:tabLst>
                <a:tab pos="1613535" algn="l"/>
              </a:tabLst>
            </a:pPr>
            <a:r>
              <a:rPr sz="2400" spc="-10" dirty="0">
                <a:latin typeface="Carlito"/>
                <a:cs typeface="Carlito"/>
              </a:rPr>
              <a:t>Possessed </a:t>
            </a:r>
            <a:r>
              <a:rPr sz="2400" spc="-5" dirty="0">
                <a:latin typeface="Carlito"/>
                <a:cs typeface="Carlito"/>
              </a:rPr>
              <a:t>Object </a:t>
            </a:r>
            <a:r>
              <a:rPr sz="2400" spc="-140" dirty="0">
                <a:latin typeface="Arial"/>
                <a:cs typeface="Arial"/>
              </a:rPr>
              <a:t>– </a:t>
            </a:r>
            <a:r>
              <a:rPr sz="2400" spc="-5" dirty="0">
                <a:latin typeface="Carlito"/>
                <a:cs typeface="Carlito"/>
              </a:rPr>
              <a:t>something </a:t>
            </a:r>
            <a:r>
              <a:rPr sz="2400" spc="-10" dirty="0">
                <a:latin typeface="Carlito"/>
                <a:cs typeface="Carlito"/>
              </a:rPr>
              <a:t>you</a:t>
            </a:r>
            <a:r>
              <a:rPr sz="2400" spc="-40" dirty="0">
                <a:latin typeface="Carlito"/>
                <a:cs typeface="Carlito"/>
              </a:rPr>
              <a:t> </a:t>
            </a:r>
            <a:r>
              <a:rPr sz="2400" spc="-20" dirty="0">
                <a:latin typeface="Carlito"/>
                <a:cs typeface="Carlito"/>
              </a:rPr>
              <a:t>have</a:t>
            </a:r>
            <a:endParaRPr sz="2400">
              <a:latin typeface="Carlito"/>
              <a:cs typeface="Carlito"/>
            </a:endParaRPr>
          </a:p>
          <a:p>
            <a:pPr marL="1155700" lvl="2" indent="-229235">
              <a:lnSpc>
                <a:spcPct val="100000"/>
              </a:lnSpc>
              <a:spcBef>
                <a:spcPts val="290"/>
              </a:spcBef>
              <a:buFont typeface="Arial"/>
              <a:buChar char="•"/>
              <a:tabLst>
                <a:tab pos="1156335" algn="l"/>
              </a:tabLst>
            </a:pPr>
            <a:r>
              <a:rPr sz="2400" spc="-10" dirty="0">
                <a:latin typeface="Carlito"/>
                <a:cs typeface="Carlito"/>
              </a:rPr>
              <a:t>Hard </a:t>
            </a:r>
            <a:r>
              <a:rPr sz="2400" spc="-25" dirty="0">
                <a:latin typeface="Carlito"/>
                <a:cs typeface="Carlito"/>
              </a:rPr>
              <a:t>token </a:t>
            </a:r>
            <a:r>
              <a:rPr sz="2400" spc="-140" dirty="0">
                <a:latin typeface="Arial"/>
                <a:cs typeface="Arial"/>
              </a:rPr>
              <a:t>– </a:t>
            </a:r>
            <a:r>
              <a:rPr sz="2400" spc="-15" dirty="0">
                <a:latin typeface="Carlito"/>
                <a:cs typeface="Carlito"/>
              </a:rPr>
              <a:t>physical </a:t>
            </a:r>
            <a:r>
              <a:rPr sz="2400" spc="-5" dirty="0">
                <a:latin typeface="Carlito"/>
                <a:cs typeface="Carlito"/>
              </a:rPr>
              <a:t>object</a:t>
            </a:r>
            <a:r>
              <a:rPr sz="2400" spc="15" dirty="0">
                <a:latin typeface="Carlito"/>
                <a:cs typeface="Carlito"/>
              </a:rPr>
              <a:t> </a:t>
            </a:r>
            <a:r>
              <a:rPr sz="2400" spc="-5" dirty="0">
                <a:latin typeface="Carlito"/>
                <a:cs typeface="Carlito"/>
              </a:rPr>
              <a:t>used</a:t>
            </a:r>
            <a:endParaRPr sz="2400">
              <a:latin typeface="Carlito"/>
              <a:cs typeface="Carlito"/>
            </a:endParaRPr>
          </a:p>
          <a:p>
            <a:pPr marL="1155700" lvl="2" indent="-229235">
              <a:lnSpc>
                <a:spcPct val="100000"/>
              </a:lnSpc>
              <a:spcBef>
                <a:spcPts val="290"/>
              </a:spcBef>
              <a:buFont typeface="Arial"/>
              <a:buChar char="•"/>
              <a:tabLst>
                <a:tab pos="1156335" algn="l"/>
              </a:tabLst>
            </a:pPr>
            <a:r>
              <a:rPr sz="2400" spc="-5" dirty="0">
                <a:latin typeface="Carlito"/>
                <a:cs typeface="Carlito"/>
              </a:rPr>
              <a:t>Soft </a:t>
            </a:r>
            <a:r>
              <a:rPr sz="2400" spc="-25" dirty="0">
                <a:latin typeface="Carlito"/>
                <a:cs typeface="Carlito"/>
              </a:rPr>
              <a:t>token </a:t>
            </a:r>
            <a:r>
              <a:rPr sz="2400" spc="-140" dirty="0">
                <a:latin typeface="Arial"/>
                <a:cs typeface="Arial"/>
              </a:rPr>
              <a:t>– </a:t>
            </a:r>
            <a:r>
              <a:rPr sz="2400" spc="-5" dirty="0">
                <a:latin typeface="Carlito"/>
                <a:cs typeface="Carlito"/>
              </a:rPr>
              <a:t>supplies </a:t>
            </a:r>
            <a:r>
              <a:rPr sz="2400" dirty="0">
                <a:latin typeface="Carlito"/>
                <a:cs typeface="Carlito"/>
              </a:rPr>
              <a:t>a </a:t>
            </a:r>
            <a:r>
              <a:rPr sz="2400" spc="-5" dirty="0">
                <a:latin typeface="Carlito"/>
                <a:cs typeface="Carlito"/>
              </a:rPr>
              <a:t>one-time </a:t>
            </a:r>
            <a:r>
              <a:rPr sz="2400" spc="-15" dirty="0">
                <a:latin typeface="Carlito"/>
                <a:cs typeface="Carlito"/>
              </a:rPr>
              <a:t>password</a:t>
            </a:r>
            <a:r>
              <a:rPr sz="2400" spc="5" dirty="0">
                <a:latin typeface="Carlito"/>
                <a:cs typeface="Carlito"/>
              </a:rPr>
              <a:t> </a:t>
            </a:r>
            <a:r>
              <a:rPr sz="2400" spc="-20" dirty="0">
                <a:latin typeface="Carlito"/>
                <a:cs typeface="Carlito"/>
              </a:rPr>
              <a:t>(OTP)</a:t>
            </a:r>
            <a:endParaRPr sz="2400">
              <a:latin typeface="Carlito"/>
              <a:cs typeface="Carl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23</a:t>
            </a:fld>
            <a:endParaRPr spc="-165" dirty="0"/>
          </a:p>
        </p:txBody>
      </p:sp>
      <p:sp>
        <p:nvSpPr>
          <p:cNvPr id="3" name="object 3"/>
          <p:cNvSpPr txBox="1"/>
          <p:nvPr/>
        </p:nvSpPr>
        <p:spPr>
          <a:xfrm>
            <a:off x="535940" y="1461262"/>
            <a:ext cx="8150860" cy="4162037"/>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000" spc="-10" dirty="0">
                <a:latin typeface="Carlito"/>
                <a:cs typeface="Carlito"/>
              </a:rPr>
              <a:t>Firewalls</a:t>
            </a:r>
            <a:endParaRPr sz="2000" dirty="0">
              <a:latin typeface="Carlito"/>
              <a:cs typeface="Carlito"/>
            </a:endParaRPr>
          </a:p>
          <a:p>
            <a:pPr marL="756285" marR="557530" lvl="1" indent="-287020">
              <a:lnSpc>
                <a:spcPct val="100000"/>
              </a:lnSpc>
              <a:spcBef>
                <a:spcPts val="575"/>
              </a:spcBef>
              <a:buFont typeface="Arial"/>
              <a:buChar char="–"/>
              <a:tabLst>
                <a:tab pos="756920" algn="l"/>
              </a:tabLst>
            </a:pPr>
            <a:r>
              <a:rPr sz="2000" dirty="0">
                <a:latin typeface="Carlito"/>
                <a:cs typeface="Carlito"/>
              </a:rPr>
              <a:t>A </a:t>
            </a:r>
            <a:r>
              <a:rPr sz="2000" spc="-10" dirty="0">
                <a:latin typeface="Carlito"/>
                <a:cs typeface="Carlito"/>
              </a:rPr>
              <a:t>collection </a:t>
            </a:r>
            <a:r>
              <a:rPr sz="2000" spc="-5" dirty="0">
                <a:latin typeface="Carlito"/>
                <a:cs typeface="Carlito"/>
              </a:rPr>
              <a:t>of </a:t>
            </a:r>
            <a:r>
              <a:rPr sz="2000" spc="-15" dirty="0">
                <a:latin typeface="Carlito"/>
                <a:cs typeface="Carlito"/>
              </a:rPr>
              <a:t>hardware </a:t>
            </a:r>
            <a:r>
              <a:rPr sz="2000" spc="-10" dirty="0">
                <a:latin typeface="Carlito"/>
                <a:cs typeface="Carlito"/>
              </a:rPr>
              <a:t>and/or </a:t>
            </a:r>
            <a:r>
              <a:rPr sz="2000" spc="-15" dirty="0">
                <a:latin typeface="Carlito"/>
                <a:cs typeface="Carlito"/>
              </a:rPr>
              <a:t>software </a:t>
            </a:r>
            <a:r>
              <a:rPr sz="2000" spc="-10" dirty="0">
                <a:latin typeface="Carlito"/>
                <a:cs typeface="Carlito"/>
              </a:rPr>
              <a:t>intended </a:t>
            </a:r>
            <a:r>
              <a:rPr sz="2000" spc="-15" dirty="0">
                <a:latin typeface="Carlito"/>
                <a:cs typeface="Carlito"/>
              </a:rPr>
              <a:t>to  protect </a:t>
            </a:r>
            <a:r>
              <a:rPr sz="2000" dirty="0">
                <a:latin typeface="Carlito"/>
                <a:cs typeface="Carlito"/>
              </a:rPr>
              <a:t>a </a:t>
            </a:r>
            <a:r>
              <a:rPr sz="2000" spc="-10" dirty="0">
                <a:latin typeface="Carlito"/>
                <a:cs typeface="Carlito"/>
              </a:rPr>
              <a:t>computer </a:t>
            </a:r>
            <a:r>
              <a:rPr sz="2000" spc="-5" dirty="0">
                <a:latin typeface="Carlito"/>
                <a:cs typeface="Carlito"/>
              </a:rPr>
              <a:t>or </a:t>
            </a:r>
            <a:r>
              <a:rPr sz="2000" spc="-10" dirty="0">
                <a:latin typeface="Carlito"/>
                <a:cs typeface="Carlito"/>
              </a:rPr>
              <a:t>computer network </a:t>
            </a:r>
            <a:r>
              <a:rPr sz="2000" spc="-15" dirty="0">
                <a:latin typeface="Carlito"/>
                <a:cs typeface="Carlito"/>
              </a:rPr>
              <a:t>from  </a:t>
            </a:r>
            <a:r>
              <a:rPr sz="2000" spc="-10" dirty="0">
                <a:latin typeface="Carlito"/>
                <a:cs typeface="Carlito"/>
              </a:rPr>
              <a:t>unauthorized</a:t>
            </a:r>
            <a:r>
              <a:rPr sz="2000" spc="-15" dirty="0">
                <a:latin typeface="Carlito"/>
                <a:cs typeface="Carlito"/>
              </a:rPr>
              <a:t> </a:t>
            </a:r>
            <a:r>
              <a:rPr sz="2000" spc="-5" dirty="0">
                <a:latin typeface="Carlito"/>
                <a:cs typeface="Carlito"/>
              </a:rPr>
              <a:t>access</a:t>
            </a:r>
            <a:endParaRPr lang="en-US" sz="2000" spc="-5" dirty="0">
              <a:latin typeface="Carlito"/>
              <a:cs typeface="Carlito"/>
            </a:endParaRPr>
          </a:p>
          <a:p>
            <a:pPr marL="355600" indent="-343535">
              <a:lnSpc>
                <a:spcPct val="100000"/>
              </a:lnSpc>
              <a:spcBef>
                <a:spcPts val="675"/>
              </a:spcBef>
              <a:buFont typeface="Arial"/>
              <a:buChar char="•"/>
              <a:tabLst>
                <a:tab pos="355600" algn="l"/>
                <a:tab pos="356235" algn="l"/>
              </a:tabLst>
            </a:pPr>
            <a:r>
              <a:rPr lang="en-US" sz="2000" spc="-5" dirty="0">
                <a:latin typeface="Carlito"/>
                <a:cs typeface="Carlito"/>
              </a:rPr>
              <a:t>Intrusion </a:t>
            </a:r>
            <a:r>
              <a:rPr lang="en-US" sz="2000" spc="-10" dirty="0">
                <a:latin typeface="Carlito"/>
                <a:cs typeface="Carlito"/>
              </a:rPr>
              <a:t>Prevention </a:t>
            </a:r>
            <a:r>
              <a:rPr lang="en-US" sz="2000" spc="-20" dirty="0">
                <a:latin typeface="Carlito"/>
                <a:cs typeface="Carlito"/>
              </a:rPr>
              <a:t>System </a:t>
            </a:r>
            <a:r>
              <a:rPr lang="en-US" sz="2000" spc="-5" dirty="0">
                <a:latin typeface="Carlito"/>
                <a:cs typeface="Carlito"/>
              </a:rPr>
              <a:t>(IPS)</a:t>
            </a:r>
            <a:r>
              <a:rPr lang="en-US" sz="2000" spc="-45" dirty="0">
                <a:latin typeface="Carlito"/>
                <a:cs typeface="Carlito"/>
              </a:rPr>
              <a:t> </a:t>
            </a:r>
            <a:r>
              <a:rPr lang="en-US" sz="2000" spc="-15" dirty="0">
                <a:latin typeface="Carlito"/>
                <a:cs typeface="Carlito"/>
              </a:rPr>
              <a:t>Software</a:t>
            </a:r>
            <a:endParaRPr lang="en-US" sz="2000" dirty="0">
              <a:latin typeface="Carlito"/>
              <a:cs typeface="Carlito"/>
            </a:endParaRPr>
          </a:p>
          <a:p>
            <a:pPr marL="756285" lvl="1" indent="-287020">
              <a:lnSpc>
                <a:spcPct val="100000"/>
              </a:lnSpc>
              <a:spcBef>
                <a:spcPts val="575"/>
              </a:spcBef>
              <a:buFont typeface="Arial"/>
              <a:buChar char="–"/>
              <a:tabLst>
                <a:tab pos="756920" algn="l"/>
              </a:tabLst>
            </a:pPr>
            <a:r>
              <a:rPr lang="en-US" sz="2000" spc="-10" dirty="0">
                <a:latin typeface="Carlito"/>
                <a:cs typeface="Carlito"/>
              </a:rPr>
              <a:t>Monitors </a:t>
            </a:r>
            <a:r>
              <a:rPr lang="en-US" sz="2000" spc="-15" dirty="0">
                <a:latin typeface="Carlito"/>
                <a:cs typeface="Carlito"/>
              </a:rPr>
              <a:t>traffic to </a:t>
            </a:r>
            <a:r>
              <a:rPr lang="en-US" sz="2000" dirty="0">
                <a:latin typeface="Carlito"/>
                <a:cs typeface="Carlito"/>
              </a:rPr>
              <a:t>try and </a:t>
            </a:r>
            <a:r>
              <a:rPr lang="en-US" sz="2000" spc="-10" dirty="0">
                <a:latin typeface="Carlito"/>
                <a:cs typeface="Carlito"/>
              </a:rPr>
              <a:t>detect </a:t>
            </a:r>
            <a:r>
              <a:rPr lang="en-US" sz="2000" spc="-5" dirty="0">
                <a:latin typeface="Carlito"/>
                <a:cs typeface="Carlito"/>
              </a:rPr>
              <a:t>possible</a:t>
            </a:r>
            <a:r>
              <a:rPr lang="en-US" sz="2000" spc="-55" dirty="0">
                <a:latin typeface="Carlito"/>
                <a:cs typeface="Carlito"/>
              </a:rPr>
              <a:t> </a:t>
            </a:r>
            <a:r>
              <a:rPr lang="en-US" sz="2000" spc="-20" dirty="0">
                <a:latin typeface="Carlito"/>
                <a:cs typeface="Carlito"/>
              </a:rPr>
              <a:t>attacks</a:t>
            </a:r>
            <a:endParaRPr lang="en-US" sz="2000" dirty="0">
              <a:latin typeface="Carlito"/>
              <a:cs typeface="Carlito"/>
            </a:endParaRPr>
          </a:p>
          <a:p>
            <a:pPr marL="756285" lvl="1" indent="-287020">
              <a:spcBef>
                <a:spcPts val="580"/>
              </a:spcBef>
              <a:buFont typeface="Arial"/>
              <a:buChar char="–"/>
              <a:tabLst>
                <a:tab pos="756920" algn="l"/>
              </a:tabLst>
            </a:pPr>
            <a:r>
              <a:rPr lang="en-US" sz="2000" dirty="0">
                <a:latin typeface="Carlito"/>
                <a:cs typeface="Carlito"/>
              </a:rPr>
              <a:t>If an </a:t>
            </a:r>
            <a:r>
              <a:rPr lang="en-US" sz="2000" spc="-15" dirty="0">
                <a:latin typeface="Carlito"/>
                <a:cs typeface="Carlito"/>
              </a:rPr>
              <a:t>attack </a:t>
            </a:r>
            <a:r>
              <a:rPr lang="en-US" sz="2000" dirty="0">
                <a:latin typeface="Carlito"/>
                <a:cs typeface="Carlito"/>
              </a:rPr>
              <a:t>is </a:t>
            </a:r>
            <a:r>
              <a:rPr lang="en-US" sz="2000" spc="-15" dirty="0">
                <a:latin typeface="Carlito"/>
                <a:cs typeface="Carlito"/>
              </a:rPr>
              <a:t>discovered, </a:t>
            </a:r>
            <a:r>
              <a:rPr lang="en-US" sz="2000" spc="-5" dirty="0">
                <a:latin typeface="Carlito"/>
                <a:cs typeface="Carlito"/>
              </a:rPr>
              <a:t>IPS </a:t>
            </a:r>
            <a:r>
              <a:rPr lang="en-US" sz="2000" spc="-15" dirty="0">
                <a:latin typeface="Carlito"/>
                <a:cs typeface="Carlito"/>
              </a:rPr>
              <a:t>software </a:t>
            </a:r>
            <a:r>
              <a:rPr lang="en-US" sz="2000" spc="-10" dirty="0">
                <a:latin typeface="Carlito"/>
                <a:cs typeface="Carlito"/>
              </a:rPr>
              <a:t>can</a:t>
            </a:r>
            <a:r>
              <a:rPr lang="en-US" sz="2000" spc="-20" dirty="0">
                <a:latin typeface="Carlito"/>
                <a:cs typeface="Carlito"/>
              </a:rPr>
              <a:t> </a:t>
            </a:r>
            <a:r>
              <a:rPr lang="en-US" sz="2000" spc="-5" dirty="0">
                <a:latin typeface="Carlito"/>
                <a:cs typeface="Carlito"/>
              </a:rPr>
              <a:t>immediately block</a:t>
            </a:r>
            <a:r>
              <a:rPr lang="en-US" sz="2000" spc="-125" dirty="0">
                <a:latin typeface="Carlito"/>
                <a:cs typeface="Carlito"/>
              </a:rPr>
              <a:t> </a:t>
            </a:r>
            <a:r>
              <a:rPr lang="en-US" sz="2000" dirty="0">
                <a:latin typeface="Carlito"/>
                <a:cs typeface="Carlito"/>
              </a:rPr>
              <a:t>it</a:t>
            </a:r>
          </a:p>
          <a:p>
            <a:pPr marL="342900" marR="6072505" indent="-342900">
              <a:lnSpc>
                <a:spcPct val="100000"/>
              </a:lnSpc>
              <a:spcBef>
                <a:spcPts val="575"/>
              </a:spcBef>
              <a:buFont typeface="Arial"/>
              <a:buChar char="•"/>
              <a:tabLst>
                <a:tab pos="342900" algn="l"/>
                <a:tab pos="356235" algn="l"/>
              </a:tabLst>
            </a:pPr>
            <a:r>
              <a:rPr lang="en-US" sz="2000" spc="-5" dirty="0">
                <a:latin typeface="Carlito"/>
              </a:rPr>
              <a:t>Encr</a:t>
            </a:r>
            <a:r>
              <a:rPr lang="en-US" sz="2000" dirty="0">
                <a:latin typeface="Carlito"/>
                <a:cs typeface="Carlito"/>
              </a:rPr>
              <a:t>ypti</a:t>
            </a:r>
            <a:r>
              <a:rPr lang="en-US" sz="2000" spc="-15" dirty="0">
                <a:latin typeface="Carlito"/>
                <a:cs typeface="Carlito"/>
              </a:rPr>
              <a:t>on</a:t>
            </a:r>
            <a:endParaRPr lang="en-US" sz="2000" dirty="0">
              <a:latin typeface="Carlito"/>
              <a:cs typeface="Carlito"/>
            </a:endParaRPr>
          </a:p>
          <a:p>
            <a:pPr marL="756285" lvl="1" indent="-287020">
              <a:lnSpc>
                <a:spcPct val="100000"/>
              </a:lnSpc>
              <a:spcBef>
                <a:spcPts val="580"/>
              </a:spcBef>
              <a:buFont typeface="Arial"/>
              <a:buChar char="–"/>
              <a:tabLst>
                <a:tab pos="756920" algn="l"/>
              </a:tabLst>
            </a:pPr>
            <a:r>
              <a:rPr lang="en-US" sz="2000" spc="-5" dirty="0">
                <a:latin typeface="Carlito"/>
                <a:cs typeface="Carlito"/>
              </a:rPr>
              <a:t>Method of scrambling </a:t>
            </a:r>
            <a:r>
              <a:rPr lang="en-US" sz="2000" spc="-15" dirty="0">
                <a:latin typeface="Carlito"/>
                <a:cs typeface="Carlito"/>
              </a:rPr>
              <a:t>contents </a:t>
            </a:r>
            <a:r>
              <a:rPr lang="en-US" sz="2000" spc="-10" dirty="0">
                <a:latin typeface="Carlito"/>
                <a:cs typeface="Carlito"/>
              </a:rPr>
              <a:t>of </a:t>
            </a:r>
            <a:r>
              <a:rPr lang="en-US" sz="2000" dirty="0">
                <a:latin typeface="Carlito"/>
                <a:cs typeface="Carlito"/>
              </a:rPr>
              <a:t>e-mail </a:t>
            </a:r>
            <a:r>
              <a:rPr lang="en-US" sz="2000" spc="-5" dirty="0">
                <a:latin typeface="Carlito"/>
                <a:cs typeface="Carlito"/>
              </a:rPr>
              <a:t>or files </a:t>
            </a:r>
            <a:r>
              <a:rPr lang="en-US" sz="2000" spc="-15" dirty="0">
                <a:latin typeface="Carlito"/>
                <a:cs typeface="Carlito"/>
              </a:rPr>
              <a:t>to</a:t>
            </a:r>
            <a:r>
              <a:rPr lang="en-US" sz="2000" spc="-85" dirty="0">
                <a:latin typeface="Carlito"/>
                <a:cs typeface="Carlito"/>
              </a:rPr>
              <a:t> </a:t>
            </a:r>
            <a:r>
              <a:rPr lang="en-US" sz="2000" spc="-20" dirty="0">
                <a:latin typeface="Carlito"/>
                <a:cs typeface="Carlito"/>
              </a:rPr>
              <a:t>make</a:t>
            </a:r>
            <a:endParaRPr lang="en-US" sz="2000" dirty="0">
              <a:latin typeface="Carlito"/>
              <a:cs typeface="Carlito"/>
            </a:endParaRPr>
          </a:p>
          <a:p>
            <a:pPr marL="756285">
              <a:lnSpc>
                <a:spcPct val="100000"/>
              </a:lnSpc>
            </a:pPr>
            <a:r>
              <a:rPr lang="en-US" sz="2000" dirty="0">
                <a:latin typeface="Carlito"/>
                <a:cs typeface="Carlito"/>
              </a:rPr>
              <a:t>them </a:t>
            </a:r>
            <a:r>
              <a:rPr lang="en-US" sz="2000" spc="-10" dirty="0">
                <a:latin typeface="Carlito"/>
                <a:cs typeface="Carlito"/>
              </a:rPr>
              <a:t>unreadable </a:t>
            </a:r>
            <a:r>
              <a:rPr lang="en-US" sz="2000" dirty="0">
                <a:latin typeface="Carlito"/>
                <a:cs typeface="Carlito"/>
              </a:rPr>
              <a:t>if</a:t>
            </a:r>
            <a:r>
              <a:rPr lang="en-US" sz="2000" spc="-20" dirty="0">
                <a:latin typeface="Carlito"/>
                <a:cs typeface="Carlito"/>
              </a:rPr>
              <a:t> </a:t>
            </a:r>
            <a:r>
              <a:rPr lang="en-US" sz="2000" spc="-15" dirty="0">
                <a:latin typeface="Carlito"/>
                <a:cs typeface="Carlito"/>
              </a:rPr>
              <a:t>intercepted</a:t>
            </a:r>
            <a:endParaRPr lang="en-US" sz="2000" dirty="0">
              <a:latin typeface="Carlito"/>
              <a:cs typeface="Carlito"/>
            </a:endParaRPr>
          </a:p>
          <a:p>
            <a:pPr marL="756285" lvl="1" indent="-287020">
              <a:lnSpc>
                <a:spcPct val="100000"/>
              </a:lnSpc>
              <a:spcBef>
                <a:spcPts val="575"/>
              </a:spcBef>
              <a:buFont typeface="Arial"/>
              <a:buChar char="–"/>
              <a:tabLst>
                <a:tab pos="756920" algn="l"/>
              </a:tabLst>
            </a:pPr>
            <a:r>
              <a:rPr lang="en-US" sz="2000" spc="-10" dirty="0">
                <a:latin typeface="Carlito"/>
                <a:cs typeface="Carlito"/>
              </a:rPr>
              <a:t>Secure </a:t>
            </a:r>
            <a:r>
              <a:rPr lang="en-US" sz="2000" spc="-30" dirty="0">
                <a:latin typeface="Carlito"/>
                <a:cs typeface="Carlito"/>
              </a:rPr>
              <a:t>Web </a:t>
            </a:r>
            <a:r>
              <a:rPr lang="en-US" sz="2000" spc="-10" dirty="0">
                <a:latin typeface="Carlito"/>
                <a:cs typeface="Carlito"/>
              </a:rPr>
              <a:t>pages </a:t>
            </a:r>
            <a:r>
              <a:rPr lang="en-US" sz="2000" spc="-5" dirty="0">
                <a:latin typeface="Carlito"/>
                <a:cs typeface="Carlito"/>
              </a:rPr>
              <a:t>use</a:t>
            </a:r>
            <a:r>
              <a:rPr lang="en-US" sz="2000" spc="20" dirty="0">
                <a:latin typeface="Carlito"/>
                <a:cs typeface="Carlito"/>
              </a:rPr>
              <a:t> </a:t>
            </a:r>
            <a:r>
              <a:rPr lang="en-US" sz="2000" dirty="0">
                <a:latin typeface="Carlito"/>
                <a:cs typeface="Carlito"/>
              </a:rPr>
              <a:t>encryption</a:t>
            </a:r>
          </a:p>
          <a:p>
            <a:pPr marL="299085" marR="557530" indent="-287020">
              <a:spcBef>
                <a:spcPts val="575"/>
              </a:spcBef>
              <a:buFont typeface="Arial"/>
              <a:buChar char="–"/>
              <a:tabLst>
                <a:tab pos="756920" algn="l"/>
              </a:tabLst>
            </a:pPr>
            <a:endParaRPr sz="2400" dirty="0">
              <a:latin typeface="Carlito"/>
              <a:cs typeface="Carlito"/>
            </a:endParaRPr>
          </a:p>
        </p:txBody>
      </p:sp>
      <p:sp>
        <p:nvSpPr>
          <p:cNvPr id="6" name="Title 5"/>
          <p:cNvSpPr>
            <a:spLocks noGrp="1"/>
          </p:cNvSpPr>
          <p:nvPr>
            <p:ph type="title"/>
          </p:nvPr>
        </p:nvSpPr>
        <p:spPr/>
        <p:txBody>
          <a:bodyPr>
            <a:normAutofit fontScale="90000"/>
          </a:bodyPr>
          <a:lstStyle/>
          <a:p>
            <a:r>
              <a:rPr lang="en-US" spc="-380" dirty="0"/>
              <a:t>Protecting </a:t>
            </a:r>
            <a:r>
              <a:rPr lang="en-US" spc="-395" dirty="0"/>
              <a:t>Against </a:t>
            </a:r>
            <a:r>
              <a:rPr lang="en-US" spc="-350" dirty="0"/>
              <a:t>Unauthorized  </a:t>
            </a:r>
            <a:r>
              <a:rPr lang="en-US" spc="-570" dirty="0"/>
              <a:t>Access </a:t>
            </a:r>
            <a:r>
              <a:rPr lang="en-US" spc="-360" dirty="0"/>
              <a:t>and </a:t>
            </a:r>
            <a:r>
              <a:rPr lang="en-US" spc="-350" dirty="0"/>
              <a:t>Unauthorized</a:t>
            </a:r>
            <a:r>
              <a:rPr lang="en-US" spc="-170" dirty="0"/>
              <a:t> </a:t>
            </a:r>
            <a:r>
              <a:rPr lang="en-US" spc="-515" dirty="0"/>
              <a:t>Use</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3400" y="304800"/>
            <a:ext cx="8305800" cy="685800"/>
          </a:xfrm>
        </p:spPr>
        <p:txBody>
          <a:bodyPr>
            <a:normAutofit fontScale="90000"/>
          </a:bodyPr>
          <a:lstStyle/>
          <a:p>
            <a:pPr eaLnBrk="1" hangingPunct="1"/>
            <a:r>
              <a:rPr lang="en-US"/>
              <a:t>Threats to Hardware</a:t>
            </a:r>
          </a:p>
        </p:txBody>
      </p:sp>
      <p:sp>
        <p:nvSpPr>
          <p:cNvPr id="21507" name="Rectangle 3"/>
          <p:cNvSpPr>
            <a:spLocks noGrp="1" noChangeArrowheads="1"/>
          </p:cNvSpPr>
          <p:nvPr>
            <p:ph idx="1"/>
          </p:nvPr>
        </p:nvSpPr>
        <p:spPr/>
        <p:txBody>
          <a:bodyPr>
            <a:normAutofit lnSpcReduction="10000"/>
          </a:bodyPr>
          <a:lstStyle/>
          <a:p>
            <a:pPr eaLnBrk="1" hangingPunct="1"/>
            <a:r>
              <a:rPr lang="en-US"/>
              <a:t>Natural disasters</a:t>
            </a:r>
          </a:p>
          <a:p>
            <a:pPr lvl="1" eaLnBrk="1" hangingPunct="1"/>
            <a:r>
              <a:rPr lang="en-US"/>
              <a:t>Disasters differ by location</a:t>
            </a:r>
          </a:p>
          <a:p>
            <a:pPr lvl="1" eaLnBrk="1" hangingPunct="1"/>
            <a:r>
              <a:rPr lang="en-US"/>
              <a:t>Typically result in total loss</a:t>
            </a:r>
          </a:p>
          <a:p>
            <a:pPr lvl="1" eaLnBrk="1" hangingPunct="1"/>
            <a:r>
              <a:rPr lang="en-US"/>
              <a:t>Disaster planning</a:t>
            </a:r>
          </a:p>
          <a:p>
            <a:pPr lvl="2" eaLnBrk="1" hangingPunct="1"/>
            <a:r>
              <a:rPr lang="en-US"/>
              <a:t>Be aware that a disaster could strike</a:t>
            </a:r>
          </a:p>
          <a:p>
            <a:pPr lvl="2" eaLnBrk="1" hangingPunct="1"/>
            <a:r>
              <a:rPr lang="en-US"/>
              <a:t>Anticipate it when conditions are right</a:t>
            </a:r>
          </a:p>
          <a:p>
            <a:pPr lvl="2" eaLnBrk="1" hangingPunct="1"/>
            <a:r>
              <a:rPr lang="en-US"/>
              <a:t>Plan for recovery</a:t>
            </a:r>
          </a:p>
          <a:p>
            <a:pPr lvl="2" eaLnBrk="1" hangingPunct="1"/>
            <a:r>
              <a:rPr lang="en-US"/>
              <a:t>List potential disasters</a:t>
            </a:r>
          </a:p>
          <a:p>
            <a:pPr lvl="2" eaLnBrk="1" hangingPunct="1"/>
            <a:r>
              <a:rPr lang="en-US"/>
              <a:t>Plan for all eventualities</a:t>
            </a:r>
          </a:p>
          <a:p>
            <a:pPr lvl="2" eaLnBrk="1" hangingPunct="1"/>
            <a:r>
              <a:rPr lang="en-US"/>
              <a:t>Practice all plans</a:t>
            </a:r>
          </a:p>
        </p:txBody>
      </p:sp>
      <p:pic>
        <p:nvPicPr>
          <p:cNvPr id="21508" name="Picture 4" descr="D:\My Documents\!books\norton im\chapter 14\fire.tif"/>
          <p:cNvPicPr>
            <a:picLocks noChangeAspect="1" noChangeArrowheads="1"/>
          </p:cNvPicPr>
          <p:nvPr/>
        </p:nvPicPr>
        <p:blipFill>
          <a:blip r:embed="rId3" cstate="print"/>
          <a:srcRect/>
          <a:stretch>
            <a:fillRect/>
          </a:stretch>
        </p:blipFill>
        <p:spPr bwMode="auto">
          <a:xfrm>
            <a:off x="5956300" y="4646612"/>
            <a:ext cx="3187700" cy="2135188"/>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25</a:t>
            </a:fld>
            <a:endParaRPr spc="-165" dirty="0"/>
          </a:p>
        </p:txBody>
      </p:sp>
      <p:sp>
        <p:nvSpPr>
          <p:cNvPr id="3" name="object 3"/>
          <p:cNvSpPr txBox="1"/>
          <p:nvPr/>
        </p:nvSpPr>
        <p:spPr>
          <a:xfrm>
            <a:off x="535940" y="1461262"/>
            <a:ext cx="7981950" cy="5349541"/>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5" dirty="0">
                <a:latin typeface="Carlito"/>
                <a:cs typeface="Carlito"/>
              </a:rPr>
              <a:t>Data, Program, </a:t>
            </a:r>
            <a:r>
              <a:rPr sz="2400" spc="-5" dirty="0">
                <a:latin typeface="Carlito"/>
                <a:cs typeface="Carlito"/>
              </a:rPr>
              <a:t>or </a:t>
            </a:r>
            <a:r>
              <a:rPr sz="2400" spc="-30" dirty="0">
                <a:latin typeface="Carlito"/>
                <a:cs typeface="Carlito"/>
              </a:rPr>
              <a:t>Web </a:t>
            </a:r>
            <a:r>
              <a:rPr sz="2400" spc="-10" dirty="0">
                <a:latin typeface="Carlito"/>
                <a:cs typeface="Carlito"/>
              </a:rPr>
              <a:t>Site</a:t>
            </a:r>
            <a:r>
              <a:rPr sz="2400" spc="-15" dirty="0">
                <a:latin typeface="Carlito"/>
                <a:cs typeface="Carlito"/>
              </a:rPr>
              <a:t> </a:t>
            </a:r>
            <a:r>
              <a:rPr sz="2400" spc="-10" dirty="0">
                <a:latin typeface="Carlito"/>
                <a:cs typeface="Carlito"/>
              </a:rPr>
              <a:t>Alteration</a:t>
            </a:r>
            <a:endParaRPr sz="2400" dirty="0">
              <a:latin typeface="Carlito"/>
              <a:cs typeface="Carlito"/>
            </a:endParaRPr>
          </a:p>
          <a:p>
            <a:pPr marL="756285" marR="5080" lvl="1" indent="-287020">
              <a:lnSpc>
                <a:spcPct val="100000"/>
              </a:lnSpc>
              <a:spcBef>
                <a:spcPts val="575"/>
              </a:spcBef>
              <a:buFont typeface="Arial"/>
              <a:buChar char="–"/>
              <a:tabLst>
                <a:tab pos="756920" algn="l"/>
              </a:tabLst>
            </a:pPr>
            <a:r>
              <a:rPr sz="2400" spc="-10" dirty="0">
                <a:latin typeface="Carlito"/>
                <a:cs typeface="Carlito"/>
              </a:rPr>
              <a:t>Sabotage occurs </a:t>
            </a:r>
            <a:r>
              <a:rPr sz="2400" dirty="0">
                <a:latin typeface="Carlito"/>
                <a:cs typeface="Carlito"/>
              </a:rPr>
              <a:t>when a </a:t>
            </a:r>
            <a:r>
              <a:rPr sz="2400" spc="-15" dirty="0">
                <a:latin typeface="Carlito"/>
                <a:cs typeface="Carlito"/>
              </a:rPr>
              <a:t>hacker </a:t>
            </a:r>
            <a:r>
              <a:rPr sz="2400" spc="-5" dirty="0">
                <a:latin typeface="Carlito"/>
                <a:cs typeface="Carlito"/>
              </a:rPr>
              <a:t>breaches </a:t>
            </a:r>
            <a:r>
              <a:rPr sz="2400" dirty="0">
                <a:latin typeface="Carlito"/>
                <a:cs typeface="Carlito"/>
              </a:rPr>
              <a:t>a </a:t>
            </a:r>
            <a:r>
              <a:rPr sz="2400" spc="-10" dirty="0">
                <a:latin typeface="Carlito"/>
                <a:cs typeface="Carlito"/>
              </a:rPr>
              <a:t>computer  </a:t>
            </a:r>
            <a:r>
              <a:rPr sz="2400" spc="-25" dirty="0">
                <a:latin typeface="Carlito"/>
                <a:cs typeface="Carlito"/>
              </a:rPr>
              <a:t>system </a:t>
            </a:r>
            <a:r>
              <a:rPr sz="2400" dirty="0">
                <a:latin typeface="Carlito"/>
                <a:cs typeface="Carlito"/>
              </a:rPr>
              <a:t>in </a:t>
            </a:r>
            <a:r>
              <a:rPr sz="2400" spc="-15" dirty="0">
                <a:latin typeface="Carlito"/>
                <a:cs typeface="Carlito"/>
              </a:rPr>
              <a:t>order to </a:t>
            </a:r>
            <a:r>
              <a:rPr sz="2400" spc="-10" dirty="0">
                <a:latin typeface="Carlito"/>
                <a:cs typeface="Carlito"/>
              </a:rPr>
              <a:t>delete/change </a:t>
            </a:r>
            <a:r>
              <a:rPr sz="2400" spc="-15" dirty="0">
                <a:latin typeface="Carlito"/>
                <a:cs typeface="Carlito"/>
              </a:rPr>
              <a:t>data </a:t>
            </a:r>
            <a:r>
              <a:rPr sz="2400" spc="-5" dirty="0">
                <a:latin typeface="Carlito"/>
                <a:cs typeface="Carlito"/>
              </a:rPr>
              <a:t>or </a:t>
            </a:r>
            <a:r>
              <a:rPr sz="2400" dirty="0">
                <a:latin typeface="Carlito"/>
                <a:cs typeface="Carlito"/>
              </a:rPr>
              <a:t>modify </a:t>
            </a:r>
            <a:r>
              <a:rPr sz="2400" spc="-15" dirty="0">
                <a:latin typeface="Carlito"/>
                <a:cs typeface="Carlito"/>
              </a:rPr>
              <a:t>programs</a:t>
            </a:r>
            <a:endParaRPr sz="2400" dirty="0">
              <a:latin typeface="Carlito"/>
              <a:cs typeface="Carlito"/>
            </a:endParaRPr>
          </a:p>
          <a:p>
            <a:pPr marL="1612900" lvl="2" indent="-229235">
              <a:lnSpc>
                <a:spcPct val="100000"/>
              </a:lnSpc>
              <a:spcBef>
                <a:spcPts val="580"/>
              </a:spcBef>
              <a:buFont typeface="Arial"/>
              <a:buChar char="–"/>
              <a:tabLst>
                <a:tab pos="1613535" algn="l"/>
              </a:tabLst>
            </a:pPr>
            <a:r>
              <a:rPr sz="2400" spc="-10" dirty="0">
                <a:latin typeface="Carlito"/>
                <a:cs typeface="Carlito"/>
              </a:rPr>
              <a:t>Student </a:t>
            </a:r>
            <a:r>
              <a:rPr sz="2400" spc="-5" dirty="0">
                <a:latin typeface="Carlito"/>
                <a:cs typeface="Carlito"/>
              </a:rPr>
              <a:t>changing</a:t>
            </a:r>
            <a:r>
              <a:rPr sz="2400" spc="-35" dirty="0">
                <a:latin typeface="Carlito"/>
                <a:cs typeface="Carlito"/>
              </a:rPr>
              <a:t> </a:t>
            </a:r>
            <a:r>
              <a:rPr sz="2400" spc="-10" dirty="0">
                <a:latin typeface="Carlito"/>
                <a:cs typeface="Carlito"/>
              </a:rPr>
              <a:t>grades</a:t>
            </a:r>
            <a:endParaRPr sz="2400" dirty="0">
              <a:latin typeface="Carlito"/>
              <a:cs typeface="Carlito"/>
            </a:endParaRPr>
          </a:p>
          <a:p>
            <a:pPr marL="1612900" marR="948055" lvl="2" indent="-228600">
              <a:lnSpc>
                <a:spcPct val="100000"/>
              </a:lnSpc>
              <a:spcBef>
                <a:spcPts val="575"/>
              </a:spcBef>
              <a:buFont typeface="Arial"/>
              <a:buChar char="–"/>
              <a:tabLst>
                <a:tab pos="1613535" algn="l"/>
              </a:tabLst>
            </a:pPr>
            <a:r>
              <a:rPr sz="2400" spc="-10" dirty="0">
                <a:latin typeface="Carlito"/>
                <a:cs typeface="Carlito"/>
              </a:rPr>
              <a:t>Employee performing </a:t>
            </a:r>
            <a:r>
              <a:rPr sz="2400" spc="-15" dirty="0">
                <a:latin typeface="Carlito"/>
                <a:cs typeface="Carlito"/>
              </a:rPr>
              <a:t>resentful </a:t>
            </a:r>
            <a:r>
              <a:rPr sz="2400" dirty="0">
                <a:latin typeface="Carlito"/>
                <a:cs typeface="Carlito"/>
              </a:rPr>
              <a:t>acts, </a:t>
            </a:r>
            <a:r>
              <a:rPr sz="2400" spc="-5" dirty="0">
                <a:latin typeface="Carlito"/>
                <a:cs typeface="Carlito"/>
              </a:rPr>
              <a:t>such </a:t>
            </a:r>
            <a:r>
              <a:rPr sz="2400" dirty="0">
                <a:latin typeface="Carlito"/>
                <a:cs typeface="Carlito"/>
              </a:rPr>
              <a:t>as  </a:t>
            </a:r>
            <a:r>
              <a:rPr sz="2400" spc="-5" dirty="0">
                <a:latin typeface="Carlito"/>
                <a:cs typeface="Carlito"/>
              </a:rPr>
              <a:t>deleting or </a:t>
            </a:r>
            <a:r>
              <a:rPr sz="2400" dirty="0">
                <a:latin typeface="Carlito"/>
                <a:cs typeface="Carlito"/>
              </a:rPr>
              <a:t>changing </a:t>
            </a:r>
            <a:r>
              <a:rPr sz="2400" spc="-15" dirty="0">
                <a:latin typeface="Carlito"/>
                <a:cs typeface="Carlito"/>
              </a:rPr>
              <a:t>corporate</a:t>
            </a:r>
            <a:r>
              <a:rPr sz="2400" spc="-80" dirty="0">
                <a:latin typeface="Carlito"/>
                <a:cs typeface="Carlito"/>
              </a:rPr>
              <a:t> </a:t>
            </a:r>
            <a:r>
              <a:rPr sz="2400" spc="-15" dirty="0">
                <a:latin typeface="Carlito"/>
                <a:cs typeface="Carlito"/>
              </a:rPr>
              <a:t>data</a:t>
            </a:r>
            <a:endParaRPr sz="2400" dirty="0">
              <a:latin typeface="Carlito"/>
              <a:cs typeface="Carlito"/>
            </a:endParaRPr>
          </a:p>
          <a:p>
            <a:pPr marL="756285" lvl="1" indent="-287020">
              <a:lnSpc>
                <a:spcPct val="100000"/>
              </a:lnSpc>
              <a:spcBef>
                <a:spcPts val="580"/>
              </a:spcBef>
              <a:buFont typeface="Arial"/>
              <a:buChar char="–"/>
              <a:tabLst>
                <a:tab pos="756920" algn="l"/>
              </a:tabLst>
            </a:pPr>
            <a:r>
              <a:rPr sz="2400" spc="-15" dirty="0">
                <a:latin typeface="Carlito"/>
                <a:cs typeface="Carlito"/>
              </a:rPr>
              <a:t>Data </a:t>
            </a:r>
            <a:r>
              <a:rPr sz="2400" spc="-5" dirty="0">
                <a:latin typeface="Carlito"/>
                <a:cs typeface="Carlito"/>
              </a:rPr>
              <a:t>on </a:t>
            </a:r>
            <a:r>
              <a:rPr sz="2400" spc="-35" dirty="0">
                <a:latin typeface="Carlito"/>
                <a:cs typeface="Carlito"/>
              </a:rPr>
              <a:t>Web </a:t>
            </a:r>
            <a:r>
              <a:rPr sz="2400" spc="-10" dirty="0">
                <a:latin typeface="Carlito"/>
                <a:cs typeface="Carlito"/>
              </a:rPr>
              <a:t>sites can </a:t>
            </a:r>
            <a:r>
              <a:rPr sz="2400" dirty="0">
                <a:latin typeface="Carlito"/>
                <a:cs typeface="Carlito"/>
              </a:rPr>
              <a:t>also </a:t>
            </a:r>
            <a:r>
              <a:rPr sz="2400" spc="-5" dirty="0">
                <a:latin typeface="Carlito"/>
                <a:cs typeface="Carlito"/>
              </a:rPr>
              <a:t>be </a:t>
            </a:r>
            <a:r>
              <a:rPr sz="2400" spc="-10" dirty="0">
                <a:latin typeface="Carlito"/>
                <a:cs typeface="Carlito"/>
              </a:rPr>
              <a:t>altered</a:t>
            </a:r>
            <a:endParaRPr sz="2400" dirty="0">
              <a:latin typeface="Carlito"/>
              <a:cs typeface="Carlito"/>
            </a:endParaRPr>
          </a:p>
          <a:p>
            <a:pPr marL="1155700" marR="292735" indent="-228600">
              <a:lnSpc>
                <a:spcPct val="100000"/>
              </a:lnSpc>
              <a:spcBef>
                <a:spcPts val="575"/>
              </a:spcBef>
              <a:buFont typeface="Arial"/>
              <a:buChar char="•"/>
              <a:tabLst>
                <a:tab pos="1156335" algn="l"/>
              </a:tabLst>
            </a:pPr>
            <a:r>
              <a:rPr sz="2400" spc="-5" dirty="0">
                <a:latin typeface="Carlito"/>
                <a:cs typeface="Carlito"/>
              </a:rPr>
              <a:t>Hacking </a:t>
            </a:r>
            <a:r>
              <a:rPr sz="2400" spc="-15" dirty="0">
                <a:latin typeface="Carlito"/>
                <a:cs typeface="Carlito"/>
              </a:rPr>
              <a:t>into </a:t>
            </a:r>
            <a:r>
              <a:rPr sz="2400" dirty="0">
                <a:latin typeface="Carlito"/>
                <a:cs typeface="Carlito"/>
              </a:rPr>
              <a:t>and </a:t>
            </a:r>
            <a:r>
              <a:rPr sz="2400" spc="-5" dirty="0">
                <a:latin typeface="Carlito"/>
                <a:cs typeface="Carlito"/>
              </a:rPr>
              <a:t>changing social </a:t>
            </a:r>
            <a:r>
              <a:rPr sz="2400" spc="-10" dirty="0">
                <a:latin typeface="Carlito"/>
                <a:cs typeface="Carlito"/>
              </a:rPr>
              <a:t>networking account  </a:t>
            </a:r>
            <a:r>
              <a:rPr sz="2400" spc="-15" dirty="0">
                <a:latin typeface="Carlito"/>
                <a:cs typeface="Carlito"/>
              </a:rPr>
              <a:t>contents </a:t>
            </a:r>
            <a:r>
              <a:rPr sz="2400" spc="-10" dirty="0">
                <a:latin typeface="Carlito"/>
                <a:cs typeface="Carlito"/>
              </a:rPr>
              <a:t>(Facebook pages, </a:t>
            </a:r>
            <a:r>
              <a:rPr sz="2400" spc="-25" dirty="0">
                <a:latin typeface="Carlito"/>
                <a:cs typeface="Carlito"/>
              </a:rPr>
              <a:t>Twitter </a:t>
            </a:r>
            <a:r>
              <a:rPr sz="2400" spc="-5" dirty="0">
                <a:latin typeface="Carlito"/>
                <a:cs typeface="Carlito"/>
              </a:rPr>
              <a:t>tweets,</a:t>
            </a:r>
            <a:r>
              <a:rPr sz="2400" spc="-25" dirty="0">
                <a:latin typeface="Carlito"/>
                <a:cs typeface="Carlito"/>
              </a:rPr>
              <a:t> </a:t>
            </a:r>
            <a:r>
              <a:rPr sz="2400" spc="-10" dirty="0">
                <a:latin typeface="Carlito"/>
                <a:cs typeface="Carlito"/>
              </a:rPr>
              <a:t>etc.)</a:t>
            </a:r>
            <a:endParaRPr sz="2400" dirty="0">
              <a:latin typeface="Carlito"/>
              <a:cs typeface="Carlito"/>
            </a:endParaRPr>
          </a:p>
          <a:p>
            <a:pPr marL="1155700" indent="-229235">
              <a:lnSpc>
                <a:spcPct val="100000"/>
              </a:lnSpc>
              <a:spcBef>
                <a:spcPts val="580"/>
              </a:spcBef>
              <a:buFont typeface="Arial"/>
              <a:buChar char="•"/>
              <a:tabLst>
                <a:tab pos="1156335" algn="l"/>
              </a:tabLst>
            </a:pPr>
            <a:r>
              <a:rPr sz="2400" spc="-5" dirty="0">
                <a:latin typeface="Carlito"/>
                <a:cs typeface="Carlito"/>
              </a:rPr>
              <a:t>Altering legitimate </a:t>
            </a:r>
            <a:r>
              <a:rPr sz="2400" spc="-10" dirty="0">
                <a:latin typeface="Carlito"/>
                <a:cs typeface="Carlito"/>
              </a:rPr>
              <a:t>site </a:t>
            </a:r>
            <a:r>
              <a:rPr sz="2400" spc="-15" dirty="0">
                <a:latin typeface="Carlito"/>
                <a:cs typeface="Carlito"/>
              </a:rPr>
              <a:t>to perform </a:t>
            </a:r>
            <a:r>
              <a:rPr sz="2400" spc="-10" dirty="0">
                <a:latin typeface="Carlito"/>
                <a:cs typeface="Carlito"/>
              </a:rPr>
              <a:t>malware</a:t>
            </a:r>
            <a:r>
              <a:rPr sz="2400" spc="-55" dirty="0">
                <a:latin typeface="Carlito"/>
                <a:cs typeface="Carlito"/>
              </a:rPr>
              <a:t> </a:t>
            </a:r>
            <a:r>
              <a:rPr sz="2400" spc="-20" dirty="0">
                <a:latin typeface="Carlito"/>
                <a:cs typeface="Carlito"/>
              </a:rPr>
              <a:t>attacks</a:t>
            </a:r>
            <a:endParaRPr sz="2400" dirty="0">
              <a:latin typeface="Carlito"/>
              <a:cs typeface="Carlito"/>
            </a:endParaRPr>
          </a:p>
        </p:txBody>
      </p:sp>
      <p:sp>
        <p:nvSpPr>
          <p:cNvPr id="6" name="Title 5"/>
          <p:cNvSpPr>
            <a:spLocks noGrp="1"/>
          </p:cNvSpPr>
          <p:nvPr>
            <p:ph type="title"/>
          </p:nvPr>
        </p:nvSpPr>
        <p:spPr/>
        <p:txBody>
          <a:bodyPr/>
          <a:lstStyle/>
          <a:p>
            <a:r>
              <a:rPr lang="en-US" dirty="0"/>
              <a:t>Threats to Data</a:t>
            </a:r>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26</a:t>
            </a:fld>
            <a:endParaRPr spc="-165" dirty="0"/>
          </a:p>
        </p:txBody>
      </p:sp>
      <p:sp>
        <p:nvSpPr>
          <p:cNvPr id="3" name="object 3"/>
          <p:cNvSpPr txBox="1"/>
          <p:nvPr/>
        </p:nvSpPr>
        <p:spPr>
          <a:xfrm>
            <a:off x="535940" y="1461262"/>
            <a:ext cx="7974330" cy="456184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dirty="0">
                <a:latin typeface="Carlito"/>
                <a:cs typeface="Carlito"/>
              </a:rPr>
              <a:t>Mobile</a:t>
            </a:r>
            <a:r>
              <a:rPr sz="2400" spc="-20" dirty="0">
                <a:latin typeface="Carlito"/>
                <a:cs typeface="Carlito"/>
              </a:rPr>
              <a:t> </a:t>
            </a:r>
            <a:r>
              <a:rPr sz="2400" spc="-10" dirty="0">
                <a:latin typeface="Carlito"/>
                <a:cs typeface="Carlito"/>
              </a:rPr>
              <a:t>Malware</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Can </a:t>
            </a:r>
            <a:r>
              <a:rPr sz="2400" spc="-15" dirty="0">
                <a:latin typeface="Carlito"/>
                <a:cs typeface="Carlito"/>
              </a:rPr>
              <a:t>infect </a:t>
            </a:r>
            <a:r>
              <a:rPr sz="2400" spc="-5" dirty="0">
                <a:latin typeface="Carlito"/>
                <a:cs typeface="Carlito"/>
              </a:rPr>
              <a:t>smartphones, </a:t>
            </a:r>
            <a:r>
              <a:rPr sz="2400" dirty="0">
                <a:latin typeface="Carlito"/>
                <a:cs typeface="Carlito"/>
              </a:rPr>
              <a:t>media </a:t>
            </a:r>
            <a:r>
              <a:rPr sz="2400" spc="-5" dirty="0">
                <a:latin typeface="Carlito"/>
                <a:cs typeface="Carlito"/>
              </a:rPr>
              <a:t>tablets, </a:t>
            </a:r>
            <a:r>
              <a:rPr sz="2400" spc="-15" dirty="0">
                <a:latin typeface="Carlito"/>
                <a:cs typeface="Carlito"/>
              </a:rPr>
              <a:t>printers,</a:t>
            </a:r>
            <a:r>
              <a:rPr sz="2400" spc="-85" dirty="0">
                <a:latin typeface="Carlito"/>
                <a:cs typeface="Carlito"/>
              </a:rPr>
              <a:t> </a:t>
            </a:r>
            <a:r>
              <a:rPr sz="2400" spc="-10" dirty="0">
                <a:latin typeface="Carlito"/>
                <a:cs typeface="Carlito"/>
              </a:rPr>
              <a:t>etc.</a:t>
            </a:r>
            <a:endParaRPr sz="240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Smartphones </a:t>
            </a:r>
            <a:r>
              <a:rPr sz="2400" dirty="0">
                <a:latin typeface="Carlito"/>
                <a:cs typeface="Carlito"/>
              </a:rPr>
              <a:t>with </a:t>
            </a:r>
            <a:r>
              <a:rPr sz="2400" spc="-5" dirty="0">
                <a:latin typeface="Carlito"/>
                <a:cs typeface="Carlito"/>
              </a:rPr>
              <a:t>Bluetooth </a:t>
            </a:r>
            <a:r>
              <a:rPr sz="2400" spc="-15" dirty="0">
                <a:latin typeface="Carlito"/>
                <a:cs typeface="Carlito"/>
              </a:rPr>
              <a:t>are </a:t>
            </a:r>
            <a:r>
              <a:rPr sz="2400" spc="-5" dirty="0">
                <a:latin typeface="Carlito"/>
                <a:cs typeface="Carlito"/>
              </a:rPr>
              <a:t>particularly </a:t>
            </a:r>
            <a:r>
              <a:rPr sz="2400" spc="-10" dirty="0">
                <a:latin typeface="Carlito"/>
                <a:cs typeface="Carlito"/>
              </a:rPr>
              <a:t>vulnerable</a:t>
            </a:r>
            <a:r>
              <a:rPr sz="2400" spc="-70" dirty="0">
                <a:latin typeface="Carlito"/>
                <a:cs typeface="Carlito"/>
              </a:rPr>
              <a:t> </a:t>
            </a:r>
            <a:r>
              <a:rPr sz="2400" spc="-15" dirty="0">
                <a:latin typeface="Carlito"/>
                <a:cs typeface="Carlito"/>
              </a:rPr>
              <a:t>to</a:t>
            </a:r>
            <a:endParaRPr sz="2400">
              <a:latin typeface="Carlito"/>
              <a:cs typeface="Carlito"/>
            </a:endParaRPr>
          </a:p>
          <a:p>
            <a:pPr marL="756285">
              <a:lnSpc>
                <a:spcPct val="100000"/>
              </a:lnSpc>
            </a:pPr>
            <a:r>
              <a:rPr sz="2400" spc="-15" dirty="0">
                <a:latin typeface="Carlito"/>
                <a:cs typeface="Carlito"/>
              </a:rPr>
              <a:t>attack</a:t>
            </a:r>
            <a:endParaRPr sz="2400">
              <a:latin typeface="Carlito"/>
              <a:cs typeface="Carlito"/>
            </a:endParaRPr>
          </a:p>
          <a:p>
            <a:pPr marL="756285" lvl="1" indent="-287020">
              <a:lnSpc>
                <a:spcPct val="100000"/>
              </a:lnSpc>
              <a:spcBef>
                <a:spcPts val="575"/>
              </a:spcBef>
              <a:buFont typeface="Arial"/>
              <a:buChar char="–"/>
              <a:tabLst>
                <a:tab pos="756920" algn="l"/>
              </a:tabLst>
            </a:pPr>
            <a:r>
              <a:rPr sz="2400" dirty="0">
                <a:latin typeface="Carlito"/>
                <a:cs typeface="Carlito"/>
              </a:rPr>
              <a:t>Mobile </a:t>
            </a:r>
            <a:r>
              <a:rPr sz="2400" spc="-10" dirty="0">
                <a:latin typeface="Carlito"/>
                <a:cs typeface="Carlito"/>
              </a:rPr>
              <a:t>threats </a:t>
            </a:r>
            <a:r>
              <a:rPr sz="2400" spc="-15" dirty="0">
                <a:latin typeface="Carlito"/>
                <a:cs typeface="Carlito"/>
              </a:rPr>
              <a:t>are </a:t>
            </a:r>
            <a:r>
              <a:rPr sz="2400" spc="-10" dirty="0">
                <a:latin typeface="Carlito"/>
                <a:cs typeface="Carlito"/>
              </a:rPr>
              <a:t>expected </a:t>
            </a:r>
            <a:r>
              <a:rPr sz="2400" spc="-15" dirty="0">
                <a:latin typeface="Carlito"/>
                <a:cs typeface="Carlito"/>
              </a:rPr>
              <a:t>to </a:t>
            </a:r>
            <a:r>
              <a:rPr sz="2400" spc="-10" dirty="0">
                <a:latin typeface="Carlito"/>
                <a:cs typeface="Carlito"/>
              </a:rPr>
              <a:t>continue </a:t>
            </a:r>
            <a:r>
              <a:rPr sz="2400" spc="-15" dirty="0">
                <a:latin typeface="Carlito"/>
                <a:cs typeface="Carlito"/>
              </a:rPr>
              <a:t>to</a:t>
            </a:r>
            <a:r>
              <a:rPr sz="2400" spc="-25" dirty="0">
                <a:latin typeface="Carlito"/>
                <a:cs typeface="Carlito"/>
              </a:rPr>
              <a:t> </a:t>
            </a:r>
            <a:r>
              <a:rPr sz="2400" spc="-5" dirty="0">
                <a:latin typeface="Carlito"/>
                <a:cs typeface="Carlito"/>
              </a:rPr>
              <a:t>increase</a:t>
            </a:r>
            <a:endParaRPr sz="2400">
              <a:latin typeface="Carlito"/>
              <a:cs typeface="Carlito"/>
            </a:endParaRPr>
          </a:p>
          <a:p>
            <a:pPr marL="355600" indent="-343535">
              <a:lnSpc>
                <a:spcPct val="100000"/>
              </a:lnSpc>
              <a:spcBef>
                <a:spcPts val="580"/>
              </a:spcBef>
              <a:buFont typeface="Arial"/>
              <a:buChar char="•"/>
              <a:tabLst>
                <a:tab pos="355600" algn="l"/>
                <a:tab pos="356235" algn="l"/>
              </a:tabLst>
            </a:pPr>
            <a:r>
              <a:rPr sz="2400" spc="-5" dirty="0">
                <a:latin typeface="Carlito"/>
                <a:cs typeface="Carlito"/>
              </a:rPr>
              <a:t>Denial of </a:t>
            </a:r>
            <a:r>
              <a:rPr sz="2400" dirty="0">
                <a:latin typeface="Carlito"/>
                <a:cs typeface="Carlito"/>
              </a:rPr>
              <a:t>Service </a:t>
            </a:r>
            <a:r>
              <a:rPr sz="2400" spc="-5" dirty="0">
                <a:latin typeface="Carlito"/>
                <a:cs typeface="Carlito"/>
              </a:rPr>
              <a:t>(DoS)</a:t>
            </a:r>
            <a:r>
              <a:rPr sz="2400" spc="-70" dirty="0">
                <a:latin typeface="Carlito"/>
                <a:cs typeface="Carlito"/>
              </a:rPr>
              <a:t> </a:t>
            </a:r>
            <a:r>
              <a:rPr sz="2400" spc="-20" dirty="0">
                <a:latin typeface="Carlito"/>
                <a:cs typeface="Carlito"/>
              </a:rPr>
              <a:t>Attacks</a:t>
            </a:r>
            <a:endParaRPr sz="2400">
              <a:latin typeface="Carlito"/>
              <a:cs typeface="Carlito"/>
            </a:endParaRPr>
          </a:p>
          <a:p>
            <a:pPr marL="756285" marR="5080" lvl="1" indent="-287020">
              <a:lnSpc>
                <a:spcPct val="100000"/>
              </a:lnSpc>
              <a:spcBef>
                <a:spcPts val="575"/>
              </a:spcBef>
              <a:buFont typeface="Arial"/>
              <a:buChar char="–"/>
              <a:tabLst>
                <a:tab pos="756920" algn="l"/>
              </a:tabLst>
            </a:pPr>
            <a:r>
              <a:rPr sz="2400" dirty="0">
                <a:latin typeface="Carlito"/>
                <a:cs typeface="Carlito"/>
              </a:rPr>
              <a:t>Act </a:t>
            </a:r>
            <a:r>
              <a:rPr sz="2400" spc="-5" dirty="0">
                <a:latin typeface="Carlito"/>
                <a:cs typeface="Carlito"/>
              </a:rPr>
              <a:t>of </a:t>
            </a:r>
            <a:r>
              <a:rPr sz="2400" spc="-10" dirty="0">
                <a:latin typeface="Carlito"/>
                <a:cs typeface="Carlito"/>
              </a:rPr>
              <a:t>sabotage that </a:t>
            </a:r>
            <a:r>
              <a:rPr sz="2400" spc="-15" dirty="0">
                <a:latin typeface="Carlito"/>
                <a:cs typeface="Carlito"/>
              </a:rPr>
              <a:t>attempts to </a:t>
            </a:r>
            <a:r>
              <a:rPr sz="2400" spc="-5" dirty="0">
                <a:latin typeface="Carlito"/>
                <a:cs typeface="Carlito"/>
              </a:rPr>
              <a:t>flood </a:t>
            </a:r>
            <a:r>
              <a:rPr sz="2400" dirty="0">
                <a:latin typeface="Carlito"/>
                <a:cs typeface="Carlito"/>
              </a:rPr>
              <a:t>a </a:t>
            </a:r>
            <a:r>
              <a:rPr sz="2400" spc="-10" dirty="0">
                <a:latin typeface="Carlito"/>
                <a:cs typeface="Carlito"/>
              </a:rPr>
              <a:t>network </a:t>
            </a:r>
            <a:r>
              <a:rPr sz="2400" spc="-5" dirty="0">
                <a:latin typeface="Carlito"/>
                <a:cs typeface="Carlito"/>
              </a:rPr>
              <a:t>server or  </a:t>
            </a:r>
            <a:r>
              <a:rPr sz="2400" spc="-30" dirty="0">
                <a:latin typeface="Carlito"/>
                <a:cs typeface="Carlito"/>
              </a:rPr>
              <a:t>Web </a:t>
            </a:r>
            <a:r>
              <a:rPr sz="2400" spc="-5" dirty="0">
                <a:latin typeface="Carlito"/>
                <a:cs typeface="Carlito"/>
              </a:rPr>
              <a:t>server </a:t>
            </a:r>
            <a:r>
              <a:rPr sz="2400" dirty="0">
                <a:latin typeface="Carlito"/>
                <a:cs typeface="Carlito"/>
              </a:rPr>
              <a:t>with </a:t>
            </a:r>
            <a:r>
              <a:rPr sz="2400" spc="-5" dirty="0">
                <a:latin typeface="Carlito"/>
                <a:cs typeface="Carlito"/>
              </a:rPr>
              <a:t>so </a:t>
            </a:r>
            <a:r>
              <a:rPr sz="2400" dirty="0">
                <a:latin typeface="Carlito"/>
                <a:cs typeface="Carlito"/>
              </a:rPr>
              <a:t>much activity </a:t>
            </a:r>
            <a:r>
              <a:rPr sz="2400" spc="-10" dirty="0">
                <a:latin typeface="Carlito"/>
                <a:cs typeface="Carlito"/>
              </a:rPr>
              <a:t>that </a:t>
            </a:r>
            <a:r>
              <a:rPr sz="2400" dirty="0">
                <a:latin typeface="Carlito"/>
                <a:cs typeface="Carlito"/>
              </a:rPr>
              <a:t>it is </a:t>
            </a:r>
            <a:r>
              <a:rPr sz="2400" spc="-5" dirty="0">
                <a:latin typeface="Carlito"/>
                <a:cs typeface="Carlito"/>
              </a:rPr>
              <a:t>unable </a:t>
            </a:r>
            <a:r>
              <a:rPr sz="2400" spc="-15" dirty="0">
                <a:latin typeface="Carlito"/>
                <a:cs typeface="Carlito"/>
              </a:rPr>
              <a:t>to  </a:t>
            </a:r>
            <a:r>
              <a:rPr sz="2400" spc="-5" dirty="0">
                <a:latin typeface="Carlito"/>
                <a:cs typeface="Carlito"/>
              </a:rPr>
              <a:t>function</a:t>
            </a:r>
            <a:endParaRPr sz="2400">
              <a:latin typeface="Carlito"/>
              <a:cs typeface="Carlito"/>
            </a:endParaRPr>
          </a:p>
          <a:p>
            <a:pPr marL="756285" marR="172085" lvl="1" indent="-287020">
              <a:lnSpc>
                <a:spcPct val="100000"/>
              </a:lnSpc>
              <a:spcBef>
                <a:spcPts val="580"/>
              </a:spcBef>
              <a:buFont typeface="Arial"/>
              <a:buChar char="–"/>
              <a:tabLst>
                <a:tab pos="756920" algn="l"/>
              </a:tabLst>
            </a:pPr>
            <a:r>
              <a:rPr sz="2400" spc="-10" dirty="0">
                <a:latin typeface="Carlito"/>
                <a:cs typeface="Carlito"/>
              </a:rPr>
              <a:t>Distributed </a:t>
            </a:r>
            <a:r>
              <a:rPr sz="2400" spc="-5" dirty="0">
                <a:latin typeface="Carlito"/>
                <a:cs typeface="Carlito"/>
              </a:rPr>
              <a:t>DoS </a:t>
            </a:r>
            <a:r>
              <a:rPr sz="2400" spc="-25" dirty="0">
                <a:latin typeface="Carlito"/>
                <a:cs typeface="Carlito"/>
              </a:rPr>
              <a:t>Attacks </a:t>
            </a:r>
            <a:r>
              <a:rPr sz="2400" spc="-15" dirty="0">
                <a:latin typeface="Carlito"/>
                <a:cs typeface="Carlito"/>
              </a:rPr>
              <a:t>target </a:t>
            </a:r>
            <a:r>
              <a:rPr sz="2400" spc="-5" dirty="0">
                <a:latin typeface="Carlito"/>
                <a:cs typeface="Carlito"/>
              </a:rPr>
              <a:t>popular </a:t>
            </a:r>
            <a:r>
              <a:rPr sz="2400" spc="-30" dirty="0">
                <a:latin typeface="Carlito"/>
                <a:cs typeface="Carlito"/>
              </a:rPr>
              <a:t>Web </a:t>
            </a:r>
            <a:r>
              <a:rPr sz="2400" spc="-10" dirty="0">
                <a:latin typeface="Carlito"/>
                <a:cs typeface="Carlito"/>
              </a:rPr>
              <a:t>sites </a:t>
            </a:r>
            <a:r>
              <a:rPr sz="2400" dirty="0">
                <a:latin typeface="Carlito"/>
                <a:cs typeface="Carlito"/>
              </a:rPr>
              <a:t>and </a:t>
            </a:r>
            <a:r>
              <a:rPr sz="2400" spc="-5" dirty="0">
                <a:latin typeface="Carlito"/>
                <a:cs typeface="Carlito"/>
              </a:rPr>
              <a:t>use  </a:t>
            </a:r>
            <a:r>
              <a:rPr sz="2400" dirty="0">
                <a:latin typeface="Carlito"/>
                <a:cs typeface="Carlito"/>
              </a:rPr>
              <a:t>multiple</a:t>
            </a:r>
            <a:r>
              <a:rPr sz="2400" spc="-30" dirty="0">
                <a:latin typeface="Carlito"/>
                <a:cs typeface="Carlito"/>
              </a:rPr>
              <a:t> </a:t>
            </a:r>
            <a:r>
              <a:rPr sz="2400" spc="-15" dirty="0">
                <a:latin typeface="Carlito"/>
                <a:cs typeface="Carlito"/>
              </a:rPr>
              <a:t>computers</a:t>
            </a:r>
            <a:endParaRPr sz="2400">
              <a:latin typeface="Carlito"/>
              <a:cs typeface="Carlito"/>
            </a:endParaRPr>
          </a:p>
        </p:txBody>
      </p:sp>
      <p:sp>
        <p:nvSpPr>
          <p:cNvPr id="6" name="Title 5"/>
          <p:cNvSpPr>
            <a:spLocks noGrp="1"/>
          </p:cNvSpPr>
          <p:nvPr>
            <p:ph type="title"/>
          </p:nvPr>
        </p:nvSpPr>
        <p:spPr/>
        <p:txBody>
          <a:bodyPr/>
          <a:lstStyle/>
          <a:p>
            <a:r>
              <a:rPr lang="en-US" dirty="0"/>
              <a:t>Threats to Data: Malware</a:t>
            </a:r>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69398" y="1779924"/>
            <a:ext cx="7993136" cy="301724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139946" y="5013172"/>
            <a:ext cx="1371600" cy="771525"/>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27</a:t>
            </a:fld>
            <a:endParaRPr spc="-165" dirty="0"/>
          </a:p>
        </p:txBody>
      </p:sp>
      <p:sp>
        <p:nvSpPr>
          <p:cNvPr id="7" name="Title 6"/>
          <p:cNvSpPr>
            <a:spLocks noGrp="1"/>
          </p:cNvSpPr>
          <p:nvPr>
            <p:ph type="title"/>
          </p:nvPr>
        </p:nvSpPr>
        <p:spPr/>
        <p:txBody>
          <a:bodyPr/>
          <a:lstStyle/>
          <a:p>
            <a:r>
              <a:rPr lang="en-US" dirty="0"/>
              <a:t>Threats to Data: Malware</a:t>
            </a:r>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28</a:t>
            </a:fld>
            <a:endParaRPr spc="-165" dirty="0"/>
          </a:p>
        </p:txBody>
      </p:sp>
      <p:sp>
        <p:nvSpPr>
          <p:cNvPr id="3" name="object 3"/>
          <p:cNvSpPr txBox="1"/>
          <p:nvPr/>
        </p:nvSpPr>
        <p:spPr>
          <a:xfrm>
            <a:off x="535940" y="1626598"/>
            <a:ext cx="7803515" cy="4164602"/>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0" dirty="0">
                <a:latin typeface="Carlito"/>
                <a:cs typeface="Carlito"/>
              </a:rPr>
              <a:t>Computer</a:t>
            </a:r>
            <a:r>
              <a:rPr sz="2400" spc="-35" dirty="0">
                <a:latin typeface="Carlito"/>
                <a:cs typeface="Carlito"/>
              </a:rPr>
              <a:t> </a:t>
            </a:r>
            <a:r>
              <a:rPr sz="2400" spc="-5" dirty="0">
                <a:latin typeface="Carlito"/>
                <a:cs typeface="Carlito"/>
              </a:rPr>
              <a:t>Viruses</a:t>
            </a:r>
            <a:endParaRPr sz="2400" dirty="0">
              <a:latin typeface="Carlito"/>
              <a:cs typeface="Carlito"/>
            </a:endParaRPr>
          </a:p>
          <a:p>
            <a:pPr marL="756285" marR="466090" lvl="1" indent="-287020">
              <a:lnSpc>
                <a:spcPct val="100000"/>
              </a:lnSpc>
              <a:spcBef>
                <a:spcPts val="575"/>
              </a:spcBef>
              <a:buChar char="–"/>
              <a:tabLst>
                <a:tab pos="756920" algn="l"/>
              </a:tabLst>
            </a:pPr>
            <a:r>
              <a:rPr sz="2400" spc="-215" dirty="0">
                <a:latin typeface="Arial"/>
                <a:cs typeface="Arial"/>
              </a:rPr>
              <a:t>A </a:t>
            </a:r>
            <a:r>
              <a:rPr lang="en-US" sz="2400" spc="-215" dirty="0">
                <a:latin typeface="Arial"/>
                <a:cs typeface="Arial"/>
              </a:rPr>
              <a:t> </a:t>
            </a:r>
            <a:r>
              <a:rPr sz="2400" spc="-65" dirty="0">
                <a:latin typeface="Arial"/>
                <a:cs typeface="Arial"/>
              </a:rPr>
              <a:t>software </a:t>
            </a:r>
            <a:r>
              <a:rPr sz="2400" spc="-95" dirty="0">
                <a:latin typeface="Arial"/>
                <a:cs typeface="Arial"/>
              </a:rPr>
              <a:t>program </a:t>
            </a:r>
            <a:r>
              <a:rPr sz="2400" spc="-70" dirty="0">
                <a:latin typeface="Arial"/>
                <a:cs typeface="Arial"/>
              </a:rPr>
              <a:t>installed </a:t>
            </a:r>
            <a:r>
              <a:rPr sz="2400" spc="5" dirty="0">
                <a:latin typeface="Arial"/>
                <a:cs typeface="Arial"/>
              </a:rPr>
              <a:t>without </a:t>
            </a:r>
            <a:r>
              <a:rPr sz="2400" spc="-30" dirty="0">
                <a:latin typeface="Arial"/>
                <a:cs typeface="Arial"/>
              </a:rPr>
              <a:t>the </a:t>
            </a:r>
            <a:r>
              <a:rPr sz="2400" spc="-114" dirty="0">
                <a:latin typeface="Arial"/>
                <a:cs typeface="Arial"/>
              </a:rPr>
              <a:t>user’s  </a:t>
            </a:r>
            <a:r>
              <a:rPr sz="2400" spc="-5" dirty="0">
                <a:latin typeface="Carlito"/>
                <a:cs typeface="Carlito"/>
              </a:rPr>
              <a:t>knowledge </a:t>
            </a:r>
            <a:r>
              <a:rPr sz="2400" dirty="0">
                <a:latin typeface="Carlito"/>
                <a:cs typeface="Carlito"/>
              </a:rPr>
              <a:t>and </a:t>
            </a:r>
            <a:r>
              <a:rPr sz="2400" spc="-5" dirty="0">
                <a:latin typeface="Carlito"/>
                <a:cs typeface="Carlito"/>
              </a:rPr>
              <a:t>designed </a:t>
            </a:r>
            <a:r>
              <a:rPr sz="2400" spc="-15" dirty="0">
                <a:latin typeface="Carlito"/>
                <a:cs typeface="Carlito"/>
              </a:rPr>
              <a:t>to </a:t>
            </a:r>
            <a:r>
              <a:rPr sz="2400" spc="-5" dirty="0">
                <a:latin typeface="Carlito"/>
                <a:cs typeface="Carlito"/>
              </a:rPr>
              <a:t>alter </a:t>
            </a:r>
            <a:r>
              <a:rPr sz="2400" dirty="0">
                <a:latin typeface="Carlito"/>
                <a:cs typeface="Carlito"/>
              </a:rPr>
              <a:t>the </a:t>
            </a:r>
            <a:r>
              <a:rPr sz="2400" spc="-30" dirty="0">
                <a:latin typeface="Carlito"/>
                <a:cs typeface="Carlito"/>
              </a:rPr>
              <a:t>way </a:t>
            </a:r>
            <a:r>
              <a:rPr sz="2400" dirty="0">
                <a:latin typeface="Carlito"/>
                <a:cs typeface="Carlito"/>
              </a:rPr>
              <a:t>a </a:t>
            </a:r>
            <a:r>
              <a:rPr sz="2400" spc="-10" dirty="0">
                <a:latin typeface="Carlito"/>
                <a:cs typeface="Carlito"/>
              </a:rPr>
              <a:t>computer  </a:t>
            </a:r>
            <a:r>
              <a:rPr sz="2400" spc="-15" dirty="0">
                <a:latin typeface="Carlito"/>
                <a:cs typeface="Carlito"/>
              </a:rPr>
              <a:t>operates </a:t>
            </a:r>
            <a:r>
              <a:rPr sz="2400" spc="-5" dirty="0">
                <a:latin typeface="Carlito"/>
                <a:cs typeface="Carlito"/>
              </a:rPr>
              <a:t>or </a:t>
            </a:r>
            <a:r>
              <a:rPr sz="2400" spc="-15" dirty="0">
                <a:latin typeface="Carlito"/>
                <a:cs typeface="Carlito"/>
              </a:rPr>
              <a:t>to </a:t>
            </a:r>
            <a:r>
              <a:rPr sz="2400" spc="-10" dirty="0">
                <a:latin typeface="Carlito"/>
                <a:cs typeface="Carlito"/>
              </a:rPr>
              <a:t>cause </a:t>
            </a:r>
            <a:r>
              <a:rPr sz="2400" spc="-5" dirty="0">
                <a:latin typeface="Carlito"/>
                <a:cs typeface="Carlito"/>
              </a:rPr>
              <a:t>harm </a:t>
            </a:r>
            <a:r>
              <a:rPr sz="2400" spc="-15" dirty="0">
                <a:latin typeface="Carlito"/>
                <a:cs typeface="Carlito"/>
              </a:rPr>
              <a:t>to </a:t>
            </a:r>
            <a:r>
              <a:rPr sz="2400" dirty="0">
                <a:latin typeface="Carlito"/>
                <a:cs typeface="Carlito"/>
              </a:rPr>
              <a:t>the </a:t>
            </a:r>
            <a:r>
              <a:rPr sz="2400" spc="-10" dirty="0">
                <a:latin typeface="Carlito"/>
                <a:cs typeface="Carlito"/>
              </a:rPr>
              <a:t>computer</a:t>
            </a:r>
            <a:r>
              <a:rPr sz="2400" spc="-40" dirty="0">
                <a:latin typeface="Carlito"/>
                <a:cs typeface="Carlito"/>
              </a:rPr>
              <a:t> </a:t>
            </a:r>
            <a:r>
              <a:rPr sz="2400" spc="-25" dirty="0">
                <a:latin typeface="Carlito"/>
                <a:cs typeface="Carlito"/>
              </a:rPr>
              <a:t>system</a:t>
            </a:r>
            <a:endParaRPr sz="2400" dirty="0">
              <a:latin typeface="Carlito"/>
              <a:cs typeface="Carlito"/>
            </a:endParaRPr>
          </a:p>
          <a:p>
            <a:pPr marL="756285" marR="390525" lvl="1" indent="-287020">
              <a:lnSpc>
                <a:spcPct val="100000"/>
              </a:lnSpc>
              <a:spcBef>
                <a:spcPts val="580"/>
              </a:spcBef>
              <a:buFont typeface="Arial"/>
              <a:buChar char="–"/>
              <a:tabLst>
                <a:tab pos="756920" algn="l"/>
              </a:tabLst>
            </a:pPr>
            <a:r>
              <a:rPr sz="2400" spc="-10" dirty="0">
                <a:latin typeface="Carlito"/>
                <a:cs typeface="Carlito"/>
              </a:rPr>
              <a:t>Often </a:t>
            </a:r>
            <a:r>
              <a:rPr sz="2400" spc="-5" dirty="0">
                <a:latin typeface="Carlito"/>
                <a:cs typeface="Carlito"/>
              </a:rPr>
              <a:t>embedded </a:t>
            </a:r>
            <a:r>
              <a:rPr sz="2400" dirty="0">
                <a:latin typeface="Carlito"/>
                <a:cs typeface="Carlito"/>
              </a:rPr>
              <a:t>in </a:t>
            </a:r>
            <a:r>
              <a:rPr sz="2400" spc="-5" dirty="0">
                <a:latin typeface="Carlito"/>
                <a:cs typeface="Carlito"/>
              </a:rPr>
              <a:t>downloaded </a:t>
            </a:r>
            <a:r>
              <a:rPr sz="2400" spc="-15" dirty="0">
                <a:latin typeface="Carlito"/>
                <a:cs typeface="Carlito"/>
              </a:rPr>
              <a:t>programs </a:t>
            </a:r>
            <a:r>
              <a:rPr sz="2400" dirty="0">
                <a:latin typeface="Carlito"/>
                <a:cs typeface="Carlito"/>
              </a:rPr>
              <a:t>and e-mail  </a:t>
            </a:r>
            <a:r>
              <a:rPr sz="2400" spc="-5" dirty="0">
                <a:latin typeface="Carlito"/>
                <a:cs typeface="Carlito"/>
              </a:rPr>
              <a:t>messages (games, videos, </a:t>
            </a:r>
            <a:r>
              <a:rPr sz="2400" dirty="0">
                <a:latin typeface="Carlito"/>
                <a:cs typeface="Carlito"/>
              </a:rPr>
              <a:t>music</a:t>
            </a:r>
            <a:r>
              <a:rPr sz="2400" spc="-45" dirty="0">
                <a:latin typeface="Carlito"/>
                <a:cs typeface="Carlito"/>
              </a:rPr>
              <a:t> </a:t>
            </a:r>
            <a:r>
              <a:rPr sz="2400" spc="-5" dirty="0">
                <a:latin typeface="Carlito"/>
                <a:cs typeface="Carlito"/>
              </a:rPr>
              <a:t>files)</a:t>
            </a:r>
            <a:endParaRPr sz="2400" dirty="0">
              <a:latin typeface="Carlito"/>
              <a:cs typeface="Carlito"/>
            </a:endParaRPr>
          </a:p>
          <a:p>
            <a:pPr marL="355600" indent="-343535">
              <a:lnSpc>
                <a:spcPct val="100000"/>
              </a:lnSpc>
              <a:spcBef>
                <a:spcPts val="575"/>
              </a:spcBef>
              <a:buFont typeface="Arial"/>
              <a:buChar char="•"/>
              <a:tabLst>
                <a:tab pos="355600" algn="l"/>
                <a:tab pos="356235" algn="l"/>
              </a:tabLst>
            </a:pPr>
            <a:r>
              <a:rPr sz="2400" spc="-10" dirty="0">
                <a:latin typeface="Carlito"/>
                <a:cs typeface="Carlito"/>
              </a:rPr>
              <a:t>Computer</a:t>
            </a:r>
            <a:r>
              <a:rPr sz="2400" spc="-35" dirty="0">
                <a:latin typeface="Carlito"/>
                <a:cs typeface="Carlito"/>
              </a:rPr>
              <a:t> </a:t>
            </a:r>
            <a:r>
              <a:rPr sz="2400" spc="-30" dirty="0">
                <a:latin typeface="Carlito"/>
                <a:cs typeface="Carlito"/>
              </a:rPr>
              <a:t>Worm</a:t>
            </a:r>
            <a:endParaRPr sz="2400" dirty="0">
              <a:latin typeface="Carlito"/>
              <a:cs typeface="Carlito"/>
            </a:endParaRPr>
          </a:p>
          <a:p>
            <a:pPr marL="756285" marR="5080" lvl="1" indent="-287020">
              <a:lnSpc>
                <a:spcPct val="100000"/>
              </a:lnSpc>
              <a:spcBef>
                <a:spcPts val="580"/>
              </a:spcBef>
              <a:buFont typeface="Arial"/>
              <a:buChar char="–"/>
              <a:tabLst>
                <a:tab pos="756920" algn="l"/>
              </a:tabLst>
            </a:pPr>
            <a:r>
              <a:rPr sz="2400" dirty="0">
                <a:latin typeface="Carlito"/>
                <a:cs typeface="Carlito"/>
              </a:rPr>
              <a:t>Malicious </a:t>
            </a:r>
            <a:r>
              <a:rPr sz="2400" spc="-15" dirty="0">
                <a:latin typeface="Carlito"/>
                <a:cs typeface="Carlito"/>
              </a:rPr>
              <a:t>program </a:t>
            </a:r>
            <a:r>
              <a:rPr sz="2400" spc="-5" dirty="0">
                <a:latin typeface="Carlito"/>
                <a:cs typeface="Carlito"/>
              </a:rPr>
              <a:t>designed </a:t>
            </a:r>
            <a:r>
              <a:rPr sz="2400" spc="-15" dirty="0">
                <a:latin typeface="Carlito"/>
                <a:cs typeface="Carlito"/>
              </a:rPr>
              <a:t>to </a:t>
            </a:r>
            <a:r>
              <a:rPr sz="2400" spc="-10" dirty="0">
                <a:latin typeface="Carlito"/>
                <a:cs typeface="Carlito"/>
              </a:rPr>
              <a:t>spread rapidly by </a:t>
            </a:r>
            <a:r>
              <a:rPr sz="2400" spc="-5" dirty="0">
                <a:latin typeface="Carlito"/>
                <a:cs typeface="Carlito"/>
              </a:rPr>
              <a:t>sending  copies of </a:t>
            </a:r>
            <a:r>
              <a:rPr sz="2400" dirty="0">
                <a:latin typeface="Carlito"/>
                <a:cs typeface="Carlito"/>
              </a:rPr>
              <a:t>itself </a:t>
            </a:r>
            <a:r>
              <a:rPr sz="2400" spc="-20" dirty="0">
                <a:latin typeface="Carlito"/>
                <a:cs typeface="Carlito"/>
              </a:rPr>
              <a:t>to </a:t>
            </a:r>
            <a:r>
              <a:rPr sz="2400" spc="-5" dirty="0">
                <a:latin typeface="Carlito"/>
                <a:cs typeface="Carlito"/>
              </a:rPr>
              <a:t>other </a:t>
            </a:r>
            <a:r>
              <a:rPr sz="2400" spc="-15" dirty="0">
                <a:latin typeface="Carlito"/>
                <a:cs typeface="Carlito"/>
              </a:rPr>
              <a:t>computers </a:t>
            </a:r>
            <a:r>
              <a:rPr sz="2400" dirty="0">
                <a:latin typeface="Carlito"/>
                <a:cs typeface="Carlito"/>
              </a:rPr>
              <a:t>via a</a:t>
            </a:r>
            <a:r>
              <a:rPr sz="2400" spc="-40" dirty="0">
                <a:latin typeface="Carlito"/>
                <a:cs typeface="Carlito"/>
              </a:rPr>
              <a:t> </a:t>
            </a:r>
            <a:r>
              <a:rPr sz="2400" spc="-10" dirty="0">
                <a:latin typeface="Carlito"/>
                <a:cs typeface="Carlito"/>
              </a:rPr>
              <a:t>network</a:t>
            </a:r>
            <a:endParaRPr sz="2400" dirty="0">
              <a:latin typeface="Carlito"/>
              <a:cs typeface="Carlito"/>
            </a:endParaRPr>
          </a:p>
          <a:p>
            <a:pPr marL="756285" lvl="1" indent="-287020">
              <a:lnSpc>
                <a:spcPct val="100000"/>
              </a:lnSpc>
              <a:spcBef>
                <a:spcPts val="575"/>
              </a:spcBef>
              <a:buFont typeface="Arial"/>
              <a:buChar char="–"/>
              <a:tabLst>
                <a:tab pos="756920" algn="l"/>
              </a:tabLst>
            </a:pPr>
            <a:r>
              <a:rPr sz="2400" spc="-15" dirty="0">
                <a:latin typeface="Carlito"/>
                <a:cs typeface="Carlito"/>
              </a:rPr>
              <a:t>Typically </a:t>
            </a:r>
            <a:r>
              <a:rPr sz="2400" spc="-10" dirty="0">
                <a:latin typeface="Carlito"/>
                <a:cs typeface="Carlito"/>
              </a:rPr>
              <a:t>sent </a:t>
            </a:r>
            <a:r>
              <a:rPr sz="2400" dirty="0">
                <a:latin typeface="Carlito"/>
                <a:cs typeface="Carlito"/>
              </a:rPr>
              <a:t>as an e-mail</a:t>
            </a:r>
            <a:r>
              <a:rPr sz="2400" spc="-30" dirty="0">
                <a:latin typeface="Carlito"/>
                <a:cs typeface="Carlito"/>
              </a:rPr>
              <a:t> </a:t>
            </a:r>
            <a:r>
              <a:rPr sz="2400" spc="-15" dirty="0">
                <a:latin typeface="Carlito"/>
                <a:cs typeface="Carlito"/>
              </a:rPr>
              <a:t>attachment</a:t>
            </a:r>
            <a:endParaRPr sz="2400" dirty="0">
              <a:latin typeface="Carlito"/>
              <a:cs typeface="Carlito"/>
            </a:endParaRPr>
          </a:p>
        </p:txBody>
      </p:sp>
      <p:sp>
        <p:nvSpPr>
          <p:cNvPr id="6" name="Title 5"/>
          <p:cNvSpPr>
            <a:spLocks noGrp="1"/>
          </p:cNvSpPr>
          <p:nvPr>
            <p:ph type="title"/>
          </p:nvPr>
        </p:nvSpPr>
        <p:spPr/>
        <p:txBody>
          <a:bodyPr/>
          <a:lstStyle/>
          <a:p>
            <a:r>
              <a:rPr lang="en-US" dirty="0"/>
              <a:t>Threats to Data: Virus</a:t>
            </a: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62926" y="1628800"/>
            <a:ext cx="6866573" cy="4529191"/>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7596378" y="2203704"/>
            <a:ext cx="1333500" cy="1085850"/>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29</a:t>
            </a:fld>
            <a:endParaRPr spc="-165" dirty="0"/>
          </a:p>
        </p:txBody>
      </p:sp>
      <p:sp>
        <p:nvSpPr>
          <p:cNvPr id="7" name="Title 6"/>
          <p:cNvSpPr>
            <a:spLocks noGrp="1"/>
          </p:cNvSpPr>
          <p:nvPr>
            <p:ph type="title"/>
          </p:nvPr>
        </p:nvSpPr>
        <p:spPr/>
        <p:txBody>
          <a:bodyPr/>
          <a:lstStyle/>
          <a:p>
            <a:r>
              <a:rPr lang="en-US" dirty="0"/>
              <a:t>Threats to Data: Virus</a:t>
            </a:r>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1461262"/>
            <a:ext cx="5436235" cy="4488815"/>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35" dirty="0">
                <a:latin typeface="Carlito"/>
                <a:cs typeface="Carlito"/>
              </a:rPr>
              <a:t>Trojan</a:t>
            </a:r>
            <a:r>
              <a:rPr sz="2400" spc="-25" dirty="0">
                <a:latin typeface="Carlito"/>
                <a:cs typeface="Carlito"/>
              </a:rPr>
              <a:t> </a:t>
            </a:r>
            <a:r>
              <a:rPr sz="2400" spc="-15" dirty="0">
                <a:latin typeface="Carlito"/>
                <a:cs typeface="Carlito"/>
              </a:rPr>
              <a:t>Horse</a:t>
            </a:r>
            <a:endParaRPr sz="2400">
              <a:latin typeface="Carlito"/>
              <a:cs typeface="Carlito"/>
            </a:endParaRPr>
          </a:p>
          <a:p>
            <a:pPr marL="756285" marR="62865" lvl="1" indent="-287020">
              <a:lnSpc>
                <a:spcPct val="100000"/>
              </a:lnSpc>
              <a:spcBef>
                <a:spcPts val="575"/>
              </a:spcBef>
              <a:buFont typeface="Arial"/>
              <a:buChar char="–"/>
              <a:tabLst>
                <a:tab pos="756920" algn="l"/>
              </a:tabLst>
            </a:pPr>
            <a:r>
              <a:rPr sz="2400" dirty="0">
                <a:latin typeface="Carlito"/>
                <a:cs typeface="Carlito"/>
              </a:rPr>
              <a:t>Malicious </a:t>
            </a:r>
            <a:r>
              <a:rPr sz="2400" spc="-15" dirty="0">
                <a:latin typeface="Carlito"/>
                <a:cs typeface="Carlito"/>
              </a:rPr>
              <a:t>program </a:t>
            </a:r>
            <a:r>
              <a:rPr sz="2400" spc="-10" dirty="0">
                <a:latin typeface="Carlito"/>
                <a:cs typeface="Carlito"/>
              </a:rPr>
              <a:t>that</a:t>
            </a:r>
            <a:r>
              <a:rPr sz="2400" spc="-114" dirty="0">
                <a:latin typeface="Carlito"/>
                <a:cs typeface="Carlito"/>
              </a:rPr>
              <a:t> </a:t>
            </a:r>
            <a:r>
              <a:rPr sz="2400" spc="-5" dirty="0">
                <a:latin typeface="Carlito"/>
                <a:cs typeface="Carlito"/>
              </a:rPr>
              <a:t>masquerades  </a:t>
            </a:r>
            <a:r>
              <a:rPr sz="2400" dirty="0">
                <a:latin typeface="Carlito"/>
                <a:cs typeface="Carlito"/>
              </a:rPr>
              <a:t>as </a:t>
            </a:r>
            <a:r>
              <a:rPr sz="2400" spc="-5" dirty="0">
                <a:latin typeface="Carlito"/>
                <a:cs typeface="Carlito"/>
              </a:rPr>
              <a:t>something</a:t>
            </a:r>
            <a:r>
              <a:rPr sz="2400" spc="-50" dirty="0">
                <a:latin typeface="Carlito"/>
                <a:cs typeface="Carlito"/>
              </a:rPr>
              <a:t> </a:t>
            </a:r>
            <a:r>
              <a:rPr sz="2400" dirty="0">
                <a:latin typeface="Carlito"/>
                <a:cs typeface="Carlito"/>
              </a:rPr>
              <a:t>else</a:t>
            </a:r>
            <a:endParaRPr sz="2400">
              <a:latin typeface="Carlito"/>
              <a:cs typeface="Carlito"/>
            </a:endParaRPr>
          </a:p>
          <a:p>
            <a:pPr marL="756285" marR="719455" lvl="1" indent="-287020">
              <a:lnSpc>
                <a:spcPct val="100000"/>
              </a:lnSpc>
              <a:spcBef>
                <a:spcPts val="580"/>
              </a:spcBef>
              <a:buFont typeface="Arial"/>
              <a:buChar char="–"/>
              <a:tabLst>
                <a:tab pos="756920" algn="l"/>
              </a:tabLst>
            </a:pPr>
            <a:r>
              <a:rPr sz="2400" spc="-5" dirty="0">
                <a:latin typeface="Carlito"/>
                <a:cs typeface="Carlito"/>
              </a:rPr>
              <a:t>Usually appears </a:t>
            </a:r>
            <a:r>
              <a:rPr sz="2400" spc="-15" dirty="0">
                <a:latin typeface="Carlito"/>
                <a:cs typeface="Carlito"/>
              </a:rPr>
              <a:t>to </a:t>
            </a:r>
            <a:r>
              <a:rPr sz="2400" spc="-5" dirty="0">
                <a:latin typeface="Carlito"/>
                <a:cs typeface="Carlito"/>
              </a:rPr>
              <a:t>be </a:t>
            </a:r>
            <a:r>
              <a:rPr sz="2400" dirty="0">
                <a:latin typeface="Carlito"/>
                <a:cs typeface="Carlito"/>
              </a:rPr>
              <a:t>a </a:t>
            </a:r>
            <a:r>
              <a:rPr sz="2400" spc="-15" dirty="0">
                <a:latin typeface="Carlito"/>
                <a:cs typeface="Carlito"/>
              </a:rPr>
              <a:t>game</a:t>
            </a:r>
            <a:r>
              <a:rPr sz="2400" spc="-125" dirty="0">
                <a:latin typeface="Carlito"/>
                <a:cs typeface="Carlito"/>
              </a:rPr>
              <a:t> </a:t>
            </a:r>
            <a:r>
              <a:rPr sz="2400" spc="-5" dirty="0">
                <a:latin typeface="Carlito"/>
                <a:cs typeface="Carlito"/>
              </a:rPr>
              <a:t>or  utility</a:t>
            </a:r>
            <a:r>
              <a:rPr sz="2400" spc="-45" dirty="0">
                <a:latin typeface="Carlito"/>
                <a:cs typeface="Carlito"/>
              </a:rPr>
              <a:t> </a:t>
            </a:r>
            <a:r>
              <a:rPr sz="2400" spc="-15" dirty="0">
                <a:latin typeface="Carlito"/>
                <a:cs typeface="Carlito"/>
              </a:rPr>
              <a:t>program</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Cannot </a:t>
            </a:r>
            <a:r>
              <a:rPr sz="2400" spc="-15" dirty="0">
                <a:latin typeface="Carlito"/>
                <a:cs typeface="Carlito"/>
              </a:rPr>
              <a:t>replicate </a:t>
            </a:r>
            <a:r>
              <a:rPr sz="2400" spc="-5" dirty="0">
                <a:latin typeface="Carlito"/>
                <a:cs typeface="Carlito"/>
              </a:rPr>
              <a:t>themselves; </a:t>
            </a:r>
            <a:r>
              <a:rPr sz="2400" spc="-10" dirty="0">
                <a:latin typeface="Carlito"/>
                <a:cs typeface="Carlito"/>
              </a:rPr>
              <a:t>must</a:t>
            </a:r>
            <a:r>
              <a:rPr sz="2400" spc="-50" dirty="0">
                <a:latin typeface="Carlito"/>
                <a:cs typeface="Carlito"/>
              </a:rPr>
              <a:t> </a:t>
            </a:r>
            <a:r>
              <a:rPr sz="2400" spc="-5" dirty="0">
                <a:latin typeface="Carlito"/>
                <a:cs typeface="Carlito"/>
              </a:rPr>
              <a:t>be</a:t>
            </a:r>
            <a:endParaRPr sz="2400">
              <a:latin typeface="Carlito"/>
              <a:cs typeface="Carlito"/>
            </a:endParaRPr>
          </a:p>
          <a:p>
            <a:pPr marL="756285" marR="2590165">
              <a:lnSpc>
                <a:spcPct val="100000"/>
              </a:lnSpc>
            </a:pPr>
            <a:r>
              <a:rPr sz="2400" spc="-5" dirty="0">
                <a:latin typeface="Carlito"/>
                <a:cs typeface="Carlito"/>
              </a:rPr>
              <a:t>downloaded</a:t>
            </a:r>
            <a:r>
              <a:rPr sz="2400" spc="-75" dirty="0">
                <a:latin typeface="Carlito"/>
                <a:cs typeface="Carlito"/>
              </a:rPr>
              <a:t> </a:t>
            </a:r>
            <a:r>
              <a:rPr sz="2400" dirty="0">
                <a:latin typeface="Carlito"/>
                <a:cs typeface="Carlito"/>
              </a:rPr>
              <a:t>and  </a:t>
            </a:r>
            <a:r>
              <a:rPr sz="2400" spc="-10" dirty="0">
                <a:latin typeface="Carlito"/>
                <a:cs typeface="Carlito"/>
              </a:rPr>
              <a:t>installed</a:t>
            </a:r>
            <a:endParaRPr sz="2400">
              <a:latin typeface="Carlito"/>
              <a:cs typeface="Carlito"/>
            </a:endParaRPr>
          </a:p>
          <a:p>
            <a:pPr marL="756285" marR="5080" lvl="1" indent="-287020">
              <a:lnSpc>
                <a:spcPct val="100000"/>
              </a:lnSpc>
              <a:spcBef>
                <a:spcPts val="580"/>
              </a:spcBef>
              <a:buFont typeface="Arial"/>
              <a:buChar char="–"/>
              <a:tabLst>
                <a:tab pos="756920" algn="l"/>
              </a:tabLst>
            </a:pPr>
            <a:r>
              <a:rPr sz="2400" spc="-15" dirty="0">
                <a:latin typeface="Carlito"/>
                <a:cs typeface="Carlito"/>
              </a:rPr>
              <a:t>Rogue </a:t>
            </a:r>
            <a:r>
              <a:rPr sz="2400" spc="-5" dirty="0">
                <a:latin typeface="Carlito"/>
                <a:cs typeface="Carlito"/>
              </a:rPr>
              <a:t>antivirus </a:t>
            </a:r>
            <a:r>
              <a:rPr sz="2400" spc="-15" dirty="0">
                <a:latin typeface="Carlito"/>
                <a:cs typeface="Carlito"/>
              </a:rPr>
              <a:t>programs (scareware)  are </a:t>
            </a:r>
            <a:r>
              <a:rPr sz="2400" spc="-10" dirty="0">
                <a:latin typeface="Carlito"/>
                <a:cs typeface="Carlito"/>
              </a:rPr>
              <a:t>common</a:t>
            </a:r>
            <a:r>
              <a:rPr sz="2400" spc="-25" dirty="0">
                <a:latin typeface="Carlito"/>
                <a:cs typeface="Carlito"/>
              </a:rPr>
              <a:t> </a:t>
            </a:r>
            <a:r>
              <a:rPr sz="2400" spc="-20" dirty="0">
                <a:latin typeface="Carlito"/>
                <a:cs typeface="Carlito"/>
              </a:rPr>
              <a:t>today</a:t>
            </a:r>
            <a:endParaRPr sz="240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Ransomware</a:t>
            </a:r>
            <a:endParaRPr sz="2400">
              <a:latin typeface="Carlito"/>
              <a:cs typeface="Carlito"/>
            </a:endParaRPr>
          </a:p>
        </p:txBody>
      </p:sp>
      <p:grpSp>
        <p:nvGrpSpPr>
          <p:cNvPr id="4" name="object 4"/>
          <p:cNvGrpSpPr/>
          <p:nvPr/>
        </p:nvGrpSpPr>
        <p:grpSpPr>
          <a:xfrm>
            <a:off x="5292090" y="1515071"/>
            <a:ext cx="3851910" cy="5276215"/>
            <a:chOff x="5292090" y="1515071"/>
            <a:chExt cx="3851910" cy="5276215"/>
          </a:xfrm>
        </p:grpSpPr>
        <p:sp>
          <p:nvSpPr>
            <p:cNvPr id="5" name="object 5"/>
            <p:cNvSpPr/>
            <p:nvPr/>
          </p:nvSpPr>
          <p:spPr>
            <a:xfrm>
              <a:off x="5292090" y="5567686"/>
              <a:ext cx="1070563" cy="1223445"/>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6353048" y="1515071"/>
              <a:ext cx="2790952" cy="4434205"/>
            </a:xfrm>
            <a:prstGeom prst="rect">
              <a:avLst/>
            </a:prstGeom>
            <a:blipFill>
              <a:blip r:embed="rId3" cstate="print"/>
              <a:stretch>
                <a:fillRect/>
              </a:stretch>
            </a:blipFill>
          </p:spPr>
          <p:txBody>
            <a:bodyPr wrap="square" lIns="0" tIns="0" rIns="0" bIns="0" rtlCol="0"/>
            <a:lstStyle/>
            <a:p>
              <a:endParaRPr/>
            </a:p>
          </p:txBody>
        </p:sp>
      </p:grpSp>
      <p:sp>
        <p:nvSpPr>
          <p:cNvPr id="8" name="object 8"/>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30</a:t>
            </a:fld>
            <a:endParaRPr spc="-165" dirty="0"/>
          </a:p>
        </p:txBody>
      </p:sp>
      <p:sp>
        <p:nvSpPr>
          <p:cNvPr id="9" name="Title 8"/>
          <p:cNvSpPr>
            <a:spLocks noGrp="1"/>
          </p:cNvSpPr>
          <p:nvPr>
            <p:ph type="title"/>
          </p:nvPr>
        </p:nvSpPr>
        <p:spPr/>
        <p:txBody>
          <a:bodyPr>
            <a:normAutofit fontScale="90000"/>
          </a:bodyPr>
          <a:lstStyle/>
          <a:p>
            <a:r>
              <a:rPr lang="en-US" dirty="0"/>
              <a:t>Threats to Data: Malicious Program</a:t>
            </a:r>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31</a:t>
            </a:fld>
            <a:endParaRPr spc="-165" dirty="0"/>
          </a:p>
        </p:txBody>
      </p:sp>
      <p:sp>
        <p:nvSpPr>
          <p:cNvPr id="3" name="object 3"/>
          <p:cNvSpPr txBox="1"/>
          <p:nvPr/>
        </p:nvSpPr>
        <p:spPr>
          <a:xfrm>
            <a:off x="535940" y="1461262"/>
            <a:ext cx="7863840" cy="5211042"/>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0" dirty="0">
                <a:latin typeface="Carlito"/>
                <a:cs typeface="Carlito"/>
              </a:rPr>
              <a:t>Computer </a:t>
            </a:r>
            <a:r>
              <a:rPr sz="2400" spc="-5" dirty="0">
                <a:latin typeface="Carlito"/>
                <a:cs typeface="Carlito"/>
              </a:rPr>
              <a:t>Crime</a:t>
            </a:r>
            <a:r>
              <a:rPr sz="2400" spc="-50" dirty="0">
                <a:latin typeface="Carlito"/>
                <a:cs typeface="Carlito"/>
              </a:rPr>
              <a:t> </a:t>
            </a:r>
            <a:r>
              <a:rPr sz="2400" spc="-5" dirty="0">
                <a:latin typeface="Carlito"/>
                <a:cs typeface="Carlito"/>
              </a:rPr>
              <a:t>(cybercrime)</a:t>
            </a:r>
            <a:endParaRPr sz="2400" dirty="0">
              <a:latin typeface="Carlito"/>
              <a:cs typeface="Carlito"/>
            </a:endParaRPr>
          </a:p>
          <a:p>
            <a:pPr marL="823594" lvl="1" indent="-354330">
              <a:lnSpc>
                <a:spcPct val="100000"/>
              </a:lnSpc>
              <a:spcBef>
                <a:spcPts val="575"/>
              </a:spcBef>
              <a:buFont typeface="Arial"/>
              <a:buChar char="–"/>
              <a:tabLst>
                <a:tab pos="823594" algn="l"/>
                <a:tab pos="824230" algn="l"/>
              </a:tabLst>
            </a:pPr>
            <a:r>
              <a:rPr sz="2400" spc="-15" dirty="0">
                <a:latin typeface="Carlito"/>
                <a:cs typeface="Carlito"/>
              </a:rPr>
              <a:t>Any </a:t>
            </a:r>
            <a:r>
              <a:rPr sz="2400" spc="-10" dirty="0">
                <a:latin typeface="Carlito"/>
                <a:cs typeface="Carlito"/>
              </a:rPr>
              <a:t>illegal </a:t>
            </a:r>
            <a:r>
              <a:rPr sz="2400" dirty="0">
                <a:latin typeface="Carlito"/>
                <a:cs typeface="Carlito"/>
              </a:rPr>
              <a:t>act </a:t>
            </a:r>
            <a:r>
              <a:rPr sz="2400" spc="-10" dirty="0">
                <a:latin typeface="Carlito"/>
                <a:cs typeface="Carlito"/>
              </a:rPr>
              <a:t>involving </a:t>
            </a:r>
            <a:r>
              <a:rPr sz="2400" dirty="0">
                <a:latin typeface="Carlito"/>
                <a:cs typeface="Carlito"/>
              </a:rPr>
              <a:t>a </a:t>
            </a:r>
            <a:r>
              <a:rPr sz="2400" spc="-30" dirty="0">
                <a:latin typeface="Carlito"/>
                <a:cs typeface="Carlito"/>
              </a:rPr>
              <a:t>computer,</a:t>
            </a:r>
            <a:r>
              <a:rPr sz="2400" spc="-50" dirty="0">
                <a:latin typeface="Carlito"/>
                <a:cs typeface="Carlito"/>
              </a:rPr>
              <a:t> </a:t>
            </a:r>
            <a:r>
              <a:rPr sz="2400" dirty="0">
                <a:latin typeface="Carlito"/>
                <a:cs typeface="Carlito"/>
              </a:rPr>
              <a:t>including:</a:t>
            </a:r>
          </a:p>
          <a:p>
            <a:pPr marL="1155700" lvl="2" indent="-229235">
              <a:lnSpc>
                <a:spcPct val="100000"/>
              </a:lnSpc>
              <a:spcBef>
                <a:spcPts val="580"/>
              </a:spcBef>
              <a:buFont typeface="Arial"/>
              <a:buChar char="•"/>
              <a:tabLst>
                <a:tab pos="1156335" algn="l"/>
              </a:tabLst>
            </a:pPr>
            <a:r>
              <a:rPr sz="2400" spc="-10" dirty="0">
                <a:latin typeface="Carlito"/>
                <a:cs typeface="Carlito"/>
              </a:rPr>
              <a:t>Theft of </a:t>
            </a:r>
            <a:r>
              <a:rPr sz="2400" spc="-5" dirty="0">
                <a:latin typeface="Carlito"/>
                <a:cs typeface="Carlito"/>
              </a:rPr>
              <a:t>financial assets</a:t>
            </a:r>
            <a:endParaRPr sz="2400" dirty="0">
              <a:latin typeface="Carlito"/>
              <a:cs typeface="Carlito"/>
            </a:endParaRPr>
          </a:p>
          <a:p>
            <a:pPr marL="1155700" lvl="2" indent="-229235">
              <a:lnSpc>
                <a:spcPct val="100000"/>
              </a:lnSpc>
              <a:spcBef>
                <a:spcPts val="575"/>
              </a:spcBef>
              <a:buFont typeface="Arial"/>
              <a:buChar char="•"/>
              <a:tabLst>
                <a:tab pos="1156335" algn="l"/>
              </a:tabLst>
            </a:pPr>
            <a:r>
              <a:rPr sz="2400" spc="-5" dirty="0">
                <a:latin typeface="Carlito"/>
                <a:cs typeface="Carlito"/>
              </a:rPr>
              <a:t>Manipulating </a:t>
            </a:r>
            <a:r>
              <a:rPr sz="2400" spc="-15" dirty="0">
                <a:latin typeface="Carlito"/>
                <a:cs typeface="Carlito"/>
              </a:rPr>
              <a:t>data </a:t>
            </a:r>
            <a:r>
              <a:rPr sz="2400" spc="-20" dirty="0">
                <a:latin typeface="Carlito"/>
                <a:cs typeface="Carlito"/>
              </a:rPr>
              <a:t>for </a:t>
            </a:r>
            <a:r>
              <a:rPr sz="2400" spc="-10" dirty="0">
                <a:latin typeface="Carlito"/>
                <a:cs typeface="Carlito"/>
              </a:rPr>
              <a:t>personal</a:t>
            </a:r>
            <a:r>
              <a:rPr sz="2400" spc="-25" dirty="0">
                <a:latin typeface="Carlito"/>
                <a:cs typeface="Carlito"/>
              </a:rPr>
              <a:t> </a:t>
            </a:r>
            <a:r>
              <a:rPr sz="2400" spc="-15" dirty="0">
                <a:latin typeface="Carlito"/>
                <a:cs typeface="Carlito"/>
              </a:rPr>
              <a:t>advantage</a:t>
            </a:r>
            <a:endParaRPr sz="2400" dirty="0">
              <a:latin typeface="Carlito"/>
              <a:cs typeface="Carlito"/>
            </a:endParaRPr>
          </a:p>
          <a:p>
            <a:pPr marL="1155700" marR="198120" lvl="2" indent="-228600">
              <a:lnSpc>
                <a:spcPct val="100000"/>
              </a:lnSpc>
              <a:spcBef>
                <a:spcPts val="575"/>
              </a:spcBef>
              <a:buFont typeface="Arial"/>
              <a:buChar char="•"/>
              <a:tabLst>
                <a:tab pos="1156335" algn="l"/>
              </a:tabLst>
            </a:pPr>
            <a:r>
              <a:rPr sz="2400" dirty="0">
                <a:latin typeface="Carlito"/>
                <a:cs typeface="Carlito"/>
              </a:rPr>
              <a:t>Act </a:t>
            </a:r>
            <a:r>
              <a:rPr sz="2400" spc="-5" dirty="0">
                <a:latin typeface="Carlito"/>
                <a:cs typeface="Carlito"/>
              </a:rPr>
              <a:t>of </a:t>
            </a:r>
            <a:r>
              <a:rPr sz="2400" spc="-10" dirty="0">
                <a:latin typeface="Carlito"/>
                <a:cs typeface="Carlito"/>
              </a:rPr>
              <a:t>sabotage </a:t>
            </a:r>
            <a:r>
              <a:rPr sz="2400" spc="-5" dirty="0">
                <a:latin typeface="Carlito"/>
                <a:cs typeface="Carlito"/>
              </a:rPr>
              <a:t>(releasing </a:t>
            </a:r>
            <a:r>
              <a:rPr sz="2400" dirty="0">
                <a:latin typeface="Carlito"/>
                <a:cs typeface="Carlito"/>
              </a:rPr>
              <a:t>a </a:t>
            </a:r>
            <a:r>
              <a:rPr sz="2400" spc="-10" dirty="0">
                <a:latin typeface="Carlito"/>
                <a:cs typeface="Carlito"/>
              </a:rPr>
              <a:t>computer </a:t>
            </a:r>
            <a:r>
              <a:rPr sz="2400" dirty="0">
                <a:latin typeface="Carlito"/>
                <a:cs typeface="Carlito"/>
              </a:rPr>
              <a:t>virus, </a:t>
            </a:r>
            <a:r>
              <a:rPr sz="2400" spc="-10" dirty="0">
                <a:latin typeface="Carlito"/>
                <a:cs typeface="Carlito"/>
              </a:rPr>
              <a:t>shutting  down </a:t>
            </a:r>
            <a:r>
              <a:rPr sz="2400" dirty="0">
                <a:latin typeface="Carlito"/>
                <a:cs typeface="Carlito"/>
              </a:rPr>
              <a:t>a </a:t>
            </a:r>
            <a:r>
              <a:rPr sz="2400" spc="-30" dirty="0">
                <a:latin typeface="Carlito"/>
                <a:cs typeface="Carlito"/>
              </a:rPr>
              <a:t>Web</a:t>
            </a:r>
            <a:r>
              <a:rPr sz="2400" spc="-15" dirty="0">
                <a:latin typeface="Carlito"/>
                <a:cs typeface="Carlito"/>
              </a:rPr>
              <a:t> </a:t>
            </a:r>
            <a:r>
              <a:rPr sz="2400" spc="-5" dirty="0">
                <a:latin typeface="Carlito"/>
                <a:cs typeface="Carlito"/>
              </a:rPr>
              <a:t>server)</a:t>
            </a:r>
            <a:endParaRPr sz="2400" dirty="0">
              <a:latin typeface="Carlito"/>
              <a:cs typeface="Carlito"/>
            </a:endParaRPr>
          </a:p>
          <a:p>
            <a:pPr marL="1155700" lvl="2" indent="-229235">
              <a:lnSpc>
                <a:spcPct val="100000"/>
              </a:lnSpc>
              <a:spcBef>
                <a:spcPts val="580"/>
              </a:spcBef>
              <a:buFont typeface="Arial"/>
              <a:buChar char="•"/>
              <a:tabLst>
                <a:tab pos="1156335" algn="l"/>
              </a:tabLst>
            </a:pPr>
            <a:r>
              <a:rPr sz="2400" spc="-5" dirty="0">
                <a:latin typeface="Carlito"/>
                <a:cs typeface="Carlito"/>
              </a:rPr>
              <a:t>Phishing </a:t>
            </a:r>
            <a:r>
              <a:rPr sz="2400" dirty="0">
                <a:latin typeface="Carlito"/>
                <a:cs typeface="Carlito"/>
              </a:rPr>
              <a:t>and </a:t>
            </a:r>
            <a:r>
              <a:rPr sz="2400" spc="-10" dirty="0">
                <a:latin typeface="Carlito"/>
                <a:cs typeface="Carlito"/>
              </a:rPr>
              <a:t>Internet</a:t>
            </a:r>
            <a:r>
              <a:rPr sz="2400" spc="-50" dirty="0">
                <a:latin typeface="Carlito"/>
                <a:cs typeface="Carlito"/>
              </a:rPr>
              <a:t> </a:t>
            </a:r>
            <a:r>
              <a:rPr sz="2400" spc="-10" dirty="0">
                <a:latin typeface="Carlito"/>
                <a:cs typeface="Carlito"/>
              </a:rPr>
              <a:t>scams</a:t>
            </a:r>
            <a:endParaRPr sz="2400" dirty="0">
              <a:latin typeface="Carlito"/>
              <a:cs typeface="Carlito"/>
            </a:endParaRPr>
          </a:p>
          <a:p>
            <a:pPr marL="355600" marR="5080" indent="-343535">
              <a:lnSpc>
                <a:spcPct val="100000"/>
              </a:lnSpc>
              <a:spcBef>
                <a:spcPts val="575"/>
              </a:spcBef>
              <a:buFont typeface="Arial"/>
              <a:buChar char="•"/>
              <a:tabLst>
                <a:tab pos="355600" algn="l"/>
                <a:tab pos="356235" algn="l"/>
              </a:tabLst>
            </a:pPr>
            <a:r>
              <a:rPr sz="2400" dirty="0">
                <a:latin typeface="Carlito"/>
                <a:cs typeface="Carlito"/>
              </a:rPr>
              <a:t>All </a:t>
            </a:r>
            <a:r>
              <a:rPr sz="2400" spc="-10" dirty="0">
                <a:latin typeface="Carlito"/>
                <a:cs typeface="Carlito"/>
              </a:rPr>
              <a:t>computer users </a:t>
            </a:r>
            <a:r>
              <a:rPr sz="2400" spc="-5" dirty="0">
                <a:latin typeface="Carlito"/>
                <a:cs typeface="Carlito"/>
              </a:rPr>
              <a:t>should be </a:t>
            </a:r>
            <a:r>
              <a:rPr sz="2400" spc="-15" dirty="0">
                <a:latin typeface="Carlito"/>
                <a:cs typeface="Carlito"/>
              </a:rPr>
              <a:t>aware </a:t>
            </a:r>
            <a:r>
              <a:rPr sz="2400" spc="-5" dirty="0">
                <a:latin typeface="Carlito"/>
                <a:cs typeface="Carlito"/>
              </a:rPr>
              <a:t>of security </a:t>
            </a:r>
            <a:r>
              <a:rPr sz="2400" spc="-10" dirty="0">
                <a:latin typeface="Carlito"/>
                <a:cs typeface="Carlito"/>
              </a:rPr>
              <a:t>concerns </a:t>
            </a:r>
            <a:r>
              <a:rPr sz="2400" dirty="0">
                <a:latin typeface="Carlito"/>
                <a:cs typeface="Carlito"/>
              </a:rPr>
              <a:t>and  the </a:t>
            </a:r>
            <a:r>
              <a:rPr sz="2400" spc="-10" dirty="0">
                <a:latin typeface="Carlito"/>
                <a:cs typeface="Carlito"/>
              </a:rPr>
              <a:t>precautions that can </a:t>
            </a:r>
            <a:r>
              <a:rPr sz="2400" spc="-5" dirty="0">
                <a:latin typeface="Carlito"/>
                <a:cs typeface="Carlito"/>
              </a:rPr>
              <a:t>be</a:t>
            </a:r>
            <a:r>
              <a:rPr sz="2400" spc="-40" dirty="0">
                <a:latin typeface="Carlito"/>
                <a:cs typeface="Carlito"/>
              </a:rPr>
              <a:t> </a:t>
            </a:r>
            <a:r>
              <a:rPr sz="2400" spc="-20" dirty="0">
                <a:latin typeface="Carlito"/>
                <a:cs typeface="Carlito"/>
              </a:rPr>
              <a:t>taken</a:t>
            </a:r>
            <a:endParaRPr lang="en-US" sz="2400" spc="-20" dirty="0">
              <a:latin typeface="Carlito"/>
              <a:cs typeface="Carlito"/>
            </a:endParaRPr>
          </a:p>
          <a:p>
            <a:pPr marL="355600" marR="5080" indent="-343535">
              <a:lnSpc>
                <a:spcPct val="100000"/>
              </a:lnSpc>
              <a:spcBef>
                <a:spcPts val="575"/>
              </a:spcBef>
              <a:buFont typeface="Arial"/>
              <a:buChar char="•"/>
              <a:tabLst>
                <a:tab pos="355600" algn="l"/>
                <a:tab pos="356235" algn="l"/>
              </a:tabLst>
            </a:pPr>
            <a:r>
              <a:rPr lang="en-US" sz="2400" spc="-20" dirty="0">
                <a:latin typeface="Carlito"/>
                <a:cs typeface="Carlito"/>
              </a:rPr>
              <a:t>Cyber Terrorism</a:t>
            </a:r>
          </a:p>
          <a:p>
            <a:pPr marL="355600" marR="5080" indent="-343535">
              <a:lnSpc>
                <a:spcPct val="100000"/>
              </a:lnSpc>
              <a:spcBef>
                <a:spcPts val="575"/>
              </a:spcBef>
              <a:buFont typeface="Arial"/>
              <a:buChar char="•"/>
              <a:tabLst>
                <a:tab pos="355600" algn="l"/>
                <a:tab pos="356235" algn="l"/>
              </a:tabLst>
            </a:pPr>
            <a:r>
              <a:rPr lang="en-US" sz="2400" spc="-20" dirty="0">
                <a:latin typeface="Carlito"/>
                <a:cs typeface="Carlito"/>
              </a:rPr>
              <a:t>Cyber Bullying</a:t>
            </a:r>
          </a:p>
          <a:p>
            <a:pPr marL="355600" marR="5080" indent="-343535">
              <a:lnSpc>
                <a:spcPct val="100000"/>
              </a:lnSpc>
              <a:spcBef>
                <a:spcPts val="575"/>
              </a:spcBef>
              <a:buFont typeface="Arial"/>
              <a:buChar char="•"/>
              <a:tabLst>
                <a:tab pos="355600" algn="l"/>
                <a:tab pos="356235" algn="l"/>
              </a:tabLst>
            </a:pPr>
            <a:r>
              <a:rPr lang="en-US" sz="2400" spc="-20" dirty="0">
                <a:latin typeface="Carlito"/>
                <a:cs typeface="Carlito"/>
              </a:rPr>
              <a:t>Cyber Stalking</a:t>
            </a:r>
            <a:endParaRPr sz="2400" dirty="0">
              <a:latin typeface="Carlito"/>
              <a:cs typeface="Carlito"/>
            </a:endParaRPr>
          </a:p>
        </p:txBody>
      </p:sp>
      <p:sp>
        <p:nvSpPr>
          <p:cNvPr id="6" name="Title 5"/>
          <p:cNvSpPr>
            <a:spLocks noGrp="1"/>
          </p:cNvSpPr>
          <p:nvPr>
            <p:ph type="title"/>
          </p:nvPr>
        </p:nvSpPr>
        <p:spPr/>
        <p:txBody>
          <a:bodyPr/>
          <a:lstStyle/>
          <a:p>
            <a:r>
              <a:rPr lang="en-US" dirty="0" err="1"/>
              <a:t>CyberCrime</a:t>
            </a:r>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CSC 101 – Introduction to Computing</a:t>
            </a:r>
          </a:p>
        </p:txBody>
      </p:sp>
      <p:sp>
        <p:nvSpPr>
          <p:cNvPr id="3" name="Subtitle 2"/>
          <p:cNvSpPr>
            <a:spLocks noGrp="1"/>
          </p:cNvSpPr>
          <p:nvPr>
            <p:ph type="subTitle" idx="1"/>
          </p:nvPr>
        </p:nvSpPr>
        <p:spPr/>
        <p:txBody>
          <a:bodyPr/>
          <a:lstStyle/>
          <a:p>
            <a:r>
              <a:rPr lang="en-US" dirty="0"/>
              <a:t>Lecture 14 (Morley Ch 10)</a:t>
            </a:r>
          </a:p>
        </p:txBody>
      </p:sp>
    </p:spTree>
    <p:extLst>
      <p:ext uri="{BB962C8B-B14F-4D97-AF65-F5344CB8AC3E}">
        <p14:creationId xmlns:p14="http://schemas.microsoft.com/office/powerpoint/2010/main" val="14487047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5448"/>
            <a:ext cx="8229600" cy="566822"/>
          </a:xfrm>
          <a:prstGeom prst="rect">
            <a:avLst/>
          </a:prstGeom>
        </p:spPr>
        <p:txBody>
          <a:bodyPr vert="horz" wrap="square" lIns="0" tIns="12700" rIns="0" bIns="0" rtlCol="0">
            <a:spAutoFit/>
          </a:bodyPr>
          <a:lstStyle/>
          <a:p>
            <a:pPr marL="12700">
              <a:lnSpc>
                <a:spcPct val="100000"/>
              </a:lnSpc>
              <a:spcBef>
                <a:spcPts val="100"/>
              </a:spcBef>
            </a:pPr>
            <a:r>
              <a:rPr sz="3600" spc="-45"/>
              <a:t>O</a:t>
            </a:r>
            <a:r>
              <a:rPr lang="en-US" sz="3600" spc="-45" dirty="0" err="1"/>
              <a:t>utline</a:t>
            </a:r>
            <a:endParaRPr sz="3600"/>
          </a:p>
        </p:txBody>
      </p:sp>
      <p:sp>
        <p:nvSpPr>
          <p:cNvPr id="6" name="Content Placeholder 5"/>
          <p:cNvSpPr>
            <a:spLocks noGrp="1"/>
          </p:cNvSpPr>
          <p:nvPr>
            <p:ph idx="1"/>
          </p:nvPr>
        </p:nvSpPr>
        <p:spPr/>
        <p:txBody>
          <a:bodyPr>
            <a:normAutofit/>
          </a:bodyPr>
          <a:lstStyle/>
          <a:p>
            <a:r>
              <a:rPr lang="en-US" dirty="0"/>
              <a:t>Information Systems &amp; System Development: </a:t>
            </a:r>
          </a:p>
          <a:p>
            <a:pPr lvl="1"/>
            <a:r>
              <a:rPr lang="en-US" dirty="0"/>
              <a:t>Need for System Development Enterprise Architecture</a:t>
            </a:r>
          </a:p>
          <a:p>
            <a:r>
              <a:rPr lang="en-US" dirty="0"/>
              <a:t>Users of Information Systems </a:t>
            </a:r>
          </a:p>
          <a:p>
            <a:r>
              <a:rPr lang="en-US" dirty="0"/>
              <a:t>Types of Information Systems</a:t>
            </a:r>
          </a:p>
          <a:p>
            <a:r>
              <a:rPr lang="en-US" dirty="0"/>
              <a:t>System Development Life Cycle (SDLC) </a:t>
            </a:r>
          </a:p>
          <a:p>
            <a:pPr>
              <a:buNone/>
            </a:pPr>
            <a:r>
              <a:rPr lang="en-GB" dirty="0"/>
              <a:t>  </a:t>
            </a:r>
          </a:p>
          <a:p>
            <a:endParaRPr lang="en-GB" dirty="0"/>
          </a:p>
        </p:txBody>
      </p:sp>
      <p:sp>
        <p:nvSpPr>
          <p:cNvPr id="5" name="object 5"/>
          <p:cNvSpPr txBox="1">
            <a:spLocks noGrp="1"/>
          </p:cNvSpPr>
          <p:nvPr>
            <p:ph type="sldNum" sz="quarter" idx="12"/>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33</a:t>
            </a:fld>
            <a:endParaRPr spc="-165" dirty="0"/>
          </a:p>
        </p:txBody>
      </p:sp>
    </p:spTree>
    <p:extLst>
      <p:ext uri="{BB962C8B-B14F-4D97-AF65-F5344CB8AC3E}">
        <p14:creationId xmlns:p14="http://schemas.microsoft.com/office/powerpoint/2010/main" val="1966164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6428105" cy="574040"/>
          </a:xfrm>
          <a:prstGeom prst="rect">
            <a:avLst/>
          </a:prstGeom>
        </p:spPr>
        <p:txBody>
          <a:bodyPr vert="horz" wrap="square" lIns="0" tIns="12700" rIns="0" bIns="0" rtlCol="0">
            <a:spAutoFit/>
          </a:bodyPr>
          <a:lstStyle/>
          <a:p>
            <a:pPr marL="12700">
              <a:lnSpc>
                <a:spcPct val="100000"/>
              </a:lnSpc>
              <a:spcBef>
                <a:spcPts val="100"/>
              </a:spcBef>
            </a:pPr>
            <a:r>
              <a:rPr sz="3600" spc="20" dirty="0"/>
              <a:t>What </a:t>
            </a:r>
            <a:r>
              <a:rPr sz="3600" spc="10" dirty="0"/>
              <a:t>Is </a:t>
            </a:r>
            <a:r>
              <a:rPr sz="3600" spc="5" dirty="0"/>
              <a:t>an </a:t>
            </a:r>
            <a:r>
              <a:rPr sz="3600" spc="-20" dirty="0"/>
              <a:t>Information</a:t>
            </a:r>
            <a:r>
              <a:rPr sz="3600" spc="-495" dirty="0"/>
              <a:t> </a:t>
            </a:r>
            <a:r>
              <a:rPr sz="3600" spc="40" dirty="0"/>
              <a:t>System?</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34</a:t>
            </a:fld>
            <a:endParaRPr spc="-165" dirty="0"/>
          </a:p>
        </p:txBody>
      </p:sp>
      <p:sp>
        <p:nvSpPr>
          <p:cNvPr id="3" name="object 3"/>
          <p:cNvSpPr txBox="1"/>
          <p:nvPr/>
        </p:nvSpPr>
        <p:spPr>
          <a:xfrm>
            <a:off x="535940" y="1461262"/>
            <a:ext cx="7844790" cy="4561840"/>
          </a:xfrm>
          <a:prstGeom prst="rect">
            <a:avLst/>
          </a:prstGeom>
        </p:spPr>
        <p:txBody>
          <a:bodyPr vert="horz" wrap="square" lIns="0" tIns="48895" rIns="0" bIns="0" rtlCol="0">
            <a:spAutoFit/>
          </a:bodyPr>
          <a:lstStyle/>
          <a:p>
            <a:pPr marL="355600" indent="-343535">
              <a:lnSpc>
                <a:spcPct val="100000"/>
              </a:lnSpc>
              <a:spcBef>
                <a:spcPts val="385"/>
              </a:spcBef>
              <a:buFont typeface="Arial"/>
              <a:buChar char="•"/>
              <a:tabLst>
                <a:tab pos="355600" algn="l"/>
                <a:tab pos="356235" algn="l"/>
              </a:tabLst>
            </a:pPr>
            <a:r>
              <a:rPr sz="2400" spc="-20" dirty="0">
                <a:latin typeface="Carlito"/>
                <a:cs typeface="Carlito"/>
              </a:rPr>
              <a:t>System</a:t>
            </a:r>
            <a:endParaRPr sz="2400">
              <a:latin typeface="Carlito"/>
              <a:cs typeface="Carlito"/>
            </a:endParaRPr>
          </a:p>
          <a:p>
            <a:pPr marL="756285" marR="382270" lvl="1" indent="-287020">
              <a:lnSpc>
                <a:spcPts val="2600"/>
              </a:lnSpc>
              <a:spcBef>
                <a:spcPts val="610"/>
              </a:spcBef>
              <a:buFont typeface="Arial"/>
              <a:buChar char="–"/>
              <a:tabLst>
                <a:tab pos="756920" algn="l"/>
              </a:tabLst>
            </a:pPr>
            <a:r>
              <a:rPr sz="2400" spc="-5" dirty="0">
                <a:latin typeface="Carlito"/>
                <a:cs typeface="Carlito"/>
              </a:rPr>
              <a:t>Collection of elements </a:t>
            </a:r>
            <a:r>
              <a:rPr sz="2400" dirty="0">
                <a:latin typeface="Carlito"/>
                <a:cs typeface="Carlito"/>
              </a:rPr>
              <a:t>and </a:t>
            </a:r>
            <a:r>
              <a:rPr sz="2400" spc="-10" dirty="0">
                <a:latin typeface="Carlito"/>
                <a:cs typeface="Carlito"/>
              </a:rPr>
              <a:t>procedures that </a:t>
            </a:r>
            <a:r>
              <a:rPr sz="2400" spc="-15" dirty="0">
                <a:latin typeface="Carlito"/>
                <a:cs typeface="Carlito"/>
              </a:rPr>
              <a:t>interact to  </a:t>
            </a:r>
            <a:r>
              <a:rPr sz="2400" spc="-5" dirty="0">
                <a:latin typeface="Carlito"/>
                <a:cs typeface="Carlito"/>
              </a:rPr>
              <a:t>accomplish </a:t>
            </a:r>
            <a:r>
              <a:rPr sz="2400" dirty="0">
                <a:latin typeface="Carlito"/>
                <a:cs typeface="Carlito"/>
              </a:rPr>
              <a:t>a</a:t>
            </a:r>
            <a:r>
              <a:rPr sz="2400" spc="-45" dirty="0">
                <a:latin typeface="Carlito"/>
                <a:cs typeface="Carlito"/>
              </a:rPr>
              <a:t> </a:t>
            </a:r>
            <a:r>
              <a:rPr sz="2400" spc="-10" dirty="0">
                <a:latin typeface="Carlito"/>
                <a:cs typeface="Carlito"/>
              </a:rPr>
              <a:t>goal</a:t>
            </a:r>
            <a:endParaRPr sz="2400">
              <a:latin typeface="Carlito"/>
              <a:cs typeface="Carlito"/>
            </a:endParaRPr>
          </a:p>
          <a:p>
            <a:pPr marL="1155700" lvl="2" indent="-229235">
              <a:lnSpc>
                <a:spcPct val="100000"/>
              </a:lnSpc>
              <a:spcBef>
                <a:spcPts val="240"/>
              </a:spcBef>
              <a:buFont typeface="Arial"/>
              <a:buChar char="•"/>
              <a:tabLst>
                <a:tab pos="1156335" algn="l"/>
              </a:tabLst>
            </a:pPr>
            <a:r>
              <a:rPr sz="2400" spc="-10" dirty="0">
                <a:latin typeface="Carlito"/>
                <a:cs typeface="Carlito"/>
              </a:rPr>
              <a:t>Football game, transit </a:t>
            </a:r>
            <a:r>
              <a:rPr sz="2400" spc="-20" dirty="0">
                <a:latin typeface="Carlito"/>
                <a:cs typeface="Carlito"/>
              </a:rPr>
              <a:t>systems,</a:t>
            </a:r>
            <a:r>
              <a:rPr sz="2400" spc="-50" dirty="0">
                <a:latin typeface="Carlito"/>
                <a:cs typeface="Carlito"/>
              </a:rPr>
              <a:t> </a:t>
            </a:r>
            <a:r>
              <a:rPr sz="2400" spc="-10" dirty="0">
                <a:latin typeface="Carlito"/>
                <a:cs typeface="Carlito"/>
              </a:rPr>
              <a:t>etc.</a:t>
            </a:r>
            <a:endParaRPr sz="2400">
              <a:latin typeface="Carlito"/>
              <a:cs typeface="Carlito"/>
            </a:endParaRPr>
          </a:p>
          <a:p>
            <a:pPr marL="355600" indent="-343535">
              <a:lnSpc>
                <a:spcPct val="100000"/>
              </a:lnSpc>
              <a:spcBef>
                <a:spcPts val="290"/>
              </a:spcBef>
              <a:buFont typeface="Arial"/>
              <a:buChar char="•"/>
              <a:tabLst>
                <a:tab pos="355600" algn="l"/>
                <a:tab pos="356235" algn="l"/>
              </a:tabLst>
            </a:pPr>
            <a:r>
              <a:rPr sz="2400" spc="-10" dirty="0">
                <a:latin typeface="Carlito"/>
                <a:cs typeface="Carlito"/>
              </a:rPr>
              <a:t>Information</a:t>
            </a:r>
            <a:r>
              <a:rPr sz="2400" spc="-40" dirty="0">
                <a:latin typeface="Carlito"/>
                <a:cs typeface="Carlito"/>
              </a:rPr>
              <a:t> </a:t>
            </a:r>
            <a:r>
              <a:rPr sz="2400" spc="-20" dirty="0">
                <a:latin typeface="Carlito"/>
                <a:cs typeface="Carlito"/>
              </a:rPr>
              <a:t>System</a:t>
            </a:r>
            <a:endParaRPr sz="2400">
              <a:latin typeface="Carlito"/>
              <a:cs typeface="Carlito"/>
            </a:endParaRPr>
          </a:p>
          <a:p>
            <a:pPr marL="756285" marR="480059" lvl="1" indent="-287020">
              <a:lnSpc>
                <a:spcPts val="2590"/>
              </a:lnSpc>
              <a:spcBef>
                <a:spcPts val="620"/>
              </a:spcBef>
              <a:buFont typeface="Arial"/>
              <a:buChar char="–"/>
              <a:tabLst>
                <a:tab pos="756920" algn="l"/>
              </a:tabLst>
            </a:pPr>
            <a:r>
              <a:rPr sz="2400" dirty="0">
                <a:latin typeface="Carlito"/>
                <a:cs typeface="Carlito"/>
              </a:rPr>
              <a:t>A </a:t>
            </a:r>
            <a:r>
              <a:rPr sz="2400" spc="-25" dirty="0">
                <a:latin typeface="Carlito"/>
                <a:cs typeface="Carlito"/>
              </a:rPr>
              <a:t>system </a:t>
            </a:r>
            <a:r>
              <a:rPr sz="2400" spc="-5" dirty="0">
                <a:latin typeface="Carlito"/>
                <a:cs typeface="Carlito"/>
              </a:rPr>
              <a:t>used </a:t>
            </a:r>
            <a:r>
              <a:rPr sz="2400" spc="-15" dirty="0">
                <a:latin typeface="Carlito"/>
                <a:cs typeface="Carlito"/>
              </a:rPr>
              <a:t>to generate </a:t>
            </a:r>
            <a:r>
              <a:rPr sz="2400" dirty="0">
                <a:latin typeface="Carlito"/>
                <a:cs typeface="Carlito"/>
              </a:rPr>
              <a:t>the </a:t>
            </a:r>
            <a:r>
              <a:rPr sz="2400" spc="-10" dirty="0">
                <a:latin typeface="Carlito"/>
                <a:cs typeface="Carlito"/>
              </a:rPr>
              <a:t>information </a:t>
            </a:r>
            <a:r>
              <a:rPr sz="2400" spc="-5" dirty="0">
                <a:latin typeface="Carlito"/>
                <a:cs typeface="Carlito"/>
              </a:rPr>
              <a:t>needed </a:t>
            </a:r>
            <a:r>
              <a:rPr sz="2400" spc="-15" dirty="0">
                <a:latin typeface="Carlito"/>
                <a:cs typeface="Carlito"/>
              </a:rPr>
              <a:t>to  </a:t>
            </a:r>
            <a:r>
              <a:rPr sz="2400" spc="-5" dirty="0">
                <a:latin typeface="Carlito"/>
                <a:cs typeface="Carlito"/>
              </a:rPr>
              <a:t>support </a:t>
            </a:r>
            <a:r>
              <a:rPr sz="2400" dirty="0">
                <a:latin typeface="Carlito"/>
                <a:cs typeface="Carlito"/>
              </a:rPr>
              <a:t>the </a:t>
            </a:r>
            <a:r>
              <a:rPr sz="2400" spc="-10" dirty="0">
                <a:latin typeface="Carlito"/>
                <a:cs typeface="Carlito"/>
              </a:rPr>
              <a:t>users </a:t>
            </a:r>
            <a:r>
              <a:rPr sz="2400" dirty="0">
                <a:latin typeface="Carlito"/>
                <a:cs typeface="Carlito"/>
              </a:rPr>
              <a:t>in an</a:t>
            </a:r>
            <a:r>
              <a:rPr sz="2400" spc="-40" dirty="0">
                <a:latin typeface="Carlito"/>
                <a:cs typeface="Carlito"/>
              </a:rPr>
              <a:t> </a:t>
            </a:r>
            <a:r>
              <a:rPr sz="2400" spc="-15" dirty="0">
                <a:latin typeface="Carlito"/>
                <a:cs typeface="Carlito"/>
              </a:rPr>
              <a:t>organization</a:t>
            </a:r>
            <a:endParaRPr sz="2400">
              <a:latin typeface="Carlito"/>
              <a:cs typeface="Carlito"/>
            </a:endParaRPr>
          </a:p>
          <a:p>
            <a:pPr marL="355600" indent="-343535">
              <a:lnSpc>
                <a:spcPct val="100000"/>
              </a:lnSpc>
              <a:spcBef>
                <a:spcPts val="250"/>
              </a:spcBef>
              <a:buFont typeface="Arial"/>
              <a:buChar char="•"/>
              <a:tabLst>
                <a:tab pos="355600" algn="l"/>
                <a:tab pos="356235" algn="l"/>
              </a:tabLst>
            </a:pPr>
            <a:r>
              <a:rPr sz="2400" spc="-10" dirty="0">
                <a:latin typeface="Carlito"/>
                <a:cs typeface="Carlito"/>
              </a:rPr>
              <a:t>Digital</a:t>
            </a:r>
            <a:r>
              <a:rPr sz="2400" spc="-45" dirty="0">
                <a:latin typeface="Carlito"/>
                <a:cs typeface="Carlito"/>
              </a:rPr>
              <a:t> </a:t>
            </a:r>
            <a:r>
              <a:rPr sz="2400" spc="-25" dirty="0">
                <a:latin typeface="Carlito"/>
                <a:cs typeface="Carlito"/>
              </a:rPr>
              <a:t>Ecosystem</a:t>
            </a:r>
            <a:endParaRPr sz="2400">
              <a:latin typeface="Carlito"/>
              <a:cs typeface="Carlito"/>
            </a:endParaRPr>
          </a:p>
          <a:p>
            <a:pPr marL="756285" marR="5080" lvl="1" indent="-287020">
              <a:lnSpc>
                <a:spcPts val="2590"/>
              </a:lnSpc>
              <a:spcBef>
                <a:spcPts val="615"/>
              </a:spcBef>
              <a:buFont typeface="Arial"/>
              <a:buChar char="–"/>
              <a:tabLst>
                <a:tab pos="756920" algn="l"/>
              </a:tabLst>
            </a:pPr>
            <a:r>
              <a:rPr sz="2400" spc="-5" dirty="0">
                <a:latin typeface="Carlito"/>
                <a:cs typeface="Carlito"/>
              </a:rPr>
              <a:t>The </a:t>
            </a:r>
            <a:r>
              <a:rPr sz="2400" spc="-10" dirty="0">
                <a:latin typeface="Carlito"/>
                <a:cs typeface="Carlito"/>
              </a:rPr>
              <a:t>collection </a:t>
            </a:r>
            <a:r>
              <a:rPr sz="2400" spc="-5" dirty="0">
                <a:latin typeface="Carlito"/>
                <a:cs typeface="Carlito"/>
              </a:rPr>
              <a:t>of people, </a:t>
            </a:r>
            <a:r>
              <a:rPr sz="2400" spc="-10" dirty="0">
                <a:latin typeface="Carlito"/>
                <a:cs typeface="Carlito"/>
              </a:rPr>
              <a:t>products, </a:t>
            </a:r>
            <a:r>
              <a:rPr sz="2400" dirty="0">
                <a:latin typeface="Carlito"/>
                <a:cs typeface="Carlito"/>
              </a:rPr>
              <a:t>services, and </a:t>
            </a:r>
            <a:r>
              <a:rPr sz="2400" spc="-5" dirty="0">
                <a:latin typeface="Carlito"/>
                <a:cs typeface="Carlito"/>
              </a:rPr>
              <a:t>business  </a:t>
            </a:r>
            <a:r>
              <a:rPr sz="2400" spc="-10" dirty="0">
                <a:latin typeface="Carlito"/>
                <a:cs typeface="Carlito"/>
              </a:rPr>
              <a:t>processes </a:t>
            </a:r>
            <a:r>
              <a:rPr sz="2400" spc="-15" dirty="0">
                <a:latin typeface="Carlito"/>
                <a:cs typeface="Carlito"/>
              </a:rPr>
              <a:t>related to </a:t>
            </a:r>
            <a:r>
              <a:rPr sz="2400" dirty="0">
                <a:latin typeface="Carlito"/>
                <a:cs typeface="Carlito"/>
              </a:rPr>
              <a:t>a </a:t>
            </a:r>
            <a:r>
              <a:rPr sz="2400" spc="-10" dirty="0">
                <a:latin typeface="Carlito"/>
                <a:cs typeface="Carlito"/>
              </a:rPr>
              <a:t>digital</a:t>
            </a:r>
            <a:r>
              <a:rPr sz="2400" spc="-30" dirty="0">
                <a:latin typeface="Carlito"/>
                <a:cs typeface="Carlito"/>
              </a:rPr>
              <a:t> </a:t>
            </a:r>
            <a:r>
              <a:rPr sz="2400" spc="-5" dirty="0">
                <a:latin typeface="Carlito"/>
                <a:cs typeface="Carlito"/>
              </a:rPr>
              <a:t>element</a:t>
            </a:r>
            <a:endParaRPr sz="2400">
              <a:latin typeface="Carlito"/>
              <a:cs typeface="Carlito"/>
            </a:endParaRPr>
          </a:p>
          <a:p>
            <a:pPr marL="1155700" marR="203835" lvl="2" indent="-228600">
              <a:lnSpc>
                <a:spcPts val="2590"/>
              </a:lnSpc>
              <a:spcBef>
                <a:spcPts val="585"/>
              </a:spcBef>
              <a:buFont typeface="Arial"/>
              <a:buChar char="•"/>
              <a:tabLst>
                <a:tab pos="1156335" algn="l"/>
              </a:tabLst>
            </a:pPr>
            <a:r>
              <a:rPr sz="2400" dirty="0">
                <a:latin typeface="Carlito"/>
                <a:cs typeface="Carlito"/>
              </a:rPr>
              <a:t>Apple </a:t>
            </a:r>
            <a:r>
              <a:rPr sz="2400" spc="-10" dirty="0">
                <a:latin typeface="Carlito"/>
                <a:cs typeface="Carlito"/>
              </a:rPr>
              <a:t>digital </a:t>
            </a:r>
            <a:r>
              <a:rPr sz="2400" spc="-20" dirty="0">
                <a:latin typeface="Carlito"/>
                <a:cs typeface="Carlito"/>
              </a:rPr>
              <a:t>ecosystem </a:t>
            </a:r>
            <a:r>
              <a:rPr sz="2400" dirty="0">
                <a:latin typeface="Carlito"/>
                <a:cs typeface="Carlito"/>
              </a:rPr>
              <a:t>= Apple </a:t>
            </a:r>
            <a:r>
              <a:rPr sz="2400" spc="-15" dirty="0">
                <a:latin typeface="Carlito"/>
                <a:cs typeface="Carlito"/>
              </a:rPr>
              <a:t>hardware, </a:t>
            </a:r>
            <a:r>
              <a:rPr sz="2400" spc="-10" dirty="0">
                <a:latin typeface="Carlito"/>
                <a:cs typeface="Carlito"/>
              </a:rPr>
              <a:t>software,  </a:t>
            </a:r>
            <a:r>
              <a:rPr sz="2400" dirty="0">
                <a:latin typeface="Carlito"/>
                <a:cs typeface="Carlito"/>
              </a:rPr>
              <a:t>and </a:t>
            </a:r>
            <a:r>
              <a:rPr sz="2400" spc="-5" dirty="0">
                <a:latin typeface="Carlito"/>
                <a:cs typeface="Carlito"/>
              </a:rPr>
              <a:t>online</a:t>
            </a:r>
            <a:r>
              <a:rPr sz="2400" spc="-25" dirty="0">
                <a:latin typeface="Carlito"/>
                <a:cs typeface="Carlito"/>
              </a:rPr>
              <a:t> </a:t>
            </a:r>
            <a:r>
              <a:rPr sz="2400" dirty="0">
                <a:latin typeface="Carlito"/>
                <a:cs typeface="Carlito"/>
              </a:rPr>
              <a:t>services</a:t>
            </a:r>
            <a:endParaRPr sz="2400">
              <a:latin typeface="Carlito"/>
              <a:cs typeface="Carlito"/>
            </a:endParaRPr>
          </a:p>
        </p:txBody>
      </p:sp>
    </p:spTree>
    <p:extLst>
      <p:ext uri="{BB962C8B-B14F-4D97-AF65-F5344CB8AC3E}">
        <p14:creationId xmlns:p14="http://schemas.microsoft.com/office/powerpoint/2010/main" val="2983615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6428105" cy="574040"/>
          </a:xfrm>
          <a:prstGeom prst="rect">
            <a:avLst/>
          </a:prstGeom>
        </p:spPr>
        <p:txBody>
          <a:bodyPr vert="horz" wrap="square" lIns="0" tIns="12700" rIns="0" bIns="0" rtlCol="0">
            <a:spAutoFit/>
          </a:bodyPr>
          <a:lstStyle/>
          <a:p>
            <a:pPr marL="12700">
              <a:lnSpc>
                <a:spcPct val="100000"/>
              </a:lnSpc>
              <a:spcBef>
                <a:spcPts val="100"/>
              </a:spcBef>
            </a:pPr>
            <a:r>
              <a:rPr sz="3600" spc="20" dirty="0"/>
              <a:t>What </a:t>
            </a:r>
            <a:r>
              <a:rPr sz="3600" spc="10" dirty="0"/>
              <a:t>Is </a:t>
            </a:r>
            <a:r>
              <a:rPr sz="3600" spc="5" dirty="0"/>
              <a:t>an </a:t>
            </a:r>
            <a:r>
              <a:rPr sz="3600" spc="-20" dirty="0"/>
              <a:t>Information</a:t>
            </a:r>
            <a:r>
              <a:rPr sz="3600" spc="-495" dirty="0"/>
              <a:t> </a:t>
            </a:r>
            <a:r>
              <a:rPr sz="3600" spc="40" dirty="0"/>
              <a:t>System?</a:t>
            </a:r>
            <a:endParaRPr sz="3600"/>
          </a:p>
        </p:txBody>
      </p:sp>
      <p:sp>
        <p:nvSpPr>
          <p:cNvPr id="3" name="object 3"/>
          <p:cNvSpPr/>
          <p:nvPr/>
        </p:nvSpPr>
        <p:spPr>
          <a:xfrm>
            <a:off x="1691639" y="1844827"/>
            <a:ext cx="5010277" cy="3858883"/>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7020306" y="2780919"/>
            <a:ext cx="1391538" cy="612250"/>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35</a:t>
            </a:fld>
            <a:endParaRPr spc="-165" dirty="0"/>
          </a:p>
        </p:txBody>
      </p:sp>
    </p:spTree>
    <p:extLst>
      <p:ext uri="{BB962C8B-B14F-4D97-AF65-F5344CB8AC3E}">
        <p14:creationId xmlns:p14="http://schemas.microsoft.com/office/powerpoint/2010/main" val="10100417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6428105" cy="574040"/>
          </a:xfrm>
          <a:prstGeom prst="rect">
            <a:avLst/>
          </a:prstGeom>
        </p:spPr>
        <p:txBody>
          <a:bodyPr vert="horz" wrap="square" lIns="0" tIns="12700" rIns="0" bIns="0" rtlCol="0">
            <a:spAutoFit/>
          </a:bodyPr>
          <a:lstStyle/>
          <a:p>
            <a:pPr marL="12700">
              <a:lnSpc>
                <a:spcPct val="100000"/>
              </a:lnSpc>
              <a:spcBef>
                <a:spcPts val="100"/>
              </a:spcBef>
            </a:pPr>
            <a:r>
              <a:rPr sz="3600" spc="20" dirty="0"/>
              <a:t>What </a:t>
            </a:r>
            <a:r>
              <a:rPr sz="3600" spc="10" dirty="0"/>
              <a:t>Is </a:t>
            </a:r>
            <a:r>
              <a:rPr sz="3600" spc="5" dirty="0"/>
              <a:t>an </a:t>
            </a:r>
            <a:r>
              <a:rPr sz="3600" spc="-20" dirty="0"/>
              <a:t>Information</a:t>
            </a:r>
            <a:r>
              <a:rPr sz="3600" spc="-495" dirty="0"/>
              <a:t> </a:t>
            </a:r>
            <a:r>
              <a:rPr sz="3600" spc="40" dirty="0"/>
              <a:t>System?</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36</a:t>
            </a:fld>
            <a:endParaRPr spc="-165" dirty="0"/>
          </a:p>
        </p:txBody>
      </p:sp>
      <p:sp>
        <p:nvSpPr>
          <p:cNvPr id="3" name="object 3"/>
          <p:cNvSpPr txBox="1"/>
          <p:nvPr/>
        </p:nvSpPr>
        <p:spPr>
          <a:xfrm>
            <a:off x="535940" y="1461262"/>
            <a:ext cx="7846060" cy="3872214"/>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5" dirty="0">
                <a:latin typeface="Carlito"/>
                <a:cs typeface="Carlito"/>
              </a:rPr>
              <a:t>The </a:t>
            </a:r>
            <a:r>
              <a:rPr sz="2400" dirty="0">
                <a:latin typeface="Carlito"/>
                <a:cs typeface="Carlito"/>
              </a:rPr>
              <a:t>Need </a:t>
            </a:r>
            <a:r>
              <a:rPr sz="2400" spc="-20" dirty="0">
                <a:latin typeface="Carlito"/>
                <a:cs typeface="Carlito"/>
              </a:rPr>
              <a:t>for System</a:t>
            </a:r>
            <a:r>
              <a:rPr sz="2400" spc="-15" dirty="0">
                <a:latin typeface="Carlito"/>
                <a:cs typeface="Carlito"/>
              </a:rPr>
              <a:t> </a:t>
            </a:r>
            <a:r>
              <a:rPr sz="2400" spc="-10" dirty="0">
                <a:latin typeface="Carlito"/>
                <a:cs typeface="Carlito"/>
              </a:rPr>
              <a:t>Development</a:t>
            </a:r>
            <a:endParaRPr sz="2400">
              <a:latin typeface="Carlito"/>
              <a:cs typeface="Carlito"/>
            </a:endParaRPr>
          </a:p>
          <a:p>
            <a:pPr marL="756285" lvl="1" indent="-287020">
              <a:lnSpc>
                <a:spcPct val="100000"/>
              </a:lnSpc>
              <a:spcBef>
                <a:spcPts val="575"/>
              </a:spcBef>
              <a:buFont typeface="Arial"/>
              <a:buChar char="–"/>
              <a:tabLst>
                <a:tab pos="756920" algn="l"/>
              </a:tabLst>
            </a:pPr>
            <a:r>
              <a:rPr sz="2400" spc="-15" dirty="0">
                <a:latin typeface="Carlito"/>
                <a:cs typeface="Carlito"/>
              </a:rPr>
              <a:t>Systems</a:t>
            </a:r>
            <a:r>
              <a:rPr sz="2400" spc="-50" dirty="0">
                <a:latin typeface="Carlito"/>
                <a:cs typeface="Carlito"/>
              </a:rPr>
              <a:t> </a:t>
            </a:r>
            <a:r>
              <a:rPr sz="2400" spc="-10" dirty="0">
                <a:latin typeface="Carlito"/>
                <a:cs typeface="Carlito"/>
              </a:rPr>
              <a:t>development</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10" dirty="0">
                <a:latin typeface="Carlito"/>
                <a:cs typeface="Carlito"/>
              </a:rPr>
              <a:t>Process </a:t>
            </a:r>
            <a:r>
              <a:rPr sz="2400" spc="-5" dirty="0">
                <a:latin typeface="Carlito"/>
                <a:cs typeface="Carlito"/>
              </a:rPr>
              <a:t>of designing </a:t>
            </a:r>
            <a:r>
              <a:rPr sz="2400" dirty="0">
                <a:latin typeface="Carlito"/>
                <a:cs typeface="Carlito"/>
              </a:rPr>
              <a:t>and </a:t>
            </a:r>
            <a:r>
              <a:rPr sz="2400" spc="-5" dirty="0">
                <a:latin typeface="Carlito"/>
                <a:cs typeface="Carlito"/>
              </a:rPr>
              <a:t>implementing </a:t>
            </a:r>
            <a:r>
              <a:rPr sz="2400" dirty="0">
                <a:latin typeface="Carlito"/>
                <a:cs typeface="Carlito"/>
              </a:rPr>
              <a:t>a </a:t>
            </a:r>
            <a:r>
              <a:rPr sz="2400" spc="-10">
                <a:latin typeface="Carlito"/>
                <a:cs typeface="Carlito"/>
              </a:rPr>
              <a:t>new</a:t>
            </a:r>
            <a:r>
              <a:rPr sz="2400" spc="-75">
                <a:latin typeface="Carlito"/>
                <a:cs typeface="Carlito"/>
              </a:rPr>
              <a:t> </a:t>
            </a:r>
            <a:r>
              <a:rPr sz="2400" spc="-10">
                <a:latin typeface="Carlito"/>
                <a:cs typeface="Carlito"/>
              </a:rPr>
              <a:t>or</a:t>
            </a:r>
            <a:r>
              <a:rPr lang="en-US" sz="2400" spc="-10" dirty="0">
                <a:latin typeface="Carlito"/>
                <a:cs typeface="Carlito"/>
              </a:rPr>
              <a:t> </a:t>
            </a:r>
            <a:r>
              <a:rPr sz="2400">
                <a:latin typeface="Carlito"/>
                <a:cs typeface="Carlito"/>
              </a:rPr>
              <a:t>modified</a:t>
            </a:r>
            <a:r>
              <a:rPr sz="2400" spc="-20">
                <a:latin typeface="Carlito"/>
                <a:cs typeface="Carlito"/>
              </a:rPr>
              <a:t> </a:t>
            </a:r>
            <a:r>
              <a:rPr sz="2400" spc="-25" dirty="0">
                <a:latin typeface="Carlito"/>
                <a:cs typeface="Carlito"/>
              </a:rPr>
              <a:t>system</a:t>
            </a:r>
            <a:endParaRPr sz="2400">
              <a:latin typeface="Carlito"/>
              <a:cs typeface="Carlito"/>
            </a:endParaRPr>
          </a:p>
          <a:p>
            <a:pPr marL="756285" lvl="1" indent="-287020">
              <a:lnSpc>
                <a:spcPct val="100000"/>
              </a:lnSpc>
              <a:spcBef>
                <a:spcPts val="575"/>
              </a:spcBef>
              <a:buFont typeface="Arial"/>
              <a:buChar char="–"/>
              <a:tabLst>
                <a:tab pos="756920" algn="l"/>
              </a:tabLst>
            </a:pPr>
            <a:r>
              <a:rPr sz="2400" spc="-20" dirty="0">
                <a:latin typeface="Carlito"/>
                <a:cs typeface="Carlito"/>
              </a:rPr>
              <a:t>System </a:t>
            </a:r>
            <a:r>
              <a:rPr sz="2400" spc="-10" dirty="0">
                <a:latin typeface="Carlito"/>
                <a:cs typeface="Carlito"/>
              </a:rPr>
              <a:t>development </a:t>
            </a:r>
            <a:r>
              <a:rPr sz="2400" spc="-15" dirty="0">
                <a:latin typeface="Carlito"/>
                <a:cs typeface="Carlito"/>
              </a:rPr>
              <a:t>may </a:t>
            </a:r>
            <a:r>
              <a:rPr sz="2400" spc="-5" dirty="0">
                <a:latin typeface="Carlito"/>
                <a:cs typeface="Carlito"/>
              </a:rPr>
              <a:t>be </a:t>
            </a:r>
            <a:r>
              <a:rPr sz="2400" spc="-10" dirty="0">
                <a:latin typeface="Carlito"/>
                <a:cs typeface="Carlito"/>
              </a:rPr>
              <a:t>required </a:t>
            </a:r>
            <a:r>
              <a:rPr sz="2400" spc="-5" dirty="0">
                <a:latin typeface="Carlito"/>
                <a:cs typeface="Carlito"/>
              </a:rPr>
              <a:t>because of:</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5" dirty="0">
                <a:latin typeface="Carlito"/>
                <a:cs typeface="Carlito"/>
              </a:rPr>
              <a:t>New </a:t>
            </a:r>
            <a:r>
              <a:rPr sz="2400" spc="-15" dirty="0">
                <a:latin typeface="Carlito"/>
                <a:cs typeface="Carlito"/>
              </a:rPr>
              <a:t>laws </a:t>
            </a:r>
            <a:r>
              <a:rPr sz="2400" spc="-5" dirty="0">
                <a:latin typeface="Carlito"/>
                <a:cs typeface="Carlito"/>
              </a:rPr>
              <a:t>(Sarbanes-Oxley </a:t>
            </a:r>
            <a:r>
              <a:rPr sz="2400" dirty="0">
                <a:latin typeface="Carlito"/>
                <a:cs typeface="Carlito"/>
              </a:rPr>
              <a:t>Act, </a:t>
            </a:r>
            <a:r>
              <a:rPr sz="2400" spc="-40" dirty="0">
                <a:latin typeface="Carlito"/>
                <a:cs typeface="Carlito"/>
              </a:rPr>
              <a:t>HIPAA</a:t>
            </a:r>
            <a:r>
              <a:rPr sz="2400" spc="-80" dirty="0">
                <a:latin typeface="Carlito"/>
                <a:cs typeface="Carlito"/>
              </a:rPr>
              <a:t> </a:t>
            </a:r>
            <a:r>
              <a:rPr sz="2400" spc="-10" dirty="0">
                <a:latin typeface="Carlito"/>
                <a:cs typeface="Carlito"/>
              </a:rPr>
              <a:t>etc.)</a:t>
            </a:r>
            <a:endParaRPr sz="2400">
              <a:latin typeface="Carlito"/>
              <a:cs typeface="Carlito"/>
            </a:endParaRPr>
          </a:p>
          <a:p>
            <a:pPr marL="1155700" marR="153670" lvl="2" indent="-228600">
              <a:lnSpc>
                <a:spcPct val="100000"/>
              </a:lnSpc>
              <a:spcBef>
                <a:spcPts val="575"/>
              </a:spcBef>
              <a:buFont typeface="Arial"/>
              <a:buChar char="•"/>
              <a:tabLst>
                <a:tab pos="1156335" algn="l"/>
              </a:tabLst>
            </a:pPr>
            <a:r>
              <a:rPr sz="2400" spc="-10" dirty="0">
                <a:latin typeface="Carlito"/>
                <a:cs typeface="Carlito"/>
              </a:rPr>
              <a:t>Changes </a:t>
            </a:r>
            <a:r>
              <a:rPr sz="2400" spc="-15" dirty="0">
                <a:latin typeface="Carlito"/>
                <a:cs typeface="Carlito"/>
              </a:rPr>
              <a:t>to </a:t>
            </a:r>
            <a:r>
              <a:rPr sz="2400" spc="-5" dirty="0">
                <a:latin typeface="Carlito"/>
                <a:cs typeface="Carlito"/>
              </a:rPr>
              <a:t>the </a:t>
            </a:r>
            <a:r>
              <a:rPr sz="2400" spc="-10" dirty="0">
                <a:latin typeface="Carlito"/>
                <a:cs typeface="Carlito"/>
              </a:rPr>
              <a:t>legal requirements </a:t>
            </a:r>
            <a:r>
              <a:rPr sz="2400" spc="-20">
                <a:latin typeface="Carlito"/>
                <a:cs typeface="Carlito"/>
              </a:rPr>
              <a:t>for </a:t>
            </a:r>
            <a:r>
              <a:rPr lang="en-US" sz="2400" spc="-20" dirty="0">
                <a:latin typeface="Carlito"/>
                <a:cs typeface="Carlito"/>
              </a:rPr>
              <a:t>r</a:t>
            </a:r>
            <a:r>
              <a:rPr sz="2400" spc="-10">
                <a:latin typeface="Carlito"/>
                <a:cs typeface="Carlito"/>
              </a:rPr>
              <a:t>etaining  </a:t>
            </a:r>
            <a:r>
              <a:rPr sz="2400" spc="-5" dirty="0">
                <a:latin typeface="Carlito"/>
                <a:cs typeface="Carlito"/>
              </a:rPr>
              <a:t>business </a:t>
            </a:r>
            <a:r>
              <a:rPr sz="2400" spc="-15" dirty="0">
                <a:latin typeface="Carlito"/>
                <a:cs typeface="Carlito"/>
              </a:rPr>
              <a:t>data </a:t>
            </a:r>
            <a:r>
              <a:rPr sz="2400" spc="-5" dirty="0">
                <a:latin typeface="Carlito"/>
                <a:cs typeface="Carlito"/>
              </a:rPr>
              <a:t>(e-disclosure,</a:t>
            </a:r>
            <a:r>
              <a:rPr sz="2400" spc="-20" dirty="0">
                <a:latin typeface="Carlito"/>
                <a:cs typeface="Carlito"/>
              </a:rPr>
              <a:t> </a:t>
            </a:r>
            <a:r>
              <a:rPr sz="2400" spc="-10" dirty="0">
                <a:latin typeface="Carlito"/>
                <a:cs typeface="Carlito"/>
              </a:rPr>
              <a:t>etc.)</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10" dirty="0">
                <a:latin typeface="Carlito"/>
                <a:cs typeface="Carlito"/>
              </a:rPr>
              <a:t>Introduction </a:t>
            </a:r>
            <a:r>
              <a:rPr sz="2400" spc="-5" dirty="0">
                <a:latin typeface="Carlito"/>
                <a:cs typeface="Carlito"/>
              </a:rPr>
              <a:t>of new</a:t>
            </a:r>
            <a:r>
              <a:rPr sz="2400" spc="-40" dirty="0">
                <a:latin typeface="Carlito"/>
                <a:cs typeface="Carlito"/>
              </a:rPr>
              <a:t> </a:t>
            </a:r>
            <a:r>
              <a:rPr sz="2400" spc="-5" dirty="0">
                <a:latin typeface="Carlito"/>
                <a:cs typeface="Carlito"/>
              </a:rPr>
              <a:t>technology</a:t>
            </a:r>
            <a:endParaRPr sz="2400">
              <a:latin typeface="Carlito"/>
              <a:cs typeface="Carlito"/>
            </a:endParaRPr>
          </a:p>
        </p:txBody>
      </p:sp>
    </p:spTree>
    <p:extLst>
      <p:ext uri="{BB962C8B-B14F-4D97-AF65-F5344CB8AC3E}">
        <p14:creationId xmlns:p14="http://schemas.microsoft.com/office/powerpoint/2010/main" val="10030745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6428105" cy="574040"/>
          </a:xfrm>
          <a:prstGeom prst="rect">
            <a:avLst/>
          </a:prstGeom>
        </p:spPr>
        <p:txBody>
          <a:bodyPr vert="horz" wrap="square" lIns="0" tIns="12700" rIns="0" bIns="0" rtlCol="0">
            <a:spAutoFit/>
          </a:bodyPr>
          <a:lstStyle/>
          <a:p>
            <a:pPr marL="12700">
              <a:lnSpc>
                <a:spcPct val="100000"/>
              </a:lnSpc>
              <a:spcBef>
                <a:spcPts val="100"/>
              </a:spcBef>
            </a:pPr>
            <a:r>
              <a:rPr sz="3600" spc="20" dirty="0"/>
              <a:t>What </a:t>
            </a:r>
            <a:r>
              <a:rPr sz="3600" spc="10" dirty="0"/>
              <a:t>Is </a:t>
            </a:r>
            <a:r>
              <a:rPr sz="3600" spc="5" dirty="0"/>
              <a:t>an </a:t>
            </a:r>
            <a:r>
              <a:rPr sz="3600" spc="-20" dirty="0"/>
              <a:t>Information</a:t>
            </a:r>
            <a:r>
              <a:rPr sz="3600" spc="-495" dirty="0"/>
              <a:t> </a:t>
            </a:r>
            <a:r>
              <a:rPr sz="3600" spc="40" dirty="0"/>
              <a:t>System?</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37</a:t>
            </a:fld>
            <a:endParaRPr spc="-165" dirty="0"/>
          </a:p>
        </p:txBody>
      </p:sp>
      <p:sp>
        <p:nvSpPr>
          <p:cNvPr id="3" name="object 3"/>
          <p:cNvSpPr txBox="1"/>
          <p:nvPr/>
        </p:nvSpPr>
        <p:spPr>
          <a:xfrm>
            <a:off x="535940" y="1461262"/>
            <a:ext cx="8074660" cy="327205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5" dirty="0">
                <a:latin typeface="Carlito"/>
                <a:cs typeface="Carlito"/>
              </a:rPr>
              <a:t>Enterprise</a:t>
            </a:r>
            <a:r>
              <a:rPr sz="2400" spc="-25" dirty="0">
                <a:latin typeface="Carlito"/>
                <a:cs typeface="Carlito"/>
              </a:rPr>
              <a:t> </a:t>
            </a:r>
            <a:r>
              <a:rPr sz="2400" spc="-10" dirty="0">
                <a:latin typeface="Carlito"/>
                <a:cs typeface="Carlito"/>
              </a:rPr>
              <a:t>Architecture</a:t>
            </a:r>
            <a:endParaRPr sz="2400">
              <a:latin typeface="Carlito"/>
              <a:cs typeface="Carlito"/>
            </a:endParaRPr>
          </a:p>
          <a:p>
            <a:pPr marL="756285" marR="63500" lvl="1" indent="-287020">
              <a:lnSpc>
                <a:spcPct val="100000"/>
              </a:lnSpc>
              <a:spcBef>
                <a:spcPts val="575"/>
              </a:spcBef>
              <a:buFont typeface="Arial"/>
              <a:buChar char="–"/>
              <a:tabLst>
                <a:tab pos="756920" algn="l"/>
              </a:tabLst>
            </a:pPr>
            <a:r>
              <a:rPr sz="2400" spc="-10" dirty="0">
                <a:latin typeface="Carlito"/>
                <a:cs typeface="Carlito"/>
              </a:rPr>
              <a:t>Provides </a:t>
            </a:r>
            <a:r>
              <a:rPr sz="2400" dirty="0">
                <a:latin typeface="Carlito"/>
                <a:cs typeface="Carlito"/>
              </a:rPr>
              <a:t>a </a:t>
            </a:r>
            <a:r>
              <a:rPr sz="2400" spc="-5" dirty="0">
                <a:latin typeface="Carlito"/>
                <a:cs typeface="Carlito"/>
              </a:rPr>
              <a:t>detailed </a:t>
            </a:r>
            <a:r>
              <a:rPr sz="2400" spc="-10" dirty="0">
                <a:latin typeface="Carlito"/>
                <a:cs typeface="Carlito"/>
              </a:rPr>
              <a:t>picture </a:t>
            </a:r>
            <a:r>
              <a:rPr sz="2400" spc="-5" dirty="0">
                <a:latin typeface="Carlito"/>
                <a:cs typeface="Carlito"/>
              </a:rPr>
              <a:t>of </a:t>
            </a:r>
            <a:r>
              <a:rPr sz="2400" dirty="0">
                <a:latin typeface="Carlito"/>
                <a:cs typeface="Carlito"/>
              </a:rPr>
              <a:t>an </a:t>
            </a:r>
            <a:r>
              <a:rPr sz="2400" spc="-15" dirty="0">
                <a:latin typeface="Carlito"/>
                <a:cs typeface="Carlito"/>
              </a:rPr>
              <a:t>organization, </a:t>
            </a:r>
            <a:r>
              <a:rPr sz="2400" dirty="0">
                <a:latin typeface="Carlito"/>
                <a:cs typeface="Carlito"/>
              </a:rPr>
              <a:t>its </a:t>
            </a:r>
            <a:r>
              <a:rPr sz="2400" spc="-5" dirty="0">
                <a:latin typeface="Carlito"/>
                <a:cs typeface="Carlito"/>
              </a:rPr>
              <a:t>function,  </a:t>
            </a:r>
            <a:r>
              <a:rPr sz="2400" dirty="0">
                <a:latin typeface="Carlito"/>
                <a:cs typeface="Carlito"/>
              </a:rPr>
              <a:t>its </a:t>
            </a:r>
            <a:r>
              <a:rPr sz="2400" spc="-20" dirty="0">
                <a:latin typeface="Carlito"/>
                <a:cs typeface="Carlito"/>
              </a:rPr>
              <a:t>systems, </a:t>
            </a:r>
            <a:r>
              <a:rPr sz="2400" dirty="0">
                <a:latin typeface="Carlito"/>
                <a:cs typeface="Carlito"/>
              </a:rPr>
              <a:t>and the </a:t>
            </a:r>
            <a:r>
              <a:rPr sz="2400" spc="-10" dirty="0">
                <a:latin typeface="Carlito"/>
                <a:cs typeface="Carlito"/>
              </a:rPr>
              <a:t>relationship </a:t>
            </a:r>
            <a:r>
              <a:rPr sz="2400" spc="-5" dirty="0">
                <a:latin typeface="Carlito"/>
                <a:cs typeface="Carlito"/>
              </a:rPr>
              <a:t>among</a:t>
            </a:r>
            <a:r>
              <a:rPr sz="2400" spc="-50" dirty="0">
                <a:latin typeface="Carlito"/>
                <a:cs typeface="Carlito"/>
              </a:rPr>
              <a:t> </a:t>
            </a:r>
            <a:r>
              <a:rPr sz="2400" dirty="0">
                <a:latin typeface="Carlito"/>
                <a:cs typeface="Carlito"/>
              </a:rPr>
              <a:t>them</a:t>
            </a:r>
            <a:endParaRPr sz="2400">
              <a:latin typeface="Carlito"/>
              <a:cs typeface="Carlito"/>
            </a:endParaRPr>
          </a:p>
          <a:p>
            <a:pPr marL="756285" marR="369570" lvl="1" indent="-287020">
              <a:lnSpc>
                <a:spcPct val="100000"/>
              </a:lnSpc>
              <a:spcBef>
                <a:spcPts val="580"/>
              </a:spcBef>
              <a:buFont typeface="Arial"/>
              <a:buChar char="–"/>
              <a:tabLst>
                <a:tab pos="756920" algn="l"/>
              </a:tabLst>
            </a:pPr>
            <a:r>
              <a:rPr sz="2400" spc="-10" dirty="0">
                <a:latin typeface="Carlito"/>
                <a:cs typeface="Carlito"/>
              </a:rPr>
              <a:t>Allows managers </a:t>
            </a:r>
            <a:r>
              <a:rPr sz="2400" spc="-15" dirty="0">
                <a:latin typeface="Carlito"/>
                <a:cs typeface="Carlito"/>
              </a:rPr>
              <a:t>to </a:t>
            </a:r>
            <a:r>
              <a:rPr sz="2400" spc="-20" dirty="0">
                <a:latin typeface="Carlito"/>
                <a:cs typeface="Carlito"/>
              </a:rPr>
              <a:t>organize </a:t>
            </a:r>
            <a:r>
              <a:rPr sz="2400" dirty="0">
                <a:latin typeface="Carlito"/>
                <a:cs typeface="Carlito"/>
              </a:rPr>
              <a:t>and </a:t>
            </a:r>
            <a:r>
              <a:rPr sz="2400" spc="-10" dirty="0">
                <a:latin typeface="Carlito"/>
                <a:cs typeface="Carlito"/>
              </a:rPr>
              <a:t>maximize </a:t>
            </a:r>
            <a:r>
              <a:rPr sz="2400" dirty="0">
                <a:latin typeface="Carlito"/>
                <a:cs typeface="Carlito"/>
              </a:rPr>
              <a:t>the </a:t>
            </a:r>
            <a:r>
              <a:rPr sz="2400" spc="-5" dirty="0">
                <a:latin typeface="Carlito"/>
                <a:cs typeface="Carlito"/>
              </a:rPr>
              <a:t>use of IT  </a:t>
            </a:r>
            <a:r>
              <a:rPr sz="2400" spc="-10" dirty="0">
                <a:latin typeface="Carlito"/>
                <a:cs typeface="Carlito"/>
              </a:rPr>
              <a:t>resources </a:t>
            </a:r>
            <a:r>
              <a:rPr sz="2400" dirty="0">
                <a:latin typeface="Carlito"/>
                <a:cs typeface="Carlito"/>
              </a:rPr>
              <a:t>and </a:t>
            </a:r>
            <a:r>
              <a:rPr sz="2400" spc="-20" dirty="0">
                <a:latin typeface="Carlito"/>
                <a:cs typeface="Carlito"/>
              </a:rPr>
              <a:t>make </a:t>
            </a:r>
            <a:r>
              <a:rPr sz="2400" spc="-15" dirty="0">
                <a:latin typeface="Carlito"/>
                <a:cs typeface="Carlito"/>
              </a:rPr>
              <a:t>better</a:t>
            </a:r>
            <a:r>
              <a:rPr sz="2400" spc="-30" dirty="0">
                <a:latin typeface="Carlito"/>
                <a:cs typeface="Carlito"/>
              </a:rPr>
              <a:t> </a:t>
            </a:r>
            <a:r>
              <a:rPr sz="2400" spc="-5" dirty="0">
                <a:latin typeface="Carlito"/>
                <a:cs typeface="Carlito"/>
              </a:rPr>
              <a:t>decisions</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Not </a:t>
            </a:r>
            <a:r>
              <a:rPr sz="2400" spc="-15" dirty="0">
                <a:latin typeface="Carlito"/>
                <a:cs typeface="Carlito"/>
              </a:rPr>
              <a:t>easy to </a:t>
            </a:r>
            <a:r>
              <a:rPr sz="2400" spc="-10" dirty="0">
                <a:latin typeface="Carlito"/>
                <a:cs typeface="Carlito"/>
              </a:rPr>
              <a:t>develop </a:t>
            </a:r>
            <a:r>
              <a:rPr sz="2400" dirty="0">
                <a:latin typeface="Carlito"/>
                <a:cs typeface="Carlito"/>
              </a:rPr>
              <a:t>and </a:t>
            </a:r>
            <a:r>
              <a:rPr sz="2400" spc="-10" dirty="0">
                <a:latin typeface="Carlito"/>
                <a:cs typeface="Carlito"/>
              </a:rPr>
              <a:t>requires </a:t>
            </a:r>
            <a:r>
              <a:rPr sz="2400" dirty="0">
                <a:latin typeface="Carlito"/>
                <a:cs typeface="Carlito"/>
              </a:rPr>
              <a:t>time and </a:t>
            </a:r>
            <a:r>
              <a:rPr sz="2400" spc="-15" dirty="0">
                <a:latin typeface="Carlito"/>
                <a:cs typeface="Carlito"/>
              </a:rPr>
              <a:t>effort, </a:t>
            </a:r>
            <a:r>
              <a:rPr sz="2400" spc="-5">
                <a:latin typeface="Carlito"/>
                <a:cs typeface="Carlito"/>
              </a:rPr>
              <a:t>but</a:t>
            </a:r>
            <a:r>
              <a:rPr sz="2400" spc="5">
                <a:latin typeface="Carlito"/>
                <a:cs typeface="Carlito"/>
              </a:rPr>
              <a:t> </a:t>
            </a:r>
            <a:r>
              <a:rPr sz="2400" spc="-10">
                <a:latin typeface="Carlito"/>
                <a:cs typeface="Carlito"/>
              </a:rPr>
              <a:t>once</a:t>
            </a:r>
            <a:r>
              <a:rPr lang="en-US" sz="2400" spc="-10" dirty="0">
                <a:latin typeface="Carlito"/>
                <a:cs typeface="Carlito"/>
              </a:rPr>
              <a:t> </a:t>
            </a:r>
            <a:r>
              <a:rPr sz="2400">
                <a:latin typeface="Carlito"/>
                <a:cs typeface="Carlito"/>
              </a:rPr>
              <a:t>in </a:t>
            </a:r>
            <a:r>
              <a:rPr sz="2400" spc="-5" dirty="0">
                <a:latin typeface="Carlito"/>
                <a:cs typeface="Carlito"/>
              </a:rPr>
              <a:t>place, </a:t>
            </a:r>
            <a:r>
              <a:rPr sz="2400" dirty="0">
                <a:latin typeface="Carlito"/>
                <a:cs typeface="Carlito"/>
              </a:rPr>
              <a:t>it is an </a:t>
            </a:r>
            <a:r>
              <a:rPr sz="2400" spc="-10" dirty="0">
                <a:latin typeface="Carlito"/>
                <a:cs typeface="Carlito"/>
              </a:rPr>
              <a:t>invaluable </a:t>
            </a:r>
            <a:r>
              <a:rPr sz="2400" spc="-5" dirty="0">
                <a:latin typeface="Carlito"/>
                <a:cs typeface="Carlito"/>
              </a:rPr>
              <a:t>decision support</a:t>
            </a:r>
            <a:r>
              <a:rPr sz="2400" spc="-40" dirty="0">
                <a:latin typeface="Carlito"/>
                <a:cs typeface="Carlito"/>
              </a:rPr>
              <a:t> </a:t>
            </a:r>
            <a:r>
              <a:rPr sz="2400" spc="-15" dirty="0">
                <a:latin typeface="Carlito"/>
                <a:cs typeface="Carlito"/>
              </a:rPr>
              <a:t>tool</a:t>
            </a:r>
            <a:endParaRPr sz="2400">
              <a:latin typeface="Carlito"/>
              <a:cs typeface="Carlito"/>
            </a:endParaRPr>
          </a:p>
        </p:txBody>
      </p:sp>
    </p:spTree>
    <p:extLst>
      <p:ext uri="{BB962C8B-B14F-4D97-AF65-F5344CB8AC3E}">
        <p14:creationId xmlns:p14="http://schemas.microsoft.com/office/powerpoint/2010/main" val="34843738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6428105" cy="574040"/>
          </a:xfrm>
          <a:prstGeom prst="rect">
            <a:avLst/>
          </a:prstGeom>
        </p:spPr>
        <p:txBody>
          <a:bodyPr vert="horz" wrap="square" lIns="0" tIns="12700" rIns="0" bIns="0" rtlCol="0">
            <a:spAutoFit/>
          </a:bodyPr>
          <a:lstStyle/>
          <a:p>
            <a:pPr marL="12700">
              <a:lnSpc>
                <a:spcPct val="100000"/>
              </a:lnSpc>
              <a:spcBef>
                <a:spcPts val="100"/>
              </a:spcBef>
            </a:pPr>
            <a:r>
              <a:rPr sz="3600" spc="20" dirty="0"/>
              <a:t>What </a:t>
            </a:r>
            <a:r>
              <a:rPr sz="3600" spc="10" dirty="0"/>
              <a:t>Is </a:t>
            </a:r>
            <a:r>
              <a:rPr sz="3600" spc="5" dirty="0"/>
              <a:t>an </a:t>
            </a:r>
            <a:r>
              <a:rPr sz="3600" spc="-20" dirty="0"/>
              <a:t>Information</a:t>
            </a:r>
            <a:r>
              <a:rPr sz="3600" spc="-495" dirty="0"/>
              <a:t> </a:t>
            </a:r>
            <a:r>
              <a:rPr sz="3600" spc="40" dirty="0"/>
              <a:t>System?</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38</a:t>
            </a:fld>
            <a:endParaRPr spc="-165" dirty="0"/>
          </a:p>
        </p:txBody>
      </p:sp>
      <p:sp>
        <p:nvSpPr>
          <p:cNvPr id="3" name="object 3"/>
          <p:cNvSpPr txBox="1"/>
          <p:nvPr/>
        </p:nvSpPr>
        <p:spPr>
          <a:xfrm>
            <a:off x="535940" y="1461262"/>
            <a:ext cx="8042275" cy="456184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dirty="0">
                <a:latin typeface="Carlito"/>
                <a:cs typeface="Carlito"/>
              </a:rPr>
              <a:t>Business </a:t>
            </a:r>
            <a:r>
              <a:rPr sz="2400" spc="-10" dirty="0">
                <a:latin typeface="Carlito"/>
                <a:cs typeface="Carlito"/>
              </a:rPr>
              <a:t>Intelligence</a:t>
            </a:r>
            <a:r>
              <a:rPr sz="2400" spc="-30" dirty="0">
                <a:latin typeface="Carlito"/>
                <a:cs typeface="Carlito"/>
              </a:rPr>
              <a:t> </a:t>
            </a:r>
            <a:r>
              <a:rPr sz="2400" spc="-5" dirty="0">
                <a:latin typeface="Carlito"/>
                <a:cs typeface="Carlito"/>
              </a:rPr>
              <a:t>(BI)</a:t>
            </a:r>
            <a:endParaRPr sz="2400">
              <a:latin typeface="Carlito"/>
              <a:cs typeface="Carlito"/>
            </a:endParaRPr>
          </a:p>
          <a:p>
            <a:pPr marL="756285" marR="95250" lvl="1" indent="-287020">
              <a:lnSpc>
                <a:spcPct val="100000"/>
              </a:lnSpc>
              <a:spcBef>
                <a:spcPts val="575"/>
              </a:spcBef>
              <a:buFont typeface="Arial"/>
              <a:buChar char="–"/>
              <a:tabLst>
                <a:tab pos="756920" algn="l"/>
              </a:tabLst>
            </a:pPr>
            <a:r>
              <a:rPr sz="2400" spc="-5" dirty="0">
                <a:latin typeface="Carlito"/>
                <a:cs typeface="Carlito"/>
              </a:rPr>
              <a:t>The </a:t>
            </a:r>
            <a:r>
              <a:rPr sz="2400" spc="-10" dirty="0">
                <a:latin typeface="Carlito"/>
                <a:cs typeface="Carlito"/>
              </a:rPr>
              <a:t>process </a:t>
            </a:r>
            <a:r>
              <a:rPr sz="2400" spc="-5" dirty="0">
                <a:latin typeface="Carlito"/>
                <a:cs typeface="Carlito"/>
              </a:rPr>
              <a:t>of gathering, </a:t>
            </a:r>
            <a:r>
              <a:rPr sz="2400" spc="-10" dirty="0">
                <a:latin typeface="Carlito"/>
                <a:cs typeface="Carlito"/>
              </a:rPr>
              <a:t>storing, </a:t>
            </a:r>
            <a:r>
              <a:rPr sz="2400" dirty="0">
                <a:latin typeface="Carlito"/>
                <a:cs typeface="Carlito"/>
              </a:rPr>
              <a:t>accessing, and </a:t>
            </a:r>
            <a:r>
              <a:rPr sz="2400" spc="-5" dirty="0">
                <a:latin typeface="Carlito"/>
                <a:cs typeface="Carlito"/>
              </a:rPr>
              <a:t>analyzing  </a:t>
            </a:r>
            <a:r>
              <a:rPr sz="2400" spc="-15" dirty="0">
                <a:latin typeface="Carlito"/>
                <a:cs typeface="Carlito"/>
              </a:rPr>
              <a:t>data </a:t>
            </a:r>
            <a:r>
              <a:rPr sz="2400" dirty="0">
                <a:latin typeface="Carlito"/>
                <a:cs typeface="Carlito"/>
              </a:rPr>
              <a:t>in </a:t>
            </a:r>
            <a:r>
              <a:rPr sz="2400" spc="-15" dirty="0">
                <a:latin typeface="Carlito"/>
                <a:cs typeface="Carlito"/>
              </a:rPr>
              <a:t>order to </a:t>
            </a:r>
            <a:r>
              <a:rPr sz="2400" spc="-20" dirty="0">
                <a:latin typeface="Carlito"/>
                <a:cs typeface="Carlito"/>
              </a:rPr>
              <a:t>make </a:t>
            </a:r>
            <a:r>
              <a:rPr sz="2400" spc="-15" dirty="0">
                <a:latin typeface="Carlito"/>
                <a:cs typeface="Carlito"/>
              </a:rPr>
              <a:t>better </a:t>
            </a:r>
            <a:r>
              <a:rPr sz="2400" spc="-5" dirty="0">
                <a:latin typeface="Carlito"/>
                <a:cs typeface="Carlito"/>
              </a:rPr>
              <a:t>business decisions</a:t>
            </a:r>
            <a:endParaRPr sz="2400">
              <a:latin typeface="Carlito"/>
              <a:cs typeface="Carlito"/>
            </a:endParaRPr>
          </a:p>
          <a:p>
            <a:pPr marL="756285" lvl="1" indent="-287020">
              <a:lnSpc>
                <a:spcPct val="100000"/>
              </a:lnSpc>
              <a:spcBef>
                <a:spcPts val="580"/>
              </a:spcBef>
              <a:buFont typeface="Arial"/>
              <a:buChar char="–"/>
              <a:tabLst>
                <a:tab pos="756920" algn="l"/>
              </a:tabLst>
            </a:pPr>
            <a:r>
              <a:rPr sz="2400" dirty="0">
                <a:latin typeface="Carlito"/>
                <a:cs typeface="Carlito"/>
              </a:rPr>
              <a:t>Business analytics</a:t>
            </a:r>
            <a:r>
              <a:rPr sz="2400" spc="-45" dirty="0">
                <a:latin typeface="Carlito"/>
                <a:cs typeface="Carlito"/>
              </a:rPr>
              <a:t> </a:t>
            </a:r>
            <a:r>
              <a:rPr sz="2400" spc="-10" dirty="0">
                <a:latin typeface="Carlito"/>
                <a:cs typeface="Carlito"/>
              </a:rPr>
              <a:t>(BA)</a:t>
            </a:r>
            <a:endParaRPr sz="2400">
              <a:latin typeface="Carlito"/>
              <a:cs typeface="Carlito"/>
            </a:endParaRPr>
          </a:p>
          <a:p>
            <a:pPr marL="1155700" marR="206375" lvl="2" indent="-228600">
              <a:lnSpc>
                <a:spcPct val="100000"/>
              </a:lnSpc>
              <a:spcBef>
                <a:spcPts val="575"/>
              </a:spcBef>
              <a:buChar char="•"/>
              <a:tabLst>
                <a:tab pos="1156335" algn="l"/>
              </a:tabLst>
            </a:pPr>
            <a:r>
              <a:rPr sz="2400" spc="-175" dirty="0">
                <a:latin typeface="Arial"/>
                <a:cs typeface="Arial"/>
              </a:rPr>
              <a:t>The </a:t>
            </a:r>
            <a:r>
              <a:rPr sz="2400" spc="-150" dirty="0">
                <a:latin typeface="Arial"/>
                <a:cs typeface="Arial"/>
              </a:rPr>
              <a:t>process </a:t>
            </a:r>
            <a:r>
              <a:rPr sz="2400" spc="-5" dirty="0">
                <a:latin typeface="Arial"/>
                <a:cs typeface="Arial"/>
              </a:rPr>
              <a:t>of </a:t>
            </a:r>
            <a:r>
              <a:rPr sz="2400" spc="-125" dirty="0">
                <a:latin typeface="Arial"/>
                <a:cs typeface="Arial"/>
              </a:rPr>
              <a:t>analyzing </a:t>
            </a:r>
            <a:r>
              <a:rPr sz="2400" spc="-95" dirty="0">
                <a:latin typeface="Arial"/>
                <a:cs typeface="Arial"/>
              </a:rPr>
              <a:t>data </a:t>
            </a:r>
            <a:r>
              <a:rPr sz="2400" spc="20" dirty="0">
                <a:latin typeface="Arial"/>
                <a:cs typeface="Arial"/>
              </a:rPr>
              <a:t>to </a:t>
            </a:r>
            <a:r>
              <a:rPr sz="2400" spc="-100" dirty="0">
                <a:latin typeface="Arial"/>
                <a:cs typeface="Arial"/>
              </a:rPr>
              <a:t>evaluate </a:t>
            </a:r>
            <a:r>
              <a:rPr sz="2400" spc="-190" dirty="0">
                <a:latin typeface="Arial"/>
                <a:cs typeface="Arial"/>
              </a:rPr>
              <a:t>a</a:t>
            </a:r>
            <a:r>
              <a:rPr sz="2400" spc="-425" dirty="0">
                <a:latin typeface="Arial"/>
                <a:cs typeface="Arial"/>
              </a:rPr>
              <a:t> </a:t>
            </a:r>
            <a:r>
              <a:rPr sz="2400" spc="-130" dirty="0">
                <a:latin typeface="Arial"/>
                <a:cs typeface="Arial"/>
              </a:rPr>
              <a:t>company’s  </a:t>
            </a:r>
            <a:r>
              <a:rPr sz="2400" spc="-10" dirty="0">
                <a:latin typeface="Carlito"/>
                <a:cs typeface="Carlito"/>
              </a:rPr>
              <a:t>operations</a:t>
            </a:r>
            <a:endParaRPr sz="2400">
              <a:latin typeface="Carlito"/>
              <a:cs typeface="Carlito"/>
            </a:endParaRPr>
          </a:p>
          <a:p>
            <a:pPr marL="756285" lvl="1" indent="-287020">
              <a:lnSpc>
                <a:spcPct val="100000"/>
              </a:lnSpc>
              <a:spcBef>
                <a:spcPts val="580"/>
              </a:spcBef>
              <a:buFont typeface="Arial"/>
              <a:buChar char="–"/>
              <a:tabLst>
                <a:tab pos="756920" algn="l"/>
              </a:tabLst>
            </a:pPr>
            <a:r>
              <a:rPr sz="2400" spc="-15" dirty="0">
                <a:latin typeface="Carlito"/>
                <a:cs typeface="Carlito"/>
              </a:rPr>
              <a:t>Data</a:t>
            </a:r>
            <a:r>
              <a:rPr sz="2400" spc="-30" dirty="0">
                <a:latin typeface="Carlito"/>
                <a:cs typeface="Carlito"/>
              </a:rPr>
              <a:t> </a:t>
            </a:r>
            <a:r>
              <a:rPr sz="2400" spc="-15" dirty="0">
                <a:latin typeface="Carlito"/>
                <a:cs typeface="Carlito"/>
              </a:rPr>
              <a:t>Warehouse</a:t>
            </a:r>
            <a:endParaRPr sz="2400">
              <a:latin typeface="Carlito"/>
              <a:cs typeface="Carlito"/>
            </a:endParaRPr>
          </a:p>
          <a:p>
            <a:pPr marL="1155700" marR="5080" lvl="2" indent="-228600">
              <a:lnSpc>
                <a:spcPct val="100000"/>
              </a:lnSpc>
              <a:spcBef>
                <a:spcPts val="575"/>
              </a:spcBef>
              <a:buFont typeface="Arial"/>
              <a:buChar char="•"/>
              <a:tabLst>
                <a:tab pos="1156335" algn="l"/>
              </a:tabLst>
            </a:pPr>
            <a:r>
              <a:rPr sz="2400" spc="-10" dirty="0">
                <a:latin typeface="Carlito"/>
                <a:cs typeface="Carlito"/>
              </a:rPr>
              <a:t>Comprehensive collection </a:t>
            </a:r>
            <a:r>
              <a:rPr sz="2400" spc="-5" dirty="0">
                <a:latin typeface="Carlito"/>
                <a:cs typeface="Carlito"/>
              </a:rPr>
              <a:t>of </a:t>
            </a:r>
            <a:r>
              <a:rPr sz="2400" spc="-15" dirty="0">
                <a:latin typeface="Carlito"/>
                <a:cs typeface="Carlito"/>
              </a:rPr>
              <a:t>data </a:t>
            </a:r>
            <a:r>
              <a:rPr sz="2400" dirty="0">
                <a:latin typeface="Carlito"/>
                <a:cs typeface="Carlito"/>
              </a:rPr>
              <a:t>about a </a:t>
            </a:r>
            <a:r>
              <a:rPr sz="2400" spc="-15" dirty="0">
                <a:latin typeface="Carlito"/>
                <a:cs typeface="Carlito"/>
              </a:rPr>
              <a:t>company </a:t>
            </a:r>
            <a:r>
              <a:rPr sz="2400" dirty="0">
                <a:latin typeface="Carlito"/>
                <a:cs typeface="Carlito"/>
              </a:rPr>
              <a:t>and  its</a:t>
            </a:r>
            <a:r>
              <a:rPr sz="2400" spc="-35" dirty="0">
                <a:latin typeface="Carlito"/>
                <a:cs typeface="Carlito"/>
              </a:rPr>
              <a:t> </a:t>
            </a:r>
            <a:r>
              <a:rPr sz="2400" spc="-15" dirty="0">
                <a:latin typeface="Carlito"/>
                <a:cs typeface="Carlito"/>
              </a:rPr>
              <a:t>customers</a:t>
            </a:r>
            <a:endParaRPr sz="2400">
              <a:latin typeface="Carlito"/>
              <a:cs typeface="Carlito"/>
            </a:endParaRPr>
          </a:p>
          <a:p>
            <a:pPr marL="1155700" marR="77470" lvl="2" indent="-228600">
              <a:lnSpc>
                <a:spcPct val="100000"/>
              </a:lnSpc>
              <a:spcBef>
                <a:spcPts val="580"/>
              </a:spcBef>
              <a:buFont typeface="Arial"/>
              <a:buChar char="•"/>
              <a:tabLst>
                <a:tab pos="1156335" algn="l"/>
              </a:tabLst>
            </a:pPr>
            <a:r>
              <a:rPr sz="2400" spc="-15" dirty="0">
                <a:latin typeface="Carlito"/>
                <a:cs typeface="Carlito"/>
              </a:rPr>
              <a:t>Data </a:t>
            </a:r>
            <a:r>
              <a:rPr sz="2400" dirty="0">
                <a:latin typeface="Carlito"/>
                <a:cs typeface="Carlito"/>
              </a:rPr>
              <a:t>mart is </a:t>
            </a:r>
            <a:r>
              <a:rPr sz="2400" spc="-5" dirty="0">
                <a:latin typeface="Carlito"/>
                <a:cs typeface="Carlito"/>
              </a:rPr>
              <a:t>smaller </a:t>
            </a:r>
            <a:r>
              <a:rPr sz="2400" dirty="0">
                <a:latin typeface="Carlito"/>
                <a:cs typeface="Carlito"/>
              </a:rPr>
              <a:t>and </a:t>
            </a:r>
            <a:r>
              <a:rPr sz="2400" spc="-5" dirty="0">
                <a:latin typeface="Carlito"/>
                <a:cs typeface="Carlito"/>
              </a:rPr>
              <a:t>typically </a:t>
            </a:r>
            <a:r>
              <a:rPr sz="2400" spc="-20" dirty="0">
                <a:latin typeface="Carlito"/>
                <a:cs typeface="Carlito"/>
              </a:rPr>
              <a:t>stores </a:t>
            </a:r>
            <a:r>
              <a:rPr sz="2400" spc="-15" dirty="0">
                <a:latin typeface="Carlito"/>
                <a:cs typeface="Carlito"/>
              </a:rPr>
              <a:t>data related to  </a:t>
            </a:r>
            <a:r>
              <a:rPr sz="2400" dirty="0">
                <a:latin typeface="Carlito"/>
                <a:cs typeface="Carlito"/>
              </a:rPr>
              <a:t>a </a:t>
            </a:r>
            <a:r>
              <a:rPr sz="2400" spc="-5" dirty="0">
                <a:latin typeface="Carlito"/>
                <a:cs typeface="Carlito"/>
              </a:rPr>
              <a:t>particular subject or</a:t>
            </a:r>
            <a:r>
              <a:rPr sz="2400" spc="-55" dirty="0">
                <a:latin typeface="Carlito"/>
                <a:cs typeface="Carlito"/>
              </a:rPr>
              <a:t> </a:t>
            </a:r>
            <a:r>
              <a:rPr sz="2400" spc="-10" dirty="0">
                <a:latin typeface="Carlito"/>
                <a:cs typeface="Carlito"/>
              </a:rPr>
              <a:t>department</a:t>
            </a:r>
            <a:endParaRPr sz="2400">
              <a:latin typeface="Carlito"/>
              <a:cs typeface="Carlito"/>
            </a:endParaRPr>
          </a:p>
        </p:txBody>
      </p:sp>
    </p:spTree>
    <p:extLst>
      <p:ext uri="{BB962C8B-B14F-4D97-AF65-F5344CB8AC3E}">
        <p14:creationId xmlns:p14="http://schemas.microsoft.com/office/powerpoint/2010/main" val="34431683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6428105" cy="574040"/>
          </a:xfrm>
          <a:prstGeom prst="rect">
            <a:avLst/>
          </a:prstGeom>
        </p:spPr>
        <p:txBody>
          <a:bodyPr vert="horz" wrap="square" lIns="0" tIns="12700" rIns="0" bIns="0" rtlCol="0">
            <a:spAutoFit/>
          </a:bodyPr>
          <a:lstStyle/>
          <a:p>
            <a:pPr marL="12700">
              <a:lnSpc>
                <a:spcPct val="100000"/>
              </a:lnSpc>
              <a:spcBef>
                <a:spcPts val="100"/>
              </a:spcBef>
            </a:pPr>
            <a:r>
              <a:rPr lang="en-US" sz="3600" spc="20" dirty="0"/>
              <a:t>Users of Information Systems</a:t>
            </a:r>
            <a:endParaRPr sz="3600"/>
          </a:p>
        </p:txBody>
      </p:sp>
      <p:sp>
        <p:nvSpPr>
          <p:cNvPr id="3" name="object 3"/>
          <p:cNvSpPr txBox="1"/>
          <p:nvPr/>
        </p:nvSpPr>
        <p:spPr>
          <a:xfrm>
            <a:off x="993444" y="1461262"/>
            <a:ext cx="3921760" cy="2660015"/>
          </a:xfrm>
          <a:prstGeom prst="rect">
            <a:avLst/>
          </a:prstGeom>
        </p:spPr>
        <p:txBody>
          <a:bodyPr vert="horz" wrap="square" lIns="0" tIns="85725" rIns="0" bIns="0" rtlCol="0">
            <a:spAutoFit/>
          </a:bodyPr>
          <a:lstStyle/>
          <a:p>
            <a:pPr marL="299085" indent="-287020">
              <a:lnSpc>
                <a:spcPct val="100000"/>
              </a:lnSpc>
              <a:spcBef>
                <a:spcPts val="675"/>
              </a:spcBef>
              <a:buFont typeface="Arial"/>
              <a:buChar char="–"/>
              <a:tabLst>
                <a:tab pos="299720" algn="l"/>
              </a:tabLst>
            </a:pPr>
            <a:r>
              <a:rPr sz="2400" spc="-5" dirty="0">
                <a:latin typeface="Carlito"/>
                <a:cs typeface="Carlito"/>
              </a:rPr>
              <a:t>User</a:t>
            </a:r>
            <a:r>
              <a:rPr sz="2400" spc="-15" dirty="0">
                <a:latin typeface="Carlito"/>
                <a:cs typeface="Carlito"/>
              </a:rPr>
              <a:t> Groups</a:t>
            </a:r>
            <a:endParaRPr sz="2400">
              <a:latin typeface="Carlito"/>
              <a:cs typeface="Carlito"/>
            </a:endParaRPr>
          </a:p>
          <a:p>
            <a:pPr marL="697865" lvl="1" indent="-229235">
              <a:lnSpc>
                <a:spcPct val="100000"/>
              </a:lnSpc>
              <a:spcBef>
                <a:spcPts val="575"/>
              </a:spcBef>
              <a:buFont typeface="Arial"/>
              <a:buChar char="•"/>
              <a:tabLst>
                <a:tab pos="698500" algn="l"/>
              </a:tabLst>
            </a:pPr>
            <a:r>
              <a:rPr sz="2400" spc="-15" dirty="0">
                <a:latin typeface="Carlito"/>
                <a:cs typeface="Carlito"/>
              </a:rPr>
              <a:t>Executive</a:t>
            </a:r>
            <a:r>
              <a:rPr sz="2400" spc="-25" dirty="0">
                <a:latin typeface="Carlito"/>
                <a:cs typeface="Carlito"/>
              </a:rPr>
              <a:t> </a:t>
            </a:r>
            <a:r>
              <a:rPr sz="2400" spc="-10" dirty="0">
                <a:latin typeface="Carlito"/>
                <a:cs typeface="Carlito"/>
              </a:rPr>
              <a:t>managers</a:t>
            </a:r>
            <a:endParaRPr sz="2400">
              <a:latin typeface="Carlito"/>
              <a:cs typeface="Carlito"/>
            </a:endParaRPr>
          </a:p>
          <a:p>
            <a:pPr marL="697865" lvl="1" indent="-229235">
              <a:lnSpc>
                <a:spcPct val="100000"/>
              </a:lnSpc>
              <a:spcBef>
                <a:spcPts val="580"/>
              </a:spcBef>
              <a:buFont typeface="Arial"/>
              <a:buChar char="•"/>
              <a:tabLst>
                <a:tab pos="698500" algn="l"/>
              </a:tabLst>
            </a:pPr>
            <a:r>
              <a:rPr sz="2400" dirty="0">
                <a:latin typeface="Carlito"/>
                <a:cs typeface="Carlito"/>
              </a:rPr>
              <a:t>Middle</a:t>
            </a:r>
            <a:r>
              <a:rPr sz="2400" spc="-25" dirty="0">
                <a:latin typeface="Carlito"/>
                <a:cs typeface="Carlito"/>
              </a:rPr>
              <a:t> </a:t>
            </a:r>
            <a:r>
              <a:rPr sz="2400" spc="-10" dirty="0">
                <a:latin typeface="Carlito"/>
                <a:cs typeface="Carlito"/>
              </a:rPr>
              <a:t>managers</a:t>
            </a:r>
            <a:endParaRPr sz="2400">
              <a:latin typeface="Carlito"/>
              <a:cs typeface="Carlito"/>
            </a:endParaRPr>
          </a:p>
          <a:p>
            <a:pPr marL="697865" lvl="1" indent="-229235">
              <a:lnSpc>
                <a:spcPct val="100000"/>
              </a:lnSpc>
              <a:spcBef>
                <a:spcPts val="575"/>
              </a:spcBef>
              <a:buFont typeface="Arial"/>
              <a:buChar char="•"/>
              <a:tabLst>
                <a:tab pos="698500" algn="l"/>
              </a:tabLst>
            </a:pPr>
            <a:r>
              <a:rPr sz="2400" spc="-10" dirty="0">
                <a:latin typeface="Carlito"/>
                <a:cs typeface="Carlito"/>
              </a:rPr>
              <a:t>Operational</a:t>
            </a:r>
            <a:r>
              <a:rPr sz="2400" spc="-30" dirty="0">
                <a:latin typeface="Carlito"/>
                <a:cs typeface="Carlito"/>
              </a:rPr>
              <a:t> </a:t>
            </a:r>
            <a:r>
              <a:rPr sz="2400" spc="-10" dirty="0">
                <a:latin typeface="Carlito"/>
                <a:cs typeface="Carlito"/>
              </a:rPr>
              <a:t>managers</a:t>
            </a:r>
            <a:endParaRPr sz="2400">
              <a:latin typeface="Carlito"/>
              <a:cs typeface="Carlito"/>
            </a:endParaRPr>
          </a:p>
          <a:p>
            <a:pPr marL="697865" lvl="1" indent="-229235">
              <a:lnSpc>
                <a:spcPct val="100000"/>
              </a:lnSpc>
              <a:spcBef>
                <a:spcPts val="575"/>
              </a:spcBef>
              <a:buFont typeface="Arial"/>
              <a:buChar char="•"/>
              <a:tabLst>
                <a:tab pos="698500" algn="l"/>
              </a:tabLst>
            </a:pPr>
            <a:r>
              <a:rPr sz="2400" spc="-10" dirty="0">
                <a:latin typeface="Carlito"/>
                <a:cs typeface="Carlito"/>
              </a:rPr>
              <a:t>Nonmanagement</a:t>
            </a:r>
            <a:r>
              <a:rPr sz="2400" spc="-45" dirty="0">
                <a:latin typeface="Carlito"/>
                <a:cs typeface="Carlito"/>
              </a:rPr>
              <a:t> </a:t>
            </a:r>
            <a:r>
              <a:rPr sz="2400" spc="-25" dirty="0">
                <a:latin typeface="Carlito"/>
                <a:cs typeface="Carlito"/>
              </a:rPr>
              <a:t>workers</a:t>
            </a:r>
            <a:endParaRPr sz="2400">
              <a:latin typeface="Carlito"/>
              <a:cs typeface="Carlito"/>
            </a:endParaRPr>
          </a:p>
          <a:p>
            <a:pPr marL="697865" lvl="1" indent="-229235">
              <a:lnSpc>
                <a:spcPct val="100000"/>
              </a:lnSpc>
              <a:spcBef>
                <a:spcPts val="580"/>
              </a:spcBef>
              <a:buFont typeface="Arial"/>
              <a:buChar char="•"/>
              <a:tabLst>
                <a:tab pos="698500" algn="l"/>
              </a:tabLst>
            </a:pPr>
            <a:r>
              <a:rPr sz="2400" spc="-5" dirty="0">
                <a:latin typeface="Carlito"/>
                <a:cs typeface="Carlito"/>
              </a:rPr>
              <a:t>External</a:t>
            </a:r>
            <a:r>
              <a:rPr sz="2400" spc="-40" dirty="0">
                <a:latin typeface="Carlito"/>
                <a:cs typeface="Carlito"/>
              </a:rPr>
              <a:t> </a:t>
            </a:r>
            <a:r>
              <a:rPr sz="2400" spc="-10" dirty="0">
                <a:latin typeface="Carlito"/>
                <a:cs typeface="Carlito"/>
              </a:rPr>
              <a:t>users</a:t>
            </a:r>
            <a:endParaRPr sz="2400">
              <a:latin typeface="Carlito"/>
              <a:cs typeface="Carlito"/>
            </a:endParaRPr>
          </a:p>
        </p:txBody>
      </p:sp>
      <p:sp>
        <p:nvSpPr>
          <p:cNvPr id="4" name="object 4"/>
          <p:cNvSpPr/>
          <p:nvPr/>
        </p:nvSpPr>
        <p:spPr>
          <a:xfrm>
            <a:off x="5076063" y="1682366"/>
            <a:ext cx="3758121" cy="359061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779901" y="4725149"/>
            <a:ext cx="1163116" cy="1411833"/>
          </a:xfrm>
          <a:prstGeom prst="rect">
            <a:avLst/>
          </a:prstGeom>
          <a:blipFill>
            <a:blip r:embed="rId3" cstate="print"/>
            <a:stretch>
              <a:fillRect/>
            </a:stretch>
          </a:blipFill>
        </p:spPr>
        <p:txBody>
          <a:bodyPr wrap="square" lIns="0" tIns="0" rIns="0" bIns="0" rtlCol="0"/>
          <a:lstStyle/>
          <a:p>
            <a:endParaRPr/>
          </a:p>
        </p:txBody>
      </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39</a:t>
            </a:fld>
            <a:endParaRPr spc="-165" dirty="0"/>
          </a:p>
        </p:txBody>
      </p:sp>
    </p:spTree>
    <p:extLst>
      <p:ext uri="{BB962C8B-B14F-4D97-AF65-F5344CB8AC3E}">
        <p14:creationId xmlns:p14="http://schemas.microsoft.com/office/powerpoint/2010/main" val="37171154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5982970" cy="574040"/>
          </a:xfrm>
          <a:prstGeom prst="rect">
            <a:avLst/>
          </a:prstGeom>
        </p:spPr>
        <p:txBody>
          <a:bodyPr vert="horz" wrap="square" lIns="0" tIns="12700" rIns="0" bIns="0" rtlCol="0">
            <a:spAutoFit/>
          </a:bodyPr>
          <a:lstStyle/>
          <a:p>
            <a:pPr marL="12700">
              <a:lnSpc>
                <a:spcPct val="100000"/>
              </a:lnSpc>
              <a:spcBef>
                <a:spcPts val="100"/>
              </a:spcBef>
            </a:pPr>
            <a:r>
              <a:rPr sz="3600" spc="-30" dirty="0"/>
              <a:t>Types </a:t>
            </a:r>
            <a:r>
              <a:rPr sz="3600" spc="-15" dirty="0"/>
              <a:t>of </a:t>
            </a:r>
            <a:r>
              <a:rPr sz="3600" spc="-25" dirty="0"/>
              <a:t>Information</a:t>
            </a:r>
            <a:r>
              <a:rPr sz="3600" spc="-310" dirty="0"/>
              <a:t> </a:t>
            </a:r>
            <a:r>
              <a:rPr sz="3600" spc="10" dirty="0"/>
              <a:t>Systems</a:t>
            </a:r>
            <a:endParaRPr sz="3600"/>
          </a:p>
        </p:txBody>
      </p:sp>
      <p:sp>
        <p:nvSpPr>
          <p:cNvPr id="3" name="object 3"/>
          <p:cNvSpPr/>
          <p:nvPr/>
        </p:nvSpPr>
        <p:spPr>
          <a:xfrm>
            <a:off x="539546" y="1556791"/>
            <a:ext cx="6832206" cy="4425253"/>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7452359" y="2780919"/>
            <a:ext cx="1425981" cy="583364"/>
          </a:xfrm>
          <a:prstGeom prst="rect">
            <a:avLst/>
          </a:prstGeom>
          <a:blipFill>
            <a:blip r:embed="rId4"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40</a:t>
            </a:fld>
            <a:endParaRPr spc="-165" dirty="0"/>
          </a:p>
        </p:txBody>
      </p:sp>
    </p:spTree>
    <p:extLst>
      <p:ext uri="{BB962C8B-B14F-4D97-AF65-F5344CB8AC3E}">
        <p14:creationId xmlns:p14="http://schemas.microsoft.com/office/powerpoint/2010/main" val="79937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5982970" cy="574040"/>
          </a:xfrm>
          <a:prstGeom prst="rect">
            <a:avLst/>
          </a:prstGeom>
        </p:spPr>
        <p:txBody>
          <a:bodyPr vert="horz" wrap="square" lIns="0" tIns="12700" rIns="0" bIns="0" rtlCol="0">
            <a:spAutoFit/>
          </a:bodyPr>
          <a:lstStyle/>
          <a:p>
            <a:pPr marL="12700">
              <a:lnSpc>
                <a:spcPct val="100000"/>
              </a:lnSpc>
              <a:spcBef>
                <a:spcPts val="100"/>
              </a:spcBef>
            </a:pPr>
            <a:r>
              <a:rPr sz="3600" spc="-30" dirty="0"/>
              <a:t>Types </a:t>
            </a:r>
            <a:r>
              <a:rPr sz="3600" spc="-15" dirty="0"/>
              <a:t>of </a:t>
            </a:r>
            <a:r>
              <a:rPr sz="3600" spc="-25" dirty="0"/>
              <a:t>Information</a:t>
            </a:r>
            <a:r>
              <a:rPr sz="3600" spc="-310" dirty="0"/>
              <a:t> </a:t>
            </a:r>
            <a:r>
              <a:rPr sz="3600" spc="10" dirty="0"/>
              <a:t>Systems</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41</a:t>
            </a:fld>
            <a:endParaRPr spc="-165" dirty="0"/>
          </a:p>
        </p:txBody>
      </p:sp>
      <p:sp>
        <p:nvSpPr>
          <p:cNvPr id="3" name="object 3"/>
          <p:cNvSpPr txBox="1"/>
          <p:nvPr/>
        </p:nvSpPr>
        <p:spPr>
          <a:xfrm>
            <a:off x="535940" y="1461262"/>
            <a:ext cx="7760970" cy="3515706"/>
          </a:xfrm>
          <a:prstGeom prst="rect">
            <a:avLst/>
          </a:prstGeom>
        </p:spPr>
        <p:txBody>
          <a:bodyPr vert="horz" wrap="square" lIns="0" tIns="85725" rIns="0" bIns="0" rtlCol="0">
            <a:spAutoFit/>
          </a:bodyPr>
          <a:lstStyle/>
          <a:p>
            <a:pPr marL="12065">
              <a:lnSpc>
                <a:spcPct val="100000"/>
              </a:lnSpc>
              <a:spcBef>
                <a:spcPts val="675"/>
              </a:spcBef>
              <a:tabLst>
                <a:tab pos="355600" algn="l"/>
                <a:tab pos="356235" algn="l"/>
              </a:tabLst>
            </a:pPr>
            <a:r>
              <a:rPr lang="en-US" sz="2400" spc="-10" dirty="0">
                <a:latin typeface="Carlito"/>
                <a:cs typeface="Carlito"/>
              </a:rPr>
              <a:t>1. </a:t>
            </a:r>
            <a:r>
              <a:rPr sz="2400" spc="-10" dirty="0">
                <a:latin typeface="Carlito"/>
                <a:cs typeface="Carlito"/>
              </a:rPr>
              <a:t>Office </a:t>
            </a:r>
            <a:r>
              <a:rPr sz="2400" dirty="0">
                <a:latin typeface="Carlito"/>
                <a:cs typeface="Carlito"/>
              </a:rPr>
              <a:t>and </a:t>
            </a:r>
            <a:r>
              <a:rPr sz="2400" spc="-5" dirty="0">
                <a:latin typeface="Carlito"/>
                <a:cs typeface="Carlito"/>
              </a:rPr>
              <a:t>User </a:t>
            </a:r>
            <a:r>
              <a:rPr sz="2400" spc="-10" dirty="0">
                <a:latin typeface="Carlito"/>
                <a:cs typeface="Carlito"/>
              </a:rPr>
              <a:t>Productivity </a:t>
            </a:r>
            <a:r>
              <a:rPr sz="2400" spc="-5" dirty="0">
                <a:latin typeface="Carlito"/>
                <a:cs typeface="Carlito"/>
              </a:rPr>
              <a:t>Support</a:t>
            </a:r>
            <a:r>
              <a:rPr sz="2400" spc="-20" dirty="0">
                <a:latin typeface="Carlito"/>
                <a:cs typeface="Carlito"/>
              </a:rPr>
              <a:t> </a:t>
            </a:r>
            <a:r>
              <a:rPr sz="2400" spc="-15" dirty="0">
                <a:latin typeface="Carlito"/>
                <a:cs typeface="Carlito"/>
              </a:rPr>
              <a:t>Systems</a:t>
            </a:r>
            <a:endParaRPr sz="2400" dirty="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Office</a:t>
            </a:r>
            <a:r>
              <a:rPr sz="2400" spc="-15" dirty="0">
                <a:latin typeface="Carlito"/>
                <a:cs typeface="Carlito"/>
              </a:rPr>
              <a:t> </a:t>
            </a:r>
            <a:r>
              <a:rPr sz="2400" spc="-20" dirty="0">
                <a:latin typeface="Carlito"/>
                <a:cs typeface="Carlito"/>
              </a:rPr>
              <a:t>System</a:t>
            </a:r>
            <a:endParaRPr sz="2400" dirty="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Document Processing</a:t>
            </a:r>
            <a:r>
              <a:rPr sz="2400" spc="-45" dirty="0">
                <a:latin typeface="Carlito"/>
                <a:cs typeface="Carlito"/>
              </a:rPr>
              <a:t> </a:t>
            </a:r>
            <a:r>
              <a:rPr sz="2400" spc="-15" dirty="0">
                <a:latin typeface="Carlito"/>
                <a:cs typeface="Carlito"/>
              </a:rPr>
              <a:t>Systems</a:t>
            </a:r>
            <a:endParaRPr sz="2400" dirty="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Document </a:t>
            </a:r>
            <a:r>
              <a:rPr sz="2400" spc="-5" dirty="0">
                <a:latin typeface="Carlito"/>
                <a:cs typeface="Carlito"/>
              </a:rPr>
              <a:t>Management </a:t>
            </a:r>
            <a:r>
              <a:rPr sz="2400" spc="-15" dirty="0">
                <a:latin typeface="Carlito"/>
                <a:cs typeface="Carlito"/>
              </a:rPr>
              <a:t>Systems</a:t>
            </a:r>
            <a:r>
              <a:rPr sz="2400" spc="-80" dirty="0">
                <a:latin typeface="Carlito"/>
                <a:cs typeface="Carlito"/>
              </a:rPr>
              <a:t> </a:t>
            </a:r>
            <a:r>
              <a:rPr sz="2400" spc="-5" dirty="0">
                <a:latin typeface="Carlito"/>
                <a:cs typeface="Carlito"/>
              </a:rPr>
              <a:t>(DMSs)</a:t>
            </a:r>
            <a:endParaRPr sz="2400" dirty="0">
              <a:latin typeface="Carlito"/>
              <a:cs typeface="Carlito"/>
            </a:endParaRPr>
          </a:p>
          <a:p>
            <a:pPr marL="756285" marR="636905" lvl="1" indent="-287020">
              <a:spcBef>
                <a:spcPts val="100"/>
              </a:spcBef>
              <a:buFont typeface="Arial"/>
              <a:buChar char="–"/>
              <a:tabLst>
                <a:tab pos="299720" algn="l"/>
              </a:tabLst>
            </a:pPr>
            <a:r>
              <a:rPr lang="en-US" sz="2400" spc="-15" dirty="0">
                <a:latin typeface="Carlito"/>
                <a:cs typeface="Carlito"/>
              </a:rPr>
              <a:t>Content </a:t>
            </a:r>
            <a:r>
              <a:rPr lang="en-US" sz="2400" spc="-5" dirty="0">
                <a:latin typeface="Carlito"/>
                <a:cs typeface="Carlito"/>
              </a:rPr>
              <a:t>Management</a:t>
            </a:r>
            <a:r>
              <a:rPr lang="en-US" sz="2400" spc="-85" dirty="0">
                <a:latin typeface="Carlito"/>
                <a:cs typeface="Carlito"/>
              </a:rPr>
              <a:t> </a:t>
            </a:r>
            <a:r>
              <a:rPr lang="en-US" sz="2400" spc="-15" dirty="0">
                <a:latin typeface="Carlito"/>
                <a:cs typeface="Carlito"/>
              </a:rPr>
              <a:t>Systems  </a:t>
            </a:r>
            <a:r>
              <a:rPr lang="en-US" sz="2400" dirty="0">
                <a:latin typeface="Carlito"/>
                <a:cs typeface="Carlito"/>
              </a:rPr>
              <a:t>(CMSs)</a:t>
            </a:r>
          </a:p>
          <a:p>
            <a:pPr marL="756285" lvl="1" indent="-287020">
              <a:spcBef>
                <a:spcPts val="580"/>
              </a:spcBef>
              <a:buFont typeface="Arial"/>
              <a:buChar char="–"/>
              <a:tabLst>
                <a:tab pos="299720" algn="l"/>
              </a:tabLst>
            </a:pPr>
            <a:r>
              <a:rPr lang="en-US" sz="2400" spc="-10" dirty="0">
                <a:latin typeface="Carlito"/>
                <a:cs typeface="Carlito"/>
              </a:rPr>
              <a:t>Communication</a:t>
            </a:r>
            <a:r>
              <a:rPr lang="en-US" sz="2400" spc="-50" dirty="0">
                <a:latin typeface="Carlito"/>
                <a:cs typeface="Carlito"/>
              </a:rPr>
              <a:t> </a:t>
            </a:r>
            <a:r>
              <a:rPr lang="en-US" sz="2400" spc="-15" dirty="0">
                <a:latin typeface="Carlito"/>
                <a:cs typeface="Carlito"/>
              </a:rPr>
              <a:t>Systems</a:t>
            </a:r>
            <a:endParaRPr lang="en-US" sz="2400" dirty="0">
              <a:latin typeface="Carlito"/>
              <a:cs typeface="Carlito"/>
            </a:endParaRPr>
          </a:p>
          <a:p>
            <a:pPr marL="697865" marR="5080" lvl="1" indent="-228600">
              <a:lnSpc>
                <a:spcPct val="100000"/>
              </a:lnSpc>
              <a:spcBef>
                <a:spcPts val="575"/>
              </a:spcBef>
              <a:buFont typeface="Arial"/>
              <a:buChar char="•"/>
              <a:tabLst>
                <a:tab pos="698500" algn="l"/>
              </a:tabLst>
            </a:pPr>
            <a:endParaRPr lang="en-US" sz="2400" dirty="0">
              <a:latin typeface="Carlito"/>
              <a:cs typeface="Carlito"/>
            </a:endParaRPr>
          </a:p>
          <a:p>
            <a:pPr marL="1155700" lvl="2" indent="-229235">
              <a:lnSpc>
                <a:spcPct val="100000"/>
              </a:lnSpc>
              <a:spcBef>
                <a:spcPts val="580"/>
              </a:spcBef>
              <a:buFont typeface="Arial"/>
              <a:buChar char="•"/>
              <a:tabLst>
                <a:tab pos="1156335" algn="l"/>
              </a:tabLst>
            </a:pPr>
            <a:endParaRPr sz="2400" dirty="0">
              <a:latin typeface="Carlito"/>
              <a:cs typeface="Carlito"/>
            </a:endParaRPr>
          </a:p>
        </p:txBody>
      </p:sp>
      <p:sp>
        <p:nvSpPr>
          <p:cNvPr id="6" name="object 2"/>
          <p:cNvSpPr/>
          <p:nvPr/>
        </p:nvSpPr>
        <p:spPr>
          <a:xfrm>
            <a:off x="6934200" y="1447800"/>
            <a:ext cx="2209800" cy="3290539"/>
          </a:xfrm>
          <a:prstGeom prst="rect">
            <a:avLst/>
          </a:prstGeom>
          <a:blipFill>
            <a:blip r:embed="rId2" cstate="print"/>
            <a:stretch>
              <a:fillRect/>
            </a:stretch>
          </a:blipFill>
        </p:spPr>
        <p:txBody>
          <a:bodyPr wrap="square" lIns="0" tIns="0" rIns="0" bIns="0" rtlCol="0"/>
          <a:lstStyle/>
          <a:p>
            <a:endParaRPr/>
          </a:p>
        </p:txBody>
      </p:sp>
      <p:sp>
        <p:nvSpPr>
          <p:cNvPr id="7" name="object 5"/>
          <p:cNvSpPr/>
          <p:nvPr/>
        </p:nvSpPr>
        <p:spPr>
          <a:xfrm>
            <a:off x="7010400" y="4724400"/>
            <a:ext cx="1428750" cy="1343022"/>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7311659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5982970" cy="574040"/>
          </a:xfrm>
          <a:prstGeom prst="rect">
            <a:avLst/>
          </a:prstGeom>
        </p:spPr>
        <p:txBody>
          <a:bodyPr vert="horz" wrap="square" lIns="0" tIns="12700" rIns="0" bIns="0" rtlCol="0">
            <a:spAutoFit/>
          </a:bodyPr>
          <a:lstStyle/>
          <a:p>
            <a:pPr marL="12700">
              <a:lnSpc>
                <a:spcPct val="100000"/>
              </a:lnSpc>
              <a:spcBef>
                <a:spcPts val="100"/>
              </a:spcBef>
            </a:pPr>
            <a:r>
              <a:rPr sz="3600" spc="-30" dirty="0"/>
              <a:t>Types </a:t>
            </a:r>
            <a:r>
              <a:rPr sz="3600" spc="-15" dirty="0"/>
              <a:t>of </a:t>
            </a:r>
            <a:r>
              <a:rPr sz="3600" spc="-25" dirty="0"/>
              <a:t>Information</a:t>
            </a:r>
            <a:r>
              <a:rPr sz="3600" spc="-310" dirty="0"/>
              <a:t> </a:t>
            </a:r>
            <a:r>
              <a:rPr sz="3600" spc="10" dirty="0"/>
              <a:t>Systems</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42</a:t>
            </a:fld>
            <a:endParaRPr spc="-165" dirty="0"/>
          </a:p>
        </p:txBody>
      </p:sp>
      <p:sp>
        <p:nvSpPr>
          <p:cNvPr id="3" name="object 3"/>
          <p:cNvSpPr txBox="1"/>
          <p:nvPr/>
        </p:nvSpPr>
        <p:spPr>
          <a:xfrm>
            <a:off x="535940" y="1461262"/>
            <a:ext cx="7941945" cy="4356962"/>
          </a:xfrm>
          <a:prstGeom prst="rect">
            <a:avLst/>
          </a:prstGeom>
        </p:spPr>
        <p:txBody>
          <a:bodyPr vert="horz" wrap="square" lIns="0" tIns="85725" rIns="0" bIns="0" rtlCol="0">
            <a:spAutoFit/>
          </a:bodyPr>
          <a:lstStyle/>
          <a:p>
            <a:pPr marL="12065">
              <a:lnSpc>
                <a:spcPct val="100000"/>
              </a:lnSpc>
              <a:spcBef>
                <a:spcPts val="675"/>
              </a:spcBef>
              <a:tabLst>
                <a:tab pos="355600" algn="l"/>
                <a:tab pos="356235" algn="l"/>
              </a:tabLst>
            </a:pPr>
            <a:r>
              <a:rPr lang="en-US" sz="2400" spc="-20" dirty="0">
                <a:latin typeface="Carlito"/>
                <a:cs typeface="Carlito"/>
              </a:rPr>
              <a:t>2. </a:t>
            </a:r>
            <a:r>
              <a:rPr sz="2400" spc="-20" dirty="0">
                <a:latin typeface="Carlito"/>
                <a:cs typeface="Carlito"/>
              </a:rPr>
              <a:t>Transaction </a:t>
            </a:r>
            <a:r>
              <a:rPr sz="2400" spc="-10" dirty="0">
                <a:latin typeface="Carlito"/>
                <a:cs typeface="Carlito"/>
              </a:rPr>
              <a:t>Processing </a:t>
            </a:r>
            <a:r>
              <a:rPr sz="2400" spc="-15" dirty="0">
                <a:latin typeface="Carlito"/>
                <a:cs typeface="Carlito"/>
              </a:rPr>
              <a:t>Systems</a:t>
            </a:r>
            <a:r>
              <a:rPr sz="2400" spc="-60" dirty="0">
                <a:latin typeface="Carlito"/>
                <a:cs typeface="Carlito"/>
              </a:rPr>
              <a:t> </a:t>
            </a:r>
            <a:r>
              <a:rPr sz="2400" spc="-5" dirty="0">
                <a:latin typeface="Carlito"/>
                <a:cs typeface="Carlito"/>
              </a:rPr>
              <a:t>(TPSs)</a:t>
            </a:r>
            <a:endParaRPr sz="2400" dirty="0">
              <a:latin typeface="Carlito"/>
              <a:cs typeface="Carlito"/>
            </a:endParaRPr>
          </a:p>
          <a:p>
            <a:pPr marL="756285" marR="311150" lvl="1" indent="-287020">
              <a:lnSpc>
                <a:spcPct val="100000"/>
              </a:lnSpc>
              <a:spcBef>
                <a:spcPts val="575"/>
              </a:spcBef>
              <a:buChar char="–"/>
              <a:tabLst>
                <a:tab pos="756920" algn="l"/>
              </a:tabLst>
            </a:pPr>
            <a:r>
              <a:rPr sz="2400" spc="-195" dirty="0">
                <a:latin typeface="Arial"/>
                <a:cs typeface="Arial"/>
              </a:rPr>
              <a:t>Processes </a:t>
            </a:r>
            <a:r>
              <a:rPr sz="2400" spc="-114" dirty="0">
                <a:latin typeface="Arial"/>
                <a:cs typeface="Arial"/>
              </a:rPr>
              <a:t>and </a:t>
            </a:r>
            <a:r>
              <a:rPr sz="2400" spc="-110" dirty="0">
                <a:latin typeface="Arial"/>
                <a:cs typeface="Arial"/>
              </a:rPr>
              <a:t>records </a:t>
            </a:r>
            <a:r>
              <a:rPr sz="2400" spc="-95" dirty="0">
                <a:latin typeface="Arial"/>
                <a:cs typeface="Arial"/>
              </a:rPr>
              <a:t>data </a:t>
            </a:r>
            <a:r>
              <a:rPr sz="2400" spc="-90" dirty="0">
                <a:latin typeface="Arial"/>
                <a:cs typeface="Arial"/>
              </a:rPr>
              <a:t>created </a:t>
            </a:r>
            <a:r>
              <a:rPr sz="2400" spc="-105" dirty="0">
                <a:latin typeface="Arial"/>
                <a:cs typeface="Arial"/>
              </a:rPr>
              <a:t>by </a:t>
            </a:r>
            <a:r>
              <a:rPr sz="2400" spc="-130" dirty="0">
                <a:latin typeface="Arial"/>
                <a:cs typeface="Arial"/>
              </a:rPr>
              <a:t>an </a:t>
            </a:r>
            <a:r>
              <a:rPr sz="2400" spc="-105" dirty="0">
                <a:latin typeface="Arial"/>
                <a:cs typeface="Arial"/>
              </a:rPr>
              <a:t>organization’s  </a:t>
            </a:r>
            <a:r>
              <a:rPr sz="2400" spc="-5" dirty="0">
                <a:latin typeface="Carlito"/>
                <a:cs typeface="Carlito"/>
              </a:rPr>
              <a:t>business transactions</a:t>
            </a:r>
            <a:endParaRPr sz="2400" dirty="0">
              <a:latin typeface="Carlito"/>
              <a:cs typeface="Carlito"/>
            </a:endParaRPr>
          </a:p>
          <a:p>
            <a:pPr marL="756285" lvl="1" indent="-287020" algn="just">
              <a:lnSpc>
                <a:spcPct val="100000"/>
              </a:lnSpc>
              <a:spcBef>
                <a:spcPts val="580"/>
              </a:spcBef>
              <a:buFont typeface="Arial"/>
              <a:buChar char="–"/>
              <a:tabLst>
                <a:tab pos="756920" algn="l"/>
              </a:tabLst>
            </a:pPr>
            <a:r>
              <a:rPr sz="2400" spc="-5" dirty="0">
                <a:latin typeface="Carlito"/>
                <a:cs typeface="Carlito"/>
              </a:rPr>
              <a:t>Usually </a:t>
            </a:r>
            <a:r>
              <a:rPr sz="2400" spc="-10" dirty="0">
                <a:latin typeface="Carlito"/>
                <a:cs typeface="Carlito"/>
              </a:rPr>
              <a:t>processed </a:t>
            </a:r>
            <a:r>
              <a:rPr sz="2400" dirty="0">
                <a:latin typeface="Carlito"/>
                <a:cs typeface="Carlito"/>
              </a:rPr>
              <a:t>in </a:t>
            </a:r>
            <a:r>
              <a:rPr sz="2400" spc="-10" dirty="0">
                <a:latin typeface="Carlito"/>
                <a:cs typeface="Carlito"/>
              </a:rPr>
              <a:t>real</a:t>
            </a:r>
            <a:r>
              <a:rPr sz="2400" spc="-35" dirty="0">
                <a:latin typeface="Carlito"/>
                <a:cs typeface="Carlito"/>
              </a:rPr>
              <a:t> </a:t>
            </a:r>
            <a:r>
              <a:rPr sz="2400" dirty="0">
                <a:latin typeface="Carlito"/>
                <a:cs typeface="Carlito"/>
              </a:rPr>
              <a:t>time</a:t>
            </a:r>
            <a:endParaRPr lang="en-US" sz="2400" dirty="0">
              <a:latin typeface="Carlito"/>
              <a:cs typeface="Carlito"/>
            </a:endParaRPr>
          </a:p>
          <a:p>
            <a:pPr marL="1213485" lvl="2" indent="-287020" algn="just">
              <a:spcBef>
                <a:spcPts val="580"/>
              </a:spcBef>
              <a:buFont typeface="Arial"/>
              <a:buChar char="–"/>
              <a:tabLst>
                <a:tab pos="756920" algn="l"/>
              </a:tabLst>
            </a:pPr>
            <a:r>
              <a:rPr lang="en-GB" sz="2400" spc="-15" dirty="0">
                <a:latin typeface="Carlito"/>
                <a:cs typeface="Carlito"/>
              </a:rPr>
              <a:t>Order </a:t>
            </a:r>
            <a:r>
              <a:rPr lang="en-GB" sz="2400" spc="-5" dirty="0">
                <a:latin typeface="Carlito"/>
                <a:cs typeface="Carlito"/>
              </a:rPr>
              <a:t>Entry</a:t>
            </a:r>
            <a:r>
              <a:rPr lang="en-GB" sz="2400" spc="-15" dirty="0">
                <a:latin typeface="Carlito"/>
                <a:cs typeface="Carlito"/>
              </a:rPr>
              <a:t> Systems</a:t>
            </a:r>
          </a:p>
          <a:p>
            <a:pPr marL="1213485" lvl="2" indent="-287020" algn="just">
              <a:spcBef>
                <a:spcPts val="580"/>
              </a:spcBef>
              <a:buFont typeface="Arial"/>
              <a:buChar char="–"/>
              <a:tabLst>
                <a:tab pos="756920" algn="l"/>
              </a:tabLst>
            </a:pPr>
            <a:r>
              <a:rPr lang="en-GB" sz="2400" spc="-25" dirty="0">
                <a:latin typeface="Carlito"/>
                <a:cs typeface="Carlito"/>
              </a:rPr>
              <a:t>Payroll</a:t>
            </a:r>
            <a:r>
              <a:rPr lang="en-GB" sz="2400" spc="-40" dirty="0">
                <a:latin typeface="Carlito"/>
                <a:cs typeface="Carlito"/>
              </a:rPr>
              <a:t> </a:t>
            </a:r>
            <a:r>
              <a:rPr lang="en-GB" sz="2400" spc="-15" dirty="0">
                <a:latin typeface="Carlito"/>
                <a:cs typeface="Carlito"/>
              </a:rPr>
              <a:t>Systems</a:t>
            </a:r>
          </a:p>
          <a:p>
            <a:pPr marL="1213485" lvl="2" indent="-287020" algn="just">
              <a:spcBef>
                <a:spcPts val="580"/>
              </a:spcBef>
              <a:buFont typeface="Arial"/>
              <a:buChar char="–"/>
              <a:tabLst>
                <a:tab pos="756920" algn="l"/>
              </a:tabLst>
            </a:pPr>
            <a:r>
              <a:rPr lang="en-GB" sz="2400" spc="-10" dirty="0">
                <a:latin typeface="Carlito"/>
                <a:cs typeface="Carlito"/>
              </a:rPr>
              <a:t>Accounting</a:t>
            </a:r>
            <a:r>
              <a:rPr lang="en-GB" sz="2400" spc="-35" dirty="0">
                <a:latin typeface="Carlito"/>
                <a:cs typeface="Carlito"/>
              </a:rPr>
              <a:t> </a:t>
            </a:r>
            <a:r>
              <a:rPr lang="en-GB" sz="2400" spc="-15" dirty="0">
                <a:latin typeface="Carlito"/>
                <a:cs typeface="Carlito"/>
              </a:rPr>
              <a:t>Systems</a:t>
            </a:r>
            <a:endParaRPr lang="en-GB" sz="2400" dirty="0">
              <a:latin typeface="Carlito"/>
              <a:cs typeface="Carlito"/>
            </a:endParaRPr>
          </a:p>
          <a:p>
            <a:pPr marL="756285" lvl="1" indent="-287020" algn="just">
              <a:spcBef>
                <a:spcPts val="580"/>
              </a:spcBef>
              <a:buFont typeface="Arial"/>
              <a:buChar char="–"/>
              <a:tabLst>
                <a:tab pos="756920" algn="l"/>
              </a:tabLst>
            </a:pPr>
            <a:endParaRPr lang="en-GB" sz="2400" dirty="0">
              <a:latin typeface="Carlito"/>
              <a:cs typeface="Carlito"/>
            </a:endParaRPr>
          </a:p>
          <a:p>
            <a:pPr marL="756285" lvl="1" indent="-287020" algn="just">
              <a:spcBef>
                <a:spcPts val="580"/>
              </a:spcBef>
              <a:buFont typeface="Arial"/>
              <a:buChar char="–"/>
              <a:tabLst>
                <a:tab pos="756920" algn="l"/>
              </a:tabLst>
            </a:pPr>
            <a:endParaRPr lang="en-GB" sz="2400" dirty="0">
              <a:latin typeface="Carlito"/>
              <a:cs typeface="Carlito"/>
            </a:endParaRPr>
          </a:p>
          <a:p>
            <a:pPr marL="756285" lvl="1" indent="-287020" algn="just">
              <a:lnSpc>
                <a:spcPct val="100000"/>
              </a:lnSpc>
              <a:spcBef>
                <a:spcPts val="580"/>
              </a:spcBef>
              <a:buFont typeface="Arial"/>
              <a:buChar char="–"/>
              <a:tabLst>
                <a:tab pos="756920" algn="l"/>
              </a:tabLst>
            </a:pPr>
            <a:endParaRPr sz="2400" dirty="0">
              <a:latin typeface="Carlito"/>
              <a:cs typeface="Carlito"/>
            </a:endParaRPr>
          </a:p>
        </p:txBody>
      </p:sp>
    </p:spTree>
    <p:extLst>
      <p:ext uri="{BB962C8B-B14F-4D97-AF65-F5344CB8AC3E}">
        <p14:creationId xmlns:p14="http://schemas.microsoft.com/office/powerpoint/2010/main" val="31884493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5982970" cy="574040"/>
          </a:xfrm>
          <a:prstGeom prst="rect">
            <a:avLst/>
          </a:prstGeom>
        </p:spPr>
        <p:txBody>
          <a:bodyPr vert="horz" wrap="square" lIns="0" tIns="12700" rIns="0" bIns="0" rtlCol="0">
            <a:spAutoFit/>
          </a:bodyPr>
          <a:lstStyle/>
          <a:p>
            <a:pPr marL="12700">
              <a:lnSpc>
                <a:spcPct val="100000"/>
              </a:lnSpc>
              <a:spcBef>
                <a:spcPts val="100"/>
              </a:spcBef>
            </a:pPr>
            <a:r>
              <a:rPr sz="3600" spc="-30" dirty="0"/>
              <a:t>Types </a:t>
            </a:r>
            <a:r>
              <a:rPr sz="3600" spc="-15" dirty="0"/>
              <a:t>of </a:t>
            </a:r>
            <a:r>
              <a:rPr sz="3600" spc="-25" dirty="0"/>
              <a:t>Information</a:t>
            </a:r>
            <a:r>
              <a:rPr sz="3600" spc="-310" dirty="0"/>
              <a:t> </a:t>
            </a:r>
            <a:r>
              <a:rPr sz="3600" spc="10" dirty="0"/>
              <a:t>Systems</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43</a:t>
            </a:fld>
            <a:endParaRPr spc="-165" dirty="0"/>
          </a:p>
        </p:txBody>
      </p:sp>
      <p:sp>
        <p:nvSpPr>
          <p:cNvPr id="3" name="object 3"/>
          <p:cNvSpPr txBox="1"/>
          <p:nvPr/>
        </p:nvSpPr>
        <p:spPr>
          <a:xfrm>
            <a:off x="535940" y="1461262"/>
            <a:ext cx="7863840" cy="5507277"/>
          </a:xfrm>
          <a:prstGeom prst="rect">
            <a:avLst/>
          </a:prstGeom>
        </p:spPr>
        <p:txBody>
          <a:bodyPr vert="horz" wrap="square" lIns="0" tIns="48895" rIns="0" bIns="0" rtlCol="0">
            <a:spAutoFit/>
          </a:bodyPr>
          <a:lstStyle/>
          <a:p>
            <a:pPr marL="12065">
              <a:lnSpc>
                <a:spcPct val="100000"/>
              </a:lnSpc>
              <a:spcBef>
                <a:spcPts val="385"/>
              </a:spcBef>
              <a:tabLst>
                <a:tab pos="355600" algn="l"/>
                <a:tab pos="356235" algn="l"/>
              </a:tabLst>
            </a:pPr>
            <a:r>
              <a:rPr lang="en-US" sz="2000" spc="-5" dirty="0">
                <a:latin typeface="Carlito"/>
                <a:cs typeface="Carlito"/>
              </a:rPr>
              <a:t>3. </a:t>
            </a:r>
            <a:r>
              <a:rPr sz="2000" spc="-5" dirty="0">
                <a:latin typeface="Carlito"/>
                <a:cs typeface="Carlito"/>
              </a:rPr>
              <a:t>Decision </a:t>
            </a:r>
            <a:r>
              <a:rPr sz="2000" dirty="0">
                <a:latin typeface="Carlito"/>
                <a:cs typeface="Carlito"/>
              </a:rPr>
              <a:t>Making </a:t>
            </a:r>
            <a:r>
              <a:rPr sz="2000" spc="-5" dirty="0">
                <a:latin typeface="Carlito"/>
                <a:cs typeface="Carlito"/>
              </a:rPr>
              <a:t>Support</a:t>
            </a:r>
            <a:r>
              <a:rPr sz="2000" spc="-50" dirty="0">
                <a:latin typeface="Carlito"/>
                <a:cs typeface="Carlito"/>
              </a:rPr>
              <a:t> </a:t>
            </a:r>
            <a:r>
              <a:rPr sz="2000" spc="-15" dirty="0">
                <a:latin typeface="Carlito"/>
                <a:cs typeface="Carlito"/>
              </a:rPr>
              <a:t>Systems</a:t>
            </a:r>
            <a:endParaRPr sz="2000" dirty="0">
              <a:latin typeface="Carlito"/>
              <a:cs typeface="Carlito"/>
            </a:endParaRPr>
          </a:p>
          <a:p>
            <a:pPr marL="756285" lvl="1" indent="-287020">
              <a:lnSpc>
                <a:spcPct val="100000"/>
              </a:lnSpc>
              <a:spcBef>
                <a:spcPts val="290"/>
              </a:spcBef>
              <a:buFont typeface="Arial"/>
              <a:buChar char="–"/>
              <a:tabLst>
                <a:tab pos="756920" algn="l"/>
              </a:tabLst>
            </a:pPr>
            <a:r>
              <a:rPr sz="2000" dirty="0">
                <a:latin typeface="Carlito"/>
                <a:cs typeface="Carlito"/>
              </a:rPr>
              <a:t>Help individuals </a:t>
            </a:r>
            <a:r>
              <a:rPr sz="2000" spc="-20" dirty="0">
                <a:latin typeface="Carlito"/>
                <a:cs typeface="Carlito"/>
              </a:rPr>
              <a:t>make</a:t>
            </a:r>
            <a:r>
              <a:rPr sz="2000" spc="-30" dirty="0">
                <a:latin typeface="Carlito"/>
                <a:cs typeface="Carlito"/>
              </a:rPr>
              <a:t> </a:t>
            </a:r>
            <a:r>
              <a:rPr sz="2000" spc="-5" dirty="0">
                <a:latin typeface="Carlito"/>
                <a:cs typeface="Carlito"/>
              </a:rPr>
              <a:t>decisions</a:t>
            </a:r>
            <a:endParaRPr sz="2000" dirty="0">
              <a:latin typeface="Carlito"/>
              <a:cs typeface="Carlito"/>
            </a:endParaRPr>
          </a:p>
          <a:p>
            <a:pPr marL="756285" lvl="1" indent="-287020">
              <a:lnSpc>
                <a:spcPct val="100000"/>
              </a:lnSpc>
              <a:spcBef>
                <a:spcPts val="290"/>
              </a:spcBef>
              <a:buFont typeface="Arial"/>
              <a:buChar char="–"/>
              <a:tabLst>
                <a:tab pos="756920" algn="l"/>
              </a:tabLst>
            </a:pPr>
            <a:r>
              <a:rPr sz="2000" spc="-5" dirty="0">
                <a:latin typeface="Carlito"/>
                <a:cs typeface="Carlito"/>
              </a:rPr>
              <a:t>Management </a:t>
            </a:r>
            <a:r>
              <a:rPr sz="2000" spc="-15" dirty="0">
                <a:latin typeface="Carlito"/>
                <a:cs typeface="Carlito"/>
              </a:rPr>
              <a:t>Information Systems</a:t>
            </a:r>
            <a:r>
              <a:rPr sz="2000" spc="-60" dirty="0">
                <a:latin typeface="Carlito"/>
                <a:cs typeface="Carlito"/>
              </a:rPr>
              <a:t> </a:t>
            </a:r>
            <a:r>
              <a:rPr sz="2000" spc="-5" dirty="0">
                <a:latin typeface="Carlito"/>
                <a:cs typeface="Carlito"/>
              </a:rPr>
              <a:t>(MISs)</a:t>
            </a:r>
            <a:endParaRPr sz="2000" dirty="0">
              <a:latin typeface="Carlito"/>
              <a:cs typeface="Carlito"/>
            </a:endParaRPr>
          </a:p>
          <a:p>
            <a:pPr marL="1155700" marR="396875" lvl="2" indent="-228600">
              <a:lnSpc>
                <a:spcPts val="2590"/>
              </a:lnSpc>
              <a:spcBef>
                <a:spcPts val="615"/>
              </a:spcBef>
              <a:buFont typeface="Arial"/>
              <a:buChar char="•"/>
              <a:tabLst>
                <a:tab pos="1156335" algn="l"/>
              </a:tabLst>
            </a:pPr>
            <a:r>
              <a:rPr sz="2000" spc="-10" dirty="0">
                <a:latin typeface="Carlito"/>
                <a:cs typeface="Carlito"/>
              </a:rPr>
              <a:t>Provides </a:t>
            </a:r>
            <a:r>
              <a:rPr sz="2000" spc="-5" dirty="0">
                <a:latin typeface="Carlito"/>
                <a:cs typeface="Carlito"/>
              </a:rPr>
              <a:t>decision </a:t>
            </a:r>
            <a:r>
              <a:rPr sz="2000" spc="-20" dirty="0">
                <a:latin typeface="Carlito"/>
                <a:cs typeface="Carlito"/>
              </a:rPr>
              <a:t>makers </a:t>
            </a:r>
            <a:r>
              <a:rPr sz="2000" dirty="0">
                <a:latin typeface="Carlito"/>
                <a:cs typeface="Carlito"/>
              </a:rPr>
              <a:t>with </a:t>
            </a:r>
            <a:r>
              <a:rPr sz="2000" spc="-30" dirty="0">
                <a:latin typeface="Carlito"/>
                <a:cs typeface="Carlito"/>
              </a:rPr>
              <a:t>regular, </a:t>
            </a:r>
            <a:r>
              <a:rPr sz="2000" spc="-10" dirty="0">
                <a:latin typeface="Carlito"/>
                <a:cs typeface="Carlito"/>
              </a:rPr>
              <a:t>routine, </a:t>
            </a:r>
            <a:r>
              <a:rPr sz="2000" dirty="0">
                <a:latin typeface="Carlito"/>
                <a:cs typeface="Carlito"/>
              </a:rPr>
              <a:t>and  timely </a:t>
            </a:r>
            <a:r>
              <a:rPr sz="2000" spc="-10" dirty="0">
                <a:latin typeface="Carlito"/>
                <a:cs typeface="Carlito"/>
              </a:rPr>
              <a:t>information that </a:t>
            </a:r>
            <a:r>
              <a:rPr sz="2000" dirty="0">
                <a:latin typeface="Carlito"/>
                <a:cs typeface="Carlito"/>
              </a:rPr>
              <a:t>is </a:t>
            </a:r>
            <a:r>
              <a:rPr sz="2000" spc="-5" dirty="0">
                <a:latin typeface="Carlito"/>
                <a:cs typeface="Carlito"/>
              </a:rPr>
              <a:t>used </a:t>
            </a:r>
            <a:r>
              <a:rPr sz="2000" spc="-15" dirty="0">
                <a:latin typeface="Carlito"/>
                <a:cs typeface="Carlito"/>
              </a:rPr>
              <a:t>to </a:t>
            </a:r>
            <a:r>
              <a:rPr sz="2000" spc="-20" dirty="0">
                <a:latin typeface="Carlito"/>
                <a:cs typeface="Carlito"/>
              </a:rPr>
              <a:t>make</a:t>
            </a:r>
            <a:r>
              <a:rPr sz="2000" spc="-95" dirty="0">
                <a:latin typeface="Carlito"/>
                <a:cs typeface="Carlito"/>
              </a:rPr>
              <a:t> </a:t>
            </a:r>
            <a:r>
              <a:rPr sz="2000" spc="-5" dirty="0">
                <a:latin typeface="Carlito"/>
                <a:cs typeface="Carlito"/>
              </a:rPr>
              <a:t>decisions</a:t>
            </a:r>
            <a:endParaRPr lang="en-US" sz="2000" spc="-5" dirty="0">
              <a:latin typeface="Carlito"/>
              <a:cs typeface="Carlito"/>
            </a:endParaRPr>
          </a:p>
          <a:p>
            <a:pPr marL="812800" lvl="1" indent="-343535">
              <a:spcBef>
                <a:spcPts val="650"/>
              </a:spcBef>
              <a:buFont typeface="Arial"/>
              <a:buChar char="•"/>
              <a:tabLst>
                <a:tab pos="355600" algn="l"/>
                <a:tab pos="356235" algn="l"/>
              </a:tabLst>
            </a:pPr>
            <a:r>
              <a:rPr lang="en-US" sz="2000" spc="-5" dirty="0">
                <a:latin typeface="Carlito"/>
                <a:cs typeface="Carlito"/>
              </a:rPr>
              <a:t>Decision Support </a:t>
            </a:r>
            <a:r>
              <a:rPr lang="en-US" sz="2000" spc="-15" dirty="0">
                <a:latin typeface="Carlito"/>
                <a:cs typeface="Carlito"/>
              </a:rPr>
              <a:t>Systems</a:t>
            </a:r>
            <a:r>
              <a:rPr lang="en-US" sz="2000" spc="-10" dirty="0">
                <a:latin typeface="Carlito"/>
                <a:cs typeface="Carlito"/>
              </a:rPr>
              <a:t> </a:t>
            </a:r>
            <a:r>
              <a:rPr lang="en-US" sz="2000" spc="-5" dirty="0">
                <a:latin typeface="Carlito"/>
                <a:cs typeface="Carlito"/>
              </a:rPr>
              <a:t>(DSSs)</a:t>
            </a:r>
            <a:endParaRPr lang="en-US" sz="2000" dirty="0">
              <a:latin typeface="Carlito"/>
              <a:cs typeface="Carlito"/>
            </a:endParaRPr>
          </a:p>
          <a:p>
            <a:pPr marL="1213485" lvl="2" indent="-287020">
              <a:spcBef>
                <a:spcPts val="550"/>
              </a:spcBef>
              <a:buFont typeface="Arial"/>
              <a:buChar char="–"/>
              <a:tabLst>
                <a:tab pos="756920" algn="l"/>
              </a:tabLst>
            </a:pPr>
            <a:r>
              <a:rPr lang="en-US" sz="2000" spc="-5" dirty="0">
                <a:latin typeface="Carlito"/>
                <a:cs typeface="Carlito"/>
              </a:rPr>
              <a:t>Provides people with </a:t>
            </a:r>
            <a:r>
              <a:rPr lang="en-US" sz="2000" dirty="0">
                <a:latin typeface="Carlito"/>
                <a:cs typeface="Carlito"/>
              </a:rPr>
              <a:t>the </a:t>
            </a:r>
            <a:r>
              <a:rPr lang="en-US" sz="2000" spc="-10" dirty="0">
                <a:latin typeface="Carlito"/>
                <a:cs typeface="Carlito"/>
              </a:rPr>
              <a:t>tools </a:t>
            </a:r>
            <a:r>
              <a:rPr lang="en-US" sz="2000" dirty="0">
                <a:latin typeface="Carlito"/>
                <a:cs typeface="Carlito"/>
              </a:rPr>
              <a:t>and </a:t>
            </a:r>
            <a:r>
              <a:rPr lang="en-US" sz="2000" spc="-5" dirty="0">
                <a:latin typeface="Carlito"/>
                <a:cs typeface="Carlito"/>
              </a:rPr>
              <a:t>capabilities </a:t>
            </a:r>
            <a:r>
              <a:rPr lang="en-US" sz="2000" spc="-20" dirty="0">
                <a:latin typeface="Carlito"/>
                <a:cs typeface="Carlito"/>
              </a:rPr>
              <a:t>to</a:t>
            </a:r>
            <a:r>
              <a:rPr lang="en-US" sz="2000" spc="55" dirty="0">
                <a:latin typeface="Carlito"/>
                <a:cs typeface="Carlito"/>
              </a:rPr>
              <a:t> </a:t>
            </a:r>
            <a:r>
              <a:rPr lang="en-US" sz="2000" spc="-20" dirty="0">
                <a:latin typeface="Carlito"/>
                <a:cs typeface="Carlito"/>
              </a:rPr>
              <a:t>organize </a:t>
            </a:r>
            <a:r>
              <a:rPr lang="en-US" sz="2000" dirty="0">
                <a:latin typeface="Carlito"/>
                <a:cs typeface="Carlito"/>
              </a:rPr>
              <a:t>and </a:t>
            </a:r>
            <a:r>
              <a:rPr lang="en-US" sz="2000" spc="-10" dirty="0">
                <a:latin typeface="Carlito"/>
                <a:cs typeface="Carlito"/>
              </a:rPr>
              <a:t>analyze </a:t>
            </a:r>
            <a:r>
              <a:rPr lang="en-US" sz="2000" dirty="0">
                <a:latin typeface="Carlito"/>
                <a:cs typeface="Carlito"/>
              </a:rPr>
              <a:t>their </a:t>
            </a:r>
            <a:r>
              <a:rPr lang="en-US" sz="2000" spc="-5" dirty="0">
                <a:latin typeface="Carlito"/>
                <a:cs typeface="Carlito"/>
              </a:rPr>
              <a:t>decision making</a:t>
            </a:r>
            <a:r>
              <a:rPr lang="en-US" sz="2000" spc="-25" dirty="0">
                <a:latin typeface="Carlito"/>
                <a:cs typeface="Carlito"/>
              </a:rPr>
              <a:t> </a:t>
            </a:r>
            <a:r>
              <a:rPr lang="en-US" sz="2000" spc="-10" dirty="0">
                <a:latin typeface="Carlito"/>
                <a:cs typeface="Carlito"/>
              </a:rPr>
              <a:t>information</a:t>
            </a:r>
            <a:endParaRPr lang="en-US" sz="2000" dirty="0">
              <a:latin typeface="Carlito"/>
              <a:cs typeface="Carlito"/>
            </a:endParaRPr>
          </a:p>
          <a:p>
            <a:pPr marL="1213485" lvl="2" indent="-287020">
              <a:spcBef>
                <a:spcPts val="550"/>
              </a:spcBef>
              <a:buFont typeface="Arial"/>
              <a:buChar char="–"/>
              <a:tabLst>
                <a:tab pos="756920" algn="l"/>
              </a:tabLst>
            </a:pPr>
            <a:r>
              <a:rPr lang="en-US" sz="2000" spc="-15" dirty="0">
                <a:latin typeface="Carlito"/>
                <a:cs typeface="Carlito"/>
              </a:rPr>
              <a:t>Typically are interactive </a:t>
            </a:r>
            <a:r>
              <a:rPr lang="en-US" sz="2000" dirty="0">
                <a:latin typeface="Carlito"/>
                <a:cs typeface="Carlito"/>
              </a:rPr>
              <a:t>and </a:t>
            </a:r>
            <a:r>
              <a:rPr lang="en-US" sz="2000" spc="-10" dirty="0">
                <a:latin typeface="Carlito"/>
                <a:cs typeface="Carlito"/>
              </a:rPr>
              <a:t>provide information </a:t>
            </a:r>
            <a:r>
              <a:rPr lang="en-US" sz="2000" spc="-5" dirty="0">
                <a:latin typeface="Carlito"/>
                <a:cs typeface="Carlito"/>
              </a:rPr>
              <a:t>on</a:t>
            </a:r>
            <a:r>
              <a:rPr lang="en-US" sz="2000" spc="65" dirty="0">
                <a:latin typeface="Carlito"/>
                <a:cs typeface="Carlito"/>
              </a:rPr>
              <a:t> </a:t>
            </a:r>
            <a:r>
              <a:rPr lang="en-US" sz="2000" dirty="0">
                <a:latin typeface="Carlito"/>
                <a:cs typeface="Carlito"/>
              </a:rPr>
              <a:t>demand</a:t>
            </a:r>
          </a:p>
          <a:p>
            <a:pPr marL="812800" lvl="1" indent="-343535" algn="just">
              <a:spcBef>
                <a:spcPts val="675"/>
              </a:spcBef>
              <a:buFont typeface="Arial"/>
              <a:buChar char="•"/>
              <a:tabLst>
                <a:tab pos="356235" algn="l"/>
              </a:tabLst>
            </a:pPr>
            <a:r>
              <a:rPr lang="en-US" sz="2000" spc="-10" dirty="0">
                <a:latin typeface="Carlito"/>
                <a:cs typeface="Carlito"/>
              </a:rPr>
              <a:t>Geographic Information </a:t>
            </a:r>
            <a:r>
              <a:rPr lang="en-US" sz="2000" spc="-15" dirty="0">
                <a:latin typeface="Carlito"/>
                <a:cs typeface="Carlito"/>
              </a:rPr>
              <a:t>Systems</a:t>
            </a:r>
            <a:r>
              <a:rPr lang="en-US" sz="2000" spc="-60" dirty="0">
                <a:latin typeface="Carlito"/>
                <a:cs typeface="Carlito"/>
              </a:rPr>
              <a:t> </a:t>
            </a:r>
            <a:r>
              <a:rPr lang="en-US" sz="2000" spc="-5" dirty="0">
                <a:latin typeface="Carlito"/>
                <a:cs typeface="Carlito"/>
              </a:rPr>
              <a:t>(GISs)</a:t>
            </a:r>
            <a:endParaRPr lang="en-US" sz="2000" dirty="0">
              <a:latin typeface="Carlito"/>
              <a:cs typeface="Carlito"/>
            </a:endParaRPr>
          </a:p>
          <a:p>
            <a:pPr marL="1213485" marR="459105" lvl="2" indent="-287020" algn="just">
              <a:spcBef>
                <a:spcPts val="575"/>
              </a:spcBef>
              <a:buFont typeface="Arial"/>
              <a:buChar char="–"/>
              <a:tabLst>
                <a:tab pos="756920" algn="l"/>
              </a:tabLst>
            </a:pPr>
            <a:r>
              <a:rPr lang="en-US" sz="2000" spc="-5" dirty="0">
                <a:latin typeface="Carlito"/>
                <a:cs typeface="Carlito"/>
              </a:rPr>
              <a:t>Combines </a:t>
            </a:r>
            <a:r>
              <a:rPr lang="en-US" sz="2000" spc="-10" dirty="0">
                <a:latin typeface="Carlito"/>
                <a:cs typeface="Carlito"/>
              </a:rPr>
              <a:t>geographical information </a:t>
            </a:r>
            <a:r>
              <a:rPr lang="en-US" sz="2000" dirty="0">
                <a:latin typeface="Carlito"/>
                <a:cs typeface="Carlito"/>
              </a:rPr>
              <a:t>with </a:t>
            </a:r>
            <a:r>
              <a:rPr lang="en-US" sz="2000" spc="-5" dirty="0">
                <a:latin typeface="Carlito"/>
                <a:cs typeface="Carlito"/>
              </a:rPr>
              <a:t>other </a:t>
            </a:r>
            <a:r>
              <a:rPr lang="en-US" sz="2000" dirty="0">
                <a:latin typeface="Carlito"/>
                <a:cs typeface="Carlito"/>
              </a:rPr>
              <a:t>types</a:t>
            </a:r>
            <a:r>
              <a:rPr lang="en-US" sz="2000" spc="-130" dirty="0">
                <a:latin typeface="Carlito"/>
                <a:cs typeface="Carlito"/>
              </a:rPr>
              <a:t> </a:t>
            </a:r>
            <a:r>
              <a:rPr lang="en-US" sz="2000" spc="-5" dirty="0">
                <a:latin typeface="Carlito"/>
                <a:cs typeface="Carlito"/>
              </a:rPr>
              <a:t>of  </a:t>
            </a:r>
            <a:r>
              <a:rPr lang="en-US" sz="2000" spc="-15" dirty="0">
                <a:latin typeface="Carlito"/>
                <a:cs typeface="Carlito"/>
              </a:rPr>
              <a:t>data to </a:t>
            </a:r>
            <a:r>
              <a:rPr lang="en-US" sz="2000" spc="-10" dirty="0">
                <a:latin typeface="Carlito"/>
                <a:cs typeface="Carlito"/>
              </a:rPr>
              <a:t>provide </a:t>
            </a:r>
            <a:r>
              <a:rPr lang="en-US" sz="2000" dirty="0">
                <a:latin typeface="Carlito"/>
                <a:cs typeface="Carlito"/>
              </a:rPr>
              <a:t>a </a:t>
            </a:r>
            <a:r>
              <a:rPr lang="en-US" sz="2000" spc="-15" dirty="0">
                <a:latin typeface="Carlito"/>
                <a:cs typeface="Carlito"/>
              </a:rPr>
              <a:t>better </a:t>
            </a:r>
            <a:r>
              <a:rPr lang="en-US" sz="2000" spc="-10" dirty="0">
                <a:latin typeface="Carlito"/>
                <a:cs typeface="Carlito"/>
              </a:rPr>
              <a:t>understanding </a:t>
            </a:r>
            <a:r>
              <a:rPr lang="en-US" sz="2000" spc="-5" dirty="0">
                <a:latin typeface="Carlito"/>
                <a:cs typeface="Carlito"/>
              </a:rPr>
              <a:t>of </a:t>
            </a:r>
            <a:r>
              <a:rPr lang="en-US" sz="2000" spc="-10" dirty="0">
                <a:latin typeface="Carlito"/>
                <a:cs typeface="Carlito"/>
              </a:rPr>
              <a:t>relationships  </a:t>
            </a:r>
            <a:r>
              <a:rPr lang="en-US" sz="2000" dirty="0">
                <a:latin typeface="Carlito"/>
                <a:cs typeface="Carlito"/>
              </a:rPr>
              <a:t>among the</a:t>
            </a:r>
            <a:r>
              <a:rPr lang="en-US" sz="2000" spc="-35" dirty="0">
                <a:latin typeface="Carlito"/>
                <a:cs typeface="Carlito"/>
              </a:rPr>
              <a:t> </a:t>
            </a:r>
            <a:r>
              <a:rPr lang="en-US" sz="2000" spc="-15" dirty="0">
                <a:latin typeface="Carlito"/>
                <a:cs typeface="Carlito"/>
              </a:rPr>
              <a:t>data</a:t>
            </a:r>
            <a:endParaRPr lang="en-US" sz="2000" dirty="0">
              <a:latin typeface="Carlito"/>
              <a:cs typeface="Carlito"/>
            </a:endParaRPr>
          </a:p>
          <a:p>
            <a:pPr marL="756285" lvl="1" indent="-287020">
              <a:lnSpc>
                <a:spcPct val="100000"/>
              </a:lnSpc>
              <a:spcBef>
                <a:spcPts val="550"/>
              </a:spcBef>
              <a:buFont typeface="Arial"/>
              <a:buChar char="–"/>
              <a:tabLst>
                <a:tab pos="756920" algn="l"/>
              </a:tabLst>
            </a:pPr>
            <a:endParaRPr lang="en-US" sz="2300" dirty="0">
              <a:latin typeface="Carlito"/>
              <a:cs typeface="Carlito"/>
            </a:endParaRPr>
          </a:p>
          <a:p>
            <a:pPr marL="1155700" marR="396875" lvl="2" indent="-228600">
              <a:lnSpc>
                <a:spcPts val="2590"/>
              </a:lnSpc>
              <a:spcBef>
                <a:spcPts val="615"/>
              </a:spcBef>
              <a:buFont typeface="Arial"/>
              <a:buChar char="•"/>
              <a:tabLst>
                <a:tab pos="1156335" algn="l"/>
              </a:tabLst>
            </a:pPr>
            <a:endParaRPr sz="2400" dirty="0">
              <a:latin typeface="Carlito"/>
              <a:cs typeface="Carlito"/>
            </a:endParaRPr>
          </a:p>
        </p:txBody>
      </p:sp>
    </p:spTree>
    <p:extLst>
      <p:ext uri="{BB962C8B-B14F-4D97-AF65-F5344CB8AC3E}">
        <p14:creationId xmlns:p14="http://schemas.microsoft.com/office/powerpoint/2010/main" val="1540986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5982970" cy="574040"/>
          </a:xfrm>
          <a:prstGeom prst="rect">
            <a:avLst/>
          </a:prstGeom>
        </p:spPr>
        <p:txBody>
          <a:bodyPr vert="horz" wrap="square" lIns="0" tIns="12700" rIns="0" bIns="0" rtlCol="0">
            <a:spAutoFit/>
          </a:bodyPr>
          <a:lstStyle/>
          <a:p>
            <a:pPr marL="12700">
              <a:lnSpc>
                <a:spcPct val="100000"/>
              </a:lnSpc>
              <a:spcBef>
                <a:spcPts val="100"/>
              </a:spcBef>
            </a:pPr>
            <a:r>
              <a:rPr sz="3600" spc="-30" dirty="0"/>
              <a:t>Types </a:t>
            </a:r>
            <a:r>
              <a:rPr sz="3600" spc="-15" dirty="0"/>
              <a:t>of </a:t>
            </a:r>
            <a:r>
              <a:rPr sz="3600" spc="-25" dirty="0"/>
              <a:t>Information</a:t>
            </a:r>
            <a:r>
              <a:rPr sz="3600" spc="-310" dirty="0"/>
              <a:t> </a:t>
            </a:r>
            <a:r>
              <a:rPr sz="3600" spc="10" dirty="0"/>
              <a:t>Systems</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44</a:t>
            </a:fld>
            <a:endParaRPr spc="-165" dirty="0"/>
          </a:p>
        </p:txBody>
      </p:sp>
      <p:sp>
        <p:nvSpPr>
          <p:cNvPr id="3" name="object 3"/>
          <p:cNvSpPr txBox="1"/>
          <p:nvPr/>
        </p:nvSpPr>
        <p:spPr>
          <a:xfrm>
            <a:off x="535940" y="1461262"/>
            <a:ext cx="7804784" cy="5612434"/>
          </a:xfrm>
          <a:prstGeom prst="rect">
            <a:avLst/>
          </a:prstGeom>
        </p:spPr>
        <p:txBody>
          <a:bodyPr vert="horz" wrap="square" lIns="0" tIns="48895" rIns="0" bIns="0" rtlCol="0">
            <a:spAutoFit/>
          </a:bodyPr>
          <a:lstStyle/>
          <a:p>
            <a:pPr marL="12065">
              <a:lnSpc>
                <a:spcPct val="100000"/>
              </a:lnSpc>
              <a:spcBef>
                <a:spcPts val="385"/>
              </a:spcBef>
              <a:tabLst>
                <a:tab pos="355600" algn="l"/>
                <a:tab pos="356235" algn="l"/>
              </a:tabLst>
            </a:pPr>
            <a:r>
              <a:rPr lang="en-US" sz="2000" spc="-15" dirty="0">
                <a:latin typeface="Carlito"/>
                <a:cs typeface="Carlito"/>
              </a:rPr>
              <a:t>4. </a:t>
            </a:r>
            <a:r>
              <a:rPr sz="2000" spc="-15" dirty="0">
                <a:latin typeface="Carlito"/>
                <a:cs typeface="Carlito"/>
              </a:rPr>
              <a:t>Integrated </a:t>
            </a:r>
            <a:r>
              <a:rPr sz="2000" spc="-5" dirty="0">
                <a:latin typeface="Carlito"/>
                <a:cs typeface="Carlito"/>
              </a:rPr>
              <a:t>Enterprise</a:t>
            </a:r>
            <a:r>
              <a:rPr sz="2000" spc="-20" dirty="0">
                <a:latin typeface="Carlito"/>
                <a:cs typeface="Carlito"/>
              </a:rPr>
              <a:t> System</a:t>
            </a:r>
            <a:endParaRPr sz="2000" dirty="0">
              <a:latin typeface="Carlito"/>
              <a:cs typeface="Carlito"/>
            </a:endParaRPr>
          </a:p>
          <a:p>
            <a:pPr marL="812165" lvl="1" indent="-342900">
              <a:lnSpc>
                <a:spcPct val="100000"/>
              </a:lnSpc>
              <a:spcBef>
                <a:spcPts val="290"/>
              </a:spcBef>
              <a:buFont typeface="Arial" panose="020B0604020202020204" pitchFamily="34" charset="0"/>
              <a:buChar char="•"/>
              <a:tabLst>
                <a:tab pos="756920" algn="l"/>
              </a:tabLst>
            </a:pPr>
            <a:r>
              <a:rPr sz="2000" spc="-5" dirty="0">
                <a:latin typeface="Carlito"/>
                <a:cs typeface="Carlito"/>
              </a:rPr>
              <a:t>Electronic </a:t>
            </a:r>
            <a:r>
              <a:rPr sz="2000" spc="-15" dirty="0">
                <a:latin typeface="Carlito"/>
                <a:cs typeface="Carlito"/>
              </a:rPr>
              <a:t>Data Interchange</a:t>
            </a:r>
            <a:r>
              <a:rPr sz="2000" spc="-55" dirty="0">
                <a:latin typeface="Carlito"/>
                <a:cs typeface="Carlito"/>
              </a:rPr>
              <a:t> </a:t>
            </a:r>
            <a:r>
              <a:rPr sz="2000" spc="-5" dirty="0">
                <a:latin typeface="Carlito"/>
                <a:cs typeface="Carlito"/>
              </a:rPr>
              <a:t>(EDI)</a:t>
            </a:r>
            <a:endParaRPr sz="2000" dirty="0">
              <a:latin typeface="Carlito"/>
              <a:cs typeface="Carlito"/>
            </a:endParaRPr>
          </a:p>
          <a:p>
            <a:pPr marL="1155700" lvl="2" indent="-229235">
              <a:lnSpc>
                <a:spcPts val="2735"/>
              </a:lnSpc>
              <a:spcBef>
                <a:spcPts val="290"/>
              </a:spcBef>
              <a:buFont typeface="Arial"/>
              <a:buChar char="•"/>
              <a:tabLst>
                <a:tab pos="1156335" algn="l"/>
              </a:tabLst>
            </a:pPr>
            <a:r>
              <a:rPr sz="2000" spc="-40" dirty="0">
                <a:latin typeface="Carlito"/>
                <a:cs typeface="Carlito"/>
              </a:rPr>
              <a:t>Transfers </a:t>
            </a:r>
            <a:r>
              <a:rPr sz="2000" spc="-15" dirty="0">
                <a:latin typeface="Carlito"/>
                <a:cs typeface="Carlito"/>
              </a:rPr>
              <a:t>data </a:t>
            </a:r>
            <a:r>
              <a:rPr sz="2000" spc="-10" dirty="0">
                <a:latin typeface="Carlito"/>
                <a:cs typeface="Carlito"/>
              </a:rPr>
              <a:t>between </a:t>
            </a:r>
            <a:r>
              <a:rPr sz="2000" spc="-20" dirty="0">
                <a:latin typeface="Carlito"/>
                <a:cs typeface="Carlito"/>
              </a:rPr>
              <a:t>different </a:t>
            </a:r>
            <a:r>
              <a:rPr sz="2000" spc="-5" dirty="0">
                <a:latin typeface="Carlito"/>
                <a:cs typeface="Carlito"/>
              </a:rPr>
              <a:t>companies using</a:t>
            </a:r>
            <a:r>
              <a:rPr sz="2000" spc="40" dirty="0">
                <a:latin typeface="Carlito"/>
                <a:cs typeface="Carlito"/>
              </a:rPr>
              <a:t> </a:t>
            </a:r>
            <a:r>
              <a:rPr sz="2000" dirty="0">
                <a:latin typeface="Carlito"/>
                <a:cs typeface="Carlito"/>
              </a:rPr>
              <a:t>the</a:t>
            </a:r>
            <a:r>
              <a:rPr lang="en-US" sz="2000" dirty="0">
                <a:latin typeface="Carlito"/>
                <a:cs typeface="Carlito"/>
              </a:rPr>
              <a:t> </a:t>
            </a:r>
            <a:r>
              <a:rPr sz="2000" spc="-10" dirty="0">
                <a:latin typeface="Carlito"/>
                <a:cs typeface="Carlito"/>
              </a:rPr>
              <a:t>Internet </a:t>
            </a:r>
            <a:r>
              <a:rPr sz="2000" spc="-5" dirty="0">
                <a:latin typeface="Carlito"/>
                <a:cs typeface="Carlito"/>
              </a:rPr>
              <a:t>or </a:t>
            </a:r>
            <a:r>
              <a:rPr sz="2000" dirty="0">
                <a:latin typeface="Carlito"/>
                <a:cs typeface="Carlito"/>
              </a:rPr>
              <a:t>another</a:t>
            </a:r>
            <a:r>
              <a:rPr sz="2000" spc="-35" dirty="0">
                <a:latin typeface="Carlito"/>
                <a:cs typeface="Carlito"/>
              </a:rPr>
              <a:t> </a:t>
            </a:r>
            <a:r>
              <a:rPr sz="2000" spc="-10" dirty="0">
                <a:latin typeface="Carlito"/>
                <a:cs typeface="Carlito"/>
              </a:rPr>
              <a:t>network</a:t>
            </a:r>
            <a:endParaRPr sz="2000" dirty="0">
              <a:latin typeface="Carlito"/>
              <a:cs typeface="Carlito"/>
            </a:endParaRPr>
          </a:p>
          <a:p>
            <a:pPr marL="812165" lvl="1" indent="-342900">
              <a:lnSpc>
                <a:spcPct val="100000"/>
              </a:lnSpc>
              <a:spcBef>
                <a:spcPts val="254"/>
              </a:spcBef>
              <a:buFont typeface="Arial" panose="020B0604020202020204" pitchFamily="34" charset="0"/>
              <a:buChar char="•"/>
              <a:tabLst>
                <a:tab pos="756920" algn="l"/>
              </a:tabLst>
            </a:pPr>
            <a:r>
              <a:rPr sz="2000" spc="-5" dirty="0">
                <a:latin typeface="Carlito"/>
                <a:cs typeface="Carlito"/>
              </a:rPr>
              <a:t>Enterprise </a:t>
            </a:r>
            <a:r>
              <a:rPr sz="2000" spc="-10" dirty="0">
                <a:latin typeface="Carlito"/>
                <a:cs typeface="Carlito"/>
              </a:rPr>
              <a:t>Resource </a:t>
            </a:r>
            <a:r>
              <a:rPr sz="2000" dirty="0">
                <a:latin typeface="Carlito"/>
                <a:cs typeface="Carlito"/>
              </a:rPr>
              <a:t>Planning</a:t>
            </a:r>
            <a:r>
              <a:rPr sz="2000" spc="-35" dirty="0">
                <a:latin typeface="Carlito"/>
                <a:cs typeface="Carlito"/>
              </a:rPr>
              <a:t> </a:t>
            </a:r>
            <a:r>
              <a:rPr sz="2000" dirty="0">
                <a:latin typeface="Carlito"/>
                <a:cs typeface="Carlito"/>
              </a:rPr>
              <a:t>(ERP)</a:t>
            </a:r>
          </a:p>
          <a:p>
            <a:pPr marL="1155700" marR="588010" lvl="2" indent="-228600">
              <a:lnSpc>
                <a:spcPts val="2590"/>
              </a:lnSpc>
              <a:spcBef>
                <a:spcPts val="615"/>
              </a:spcBef>
              <a:buFont typeface="Arial"/>
              <a:buChar char="•"/>
              <a:tabLst>
                <a:tab pos="1156335" algn="l"/>
              </a:tabLst>
            </a:pPr>
            <a:r>
              <a:rPr sz="2000" spc="-15" dirty="0">
                <a:latin typeface="Carlito"/>
                <a:cs typeface="Carlito"/>
              </a:rPr>
              <a:t>Large integrated </a:t>
            </a:r>
            <a:r>
              <a:rPr sz="2000" spc="-25" dirty="0">
                <a:latin typeface="Carlito"/>
                <a:cs typeface="Carlito"/>
              </a:rPr>
              <a:t>system </a:t>
            </a:r>
            <a:r>
              <a:rPr sz="2000" spc="-10" dirty="0">
                <a:latin typeface="Carlito"/>
                <a:cs typeface="Carlito"/>
              </a:rPr>
              <a:t>that </a:t>
            </a:r>
            <a:r>
              <a:rPr sz="2000" dirty="0">
                <a:latin typeface="Carlito"/>
                <a:cs typeface="Carlito"/>
              </a:rPr>
              <a:t>ties </a:t>
            </a:r>
            <a:r>
              <a:rPr sz="2000" spc="-15" dirty="0">
                <a:latin typeface="Carlito"/>
                <a:cs typeface="Carlito"/>
              </a:rPr>
              <a:t>together </a:t>
            </a:r>
            <a:r>
              <a:rPr sz="2000" dirty="0">
                <a:latin typeface="Carlito"/>
                <a:cs typeface="Carlito"/>
              </a:rPr>
              <a:t>all </a:t>
            </a:r>
            <a:r>
              <a:rPr sz="2000" spc="-5" dirty="0">
                <a:latin typeface="Carlito"/>
                <a:cs typeface="Carlito"/>
              </a:rPr>
              <a:t>of </a:t>
            </a:r>
            <a:r>
              <a:rPr sz="2000" dirty="0">
                <a:latin typeface="Carlito"/>
                <a:cs typeface="Carlito"/>
              </a:rPr>
              <a:t>a  </a:t>
            </a:r>
            <a:r>
              <a:rPr sz="2000" spc="-155" dirty="0">
                <a:latin typeface="Arial"/>
                <a:cs typeface="Arial"/>
              </a:rPr>
              <a:t>business’s</a:t>
            </a:r>
            <a:r>
              <a:rPr sz="2000" spc="-130" dirty="0">
                <a:latin typeface="Arial"/>
                <a:cs typeface="Arial"/>
              </a:rPr>
              <a:t> </a:t>
            </a:r>
            <a:r>
              <a:rPr sz="2000" spc="-60" dirty="0">
                <a:latin typeface="Arial"/>
                <a:cs typeface="Arial"/>
              </a:rPr>
              <a:t>activities</a:t>
            </a:r>
            <a:endParaRPr lang="en-US" sz="2000" spc="-60" dirty="0">
              <a:latin typeface="Arial"/>
              <a:cs typeface="Arial"/>
            </a:endParaRPr>
          </a:p>
          <a:p>
            <a:pPr marL="756285" lvl="1" indent="-287020">
              <a:spcBef>
                <a:spcPts val="675"/>
              </a:spcBef>
              <a:buFont typeface="Arial" pitchFamily="34" charset="0"/>
              <a:buChar char="•"/>
              <a:tabLst>
                <a:tab pos="299720" algn="l"/>
              </a:tabLst>
            </a:pPr>
            <a:r>
              <a:rPr lang="en-US" sz="2000" spc="-15" dirty="0">
                <a:latin typeface="Carlito"/>
                <a:cs typeface="Carlito"/>
              </a:rPr>
              <a:t>Inventory </a:t>
            </a:r>
            <a:r>
              <a:rPr lang="en-US" sz="2000" dirty="0">
                <a:latin typeface="Carlito"/>
                <a:cs typeface="Carlito"/>
              </a:rPr>
              <a:t>and </a:t>
            </a:r>
            <a:r>
              <a:rPr lang="en-US" sz="2000" spc="-10" dirty="0">
                <a:latin typeface="Carlito"/>
                <a:cs typeface="Carlito"/>
              </a:rPr>
              <a:t>Product </a:t>
            </a:r>
            <a:r>
              <a:rPr lang="en-US" sz="2000" spc="-5" dirty="0">
                <a:latin typeface="Carlito"/>
                <a:cs typeface="Carlito"/>
              </a:rPr>
              <a:t>Management</a:t>
            </a:r>
            <a:r>
              <a:rPr lang="en-US" sz="2000" spc="-80" dirty="0">
                <a:latin typeface="Carlito"/>
                <a:cs typeface="Carlito"/>
              </a:rPr>
              <a:t> </a:t>
            </a:r>
            <a:r>
              <a:rPr lang="en-US" sz="2000" spc="-15" dirty="0">
                <a:latin typeface="Carlito"/>
                <a:cs typeface="Carlito"/>
              </a:rPr>
              <a:t>Systems</a:t>
            </a:r>
            <a:endParaRPr lang="en-US" sz="2000" dirty="0">
              <a:latin typeface="Carlito"/>
              <a:cs typeface="Carlito"/>
            </a:endParaRPr>
          </a:p>
          <a:p>
            <a:pPr marL="1155065" lvl="2" indent="-229235">
              <a:spcBef>
                <a:spcPts val="575"/>
              </a:spcBef>
              <a:buFont typeface="Arial"/>
              <a:buChar char="•"/>
              <a:tabLst>
                <a:tab pos="698500" algn="l"/>
              </a:tabLst>
            </a:pPr>
            <a:r>
              <a:rPr lang="en-US" sz="2000" spc="-40" dirty="0">
                <a:latin typeface="Carlito"/>
                <a:cs typeface="Carlito"/>
              </a:rPr>
              <a:t>Tracks </a:t>
            </a:r>
            <a:r>
              <a:rPr lang="en-US" sz="2000" dirty="0">
                <a:latin typeface="Carlito"/>
                <a:cs typeface="Carlito"/>
              </a:rPr>
              <a:t>and </a:t>
            </a:r>
            <a:r>
              <a:rPr lang="en-US" sz="2000" spc="-5" dirty="0">
                <a:latin typeface="Carlito"/>
                <a:cs typeface="Carlito"/>
              </a:rPr>
              <a:t>manages</a:t>
            </a:r>
            <a:r>
              <a:rPr lang="en-US" sz="2000" spc="-15" dirty="0">
                <a:latin typeface="Carlito"/>
                <a:cs typeface="Carlito"/>
              </a:rPr>
              <a:t> inventory</a:t>
            </a:r>
            <a:endParaRPr lang="en-US" sz="2000" dirty="0">
              <a:latin typeface="Carlito"/>
              <a:cs typeface="Carlito"/>
            </a:endParaRPr>
          </a:p>
          <a:p>
            <a:pPr marL="1222375" marR="1833880" lvl="2" indent="-295910">
              <a:spcBef>
                <a:spcPts val="575"/>
              </a:spcBef>
              <a:buFont typeface="Arial"/>
              <a:buChar char="•"/>
              <a:tabLst>
                <a:tab pos="698500" algn="l"/>
              </a:tabLst>
            </a:pPr>
            <a:r>
              <a:rPr lang="en-US" sz="2000" spc="-5" dirty="0">
                <a:latin typeface="Carlito"/>
                <a:cs typeface="Carlito"/>
              </a:rPr>
              <a:t>Supply Chain</a:t>
            </a:r>
            <a:r>
              <a:rPr lang="en-US" sz="2000" spc="-95" dirty="0">
                <a:latin typeface="Carlito"/>
                <a:cs typeface="Carlito"/>
              </a:rPr>
              <a:t> </a:t>
            </a:r>
            <a:r>
              <a:rPr lang="en-US" sz="2000" spc="-5" dirty="0">
                <a:latin typeface="Carlito"/>
                <a:cs typeface="Carlito"/>
              </a:rPr>
              <a:t>Management  (SCM)</a:t>
            </a:r>
          </a:p>
          <a:p>
            <a:pPr marL="698500" lvl="1" indent="-228600">
              <a:spcBef>
                <a:spcPts val="675"/>
              </a:spcBef>
              <a:buFont typeface="Arial"/>
              <a:buChar char="•"/>
              <a:tabLst>
                <a:tab pos="241300" algn="l"/>
              </a:tabLst>
            </a:pPr>
            <a:r>
              <a:rPr lang="en-US" sz="2000" spc="-5" dirty="0">
                <a:latin typeface="Carlito"/>
                <a:cs typeface="Carlito"/>
              </a:rPr>
              <a:t>Just-in-time</a:t>
            </a:r>
            <a:r>
              <a:rPr lang="en-US" sz="2000" spc="-25" dirty="0">
                <a:latin typeface="Carlito"/>
                <a:cs typeface="Carlito"/>
              </a:rPr>
              <a:t> </a:t>
            </a:r>
            <a:r>
              <a:rPr lang="en-US" sz="2000" spc="-5" dirty="0">
                <a:latin typeface="Carlito"/>
                <a:cs typeface="Carlito"/>
              </a:rPr>
              <a:t>(JIT)</a:t>
            </a:r>
            <a:endParaRPr lang="en-US" sz="2000" dirty="0">
              <a:latin typeface="Carlito"/>
              <a:cs typeface="Carlito"/>
            </a:endParaRPr>
          </a:p>
          <a:p>
            <a:pPr marL="1155700" marR="5080" lvl="2" indent="-228600">
              <a:spcBef>
                <a:spcPts val="575"/>
              </a:spcBef>
              <a:buFont typeface="Arial"/>
              <a:buChar char="–"/>
              <a:tabLst>
                <a:tab pos="698500" algn="l"/>
              </a:tabLst>
            </a:pPr>
            <a:r>
              <a:rPr lang="en-US" sz="2000" spc="-10" dirty="0">
                <a:latin typeface="Carlito"/>
                <a:cs typeface="Carlito"/>
              </a:rPr>
              <a:t>Resources </a:t>
            </a:r>
            <a:r>
              <a:rPr lang="en-US" sz="2000" spc="-15" dirty="0">
                <a:latin typeface="Carlito"/>
                <a:cs typeface="Carlito"/>
              </a:rPr>
              <a:t>are </a:t>
            </a:r>
            <a:r>
              <a:rPr lang="en-US" sz="2000" spc="-5" dirty="0">
                <a:latin typeface="Carlito"/>
                <a:cs typeface="Carlito"/>
              </a:rPr>
              <a:t>limited </a:t>
            </a:r>
            <a:r>
              <a:rPr lang="en-US" sz="2000" spc="-15" dirty="0">
                <a:latin typeface="Carlito"/>
                <a:cs typeface="Carlito"/>
              </a:rPr>
              <a:t>to </a:t>
            </a:r>
            <a:r>
              <a:rPr lang="en-US" sz="2000" dirty="0">
                <a:latin typeface="Carlito"/>
                <a:cs typeface="Carlito"/>
              </a:rPr>
              <a:t>the </a:t>
            </a:r>
            <a:r>
              <a:rPr lang="en-US" sz="2000" spc="-5" dirty="0">
                <a:latin typeface="Carlito"/>
                <a:cs typeface="Carlito"/>
              </a:rPr>
              <a:t>right amount </a:t>
            </a:r>
            <a:r>
              <a:rPr lang="en-US" sz="2000" spc="-15" dirty="0">
                <a:latin typeface="Carlito"/>
                <a:cs typeface="Carlito"/>
              </a:rPr>
              <a:t>at</a:t>
            </a:r>
            <a:r>
              <a:rPr lang="en-US" sz="2000" spc="-90" dirty="0">
                <a:latin typeface="Carlito"/>
                <a:cs typeface="Carlito"/>
              </a:rPr>
              <a:t> </a:t>
            </a:r>
            <a:r>
              <a:rPr lang="en-US" sz="2000" dirty="0">
                <a:latin typeface="Carlito"/>
                <a:cs typeface="Carlito"/>
              </a:rPr>
              <a:t>the  </a:t>
            </a:r>
            <a:r>
              <a:rPr lang="en-US" sz="2000" spc="-10" dirty="0">
                <a:latin typeface="Carlito"/>
                <a:cs typeface="Carlito"/>
              </a:rPr>
              <a:t>right </a:t>
            </a:r>
            <a:r>
              <a:rPr lang="en-US" sz="2000" dirty="0">
                <a:latin typeface="Carlito"/>
                <a:cs typeface="Carlito"/>
              </a:rPr>
              <a:t>time </a:t>
            </a:r>
            <a:r>
              <a:rPr lang="en-US" sz="2000" spc="-15" dirty="0">
                <a:latin typeface="Carlito"/>
                <a:cs typeface="Carlito"/>
              </a:rPr>
              <a:t>to </a:t>
            </a:r>
            <a:r>
              <a:rPr lang="en-US" sz="2000" spc="-5" dirty="0">
                <a:latin typeface="Carlito"/>
                <a:cs typeface="Carlito"/>
              </a:rPr>
              <a:t>fill</a:t>
            </a:r>
            <a:r>
              <a:rPr lang="en-US" sz="2000" spc="-60" dirty="0">
                <a:latin typeface="Carlito"/>
                <a:cs typeface="Carlito"/>
              </a:rPr>
              <a:t> </a:t>
            </a:r>
            <a:r>
              <a:rPr lang="en-US" sz="2000" spc="-15" dirty="0">
                <a:latin typeface="Carlito"/>
                <a:cs typeface="Carlito"/>
              </a:rPr>
              <a:t>orders</a:t>
            </a:r>
          </a:p>
          <a:p>
            <a:pPr marL="1155700" marR="5080" lvl="2" indent="-228600">
              <a:spcBef>
                <a:spcPts val="575"/>
              </a:spcBef>
              <a:buFont typeface="Arial"/>
              <a:buChar char="–"/>
              <a:tabLst>
                <a:tab pos="698500" algn="l"/>
              </a:tabLst>
            </a:pPr>
            <a:r>
              <a:rPr lang="en-US" sz="2000" spc="-15" dirty="0">
                <a:latin typeface="Carlito"/>
                <a:cs typeface="Carlito"/>
              </a:rPr>
              <a:t>Warehouse </a:t>
            </a:r>
            <a:r>
              <a:rPr lang="en-US" sz="2000" spc="-5" dirty="0">
                <a:latin typeface="Carlito"/>
                <a:cs typeface="Carlito"/>
              </a:rPr>
              <a:t>Management </a:t>
            </a:r>
            <a:r>
              <a:rPr lang="en-US" sz="2000" spc="-15" dirty="0">
                <a:latin typeface="Carlito"/>
                <a:cs typeface="Carlito"/>
              </a:rPr>
              <a:t>Systems</a:t>
            </a:r>
            <a:r>
              <a:rPr lang="en-US" sz="2000" spc="-95" dirty="0">
                <a:latin typeface="Carlito"/>
                <a:cs typeface="Carlito"/>
              </a:rPr>
              <a:t> </a:t>
            </a:r>
            <a:r>
              <a:rPr lang="en-US" sz="2000" spc="-5" dirty="0">
                <a:latin typeface="Carlito"/>
                <a:cs typeface="Carlito"/>
              </a:rPr>
              <a:t>(WMS)</a:t>
            </a:r>
            <a:endParaRPr lang="en-US" sz="2000" dirty="0">
              <a:latin typeface="Carlito"/>
              <a:cs typeface="Carlito"/>
            </a:endParaRPr>
          </a:p>
          <a:p>
            <a:pPr marL="765175" marR="1833880" lvl="1" indent="-295910">
              <a:lnSpc>
                <a:spcPct val="100000"/>
              </a:lnSpc>
              <a:spcBef>
                <a:spcPts val="575"/>
              </a:spcBef>
              <a:buFont typeface="Arial"/>
              <a:buChar char="•"/>
              <a:tabLst>
                <a:tab pos="698500" algn="l"/>
              </a:tabLst>
            </a:pPr>
            <a:endParaRPr lang="en-US" sz="2400" dirty="0">
              <a:latin typeface="Carlito"/>
              <a:cs typeface="Carlito"/>
            </a:endParaRPr>
          </a:p>
        </p:txBody>
      </p:sp>
    </p:spTree>
    <p:extLst>
      <p:ext uri="{BB962C8B-B14F-4D97-AF65-F5344CB8AC3E}">
        <p14:creationId xmlns:p14="http://schemas.microsoft.com/office/powerpoint/2010/main" val="38567165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5982970" cy="574040"/>
          </a:xfrm>
          <a:prstGeom prst="rect">
            <a:avLst/>
          </a:prstGeom>
        </p:spPr>
        <p:txBody>
          <a:bodyPr vert="horz" wrap="square" lIns="0" tIns="12700" rIns="0" bIns="0" rtlCol="0">
            <a:spAutoFit/>
          </a:bodyPr>
          <a:lstStyle/>
          <a:p>
            <a:pPr marL="12700">
              <a:lnSpc>
                <a:spcPct val="100000"/>
              </a:lnSpc>
              <a:spcBef>
                <a:spcPts val="100"/>
              </a:spcBef>
            </a:pPr>
            <a:r>
              <a:rPr sz="3600" spc="-30" dirty="0"/>
              <a:t>Types </a:t>
            </a:r>
            <a:r>
              <a:rPr sz="3600" spc="-15" dirty="0"/>
              <a:t>of </a:t>
            </a:r>
            <a:r>
              <a:rPr sz="3600" spc="-25" dirty="0"/>
              <a:t>Information</a:t>
            </a:r>
            <a:r>
              <a:rPr sz="3600" spc="-310" dirty="0"/>
              <a:t> </a:t>
            </a:r>
            <a:r>
              <a:rPr sz="3600" spc="10" dirty="0"/>
              <a:t>Systems</a:t>
            </a:r>
            <a:endParaRPr sz="360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45</a:t>
            </a:fld>
            <a:endParaRPr spc="-165" dirty="0"/>
          </a:p>
        </p:txBody>
      </p:sp>
      <p:sp>
        <p:nvSpPr>
          <p:cNvPr id="3" name="object 3"/>
          <p:cNvSpPr txBox="1"/>
          <p:nvPr/>
        </p:nvSpPr>
        <p:spPr>
          <a:xfrm>
            <a:off x="535940" y="1461262"/>
            <a:ext cx="7798434" cy="3795270"/>
          </a:xfrm>
          <a:prstGeom prst="rect">
            <a:avLst/>
          </a:prstGeom>
        </p:spPr>
        <p:txBody>
          <a:bodyPr vert="horz" wrap="square" lIns="0" tIns="85725" rIns="0" bIns="0" rtlCol="0">
            <a:spAutoFit/>
          </a:bodyPr>
          <a:lstStyle/>
          <a:p>
            <a:pPr marL="12065">
              <a:lnSpc>
                <a:spcPct val="100000"/>
              </a:lnSpc>
              <a:spcBef>
                <a:spcPts val="675"/>
              </a:spcBef>
              <a:tabLst>
                <a:tab pos="355600" algn="l"/>
                <a:tab pos="356235" algn="l"/>
              </a:tabLst>
            </a:pPr>
            <a:r>
              <a:rPr lang="en-US" sz="2400" spc="-5" dirty="0">
                <a:latin typeface="Carlito"/>
                <a:cs typeface="Carlito"/>
              </a:rPr>
              <a:t>5. </a:t>
            </a:r>
            <a:r>
              <a:rPr sz="2400" spc="-5" dirty="0">
                <a:latin typeface="Carlito"/>
                <a:cs typeface="Carlito"/>
              </a:rPr>
              <a:t>Design </a:t>
            </a:r>
            <a:r>
              <a:rPr sz="2400" dirty="0">
                <a:latin typeface="Carlito"/>
                <a:cs typeface="Carlito"/>
              </a:rPr>
              <a:t>and </a:t>
            </a:r>
            <a:r>
              <a:rPr sz="2400" spc="-5" dirty="0">
                <a:latin typeface="Carlito"/>
                <a:cs typeface="Carlito"/>
              </a:rPr>
              <a:t>Manufacturing</a:t>
            </a:r>
            <a:r>
              <a:rPr sz="2400" spc="-40" dirty="0">
                <a:latin typeface="Carlito"/>
                <a:cs typeface="Carlito"/>
              </a:rPr>
              <a:t> </a:t>
            </a:r>
            <a:r>
              <a:rPr sz="2400" spc="-15" dirty="0">
                <a:latin typeface="Carlito"/>
                <a:cs typeface="Carlito"/>
              </a:rPr>
              <a:t>Systems</a:t>
            </a:r>
            <a:endParaRPr sz="2400" dirty="0">
              <a:latin typeface="Carlito"/>
              <a:cs typeface="Carlito"/>
            </a:endParaRPr>
          </a:p>
          <a:p>
            <a:pPr marL="756285" marR="5080" lvl="1" indent="-287020">
              <a:lnSpc>
                <a:spcPct val="100000"/>
              </a:lnSpc>
              <a:spcBef>
                <a:spcPts val="575"/>
              </a:spcBef>
              <a:buFont typeface="Arial"/>
              <a:buChar char="–"/>
              <a:tabLst>
                <a:tab pos="756920" algn="l"/>
              </a:tabLst>
            </a:pPr>
            <a:r>
              <a:rPr sz="2400" spc="-5" dirty="0">
                <a:latin typeface="Carlito"/>
                <a:cs typeface="Carlito"/>
              </a:rPr>
              <a:t>Used </a:t>
            </a:r>
            <a:r>
              <a:rPr sz="2400" spc="-15" dirty="0">
                <a:latin typeface="Carlito"/>
                <a:cs typeface="Carlito"/>
              </a:rPr>
              <a:t>to improve </a:t>
            </a:r>
            <a:r>
              <a:rPr sz="2400" spc="-10" dirty="0">
                <a:latin typeface="Carlito"/>
                <a:cs typeface="Carlito"/>
              </a:rPr>
              <a:t>productivity </a:t>
            </a:r>
            <a:r>
              <a:rPr sz="2400" spc="-15" dirty="0">
                <a:latin typeface="Carlito"/>
                <a:cs typeface="Carlito"/>
              </a:rPr>
              <a:t>at </a:t>
            </a:r>
            <a:r>
              <a:rPr sz="2400" dirty="0">
                <a:latin typeface="Carlito"/>
                <a:cs typeface="Carlito"/>
              </a:rPr>
              <a:t>the </a:t>
            </a:r>
            <a:r>
              <a:rPr sz="2400" spc="-10" dirty="0">
                <a:latin typeface="Carlito"/>
                <a:cs typeface="Carlito"/>
              </a:rPr>
              <a:t>product </a:t>
            </a:r>
            <a:r>
              <a:rPr sz="2400" spc="-5" dirty="0">
                <a:latin typeface="Carlito"/>
                <a:cs typeface="Carlito"/>
              </a:rPr>
              <a:t>design </a:t>
            </a:r>
            <a:r>
              <a:rPr sz="2400" spc="-20" dirty="0">
                <a:latin typeface="Carlito"/>
                <a:cs typeface="Carlito"/>
              </a:rPr>
              <a:t>stage  </a:t>
            </a:r>
            <a:r>
              <a:rPr sz="2400" dirty="0">
                <a:latin typeface="Carlito"/>
                <a:cs typeface="Carlito"/>
              </a:rPr>
              <a:t>and </a:t>
            </a:r>
            <a:r>
              <a:rPr sz="2400" spc="-5" dirty="0">
                <a:latin typeface="Carlito"/>
                <a:cs typeface="Carlito"/>
              </a:rPr>
              <a:t>manufacturing</a:t>
            </a:r>
            <a:r>
              <a:rPr sz="2400" spc="-45" dirty="0">
                <a:latin typeface="Carlito"/>
                <a:cs typeface="Carlito"/>
              </a:rPr>
              <a:t> </a:t>
            </a:r>
            <a:r>
              <a:rPr sz="2400" spc="-20" dirty="0">
                <a:latin typeface="Carlito"/>
                <a:cs typeface="Carlito"/>
              </a:rPr>
              <a:t>stage</a:t>
            </a:r>
            <a:endParaRPr sz="2400" dirty="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Computer-aided design</a:t>
            </a:r>
            <a:r>
              <a:rPr sz="2400" spc="-35" dirty="0">
                <a:latin typeface="Carlito"/>
                <a:cs typeface="Carlito"/>
              </a:rPr>
              <a:t> </a:t>
            </a:r>
            <a:r>
              <a:rPr sz="2400" spc="-5" dirty="0">
                <a:latin typeface="Carlito"/>
                <a:cs typeface="Carlito"/>
              </a:rPr>
              <a:t>(CAD)</a:t>
            </a:r>
            <a:endParaRPr sz="2400" dirty="0">
              <a:latin typeface="Carlito"/>
              <a:cs typeface="Carlito"/>
            </a:endParaRPr>
          </a:p>
          <a:p>
            <a:pPr marL="1155700" marR="663575" lvl="2" indent="-228600">
              <a:lnSpc>
                <a:spcPct val="100000"/>
              </a:lnSpc>
              <a:spcBef>
                <a:spcPts val="575"/>
              </a:spcBef>
              <a:buFont typeface="Arial"/>
              <a:buChar char="•"/>
              <a:tabLst>
                <a:tab pos="1156335" algn="l"/>
              </a:tabLst>
            </a:pPr>
            <a:r>
              <a:rPr sz="2400" spc="-5" dirty="0">
                <a:latin typeface="Carlito"/>
                <a:cs typeface="Carlito"/>
              </a:rPr>
              <a:t>Use of </a:t>
            </a:r>
            <a:r>
              <a:rPr sz="2400" spc="-10" dirty="0">
                <a:latin typeface="Carlito"/>
                <a:cs typeface="Carlito"/>
              </a:rPr>
              <a:t>computer technology </a:t>
            </a:r>
            <a:r>
              <a:rPr sz="2400" spc="-15" dirty="0">
                <a:latin typeface="Carlito"/>
                <a:cs typeface="Carlito"/>
              </a:rPr>
              <a:t>to automate </a:t>
            </a:r>
            <a:r>
              <a:rPr sz="2400" spc="-5" dirty="0">
                <a:latin typeface="Carlito"/>
                <a:cs typeface="Carlito"/>
              </a:rPr>
              <a:t>design  functions</a:t>
            </a:r>
            <a:endParaRPr sz="2400" dirty="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Computer-aided manufacturing</a:t>
            </a:r>
            <a:r>
              <a:rPr sz="2400" spc="-45" dirty="0">
                <a:latin typeface="Carlito"/>
                <a:cs typeface="Carlito"/>
              </a:rPr>
              <a:t> </a:t>
            </a:r>
            <a:r>
              <a:rPr sz="2400" dirty="0">
                <a:latin typeface="Carlito"/>
                <a:cs typeface="Carlito"/>
              </a:rPr>
              <a:t>(CAM)</a:t>
            </a:r>
          </a:p>
          <a:p>
            <a:pPr marL="1155700" marR="1532890" lvl="2" indent="-228600">
              <a:lnSpc>
                <a:spcPct val="100000"/>
              </a:lnSpc>
              <a:spcBef>
                <a:spcPts val="575"/>
              </a:spcBef>
              <a:buFont typeface="Arial"/>
              <a:buChar char="•"/>
              <a:tabLst>
                <a:tab pos="1156335" algn="l"/>
              </a:tabLst>
            </a:pPr>
            <a:r>
              <a:rPr sz="2400" spc="-5" dirty="0">
                <a:latin typeface="Carlito"/>
                <a:cs typeface="Carlito"/>
              </a:rPr>
              <a:t>Use of </a:t>
            </a:r>
            <a:r>
              <a:rPr sz="2400" spc="-10" dirty="0">
                <a:latin typeface="Carlito"/>
                <a:cs typeface="Carlito"/>
              </a:rPr>
              <a:t>computer technology </a:t>
            </a:r>
            <a:r>
              <a:rPr sz="2400" spc="-15" dirty="0">
                <a:latin typeface="Carlito"/>
                <a:cs typeface="Carlito"/>
              </a:rPr>
              <a:t>to automate  </a:t>
            </a:r>
            <a:r>
              <a:rPr sz="2400" spc="-5" dirty="0">
                <a:latin typeface="Carlito"/>
                <a:cs typeface="Carlito"/>
              </a:rPr>
              <a:t>manufacturing</a:t>
            </a:r>
            <a:r>
              <a:rPr sz="2400" spc="-35" dirty="0">
                <a:latin typeface="Carlito"/>
                <a:cs typeface="Carlito"/>
              </a:rPr>
              <a:t> </a:t>
            </a:r>
            <a:r>
              <a:rPr sz="2400" spc="-5" dirty="0">
                <a:latin typeface="Carlito"/>
                <a:cs typeface="Carlito"/>
              </a:rPr>
              <a:t>functions</a:t>
            </a:r>
            <a:endParaRPr sz="2400" dirty="0">
              <a:latin typeface="Carlito"/>
              <a:cs typeface="Carlito"/>
            </a:endParaRPr>
          </a:p>
        </p:txBody>
      </p:sp>
    </p:spTree>
    <p:extLst>
      <p:ext uri="{BB962C8B-B14F-4D97-AF65-F5344CB8AC3E}">
        <p14:creationId xmlns:p14="http://schemas.microsoft.com/office/powerpoint/2010/main" val="3585378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5982970" cy="574040"/>
          </a:xfrm>
          <a:prstGeom prst="rect">
            <a:avLst/>
          </a:prstGeom>
        </p:spPr>
        <p:txBody>
          <a:bodyPr vert="horz" wrap="square" lIns="0" tIns="12700" rIns="0" bIns="0" rtlCol="0">
            <a:spAutoFit/>
          </a:bodyPr>
          <a:lstStyle/>
          <a:p>
            <a:pPr marL="12700">
              <a:lnSpc>
                <a:spcPct val="100000"/>
              </a:lnSpc>
              <a:spcBef>
                <a:spcPts val="100"/>
              </a:spcBef>
            </a:pPr>
            <a:r>
              <a:rPr sz="3600" spc="-30" dirty="0"/>
              <a:t>Types </a:t>
            </a:r>
            <a:r>
              <a:rPr sz="3600" spc="-15" dirty="0"/>
              <a:t>of </a:t>
            </a:r>
            <a:r>
              <a:rPr sz="3600" spc="-25" dirty="0"/>
              <a:t>Information</a:t>
            </a:r>
            <a:r>
              <a:rPr sz="3600" spc="-310" dirty="0"/>
              <a:t> </a:t>
            </a:r>
            <a:r>
              <a:rPr sz="3600" spc="10" dirty="0"/>
              <a:t>Systems</a:t>
            </a:r>
            <a:endParaRPr sz="3600"/>
          </a:p>
        </p:txBody>
      </p:sp>
      <p:sp>
        <p:nvSpPr>
          <p:cNvPr id="3" name="object 3"/>
          <p:cNvSpPr txBox="1"/>
          <p:nvPr/>
        </p:nvSpPr>
        <p:spPr>
          <a:xfrm>
            <a:off x="535940" y="1461262"/>
            <a:ext cx="7662545" cy="2513330"/>
          </a:xfrm>
          <a:prstGeom prst="rect">
            <a:avLst/>
          </a:prstGeom>
        </p:spPr>
        <p:txBody>
          <a:bodyPr vert="horz" wrap="square" lIns="0" tIns="85725" rIns="0" bIns="0" rtlCol="0">
            <a:spAutoFit/>
          </a:bodyPr>
          <a:lstStyle/>
          <a:p>
            <a:pPr marL="12065">
              <a:lnSpc>
                <a:spcPct val="100000"/>
              </a:lnSpc>
              <a:spcBef>
                <a:spcPts val="675"/>
              </a:spcBef>
              <a:tabLst>
                <a:tab pos="355600" algn="l"/>
                <a:tab pos="356235" algn="l"/>
              </a:tabLst>
            </a:pPr>
            <a:r>
              <a:rPr lang="en-US" sz="2400" dirty="0">
                <a:latin typeface="Carlito"/>
                <a:cs typeface="Carlito"/>
              </a:rPr>
              <a:t>6. </a:t>
            </a:r>
            <a:r>
              <a:rPr sz="2400" dirty="0">
                <a:latin typeface="Carlito"/>
                <a:cs typeface="Carlito"/>
              </a:rPr>
              <a:t>Artificial </a:t>
            </a:r>
            <a:r>
              <a:rPr sz="2400" spc="-10" dirty="0">
                <a:latin typeface="Carlito"/>
                <a:cs typeface="Carlito"/>
              </a:rPr>
              <a:t>Intelligence</a:t>
            </a:r>
            <a:r>
              <a:rPr sz="2400" spc="-50" dirty="0">
                <a:latin typeface="Carlito"/>
                <a:cs typeface="Carlito"/>
              </a:rPr>
              <a:t> </a:t>
            </a:r>
            <a:r>
              <a:rPr sz="2400" spc="-15" dirty="0">
                <a:latin typeface="Carlito"/>
                <a:cs typeface="Carlito"/>
              </a:rPr>
              <a:t>Systems</a:t>
            </a:r>
            <a:endParaRPr sz="2400" dirty="0">
              <a:latin typeface="Carlito"/>
              <a:cs typeface="Carlito"/>
            </a:endParaRPr>
          </a:p>
          <a:p>
            <a:pPr marL="756285" marR="5080" lvl="1" indent="-287020">
              <a:lnSpc>
                <a:spcPct val="100000"/>
              </a:lnSpc>
              <a:spcBef>
                <a:spcPts val="575"/>
              </a:spcBef>
              <a:buFont typeface="Arial"/>
              <a:buChar char="–"/>
              <a:tabLst>
                <a:tab pos="756920" algn="l"/>
              </a:tabLst>
            </a:pPr>
            <a:r>
              <a:rPr sz="2400" dirty="0">
                <a:latin typeface="Carlito"/>
                <a:cs typeface="Carlito"/>
              </a:rPr>
              <a:t>A </a:t>
            </a:r>
            <a:r>
              <a:rPr sz="2400" spc="-25" dirty="0">
                <a:latin typeface="Carlito"/>
                <a:cs typeface="Carlito"/>
              </a:rPr>
              <a:t>system </a:t>
            </a:r>
            <a:r>
              <a:rPr sz="2400" dirty="0">
                <a:latin typeface="Carlito"/>
                <a:cs typeface="Carlito"/>
              </a:rPr>
              <a:t>in which a </a:t>
            </a:r>
            <a:r>
              <a:rPr sz="2400" spc="-10" dirty="0">
                <a:latin typeface="Carlito"/>
                <a:cs typeface="Carlito"/>
              </a:rPr>
              <a:t>computer performs </a:t>
            </a:r>
            <a:r>
              <a:rPr sz="2400" dirty="0">
                <a:latin typeface="Carlito"/>
                <a:cs typeface="Carlito"/>
              </a:rPr>
              <a:t>actions </a:t>
            </a:r>
            <a:r>
              <a:rPr sz="2400" spc="-10" dirty="0">
                <a:latin typeface="Carlito"/>
                <a:cs typeface="Carlito"/>
              </a:rPr>
              <a:t>that</a:t>
            </a:r>
            <a:r>
              <a:rPr sz="2400" spc="-120" dirty="0">
                <a:latin typeface="Carlito"/>
                <a:cs typeface="Carlito"/>
              </a:rPr>
              <a:t> </a:t>
            </a:r>
            <a:r>
              <a:rPr sz="2400" spc="-15" dirty="0">
                <a:latin typeface="Carlito"/>
                <a:cs typeface="Carlito"/>
              </a:rPr>
              <a:t>are  </a:t>
            </a:r>
            <a:r>
              <a:rPr sz="2400" spc="-10" dirty="0">
                <a:latin typeface="Carlito"/>
                <a:cs typeface="Carlito"/>
              </a:rPr>
              <a:t>characteristic </a:t>
            </a:r>
            <a:r>
              <a:rPr sz="2400" spc="-5" dirty="0">
                <a:latin typeface="Carlito"/>
                <a:cs typeface="Carlito"/>
              </a:rPr>
              <a:t>of human</a:t>
            </a:r>
            <a:r>
              <a:rPr sz="2400" spc="-65" dirty="0">
                <a:latin typeface="Carlito"/>
                <a:cs typeface="Carlito"/>
              </a:rPr>
              <a:t> </a:t>
            </a:r>
            <a:r>
              <a:rPr sz="2400" spc="-10" dirty="0">
                <a:latin typeface="Carlito"/>
                <a:cs typeface="Carlito"/>
              </a:rPr>
              <a:t>intelligence</a:t>
            </a:r>
            <a:endParaRPr sz="2400" dirty="0">
              <a:latin typeface="Carlito"/>
              <a:cs typeface="Carlito"/>
            </a:endParaRPr>
          </a:p>
          <a:p>
            <a:pPr marL="1155700" marR="422909" lvl="2" indent="-228600">
              <a:lnSpc>
                <a:spcPct val="100000"/>
              </a:lnSpc>
              <a:spcBef>
                <a:spcPts val="580"/>
              </a:spcBef>
              <a:buFont typeface="Arial"/>
              <a:buChar char="•"/>
              <a:tabLst>
                <a:tab pos="1156335" algn="l"/>
              </a:tabLst>
            </a:pPr>
            <a:r>
              <a:rPr sz="2400" dirty="0">
                <a:latin typeface="Carlito"/>
                <a:cs typeface="Carlito"/>
              </a:rPr>
              <a:t>Initial </a:t>
            </a:r>
            <a:r>
              <a:rPr sz="2400" spc="-5" dirty="0">
                <a:latin typeface="Carlito"/>
                <a:cs typeface="Carlito"/>
              </a:rPr>
              <a:t>advances </a:t>
            </a:r>
            <a:r>
              <a:rPr sz="2400" dirty="0">
                <a:latin typeface="Carlito"/>
                <a:cs typeface="Carlito"/>
              </a:rPr>
              <a:t>in AI made </a:t>
            </a:r>
            <a:r>
              <a:rPr sz="2400" spc="-10" dirty="0">
                <a:latin typeface="Carlito"/>
                <a:cs typeface="Carlito"/>
              </a:rPr>
              <a:t>through</a:t>
            </a:r>
            <a:r>
              <a:rPr sz="2400" spc="-150" dirty="0">
                <a:latin typeface="Carlito"/>
                <a:cs typeface="Carlito"/>
              </a:rPr>
              <a:t> </a:t>
            </a:r>
            <a:r>
              <a:rPr sz="2400" spc="-5" dirty="0">
                <a:latin typeface="Carlito"/>
                <a:cs typeface="Carlito"/>
              </a:rPr>
              <a:t>chess-playing  </a:t>
            </a:r>
            <a:r>
              <a:rPr sz="2400" spc="-15" dirty="0">
                <a:latin typeface="Carlito"/>
                <a:cs typeface="Carlito"/>
              </a:rPr>
              <a:t>programs</a:t>
            </a:r>
            <a:endParaRPr sz="2400" dirty="0">
              <a:latin typeface="Carlito"/>
              <a:cs typeface="Carlito"/>
            </a:endParaRPr>
          </a:p>
          <a:p>
            <a:pPr marL="1155700" lvl="2" indent="-229235">
              <a:lnSpc>
                <a:spcPct val="100000"/>
              </a:lnSpc>
              <a:spcBef>
                <a:spcPts val="575"/>
              </a:spcBef>
              <a:buFont typeface="Arial"/>
              <a:buChar char="•"/>
              <a:tabLst>
                <a:tab pos="1156335" algn="l"/>
              </a:tabLst>
            </a:pPr>
            <a:r>
              <a:rPr sz="2400" spc="-20" dirty="0">
                <a:latin typeface="Carlito"/>
                <a:cs typeface="Carlito"/>
              </a:rPr>
              <a:t>Watson </a:t>
            </a:r>
            <a:r>
              <a:rPr sz="2400" spc="-5" dirty="0">
                <a:latin typeface="Carlito"/>
                <a:cs typeface="Carlito"/>
              </a:rPr>
              <a:t>supports human</a:t>
            </a:r>
            <a:r>
              <a:rPr sz="2400" spc="-15" dirty="0">
                <a:latin typeface="Carlito"/>
                <a:cs typeface="Carlito"/>
              </a:rPr>
              <a:t> </a:t>
            </a:r>
            <a:r>
              <a:rPr sz="2400" spc="-10" dirty="0">
                <a:latin typeface="Carlito"/>
                <a:cs typeface="Carlito"/>
              </a:rPr>
              <a:t>interactions</a:t>
            </a:r>
            <a:endParaRPr sz="2400" dirty="0">
              <a:latin typeface="Carlito"/>
              <a:cs typeface="Carlito"/>
            </a:endParaRPr>
          </a:p>
        </p:txBody>
      </p:sp>
      <p:sp>
        <p:nvSpPr>
          <p:cNvPr id="4" name="object 4"/>
          <p:cNvSpPr/>
          <p:nvPr/>
        </p:nvSpPr>
        <p:spPr>
          <a:xfrm>
            <a:off x="2915792" y="3933025"/>
            <a:ext cx="5976620" cy="2496947"/>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475613" y="5373217"/>
            <a:ext cx="1145413" cy="545752"/>
          </a:xfrm>
          <a:prstGeom prst="rect">
            <a:avLst/>
          </a:prstGeom>
          <a:blipFill>
            <a:blip r:embed="rId3" cstate="print"/>
            <a:stretch>
              <a:fillRect/>
            </a:stretch>
          </a:blipFill>
        </p:spPr>
        <p:txBody>
          <a:bodyPr wrap="square" lIns="0" tIns="0" rIns="0" bIns="0" rtlCol="0"/>
          <a:lstStyle/>
          <a:p>
            <a:endParaRPr/>
          </a:p>
        </p:txBody>
      </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46</a:t>
            </a:fld>
            <a:endParaRPr spc="-165" dirty="0"/>
          </a:p>
        </p:txBody>
      </p:sp>
    </p:spTree>
    <p:extLst>
      <p:ext uri="{BB962C8B-B14F-4D97-AF65-F5344CB8AC3E}">
        <p14:creationId xmlns:p14="http://schemas.microsoft.com/office/powerpoint/2010/main" val="3705188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3" name="object 3"/>
          <p:cNvSpPr txBox="1"/>
          <p:nvPr/>
        </p:nvSpPr>
        <p:spPr>
          <a:xfrm>
            <a:off x="535940" y="1534414"/>
            <a:ext cx="7738745" cy="756920"/>
          </a:xfrm>
          <a:prstGeom prst="rect">
            <a:avLst/>
          </a:prstGeom>
        </p:spPr>
        <p:txBody>
          <a:bodyPr vert="horz" wrap="square" lIns="0" tIns="12700" rIns="0" bIns="0" rtlCol="0">
            <a:spAutoFit/>
          </a:bodyPr>
          <a:lstStyle/>
          <a:p>
            <a:pPr marL="355600" marR="5080" indent="-343535">
              <a:lnSpc>
                <a:spcPct val="100000"/>
              </a:lnSpc>
              <a:spcBef>
                <a:spcPts val="100"/>
              </a:spcBef>
              <a:buFont typeface="Arial"/>
              <a:buChar char="•"/>
              <a:tabLst>
                <a:tab pos="355600" algn="l"/>
                <a:tab pos="356235" algn="l"/>
              </a:tabLst>
            </a:pPr>
            <a:r>
              <a:rPr sz="2400" spc="-10">
                <a:latin typeface="Carlito"/>
                <a:cs typeface="Carlito"/>
              </a:rPr>
              <a:t>SDLC </a:t>
            </a:r>
            <a:r>
              <a:rPr lang="en-US" sz="2400" spc="-10" dirty="0">
                <a:latin typeface="Carlito"/>
                <a:cs typeface="Carlito"/>
              </a:rPr>
              <a:t>:</a:t>
            </a:r>
            <a:r>
              <a:rPr sz="2400">
                <a:latin typeface="Carlito"/>
                <a:cs typeface="Carlito"/>
              </a:rPr>
              <a:t> </a:t>
            </a:r>
            <a:r>
              <a:rPr sz="2400" spc="-5" dirty="0">
                <a:latin typeface="Carlito"/>
                <a:cs typeface="Carlito"/>
              </a:rPr>
              <a:t>The </a:t>
            </a:r>
            <a:r>
              <a:rPr sz="2400" spc="-10" dirty="0">
                <a:latin typeface="Carlito"/>
                <a:cs typeface="Carlito"/>
              </a:rPr>
              <a:t>development </a:t>
            </a:r>
            <a:r>
              <a:rPr sz="2400" spc="-5" dirty="0">
                <a:latin typeface="Carlito"/>
                <a:cs typeface="Carlito"/>
              </a:rPr>
              <a:t>of </a:t>
            </a:r>
            <a:r>
              <a:rPr sz="2400" dirty="0">
                <a:latin typeface="Carlito"/>
                <a:cs typeface="Carlito"/>
              </a:rPr>
              <a:t>a </a:t>
            </a:r>
            <a:r>
              <a:rPr sz="2400" spc="-25" dirty="0">
                <a:latin typeface="Carlito"/>
                <a:cs typeface="Carlito"/>
              </a:rPr>
              <a:t>system </a:t>
            </a:r>
            <a:r>
              <a:rPr sz="2400" spc="-15" dirty="0">
                <a:latin typeface="Carlito"/>
                <a:cs typeface="Carlito"/>
              </a:rPr>
              <a:t>from </a:t>
            </a:r>
            <a:r>
              <a:rPr sz="2400" dirty="0">
                <a:latin typeface="Carlito"/>
                <a:cs typeface="Carlito"/>
              </a:rPr>
              <a:t>the time it is </a:t>
            </a:r>
            <a:r>
              <a:rPr sz="2400" spc="-20" dirty="0">
                <a:latin typeface="Carlito"/>
                <a:cs typeface="Carlito"/>
              </a:rPr>
              <a:t>first  </a:t>
            </a:r>
            <a:r>
              <a:rPr sz="2400" spc="-5" dirty="0">
                <a:latin typeface="Carlito"/>
                <a:cs typeface="Carlito"/>
              </a:rPr>
              <a:t>studied </a:t>
            </a:r>
            <a:r>
              <a:rPr sz="2400" spc="-10" dirty="0">
                <a:latin typeface="Carlito"/>
                <a:cs typeface="Carlito"/>
              </a:rPr>
              <a:t>until </a:t>
            </a:r>
            <a:r>
              <a:rPr sz="2400" dirty="0">
                <a:latin typeface="Carlito"/>
                <a:cs typeface="Carlito"/>
              </a:rPr>
              <a:t>the time it is </a:t>
            </a:r>
            <a:r>
              <a:rPr sz="2400" spc="-10" dirty="0">
                <a:latin typeface="Carlito"/>
                <a:cs typeface="Carlito"/>
              </a:rPr>
              <a:t>updated </a:t>
            </a:r>
            <a:r>
              <a:rPr sz="2400" spc="-5" dirty="0">
                <a:latin typeface="Carlito"/>
                <a:cs typeface="Carlito"/>
              </a:rPr>
              <a:t>or</a:t>
            </a:r>
            <a:r>
              <a:rPr sz="2400" spc="-45" dirty="0">
                <a:latin typeface="Carlito"/>
                <a:cs typeface="Carlito"/>
              </a:rPr>
              <a:t> </a:t>
            </a:r>
            <a:r>
              <a:rPr sz="2400" spc="-5" dirty="0">
                <a:latin typeface="Carlito"/>
                <a:cs typeface="Carlito"/>
              </a:rPr>
              <a:t>replaced</a:t>
            </a:r>
            <a:endParaRPr sz="2400">
              <a:latin typeface="Carlito"/>
              <a:cs typeface="Carlito"/>
            </a:endParaRPr>
          </a:p>
        </p:txBody>
      </p:sp>
      <p:sp>
        <p:nvSpPr>
          <p:cNvPr id="4" name="object 4"/>
          <p:cNvSpPr/>
          <p:nvPr/>
        </p:nvSpPr>
        <p:spPr>
          <a:xfrm>
            <a:off x="1259636" y="2420835"/>
            <a:ext cx="5544566" cy="4027804"/>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7020306" y="2637027"/>
            <a:ext cx="1368171" cy="1520111"/>
          </a:xfrm>
          <a:prstGeom prst="rect">
            <a:avLst/>
          </a:prstGeom>
          <a:blipFill>
            <a:blip r:embed="rId3" cstate="print"/>
            <a:stretch>
              <a:fillRect/>
            </a:stretch>
          </a:blipFill>
        </p:spPr>
        <p:txBody>
          <a:bodyPr wrap="square" lIns="0" tIns="0" rIns="0" bIns="0" rtlCol="0"/>
          <a:lstStyle/>
          <a:p>
            <a:endParaRPr/>
          </a:p>
        </p:txBody>
      </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47</a:t>
            </a:fld>
            <a:endParaRPr spc="-165" dirty="0"/>
          </a:p>
        </p:txBody>
      </p:sp>
    </p:spTree>
    <p:extLst>
      <p:ext uri="{BB962C8B-B14F-4D97-AF65-F5344CB8AC3E}">
        <p14:creationId xmlns:p14="http://schemas.microsoft.com/office/powerpoint/2010/main" val="16831546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48</a:t>
            </a:fld>
            <a:endParaRPr spc="-165" dirty="0"/>
          </a:p>
        </p:txBody>
      </p:sp>
      <p:sp>
        <p:nvSpPr>
          <p:cNvPr id="3" name="object 3"/>
          <p:cNvSpPr txBox="1"/>
          <p:nvPr/>
        </p:nvSpPr>
        <p:spPr>
          <a:xfrm>
            <a:off x="535940" y="1461262"/>
            <a:ext cx="7934959" cy="368427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5" dirty="0">
                <a:latin typeface="Carlito"/>
                <a:cs typeface="Carlito"/>
              </a:rPr>
              <a:t>Preliminary</a:t>
            </a:r>
            <a:r>
              <a:rPr sz="2400" spc="-40" dirty="0">
                <a:latin typeface="Carlito"/>
                <a:cs typeface="Carlito"/>
              </a:rPr>
              <a:t> </a:t>
            </a:r>
            <a:r>
              <a:rPr sz="2400" spc="-15" dirty="0">
                <a:latin typeface="Carlito"/>
                <a:cs typeface="Carlito"/>
              </a:rPr>
              <a:t>Investigation</a:t>
            </a:r>
            <a:endParaRPr sz="2400">
              <a:latin typeface="Carlito"/>
              <a:cs typeface="Carlito"/>
            </a:endParaRPr>
          </a:p>
          <a:p>
            <a:pPr marL="756285" marR="21590" lvl="1" indent="-287020">
              <a:lnSpc>
                <a:spcPct val="100000"/>
              </a:lnSpc>
              <a:spcBef>
                <a:spcPts val="575"/>
              </a:spcBef>
              <a:buFont typeface="Arial"/>
              <a:buChar char="–"/>
              <a:tabLst>
                <a:tab pos="756920" algn="l"/>
              </a:tabLst>
            </a:pPr>
            <a:r>
              <a:rPr sz="2400" dirty="0">
                <a:latin typeface="Carlito"/>
                <a:cs typeface="Carlito"/>
              </a:rPr>
              <a:t>A </a:t>
            </a:r>
            <a:r>
              <a:rPr sz="2400" spc="-10" dirty="0">
                <a:latin typeface="Carlito"/>
                <a:cs typeface="Carlito"/>
              </a:rPr>
              <a:t>feasibility study </a:t>
            </a:r>
            <a:r>
              <a:rPr sz="2400" dirty="0">
                <a:latin typeface="Carlito"/>
                <a:cs typeface="Carlito"/>
              </a:rPr>
              <a:t>is </a:t>
            </a:r>
            <a:r>
              <a:rPr sz="2400" spc="-10" dirty="0">
                <a:latin typeface="Carlito"/>
                <a:cs typeface="Carlito"/>
              </a:rPr>
              <a:t>performed </a:t>
            </a:r>
            <a:r>
              <a:rPr sz="2400" spc="-15" dirty="0">
                <a:latin typeface="Carlito"/>
                <a:cs typeface="Carlito"/>
              </a:rPr>
              <a:t>to </a:t>
            </a:r>
            <a:r>
              <a:rPr sz="2400" spc="-5" dirty="0">
                <a:latin typeface="Carlito"/>
                <a:cs typeface="Carlito"/>
              </a:rPr>
              <a:t>assess whether or </a:t>
            </a:r>
            <a:r>
              <a:rPr sz="2400" spc="-10" dirty="0">
                <a:latin typeface="Carlito"/>
                <a:cs typeface="Carlito"/>
              </a:rPr>
              <a:t>not </a:t>
            </a:r>
            <a:r>
              <a:rPr sz="2400" dirty="0">
                <a:latin typeface="Carlito"/>
                <a:cs typeface="Carlito"/>
              </a:rPr>
              <a:t>a  </a:t>
            </a:r>
            <a:r>
              <a:rPr sz="2400" spc="-5" dirty="0">
                <a:latin typeface="Carlito"/>
                <a:cs typeface="Carlito"/>
              </a:rPr>
              <a:t>full-scale </a:t>
            </a:r>
            <a:r>
              <a:rPr sz="2400" spc="-10" dirty="0">
                <a:latin typeface="Carlito"/>
                <a:cs typeface="Carlito"/>
              </a:rPr>
              <a:t>project </a:t>
            </a:r>
            <a:r>
              <a:rPr sz="2400" spc="-5" dirty="0">
                <a:latin typeface="Carlito"/>
                <a:cs typeface="Carlito"/>
              </a:rPr>
              <a:t>should be</a:t>
            </a:r>
            <a:r>
              <a:rPr sz="2400" spc="-15" dirty="0">
                <a:latin typeface="Carlito"/>
                <a:cs typeface="Carlito"/>
              </a:rPr>
              <a:t> undertaken</a:t>
            </a:r>
            <a:endParaRPr sz="2400">
              <a:latin typeface="Carlito"/>
              <a:cs typeface="Carlito"/>
            </a:endParaRPr>
          </a:p>
          <a:p>
            <a:pPr marL="756285" lvl="1" indent="-287020">
              <a:lnSpc>
                <a:spcPct val="100000"/>
              </a:lnSpc>
              <a:spcBef>
                <a:spcPts val="580"/>
              </a:spcBef>
              <a:buFont typeface="Arial"/>
              <a:buChar char="–"/>
              <a:tabLst>
                <a:tab pos="756920" algn="l"/>
              </a:tabLst>
            </a:pPr>
            <a:r>
              <a:rPr sz="2400" spc="-10" dirty="0">
                <a:latin typeface="Carlito"/>
                <a:cs typeface="Carlito"/>
              </a:rPr>
              <a:t>Documentation: Feasibility</a:t>
            </a:r>
            <a:r>
              <a:rPr sz="2400" spc="-60" dirty="0">
                <a:latin typeface="Carlito"/>
                <a:cs typeface="Carlito"/>
              </a:rPr>
              <a:t> </a:t>
            </a:r>
            <a:r>
              <a:rPr sz="2400" spc="-10" dirty="0">
                <a:latin typeface="Carlito"/>
                <a:cs typeface="Carlito"/>
              </a:rPr>
              <a:t>Report</a:t>
            </a:r>
            <a:endParaRPr sz="2400">
              <a:latin typeface="Carlito"/>
              <a:cs typeface="Carlito"/>
            </a:endParaRPr>
          </a:p>
          <a:p>
            <a:pPr marL="1155700" marR="669925" lvl="2" indent="-228600">
              <a:lnSpc>
                <a:spcPct val="100000"/>
              </a:lnSpc>
              <a:spcBef>
                <a:spcPts val="575"/>
              </a:spcBef>
              <a:buFont typeface="Arial"/>
              <a:buChar char="•"/>
              <a:tabLst>
                <a:tab pos="1156335" algn="l"/>
              </a:tabLst>
            </a:pPr>
            <a:r>
              <a:rPr sz="2400" spc="-10" dirty="0">
                <a:latin typeface="Carlito"/>
                <a:cs typeface="Carlito"/>
              </a:rPr>
              <a:t>Contains </a:t>
            </a:r>
            <a:r>
              <a:rPr sz="2400" spc="-5" dirty="0">
                <a:latin typeface="Carlito"/>
                <a:cs typeface="Carlito"/>
              </a:rPr>
              <a:t>findings </a:t>
            </a:r>
            <a:r>
              <a:rPr sz="2400" spc="-10" dirty="0">
                <a:latin typeface="Carlito"/>
                <a:cs typeface="Carlito"/>
              </a:rPr>
              <a:t>on </a:t>
            </a:r>
            <a:r>
              <a:rPr sz="2400" spc="-15" dirty="0">
                <a:latin typeface="Carlito"/>
                <a:cs typeface="Carlito"/>
              </a:rPr>
              <a:t>status </a:t>
            </a:r>
            <a:r>
              <a:rPr sz="2400" spc="-5" dirty="0">
                <a:latin typeface="Carlito"/>
                <a:cs typeface="Carlito"/>
              </a:rPr>
              <a:t>of </a:t>
            </a:r>
            <a:r>
              <a:rPr sz="2400" spc="-10" dirty="0">
                <a:latin typeface="Carlito"/>
                <a:cs typeface="Carlito"/>
              </a:rPr>
              <a:t>existing </a:t>
            </a:r>
            <a:r>
              <a:rPr sz="2400" spc="-25" dirty="0">
                <a:latin typeface="Carlito"/>
                <a:cs typeface="Carlito"/>
              </a:rPr>
              <a:t>system </a:t>
            </a:r>
            <a:r>
              <a:rPr sz="2400" dirty="0">
                <a:latin typeface="Carlito"/>
                <a:cs typeface="Carlito"/>
              </a:rPr>
              <a:t>and  </a:t>
            </a:r>
            <a:r>
              <a:rPr sz="2400" spc="-10" dirty="0">
                <a:latin typeface="Carlito"/>
                <a:cs typeface="Carlito"/>
              </a:rPr>
              <a:t>benefits/feasibility </a:t>
            </a:r>
            <a:r>
              <a:rPr sz="2400" spc="-5" dirty="0">
                <a:latin typeface="Carlito"/>
                <a:cs typeface="Carlito"/>
              </a:rPr>
              <a:t>of </a:t>
            </a:r>
            <a:r>
              <a:rPr sz="2400" dirty="0">
                <a:latin typeface="Carlito"/>
                <a:cs typeface="Carlito"/>
              </a:rPr>
              <a:t>changing </a:t>
            </a:r>
            <a:r>
              <a:rPr sz="2400" spc="-15" dirty="0">
                <a:latin typeface="Carlito"/>
                <a:cs typeface="Carlito"/>
              </a:rPr>
              <a:t>to </a:t>
            </a:r>
            <a:r>
              <a:rPr sz="2400" dirty="0">
                <a:latin typeface="Carlito"/>
                <a:cs typeface="Carlito"/>
              </a:rPr>
              <a:t>a </a:t>
            </a:r>
            <a:r>
              <a:rPr sz="2400" spc="-10" dirty="0">
                <a:latin typeface="Carlito"/>
                <a:cs typeface="Carlito"/>
              </a:rPr>
              <a:t>new</a:t>
            </a:r>
            <a:r>
              <a:rPr sz="2400" spc="-30" dirty="0">
                <a:latin typeface="Carlito"/>
                <a:cs typeface="Carlito"/>
              </a:rPr>
              <a:t> </a:t>
            </a:r>
            <a:r>
              <a:rPr sz="2400" spc="-25" dirty="0">
                <a:latin typeface="Carlito"/>
                <a:cs typeface="Carlito"/>
              </a:rPr>
              <a:t>system</a:t>
            </a:r>
            <a:endParaRPr sz="2400">
              <a:latin typeface="Carlito"/>
              <a:cs typeface="Carlito"/>
            </a:endParaRPr>
          </a:p>
          <a:p>
            <a:pPr marL="1155700" marR="5080" lvl="2" indent="-228600">
              <a:lnSpc>
                <a:spcPct val="100000"/>
              </a:lnSpc>
              <a:spcBef>
                <a:spcPts val="580"/>
              </a:spcBef>
              <a:buChar char="•"/>
              <a:tabLst>
                <a:tab pos="1156335" algn="l"/>
              </a:tabLst>
            </a:pPr>
            <a:r>
              <a:rPr sz="2400" spc="-110" dirty="0">
                <a:latin typeface="Arial"/>
                <a:cs typeface="Arial"/>
              </a:rPr>
              <a:t>Includes </a:t>
            </a:r>
            <a:r>
              <a:rPr sz="2400" spc="-145" dirty="0">
                <a:latin typeface="Arial"/>
                <a:cs typeface="Arial"/>
              </a:rPr>
              <a:t>system </a:t>
            </a:r>
            <a:r>
              <a:rPr sz="2400" spc="-105" dirty="0">
                <a:latin typeface="Arial"/>
                <a:cs typeface="Arial"/>
              </a:rPr>
              <a:t>analysts’ </a:t>
            </a:r>
            <a:r>
              <a:rPr sz="2400" spc="-90" dirty="0">
                <a:latin typeface="Arial"/>
                <a:cs typeface="Arial"/>
              </a:rPr>
              <a:t>recommendations </a:t>
            </a:r>
            <a:r>
              <a:rPr sz="2400" spc="-105" dirty="0">
                <a:latin typeface="Arial"/>
                <a:cs typeface="Arial"/>
              </a:rPr>
              <a:t>regarding  </a:t>
            </a:r>
            <a:r>
              <a:rPr sz="2400" spc="-5" dirty="0">
                <a:latin typeface="Carlito"/>
                <a:cs typeface="Carlito"/>
              </a:rPr>
              <a:t>whether or </a:t>
            </a:r>
            <a:r>
              <a:rPr sz="2400" spc="-10" dirty="0">
                <a:latin typeface="Carlito"/>
                <a:cs typeface="Carlito"/>
              </a:rPr>
              <a:t>not </a:t>
            </a:r>
            <a:r>
              <a:rPr sz="2400" dirty="0">
                <a:latin typeface="Carlito"/>
                <a:cs typeface="Carlito"/>
              </a:rPr>
              <a:t>the </a:t>
            </a:r>
            <a:r>
              <a:rPr sz="2400" spc="-10" dirty="0">
                <a:latin typeface="Carlito"/>
                <a:cs typeface="Carlito"/>
              </a:rPr>
              <a:t>project </a:t>
            </a:r>
            <a:r>
              <a:rPr sz="2400" spc="-5" dirty="0">
                <a:latin typeface="Carlito"/>
                <a:cs typeface="Carlito"/>
              </a:rPr>
              <a:t>should </a:t>
            </a:r>
            <a:r>
              <a:rPr sz="2400" spc="-15" dirty="0">
                <a:latin typeface="Carlito"/>
                <a:cs typeface="Carlito"/>
              </a:rPr>
              <a:t>move </a:t>
            </a:r>
            <a:r>
              <a:rPr sz="2400" spc="-5" dirty="0">
                <a:latin typeface="Carlito"/>
                <a:cs typeface="Carlito"/>
              </a:rPr>
              <a:t>on </a:t>
            </a:r>
            <a:r>
              <a:rPr sz="2400" spc="-15" dirty="0">
                <a:latin typeface="Carlito"/>
                <a:cs typeface="Carlito"/>
              </a:rPr>
              <a:t>to </a:t>
            </a:r>
            <a:r>
              <a:rPr sz="2400" spc="-5" dirty="0">
                <a:latin typeface="Carlito"/>
                <a:cs typeface="Carlito"/>
              </a:rPr>
              <a:t>the </a:t>
            </a:r>
            <a:r>
              <a:rPr sz="2400" spc="-10" dirty="0">
                <a:latin typeface="Carlito"/>
                <a:cs typeface="Carlito"/>
              </a:rPr>
              <a:t>next  </a:t>
            </a:r>
            <a:r>
              <a:rPr sz="2400" spc="-20" dirty="0">
                <a:latin typeface="Carlito"/>
                <a:cs typeface="Carlito"/>
              </a:rPr>
              <a:t>stage </a:t>
            </a:r>
            <a:r>
              <a:rPr sz="2400" dirty="0">
                <a:latin typeface="Carlito"/>
                <a:cs typeface="Carlito"/>
              </a:rPr>
              <a:t>in the</a:t>
            </a:r>
            <a:r>
              <a:rPr sz="2400" spc="-30" dirty="0">
                <a:latin typeface="Carlito"/>
                <a:cs typeface="Carlito"/>
              </a:rPr>
              <a:t> </a:t>
            </a:r>
            <a:r>
              <a:rPr sz="2400" spc="-10" dirty="0">
                <a:latin typeface="Carlito"/>
                <a:cs typeface="Carlito"/>
              </a:rPr>
              <a:t>SDLC</a:t>
            </a:r>
            <a:endParaRPr sz="2400">
              <a:latin typeface="Carlito"/>
              <a:cs typeface="Carlito"/>
            </a:endParaRPr>
          </a:p>
        </p:txBody>
      </p:sp>
    </p:spTree>
    <p:extLst>
      <p:ext uri="{BB962C8B-B14F-4D97-AF65-F5344CB8AC3E}">
        <p14:creationId xmlns:p14="http://schemas.microsoft.com/office/powerpoint/2010/main" val="41460362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49</a:t>
            </a:fld>
            <a:endParaRPr spc="-165" dirty="0"/>
          </a:p>
        </p:txBody>
      </p:sp>
      <p:sp>
        <p:nvSpPr>
          <p:cNvPr id="3" name="object 3"/>
          <p:cNvSpPr txBox="1"/>
          <p:nvPr/>
        </p:nvSpPr>
        <p:spPr>
          <a:xfrm>
            <a:off x="535940" y="1461262"/>
            <a:ext cx="8036559" cy="4123054"/>
          </a:xfrm>
          <a:prstGeom prst="rect">
            <a:avLst/>
          </a:prstGeom>
        </p:spPr>
        <p:txBody>
          <a:bodyPr vert="horz" wrap="square" lIns="0" tIns="85725" rIns="0" bIns="0" rtlCol="0">
            <a:spAutoFit/>
          </a:bodyPr>
          <a:lstStyle/>
          <a:p>
            <a:pPr marL="355600" indent="-343535" algn="just">
              <a:lnSpc>
                <a:spcPct val="100000"/>
              </a:lnSpc>
              <a:spcBef>
                <a:spcPts val="675"/>
              </a:spcBef>
              <a:buFont typeface="Arial"/>
              <a:buChar char="•"/>
              <a:tabLst>
                <a:tab pos="356235" algn="l"/>
              </a:tabLst>
            </a:pPr>
            <a:r>
              <a:rPr sz="2400" spc="-20" dirty="0">
                <a:latin typeface="Carlito"/>
                <a:cs typeface="Carlito"/>
              </a:rPr>
              <a:t>System</a:t>
            </a:r>
            <a:r>
              <a:rPr sz="2400" spc="-114" dirty="0">
                <a:latin typeface="Carlito"/>
                <a:cs typeface="Carlito"/>
              </a:rPr>
              <a:t> </a:t>
            </a:r>
            <a:r>
              <a:rPr sz="2400" spc="-5" dirty="0">
                <a:latin typeface="Carlito"/>
                <a:cs typeface="Carlito"/>
              </a:rPr>
              <a:t>Analysis</a:t>
            </a:r>
            <a:endParaRPr sz="2400">
              <a:latin typeface="Carlito"/>
              <a:cs typeface="Carlito"/>
            </a:endParaRPr>
          </a:p>
          <a:p>
            <a:pPr marL="756285" marR="237490" lvl="1" indent="-287020" algn="just">
              <a:lnSpc>
                <a:spcPct val="100000"/>
              </a:lnSpc>
              <a:spcBef>
                <a:spcPts val="575"/>
              </a:spcBef>
              <a:buFont typeface="Arial"/>
              <a:buChar char="–"/>
              <a:tabLst>
                <a:tab pos="756920" algn="l"/>
              </a:tabLst>
            </a:pPr>
            <a:r>
              <a:rPr sz="2400" spc="-5" dirty="0">
                <a:latin typeface="Carlito"/>
                <a:cs typeface="Carlito"/>
              </a:rPr>
              <a:t>Examines </a:t>
            </a:r>
            <a:r>
              <a:rPr sz="2400" dirty="0">
                <a:latin typeface="Carlito"/>
                <a:cs typeface="Carlito"/>
              </a:rPr>
              <a:t>the </a:t>
            </a:r>
            <a:r>
              <a:rPr sz="2400" spc="-10" dirty="0">
                <a:latin typeface="Carlito"/>
                <a:cs typeface="Carlito"/>
              </a:rPr>
              <a:t>problem area </a:t>
            </a:r>
            <a:r>
              <a:rPr sz="2400" spc="-15" dirty="0">
                <a:latin typeface="Carlito"/>
                <a:cs typeface="Carlito"/>
              </a:rPr>
              <a:t>to </a:t>
            </a:r>
            <a:r>
              <a:rPr sz="2400" spc="-5" dirty="0">
                <a:latin typeface="Carlito"/>
                <a:cs typeface="Carlito"/>
              </a:rPr>
              <a:t>determine </a:t>
            </a:r>
            <a:r>
              <a:rPr sz="2400" spc="-10" dirty="0">
                <a:latin typeface="Carlito"/>
                <a:cs typeface="Carlito"/>
              </a:rPr>
              <a:t>what </a:t>
            </a:r>
            <a:r>
              <a:rPr sz="2400" spc="-5" dirty="0">
                <a:latin typeface="Carlito"/>
                <a:cs typeface="Carlito"/>
              </a:rPr>
              <a:t>should be  done</a:t>
            </a:r>
            <a:endParaRPr sz="2400">
              <a:latin typeface="Carlito"/>
              <a:cs typeface="Carlito"/>
            </a:endParaRPr>
          </a:p>
          <a:p>
            <a:pPr marL="756285" lvl="1" indent="-287020" algn="just">
              <a:lnSpc>
                <a:spcPct val="100000"/>
              </a:lnSpc>
              <a:spcBef>
                <a:spcPts val="580"/>
              </a:spcBef>
              <a:buFont typeface="Arial"/>
              <a:buChar char="–"/>
              <a:tabLst>
                <a:tab pos="756920" algn="l"/>
              </a:tabLst>
            </a:pPr>
            <a:r>
              <a:rPr sz="2400" spc="-15" dirty="0">
                <a:latin typeface="Carlito"/>
                <a:cs typeface="Carlito"/>
              </a:rPr>
              <a:t>Data</a:t>
            </a:r>
            <a:r>
              <a:rPr sz="2400" spc="-30" dirty="0">
                <a:latin typeface="Carlito"/>
                <a:cs typeface="Carlito"/>
              </a:rPr>
              <a:t> </a:t>
            </a:r>
            <a:r>
              <a:rPr sz="2400" spc="-5" dirty="0">
                <a:latin typeface="Carlito"/>
                <a:cs typeface="Carlito"/>
              </a:rPr>
              <a:t>Collection</a:t>
            </a:r>
            <a:endParaRPr sz="2400">
              <a:latin typeface="Carlito"/>
              <a:cs typeface="Carlito"/>
            </a:endParaRPr>
          </a:p>
          <a:p>
            <a:pPr marL="1155700" marR="5080" lvl="2" indent="-228600" algn="just">
              <a:lnSpc>
                <a:spcPct val="100000"/>
              </a:lnSpc>
              <a:spcBef>
                <a:spcPts val="575"/>
              </a:spcBef>
              <a:buFont typeface="Arial"/>
              <a:buChar char="•"/>
              <a:tabLst>
                <a:tab pos="1156335" algn="l"/>
              </a:tabLst>
            </a:pPr>
            <a:r>
              <a:rPr sz="2400" spc="-5" dirty="0">
                <a:latin typeface="Carlito"/>
                <a:cs typeface="Carlito"/>
              </a:rPr>
              <a:t>Gathering </a:t>
            </a:r>
            <a:r>
              <a:rPr sz="2400" spc="-10" dirty="0">
                <a:latin typeface="Carlito"/>
                <a:cs typeface="Carlito"/>
              </a:rPr>
              <a:t>information </a:t>
            </a:r>
            <a:r>
              <a:rPr sz="2400" dirty="0">
                <a:latin typeface="Carlito"/>
                <a:cs typeface="Carlito"/>
              </a:rPr>
              <a:t>about the </a:t>
            </a:r>
            <a:r>
              <a:rPr sz="2400" spc="-25" dirty="0">
                <a:latin typeface="Carlito"/>
                <a:cs typeface="Carlito"/>
              </a:rPr>
              <a:t>system </a:t>
            </a:r>
            <a:r>
              <a:rPr sz="2400" spc="-15" dirty="0">
                <a:latin typeface="Carlito"/>
                <a:cs typeface="Carlito"/>
              </a:rPr>
              <a:t>(organizational  </a:t>
            </a:r>
            <a:r>
              <a:rPr sz="2400" dirty="0">
                <a:latin typeface="Carlito"/>
                <a:cs typeface="Carlito"/>
              </a:rPr>
              <a:t>chart, </a:t>
            </a:r>
            <a:r>
              <a:rPr sz="2400" spc="-10" dirty="0">
                <a:latin typeface="Carlito"/>
                <a:cs typeface="Carlito"/>
              </a:rPr>
              <a:t>observation, </a:t>
            </a:r>
            <a:r>
              <a:rPr sz="2400" spc="-5" dirty="0">
                <a:latin typeface="Carlito"/>
                <a:cs typeface="Carlito"/>
              </a:rPr>
              <a:t>interviewing </a:t>
            </a:r>
            <a:r>
              <a:rPr sz="2400" spc="-10" dirty="0">
                <a:latin typeface="Carlito"/>
                <a:cs typeface="Carlito"/>
              </a:rPr>
              <a:t>users,</a:t>
            </a:r>
            <a:r>
              <a:rPr sz="2400" spc="-50" dirty="0">
                <a:latin typeface="Carlito"/>
                <a:cs typeface="Carlito"/>
              </a:rPr>
              <a:t> </a:t>
            </a:r>
            <a:r>
              <a:rPr sz="2400" spc="-10" dirty="0">
                <a:latin typeface="Carlito"/>
                <a:cs typeface="Carlito"/>
              </a:rPr>
              <a:t>etc.)</a:t>
            </a:r>
            <a:endParaRPr sz="2400">
              <a:latin typeface="Carlito"/>
              <a:cs typeface="Carlito"/>
            </a:endParaRPr>
          </a:p>
          <a:p>
            <a:pPr marL="756285" lvl="1" indent="-287020" algn="just">
              <a:lnSpc>
                <a:spcPct val="100000"/>
              </a:lnSpc>
              <a:spcBef>
                <a:spcPts val="580"/>
              </a:spcBef>
              <a:buFont typeface="Arial"/>
              <a:buChar char="–"/>
              <a:tabLst>
                <a:tab pos="756920" algn="l"/>
              </a:tabLst>
            </a:pPr>
            <a:r>
              <a:rPr sz="2400" spc="-15" dirty="0">
                <a:latin typeface="Carlito"/>
                <a:cs typeface="Carlito"/>
              </a:rPr>
              <a:t>Data</a:t>
            </a:r>
            <a:r>
              <a:rPr sz="2400" spc="-30" dirty="0">
                <a:latin typeface="Carlito"/>
                <a:cs typeface="Carlito"/>
              </a:rPr>
              <a:t> </a:t>
            </a:r>
            <a:r>
              <a:rPr sz="2400" spc="-5" dirty="0">
                <a:latin typeface="Carlito"/>
                <a:cs typeface="Carlito"/>
              </a:rPr>
              <a:t>Analysis</a:t>
            </a:r>
            <a:endParaRPr sz="2400">
              <a:latin typeface="Carlito"/>
              <a:cs typeface="Carlito"/>
            </a:endParaRPr>
          </a:p>
          <a:p>
            <a:pPr marL="1155700" marR="274955" lvl="2" indent="-228600" algn="just">
              <a:lnSpc>
                <a:spcPct val="100000"/>
              </a:lnSpc>
              <a:spcBef>
                <a:spcPts val="575"/>
              </a:spcBef>
              <a:buFont typeface="Arial"/>
              <a:buChar char="•"/>
              <a:tabLst>
                <a:tab pos="1156335" algn="l"/>
              </a:tabLst>
            </a:pPr>
            <a:r>
              <a:rPr sz="2400" spc="-5" dirty="0">
                <a:latin typeface="Carlito"/>
                <a:cs typeface="Carlito"/>
              </a:rPr>
              <a:t>Analyzing </a:t>
            </a:r>
            <a:r>
              <a:rPr sz="2400" spc="-10" dirty="0">
                <a:latin typeface="Carlito"/>
                <a:cs typeface="Carlito"/>
              </a:rPr>
              <a:t>information </a:t>
            </a:r>
            <a:r>
              <a:rPr sz="2400" spc="-15" dirty="0">
                <a:latin typeface="Carlito"/>
                <a:cs typeface="Carlito"/>
              </a:rPr>
              <a:t>to </a:t>
            </a:r>
            <a:r>
              <a:rPr sz="2400" spc="-5" dirty="0">
                <a:latin typeface="Carlito"/>
                <a:cs typeface="Carlito"/>
              </a:rPr>
              <a:t>determine </a:t>
            </a:r>
            <a:r>
              <a:rPr sz="2400" dirty="0">
                <a:latin typeface="Carlito"/>
                <a:cs typeface="Carlito"/>
              </a:rPr>
              <a:t>the </a:t>
            </a:r>
            <a:r>
              <a:rPr sz="2400" spc="-15" dirty="0">
                <a:latin typeface="Carlito"/>
                <a:cs typeface="Carlito"/>
              </a:rPr>
              <a:t>effectiveness  </a:t>
            </a:r>
            <a:r>
              <a:rPr sz="2400" dirty="0">
                <a:latin typeface="Carlito"/>
                <a:cs typeface="Carlito"/>
              </a:rPr>
              <a:t>and </a:t>
            </a:r>
            <a:r>
              <a:rPr sz="2400" spc="-10" dirty="0">
                <a:latin typeface="Carlito"/>
                <a:cs typeface="Carlito"/>
              </a:rPr>
              <a:t>efficiency </a:t>
            </a:r>
            <a:r>
              <a:rPr sz="2400" spc="-5" dirty="0">
                <a:latin typeface="Carlito"/>
                <a:cs typeface="Carlito"/>
              </a:rPr>
              <a:t>of </a:t>
            </a:r>
            <a:r>
              <a:rPr sz="2400" spc="-10" dirty="0">
                <a:latin typeface="Carlito"/>
                <a:cs typeface="Carlito"/>
              </a:rPr>
              <a:t>current </a:t>
            </a:r>
            <a:r>
              <a:rPr sz="2400" spc="-25" dirty="0">
                <a:latin typeface="Carlito"/>
                <a:cs typeface="Carlito"/>
              </a:rPr>
              <a:t>system </a:t>
            </a:r>
            <a:r>
              <a:rPr sz="2400" spc="-10" dirty="0">
                <a:latin typeface="Carlito"/>
                <a:cs typeface="Carlito"/>
              </a:rPr>
              <a:t>and/or requirements  </a:t>
            </a:r>
            <a:r>
              <a:rPr sz="2400" spc="-20" dirty="0">
                <a:latin typeface="Carlito"/>
                <a:cs typeface="Carlito"/>
              </a:rPr>
              <a:t>for </a:t>
            </a:r>
            <a:r>
              <a:rPr sz="2400" spc="-5" dirty="0">
                <a:latin typeface="Carlito"/>
                <a:cs typeface="Carlito"/>
              </a:rPr>
              <a:t>new or </a:t>
            </a:r>
            <a:r>
              <a:rPr sz="2400" dirty="0">
                <a:latin typeface="Carlito"/>
                <a:cs typeface="Carlito"/>
              </a:rPr>
              <a:t>modified</a:t>
            </a:r>
            <a:r>
              <a:rPr sz="2400" spc="-10" dirty="0">
                <a:latin typeface="Carlito"/>
                <a:cs typeface="Carlito"/>
              </a:rPr>
              <a:t> </a:t>
            </a:r>
            <a:r>
              <a:rPr sz="2400" spc="-20" dirty="0">
                <a:latin typeface="Carlito"/>
                <a:cs typeface="Carlito"/>
              </a:rPr>
              <a:t>systems</a:t>
            </a:r>
            <a:endParaRPr sz="2400">
              <a:latin typeface="Carlito"/>
              <a:cs typeface="Carlito"/>
            </a:endParaRPr>
          </a:p>
        </p:txBody>
      </p:sp>
    </p:spTree>
    <p:extLst>
      <p:ext uri="{BB962C8B-B14F-4D97-AF65-F5344CB8AC3E}">
        <p14:creationId xmlns:p14="http://schemas.microsoft.com/office/powerpoint/2010/main" val="17269384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50</a:t>
            </a:fld>
            <a:endParaRPr spc="-165" dirty="0"/>
          </a:p>
        </p:txBody>
      </p:sp>
      <p:sp>
        <p:nvSpPr>
          <p:cNvPr id="3" name="object 3"/>
          <p:cNvSpPr txBox="1"/>
          <p:nvPr/>
        </p:nvSpPr>
        <p:spPr>
          <a:xfrm>
            <a:off x="1450594" y="1514602"/>
            <a:ext cx="7110730" cy="3891835"/>
          </a:xfrm>
          <a:prstGeom prst="rect">
            <a:avLst/>
          </a:prstGeom>
        </p:spPr>
        <p:txBody>
          <a:bodyPr vert="horz" wrap="square" lIns="0" tIns="12700" rIns="0" bIns="0" rtlCol="0">
            <a:spAutoFit/>
          </a:bodyPr>
          <a:lstStyle/>
          <a:p>
            <a:pPr marL="241300" marR="596900" indent="-228600">
              <a:lnSpc>
                <a:spcPct val="110000"/>
              </a:lnSpc>
              <a:spcBef>
                <a:spcPts val="100"/>
              </a:spcBef>
              <a:buFont typeface="Arial"/>
              <a:buChar char="•"/>
              <a:tabLst>
                <a:tab pos="241300" algn="l"/>
              </a:tabLst>
            </a:pPr>
            <a:r>
              <a:rPr sz="2400" spc="-5" dirty="0">
                <a:latin typeface="Carlito"/>
                <a:cs typeface="Carlito"/>
              </a:rPr>
              <a:t>Entity-Relationship </a:t>
            </a:r>
            <a:r>
              <a:rPr sz="2400" spc="-10" dirty="0">
                <a:latin typeface="Carlito"/>
                <a:cs typeface="Carlito"/>
              </a:rPr>
              <a:t>Diagrams </a:t>
            </a:r>
            <a:r>
              <a:rPr sz="2400" dirty="0">
                <a:latin typeface="Carlito"/>
                <a:cs typeface="Carlito"/>
              </a:rPr>
              <a:t>(ERDs) and </a:t>
            </a:r>
            <a:r>
              <a:rPr sz="2400" spc="-15" dirty="0">
                <a:latin typeface="Carlito"/>
                <a:cs typeface="Carlito"/>
              </a:rPr>
              <a:t>Data</a:t>
            </a:r>
            <a:r>
              <a:rPr sz="2400" spc="-165" dirty="0">
                <a:latin typeface="Carlito"/>
                <a:cs typeface="Carlito"/>
              </a:rPr>
              <a:t> </a:t>
            </a:r>
            <a:r>
              <a:rPr sz="2400" spc="-10" dirty="0">
                <a:latin typeface="Carlito"/>
                <a:cs typeface="Carlito"/>
              </a:rPr>
              <a:t>Flow  Diagrams</a:t>
            </a:r>
            <a:r>
              <a:rPr sz="2400" spc="-45" dirty="0">
                <a:latin typeface="Carlito"/>
                <a:cs typeface="Carlito"/>
              </a:rPr>
              <a:t> </a:t>
            </a:r>
            <a:r>
              <a:rPr sz="2400" spc="-5" dirty="0">
                <a:latin typeface="Carlito"/>
                <a:cs typeface="Carlito"/>
              </a:rPr>
              <a:t>(DFDs)</a:t>
            </a:r>
            <a:endParaRPr sz="2400">
              <a:latin typeface="Carlito"/>
              <a:cs typeface="Carlito"/>
            </a:endParaRPr>
          </a:p>
          <a:p>
            <a:pPr marL="698500" lvl="1" indent="-228600">
              <a:lnSpc>
                <a:spcPct val="100000"/>
              </a:lnSpc>
              <a:spcBef>
                <a:spcPts val="795"/>
              </a:spcBef>
              <a:buFont typeface="Arial"/>
              <a:buChar char="–"/>
              <a:tabLst>
                <a:tab pos="698500" algn="l"/>
              </a:tabLst>
            </a:pPr>
            <a:r>
              <a:rPr sz="2400" spc="-5" dirty="0">
                <a:latin typeface="Carlito"/>
                <a:cs typeface="Carlito"/>
              </a:rPr>
              <a:t>Used </a:t>
            </a:r>
            <a:r>
              <a:rPr sz="2400" spc="-15" dirty="0">
                <a:latin typeface="Carlito"/>
                <a:cs typeface="Carlito"/>
              </a:rPr>
              <a:t>to </a:t>
            </a:r>
            <a:r>
              <a:rPr sz="2400" dirty="0">
                <a:latin typeface="Carlito"/>
                <a:cs typeface="Carlito"/>
              </a:rPr>
              <a:t>model the </a:t>
            </a:r>
            <a:r>
              <a:rPr sz="2400" spc="-5" dirty="0">
                <a:latin typeface="Carlito"/>
                <a:cs typeface="Carlito"/>
              </a:rPr>
              <a:t>entities </a:t>
            </a:r>
            <a:r>
              <a:rPr sz="2400" dirty="0">
                <a:latin typeface="Carlito"/>
                <a:cs typeface="Carlito"/>
              </a:rPr>
              <a:t>in a </a:t>
            </a:r>
            <a:r>
              <a:rPr sz="2400" spc="-25" dirty="0">
                <a:latin typeface="Carlito"/>
                <a:cs typeface="Carlito"/>
              </a:rPr>
              <a:t>system </a:t>
            </a:r>
            <a:r>
              <a:rPr sz="2400" dirty="0">
                <a:latin typeface="Carlito"/>
                <a:cs typeface="Carlito"/>
              </a:rPr>
              <a:t>and </a:t>
            </a:r>
            <a:r>
              <a:rPr sz="2400">
                <a:latin typeface="Carlito"/>
                <a:cs typeface="Carlito"/>
              </a:rPr>
              <a:t>the</a:t>
            </a:r>
            <a:r>
              <a:rPr sz="2400" spc="-50">
                <a:latin typeface="Carlito"/>
                <a:cs typeface="Carlito"/>
              </a:rPr>
              <a:t> </a:t>
            </a:r>
            <a:r>
              <a:rPr sz="2400" spc="-10">
                <a:latin typeface="Carlito"/>
                <a:cs typeface="Carlito"/>
              </a:rPr>
              <a:t>flow</a:t>
            </a:r>
            <a:r>
              <a:rPr lang="en-US" sz="2400" spc="-10" dirty="0">
                <a:latin typeface="Carlito"/>
                <a:cs typeface="Carlito"/>
              </a:rPr>
              <a:t> </a:t>
            </a:r>
            <a:r>
              <a:rPr sz="2400" spc="-5">
                <a:latin typeface="Carlito"/>
                <a:cs typeface="Carlito"/>
              </a:rPr>
              <a:t>of </a:t>
            </a:r>
            <a:r>
              <a:rPr sz="2400" spc="-15" dirty="0">
                <a:latin typeface="Carlito"/>
                <a:cs typeface="Carlito"/>
              </a:rPr>
              <a:t>data </a:t>
            </a:r>
            <a:r>
              <a:rPr sz="2400" dirty="0">
                <a:latin typeface="Carlito"/>
                <a:cs typeface="Carlito"/>
              </a:rPr>
              <a:t>within the</a:t>
            </a:r>
            <a:r>
              <a:rPr sz="2400" spc="-45" dirty="0">
                <a:latin typeface="Carlito"/>
                <a:cs typeface="Carlito"/>
              </a:rPr>
              <a:t> </a:t>
            </a:r>
            <a:r>
              <a:rPr sz="2400" spc="-25" dirty="0">
                <a:latin typeface="Carlito"/>
                <a:cs typeface="Carlito"/>
              </a:rPr>
              <a:t>system</a:t>
            </a:r>
            <a:endParaRPr sz="2400">
              <a:latin typeface="Carlito"/>
              <a:cs typeface="Carlito"/>
            </a:endParaRPr>
          </a:p>
          <a:p>
            <a:pPr marL="241300" indent="-228600">
              <a:lnSpc>
                <a:spcPct val="100000"/>
              </a:lnSpc>
              <a:spcBef>
                <a:spcPts val="795"/>
              </a:spcBef>
              <a:buFont typeface="Arial"/>
              <a:buChar char="•"/>
              <a:tabLst>
                <a:tab pos="241300" algn="l"/>
              </a:tabLst>
            </a:pPr>
            <a:r>
              <a:rPr sz="2400" spc="-5">
                <a:latin typeface="Carlito"/>
                <a:cs typeface="Carlito"/>
              </a:rPr>
              <a:t>Decision </a:t>
            </a:r>
            <a:r>
              <a:rPr sz="2400" spc="-35" dirty="0">
                <a:latin typeface="Carlito"/>
                <a:cs typeface="Carlito"/>
              </a:rPr>
              <a:t>Tables </a:t>
            </a:r>
            <a:r>
              <a:rPr sz="2400" dirty="0">
                <a:latin typeface="Carlito"/>
                <a:cs typeface="Carlito"/>
              </a:rPr>
              <a:t>and </a:t>
            </a:r>
            <a:r>
              <a:rPr sz="2400" spc="-5" dirty="0">
                <a:latin typeface="Carlito"/>
                <a:cs typeface="Carlito"/>
              </a:rPr>
              <a:t>Decision </a:t>
            </a:r>
            <a:r>
              <a:rPr sz="2400" spc="-40" dirty="0">
                <a:latin typeface="Carlito"/>
                <a:cs typeface="Carlito"/>
              </a:rPr>
              <a:t>Trees</a:t>
            </a:r>
            <a:endParaRPr sz="2400">
              <a:latin typeface="Carlito"/>
              <a:cs typeface="Carlito"/>
            </a:endParaRPr>
          </a:p>
          <a:p>
            <a:pPr marL="698500" marR="5080" lvl="1" indent="-228600">
              <a:lnSpc>
                <a:spcPct val="110100"/>
              </a:lnSpc>
              <a:spcBef>
                <a:spcPts val="500"/>
              </a:spcBef>
              <a:buFont typeface="Arial"/>
              <a:buChar char="–"/>
              <a:tabLst>
                <a:tab pos="698500" algn="l"/>
              </a:tabLst>
            </a:pPr>
            <a:r>
              <a:rPr sz="2400" spc="-10" dirty="0">
                <a:latin typeface="Carlito"/>
                <a:cs typeface="Carlito"/>
              </a:rPr>
              <a:t>Useful </a:t>
            </a:r>
            <a:r>
              <a:rPr sz="2400" spc="-20" dirty="0">
                <a:latin typeface="Carlito"/>
                <a:cs typeface="Carlito"/>
              </a:rPr>
              <a:t>for </a:t>
            </a:r>
            <a:r>
              <a:rPr sz="2400" spc="-5" dirty="0">
                <a:latin typeface="Carlito"/>
                <a:cs typeface="Carlito"/>
              </a:rPr>
              <a:t>identifying </a:t>
            </a:r>
            <a:r>
              <a:rPr sz="2400" spc="-10" dirty="0">
                <a:latin typeface="Carlito"/>
                <a:cs typeface="Carlito"/>
              </a:rPr>
              <a:t>procedures </a:t>
            </a:r>
            <a:r>
              <a:rPr sz="2400" dirty="0">
                <a:latin typeface="Carlito"/>
                <a:cs typeface="Carlito"/>
              </a:rPr>
              <a:t>and </a:t>
            </a:r>
            <a:r>
              <a:rPr sz="2400" spc="-5" dirty="0">
                <a:latin typeface="Carlito"/>
                <a:cs typeface="Carlito"/>
              </a:rPr>
              <a:t>summarizing  </a:t>
            </a:r>
            <a:r>
              <a:rPr sz="2400" dirty="0">
                <a:latin typeface="Carlito"/>
                <a:cs typeface="Carlito"/>
              </a:rPr>
              <a:t>the </a:t>
            </a:r>
            <a:r>
              <a:rPr sz="2400" spc="-5" dirty="0">
                <a:latin typeface="Carlito"/>
                <a:cs typeface="Carlito"/>
              </a:rPr>
              <a:t>decision </a:t>
            </a:r>
            <a:r>
              <a:rPr sz="2400" dirty="0">
                <a:latin typeface="Carlito"/>
                <a:cs typeface="Carlito"/>
              </a:rPr>
              <a:t>making </a:t>
            </a:r>
            <a:r>
              <a:rPr sz="2400" spc="-10" dirty="0">
                <a:latin typeface="Carlito"/>
                <a:cs typeface="Carlito"/>
              </a:rPr>
              <a:t>process </a:t>
            </a:r>
            <a:r>
              <a:rPr sz="2400" spc="-5" dirty="0">
                <a:latin typeface="Carlito"/>
                <a:cs typeface="Carlito"/>
              </a:rPr>
              <a:t>of one </a:t>
            </a:r>
            <a:r>
              <a:rPr sz="2400" spc="-15" dirty="0">
                <a:latin typeface="Carlito"/>
                <a:cs typeface="Carlito"/>
              </a:rPr>
              <a:t>step </a:t>
            </a:r>
            <a:r>
              <a:rPr sz="2400" spc="-5" dirty="0">
                <a:latin typeface="Carlito"/>
                <a:cs typeface="Carlito"/>
              </a:rPr>
              <a:t>of </a:t>
            </a:r>
            <a:r>
              <a:rPr sz="2400">
                <a:latin typeface="Carlito"/>
                <a:cs typeface="Carlito"/>
              </a:rPr>
              <a:t>a</a:t>
            </a:r>
            <a:r>
              <a:rPr sz="2400" spc="-75">
                <a:latin typeface="Carlito"/>
                <a:cs typeface="Carlito"/>
              </a:rPr>
              <a:t> </a:t>
            </a:r>
            <a:r>
              <a:rPr sz="2400" spc="-25">
                <a:latin typeface="Carlito"/>
                <a:cs typeface="Carlito"/>
              </a:rPr>
              <a:t>system</a:t>
            </a:r>
            <a:endParaRPr lang="en-US" sz="2400" spc="-25" dirty="0">
              <a:latin typeface="Carlito"/>
              <a:cs typeface="Carlito"/>
            </a:endParaRPr>
          </a:p>
          <a:p>
            <a:pPr marL="698500" marR="5080" lvl="1" indent="-228600">
              <a:lnSpc>
                <a:spcPct val="110100"/>
              </a:lnSpc>
              <a:spcBef>
                <a:spcPts val="500"/>
              </a:spcBef>
              <a:buFont typeface="Arial"/>
              <a:buChar char="–"/>
              <a:tabLst>
                <a:tab pos="698500" algn="l"/>
              </a:tabLst>
            </a:pPr>
            <a:endParaRPr sz="2400">
              <a:latin typeface="Carlito"/>
              <a:cs typeface="Carlito"/>
            </a:endParaRPr>
          </a:p>
        </p:txBody>
      </p:sp>
    </p:spTree>
    <p:extLst>
      <p:ext uri="{BB962C8B-B14F-4D97-AF65-F5344CB8AC3E}">
        <p14:creationId xmlns:p14="http://schemas.microsoft.com/office/powerpoint/2010/main" val="453188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6542405"/>
            <a:chOff x="0" y="0"/>
            <a:chExt cx="9144000" cy="6542405"/>
          </a:xfrm>
        </p:grpSpPr>
        <p:sp>
          <p:nvSpPr>
            <p:cNvPr id="3" name="object 3"/>
            <p:cNvSpPr/>
            <p:nvPr/>
          </p:nvSpPr>
          <p:spPr>
            <a:xfrm>
              <a:off x="1259636" y="1484782"/>
              <a:ext cx="4876673" cy="5057021"/>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660260" y="1700783"/>
              <a:ext cx="1152131" cy="1331087"/>
            </a:xfrm>
            <a:prstGeom prst="rect">
              <a:avLst/>
            </a:prstGeom>
            <a:blipFill>
              <a:blip r:embed="rId3" cstate="print"/>
              <a:stretch>
                <a:fillRect/>
              </a:stretch>
            </a:blipFill>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51</a:t>
            </a:fld>
            <a:endParaRPr spc="-165" dirty="0"/>
          </a:p>
        </p:txBody>
      </p:sp>
    </p:spTree>
    <p:extLst>
      <p:ext uri="{BB962C8B-B14F-4D97-AF65-F5344CB8AC3E}">
        <p14:creationId xmlns:p14="http://schemas.microsoft.com/office/powerpoint/2010/main" val="14527116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52</a:t>
            </a:fld>
            <a:endParaRPr spc="-165" dirty="0"/>
          </a:p>
        </p:txBody>
      </p:sp>
      <p:sp>
        <p:nvSpPr>
          <p:cNvPr id="3" name="object 3"/>
          <p:cNvSpPr txBox="1"/>
          <p:nvPr/>
        </p:nvSpPr>
        <p:spPr>
          <a:xfrm>
            <a:off x="1450594" y="1450594"/>
            <a:ext cx="6915784" cy="3521220"/>
          </a:xfrm>
          <a:prstGeom prst="rect">
            <a:avLst/>
          </a:prstGeom>
        </p:spPr>
        <p:txBody>
          <a:bodyPr vert="horz" wrap="square" lIns="0" tIns="113030" rIns="0" bIns="0" rtlCol="0">
            <a:spAutoFit/>
          </a:bodyPr>
          <a:lstStyle/>
          <a:p>
            <a:pPr marL="698500" marR="5080" lvl="1" indent="-228600">
              <a:lnSpc>
                <a:spcPct val="110000"/>
              </a:lnSpc>
              <a:spcBef>
                <a:spcPts val="495"/>
              </a:spcBef>
              <a:buFont typeface="Arial"/>
              <a:buChar char="–"/>
              <a:tabLst>
                <a:tab pos="698500" algn="l"/>
              </a:tabLst>
            </a:pPr>
            <a:r>
              <a:rPr lang="en-US" sz="2400" spc="-5" dirty="0">
                <a:latin typeface="Carlito"/>
                <a:cs typeface="Carlito"/>
              </a:rPr>
              <a:t>Business Process Modeling Notation (BPMN)</a:t>
            </a:r>
          </a:p>
          <a:p>
            <a:pPr marL="698500" marR="5080" lvl="1" indent="-228600">
              <a:lnSpc>
                <a:spcPct val="110000"/>
              </a:lnSpc>
              <a:spcBef>
                <a:spcPts val="495"/>
              </a:spcBef>
              <a:buFont typeface="Arial"/>
              <a:buChar char="–"/>
              <a:tabLst>
                <a:tab pos="698500" algn="l"/>
              </a:tabLst>
            </a:pPr>
            <a:r>
              <a:rPr lang="en-US" sz="2400" spc="-5" dirty="0">
                <a:latin typeface="Carlito"/>
                <a:cs typeface="Carlito"/>
              </a:rPr>
              <a:t>A graphical, standardized notation u</a:t>
            </a:r>
            <a:r>
              <a:rPr sz="2400" spc="-5">
                <a:latin typeface="Carlito"/>
                <a:cs typeface="Carlito"/>
              </a:rPr>
              <a:t>sed </a:t>
            </a:r>
            <a:r>
              <a:rPr sz="2400" spc="-15" dirty="0">
                <a:latin typeface="Carlito"/>
                <a:cs typeface="Carlito"/>
              </a:rPr>
              <a:t>to </a:t>
            </a:r>
            <a:r>
              <a:rPr sz="2400" spc="-5" dirty="0">
                <a:latin typeface="Carlito"/>
                <a:cs typeface="Carlito"/>
              </a:rPr>
              <a:t>model </a:t>
            </a:r>
            <a:r>
              <a:rPr sz="2400" dirty="0">
                <a:latin typeface="Carlito"/>
                <a:cs typeface="Carlito"/>
              </a:rPr>
              <a:t>the </a:t>
            </a:r>
            <a:r>
              <a:rPr sz="2400" spc="-5" dirty="0">
                <a:latin typeface="Carlito"/>
                <a:cs typeface="Carlito"/>
              </a:rPr>
              <a:t>business </a:t>
            </a:r>
            <a:r>
              <a:rPr sz="2400" spc="-10" dirty="0">
                <a:latin typeface="Carlito"/>
                <a:cs typeface="Carlito"/>
              </a:rPr>
              <a:t>processes </a:t>
            </a:r>
            <a:r>
              <a:rPr sz="2400" spc="-5" dirty="0">
                <a:latin typeface="Carlito"/>
                <a:cs typeface="Carlito"/>
              </a:rPr>
              <a:t>used </a:t>
            </a:r>
            <a:r>
              <a:rPr sz="2400" dirty="0">
                <a:latin typeface="Carlito"/>
                <a:cs typeface="Carlito"/>
              </a:rPr>
              <a:t>within  </a:t>
            </a:r>
            <a:r>
              <a:rPr sz="2400" spc="-20" dirty="0">
                <a:latin typeface="Carlito"/>
                <a:cs typeface="Carlito"/>
              </a:rPr>
              <a:t>systems</a:t>
            </a:r>
            <a:endParaRPr sz="2400">
              <a:latin typeface="Carlito"/>
              <a:cs typeface="Carlito"/>
            </a:endParaRPr>
          </a:p>
          <a:p>
            <a:pPr marL="698500" marR="747395" lvl="1" indent="-228600">
              <a:lnSpc>
                <a:spcPct val="110000"/>
              </a:lnSpc>
              <a:spcBef>
                <a:spcPts val="505"/>
              </a:spcBef>
              <a:buFont typeface="Arial"/>
              <a:buChar char="–"/>
              <a:tabLst>
                <a:tab pos="698500" algn="l"/>
              </a:tabLst>
            </a:pPr>
            <a:r>
              <a:rPr sz="2400" spc="-5" dirty="0">
                <a:latin typeface="Carlito"/>
                <a:cs typeface="Carlito"/>
              </a:rPr>
              <a:t>Designed </a:t>
            </a:r>
            <a:r>
              <a:rPr sz="2400" spc="-15" dirty="0">
                <a:latin typeface="Carlito"/>
                <a:cs typeface="Carlito"/>
              </a:rPr>
              <a:t>to </a:t>
            </a:r>
            <a:r>
              <a:rPr sz="2400" spc="-5" dirty="0">
                <a:latin typeface="Carlito"/>
                <a:cs typeface="Carlito"/>
              </a:rPr>
              <a:t>be </a:t>
            </a:r>
            <a:r>
              <a:rPr sz="2400" spc="-15" dirty="0">
                <a:latin typeface="Carlito"/>
                <a:cs typeface="Carlito"/>
              </a:rPr>
              <a:t>understood </a:t>
            </a:r>
            <a:r>
              <a:rPr sz="2400" spc="-10" dirty="0">
                <a:latin typeface="Carlito"/>
                <a:cs typeface="Carlito"/>
              </a:rPr>
              <a:t>by </a:t>
            </a:r>
            <a:r>
              <a:rPr sz="2400" dirty="0">
                <a:latin typeface="Carlito"/>
                <a:cs typeface="Carlito"/>
              </a:rPr>
              <a:t>all individuals  </a:t>
            </a:r>
            <a:r>
              <a:rPr sz="2400" spc="-15" dirty="0">
                <a:latin typeface="Carlito"/>
                <a:cs typeface="Carlito"/>
              </a:rPr>
              <a:t>involved </a:t>
            </a:r>
            <a:r>
              <a:rPr sz="2400" dirty="0">
                <a:latin typeface="Carlito"/>
                <a:cs typeface="Carlito"/>
              </a:rPr>
              <a:t>in the</a:t>
            </a:r>
            <a:r>
              <a:rPr sz="2400" spc="10" dirty="0">
                <a:latin typeface="Carlito"/>
                <a:cs typeface="Carlito"/>
              </a:rPr>
              <a:t> </a:t>
            </a:r>
            <a:r>
              <a:rPr sz="2400" spc="-25" dirty="0">
                <a:latin typeface="Carlito"/>
                <a:cs typeface="Carlito"/>
              </a:rPr>
              <a:t>system</a:t>
            </a:r>
            <a:endParaRPr sz="2400">
              <a:latin typeface="Carlito"/>
              <a:cs typeface="Carlito"/>
            </a:endParaRPr>
          </a:p>
          <a:p>
            <a:pPr marL="698500" lvl="1" indent="-228600">
              <a:lnSpc>
                <a:spcPct val="100000"/>
              </a:lnSpc>
              <a:spcBef>
                <a:spcPts val="795"/>
              </a:spcBef>
              <a:buFont typeface="Arial"/>
              <a:buChar char="–"/>
              <a:tabLst>
                <a:tab pos="698500" algn="l"/>
              </a:tabLst>
            </a:pPr>
            <a:r>
              <a:rPr sz="2400" spc="-5" dirty="0">
                <a:latin typeface="Carlito"/>
                <a:cs typeface="Carlito"/>
              </a:rPr>
              <a:t>Expresses </a:t>
            </a:r>
            <a:r>
              <a:rPr sz="2400" spc="-10" dirty="0">
                <a:latin typeface="Carlito"/>
                <a:cs typeface="Carlito"/>
              </a:rPr>
              <a:t>processes graphically </a:t>
            </a:r>
            <a:r>
              <a:rPr sz="2400" spc="-5">
                <a:latin typeface="Carlito"/>
                <a:cs typeface="Carlito"/>
              </a:rPr>
              <a:t>using</a:t>
            </a:r>
            <a:r>
              <a:rPr sz="2400" spc="-50">
                <a:latin typeface="Carlito"/>
                <a:cs typeface="Carlito"/>
              </a:rPr>
              <a:t> </a:t>
            </a:r>
            <a:r>
              <a:rPr sz="2400" spc="-10">
                <a:latin typeface="Carlito"/>
                <a:cs typeface="Carlito"/>
              </a:rPr>
              <a:t>diagrams</a:t>
            </a:r>
            <a:r>
              <a:rPr lang="en-US" sz="2400" spc="-10" dirty="0">
                <a:latin typeface="Carlito"/>
                <a:cs typeface="Carlito"/>
              </a:rPr>
              <a:t> </a:t>
            </a:r>
            <a:r>
              <a:rPr sz="2400" spc="-5">
                <a:latin typeface="Carlito"/>
                <a:cs typeface="Carlito"/>
              </a:rPr>
              <a:t>similar </a:t>
            </a:r>
            <a:r>
              <a:rPr sz="2400" spc="-15" dirty="0">
                <a:latin typeface="Carlito"/>
                <a:cs typeface="Carlito"/>
              </a:rPr>
              <a:t>to</a:t>
            </a:r>
            <a:r>
              <a:rPr sz="2400" spc="-40" dirty="0">
                <a:latin typeface="Carlito"/>
                <a:cs typeface="Carlito"/>
              </a:rPr>
              <a:t> </a:t>
            </a:r>
            <a:r>
              <a:rPr sz="2400" spc="-5" dirty="0">
                <a:latin typeface="Carlito"/>
                <a:cs typeface="Carlito"/>
              </a:rPr>
              <a:t>flowcharts</a:t>
            </a:r>
            <a:endParaRPr sz="2400">
              <a:latin typeface="Carlito"/>
              <a:cs typeface="Carlito"/>
            </a:endParaRPr>
          </a:p>
        </p:txBody>
      </p:sp>
    </p:spTree>
    <p:extLst>
      <p:ext uri="{BB962C8B-B14F-4D97-AF65-F5344CB8AC3E}">
        <p14:creationId xmlns:p14="http://schemas.microsoft.com/office/powerpoint/2010/main" val="11276962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3" name="object 3"/>
          <p:cNvSpPr txBox="1"/>
          <p:nvPr/>
        </p:nvSpPr>
        <p:spPr>
          <a:xfrm>
            <a:off x="1676400" y="1447800"/>
            <a:ext cx="4876799" cy="3354508"/>
          </a:xfrm>
          <a:prstGeom prst="rect">
            <a:avLst/>
          </a:prstGeom>
        </p:spPr>
        <p:txBody>
          <a:bodyPr vert="horz" wrap="square" lIns="0" tIns="113030" rIns="0" bIns="0" rtlCol="0">
            <a:spAutoFit/>
          </a:bodyPr>
          <a:lstStyle/>
          <a:p>
            <a:pPr marL="241300" indent="-228600">
              <a:lnSpc>
                <a:spcPct val="100000"/>
              </a:lnSpc>
              <a:spcBef>
                <a:spcPts val="890"/>
              </a:spcBef>
              <a:buFont typeface="Arial"/>
              <a:buChar char="•"/>
              <a:tabLst>
                <a:tab pos="241300" algn="l"/>
              </a:tabLst>
            </a:pPr>
            <a:r>
              <a:rPr sz="2400" spc="-5" dirty="0">
                <a:latin typeface="Carlito"/>
                <a:cs typeface="Carlito"/>
              </a:rPr>
              <a:t>Class </a:t>
            </a:r>
            <a:r>
              <a:rPr sz="2400" spc="-10" dirty="0">
                <a:latin typeface="Carlito"/>
                <a:cs typeface="Carlito"/>
              </a:rPr>
              <a:t>Diagrams </a:t>
            </a:r>
            <a:r>
              <a:rPr sz="2400" dirty="0">
                <a:latin typeface="Carlito"/>
                <a:cs typeface="Carlito"/>
              </a:rPr>
              <a:t>and </a:t>
            </a:r>
            <a:r>
              <a:rPr sz="2400" spc="-5" dirty="0">
                <a:latin typeface="Carlito"/>
                <a:cs typeface="Carlito"/>
              </a:rPr>
              <a:t>Use </a:t>
            </a:r>
            <a:r>
              <a:rPr sz="2400" dirty="0">
                <a:latin typeface="Carlito"/>
                <a:cs typeface="Carlito"/>
              </a:rPr>
              <a:t>Case</a:t>
            </a:r>
            <a:r>
              <a:rPr sz="2400" spc="-120" dirty="0">
                <a:latin typeface="Carlito"/>
                <a:cs typeface="Carlito"/>
              </a:rPr>
              <a:t> </a:t>
            </a:r>
            <a:r>
              <a:rPr sz="2400" spc="-10" dirty="0">
                <a:latin typeface="Carlito"/>
                <a:cs typeface="Carlito"/>
              </a:rPr>
              <a:t>Diagrams</a:t>
            </a:r>
            <a:endParaRPr sz="2400">
              <a:latin typeface="Carlito"/>
              <a:cs typeface="Carlito"/>
            </a:endParaRPr>
          </a:p>
          <a:p>
            <a:pPr marL="698500" marR="2219960" indent="-228600">
              <a:lnSpc>
                <a:spcPct val="110000"/>
              </a:lnSpc>
              <a:spcBef>
                <a:spcPts val="505"/>
              </a:spcBef>
            </a:pPr>
            <a:r>
              <a:rPr sz="2400" dirty="0">
                <a:latin typeface="Arial"/>
                <a:cs typeface="Arial"/>
              </a:rPr>
              <a:t>– </a:t>
            </a:r>
            <a:r>
              <a:rPr sz="2400" spc="-5" dirty="0">
                <a:latin typeface="Carlito"/>
                <a:cs typeface="Carlito"/>
              </a:rPr>
              <a:t>Used </a:t>
            </a:r>
            <a:r>
              <a:rPr sz="2400" spc="-15" dirty="0">
                <a:latin typeface="Carlito"/>
                <a:cs typeface="Carlito"/>
              </a:rPr>
              <a:t>to</a:t>
            </a:r>
            <a:r>
              <a:rPr sz="2400" spc="-290" dirty="0">
                <a:latin typeface="Carlito"/>
                <a:cs typeface="Carlito"/>
              </a:rPr>
              <a:t> </a:t>
            </a:r>
            <a:r>
              <a:rPr sz="2400" spc="-15" dirty="0">
                <a:latin typeface="Carlito"/>
                <a:cs typeface="Carlito"/>
              </a:rPr>
              <a:t>illustrate  </a:t>
            </a:r>
            <a:r>
              <a:rPr sz="2400" spc="-20" dirty="0">
                <a:latin typeface="Carlito"/>
                <a:cs typeface="Carlito"/>
              </a:rPr>
              <a:t>systems </a:t>
            </a:r>
            <a:r>
              <a:rPr sz="2400" spc="-10" dirty="0">
                <a:latin typeface="Carlito"/>
                <a:cs typeface="Carlito"/>
              </a:rPr>
              <a:t>that </a:t>
            </a:r>
            <a:r>
              <a:rPr sz="2400" spc="-15" dirty="0">
                <a:latin typeface="Carlito"/>
                <a:cs typeface="Carlito"/>
              </a:rPr>
              <a:t>are  </a:t>
            </a:r>
            <a:r>
              <a:rPr sz="2400" spc="-5" dirty="0">
                <a:latin typeface="Carlito"/>
                <a:cs typeface="Carlito"/>
              </a:rPr>
              <a:t>based on </a:t>
            </a:r>
            <a:r>
              <a:rPr sz="2400" dirty="0">
                <a:latin typeface="Carlito"/>
                <a:cs typeface="Carlito"/>
              </a:rPr>
              <a:t>the  </a:t>
            </a:r>
            <a:r>
              <a:rPr sz="2400" spc="-10" dirty="0">
                <a:latin typeface="Carlito"/>
                <a:cs typeface="Carlito"/>
              </a:rPr>
              <a:t>concept </a:t>
            </a:r>
            <a:r>
              <a:rPr sz="2400" spc="-5" dirty="0">
                <a:latin typeface="Carlito"/>
                <a:cs typeface="Carlito"/>
              </a:rPr>
              <a:t>of  objects</a:t>
            </a:r>
            <a:endParaRPr sz="2400">
              <a:latin typeface="Carlito"/>
              <a:cs typeface="Carlito"/>
            </a:endParaRPr>
          </a:p>
        </p:txBody>
      </p:sp>
      <p:sp>
        <p:nvSpPr>
          <p:cNvPr id="4" name="object 4"/>
          <p:cNvSpPr/>
          <p:nvPr/>
        </p:nvSpPr>
        <p:spPr>
          <a:xfrm>
            <a:off x="4230623" y="2365971"/>
            <a:ext cx="4733925" cy="394335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2521839" y="5060797"/>
            <a:ext cx="1466850" cy="1152525"/>
          </a:xfrm>
          <a:prstGeom prst="rect">
            <a:avLst/>
          </a:prstGeom>
          <a:blipFill>
            <a:blip r:embed="rId3" cstate="print"/>
            <a:stretch>
              <a:fillRect/>
            </a:stretch>
          </a:blipFill>
        </p:spPr>
        <p:txBody>
          <a:bodyPr wrap="square" lIns="0" tIns="0" rIns="0" bIns="0" rtlCol="0"/>
          <a:lstStyle/>
          <a:p>
            <a:endParaRPr/>
          </a:p>
        </p:txBody>
      </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53</a:t>
            </a:fld>
            <a:endParaRPr spc="-165" dirty="0"/>
          </a:p>
        </p:txBody>
      </p:sp>
    </p:spTree>
    <p:extLst>
      <p:ext uri="{BB962C8B-B14F-4D97-AF65-F5344CB8AC3E}">
        <p14:creationId xmlns:p14="http://schemas.microsoft.com/office/powerpoint/2010/main" val="1045345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54</a:t>
            </a:fld>
            <a:endParaRPr spc="-165" dirty="0"/>
          </a:p>
        </p:txBody>
      </p:sp>
      <p:sp>
        <p:nvSpPr>
          <p:cNvPr id="3" name="object 3"/>
          <p:cNvSpPr txBox="1"/>
          <p:nvPr/>
        </p:nvSpPr>
        <p:spPr>
          <a:xfrm>
            <a:off x="993444" y="1450594"/>
            <a:ext cx="7576820" cy="3161030"/>
          </a:xfrm>
          <a:prstGeom prst="rect">
            <a:avLst/>
          </a:prstGeom>
        </p:spPr>
        <p:txBody>
          <a:bodyPr vert="horz" wrap="square" lIns="0" tIns="113030" rIns="0" bIns="0" rtlCol="0">
            <a:spAutoFit/>
          </a:bodyPr>
          <a:lstStyle/>
          <a:p>
            <a:pPr marL="299085" indent="-287020">
              <a:lnSpc>
                <a:spcPct val="100000"/>
              </a:lnSpc>
              <a:spcBef>
                <a:spcPts val="890"/>
              </a:spcBef>
              <a:buFont typeface="Arial"/>
              <a:buChar char="–"/>
              <a:tabLst>
                <a:tab pos="299720" algn="l"/>
              </a:tabLst>
            </a:pPr>
            <a:r>
              <a:rPr sz="2400" spc="-10" dirty="0">
                <a:latin typeface="Carlito"/>
                <a:cs typeface="Carlito"/>
              </a:rPr>
              <a:t>Documentation: Diagrams, </a:t>
            </a:r>
            <a:r>
              <a:rPr sz="2400" spc="-30" dirty="0">
                <a:latin typeface="Carlito"/>
                <a:cs typeface="Carlito"/>
              </a:rPr>
              <a:t>Tables, Trees, </a:t>
            </a:r>
            <a:r>
              <a:rPr sz="2400" dirty="0">
                <a:latin typeface="Carlito"/>
                <a:cs typeface="Carlito"/>
              </a:rPr>
              <a:t>and</a:t>
            </a:r>
            <a:r>
              <a:rPr sz="2400" spc="-20" dirty="0">
                <a:latin typeface="Carlito"/>
                <a:cs typeface="Carlito"/>
              </a:rPr>
              <a:t> </a:t>
            </a:r>
            <a:r>
              <a:rPr sz="2400" spc="-5" dirty="0">
                <a:latin typeface="Carlito"/>
                <a:cs typeface="Carlito"/>
              </a:rPr>
              <a:t>Models</a:t>
            </a:r>
            <a:endParaRPr sz="2400">
              <a:latin typeface="Carlito"/>
              <a:cs typeface="Carlito"/>
            </a:endParaRPr>
          </a:p>
          <a:p>
            <a:pPr marL="697865" marR="5080" lvl="1" indent="-228600">
              <a:lnSpc>
                <a:spcPct val="110100"/>
              </a:lnSpc>
              <a:spcBef>
                <a:spcPts val="500"/>
              </a:spcBef>
              <a:buFont typeface="Arial"/>
              <a:buChar char="•"/>
              <a:tabLst>
                <a:tab pos="698500" algn="l"/>
              </a:tabLst>
            </a:pPr>
            <a:r>
              <a:rPr sz="2400" spc="-10" dirty="0">
                <a:latin typeface="Carlito"/>
                <a:cs typeface="Carlito"/>
              </a:rPr>
              <a:t>Consists </a:t>
            </a:r>
            <a:r>
              <a:rPr sz="2400" spc="-5" dirty="0">
                <a:latin typeface="Carlito"/>
                <a:cs typeface="Carlito"/>
              </a:rPr>
              <a:t>of </a:t>
            </a:r>
            <a:r>
              <a:rPr sz="2400" spc="-20" dirty="0">
                <a:latin typeface="Carlito"/>
                <a:cs typeface="Carlito"/>
              </a:rPr>
              <a:t>any </a:t>
            </a:r>
            <a:r>
              <a:rPr sz="2400" spc="-5" dirty="0">
                <a:latin typeface="Carlito"/>
                <a:cs typeface="Carlito"/>
              </a:rPr>
              <a:t>instruments used </a:t>
            </a:r>
            <a:r>
              <a:rPr sz="2400" spc="-20" dirty="0">
                <a:latin typeface="Carlito"/>
                <a:cs typeface="Carlito"/>
              </a:rPr>
              <a:t>for </a:t>
            </a:r>
            <a:r>
              <a:rPr sz="2400" spc="-15" dirty="0">
                <a:latin typeface="Carlito"/>
                <a:cs typeface="Carlito"/>
              </a:rPr>
              <a:t>data </a:t>
            </a:r>
            <a:r>
              <a:rPr sz="2400" spc="-10" dirty="0">
                <a:latin typeface="Carlito"/>
                <a:cs typeface="Carlito"/>
              </a:rPr>
              <a:t>gathering </a:t>
            </a:r>
            <a:r>
              <a:rPr sz="2400" dirty="0">
                <a:latin typeface="Carlito"/>
                <a:cs typeface="Carlito"/>
              </a:rPr>
              <a:t>and  the </a:t>
            </a:r>
            <a:r>
              <a:rPr sz="2400" spc="-5" dirty="0">
                <a:latin typeface="Carlito"/>
                <a:cs typeface="Carlito"/>
              </a:rPr>
              <a:t>resulting </a:t>
            </a:r>
            <a:r>
              <a:rPr sz="2400" spc="-10" dirty="0">
                <a:latin typeface="Carlito"/>
                <a:cs typeface="Carlito"/>
              </a:rPr>
              <a:t>diagrams, trees, </a:t>
            </a:r>
            <a:r>
              <a:rPr sz="2400" dirty="0">
                <a:latin typeface="Carlito"/>
                <a:cs typeface="Carlito"/>
              </a:rPr>
              <a:t>models, and </a:t>
            </a:r>
            <a:r>
              <a:rPr sz="2400" spc="-5" dirty="0">
                <a:latin typeface="Carlito"/>
                <a:cs typeface="Carlito"/>
              </a:rPr>
              <a:t>other </a:t>
            </a:r>
            <a:r>
              <a:rPr sz="2400" spc="-10" dirty="0">
                <a:latin typeface="Carlito"/>
                <a:cs typeface="Carlito"/>
              </a:rPr>
              <a:t>tools  </a:t>
            </a:r>
            <a:r>
              <a:rPr sz="2400" spc="-5" dirty="0">
                <a:latin typeface="Carlito"/>
                <a:cs typeface="Carlito"/>
              </a:rPr>
              <a:t>used </a:t>
            </a:r>
            <a:r>
              <a:rPr sz="2400" spc="-15" dirty="0">
                <a:latin typeface="Carlito"/>
                <a:cs typeface="Carlito"/>
              </a:rPr>
              <a:t>to </a:t>
            </a:r>
            <a:r>
              <a:rPr sz="2400" spc="-10" dirty="0">
                <a:latin typeface="Carlito"/>
                <a:cs typeface="Carlito"/>
              </a:rPr>
              <a:t>summarize </a:t>
            </a:r>
            <a:r>
              <a:rPr sz="2400" dirty="0">
                <a:latin typeface="Carlito"/>
                <a:cs typeface="Carlito"/>
              </a:rPr>
              <a:t>and </a:t>
            </a:r>
            <a:r>
              <a:rPr sz="2400" spc="-10" dirty="0">
                <a:latin typeface="Carlito"/>
                <a:cs typeface="Carlito"/>
              </a:rPr>
              <a:t>analyze </a:t>
            </a:r>
            <a:r>
              <a:rPr sz="2400" dirty="0">
                <a:latin typeface="Carlito"/>
                <a:cs typeface="Carlito"/>
              </a:rPr>
              <a:t>the</a:t>
            </a:r>
            <a:r>
              <a:rPr sz="2400" spc="-30" dirty="0">
                <a:latin typeface="Carlito"/>
                <a:cs typeface="Carlito"/>
              </a:rPr>
              <a:t> </a:t>
            </a:r>
            <a:r>
              <a:rPr sz="2400" spc="-15" dirty="0">
                <a:latin typeface="Carlito"/>
                <a:cs typeface="Carlito"/>
              </a:rPr>
              <a:t>data</a:t>
            </a:r>
            <a:endParaRPr sz="2400">
              <a:latin typeface="Carlito"/>
              <a:cs typeface="Carlito"/>
            </a:endParaRPr>
          </a:p>
          <a:p>
            <a:pPr marL="1155065" lvl="2" indent="-229235">
              <a:lnSpc>
                <a:spcPct val="100000"/>
              </a:lnSpc>
              <a:spcBef>
                <a:spcPts val="780"/>
              </a:spcBef>
              <a:buFont typeface="Arial"/>
              <a:buChar char="–"/>
              <a:tabLst>
                <a:tab pos="1155700" algn="l"/>
              </a:tabLst>
            </a:pPr>
            <a:r>
              <a:rPr sz="2400" spc="-5" dirty="0">
                <a:latin typeface="Carlito"/>
                <a:cs typeface="Carlito"/>
              </a:rPr>
              <a:t>Questionnaires</a:t>
            </a:r>
            <a:endParaRPr sz="2400">
              <a:latin typeface="Carlito"/>
              <a:cs typeface="Carlito"/>
            </a:endParaRPr>
          </a:p>
          <a:p>
            <a:pPr marL="1155065" lvl="2" indent="-229235">
              <a:lnSpc>
                <a:spcPct val="100000"/>
              </a:lnSpc>
              <a:spcBef>
                <a:spcPts val="795"/>
              </a:spcBef>
              <a:buFont typeface="Arial"/>
              <a:buChar char="–"/>
              <a:tabLst>
                <a:tab pos="1155700" algn="l"/>
              </a:tabLst>
            </a:pPr>
            <a:r>
              <a:rPr sz="2400" spc="-5" dirty="0">
                <a:latin typeface="Carlito"/>
                <a:cs typeface="Carlito"/>
              </a:rPr>
              <a:t>Interview</a:t>
            </a:r>
            <a:r>
              <a:rPr sz="2400" spc="-35" dirty="0">
                <a:latin typeface="Carlito"/>
                <a:cs typeface="Carlito"/>
              </a:rPr>
              <a:t> </a:t>
            </a:r>
            <a:r>
              <a:rPr sz="2400" spc="-5" dirty="0">
                <a:latin typeface="Carlito"/>
                <a:cs typeface="Carlito"/>
              </a:rPr>
              <a:t>questions</a:t>
            </a:r>
            <a:endParaRPr sz="2400">
              <a:latin typeface="Carlito"/>
              <a:cs typeface="Carlito"/>
            </a:endParaRPr>
          </a:p>
          <a:p>
            <a:pPr marL="1155065" lvl="2" indent="-229235">
              <a:lnSpc>
                <a:spcPct val="100000"/>
              </a:lnSpc>
              <a:spcBef>
                <a:spcPts val="795"/>
              </a:spcBef>
              <a:buFont typeface="Arial"/>
              <a:buChar char="–"/>
              <a:tabLst>
                <a:tab pos="1155700" algn="l"/>
              </a:tabLst>
            </a:pPr>
            <a:r>
              <a:rPr sz="2400" spc="-10" dirty="0">
                <a:latin typeface="Carlito"/>
                <a:cs typeface="Carlito"/>
              </a:rPr>
              <a:t>Diagrams, </a:t>
            </a:r>
            <a:r>
              <a:rPr sz="2400" dirty="0">
                <a:latin typeface="Carlito"/>
                <a:cs typeface="Carlito"/>
              </a:rPr>
              <a:t>models,</a:t>
            </a:r>
            <a:r>
              <a:rPr sz="2400" spc="-35" dirty="0">
                <a:latin typeface="Carlito"/>
                <a:cs typeface="Carlito"/>
              </a:rPr>
              <a:t> </a:t>
            </a:r>
            <a:r>
              <a:rPr sz="2400" spc="-10" dirty="0">
                <a:latin typeface="Carlito"/>
                <a:cs typeface="Carlito"/>
              </a:rPr>
              <a:t>etc.</a:t>
            </a:r>
            <a:endParaRPr sz="2400">
              <a:latin typeface="Carlito"/>
              <a:cs typeface="Carlito"/>
            </a:endParaRPr>
          </a:p>
        </p:txBody>
      </p:sp>
    </p:spTree>
    <p:extLst>
      <p:ext uri="{BB962C8B-B14F-4D97-AF65-F5344CB8AC3E}">
        <p14:creationId xmlns:p14="http://schemas.microsoft.com/office/powerpoint/2010/main" val="7164985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55</a:t>
            </a:fld>
            <a:endParaRPr spc="-165" dirty="0"/>
          </a:p>
        </p:txBody>
      </p:sp>
      <p:sp>
        <p:nvSpPr>
          <p:cNvPr id="3" name="object 3"/>
          <p:cNvSpPr txBox="1"/>
          <p:nvPr/>
        </p:nvSpPr>
        <p:spPr>
          <a:xfrm>
            <a:off x="535940" y="1461262"/>
            <a:ext cx="8009255" cy="426974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20" dirty="0">
                <a:latin typeface="Carlito"/>
                <a:cs typeface="Carlito"/>
              </a:rPr>
              <a:t>System</a:t>
            </a:r>
            <a:r>
              <a:rPr sz="2400" spc="-50" dirty="0">
                <a:latin typeface="Carlito"/>
                <a:cs typeface="Carlito"/>
              </a:rPr>
              <a:t> </a:t>
            </a:r>
            <a:r>
              <a:rPr sz="2400" spc="-5" dirty="0">
                <a:latin typeface="Carlito"/>
                <a:cs typeface="Carlito"/>
              </a:rPr>
              <a:t>Design</a:t>
            </a:r>
            <a:endParaRPr sz="2400">
              <a:latin typeface="Carlito"/>
              <a:cs typeface="Carlito"/>
            </a:endParaRPr>
          </a:p>
          <a:p>
            <a:pPr marL="756285" marR="5080" lvl="1" indent="-287020">
              <a:lnSpc>
                <a:spcPct val="100000"/>
              </a:lnSpc>
              <a:spcBef>
                <a:spcPts val="575"/>
              </a:spcBef>
              <a:buFont typeface="Arial"/>
              <a:buChar char="–"/>
              <a:tabLst>
                <a:tab pos="756920" algn="l"/>
              </a:tabLst>
            </a:pPr>
            <a:r>
              <a:rPr sz="2400" spc="-5" dirty="0">
                <a:latin typeface="Carlito"/>
                <a:cs typeface="Carlito"/>
              </a:rPr>
              <a:t>Specifies </a:t>
            </a:r>
            <a:r>
              <a:rPr sz="2400" spc="-10" dirty="0">
                <a:latin typeface="Carlito"/>
                <a:cs typeface="Carlito"/>
              </a:rPr>
              <a:t>what </a:t>
            </a:r>
            <a:r>
              <a:rPr sz="2400" dirty="0">
                <a:latin typeface="Carlito"/>
                <a:cs typeface="Carlito"/>
              </a:rPr>
              <a:t>the </a:t>
            </a:r>
            <a:r>
              <a:rPr sz="2400" spc="-5" dirty="0">
                <a:latin typeface="Carlito"/>
                <a:cs typeface="Carlito"/>
              </a:rPr>
              <a:t>new </a:t>
            </a:r>
            <a:r>
              <a:rPr sz="2400" spc="-25" dirty="0">
                <a:latin typeface="Carlito"/>
                <a:cs typeface="Carlito"/>
              </a:rPr>
              <a:t>system </a:t>
            </a:r>
            <a:r>
              <a:rPr sz="2400" dirty="0">
                <a:latin typeface="Carlito"/>
                <a:cs typeface="Carlito"/>
              </a:rPr>
              <a:t>will </a:t>
            </a:r>
            <a:r>
              <a:rPr sz="2400" spc="-5" dirty="0">
                <a:latin typeface="Carlito"/>
                <a:cs typeface="Carlito"/>
              </a:rPr>
              <a:t>look </a:t>
            </a:r>
            <a:r>
              <a:rPr sz="2400" spc="-20" dirty="0">
                <a:latin typeface="Carlito"/>
                <a:cs typeface="Carlito"/>
              </a:rPr>
              <a:t>like </a:t>
            </a:r>
            <a:r>
              <a:rPr sz="2400" dirty="0">
                <a:latin typeface="Carlito"/>
                <a:cs typeface="Carlito"/>
              </a:rPr>
              <a:t>and </a:t>
            </a:r>
            <a:r>
              <a:rPr sz="2400" spc="-10" dirty="0">
                <a:latin typeface="Carlito"/>
                <a:cs typeface="Carlito"/>
              </a:rPr>
              <a:t>how </a:t>
            </a:r>
            <a:r>
              <a:rPr sz="2400" dirty="0">
                <a:latin typeface="Carlito"/>
                <a:cs typeface="Carlito"/>
              </a:rPr>
              <a:t>it will  </a:t>
            </a:r>
            <a:r>
              <a:rPr sz="2400" spc="-10" dirty="0">
                <a:latin typeface="Carlito"/>
                <a:cs typeface="Carlito"/>
              </a:rPr>
              <a:t>work</a:t>
            </a:r>
            <a:endParaRPr sz="2400">
              <a:latin typeface="Carlito"/>
              <a:cs typeface="Carlito"/>
            </a:endParaRPr>
          </a:p>
          <a:p>
            <a:pPr marL="756285" marR="637540" lvl="1" indent="-287020">
              <a:lnSpc>
                <a:spcPct val="100000"/>
              </a:lnSpc>
              <a:spcBef>
                <a:spcPts val="580"/>
              </a:spcBef>
              <a:buFont typeface="Arial"/>
              <a:buChar char="–"/>
              <a:tabLst>
                <a:tab pos="756920" algn="l"/>
              </a:tabLst>
            </a:pPr>
            <a:r>
              <a:rPr sz="2400" spc="-5" dirty="0">
                <a:latin typeface="Carlito"/>
                <a:cs typeface="Carlito"/>
              </a:rPr>
              <a:t>Developing </a:t>
            </a:r>
            <a:r>
              <a:rPr sz="2400" dirty="0">
                <a:latin typeface="Carlito"/>
                <a:cs typeface="Carlito"/>
              </a:rPr>
              <a:t>the </a:t>
            </a:r>
            <a:r>
              <a:rPr sz="2400" spc="-5" dirty="0">
                <a:latin typeface="Carlito"/>
                <a:cs typeface="Carlito"/>
              </a:rPr>
              <a:t>Design </a:t>
            </a:r>
            <a:r>
              <a:rPr sz="2400" dirty="0">
                <a:latin typeface="Carlito"/>
                <a:cs typeface="Carlito"/>
              </a:rPr>
              <a:t>and </a:t>
            </a:r>
            <a:r>
              <a:rPr sz="2400" spc="-5" dirty="0">
                <a:latin typeface="Carlito"/>
                <a:cs typeface="Carlito"/>
              </a:rPr>
              <a:t>Specifications </a:t>
            </a:r>
            <a:r>
              <a:rPr sz="2400" spc="-20" dirty="0">
                <a:latin typeface="Carlito"/>
                <a:cs typeface="Carlito"/>
              </a:rPr>
              <a:t>for </a:t>
            </a:r>
            <a:r>
              <a:rPr sz="2400" dirty="0">
                <a:latin typeface="Carlito"/>
                <a:cs typeface="Carlito"/>
              </a:rPr>
              <a:t>the</a:t>
            </a:r>
            <a:r>
              <a:rPr sz="2400" spc="-95" dirty="0">
                <a:latin typeface="Carlito"/>
                <a:cs typeface="Carlito"/>
              </a:rPr>
              <a:t> </a:t>
            </a:r>
            <a:r>
              <a:rPr sz="2400" spc="-5" dirty="0">
                <a:latin typeface="Carlito"/>
                <a:cs typeface="Carlito"/>
              </a:rPr>
              <a:t>New  </a:t>
            </a:r>
            <a:r>
              <a:rPr sz="2400" spc="-20" dirty="0">
                <a:latin typeface="Carlito"/>
                <a:cs typeface="Carlito"/>
              </a:rPr>
              <a:t>System</a:t>
            </a:r>
            <a:endParaRPr sz="2400">
              <a:latin typeface="Carlito"/>
              <a:cs typeface="Carlito"/>
            </a:endParaRPr>
          </a:p>
          <a:p>
            <a:pPr marL="1155700" lvl="2" indent="-229235">
              <a:lnSpc>
                <a:spcPct val="100000"/>
              </a:lnSpc>
              <a:spcBef>
                <a:spcPts val="575"/>
              </a:spcBef>
              <a:buFont typeface="Arial"/>
              <a:buChar char="•"/>
              <a:tabLst>
                <a:tab pos="1156335" algn="l"/>
              </a:tabLst>
            </a:pPr>
            <a:r>
              <a:rPr sz="2400" spc="-5" dirty="0">
                <a:latin typeface="Carlito"/>
                <a:cs typeface="Carlito"/>
              </a:rPr>
              <a:t>Model of </a:t>
            </a:r>
            <a:r>
              <a:rPr sz="2400" spc="-10" dirty="0">
                <a:latin typeface="Carlito"/>
                <a:cs typeface="Carlito"/>
              </a:rPr>
              <a:t>new </a:t>
            </a:r>
            <a:r>
              <a:rPr sz="2400" spc="-25" dirty="0">
                <a:latin typeface="Carlito"/>
                <a:cs typeface="Carlito"/>
              </a:rPr>
              <a:t>system </a:t>
            </a:r>
            <a:r>
              <a:rPr sz="2400" dirty="0">
                <a:latin typeface="Carlito"/>
                <a:cs typeface="Carlito"/>
              </a:rPr>
              <a:t>is </a:t>
            </a:r>
            <a:r>
              <a:rPr sz="2400" spc="-5" dirty="0">
                <a:latin typeface="Carlito"/>
                <a:cs typeface="Carlito"/>
              </a:rPr>
              <a:t>developed</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10" dirty="0">
                <a:latin typeface="Carlito"/>
                <a:cs typeface="Carlito"/>
              </a:rPr>
              <a:t>Diagrams can</a:t>
            </a:r>
            <a:r>
              <a:rPr sz="2400" spc="-40" dirty="0">
                <a:latin typeface="Carlito"/>
                <a:cs typeface="Carlito"/>
              </a:rPr>
              <a:t> </a:t>
            </a:r>
            <a:r>
              <a:rPr sz="2400" dirty="0">
                <a:latin typeface="Carlito"/>
                <a:cs typeface="Carlito"/>
              </a:rPr>
              <a:t>include:</a:t>
            </a:r>
            <a:endParaRPr sz="2400">
              <a:latin typeface="Carlito"/>
              <a:cs typeface="Carlito"/>
            </a:endParaRPr>
          </a:p>
          <a:p>
            <a:pPr marL="1612900" lvl="3" indent="-229235">
              <a:lnSpc>
                <a:spcPct val="100000"/>
              </a:lnSpc>
              <a:spcBef>
                <a:spcPts val="575"/>
              </a:spcBef>
              <a:buFont typeface="Arial"/>
              <a:buChar char="–"/>
              <a:tabLst>
                <a:tab pos="1613535" algn="l"/>
              </a:tabLst>
            </a:pPr>
            <a:r>
              <a:rPr sz="2400" spc="-15" dirty="0">
                <a:latin typeface="Carlito"/>
                <a:cs typeface="Carlito"/>
              </a:rPr>
              <a:t>Data </a:t>
            </a:r>
            <a:r>
              <a:rPr sz="2400" spc="-5" dirty="0">
                <a:latin typeface="Carlito"/>
                <a:cs typeface="Carlito"/>
              </a:rPr>
              <a:t>dictionary: describes </a:t>
            </a:r>
            <a:r>
              <a:rPr sz="2400" dirty="0">
                <a:latin typeface="Carlito"/>
                <a:cs typeface="Carlito"/>
              </a:rPr>
              <a:t>all </a:t>
            </a:r>
            <a:r>
              <a:rPr sz="2400" spc="-15" dirty="0">
                <a:latin typeface="Carlito"/>
                <a:cs typeface="Carlito"/>
              </a:rPr>
              <a:t>data </a:t>
            </a:r>
            <a:r>
              <a:rPr sz="2400" dirty="0">
                <a:latin typeface="Carlito"/>
                <a:cs typeface="Carlito"/>
              </a:rPr>
              <a:t>in a</a:t>
            </a:r>
            <a:r>
              <a:rPr sz="2400" spc="-80" dirty="0">
                <a:latin typeface="Carlito"/>
                <a:cs typeface="Carlito"/>
              </a:rPr>
              <a:t> </a:t>
            </a:r>
            <a:r>
              <a:rPr sz="2400" spc="-25" dirty="0">
                <a:latin typeface="Carlito"/>
                <a:cs typeface="Carlito"/>
              </a:rPr>
              <a:t>system</a:t>
            </a:r>
            <a:endParaRPr sz="2400">
              <a:latin typeface="Carlito"/>
              <a:cs typeface="Carlito"/>
            </a:endParaRPr>
          </a:p>
          <a:p>
            <a:pPr marL="1612900" lvl="3" indent="-229235">
              <a:lnSpc>
                <a:spcPct val="100000"/>
              </a:lnSpc>
              <a:spcBef>
                <a:spcPts val="580"/>
              </a:spcBef>
              <a:buFont typeface="Arial"/>
              <a:buChar char="–"/>
              <a:tabLst>
                <a:tab pos="1613535" algn="l"/>
              </a:tabLst>
            </a:pPr>
            <a:r>
              <a:rPr sz="2400" spc="-15" dirty="0">
                <a:latin typeface="Carlito"/>
                <a:cs typeface="Carlito"/>
              </a:rPr>
              <a:t>Data </a:t>
            </a:r>
            <a:r>
              <a:rPr sz="2400" spc="-10" dirty="0">
                <a:latin typeface="Carlito"/>
                <a:cs typeface="Carlito"/>
              </a:rPr>
              <a:t>flow and/or </a:t>
            </a:r>
            <a:r>
              <a:rPr sz="2400" dirty="0">
                <a:latin typeface="Carlito"/>
                <a:cs typeface="Carlito"/>
              </a:rPr>
              <a:t>class </a:t>
            </a:r>
            <a:r>
              <a:rPr sz="2400" spc="-10" dirty="0">
                <a:latin typeface="Carlito"/>
                <a:cs typeface="Carlito"/>
              </a:rPr>
              <a:t>diagrams </a:t>
            </a:r>
            <a:r>
              <a:rPr sz="2400" spc="-5" dirty="0">
                <a:latin typeface="Carlito"/>
                <a:cs typeface="Carlito"/>
              </a:rPr>
              <a:t>of </a:t>
            </a:r>
            <a:r>
              <a:rPr sz="2400" dirty="0">
                <a:latin typeface="Carlito"/>
                <a:cs typeface="Carlito"/>
              </a:rPr>
              <a:t>the </a:t>
            </a:r>
            <a:r>
              <a:rPr sz="2400" spc="-10" dirty="0">
                <a:latin typeface="Carlito"/>
                <a:cs typeface="Carlito"/>
              </a:rPr>
              <a:t>new</a:t>
            </a:r>
            <a:r>
              <a:rPr sz="2400" spc="-60" dirty="0">
                <a:latin typeface="Carlito"/>
                <a:cs typeface="Carlito"/>
              </a:rPr>
              <a:t> </a:t>
            </a:r>
            <a:r>
              <a:rPr sz="2400" spc="-25" dirty="0">
                <a:latin typeface="Carlito"/>
                <a:cs typeface="Carlito"/>
              </a:rPr>
              <a:t>system</a:t>
            </a:r>
            <a:endParaRPr sz="2400">
              <a:latin typeface="Carlito"/>
              <a:cs typeface="Carlito"/>
            </a:endParaRPr>
          </a:p>
          <a:p>
            <a:pPr marL="1612900" lvl="3" indent="-229235">
              <a:lnSpc>
                <a:spcPct val="100000"/>
              </a:lnSpc>
              <a:spcBef>
                <a:spcPts val="575"/>
              </a:spcBef>
              <a:buFont typeface="Arial"/>
              <a:buChar char="–"/>
              <a:tabLst>
                <a:tab pos="1613535" algn="l"/>
              </a:tabLst>
            </a:pPr>
            <a:r>
              <a:rPr sz="2400" spc="-5" dirty="0">
                <a:latin typeface="Carlito"/>
                <a:cs typeface="Carlito"/>
              </a:rPr>
              <a:t>User </a:t>
            </a:r>
            <a:r>
              <a:rPr sz="2400" spc="-10" dirty="0">
                <a:latin typeface="Carlito"/>
                <a:cs typeface="Carlito"/>
              </a:rPr>
              <a:t>interface </a:t>
            </a:r>
            <a:r>
              <a:rPr sz="2400" spc="-5" dirty="0">
                <a:latin typeface="Carlito"/>
                <a:cs typeface="Carlito"/>
              </a:rPr>
              <a:t>(UI)</a:t>
            </a:r>
            <a:r>
              <a:rPr sz="2400" spc="-35" dirty="0">
                <a:latin typeface="Carlito"/>
                <a:cs typeface="Carlito"/>
              </a:rPr>
              <a:t> </a:t>
            </a:r>
            <a:r>
              <a:rPr sz="2400" spc="-5" dirty="0">
                <a:latin typeface="Carlito"/>
                <a:cs typeface="Carlito"/>
              </a:rPr>
              <a:t>designs</a:t>
            </a:r>
            <a:endParaRPr sz="2400">
              <a:latin typeface="Carlito"/>
              <a:cs typeface="Carlito"/>
            </a:endParaRPr>
          </a:p>
        </p:txBody>
      </p:sp>
    </p:spTree>
    <p:extLst>
      <p:ext uri="{BB962C8B-B14F-4D97-AF65-F5344CB8AC3E}">
        <p14:creationId xmlns:p14="http://schemas.microsoft.com/office/powerpoint/2010/main" val="37292559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3" name="object 3"/>
          <p:cNvSpPr/>
          <p:nvPr/>
        </p:nvSpPr>
        <p:spPr>
          <a:xfrm>
            <a:off x="467537" y="1772856"/>
            <a:ext cx="6372152" cy="4075054"/>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7029195" y="1916823"/>
            <a:ext cx="1562751" cy="1080122"/>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56</a:t>
            </a:fld>
            <a:endParaRPr spc="-165" dirty="0"/>
          </a:p>
        </p:txBody>
      </p:sp>
    </p:spTree>
    <p:extLst>
      <p:ext uri="{BB962C8B-B14F-4D97-AF65-F5344CB8AC3E}">
        <p14:creationId xmlns:p14="http://schemas.microsoft.com/office/powerpoint/2010/main" val="32270276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57</a:t>
            </a:fld>
            <a:endParaRPr spc="-165" dirty="0"/>
          </a:p>
        </p:txBody>
      </p:sp>
      <p:sp>
        <p:nvSpPr>
          <p:cNvPr id="3" name="object 3"/>
          <p:cNvSpPr txBox="1"/>
          <p:nvPr/>
        </p:nvSpPr>
        <p:spPr>
          <a:xfrm>
            <a:off x="685800" y="1461262"/>
            <a:ext cx="8229600" cy="3795270"/>
          </a:xfrm>
          <a:prstGeom prst="rect">
            <a:avLst/>
          </a:prstGeom>
        </p:spPr>
        <p:txBody>
          <a:bodyPr vert="horz" wrap="square" lIns="0" tIns="85725" rIns="0" bIns="0" rtlCol="0">
            <a:spAutoFit/>
          </a:bodyPr>
          <a:lstStyle/>
          <a:p>
            <a:pPr marL="299085" indent="-287020">
              <a:lnSpc>
                <a:spcPct val="100000"/>
              </a:lnSpc>
              <a:spcBef>
                <a:spcPts val="675"/>
              </a:spcBef>
              <a:buFont typeface="Arial"/>
              <a:buChar char="–"/>
              <a:tabLst>
                <a:tab pos="299720" algn="l"/>
              </a:tabLst>
            </a:pPr>
            <a:r>
              <a:rPr sz="2400" spc="-10" dirty="0">
                <a:latin typeface="Carlito"/>
                <a:cs typeface="Carlito"/>
              </a:rPr>
              <a:t>Cost-Benefit</a:t>
            </a:r>
            <a:r>
              <a:rPr sz="2400" spc="-35" dirty="0">
                <a:latin typeface="Carlito"/>
                <a:cs typeface="Carlito"/>
              </a:rPr>
              <a:t> </a:t>
            </a:r>
            <a:r>
              <a:rPr sz="2400" spc="-5" dirty="0">
                <a:latin typeface="Carlito"/>
                <a:cs typeface="Carlito"/>
              </a:rPr>
              <a:t>Analysis</a:t>
            </a:r>
            <a:endParaRPr sz="2400">
              <a:latin typeface="Carlito"/>
              <a:cs typeface="Carlito"/>
            </a:endParaRPr>
          </a:p>
          <a:p>
            <a:pPr marL="697865" marR="257810" lvl="1" indent="-228600">
              <a:lnSpc>
                <a:spcPct val="100000"/>
              </a:lnSpc>
              <a:spcBef>
                <a:spcPts val="575"/>
              </a:spcBef>
              <a:buFont typeface="Arial"/>
              <a:buChar char="•"/>
              <a:tabLst>
                <a:tab pos="698500" algn="l"/>
              </a:tabLst>
            </a:pPr>
            <a:r>
              <a:rPr sz="2400" spc="-10" dirty="0">
                <a:latin typeface="Carlito"/>
                <a:cs typeface="Carlito"/>
              </a:rPr>
              <a:t>Considers </a:t>
            </a:r>
            <a:r>
              <a:rPr sz="2400" spc="-5" dirty="0">
                <a:latin typeface="Carlito"/>
                <a:cs typeface="Carlito"/>
              </a:rPr>
              <a:t>both tangible </a:t>
            </a:r>
            <a:r>
              <a:rPr sz="2400" dirty="0">
                <a:latin typeface="Carlito"/>
                <a:cs typeface="Carlito"/>
              </a:rPr>
              <a:t>and </a:t>
            </a:r>
            <a:r>
              <a:rPr sz="2400" spc="-5" dirty="0">
                <a:latin typeface="Carlito"/>
                <a:cs typeface="Carlito"/>
              </a:rPr>
              <a:t>intangible </a:t>
            </a:r>
            <a:r>
              <a:rPr sz="2400" spc="-10" dirty="0">
                <a:latin typeface="Carlito"/>
                <a:cs typeface="Carlito"/>
              </a:rPr>
              <a:t>benefits </a:t>
            </a:r>
            <a:r>
              <a:rPr sz="2400" spc="-15" dirty="0">
                <a:latin typeface="Carlito"/>
                <a:cs typeface="Carlito"/>
              </a:rPr>
              <a:t>to  </a:t>
            </a:r>
            <a:r>
              <a:rPr sz="2400" spc="-5" dirty="0">
                <a:latin typeface="Carlito"/>
                <a:cs typeface="Carlito"/>
              </a:rPr>
              <a:t>determine </a:t>
            </a:r>
            <a:r>
              <a:rPr sz="2400" dirty="0">
                <a:latin typeface="Carlito"/>
                <a:cs typeface="Carlito"/>
              </a:rPr>
              <a:t>if the </a:t>
            </a:r>
            <a:r>
              <a:rPr sz="2400" spc="-10" dirty="0">
                <a:latin typeface="Carlito"/>
                <a:cs typeface="Carlito"/>
              </a:rPr>
              <a:t>benefits </a:t>
            </a:r>
            <a:r>
              <a:rPr sz="2400" spc="-5" dirty="0">
                <a:latin typeface="Carlito"/>
                <a:cs typeface="Carlito"/>
              </a:rPr>
              <a:t>of the </a:t>
            </a:r>
            <a:r>
              <a:rPr sz="2400" spc="-10" dirty="0">
                <a:latin typeface="Carlito"/>
                <a:cs typeface="Carlito"/>
              </a:rPr>
              <a:t>new </a:t>
            </a:r>
            <a:r>
              <a:rPr sz="2400" spc="-25" dirty="0">
                <a:latin typeface="Carlito"/>
                <a:cs typeface="Carlito"/>
              </a:rPr>
              <a:t>system </a:t>
            </a:r>
            <a:r>
              <a:rPr sz="2400" spc="-5" dirty="0">
                <a:latin typeface="Carlito"/>
                <a:cs typeface="Carlito"/>
              </a:rPr>
              <a:t>outweigh  </a:t>
            </a:r>
            <a:r>
              <a:rPr sz="2400" dirty="0">
                <a:latin typeface="Carlito"/>
                <a:cs typeface="Carlito"/>
              </a:rPr>
              <a:t>the</a:t>
            </a:r>
            <a:r>
              <a:rPr sz="2400" spc="-15" dirty="0">
                <a:latin typeface="Carlito"/>
                <a:cs typeface="Carlito"/>
              </a:rPr>
              <a:t> cost</a:t>
            </a:r>
            <a:endParaRPr sz="2400">
              <a:latin typeface="Carlito"/>
              <a:cs typeface="Carlito"/>
            </a:endParaRPr>
          </a:p>
          <a:p>
            <a:pPr marL="299085" marR="1635760" indent="-299720" algn="r">
              <a:lnSpc>
                <a:spcPct val="100000"/>
              </a:lnSpc>
              <a:spcBef>
                <a:spcPts val="580"/>
              </a:spcBef>
              <a:buFont typeface="Arial"/>
              <a:buChar char="–"/>
              <a:tabLst>
                <a:tab pos="299720" algn="l"/>
              </a:tabLst>
            </a:pPr>
            <a:r>
              <a:rPr sz="2400" spc="-10" dirty="0">
                <a:latin typeface="Carlito"/>
                <a:cs typeface="Carlito"/>
              </a:rPr>
              <a:t>Documentation: </a:t>
            </a:r>
            <a:r>
              <a:rPr sz="2400" spc="-20">
                <a:latin typeface="Carlito"/>
                <a:cs typeface="Carlito"/>
              </a:rPr>
              <a:t>System</a:t>
            </a:r>
            <a:r>
              <a:rPr sz="2400" spc="-95">
                <a:latin typeface="Carlito"/>
                <a:cs typeface="Carlito"/>
              </a:rPr>
              <a:t> </a:t>
            </a:r>
            <a:r>
              <a:rPr sz="2400" spc="-5">
                <a:latin typeface="Carlito"/>
                <a:cs typeface="Carlito"/>
              </a:rPr>
              <a:t>Design/Specifications</a:t>
            </a:r>
            <a:endParaRPr lang="en-US" sz="2400" spc="-5" dirty="0">
              <a:latin typeface="Carlito"/>
              <a:cs typeface="Carlito"/>
            </a:endParaRPr>
          </a:p>
          <a:p>
            <a:pPr marL="299085" marR="1635760" indent="-299720" algn="r">
              <a:lnSpc>
                <a:spcPct val="100000"/>
              </a:lnSpc>
              <a:spcBef>
                <a:spcPts val="580"/>
              </a:spcBef>
              <a:buFont typeface="Arial" pitchFamily="34" charset="0"/>
              <a:buChar char="•"/>
              <a:tabLst>
                <a:tab pos="299720" algn="l"/>
              </a:tabLst>
            </a:pPr>
            <a:r>
              <a:rPr sz="2400" spc="-5">
                <a:latin typeface="Carlito"/>
                <a:cs typeface="Carlito"/>
              </a:rPr>
              <a:t>Developed </a:t>
            </a:r>
            <a:r>
              <a:rPr sz="2400" spc="-5" dirty="0">
                <a:latin typeface="Carlito"/>
                <a:cs typeface="Carlito"/>
              </a:rPr>
              <a:t>during the </a:t>
            </a:r>
            <a:r>
              <a:rPr sz="2400" spc="-25" dirty="0">
                <a:latin typeface="Carlito"/>
                <a:cs typeface="Carlito"/>
              </a:rPr>
              <a:t>system </a:t>
            </a:r>
            <a:r>
              <a:rPr sz="2400" spc="-5">
                <a:latin typeface="Carlito"/>
                <a:cs typeface="Carlito"/>
              </a:rPr>
              <a:t>design</a:t>
            </a:r>
            <a:r>
              <a:rPr sz="2400" spc="-30">
                <a:latin typeface="Carlito"/>
                <a:cs typeface="Carlito"/>
              </a:rPr>
              <a:t> </a:t>
            </a:r>
            <a:r>
              <a:rPr sz="2400" spc="-5">
                <a:latin typeface="Carlito"/>
                <a:cs typeface="Carlito"/>
              </a:rPr>
              <a:t>phase</a:t>
            </a:r>
            <a:endParaRPr lang="en-US" sz="2400" spc="-5" dirty="0">
              <a:latin typeface="Carlito"/>
              <a:cs typeface="Carlito"/>
            </a:endParaRPr>
          </a:p>
          <a:p>
            <a:pPr marL="299085" marR="1635760" indent="-299720" algn="r">
              <a:lnSpc>
                <a:spcPct val="100000"/>
              </a:lnSpc>
              <a:spcBef>
                <a:spcPts val="580"/>
              </a:spcBef>
              <a:buFont typeface="Arial" pitchFamily="34" charset="0"/>
              <a:buChar char="•"/>
              <a:tabLst>
                <a:tab pos="299720" algn="l"/>
              </a:tabLst>
            </a:pPr>
            <a:r>
              <a:rPr sz="2400" spc="-10">
                <a:latin typeface="Carlito"/>
                <a:cs typeface="Carlito"/>
              </a:rPr>
              <a:t>Consists </a:t>
            </a:r>
            <a:r>
              <a:rPr sz="2400" spc="-5" dirty="0">
                <a:latin typeface="Carlito"/>
                <a:cs typeface="Carlito"/>
              </a:rPr>
              <a:t>of </a:t>
            </a:r>
            <a:r>
              <a:rPr sz="2400" dirty="0">
                <a:latin typeface="Carlito"/>
                <a:cs typeface="Carlito"/>
              </a:rPr>
              <a:t>all </a:t>
            </a:r>
            <a:r>
              <a:rPr sz="2400" spc="-10" dirty="0">
                <a:latin typeface="Carlito"/>
                <a:cs typeface="Carlito"/>
              </a:rPr>
              <a:t>documentation </a:t>
            </a:r>
            <a:r>
              <a:rPr sz="2400">
                <a:latin typeface="Carlito"/>
                <a:cs typeface="Carlito"/>
              </a:rPr>
              <a:t>necessary </a:t>
            </a:r>
            <a:r>
              <a:rPr sz="2400" spc="-15">
                <a:latin typeface="Carlito"/>
                <a:cs typeface="Carlito"/>
              </a:rPr>
              <a:t>to</a:t>
            </a:r>
            <a:r>
              <a:rPr lang="en-US" sz="2400" spc="-15" dirty="0">
                <a:latin typeface="Carlito"/>
                <a:cs typeface="Carlito"/>
              </a:rPr>
              <a:t> </a:t>
            </a:r>
            <a:r>
              <a:rPr lang="en-US" sz="2400" spc="-15" dirty="0" err="1">
                <a:latin typeface="Carlito"/>
                <a:cs typeface="Carlito"/>
              </a:rPr>
              <a:t>i</a:t>
            </a:r>
            <a:r>
              <a:rPr sz="2400" spc="-15">
                <a:latin typeface="Carlito"/>
                <a:cs typeface="Carlito"/>
              </a:rPr>
              <a:t>llustrate </a:t>
            </a:r>
            <a:r>
              <a:rPr sz="2400" dirty="0">
                <a:latin typeface="Carlito"/>
                <a:cs typeface="Carlito"/>
              </a:rPr>
              <a:t>the  </a:t>
            </a:r>
            <a:r>
              <a:rPr sz="2400" spc="-5">
                <a:latin typeface="Carlito"/>
                <a:cs typeface="Carlito"/>
              </a:rPr>
              <a:t>new</a:t>
            </a:r>
            <a:r>
              <a:rPr sz="2400" spc="-20">
                <a:latin typeface="Carlito"/>
                <a:cs typeface="Carlito"/>
              </a:rPr>
              <a:t> </a:t>
            </a:r>
            <a:r>
              <a:rPr sz="2400" spc="-25">
                <a:latin typeface="Carlito"/>
                <a:cs typeface="Carlito"/>
              </a:rPr>
              <a:t>system</a:t>
            </a:r>
            <a:endParaRPr lang="en-US" sz="2400" spc="-25" dirty="0">
              <a:latin typeface="Carlito"/>
              <a:cs typeface="Carlito"/>
            </a:endParaRPr>
          </a:p>
          <a:p>
            <a:pPr marL="299085" marR="1635760" indent="-299720" algn="r">
              <a:lnSpc>
                <a:spcPct val="100000"/>
              </a:lnSpc>
              <a:spcBef>
                <a:spcPts val="580"/>
              </a:spcBef>
              <a:tabLst>
                <a:tab pos="299720" algn="l"/>
              </a:tabLst>
            </a:pPr>
            <a:endParaRPr sz="2400">
              <a:latin typeface="Carlito"/>
              <a:cs typeface="Carlito"/>
            </a:endParaRPr>
          </a:p>
        </p:txBody>
      </p:sp>
    </p:spTree>
    <p:extLst>
      <p:ext uri="{BB962C8B-B14F-4D97-AF65-F5344CB8AC3E}">
        <p14:creationId xmlns:p14="http://schemas.microsoft.com/office/powerpoint/2010/main" val="20533280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58</a:t>
            </a:fld>
            <a:endParaRPr spc="-165" dirty="0"/>
          </a:p>
        </p:txBody>
      </p:sp>
      <p:sp>
        <p:nvSpPr>
          <p:cNvPr id="3" name="object 3"/>
          <p:cNvSpPr txBox="1"/>
          <p:nvPr/>
        </p:nvSpPr>
        <p:spPr>
          <a:xfrm>
            <a:off x="535940" y="1461262"/>
            <a:ext cx="8008620" cy="4087657"/>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20" dirty="0">
                <a:latin typeface="Carlito"/>
                <a:cs typeface="Carlito"/>
              </a:rPr>
              <a:t>System</a:t>
            </a:r>
            <a:r>
              <a:rPr sz="2400" spc="-50" dirty="0">
                <a:latin typeface="Carlito"/>
                <a:cs typeface="Carlito"/>
              </a:rPr>
              <a:t> </a:t>
            </a:r>
            <a:r>
              <a:rPr sz="2400" spc="-5" dirty="0">
                <a:latin typeface="Carlito"/>
                <a:cs typeface="Carlito"/>
              </a:rPr>
              <a:t>Acquisition</a:t>
            </a:r>
            <a:endParaRPr sz="2400">
              <a:latin typeface="Carlito"/>
              <a:cs typeface="Carlito"/>
            </a:endParaRPr>
          </a:p>
          <a:p>
            <a:pPr marL="756285" marR="5080" lvl="1" indent="-287020">
              <a:lnSpc>
                <a:spcPct val="100000"/>
              </a:lnSpc>
              <a:spcBef>
                <a:spcPts val="575"/>
              </a:spcBef>
              <a:buFont typeface="Arial"/>
              <a:buChar char="–"/>
              <a:tabLst>
                <a:tab pos="756920" algn="l"/>
              </a:tabLst>
            </a:pPr>
            <a:r>
              <a:rPr sz="2400" spc="-20" dirty="0">
                <a:latin typeface="Carlito"/>
                <a:cs typeface="Carlito"/>
              </a:rPr>
              <a:t>System </a:t>
            </a:r>
            <a:r>
              <a:rPr sz="2400" spc="-10" dirty="0">
                <a:latin typeface="Carlito"/>
                <a:cs typeface="Carlito"/>
              </a:rPr>
              <a:t>analysts </a:t>
            </a:r>
            <a:r>
              <a:rPr sz="2400" spc="-5" dirty="0">
                <a:latin typeface="Carlito"/>
                <a:cs typeface="Carlito"/>
              </a:rPr>
              <a:t>determines </a:t>
            </a:r>
            <a:r>
              <a:rPr sz="2400" spc="-10" dirty="0">
                <a:latin typeface="Carlito"/>
                <a:cs typeface="Carlito"/>
              </a:rPr>
              <a:t>where </a:t>
            </a:r>
            <a:r>
              <a:rPr sz="2400" spc="-15" dirty="0">
                <a:latin typeface="Carlito"/>
                <a:cs typeface="Carlito"/>
              </a:rPr>
              <a:t>to </a:t>
            </a:r>
            <a:r>
              <a:rPr sz="2400" spc="-10" dirty="0">
                <a:latin typeface="Carlito"/>
                <a:cs typeface="Carlito"/>
              </a:rPr>
              <a:t>obtain </a:t>
            </a:r>
            <a:r>
              <a:rPr sz="2400" dirty="0">
                <a:latin typeface="Carlito"/>
                <a:cs typeface="Carlito"/>
              </a:rPr>
              <a:t>the </a:t>
            </a:r>
            <a:r>
              <a:rPr sz="2400" spc="-5" dirty="0">
                <a:latin typeface="Carlito"/>
                <a:cs typeface="Carlito"/>
              </a:rPr>
              <a:t>necessary  </a:t>
            </a:r>
            <a:r>
              <a:rPr sz="2400" spc="-15" dirty="0">
                <a:latin typeface="Carlito"/>
                <a:cs typeface="Carlito"/>
              </a:rPr>
              <a:t>hardware, </a:t>
            </a:r>
            <a:r>
              <a:rPr sz="2400" spc="-10" dirty="0">
                <a:latin typeface="Carlito"/>
                <a:cs typeface="Carlito"/>
              </a:rPr>
              <a:t>software, </a:t>
            </a:r>
            <a:r>
              <a:rPr sz="2400" dirty="0">
                <a:latin typeface="Carlito"/>
                <a:cs typeface="Carlito"/>
              </a:rPr>
              <a:t>and </a:t>
            </a:r>
            <a:r>
              <a:rPr sz="2400" spc="-5" dirty="0">
                <a:latin typeface="Carlito"/>
                <a:cs typeface="Carlito"/>
              </a:rPr>
              <a:t>other </a:t>
            </a:r>
            <a:r>
              <a:rPr sz="2400" spc="-25" dirty="0">
                <a:latin typeface="Carlito"/>
                <a:cs typeface="Carlito"/>
              </a:rPr>
              <a:t>system</a:t>
            </a:r>
            <a:r>
              <a:rPr sz="2400" dirty="0">
                <a:latin typeface="Carlito"/>
                <a:cs typeface="Carlito"/>
              </a:rPr>
              <a:t> </a:t>
            </a:r>
            <a:r>
              <a:rPr sz="2400" spc="-10" dirty="0">
                <a:latin typeface="Carlito"/>
                <a:cs typeface="Carlito"/>
              </a:rPr>
              <a:t>components</a:t>
            </a:r>
            <a:endParaRPr sz="240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The </a:t>
            </a:r>
            <a:r>
              <a:rPr sz="2400" spc="-10" dirty="0">
                <a:latin typeface="Carlito"/>
                <a:cs typeface="Carlito"/>
              </a:rPr>
              <a:t>Make-or-Buy</a:t>
            </a:r>
            <a:r>
              <a:rPr sz="2400" spc="-15" dirty="0">
                <a:latin typeface="Carlito"/>
                <a:cs typeface="Carlito"/>
              </a:rPr>
              <a:t> </a:t>
            </a:r>
            <a:r>
              <a:rPr sz="2400" spc="-5" dirty="0">
                <a:latin typeface="Carlito"/>
                <a:cs typeface="Carlito"/>
              </a:rPr>
              <a:t>Decision</a:t>
            </a:r>
            <a:endParaRPr sz="2400">
              <a:latin typeface="Carlito"/>
              <a:cs typeface="Carlito"/>
            </a:endParaRPr>
          </a:p>
          <a:p>
            <a:pPr marL="1155700" marR="192405" lvl="2" indent="-228600">
              <a:lnSpc>
                <a:spcPct val="100000"/>
              </a:lnSpc>
              <a:spcBef>
                <a:spcPts val="575"/>
              </a:spcBef>
              <a:buFont typeface="Arial"/>
              <a:buChar char="•"/>
              <a:tabLst>
                <a:tab pos="1156335" algn="l"/>
              </a:tabLst>
            </a:pPr>
            <a:r>
              <a:rPr sz="2400" spc="-5" dirty="0">
                <a:latin typeface="Carlito"/>
                <a:cs typeface="Carlito"/>
              </a:rPr>
              <a:t>Determining </a:t>
            </a:r>
            <a:r>
              <a:rPr sz="2400" dirty="0">
                <a:latin typeface="Carlito"/>
                <a:cs typeface="Carlito"/>
              </a:rPr>
              <a:t>if the </a:t>
            </a:r>
            <a:r>
              <a:rPr sz="2400" spc="-15" dirty="0">
                <a:latin typeface="Carlito"/>
                <a:cs typeface="Carlito"/>
              </a:rPr>
              <a:t>software </a:t>
            </a:r>
            <a:r>
              <a:rPr sz="2400" dirty="0">
                <a:latin typeface="Carlito"/>
                <a:cs typeface="Carlito"/>
              </a:rPr>
              <a:t>needed will </a:t>
            </a:r>
            <a:r>
              <a:rPr sz="2400" spc="-5" dirty="0">
                <a:latin typeface="Carlito"/>
                <a:cs typeface="Carlito"/>
              </a:rPr>
              <a:t>be </a:t>
            </a:r>
            <a:r>
              <a:rPr sz="2400" spc="-10" dirty="0">
                <a:latin typeface="Carlito"/>
                <a:cs typeface="Carlito"/>
              </a:rPr>
              <a:t>purchased  </a:t>
            </a:r>
            <a:r>
              <a:rPr sz="2400" spc="-15" dirty="0">
                <a:latin typeface="Carlito"/>
                <a:cs typeface="Carlito"/>
              </a:rPr>
              <a:t>from </a:t>
            </a:r>
            <a:r>
              <a:rPr sz="2400" dirty="0">
                <a:latin typeface="Carlito"/>
                <a:cs typeface="Carlito"/>
              </a:rPr>
              <a:t>a </a:t>
            </a:r>
            <a:r>
              <a:rPr sz="2400" spc="-5" dirty="0">
                <a:latin typeface="Carlito"/>
                <a:cs typeface="Carlito"/>
              </a:rPr>
              <a:t>vendor or developed</a:t>
            </a:r>
            <a:r>
              <a:rPr sz="2400" spc="-25" dirty="0">
                <a:latin typeface="Carlito"/>
                <a:cs typeface="Carlito"/>
              </a:rPr>
              <a:t> </a:t>
            </a:r>
            <a:r>
              <a:rPr sz="2400" spc="-5" dirty="0">
                <a:latin typeface="Carlito"/>
                <a:cs typeface="Carlito"/>
              </a:rPr>
              <a:t>in-house</a:t>
            </a:r>
            <a:endParaRPr sz="2400">
              <a:latin typeface="Carlito"/>
              <a:cs typeface="Carlito"/>
            </a:endParaRPr>
          </a:p>
          <a:p>
            <a:pPr marL="1612900" marR="393065" indent="-228600">
              <a:lnSpc>
                <a:spcPct val="100000"/>
              </a:lnSpc>
              <a:spcBef>
                <a:spcPts val="580"/>
              </a:spcBef>
            </a:pPr>
            <a:r>
              <a:rPr sz="2400" dirty="0">
                <a:latin typeface="Arial"/>
                <a:cs typeface="Arial"/>
              </a:rPr>
              <a:t>– </a:t>
            </a:r>
            <a:r>
              <a:rPr sz="2400" dirty="0">
                <a:latin typeface="Carlito"/>
                <a:cs typeface="Carlito"/>
              </a:rPr>
              <a:t>If </a:t>
            </a:r>
            <a:r>
              <a:rPr sz="2400" spc="-5" dirty="0">
                <a:latin typeface="Carlito"/>
                <a:cs typeface="Carlito"/>
              </a:rPr>
              <a:t>developed in-house, </a:t>
            </a:r>
            <a:r>
              <a:rPr sz="2400" spc="-10" dirty="0">
                <a:latin typeface="Carlito"/>
                <a:cs typeface="Carlito"/>
              </a:rPr>
              <a:t>software </a:t>
            </a:r>
            <a:r>
              <a:rPr sz="2400" spc="-15" dirty="0">
                <a:latin typeface="Carlito"/>
                <a:cs typeface="Carlito"/>
              </a:rPr>
              <a:t>to </a:t>
            </a:r>
            <a:r>
              <a:rPr sz="2400" spc="-5" dirty="0">
                <a:latin typeface="Carlito"/>
                <a:cs typeface="Carlito"/>
              </a:rPr>
              <a:t>be</a:t>
            </a:r>
            <a:r>
              <a:rPr sz="2400" spc="-225" dirty="0">
                <a:latin typeface="Carlito"/>
                <a:cs typeface="Carlito"/>
              </a:rPr>
              <a:t> </a:t>
            </a:r>
            <a:r>
              <a:rPr sz="2400" spc="-10" dirty="0">
                <a:latin typeface="Carlito"/>
                <a:cs typeface="Carlito"/>
              </a:rPr>
              <a:t>developed  moves </a:t>
            </a:r>
            <a:r>
              <a:rPr sz="2400" spc="-15" dirty="0">
                <a:latin typeface="Carlito"/>
                <a:cs typeface="Carlito"/>
              </a:rPr>
              <a:t>into </a:t>
            </a:r>
            <a:r>
              <a:rPr sz="2400" spc="-5" dirty="0">
                <a:latin typeface="Carlito"/>
                <a:cs typeface="Carlito"/>
              </a:rPr>
              <a:t>the </a:t>
            </a:r>
            <a:r>
              <a:rPr sz="2400" spc="-15" dirty="0">
                <a:latin typeface="Carlito"/>
                <a:cs typeface="Carlito"/>
              </a:rPr>
              <a:t>program </a:t>
            </a:r>
            <a:r>
              <a:rPr sz="2400" spc="-10" dirty="0">
                <a:latin typeface="Carlito"/>
                <a:cs typeface="Carlito"/>
              </a:rPr>
              <a:t>development </a:t>
            </a:r>
            <a:r>
              <a:rPr sz="2400" spc="-10">
                <a:latin typeface="Carlito"/>
                <a:cs typeface="Carlito"/>
              </a:rPr>
              <a:t>process </a:t>
            </a:r>
            <a:endParaRPr sz="2400">
              <a:latin typeface="Carlito"/>
              <a:cs typeface="Carlito"/>
            </a:endParaRPr>
          </a:p>
        </p:txBody>
      </p:sp>
    </p:spTree>
    <p:extLst>
      <p:ext uri="{BB962C8B-B14F-4D97-AF65-F5344CB8AC3E}">
        <p14:creationId xmlns:p14="http://schemas.microsoft.com/office/powerpoint/2010/main" val="26836817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59</a:t>
            </a:fld>
            <a:endParaRPr spc="-165" dirty="0"/>
          </a:p>
        </p:txBody>
      </p:sp>
      <p:sp>
        <p:nvSpPr>
          <p:cNvPr id="3" name="object 3"/>
          <p:cNvSpPr txBox="1"/>
          <p:nvPr/>
        </p:nvSpPr>
        <p:spPr>
          <a:xfrm>
            <a:off x="535940" y="1534414"/>
            <a:ext cx="7954009" cy="2905924"/>
          </a:xfrm>
          <a:prstGeom prst="rect">
            <a:avLst/>
          </a:prstGeom>
        </p:spPr>
        <p:txBody>
          <a:bodyPr vert="horz" wrap="square" lIns="0" tIns="12700" rIns="0" bIns="0" rtlCol="0">
            <a:spAutoFit/>
          </a:bodyPr>
          <a:lstStyle/>
          <a:p>
            <a:pPr marL="355600" indent="-343535">
              <a:lnSpc>
                <a:spcPct val="100000"/>
              </a:lnSpc>
              <a:spcBef>
                <a:spcPts val="575"/>
              </a:spcBef>
              <a:buFont typeface="Arial"/>
              <a:buChar char="•"/>
              <a:tabLst>
                <a:tab pos="355600" algn="l"/>
                <a:tab pos="356235" algn="l"/>
              </a:tabLst>
            </a:pPr>
            <a:r>
              <a:rPr sz="2400" spc="-20">
                <a:latin typeface="Carlito"/>
                <a:cs typeface="Carlito"/>
              </a:rPr>
              <a:t>System</a:t>
            </a:r>
            <a:r>
              <a:rPr sz="2400" spc="-55">
                <a:latin typeface="Carlito"/>
                <a:cs typeface="Carlito"/>
              </a:rPr>
              <a:t> </a:t>
            </a:r>
            <a:r>
              <a:rPr sz="2400" spc="-5" dirty="0">
                <a:latin typeface="Carlito"/>
                <a:cs typeface="Carlito"/>
              </a:rPr>
              <a:t>Implementation</a:t>
            </a:r>
            <a:endParaRPr sz="240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The </a:t>
            </a:r>
            <a:r>
              <a:rPr sz="2400" spc="-10" dirty="0">
                <a:latin typeface="Carlito"/>
                <a:cs typeface="Carlito"/>
              </a:rPr>
              <a:t>new </a:t>
            </a:r>
            <a:r>
              <a:rPr sz="2400" spc="-25" dirty="0">
                <a:latin typeface="Carlito"/>
                <a:cs typeface="Carlito"/>
              </a:rPr>
              <a:t>system </a:t>
            </a:r>
            <a:r>
              <a:rPr sz="2400" dirty="0">
                <a:latin typeface="Carlito"/>
                <a:cs typeface="Carlito"/>
              </a:rPr>
              <a:t>is </a:t>
            </a:r>
            <a:r>
              <a:rPr sz="2400" spc="-10" dirty="0">
                <a:latin typeface="Carlito"/>
                <a:cs typeface="Carlito"/>
              </a:rPr>
              <a:t>installed, </a:t>
            </a:r>
            <a:r>
              <a:rPr sz="2400" spc="-15" dirty="0">
                <a:latin typeface="Carlito"/>
                <a:cs typeface="Carlito"/>
              </a:rPr>
              <a:t>tested, </a:t>
            </a:r>
            <a:r>
              <a:rPr sz="2400" dirty="0">
                <a:latin typeface="Carlito"/>
                <a:cs typeface="Carlito"/>
              </a:rPr>
              <a:t>and made</a:t>
            </a:r>
            <a:r>
              <a:rPr sz="2400" spc="10" dirty="0">
                <a:latin typeface="Carlito"/>
                <a:cs typeface="Carlito"/>
              </a:rPr>
              <a:t> </a:t>
            </a:r>
            <a:r>
              <a:rPr sz="2400" spc="-10" dirty="0">
                <a:latin typeface="Carlito"/>
                <a:cs typeface="Carlito"/>
              </a:rPr>
              <a:t>operational</a:t>
            </a:r>
            <a:endParaRPr sz="2400">
              <a:latin typeface="Carlito"/>
              <a:cs typeface="Carlito"/>
            </a:endParaRPr>
          </a:p>
          <a:p>
            <a:pPr marL="1155700" lvl="2" indent="-229235">
              <a:lnSpc>
                <a:spcPct val="100000"/>
              </a:lnSpc>
              <a:spcBef>
                <a:spcPts val="575"/>
              </a:spcBef>
              <a:buFont typeface="Arial"/>
              <a:buChar char="•"/>
              <a:tabLst>
                <a:tab pos="1156335" algn="l"/>
              </a:tabLst>
            </a:pPr>
            <a:r>
              <a:rPr sz="2400" spc="-15" dirty="0">
                <a:latin typeface="Carlito"/>
                <a:cs typeface="Carlito"/>
              </a:rPr>
              <a:t>Data</a:t>
            </a:r>
            <a:r>
              <a:rPr sz="2400" spc="-30" dirty="0">
                <a:latin typeface="Carlito"/>
                <a:cs typeface="Carlito"/>
              </a:rPr>
              <a:t> </a:t>
            </a:r>
            <a:r>
              <a:rPr sz="2400" spc="-10" dirty="0">
                <a:latin typeface="Carlito"/>
                <a:cs typeface="Carlito"/>
              </a:rPr>
              <a:t>migration</a:t>
            </a:r>
            <a:endParaRPr sz="2400">
              <a:latin typeface="Carlito"/>
              <a:cs typeface="Carlito"/>
            </a:endParaRPr>
          </a:p>
          <a:p>
            <a:pPr marL="756285" lvl="1" indent="-287020">
              <a:lnSpc>
                <a:spcPct val="100000"/>
              </a:lnSpc>
              <a:spcBef>
                <a:spcPts val="580"/>
              </a:spcBef>
              <a:buFont typeface="Arial"/>
              <a:buChar char="–"/>
              <a:tabLst>
                <a:tab pos="756920" algn="l"/>
              </a:tabLst>
            </a:pPr>
            <a:r>
              <a:rPr sz="2400" spc="-20" dirty="0">
                <a:latin typeface="Carlito"/>
                <a:cs typeface="Carlito"/>
              </a:rPr>
              <a:t>System </a:t>
            </a:r>
            <a:r>
              <a:rPr sz="2400" spc="-10" dirty="0">
                <a:latin typeface="Carlito"/>
                <a:cs typeface="Carlito"/>
              </a:rPr>
              <a:t>must </a:t>
            </a:r>
            <a:r>
              <a:rPr sz="2400" spc="-5" dirty="0">
                <a:latin typeface="Carlito"/>
                <a:cs typeface="Carlito"/>
              </a:rPr>
              <a:t>be thoroughly</a:t>
            </a:r>
            <a:r>
              <a:rPr sz="2400" spc="-45" dirty="0">
                <a:latin typeface="Carlito"/>
                <a:cs typeface="Carlito"/>
              </a:rPr>
              <a:t> </a:t>
            </a:r>
            <a:r>
              <a:rPr sz="2400" spc="-15" dirty="0">
                <a:latin typeface="Carlito"/>
                <a:cs typeface="Carlito"/>
              </a:rPr>
              <a:t>tested</a:t>
            </a:r>
            <a:endParaRPr sz="2400">
              <a:latin typeface="Carlito"/>
              <a:cs typeface="Carlito"/>
            </a:endParaRPr>
          </a:p>
          <a:p>
            <a:pPr marL="1155700" lvl="2" indent="-229235">
              <a:lnSpc>
                <a:spcPct val="100000"/>
              </a:lnSpc>
              <a:spcBef>
                <a:spcPts val="575"/>
              </a:spcBef>
              <a:buFont typeface="Arial"/>
              <a:buChar char="•"/>
              <a:tabLst>
                <a:tab pos="1156335" algn="l"/>
              </a:tabLst>
            </a:pPr>
            <a:r>
              <a:rPr sz="2400" spc="-65" dirty="0">
                <a:latin typeface="Carlito"/>
                <a:cs typeface="Carlito"/>
              </a:rPr>
              <a:t>Test </a:t>
            </a:r>
            <a:r>
              <a:rPr sz="2400" spc="-15" dirty="0">
                <a:latin typeface="Carlito"/>
                <a:cs typeface="Carlito"/>
              </a:rPr>
              <a:t>data </a:t>
            </a:r>
            <a:r>
              <a:rPr sz="2400" spc="-5" dirty="0">
                <a:latin typeface="Carlito"/>
                <a:cs typeface="Carlito"/>
              </a:rPr>
              <a:t>should be </a:t>
            </a:r>
            <a:r>
              <a:rPr sz="2400" spc="-10" dirty="0">
                <a:latin typeface="Carlito"/>
                <a:cs typeface="Carlito"/>
              </a:rPr>
              <a:t>realistic </a:t>
            </a:r>
            <a:r>
              <a:rPr sz="2400" dirty="0">
                <a:latin typeface="Carlito"/>
                <a:cs typeface="Carlito"/>
              </a:rPr>
              <a:t>and include </a:t>
            </a:r>
            <a:r>
              <a:rPr sz="2400" spc="-10" dirty="0">
                <a:latin typeface="Carlito"/>
                <a:cs typeface="Carlito"/>
              </a:rPr>
              <a:t>incorrect</a:t>
            </a:r>
            <a:r>
              <a:rPr sz="2400" spc="5" dirty="0">
                <a:latin typeface="Carlito"/>
                <a:cs typeface="Carlito"/>
              </a:rPr>
              <a:t> </a:t>
            </a:r>
            <a:r>
              <a:rPr sz="2400" spc="-15" dirty="0">
                <a:latin typeface="Carlito"/>
                <a:cs typeface="Carlito"/>
              </a:rPr>
              <a:t>data</a:t>
            </a:r>
            <a:endParaRPr sz="2400">
              <a:latin typeface="Carlito"/>
              <a:cs typeface="Carlito"/>
            </a:endParaRPr>
          </a:p>
        </p:txBody>
      </p:sp>
    </p:spTree>
    <p:extLst>
      <p:ext uri="{BB962C8B-B14F-4D97-AF65-F5344CB8AC3E}">
        <p14:creationId xmlns:p14="http://schemas.microsoft.com/office/powerpoint/2010/main" val="28716602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60</a:t>
            </a:fld>
            <a:endParaRPr spc="-165" dirty="0"/>
          </a:p>
        </p:txBody>
      </p:sp>
      <p:sp>
        <p:nvSpPr>
          <p:cNvPr id="3" name="object 3"/>
          <p:cNvSpPr txBox="1"/>
          <p:nvPr/>
        </p:nvSpPr>
        <p:spPr>
          <a:xfrm>
            <a:off x="993444" y="1461262"/>
            <a:ext cx="7483475" cy="4232910"/>
          </a:xfrm>
          <a:prstGeom prst="rect">
            <a:avLst/>
          </a:prstGeom>
        </p:spPr>
        <p:txBody>
          <a:bodyPr vert="horz" wrap="square" lIns="0" tIns="48895" rIns="0" bIns="0" rtlCol="0">
            <a:spAutoFit/>
          </a:bodyPr>
          <a:lstStyle/>
          <a:p>
            <a:pPr marL="299085" indent="-287020">
              <a:lnSpc>
                <a:spcPct val="100000"/>
              </a:lnSpc>
              <a:spcBef>
                <a:spcPts val="385"/>
              </a:spcBef>
              <a:buFont typeface="Arial"/>
              <a:buChar char="–"/>
              <a:tabLst>
                <a:tab pos="299720" algn="l"/>
              </a:tabLst>
            </a:pPr>
            <a:r>
              <a:rPr sz="2400" spc="-20" dirty="0">
                <a:latin typeface="Carlito"/>
                <a:cs typeface="Carlito"/>
              </a:rPr>
              <a:t>System</a:t>
            </a:r>
            <a:r>
              <a:rPr sz="2400" spc="-50" dirty="0">
                <a:latin typeface="Carlito"/>
                <a:cs typeface="Carlito"/>
              </a:rPr>
              <a:t> </a:t>
            </a:r>
            <a:r>
              <a:rPr sz="2400" spc="-15" dirty="0">
                <a:latin typeface="Carlito"/>
                <a:cs typeface="Carlito"/>
              </a:rPr>
              <a:t>Conversion</a:t>
            </a:r>
            <a:endParaRPr sz="2400">
              <a:latin typeface="Carlito"/>
              <a:cs typeface="Carlito"/>
            </a:endParaRPr>
          </a:p>
          <a:p>
            <a:pPr marL="697865" lvl="1" indent="-229235">
              <a:lnSpc>
                <a:spcPct val="100000"/>
              </a:lnSpc>
              <a:spcBef>
                <a:spcPts val="290"/>
              </a:spcBef>
              <a:buFont typeface="Arial"/>
              <a:buChar char="•"/>
              <a:tabLst>
                <a:tab pos="698500" algn="l"/>
              </a:tabLst>
            </a:pPr>
            <a:r>
              <a:rPr sz="2400" spc="-5" dirty="0">
                <a:latin typeface="Carlito"/>
                <a:cs typeface="Carlito"/>
              </a:rPr>
              <a:t>Once </a:t>
            </a:r>
            <a:r>
              <a:rPr sz="2400" spc="-10" dirty="0">
                <a:latin typeface="Carlito"/>
                <a:cs typeface="Carlito"/>
              </a:rPr>
              <a:t>testing </a:t>
            </a:r>
            <a:r>
              <a:rPr sz="2400" spc="-5" dirty="0">
                <a:latin typeface="Carlito"/>
                <a:cs typeface="Carlito"/>
              </a:rPr>
              <a:t>phase </a:t>
            </a:r>
            <a:r>
              <a:rPr sz="2400" dirty="0">
                <a:latin typeface="Carlito"/>
                <a:cs typeface="Carlito"/>
              </a:rPr>
              <a:t>is </a:t>
            </a:r>
            <a:r>
              <a:rPr sz="2400" spc="-10" dirty="0">
                <a:latin typeface="Carlito"/>
                <a:cs typeface="Carlito"/>
              </a:rPr>
              <a:t>completed, </a:t>
            </a:r>
            <a:r>
              <a:rPr sz="2400" spc="-25" dirty="0">
                <a:latin typeface="Carlito"/>
                <a:cs typeface="Carlito"/>
              </a:rPr>
              <a:t>system </a:t>
            </a:r>
            <a:r>
              <a:rPr sz="2400" dirty="0">
                <a:latin typeface="Carlito"/>
                <a:cs typeface="Carlito"/>
              </a:rPr>
              <a:t>is</a:t>
            </a:r>
            <a:r>
              <a:rPr sz="2400" spc="-15" dirty="0">
                <a:latin typeface="Carlito"/>
                <a:cs typeface="Carlito"/>
              </a:rPr>
              <a:t> </a:t>
            </a:r>
            <a:r>
              <a:rPr sz="2400" spc="-10" dirty="0">
                <a:latin typeface="Carlito"/>
                <a:cs typeface="Carlito"/>
              </a:rPr>
              <a:t>installed</a:t>
            </a:r>
            <a:endParaRPr sz="2400">
              <a:latin typeface="Carlito"/>
              <a:cs typeface="Carlito"/>
            </a:endParaRPr>
          </a:p>
          <a:p>
            <a:pPr marL="1155065" lvl="2" indent="-229235">
              <a:lnSpc>
                <a:spcPct val="100000"/>
              </a:lnSpc>
              <a:spcBef>
                <a:spcPts val="290"/>
              </a:spcBef>
              <a:buFont typeface="Arial"/>
              <a:buChar char="–"/>
              <a:tabLst>
                <a:tab pos="1155700" algn="l"/>
              </a:tabLst>
            </a:pPr>
            <a:r>
              <a:rPr sz="2400" spc="-10" dirty="0">
                <a:latin typeface="Carlito"/>
                <a:cs typeface="Carlito"/>
              </a:rPr>
              <a:t>Direct</a:t>
            </a:r>
            <a:r>
              <a:rPr sz="2400" spc="-35" dirty="0">
                <a:latin typeface="Carlito"/>
                <a:cs typeface="Carlito"/>
              </a:rPr>
              <a:t> </a:t>
            </a:r>
            <a:r>
              <a:rPr sz="2400" spc="-15" dirty="0">
                <a:latin typeface="Carlito"/>
                <a:cs typeface="Carlito"/>
              </a:rPr>
              <a:t>conversion</a:t>
            </a:r>
            <a:endParaRPr sz="2400">
              <a:latin typeface="Carlito"/>
              <a:cs typeface="Carlito"/>
            </a:endParaRPr>
          </a:p>
          <a:p>
            <a:pPr marL="1612265" marR="675640" indent="-228600">
              <a:lnSpc>
                <a:spcPts val="2590"/>
              </a:lnSpc>
              <a:spcBef>
                <a:spcPts val="615"/>
              </a:spcBef>
            </a:pPr>
            <a:r>
              <a:rPr sz="2400" spc="-5" dirty="0">
                <a:latin typeface="Arial"/>
                <a:cs typeface="Arial"/>
              </a:rPr>
              <a:t>» </a:t>
            </a:r>
            <a:r>
              <a:rPr sz="2400" spc="-5" dirty="0">
                <a:latin typeface="Carlito"/>
                <a:cs typeface="Carlito"/>
              </a:rPr>
              <a:t>Old </a:t>
            </a:r>
            <a:r>
              <a:rPr sz="2400" spc="-25" dirty="0">
                <a:latin typeface="Carlito"/>
                <a:cs typeface="Carlito"/>
              </a:rPr>
              <a:t>system </a:t>
            </a:r>
            <a:r>
              <a:rPr sz="2400" spc="-10" dirty="0">
                <a:latin typeface="Carlito"/>
                <a:cs typeface="Carlito"/>
              </a:rPr>
              <a:t>deactivated </a:t>
            </a:r>
            <a:r>
              <a:rPr sz="2400" dirty="0">
                <a:latin typeface="Carlito"/>
                <a:cs typeface="Carlito"/>
              </a:rPr>
              <a:t>and </a:t>
            </a:r>
            <a:r>
              <a:rPr sz="2400" spc="-5" dirty="0">
                <a:latin typeface="Carlito"/>
                <a:cs typeface="Carlito"/>
              </a:rPr>
              <a:t>new </a:t>
            </a:r>
            <a:r>
              <a:rPr sz="2400" spc="-25" dirty="0">
                <a:latin typeface="Carlito"/>
                <a:cs typeface="Carlito"/>
              </a:rPr>
              <a:t>system</a:t>
            </a:r>
            <a:r>
              <a:rPr sz="2400" spc="-260" dirty="0">
                <a:latin typeface="Carlito"/>
                <a:cs typeface="Carlito"/>
              </a:rPr>
              <a:t> </a:t>
            </a:r>
            <a:r>
              <a:rPr sz="2400" dirty="0">
                <a:latin typeface="Carlito"/>
                <a:cs typeface="Carlito"/>
              </a:rPr>
              <a:t>is  </a:t>
            </a:r>
            <a:r>
              <a:rPr sz="2400" spc="-5" dirty="0">
                <a:latin typeface="Carlito"/>
                <a:cs typeface="Carlito"/>
              </a:rPr>
              <a:t>immediately</a:t>
            </a:r>
            <a:r>
              <a:rPr sz="2400" spc="-50" dirty="0">
                <a:latin typeface="Carlito"/>
                <a:cs typeface="Carlito"/>
              </a:rPr>
              <a:t> </a:t>
            </a:r>
            <a:r>
              <a:rPr sz="2400" spc="-5" dirty="0">
                <a:latin typeface="Carlito"/>
                <a:cs typeface="Carlito"/>
              </a:rPr>
              <a:t>implemented</a:t>
            </a:r>
            <a:endParaRPr sz="2400">
              <a:latin typeface="Carlito"/>
              <a:cs typeface="Carlito"/>
            </a:endParaRPr>
          </a:p>
          <a:p>
            <a:pPr marL="1155065" lvl="2" indent="-229235">
              <a:lnSpc>
                <a:spcPct val="100000"/>
              </a:lnSpc>
              <a:spcBef>
                <a:spcPts val="254"/>
              </a:spcBef>
              <a:buFont typeface="Arial"/>
              <a:buChar char="–"/>
              <a:tabLst>
                <a:tab pos="1155700" algn="l"/>
              </a:tabLst>
            </a:pPr>
            <a:r>
              <a:rPr sz="2400" spc="-15" dirty="0">
                <a:latin typeface="Carlito"/>
                <a:cs typeface="Carlito"/>
              </a:rPr>
              <a:t>Parallel</a:t>
            </a:r>
            <a:r>
              <a:rPr sz="2400" spc="-45" dirty="0">
                <a:latin typeface="Carlito"/>
                <a:cs typeface="Carlito"/>
              </a:rPr>
              <a:t> </a:t>
            </a:r>
            <a:r>
              <a:rPr sz="2400" spc="-15" dirty="0">
                <a:latin typeface="Carlito"/>
                <a:cs typeface="Carlito"/>
              </a:rPr>
              <a:t>conversion</a:t>
            </a:r>
            <a:endParaRPr sz="2400">
              <a:latin typeface="Carlito"/>
              <a:cs typeface="Carlito"/>
            </a:endParaRPr>
          </a:p>
          <a:p>
            <a:pPr marL="1612265" marR="5080" indent="-228600">
              <a:lnSpc>
                <a:spcPts val="2590"/>
              </a:lnSpc>
              <a:spcBef>
                <a:spcPts val="615"/>
              </a:spcBef>
            </a:pPr>
            <a:r>
              <a:rPr sz="2400" spc="-5" dirty="0">
                <a:latin typeface="Arial"/>
                <a:cs typeface="Arial"/>
              </a:rPr>
              <a:t>» </a:t>
            </a:r>
            <a:r>
              <a:rPr sz="2400" dirty="0">
                <a:latin typeface="Carlito"/>
                <a:cs typeface="Carlito"/>
              </a:rPr>
              <a:t>Both </a:t>
            </a:r>
            <a:r>
              <a:rPr sz="2400" spc="-20" dirty="0">
                <a:latin typeface="Carlito"/>
                <a:cs typeface="Carlito"/>
              </a:rPr>
              <a:t>systems </a:t>
            </a:r>
            <a:r>
              <a:rPr sz="2400" spc="-15" dirty="0">
                <a:latin typeface="Carlito"/>
                <a:cs typeface="Carlito"/>
              </a:rPr>
              <a:t>are operated </a:t>
            </a:r>
            <a:r>
              <a:rPr sz="2400" spc="-5" dirty="0">
                <a:latin typeface="Carlito"/>
                <a:cs typeface="Carlito"/>
              </a:rPr>
              <a:t>simultaneously</a:t>
            </a:r>
            <a:r>
              <a:rPr sz="2400" spc="-260" dirty="0">
                <a:latin typeface="Carlito"/>
                <a:cs typeface="Carlito"/>
              </a:rPr>
              <a:t> </a:t>
            </a:r>
            <a:r>
              <a:rPr sz="2400" spc="-10" dirty="0">
                <a:latin typeface="Carlito"/>
                <a:cs typeface="Carlito"/>
              </a:rPr>
              <a:t>until  </a:t>
            </a:r>
            <a:r>
              <a:rPr sz="2400" dirty="0">
                <a:latin typeface="Carlito"/>
                <a:cs typeface="Carlito"/>
              </a:rPr>
              <a:t>it is </a:t>
            </a:r>
            <a:r>
              <a:rPr sz="2400" spc="-5" dirty="0">
                <a:latin typeface="Carlito"/>
                <a:cs typeface="Carlito"/>
              </a:rPr>
              <a:t>determined </a:t>
            </a:r>
            <a:r>
              <a:rPr sz="2400" spc="-10" dirty="0">
                <a:latin typeface="Carlito"/>
                <a:cs typeface="Carlito"/>
              </a:rPr>
              <a:t>that </a:t>
            </a:r>
            <a:r>
              <a:rPr sz="2400" dirty="0">
                <a:latin typeface="Carlito"/>
                <a:cs typeface="Carlito"/>
              </a:rPr>
              <a:t>the </a:t>
            </a:r>
            <a:r>
              <a:rPr sz="2400" spc="-5" dirty="0">
                <a:latin typeface="Carlito"/>
                <a:cs typeface="Carlito"/>
              </a:rPr>
              <a:t>new </a:t>
            </a:r>
            <a:r>
              <a:rPr sz="2400" spc="-25" dirty="0">
                <a:latin typeface="Carlito"/>
                <a:cs typeface="Carlito"/>
              </a:rPr>
              <a:t>system </a:t>
            </a:r>
            <a:r>
              <a:rPr sz="2400" spc="-15" dirty="0">
                <a:latin typeface="Carlito"/>
                <a:cs typeface="Carlito"/>
              </a:rPr>
              <a:t>works  </a:t>
            </a:r>
            <a:r>
              <a:rPr sz="2400" spc="-10" dirty="0">
                <a:latin typeface="Carlito"/>
                <a:cs typeface="Carlito"/>
              </a:rPr>
              <a:t>properly</a:t>
            </a:r>
            <a:endParaRPr sz="2400">
              <a:latin typeface="Carlito"/>
              <a:cs typeface="Carlito"/>
            </a:endParaRPr>
          </a:p>
          <a:p>
            <a:pPr marL="1155065" lvl="2" indent="-229235">
              <a:lnSpc>
                <a:spcPct val="100000"/>
              </a:lnSpc>
              <a:spcBef>
                <a:spcPts val="259"/>
              </a:spcBef>
              <a:buFont typeface="Arial"/>
              <a:buChar char="–"/>
              <a:tabLst>
                <a:tab pos="1155700" algn="l"/>
              </a:tabLst>
            </a:pPr>
            <a:r>
              <a:rPr sz="2400" spc="-5" dirty="0">
                <a:latin typeface="Carlito"/>
                <a:cs typeface="Carlito"/>
              </a:rPr>
              <a:t>Phased</a:t>
            </a:r>
            <a:r>
              <a:rPr sz="2400" spc="-20" dirty="0">
                <a:latin typeface="Carlito"/>
                <a:cs typeface="Carlito"/>
              </a:rPr>
              <a:t> </a:t>
            </a:r>
            <a:r>
              <a:rPr sz="2400" spc="-15" dirty="0">
                <a:latin typeface="Carlito"/>
                <a:cs typeface="Carlito"/>
              </a:rPr>
              <a:t>conversion</a:t>
            </a:r>
            <a:endParaRPr sz="2400">
              <a:latin typeface="Carlito"/>
              <a:cs typeface="Carlito"/>
            </a:endParaRPr>
          </a:p>
          <a:p>
            <a:pPr marL="1383665">
              <a:lnSpc>
                <a:spcPct val="100000"/>
              </a:lnSpc>
              <a:spcBef>
                <a:spcPts val="285"/>
              </a:spcBef>
            </a:pPr>
            <a:r>
              <a:rPr sz="2400" spc="-5" dirty="0">
                <a:latin typeface="Arial"/>
                <a:cs typeface="Arial"/>
              </a:rPr>
              <a:t>» </a:t>
            </a:r>
            <a:r>
              <a:rPr sz="2400" spc="-20" dirty="0">
                <a:latin typeface="Carlito"/>
                <a:cs typeface="Carlito"/>
              </a:rPr>
              <a:t>System </a:t>
            </a:r>
            <a:r>
              <a:rPr sz="2400" dirty="0">
                <a:latin typeface="Carlito"/>
                <a:cs typeface="Carlito"/>
              </a:rPr>
              <a:t>is </a:t>
            </a:r>
            <a:r>
              <a:rPr sz="2400" spc="-5" dirty="0">
                <a:latin typeface="Carlito"/>
                <a:cs typeface="Carlito"/>
              </a:rPr>
              <a:t>implemented </a:t>
            </a:r>
            <a:r>
              <a:rPr sz="2400" spc="-10" dirty="0">
                <a:latin typeface="Carlito"/>
                <a:cs typeface="Carlito"/>
              </a:rPr>
              <a:t>by</a:t>
            </a:r>
            <a:r>
              <a:rPr sz="2400" spc="-250" dirty="0">
                <a:latin typeface="Carlito"/>
                <a:cs typeface="Carlito"/>
              </a:rPr>
              <a:t> </a:t>
            </a:r>
            <a:r>
              <a:rPr sz="2400" dirty="0">
                <a:latin typeface="Carlito"/>
                <a:cs typeface="Carlito"/>
              </a:rPr>
              <a:t>module</a:t>
            </a:r>
            <a:endParaRPr sz="2400">
              <a:latin typeface="Carlito"/>
              <a:cs typeface="Carlito"/>
            </a:endParaRPr>
          </a:p>
        </p:txBody>
      </p:sp>
    </p:spTree>
    <p:extLst>
      <p:ext uri="{BB962C8B-B14F-4D97-AF65-F5344CB8AC3E}">
        <p14:creationId xmlns:p14="http://schemas.microsoft.com/office/powerpoint/2010/main" val="10019223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61</a:t>
            </a:fld>
            <a:endParaRPr spc="-165" dirty="0"/>
          </a:p>
        </p:txBody>
      </p:sp>
      <p:sp>
        <p:nvSpPr>
          <p:cNvPr id="3" name="object 3"/>
          <p:cNvSpPr txBox="1">
            <a:spLocks noGrp="1"/>
          </p:cNvSpPr>
          <p:nvPr>
            <p:ph type="body" idx="1"/>
          </p:nvPr>
        </p:nvSpPr>
        <p:spPr>
          <a:xfrm>
            <a:off x="0" y="1600200"/>
            <a:ext cx="9144000" cy="4332596"/>
          </a:xfrm>
          <a:prstGeom prst="rect">
            <a:avLst/>
          </a:prstGeom>
        </p:spPr>
        <p:txBody>
          <a:bodyPr vert="horz" wrap="square" lIns="0" tIns="48895" rIns="0" bIns="0" rtlCol="0">
            <a:spAutoFit/>
          </a:bodyPr>
          <a:lstStyle/>
          <a:p>
            <a:pPr marL="1308100">
              <a:lnSpc>
                <a:spcPct val="100000"/>
              </a:lnSpc>
              <a:spcBef>
                <a:spcPts val="385"/>
              </a:spcBef>
              <a:buNone/>
            </a:pPr>
            <a:r>
              <a:rPr dirty="0">
                <a:latin typeface="Arial"/>
                <a:cs typeface="Arial"/>
              </a:rPr>
              <a:t>– </a:t>
            </a:r>
            <a:r>
              <a:rPr sz="2800" spc="-5" dirty="0"/>
              <a:t>Pilot</a:t>
            </a:r>
            <a:r>
              <a:rPr sz="2800" spc="-320" dirty="0"/>
              <a:t> </a:t>
            </a:r>
            <a:r>
              <a:rPr sz="2800" spc="-15" dirty="0"/>
              <a:t>conversion</a:t>
            </a:r>
          </a:p>
          <a:p>
            <a:pPr marL="1993900" marR="5080" indent="-228600">
              <a:lnSpc>
                <a:spcPts val="2600"/>
              </a:lnSpc>
              <a:spcBef>
                <a:spcPts val="610"/>
              </a:spcBef>
            </a:pPr>
            <a:r>
              <a:rPr sz="2800" spc="-5"/>
              <a:t>New </a:t>
            </a:r>
            <a:r>
              <a:rPr sz="2800" spc="-25" dirty="0"/>
              <a:t>system </a:t>
            </a:r>
            <a:r>
              <a:rPr sz="2800" spc="-5" dirty="0"/>
              <a:t>used </a:t>
            </a:r>
            <a:r>
              <a:rPr sz="2800" spc="-15" dirty="0"/>
              <a:t>at </a:t>
            </a:r>
            <a:r>
              <a:rPr sz="2800" spc="-10" dirty="0"/>
              <a:t>just </a:t>
            </a:r>
            <a:r>
              <a:rPr sz="2800" spc="-5" dirty="0"/>
              <a:t>one </a:t>
            </a:r>
            <a:r>
              <a:rPr sz="2800" spc="-10" dirty="0"/>
              <a:t>location </a:t>
            </a:r>
            <a:r>
              <a:rPr sz="2800" dirty="0"/>
              <a:t>within</a:t>
            </a:r>
            <a:r>
              <a:rPr sz="2800" spc="-225" dirty="0"/>
              <a:t> </a:t>
            </a:r>
            <a:r>
              <a:rPr sz="2800" dirty="0"/>
              <a:t>the  </a:t>
            </a:r>
            <a:r>
              <a:rPr sz="2800" spc="-15" dirty="0"/>
              <a:t>organization</a:t>
            </a:r>
          </a:p>
          <a:p>
            <a:pPr marL="1079500" indent="-229235">
              <a:lnSpc>
                <a:spcPct val="100000"/>
              </a:lnSpc>
              <a:spcBef>
                <a:spcPts val="240"/>
              </a:spcBef>
              <a:buFont typeface="Arial"/>
              <a:buChar char="•"/>
              <a:tabLst>
                <a:tab pos="1080770" algn="l"/>
              </a:tabLst>
            </a:pPr>
            <a:r>
              <a:rPr sz="2800" spc="-5" dirty="0"/>
              <a:t>User</a:t>
            </a:r>
            <a:r>
              <a:rPr sz="2800" spc="-15" dirty="0"/>
              <a:t> </a:t>
            </a:r>
            <a:r>
              <a:rPr sz="2800" spc="-25" dirty="0"/>
              <a:t>Training</a:t>
            </a:r>
          </a:p>
          <a:p>
            <a:pPr marL="1536700" marR="16510" lvl="1" indent="-228600">
              <a:lnSpc>
                <a:spcPts val="2590"/>
              </a:lnSpc>
              <a:spcBef>
                <a:spcPts val="620"/>
              </a:spcBef>
              <a:buFont typeface="Arial"/>
              <a:buChar char="–"/>
              <a:tabLst>
                <a:tab pos="1537970" algn="l"/>
              </a:tabLst>
            </a:pPr>
            <a:r>
              <a:rPr sz="2000" dirty="0">
                <a:latin typeface="Carlito"/>
                <a:cs typeface="Carlito"/>
              </a:rPr>
              <a:t>All </a:t>
            </a:r>
            <a:r>
              <a:rPr sz="2000" spc="-10" dirty="0">
                <a:latin typeface="Carlito"/>
                <a:cs typeface="Carlito"/>
              </a:rPr>
              <a:t>training </a:t>
            </a:r>
            <a:r>
              <a:rPr sz="2000" dirty="0">
                <a:latin typeface="Carlito"/>
                <a:cs typeface="Carlito"/>
              </a:rPr>
              <a:t>manuals </a:t>
            </a:r>
            <a:r>
              <a:rPr sz="2000" spc="-5" dirty="0">
                <a:latin typeface="Carlito"/>
                <a:cs typeface="Carlito"/>
              </a:rPr>
              <a:t>should be developed </a:t>
            </a:r>
            <a:r>
              <a:rPr sz="2000" dirty="0">
                <a:latin typeface="Carlito"/>
                <a:cs typeface="Carlito"/>
              </a:rPr>
              <a:t>and </a:t>
            </a:r>
            <a:r>
              <a:rPr sz="2000" spc="-10" dirty="0">
                <a:latin typeface="Carlito"/>
                <a:cs typeface="Carlito"/>
              </a:rPr>
              <a:t>given  </a:t>
            </a:r>
            <a:r>
              <a:rPr sz="2000" spc="-15" dirty="0">
                <a:latin typeface="Carlito"/>
                <a:cs typeface="Carlito"/>
              </a:rPr>
              <a:t>to</a:t>
            </a:r>
            <a:r>
              <a:rPr sz="2000" spc="-30" dirty="0">
                <a:latin typeface="Carlito"/>
                <a:cs typeface="Carlito"/>
              </a:rPr>
              <a:t> </a:t>
            </a:r>
            <a:r>
              <a:rPr sz="2000" spc="-10" dirty="0">
                <a:latin typeface="Carlito"/>
                <a:cs typeface="Carlito"/>
              </a:rPr>
              <a:t>users</a:t>
            </a:r>
            <a:endParaRPr sz="2000">
              <a:latin typeface="Carlito"/>
              <a:cs typeface="Carlito"/>
            </a:endParaRPr>
          </a:p>
          <a:p>
            <a:pPr marL="1536700" lvl="1" indent="-229235">
              <a:lnSpc>
                <a:spcPct val="100000"/>
              </a:lnSpc>
              <a:spcBef>
                <a:spcPts val="250"/>
              </a:spcBef>
              <a:buFont typeface="Arial"/>
              <a:buChar char="–"/>
              <a:tabLst>
                <a:tab pos="1537970" algn="l"/>
              </a:tabLst>
            </a:pPr>
            <a:r>
              <a:rPr sz="2000" spc="-25" dirty="0">
                <a:latin typeface="Carlito"/>
                <a:cs typeface="Carlito"/>
              </a:rPr>
              <a:t>Training </a:t>
            </a:r>
            <a:r>
              <a:rPr sz="2000" spc="-20" dirty="0">
                <a:latin typeface="Carlito"/>
                <a:cs typeface="Carlito"/>
              </a:rPr>
              <a:t>takes </a:t>
            </a:r>
            <a:r>
              <a:rPr sz="2000" spc="-5" dirty="0">
                <a:latin typeface="Carlito"/>
                <a:cs typeface="Carlito"/>
              </a:rPr>
              <a:t>place on </a:t>
            </a:r>
            <a:r>
              <a:rPr sz="2000" dirty="0">
                <a:latin typeface="Carlito"/>
                <a:cs typeface="Carlito"/>
              </a:rPr>
              <a:t>the actual</a:t>
            </a:r>
            <a:r>
              <a:rPr sz="2000" spc="-40" dirty="0">
                <a:latin typeface="Carlito"/>
                <a:cs typeface="Carlito"/>
              </a:rPr>
              <a:t> </a:t>
            </a:r>
            <a:r>
              <a:rPr sz="2000" spc="-25" dirty="0">
                <a:latin typeface="Carlito"/>
                <a:cs typeface="Carlito"/>
              </a:rPr>
              <a:t>system</a:t>
            </a:r>
            <a:endParaRPr sz="2000">
              <a:latin typeface="Carlito"/>
              <a:cs typeface="Carlito"/>
            </a:endParaRPr>
          </a:p>
          <a:p>
            <a:pPr marL="1536700" lvl="1" indent="-229235">
              <a:lnSpc>
                <a:spcPct val="100000"/>
              </a:lnSpc>
              <a:spcBef>
                <a:spcPts val="290"/>
              </a:spcBef>
              <a:buFont typeface="Arial"/>
              <a:buChar char="–"/>
              <a:tabLst>
                <a:tab pos="1537970" algn="l"/>
              </a:tabLst>
            </a:pPr>
            <a:r>
              <a:rPr sz="2000" spc="-5" dirty="0">
                <a:latin typeface="Carlito"/>
                <a:cs typeface="Carlito"/>
              </a:rPr>
              <a:t>Can occur one-on-one or </a:t>
            </a:r>
            <a:r>
              <a:rPr sz="2000" dirty="0">
                <a:latin typeface="Carlito"/>
                <a:cs typeface="Carlito"/>
              </a:rPr>
              <a:t>in</a:t>
            </a:r>
            <a:r>
              <a:rPr sz="2000" spc="-45" dirty="0">
                <a:latin typeface="Carlito"/>
                <a:cs typeface="Carlito"/>
              </a:rPr>
              <a:t> </a:t>
            </a:r>
            <a:r>
              <a:rPr sz="2000" spc="-15" dirty="0">
                <a:latin typeface="Carlito"/>
                <a:cs typeface="Carlito"/>
              </a:rPr>
              <a:t>groups</a:t>
            </a:r>
            <a:endParaRPr sz="2000">
              <a:latin typeface="Carlito"/>
              <a:cs typeface="Carlito"/>
            </a:endParaRPr>
          </a:p>
          <a:p>
            <a:pPr marL="680720" marR="170815" indent="-287020">
              <a:lnSpc>
                <a:spcPts val="2590"/>
              </a:lnSpc>
              <a:spcBef>
                <a:spcPts val="615"/>
              </a:spcBef>
              <a:buFont typeface="Arial"/>
              <a:buChar char="–"/>
              <a:tabLst>
                <a:tab pos="681990" algn="l"/>
              </a:tabLst>
            </a:pPr>
            <a:r>
              <a:rPr sz="2800" spc="-10" dirty="0"/>
              <a:t>Documentation: </a:t>
            </a:r>
            <a:r>
              <a:rPr sz="2800" spc="-5" dirty="0"/>
              <a:t>Implementation Schedule, </a:t>
            </a:r>
            <a:r>
              <a:rPr sz="2800" spc="-65" dirty="0"/>
              <a:t>Test </a:t>
            </a:r>
            <a:r>
              <a:rPr sz="2800" spc="-15" dirty="0"/>
              <a:t>Data </a:t>
            </a:r>
            <a:r>
              <a:rPr sz="2800" dirty="0"/>
              <a:t>and  </a:t>
            </a:r>
            <a:r>
              <a:rPr sz="2800" spc="-5" dirty="0"/>
              <a:t>Results, </a:t>
            </a:r>
            <a:r>
              <a:rPr sz="2800" dirty="0"/>
              <a:t>and </a:t>
            </a:r>
            <a:r>
              <a:rPr sz="2800" spc="-25" dirty="0"/>
              <a:t>Training</a:t>
            </a:r>
            <a:r>
              <a:rPr sz="2800" spc="-50" dirty="0"/>
              <a:t> </a:t>
            </a:r>
            <a:r>
              <a:rPr sz="2800" spc="-5" dirty="0"/>
              <a:t>Materials</a:t>
            </a:r>
          </a:p>
          <a:p>
            <a:pPr marL="1079500" marR="98425" lvl="1" indent="-228600">
              <a:lnSpc>
                <a:spcPts val="2590"/>
              </a:lnSpc>
              <a:spcBef>
                <a:spcPts val="585"/>
              </a:spcBef>
              <a:buFont typeface="Arial"/>
              <a:buChar char="•"/>
              <a:tabLst>
                <a:tab pos="1080770" algn="l"/>
              </a:tabLst>
            </a:pPr>
            <a:r>
              <a:rPr sz="2000" spc="-5" dirty="0">
                <a:latin typeface="Carlito"/>
                <a:cs typeface="Carlito"/>
              </a:rPr>
              <a:t>Implementation schedule, </a:t>
            </a:r>
            <a:r>
              <a:rPr sz="2000" spc="-15" dirty="0">
                <a:latin typeface="Carlito"/>
                <a:cs typeface="Carlito"/>
              </a:rPr>
              <a:t>test data, test </a:t>
            </a:r>
            <a:r>
              <a:rPr sz="2000" spc="-5" dirty="0">
                <a:latin typeface="Carlito"/>
                <a:cs typeface="Carlito"/>
              </a:rPr>
              <a:t>results,  </a:t>
            </a:r>
            <a:r>
              <a:rPr sz="2000" spc="-10" dirty="0">
                <a:latin typeface="Carlito"/>
                <a:cs typeface="Carlito"/>
              </a:rPr>
              <a:t>training </a:t>
            </a:r>
            <a:r>
              <a:rPr sz="2000" spc="-5" dirty="0">
                <a:latin typeface="Carlito"/>
                <a:cs typeface="Carlito"/>
              </a:rPr>
              <a:t>materials should be </a:t>
            </a:r>
            <a:r>
              <a:rPr sz="2000" spc="-15" dirty="0">
                <a:latin typeface="Carlito"/>
                <a:cs typeface="Carlito"/>
              </a:rPr>
              <a:t>saved </a:t>
            </a:r>
            <a:r>
              <a:rPr sz="2000" spc="-20" dirty="0">
                <a:latin typeface="Carlito"/>
                <a:cs typeface="Carlito"/>
              </a:rPr>
              <a:t>for </a:t>
            </a:r>
            <a:r>
              <a:rPr sz="2000" spc="-10" dirty="0">
                <a:latin typeface="Carlito"/>
                <a:cs typeface="Carlito"/>
              </a:rPr>
              <a:t>future</a:t>
            </a:r>
            <a:r>
              <a:rPr sz="2000" spc="-25" dirty="0">
                <a:latin typeface="Carlito"/>
                <a:cs typeface="Carlito"/>
              </a:rPr>
              <a:t> </a:t>
            </a:r>
            <a:r>
              <a:rPr sz="2000" spc="-20" dirty="0">
                <a:latin typeface="Carlito"/>
                <a:cs typeface="Carlito"/>
              </a:rPr>
              <a:t>reference</a:t>
            </a:r>
            <a:endParaRPr sz="2400">
              <a:latin typeface="Carlito"/>
              <a:cs typeface="Carlito"/>
            </a:endParaRPr>
          </a:p>
        </p:txBody>
      </p:sp>
    </p:spTree>
    <p:extLst>
      <p:ext uri="{BB962C8B-B14F-4D97-AF65-F5344CB8AC3E}">
        <p14:creationId xmlns:p14="http://schemas.microsoft.com/office/powerpoint/2010/main" val="39399000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3" name="object 3"/>
          <p:cNvSpPr/>
          <p:nvPr/>
        </p:nvSpPr>
        <p:spPr>
          <a:xfrm>
            <a:off x="5796153" y="5157190"/>
            <a:ext cx="1429021" cy="109728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204268" y="1813305"/>
            <a:ext cx="6048122" cy="3199892"/>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62</a:t>
            </a:fld>
            <a:endParaRPr spc="-165" dirty="0"/>
          </a:p>
        </p:txBody>
      </p:sp>
    </p:spTree>
    <p:extLst>
      <p:ext uri="{BB962C8B-B14F-4D97-AF65-F5344CB8AC3E}">
        <p14:creationId xmlns:p14="http://schemas.microsoft.com/office/powerpoint/2010/main" val="37475908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grpSp>
        <p:nvGrpSpPr>
          <p:cNvPr id="3" name="object 3"/>
          <p:cNvGrpSpPr/>
          <p:nvPr/>
        </p:nvGrpSpPr>
        <p:grpSpPr>
          <a:xfrm>
            <a:off x="1462280" y="1556766"/>
            <a:ext cx="6736715" cy="4923155"/>
            <a:chOff x="1462280" y="1556766"/>
            <a:chExt cx="6736715" cy="4923155"/>
          </a:xfrm>
        </p:grpSpPr>
        <p:sp>
          <p:nvSpPr>
            <p:cNvPr id="4" name="object 4"/>
            <p:cNvSpPr/>
            <p:nvPr/>
          </p:nvSpPr>
          <p:spPr>
            <a:xfrm>
              <a:off x="1462280" y="1556766"/>
              <a:ext cx="6673115" cy="3659193"/>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6546088" y="5199329"/>
              <a:ext cx="1652397" cy="1280159"/>
            </a:xfrm>
            <a:prstGeom prst="rect">
              <a:avLst/>
            </a:prstGeom>
            <a:blipFill>
              <a:blip r:embed="rId3" cstate="print"/>
              <a:stretch>
                <a:fillRect/>
              </a:stretch>
            </a:blipFill>
          </p:spPr>
          <p:txBody>
            <a:bodyPr wrap="square" lIns="0" tIns="0" rIns="0" bIns="0" rtlCol="0"/>
            <a:lstStyle/>
            <a:p>
              <a:endParaRPr/>
            </a:p>
          </p:txBody>
        </p:sp>
      </p:grpSp>
      <p:sp>
        <p:nvSpPr>
          <p:cNvPr id="7" name="object 7"/>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63</a:t>
            </a:fld>
            <a:endParaRPr spc="-165" dirty="0"/>
          </a:p>
        </p:txBody>
      </p:sp>
    </p:spTree>
    <p:extLst>
      <p:ext uri="{BB962C8B-B14F-4D97-AF65-F5344CB8AC3E}">
        <p14:creationId xmlns:p14="http://schemas.microsoft.com/office/powerpoint/2010/main" val="30338962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64</a:t>
            </a:fld>
            <a:endParaRPr spc="-165" dirty="0"/>
          </a:p>
        </p:txBody>
      </p:sp>
      <p:sp>
        <p:nvSpPr>
          <p:cNvPr id="3" name="object 3"/>
          <p:cNvSpPr txBox="1"/>
          <p:nvPr/>
        </p:nvSpPr>
        <p:spPr>
          <a:xfrm>
            <a:off x="535940" y="1461262"/>
            <a:ext cx="8061325" cy="4164602"/>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20" dirty="0">
                <a:latin typeface="Carlito"/>
                <a:cs typeface="Carlito"/>
              </a:rPr>
              <a:t>System</a:t>
            </a:r>
            <a:r>
              <a:rPr sz="2400" spc="-50" dirty="0">
                <a:latin typeface="Carlito"/>
                <a:cs typeface="Carlito"/>
              </a:rPr>
              <a:t> </a:t>
            </a:r>
            <a:r>
              <a:rPr sz="2400" spc="-10" dirty="0">
                <a:latin typeface="Carlito"/>
                <a:cs typeface="Carlito"/>
              </a:rPr>
              <a:t>Maintenance</a:t>
            </a:r>
            <a:endParaRPr sz="2400">
              <a:latin typeface="Carlito"/>
              <a:cs typeface="Carlito"/>
            </a:endParaRPr>
          </a:p>
          <a:p>
            <a:pPr marL="756285" lvl="1" indent="-287020">
              <a:lnSpc>
                <a:spcPct val="100000"/>
              </a:lnSpc>
              <a:spcBef>
                <a:spcPts val="575"/>
              </a:spcBef>
              <a:buFont typeface="Arial"/>
              <a:buChar char="–"/>
              <a:tabLst>
                <a:tab pos="756920" algn="l"/>
              </a:tabLst>
            </a:pPr>
            <a:r>
              <a:rPr sz="2400" spc="-5" dirty="0">
                <a:latin typeface="Carlito"/>
                <a:cs typeface="Carlito"/>
              </a:rPr>
              <a:t>Maintenance </a:t>
            </a:r>
            <a:r>
              <a:rPr sz="2400" dirty="0">
                <a:latin typeface="Carlito"/>
                <a:cs typeface="Carlito"/>
              </a:rPr>
              <a:t>is an </a:t>
            </a:r>
            <a:r>
              <a:rPr sz="2400" spc="-10" dirty="0">
                <a:latin typeface="Carlito"/>
                <a:cs typeface="Carlito"/>
              </a:rPr>
              <a:t>ongoing</a:t>
            </a:r>
            <a:r>
              <a:rPr sz="2400" spc="-65" dirty="0">
                <a:latin typeface="Carlito"/>
                <a:cs typeface="Carlito"/>
              </a:rPr>
              <a:t> </a:t>
            </a:r>
            <a:r>
              <a:rPr sz="2400" spc="-10" dirty="0">
                <a:latin typeface="Carlito"/>
                <a:cs typeface="Carlito"/>
              </a:rPr>
              <a:t>process</a:t>
            </a:r>
            <a:endParaRPr sz="2400">
              <a:latin typeface="Carlito"/>
              <a:cs typeface="Carlito"/>
            </a:endParaRPr>
          </a:p>
          <a:p>
            <a:pPr marL="756285" lvl="1" indent="-287020">
              <a:lnSpc>
                <a:spcPct val="100000"/>
              </a:lnSpc>
              <a:spcBef>
                <a:spcPts val="580"/>
              </a:spcBef>
              <a:buFont typeface="Arial"/>
              <a:buChar char="–"/>
              <a:tabLst>
                <a:tab pos="756920" algn="l"/>
              </a:tabLst>
            </a:pPr>
            <a:r>
              <a:rPr sz="2400" spc="-5" dirty="0">
                <a:latin typeface="Carlito"/>
                <a:cs typeface="Carlito"/>
              </a:rPr>
              <a:t>Minor adjustments </a:t>
            </a:r>
            <a:r>
              <a:rPr sz="2400" spc="-15" dirty="0">
                <a:latin typeface="Carlito"/>
                <a:cs typeface="Carlito"/>
              </a:rPr>
              <a:t>are </a:t>
            </a:r>
            <a:r>
              <a:rPr sz="2400" dirty="0">
                <a:latin typeface="Carlito"/>
                <a:cs typeface="Carlito"/>
              </a:rPr>
              <a:t>made </a:t>
            </a:r>
            <a:r>
              <a:rPr sz="2400" spc="-15" dirty="0">
                <a:latin typeface="Carlito"/>
                <a:cs typeface="Carlito"/>
              </a:rPr>
              <a:t>to </a:t>
            </a:r>
            <a:r>
              <a:rPr sz="2400" dirty="0">
                <a:latin typeface="Carlito"/>
                <a:cs typeface="Carlito"/>
              </a:rPr>
              <a:t>the </a:t>
            </a:r>
            <a:r>
              <a:rPr sz="2400" spc="-5" dirty="0">
                <a:latin typeface="Carlito"/>
                <a:cs typeface="Carlito"/>
              </a:rPr>
              <a:t>finished </a:t>
            </a:r>
            <a:r>
              <a:rPr sz="2400" spc="-25" dirty="0">
                <a:latin typeface="Carlito"/>
                <a:cs typeface="Carlito"/>
              </a:rPr>
              <a:t>system</a:t>
            </a:r>
            <a:r>
              <a:rPr sz="2400" spc="-30" dirty="0">
                <a:latin typeface="Carlito"/>
                <a:cs typeface="Carlito"/>
              </a:rPr>
              <a:t> </a:t>
            </a:r>
            <a:r>
              <a:rPr sz="2400" spc="-15" dirty="0">
                <a:latin typeface="Carlito"/>
                <a:cs typeface="Carlito"/>
              </a:rPr>
              <a:t>to</a:t>
            </a:r>
            <a:endParaRPr sz="2400">
              <a:latin typeface="Carlito"/>
              <a:cs typeface="Carlito"/>
            </a:endParaRPr>
          </a:p>
          <a:p>
            <a:pPr marL="756285" marR="5080">
              <a:lnSpc>
                <a:spcPct val="100000"/>
              </a:lnSpc>
            </a:pPr>
            <a:r>
              <a:rPr sz="2400" spc="-135" dirty="0">
                <a:latin typeface="Arial"/>
                <a:cs typeface="Arial"/>
              </a:rPr>
              <a:t>keep</a:t>
            </a:r>
            <a:r>
              <a:rPr sz="2400" spc="-155" dirty="0">
                <a:latin typeface="Arial"/>
                <a:cs typeface="Arial"/>
              </a:rPr>
              <a:t> </a:t>
            </a:r>
            <a:r>
              <a:rPr sz="2400" spc="75" dirty="0">
                <a:latin typeface="Arial"/>
                <a:cs typeface="Arial"/>
              </a:rPr>
              <a:t>it</a:t>
            </a:r>
            <a:r>
              <a:rPr sz="2400" spc="-135" dirty="0">
                <a:latin typeface="Arial"/>
                <a:cs typeface="Arial"/>
              </a:rPr>
              <a:t> </a:t>
            </a:r>
            <a:r>
              <a:rPr sz="2400" spc="-65" dirty="0">
                <a:latin typeface="Arial"/>
                <a:cs typeface="Arial"/>
              </a:rPr>
              <a:t>operational</a:t>
            </a:r>
            <a:r>
              <a:rPr sz="2400" spc="-125" dirty="0">
                <a:latin typeface="Arial"/>
                <a:cs typeface="Arial"/>
              </a:rPr>
              <a:t> </a:t>
            </a:r>
            <a:r>
              <a:rPr sz="2400" spc="-5" dirty="0">
                <a:latin typeface="Arial"/>
                <a:cs typeface="Arial"/>
              </a:rPr>
              <a:t>until</a:t>
            </a:r>
            <a:r>
              <a:rPr sz="2400" spc="-120" dirty="0">
                <a:latin typeface="Arial"/>
                <a:cs typeface="Arial"/>
              </a:rPr>
              <a:t> </a:t>
            </a:r>
            <a:r>
              <a:rPr sz="2400" spc="-30" dirty="0">
                <a:latin typeface="Arial"/>
                <a:cs typeface="Arial"/>
              </a:rPr>
              <a:t>the</a:t>
            </a:r>
            <a:r>
              <a:rPr sz="2400" spc="-135" dirty="0">
                <a:latin typeface="Arial"/>
                <a:cs typeface="Arial"/>
              </a:rPr>
              <a:t> </a:t>
            </a:r>
            <a:r>
              <a:rPr sz="2400" spc="-100" dirty="0">
                <a:latin typeface="Arial"/>
                <a:cs typeface="Arial"/>
              </a:rPr>
              <a:t>end</a:t>
            </a:r>
            <a:r>
              <a:rPr sz="2400" spc="-125" dirty="0">
                <a:latin typeface="Arial"/>
                <a:cs typeface="Arial"/>
              </a:rPr>
              <a:t> </a:t>
            </a:r>
            <a:r>
              <a:rPr sz="2400" spc="-5" dirty="0">
                <a:latin typeface="Arial"/>
                <a:cs typeface="Arial"/>
              </a:rPr>
              <a:t>of</a:t>
            </a:r>
            <a:r>
              <a:rPr sz="2400" spc="-120" dirty="0">
                <a:latin typeface="Arial"/>
                <a:cs typeface="Arial"/>
              </a:rPr>
              <a:t> </a:t>
            </a:r>
            <a:r>
              <a:rPr sz="2400" spc="-30" dirty="0">
                <a:latin typeface="Arial"/>
                <a:cs typeface="Arial"/>
              </a:rPr>
              <a:t>the</a:t>
            </a:r>
            <a:r>
              <a:rPr sz="2400" spc="-120" dirty="0">
                <a:latin typeface="Arial"/>
                <a:cs typeface="Arial"/>
              </a:rPr>
              <a:t> </a:t>
            </a:r>
            <a:r>
              <a:rPr sz="2400" spc="-150" dirty="0">
                <a:latin typeface="Arial"/>
                <a:cs typeface="Arial"/>
              </a:rPr>
              <a:t>system’s</a:t>
            </a:r>
            <a:r>
              <a:rPr sz="2400" spc="-155" dirty="0">
                <a:latin typeface="Arial"/>
                <a:cs typeface="Arial"/>
              </a:rPr>
              <a:t> </a:t>
            </a:r>
            <a:r>
              <a:rPr sz="2400" spc="-25" dirty="0">
                <a:latin typeface="Arial"/>
                <a:cs typeface="Arial"/>
              </a:rPr>
              <a:t>life</a:t>
            </a:r>
            <a:r>
              <a:rPr sz="2400" spc="-120" dirty="0">
                <a:latin typeface="Arial"/>
                <a:cs typeface="Arial"/>
              </a:rPr>
              <a:t> </a:t>
            </a:r>
            <a:r>
              <a:rPr sz="2400" spc="-20" dirty="0">
                <a:latin typeface="Arial"/>
                <a:cs typeface="Arial"/>
              </a:rPr>
              <a:t>or</a:t>
            </a:r>
            <a:r>
              <a:rPr sz="2400" spc="-125" dirty="0">
                <a:latin typeface="Arial"/>
                <a:cs typeface="Arial"/>
              </a:rPr>
              <a:t> </a:t>
            </a:r>
            <a:r>
              <a:rPr sz="2400" spc="-5" dirty="0">
                <a:latin typeface="Arial"/>
                <a:cs typeface="Arial"/>
              </a:rPr>
              <a:t>until  </a:t>
            </a:r>
            <a:r>
              <a:rPr sz="2400" dirty="0">
                <a:latin typeface="Carlito"/>
                <a:cs typeface="Carlito"/>
              </a:rPr>
              <a:t>the time </a:t>
            </a:r>
            <a:r>
              <a:rPr sz="2400" spc="-10" dirty="0">
                <a:latin typeface="Carlito"/>
                <a:cs typeface="Carlito"/>
              </a:rPr>
              <a:t>that </a:t>
            </a:r>
            <a:r>
              <a:rPr sz="2400" dirty="0">
                <a:latin typeface="Carlito"/>
                <a:cs typeface="Carlito"/>
              </a:rPr>
              <a:t>the </a:t>
            </a:r>
            <a:r>
              <a:rPr sz="2400" spc="-25" dirty="0">
                <a:latin typeface="Carlito"/>
                <a:cs typeface="Carlito"/>
              </a:rPr>
              <a:t>system </a:t>
            </a:r>
            <a:r>
              <a:rPr sz="2400" spc="-5" dirty="0">
                <a:latin typeface="Carlito"/>
                <a:cs typeface="Carlito"/>
              </a:rPr>
              <a:t>needs </a:t>
            </a:r>
            <a:r>
              <a:rPr sz="2400" spc="-15" dirty="0">
                <a:latin typeface="Carlito"/>
                <a:cs typeface="Carlito"/>
              </a:rPr>
              <a:t>to </a:t>
            </a:r>
            <a:r>
              <a:rPr sz="2400" spc="-5" dirty="0">
                <a:latin typeface="Carlito"/>
                <a:cs typeface="Carlito"/>
              </a:rPr>
              <a:t>be</a:t>
            </a:r>
            <a:r>
              <a:rPr sz="2400" spc="-20" dirty="0">
                <a:latin typeface="Carlito"/>
                <a:cs typeface="Carlito"/>
              </a:rPr>
              <a:t> </a:t>
            </a:r>
            <a:r>
              <a:rPr sz="2400" spc="-10" dirty="0">
                <a:latin typeface="Carlito"/>
                <a:cs typeface="Carlito"/>
              </a:rPr>
              <a:t>redesigned</a:t>
            </a:r>
            <a:endParaRPr sz="240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Post-Implementation</a:t>
            </a:r>
            <a:r>
              <a:rPr sz="2400" spc="-50" dirty="0">
                <a:latin typeface="Carlito"/>
                <a:cs typeface="Carlito"/>
              </a:rPr>
              <a:t> </a:t>
            </a:r>
            <a:r>
              <a:rPr sz="2400" spc="-10" dirty="0">
                <a:latin typeface="Carlito"/>
                <a:cs typeface="Carlito"/>
              </a:rPr>
              <a:t>Review</a:t>
            </a:r>
            <a:endParaRPr sz="2400">
              <a:latin typeface="Carlito"/>
              <a:cs typeface="Carlito"/>
            </a:endParaRPr>
          </a:p>
          <a:p>
            <a:pPr marL="1155700" marR="328930" lvl="2" indent="-228600">
              <a:lnSpc>
                <a:spcPct val="100000"/>
              </a:lnSpc>
              <a:spcBef>
                <a:spcPts val="580"/>
              </a:spcBef>
              <a:buFont typeface="Arial"/>
              <a:buChar char="•"/>
              <a:tabLst>
                <a:tab pos="1156335" algn="l"/>
              </a:tabLst>
            </a:pPr>
            <a:r>
              <a:rPr sz="2400" spc="-5" dirty="0">
                <a:latin typeface="Carlito"/>
                <a:cs typeface="Carlito"/>
              </a:rPr>
              <a:t>Identifies </a:t>
            </a:r>
            <a:r>
              <a:rPr sz="2400" spc="-20" dirty="0">
                <a:latin typeface="Carlito"/>
                <a:cs typeface="Carlito"/>
              </a:rPr>
              <a:t>any </a:t>
            </a:r>
            <a:r>
              <a:rPr sz="2400" spc="-5" dirty="0">
                <a:latin typeface="Carlito"/>
                <a:cs typeface="Carlito"/>
              </a:rPr>
              <a:t>glitches </a:t>
            </a:r>
            <a:r>
              <a:rPr sz="2400" dirty="0">
                <a:latin typeface="Carlito"/>
                <a:cs typeface="Carlito"/>
              </a:rPr>
              <a:t>in the </a:t>
            </a:r>
            <a:r>
              <a:rPr sz="2400" spc="-5" dirty="0">
                <a:latin typeface="Carlito"/>
                <a:cs typeface="Carlito"/>
              </a:rPr>
              <a:t>new </a:t>
            </a:r>
            <a:r>
              <a:rPr sz="2400" spc="-25" dirty="0">
                <a:latin typeface="Carlito"/>
                <a:cs typeface="Carlito"/>
              </a:rPr>
              <a:t>system </a:t>
            </a:r>
            <a:r>
              <a:rPr sz="2400" spc="-10" dirty="0">
                <a:latin typeface="Carlito"/>
                <a:cs typeface="Carlito"/>
              </a:rPr>
              <a:t>that </a:t>
            </a:r>
            <a:r>
              <a:rPr sz="2400" spc="-5" dirty="0">
                <a:latin typeface="Carlito"/>
                <a:cs typeface="Carlito"/>
              </a:rPr>
              <a:t>need </a:t>
            </a:r>
            <a:r>
              <a:rPr sz="2400" spc="-15" dirty="0">
                <a:latin typeface="Carlito"/>
                <a:cs typeface="Carlito"/>
              </a:rPr>
              <a:t>to  </a:t>
            </a:r>
            <a:r>
              <a:rPr sz="2400" spc="-5" dirty="0">
                <a:latin typeface="Carlito"/>
                <a:cs typeface="Carlito"/>
              </a:rPr>
              <a:t>be</a:t>
            </a:r>
            <a:r>
              <a:rPr sz="2400" spc="-20" dirty="0">
                <a:latin typeface="Carlito"/>
                <a:cs typeface="Carlito"/>
              </a:rPr>
              <a:t> </a:t>
            </a:r>
            <a:r>
              <a:rPr sz="2400" spc="-15" dirty="0">
                <a:latin typeface="Carlito"/>
                <a:cs typeface="Carlito"/>
              </a:rPr>
              <a:t>fixed</a:t>
            </a:r>
            <a:endParaRPr sz="2400">
              <a:latin typeface="Carlito"/>
              <a:cs typeface="Carlito"/>
            </a:endParaRPr>
          </a:p>
          <a:p>
            <a:pPr marL="756285" lvl="1" indent="-287020">
              <a:lnSpc>
                <a:spcPct val="100000"/>
              </a:lnSpc>
              <a:spcBef>
                <a:spcPts val="575"/>
              </a:spcBef>
              <a:buFont typeface="Arial"/>
              <a:buChar char="–"/>
              <a:tabLst>
                <a:tab pos="756920" algn="l"/>
              </a:tabLst>
            </a:pPr>
            <a:r>
              <a:rPr sz="2400" dirty="0">
                <a:latin typeface="Carlito"/>
                <a:cs typeface="Carlito"/>
              </a:rPr>
              <a:t>When a major </a:t>
            </a:r>
            <a:r>
              <a:rPr sz="2400" spc="-5" dirty="0">
                <a:latin typeface="Carlito"/>
                <a:cs typeface="Carlito"/>
              </a:rPr>
              <a:t>change </a:t>
            </a:r>
            <a:r>
              <a:rPr sz="2400" dirty="0">
                <a:latin typeface="Carlito"/>
                <a:cs typeface="Carlito"/>
              </a:rPr>
              <a:t>is </a:t>
            </a:r>
            <a:r>
              <a:rPr sz="2400" spc="-5" dirty="0">
                <a:latin typeface="Carlito"/>
                <a:cs typeface="Carlito"/>
              </a:rPr>
              <a:t>needed, </a:t>
            </a:r>
            <a:r>
              <a:rPr sz="2400" dirty="0">
                <a:latin typeface="Carlito"/>
                <a:cs typeface="Carlito"/>
              </a:rPr>
              <a:t>the </a:t>
            </a:r>
            <a:r>
              <a:rPr sz="2400" spc="-10" dirty="0">
                <a:latin typeface="Carlito"/>
                <a:cs typeface="Carlito"/>
              </a:rPr>
              <a:t>project </a:t>
            </a:r>
            <a:r>
              <a:rPr sz="2400" spc="-10">
                <a:latin typeface="Carlito"/>
                <a:cs typeface="Carlito"/>
              </a:rPr>
              <a:t>goes</a:t>
            </a:r>
            <a:r>
              <a:rPr sz="2400" spc="-70">
                <a:latin typeface="Carlito"/>
                <a:cs typeface="Carlito"/>
              </a:rPr>
              <a:t> </a:t>
            </a:r>
            <a:r>
              <a:rPr sz="2400" spc="-10">
                <a:latin typeface="Carlito"/>
                <a:cs typeface="Carlito"/>
              </a:rPr>
              <a:t>through</a:t>
            </a:r>
            <a:r>
              <a:rPr lang="en-US" sz="2400" spc="-10" dirty="0">
                <a:latin typeface="Carlito"/>
                <a:cs typeface="Carlito"/>
              </a:rPr>
              <a:t> </a:t>
            </a:r>
            <a:r>
              <a:rPr sz="2400">
                <a:latin typeface="Carlito"/>
                <a:cs typeface="Carlito"/>
              </a:rPr>
              <a:t>the </a:t>
            </a:r>
            <a:r>
              <a:rPr sz="2400" spc="-10" dirty="0">
                <a:latin typeface="Carlito"/>
                <a:cs typeface="Carlito"/>
              </a:rPr>
              <a:t>SDLC</a:t>
            </a:r>
            <a:r>
              <a:rPr sz="2400" spc="-40" dirty="0">
                <a:latin typeface="Carlito"/>
                <a:cs typeface="Carlito"/>
              </a:rPr>
              <a:t> </a:t>
            </a:r>
            <a:r>
              <a:rPr sz="2400" spc="-10" dirty="0">
                <a:latin typeface="Carlito"/>
                <a:cs typeface="Carlito"/>
              </a:rPr>
              <a:t>again</a:t>
            </a:r>
            <a:endParaRPr sz="2400">
              <a:latin typeface="Carlito"/>
              <a:cs typeface="Carlito"/>
            </a:endParaRPr>
          </a:p>
        </p:txBody>
      </p:sp>
    </p:spTree>
    <p:extLst>
      <p:ext uri="{BB962C8B-B14F-4D97-AF65-F5344CB8AC3E}">
        <p14:creationId xmlns:p14="http://schemas.microsoft.com/office/powerpoint/2010/main" val="25431737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65</a:t>
            </a:fld>
            <a:endParaRPr spc="-165" dirty="0"/>
          </a:p>
        </p:txBody>
      </p:sp>
      <p:sp>
        <p:nvSpPr>
          <p:cNvPr id="3" name="object 3"/>
          <p:cNvSpPr txBox="1"/>
          <p:nvPr/>
        </p:nvSpPr>
        <p:spPr>
          <a:xfrm>
            <a:off x="535940" y="1461262"/>
            <a:ext cx="7679690" cy="2074545"/>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10" dirty="0">
                <a:latin typeface="Carlito"/>
                <a:cs typeface="Carlito"/>
              </a:rPr>
              <a:t>Documentation: Completed Project</a:t>
            </a:r>
            <a:r>
              <a:rPr sz="2400" spc="-80" dirty="0">
                <a:latin typeface="Carlito"/>
                <a:cs typeface="Carlito"/>
              </a:rPr>
              <a:t> </a:t>
            </a:r>
            <a:r>
              <a:rPr sz="2400" spc="-10" dirty="0">
                <a:latin typeface="Carlito"/>
                <a:cs typeface="Carlito"/>
              </a:rPr>
              <a:t>Folder</a:t>
            </a:r>
            <a:endParaRPr sz="2400">
              <a:latin typeface="Carlito"/>
              <a:cs typeface="Carlito"/>
            </a:endParaRPr>
          </a:p>
          <a:p>
            <a:pPr marL="756285" marR="5080" lvl="1" indent="-287020">
              <a:lnSpc>
                <a:spcPct val="100000"/>
              </a:lnSpc>
              <a:spcBef>
                <a:spcPts val="575"/>
              </a:spcBef>
              <a:buFont typeface="Arial"/>
              <a:buChar char="–"/>
              <a:tabLst>
                <a:tab pos="756920" algn="l"/>
              </a:tabLst>
            </a:pPr>
            <a:r>
              <a:rPr sz="2400" spc="-5" dirty="0">
                <a:latin typeface="Carlito"/>
                <a:cs typeface="Carlito"/>
              </a:rPr>
              <a:t>Results of </a:t>
            </a:r>
            <a:r>
              <a:rPr sz="2400" dirty="0">
                <a:latin typeface="Carlito"/>
                <a:cs typeface="Carlito"/>
              </a:rPr>
              <a:t>the </a:t>
            </a:r>
            <a:r>
              <a:rPr sz="2400" spc="-10" dirty="0">
                <a:latin typeface="Carlito"/>
                <a:cs typeface="Carlito"/>
              </a:rPr>
              <a:t>post-implementation review </a:t>
            </a:r>
            <a:r>
              <a:rPr sz="2400" spc="-15" dirty="0">
                <a:latin typeface="Carlito"/>
                <a:cs typeface="Carlito"/>
              </a:rPr>
              <a:t>are </a:t>
            </a:r>
            <a:r>
              <a:rPr sz="2400" dirty="0">
                <a:latin typeface="Carlito"/>
                <a:cs typeface="Carlito"/>
              </a:rPr>
              <a:t>added </a:t>
            </a:r>
            <a:r>
              <a:rPr sz="2400" spc="-15" dirty="0">
                <a:latin typeface="Carlito"/>
                <a:cs typeface="Carlito"/>
              </a:rPr>
              <a:t>to  </a:t>
            </a:r>
            <a:r>
              <a:rPr sz="2400" dirty="0">
                <a:latin typeface="Carlito"/>
                <a:cs typeface="Carlito"/>
              </a:rPr>
              <a:t>the </a:t>
            </a:r>
            <a:r>
              <a:rPr sz="2400" spc="-10" dirty="0">
                <a:latin typeface="Carlito"/>
                <a:cs typeface="Carlito"/>
              </a:rPr>
              <a:t>accumulated</a:t>
            </a:r>
            <a:r>
              <a:rPr sz="2400" spc="-50" dirty="0">
                <a:latin typeface="Carlito"/>
                <a:cs typeface="Carlito"/>
              </a:rPr>
              <a:t> </a:t>
            </a:r>
            <a:r>
              <a:rPr sz="2400" spc="-10" dirty="0">
                <a:latin typeface="Carlito"/>
                <a:cs typeface="Carlito"/>
              </a:rPr>
              <a:t>documentation</a:t>
            </a:r>
            <a:endParaRPr sz="2400">
              <a:latin typeface="Carlito"/>
              <a:cs typeface="Carlito"/>
            </a:endParaRPr>
          </a:p>
          <a:p>
            <a:pPr marL="756285" marR="36195" lvl="1" indent="-287020">
              <a:lnSpc>
                <a:spcPct val="100000"/>
              </a:lnSpc>
              <a:spcBef>
                <a:spcPts val="580"/>
              </a:spcBef>
              <a:buFont typeface="Arial"/>
              <a:buChar char="–"/>
              <a:tabLst>
                <a:tab pos="756920" algn="l"/>
              </a:tabLst>
            </a:pPr>
            <a:r>
              <a:rPr sz="2400" spc="-10" dirty="0">
                <a:latin typeface="Carlito"/>
                <a:cs typeface="Carlito"/>
              </a:rPr>
              <a:t>Information can </a:t>
            </a:r>
            <a:r>
              <a:rPr sz="2400" spc="-5" dirty="0">
                <a:latin typeface="Carlito"/>
                <a:cs typeface="Carlito"/>
              </a:rPr>
              <a:t>be </a:t>
            </a:r>
            <a:r>
              <a:rPr sz="2400" spc="-10" dirty="0">
                <a:latin typeface="Carlito"/>
                <a:cs typeface="Carlito"/>
              </a:rPr>
              <a:t>useful </a:t>
            </a:r>
            <a:r>
              <a:rPr sz="2400" spc="-15" dirty="0">
                <a:latin typeface="Carlito"/>
                <a:cs typeface="Carlito"/>
              </a:rPr>
              <a:t>to </a:t>
            </a:r>
            <a:r>
              <a:rPr sz="2400" spc="-10" dirty="0">
                <a:latin typeface="Carlito"/>
                <a:cs typeface="Carlito"/>
              </a:rPr>
              <a:t>auditors </a:t>
            </a:r>
            <a:r>
              <a:rPr sz="2400" dirty="0">
                <a:latin typeface="Carlito"/>
                <a:cs typeface="Carlito"/>
              </a:rPr>
              <a:t>who </a:t>
            </a:r>
            <a:r>
              <a:rPr sz="2400" spc="-20" dirty="0">
                <a:latin typeface="Carlito"/>
                <a:cs typeface="Carlito"/>
              </a:rPr>
              <a:t>may </a:t>
            </a:r>
            <a:r>
              <a:rPr sz="2400" dirty="0">
                <a:latin typeface="Carlito"/>
                <a:cs typeface="Carlito"/>
              </a:rPr>
              <a:t>check </a:t>
            </a:r>
            <a:r>
              <a:rPr sz="2400" spc="-15" dirty="0">
                <a:latin typeface="Carlito"/>
                <a:cs typeface="Carlito"/>
              </a:rPr>
              <a:t>to  </a:t>
            </a:r>
            <a:r>
              <a:rPr sz="2400" spc="-5" dirty="0">
                <a:latin typeface="Carlito"/>
                <a:cs typeface="Carlito"/>
              </a:rPr>
              <a:t>see </a:t>
            </a:r>
            <a:r>
              <a:rPr sz="2400" spc="-10" dirty="0">
                <a:latin typeface="Carlito"/>
                <a:cs typeface="Carlito"/>
              </a:rPr>
              <a:t>that proper procedures </a:t>
            </a:r>
            <a:r>
              <a:rPr sz="2400" spc="-15" dirty="0">
                <a:latin typeface="Carlito"/>
                <a:cs typeface="Carlito"/>
              </a:rPr>
              <a:t>were</a:t>
            </a:r>
            <a:r>
              <a:rPr sz="2400" spc="-10" dirty="0">
                <a:latin typeface="Carlito"/>
                <a:cs typeface="Carlito"/>
              </a:rPr>
              <a:t> </a:t>
            </a:r>
            <a:r>
              <a:rPr sz="2400" spc="-15" dirty="0">
                <a:latin typeface="Carlito"/>
                <a:cs typeface="Carlito"/>
              </a:rPr>
              <a:t>followed</a:t>
            </a:r>
            <a:endParaRPr sz="2400">
              <a:latin typeface="Carlito"/>
              <a:cs typeface="Carlito"/>
            </a:endParaRPr>
          </a:p>
        </p:txBody>
      </p:sp>
    </p:spTree>
    <p:extLst>
      <p:ext uri="{BB962C8B-B14F-4D97-AF65-F5344CB8AC3E}">
        <p14:creationId xmlns:p14="http://schemas.microsoft.com/office/powerpoint/2010/main" val="42848222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414655"/>
            <a:ext cx="6562725" cy="513715"/>
          </a:xfrm>
          <a:prstGeom prst="rect">
            <a:avLst/>
          </a:prstGeom>
        </p:spPr>
        <p:txBody>
          <a:bodyPr vert="horz" wrap="square" lIns="0" tIns="13335" rIns="0" bIns="0" rtlCol="0">
            <a:spAutoFit/>
          </a:bodyPr>
          <a:lstStyle/>
          <a:p>
            <a:pPr marL="12700">
              <a:lnSpc>
                <a:spcPct val="100000"/>
              </a:lnSpc>
              <a:spcBef>
                <a:spcPts val="105"/>
              </a:spcBef>
            </a:pPr>
            <a:r>
              <a:rPr spc="25" dirty="0"/>
              <a:t>Approaches </a:t>
            </a:r>
            <a:r>
              <a:rPr spc="-15" dirty="0"/>
              <a:t>to </a:t>
            </a:r>
            <a:r>
              <a:rPr dirty="0"/>
              <a:t>System</a:t>
            </a:r>
            <a:r>
              <a:rPr spc="-325" dirty="0"/>
              <a:t> </a:t>
            </a:r>
            <a:r>
              <a:rPr spc="5" dirty="0"/>
              <a:t>Development</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66</a:t>
            </a:fld>
            <a:endParaRPr spc="-165" dirty="0"/>
          </a:p>
        </p:txBody>
      </p:sp>
      <p:sp>
        <p:nvSpPr>
          <p:cNvPr id="3" name="object 3"/>
          <p:cNvSpPr txBox="1"/>
          <p:nvPr/>
        </p:nvSpPr>
        <p:spPr>
          <a:xfrm>
            <a:off x="535940" y="1461262"/>
            <a:ext cx="6316980" cy="3537585"/>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5" dirty="0">
                <a:latin typeface="Carlito"/>
                <a:cs typeface="Carlito"/>
              </a:rPr>
              <a:t>The </a:t>
            </a:r>
            <a:r>
              <a:rPr sz="2400" spc="-20" dirty="0">
                <a:latin typeface="Carlito"/>
                <a:cs typeface="Carlito"/>
              </a:rPr>
              <a:t>Traditional </a:t>
            </a:r>
            <a:r>
              <a:rPr sz="2400" spc="-10" dirty="0">
                <a:latin typeface="Carlito"/>
                <a:cs typeface="Carlito"/>
              </a:rPr>
              <a:t>Approach</a:t>
            </a:r>
            <a:endParaRPr sz="240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SDLC </a:t>
            </a:r>
            <a:r>
              <a:rPr sz="2400" spc="-5" dirty="0">
                <a:latin typeface="Carlito"/>
                <a:cs typeface="Carlito"/>
              </a:rPr>
              <a:t>phases </a:t>
            </a:r>
            <a:r>
              <a:rPr sz="2400" spc="-15" dirty="0">
                <a:latin typeface="Carlito"/>
                <a:cs typeface="Carlito"/>
              </a:rPr>
              <a:t>are </a:t>
            </a:r>
            <a:r>
              <a:rPr sz="2400" spc="-5" dirty="0">
                <a:latin typeface="Carlito"/>
                <a:cs typeface="Carlito"/>
              </a:rPr>
              <a:t>carried out </a:t>
            </a:r>
            <a:r>
              <a:rPr sz="2400" dirty="0">
                <a:latin typeface="Carlito"/>
                <a:cs typeface="Carlito"/>
              </a:rPr>
              <a:t>in a </a:t>
            </a:r>
            <a:r>
              <a:rPr sz="2400" spc="-10" dirty="0">
                <a:latin typeface="Carlito"/>
                <a:cs typeface="Carlito"/>
              </a:rPr>
              <a:t>preset</a:t>
            </a:r>
            <a:r>
              <a:rPr sz="2400" spc="-65" dirty="0">
                <a:latin typeface="Carlito"/>
                <a:cs typeface="Carlito"/>
              </a:rPr>
              <a:t> </a:t>
            </a:r>
            <a:r>
              <a:rPr sz="2400" spc="-15" dirty="0">
                <a:latin typeface="Carlito"/>
                <a:cs typeface="Carlito"/>
              </a:rPr>
              <a:t>order</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5" dirty="0">
                <a:latin typeface="Carlito"/>
                <a:cs typeface="Carlito"/>
              </a:rPr>
              <a:t>Preliminary</a:t>
            </a:r>
            <a:r>
              <a:rPr sz="2400" spc="-40" dirty="0">
                <a:latin typeface="Carlito"/>
                <a:cs typeface="Carlito"/>
              </a:rPr>
              <a:t> </a:t>
            </a:r>
            <a:r>
              <a:rPr sz="2400" spc="-15" dirty="0">
                <a:latin typeface="Carlito"/>
                <a:cs typeface="Carlito"/>
              </a:rPr>
              <a:t>investigation</a:t>
            </a:r>
            <a:endParaRPr sz="2400">
              <a:latin typeface="Carlito"/>
              <a:cs typeface="Carlito"/>
            </a:endParaRPr>
          </a:p>
          <a:p>
            <a:pPr marL="1155700" lvl="2" indent="-229235">
              <a:lnSpc>
                <a:spcPct val="100000"/>
              </a:lnSpc>
              <a:spcBef>
                <a:spcPts val="575"/>
              </a:spcBef>
              <a:buFont typeface="Arial"/>
              <a:buChar char="•"/>
              <a:tabLst>
                <a:tab pos="1156335" algn="l"/>
              </a:tabLst>
            </a:pPr>
            <a:r>
              <a:rPr sz="2400" spc="-20" dirty="0">
                <a:latin typeface="Carlito"/>
                <a:cs typeface="Carlito"/>
              </a:rPr>
              <a:t>System</a:t>
            </a:r>
            <a:r>
              <a:rPr sz="2400" spc="-50" dirty="0">
                <a:latin typeface="Carlito"/>
                <a:cs typeface="Carlito"/>
              </a:rPr>
              <a:t> </a:t>
            </a:r>
            <a:r>
              <a:rPr sz="2400" spc="-5" dirty="0">
                <a:latin typeface="Carlito"/>
                <a:cs typeface="Carlito"/>
              </a:rPr>
              <a:t>analysis</a:t>
            </a:r>
            <a:endParaRPr sz="2400">
              <a:latin typeface="Carlito"/>
              <a:cs typeface="Carlito"/>
            </a:endParaRPr>
          </a:p>
          <a:p>
            <a:pPr marL="1155700" lvl="2" indent="-229235">
              <a:lnSpc>
                <a:spcPct val="100000"/>
              </a:lnSpc>
              <a:spcBef>
                <a:spcPts val="575"/>
              </a:spcBef>
              <a:buFont typeface="Arial"/>
              <a:buChar char="•"/>
              <a:tabLst>
                <a:tab pos="1156335" algn="l"/>
              </a:tabLst>
            </a:pPr>
            <a:r>
              <a:rPr sz="2400" spc="-20" dirty="0">
                <a:latin typeface="Carlito"/>
                <a:cs typeface="Carlito"/>
              </a:rPr>
              <a:t>System</a:t>
            </a:r>
            <a:r>
              <a:rPr sz="2400" spc="-50" dirty="0">
                <a:latin typeface="Carlito"/>
                <a:cs typeface="Carlito"/>
              </a:rPr>
              <a:t> </a:t>
            </a:r>
            <a:r>
              <a:rPr sz="2400" spc="-5" dirty="0">
                <a:latin typeface="Carlito"/>
                <a:cs typeface="Carlito"/>
              </a:rPr>
              <a:t>design</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20" dirty="0">
                <a:latin typeface="Carlito"/>
                <a:cs typeface="Carlito"/>
              </a:rPr>
              <a:t>System</a:t>
            </a:r>
            <a:r>
              <a:rPr sz="2400" spc="-55" dirty="0">
                <a:latin typeface="Carlito"/>
                <a:cs typeface="Carlito"/>
              </a:rPr>
              <a:t> </a:t>
            </a:r>
            <a:r>
              <a:rPr sz="2400" dirty="0">
                <a:latin typeface="Carlito"/>
                <a:cs typeface="Carlito"/>
              </a:rPr>
              <a:t>acquisition</a:t>
            </a:r>
            <a:endParaRPr sz="2400">
              <a:latin typeface="Carlito"/>
              <a:cs typeface="Carlito"/>
            </a:endParaRPr>
          </a:p>
          <a:p>
            <a:pPr marL="1155700" lvl="2" indent="-229235">
              <a:lnSpc>
                <a:spcPct val="100000"/>
              </a:lnSpc>
              <a:spcBef>
                <a:spcPts val="575"/>
              </a:spcBef>
              <a:buFont typeface="Arial"/>
              <a:buChar char="•"/>
              <a:tabLst>
                <a:tab pos="1156335" algn="l"/>
              </a:tabLst>
            </a:pPr>
            <a:r>
              <a:rPr sz="2400" spc="-20" dirty="0">
                <a:latin typeface="Carlito"/>
                <a:cs typeface="Carlito"/>
              </a:rPr>
              <a:t>System</a:t>
            </a:r>
            <a:r>
              <a:rPr sz="2400" spc="-50" dirty="0">
                <a:latin typeface="Carlito"/>
                <a:cs typeface="Carlito"/>
              </a:rPr>
              <a:t> </a:t>
            </a:r>
            <a:r>
              <a:rPr sz="2400" spc="-5" dirty="0">
                <a:latin typeface="Carlito"/>
                <a:cs typeface="Carlito"/>
              </a:rPr>
              <a:t>implementation</a:t>
            </a:r>
            <a:endParaRPr sz="2400">
              <a:latin typeface="Carlito"/>
              <a:cs typeface="Carlito"/>
            </a:endParaRPr>
          </a:p>
          <a:p>
            <a:pPr marL="1155700" lvl="2" indent="-229235">
              <a:lnSpc>
                <a:spcPct val="100000"/>
              </a:lnSpc>
              <a:spcBef>
                <a:spcPts val="575"/>
              </a:spcBef>
              <a:buFont typeface="Arial"/>
              <a:buChar char="•"/>
              <a:tabLst>
                <a:tab pos="1156335" algn="l"/>
              </a:tabLst>
            </a:pPr>
            <a:r>
              <a:rPr sz="2400" spc="-20" dirty="0">
                <a:latin typeface="Carlito"/>
                <a:cs typeface="Carlito"/>
              </a:rPr>
              <a:t>System</a:t>
            </a:r>
            <a:r>
              <a:rPr sz="2400" spc="-50" dirty="0">
                <a:latin typeface="Carlito"/>
                <a:cs typeface="Carlito"/>
              </a:rPr>
              <a:t> </a:t>
            </a:r>
            <a:r>
              <a:rPr sz="2400" spc="-5" dirty="0">
                <a:latin typeface="Carlito"/>
                <a:cs typeface="Carlito"/>
              </a:rPr>
              <a:t>maintenance</a:t>
            </a:r>
            <a:endParaRPr sz="2400">
              <a:latin typeface="Carlito"/>
              <a:cs typeface="Carlito"/>
            </a:endParaRPr>
          </a:p>
        </p:txBody>
      </p:sp>
    </p:spTree>
    <p:extLst>
      <p:ext uri="{BB962C8B-B14F-4D97-AF65-F5344CB8AC3E}">
        <p14:creationId xmlns:p14="http://schemas.microsoft.com/office/powerpoint/2010/main" val="38355911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85825" marR="5080">
              <a:lnSpc>
                <a:spcPct val="100000"/>
              </a:lnSpc>
              <a:spcBef>
                <a:spcPts val="100"/>
              </a:spcBef>
            </a:pPr>
            <a:r>
              <a:rPr spc="-65" dirty="0"/>
              <a:t>The </a:t>
            </a:r>
            <a:r>
              <a:rPr dirty="0"/>
              <a:t>System </a:t>
            </a:r>
            <a:r>
              <a:rPr spc="10" dirty="0"/>
              <a:t>Development </a:t>
            </a:r>
            <a:r>
              <a:rPr spc="-125" dirty="0"/>
              <a:t>Life</a:t>
            </a:r>
            <a:r>
              <a:rPr spc="-365" dirty="0"/>
              <a:t> </a:t>
            </a:r>
            <a:r>
              <a:rPr spc="-65" dirty="0"/>
              <a:t>Cycle  </a:t>
            </a:r>
            <a:r>
              <a:rPr spc="-5" dirty="0"/>
              <a:t>(SDLC)</a:t>
            </a:r>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67</a:t>
            </a:fld>
            <a:endParaRPr spc="-165" dirty="0"/>
          </a:p>
        </p:txBody>
      </p:sp>
      <p:sp>
        <p:nvSpPr>
          <p:cNvPr id="3" name="object 3"/>
          <p:cNvSpPr txBox="1"/>
          <p:nvPr/>
        </p:nvSpPr>
        <p:spPr>
          <a:xfrm>
            <a:off x="535940" y="1461262"/>
            <a:ext cx="7971790" cy="4687822"/>
          </a:xfrm>
          <a:prstGeom prst="rect">
            <a:avLst/>
          </a:prstGeom>
        </p:spPr>
        <p:txBody>
          <a:bodyPr vert="horz" wrap="square" lIns="0" tIns="85725" rIns="0" bIns="0" rtlCol="0">
            <a:spAutoFit/>
          </a:bodyPr>
          <a:lstStyle/>
          <a:p>
            <a:pPr marL="756285" indent="-287020">
              <a:lnSpc>
                <a:spcPct val="100000"/>
              </a:lnSpc>
              <a:spcBef>
                <a:spcPts val="675"/>
              </a:spcBef>
              <a:buFont typeface="Arial"/>
              <a:buChar char="–"/>
              <a:tabLst>
                <a:tab pos="756920" algn="l"/>
              </a:tabLst>
            </a:pPr>
            <a:r>
              <a:rPr sz="2400" spc="-20" dirty="0">
                <a:latin typeface="Carlito"/>
                <a:cs typeface="Carlito"/>
              </a:rPr>
              <a:t>Referred </a:t>
            </a:r>
            <a:r>
              <a:rPr sz="2400" spc="-15" dirty="0">
                <a:latin typeface="Carlito"/>
                <a:cs typeface="Carlito"/>
              </a:rPr>
              <a:t>to </a:t>
            </a:r>
            <a:r>
              <a:rPr sz="2400" dirty="0">
                <a:latin typeface="Carlito"/>
                <a:cs typeface="Carlito"/>
              </a:rPr>
              <a:t>as the </a:t>
            </a:r>
            <a:r>
              <a:rPr sz="2400" spc="-15" dirty="0">
                <a:latin typeface="Carlito"/>
                <a:cs typeface="Carlito"/>
              </a:rPr>
              <a:t>waterfall</a:t>
            </a:r>
            <a:r>
              <a:rPr sz="2400" spc="-35" dirty="0">
                <a:latin typeface="Carlito"/>
                <a:cs typeface="Carlito"/>
              </a:rPr>
              <a:t> </a:t>
            </a:r>
            <a:r>
              <a:rPr sz="2400" dirty="0">
                <a:latin typeface="Carlito"/>
                <a:cs typeface="Carlito"/>
              </a:rPr>
              <a:t>model</a:t>
            </a:r>
            <a:endParaRPr sz="2400">
              <a:latin typeface="Carlito"/>
              <a:cs typeface="Carlito"/>
            </a:endParaRPr>
          </a:p>
          <a:p>
            <a:pPr marL="1155700" marR="1268095" lvl="1" indent="-228600">
              <a:lnSpc>
                <a:spcPct val="100000"/>
              </a:lnSpc>
              <a:spcBef>
                <a:spcPts val="575"/>
              </a:spcBef>
              <a:buFont typeface="Arial"/>
              <a:buChar char="•"/>
              <a:tabLst>
                <a:tab pos="1156335" algn="l"/>
              </a:tabLst>
            </a:pPr>
            <a:r>
              <a:rPr sz="2400" spc="-10" dirty="0">
                <a:latin typeface="Carlito"/>
                <a:cs typeface="Carlito"/>
              </a:rPr>
              <a:t>Each </a:t>
            </a:r>
            <a:r>
              <a:rPr sz="2400" spc="-5" dirty="0">
                <a:latin typeface="Carlito"/>
                <a:cs typeface="Carlito"/>
              </a:rPr>
              <a:t>phase begins </a:t>
            </a:r>
            <a:r>
              <a:rPr sz="2400" spc="-10" dirty="0">
                <a:latin typeface="Carlito"/>
                <a:cs typeface="Carlito"/>
              </a:rPr>
              <a:t>only </a:t>
            </a:r>
            <a:r>
              <a:rPr sz="2400" dirty="0">
                <a:latin typeface="Carlito"/>
                <a:cs typeface="Carlito"/>
              </a:rPr>
              <a:t>when </a:t>
            </a:r>
            <a:r>
              <a:rPr sz="2400" spc="-10" dirty="0">
                <a:latin typeface="Carlito"/>
                <a:cs typeface="Carlito"/>
              </a:rPr>
              <a:t>previous </a:t>
            </a:r>
            <a:r>
              <a:rPr sz="2400" spc="-5" dirty="0">
                <a:latin typeface="Carlito"/>
                <a:cs typeface="Carlito"/>
              </a:rPr>
              <a:t>one </a:t>
            </a:r>
            <a:r>
              <a:rPr sz="2400" dirty="0">
                <a:latin typeface="Carlito"/>
                <a:cs typeface="Carlito"/>
              </a:rPr>
              <a:t>is  </a:t>
            </a:r>
            <a:r>
              <a:rPr sz="2400" spc="-10" dirty="0">
                <a:latin typeface="Carlito"/>
                <a:cs typeface="Carlito"/>
              </a:rPr>
              <a:t>completed</a:t>
            </a:r>
            <a:endParaRPr sz="2400">
              <a:latin typeface="Carlito"/>
              <a:cs typeface="Carlito"/>
            </a:endParaRPr>
          </a:p>
          <a:p>
            <a:pPr marL="756285" indent="-287020">
              <a:lnSpc>
                <a:spcPct val="100000"/>
              </a:lnSpc>
              <a:spcBef>
                <a:spcPts val="580"/>
              </a:spcBef>
              <a:buFont typeface="Arial"/>
              <a:buChar char="–"/>
              <a:tabLst>
                <a:tab pos="756920" algn="l"/>
              </a:tabLst>
            </a:pPr>
            <a:r>
              <a:rPr sz="2400" spc="-10" dirty="0">
                <a:latin typeface="Carlito"/>
                <a:cs typeface="Carlito"/>
              </a:rPr>
              <a:t>Time-consuming</a:t>
            </a:r>
            <a:endParaRPr sz="2400">
              <a:latin typeface="Carlito"/>
              <a:cs typeface="Carlito"/>
            </a:endParaRPr>
          </a:p>
          <a:p>
            <a:pPr marL="355600" indent="-343535">
              <a:lnSpc>
                <a:spcPct val="100000"/>
              </a:lnSpc>
              <a:spcBef>
                <a:spcPts val="575"/>
              </a:spcBef>
              <a:buFont typeface="Arial"/>
              <a:buChar char="•"/>
              <a:tabLst>
                <a:tab pos="355600" algn="l"/>
                <a:tab pos="356235" algn="l"/>
              </a:tabLst>
            </a:pPr>
            <a:r>
              <a:rPr sz="2400" spc="-5" dirty="0">
                <a:latin typeface="Carlito"/>
                <a:cs typeface="Carlito"/>
              </a:rPr>
              <a:t>The </a:t>
            </a:r>
            <a:r>
              <a:rPr sz="2400" spc="-15" dirty="0">
                <a:latin typeface="Carlito"/>
                <a:cs typeface="Carlito"/>
              </a:rPr>
              <a:t>Iterative </a:t>
            </a:r>
            <a:r>
              <a:rPr sz="2400" spc="-10" dirty="0">
                <a:latin typeface="Carlito"/>
                <a:cs typeface="Carlito"/>
              </a:rPr>
              <a:t>Approach</a:t>
            </a:r>
            <a:endParaRPr sz="2400">
              <a:latin typeface="Carlito"/>
              <a:cs typeface="Carlito"/>
            </a:endParaRPr>
          </a:p>
          <a:p>
            <a:pPr marL="756285" lvl="1" indent="-287020">
              <a:lnSpc>
                <a:spcPct val="100000"/>
              </a:lnSpc>
              <a:spcBef>
                <a:spcPts val="580"/>
              </a:spcBef>
              <a:buFont typeface="Arial"/>
              <a:buChar char="–"/>
              <a:tabLst>
                <a:tab pos="756920" algn="l"/>
              </a:tabLst>
            </a:pPr>
            <a:r>
              <a:rPr sz="2400" spc="-20" dirty="0">
                <a:latin typeface="Carlito"/>
                <a:cs typeface="Carlito"/>
              </a:rPr>
              <a:t>System </a:t>
            </a:r>
            <a:r>
              <a:rPr sz="2400" dirty="0">
                <a:latin typeface="Carlito"/>
                <a:cs typeface="Carlito"/>
              </a:rPr>
              <a:t>is </a:t>
            </a:r>
            <a:r>
              <a:rPr sz="2400" spc="-5" dirty="0">
                <a:latin typeface="Carlito"/>
                <a:cs typeface="Carlito"/>
              </a:rPr>
              <a:t>developed</a:t>
            </a:r>
            <a:r>
              <a:rPr sz="2400" spc="-35" dirty="0">
                <a:latin typeface="Carlito"/>
                <a:cs typeface="Carlito"/>
              </a:rPr>
              <a:t> </a:t>
            </a:r>
            <a:r>
              <a:rPr sz="2400" spc="-10" dirty="0">
                <a:latin typeface="Carlito"/>
                <a:cs typeface="Carlito"/>
              </a:rPr>
              <a:t>incrementally</a:t>
            </a:r>
            <a:endParaRPr sz="2400">
              <a:latin typeface="Carlito"/>
              <a:cs typeface="Carlito"/>
            </a:endParaRPr>
          </a:p>
          <a:p>
            <a:pPr marL="1155700" lvl="2" indent="-229235">
              <a:lnSpc>
                <a:spcPct val="100000"/>
              </a:lnSpc>
              <a:spcBef>
                <a:spcPts val="575"/>
              </a:spcBef>
              <a:buFont typeface="Arial"/>
              <a:buChar char="•"/>
              <a:tabLst>
                <a:tab pos="1156335" algn="l"/>
              </a:tabLst>
            </a:pPr>
            <a:r>
              <a:rPr sz="2400" spc="-10" dirty="0">
                <a:latin typeface="Carlito"/>
                <a:cs typeface="Carlito"/>
              </a:rPr>
              <a:t>Steps </a:t>
            </a:r>
            <a:r>
              <a:rPr sz="2400" spc="-15" dirty="0">
                <a:latin typeface="Carlito"/>
                <a:cs typeface="Carlito"/>
              </a:rPr>
              <a:t>are </a:t>
            </a:r>
            <a:r>
              <a:rPr sz="2400" spc="-10" dirty="0">
                <a:latin typeface="Carlito"/>
                <a:cs typeface="Carlito"/>
              </a:rPr>
              <a:t>repeated until </a:t>
            </a:r>
            <a:r>
              <a:rPr sz="2400" dirty="0">
                <a:latin typeface="Carlito"/>
                <a:cs typeface="Carlito"/>
              </a:rPr>
              <a:t>the </a:t>
            </a:r>
            <a:r>
              <a:rPr sz="2400" spc="-25" dirty="0">
                <a:latin typeface="Carlito"/>
                <a:cs typeface="Carlito"/>
              </a:rPr>
              <a:t>system </a:t>
            </a:r>
            <a:r>
              <a:rPr sz="2400" dirty="0">
                <a:latin typeface="Carlito"/>
                <a:cs typeface="Carlito"/>
              </a:rPr>
              <a:t>is </a:t>
            </a:r>
            <a:r>
              <a:rPr sz="2400" spc="-10" dirty="0">
                <a:latin typeface="Carlito"/>
                <a:cs typeface="Carlito"/>
              </a:rPr>
              <a:t>finalized</a:t>
            </a:r>
            <a:endParaRPr sz="2400">
              <a:latin typeface="Carlito"/>
              <a:cs typeface="Carlito"/>
            </a:endParaRPr>
          </a:p>
          <a:p>
            <a:pPr marL="756285" lvl="1" indent="-287020">
              <a:lnSpc>
                <a:spcPct val="100000"/>
              </a:lnSpc>
              <a:spcBef>
                <a:spcPts val="575"/>
              </a:spcBef>
              <a:buFont typeface="Arial"/>
              <a:buChar char="–"/>
              <a:tabLst>
                <a:tab pos="756920" algn="l"/>
              </a:tabLst>
            </a:pPr>
            <a:r>
              <a:rPr sz="2400" spc="-10" dirty="0">
                <a:latin typeface="Carlito"/>
                <a:cs typeface="Carlito"/>
              </a:rPr>
              <a:t>Prototyping</a:t>
            </a:r>
            <a:endParaRPr sz="2400">
              <a:latin typeface="Carlito"/>
              <a:cs typeface="Carlito"/>
            </a:endParaRPr>
          </a:p>
          <a:p>
            <a:pPr marL="1155700" lvl="2" indent="-229235">
              <a:lnSpc>
                <a:spcPct val="100000"/>
              </a:lnSpc>
              <a:spcBef>
                <a:spcPts val="580"/>
              </a:spcBef>
              <a:buFont typeface="Arial"/>
              <a:buChar char="•"/>
              <a:tabLst>
                <a:tab pos="1156335" algn="l"/>
              </a:tabLst>
            </a:pPr>
            <a:r>
              <a:rPr sz="2400" spc="-5" dirty="0">
                <a:latin typeface="Carlito"/>
                <a:cs typeface="Carlito"/>
              </a:rPr>
              <a:t>Small </a:t>
            </a:r>
            <a:r>
              <a:rPr sz="2400" dirty="0">
                <a:latin typeface="Carlito"/>
                <a:cs typeface="Carlito"/>
              </a:rPr>
              <a:t>model, </a:t>
            </a:r>
            <a:r>
              <a:rPr sz="2400" spc="-5" dirty="0">
                <a:latin typeface="Carlito"/>
                <a:cs typeface="Carlito"/>
              </a:rPr>
              <a:t>or </a:t>
            </a:r>
            <a:r>
              <a:rPr sz="2400" spc="-10" dirty="0">
                <a:latin typeface="Carlito"/>
                <a:cs typeface="Carlito"/>
              </a:rPr>
              <a:t>prototype, </a:t>
            </a:r>
            <a:r>
              <a:rPr sz="2400" spc="-5" dirty="0">
                <a:latin typeface="Carlito"/>
                <a:cs typeface="Carlito"/>
              </a:rPr>
              <a:t>of </a:t>
            </a:r>
            <a:r>
              <a:rPr sz="2400" dirty="0">
                <a:latin typeface="Carlito"/>
                <a:cs typeface="Carlito"/>
              </a:rPr>
              <a:t>the </a:t>
            </a:r>
            <a:r>
              <a:rPr sz="2400" spc="-25" dirty="0">
                <a:latin typeface="Carlito"/>
                <a:cs typeface="Carlito"/>
              </a:rPr>
              <a:t>system </a:t>
            </a:r>
            <a:r>
              <a:rPr sz="2400" dirty="0">
                <a:latin typeface="Carlito"/>
                <a:cs typeface="Carlito"/>
              </a:rPr>
              <a:t>is </a:t>
            </a:r>
            <a:r>
              <a:rPr sz="2400" spc="-5">
                <a:latin typeface="Carlito"/>
                <a:cs typeface="Carlito"/>
              </a:rPr>
              <a:t>built</a:t>
            </a:r>
            <a:r>
              <a:rPr sz="2400" spc="-90">
                <a:latin typeface="Carlito"/>
                <a:cs typeface="Carlito"/>
              </a:rPr>
              <a:t> </a:t>
            </a:r>
            <a:r>
              <a:rPr sz="2400" spc="-25">
                <a:latin typeface="Carlito"/>
                <a:cs typeface="Carlito"/>
              </a:rPr>
              <a:t>before</a:t>
            </a:r>
            <a:r>
              <a:rPr lang="en-US" sz="2400" spc="-25" dirty="0">
                <a:latin typeface="Carlito"/>
                <a:cs typeface="Carlito"/>
              </a:rPr>
              <a:t> </a:t>
            </a:r>
            <a:r>
              <a:rPr sz="2400">
                <a:latin typeface="Carlito"/>
                <a:cs typeface="Carlito"/>
              </a:rPr>
              <a:t>the </a:t>
            </a:r>
            <a:r>
              <a:rPr sz="2400" spc="-5" dirty="0">
                <a:latin typeface="Carlito"/>
                <a:cs typeface="Carlito"/>
              </a:rPr>
              <a:t>full-scale </a:t>
            </a:r>
            <a:r>
              <a:rPr sz="2400" spc="-10" dirty="0">
                <a:latin typeface="Carlito"/>
                <a:cs typeface="Carlito"/>
              </a:rPr>
              <a:t>development </a:t>
            </a:r>
            <a:r>
              <a:rPr sz="2400" spc="-20" dirty="0">
                <a:latin typeface="Carlito"/>
                <a:cs typeface="Carlito"/>
              </a:rPr>
              <a:t>effort </a:t>
            </a:r>
            <a:r>
              <a:rPr sz="2400" dirty="0">
                <a:latin typeface="Carlito"/>
                <a:cs typeface="Carlito"/>
              </a:rPr>
              <a:t>is</a:t>
            </a:r>
            <a:r>
              <a:rPr sz="2400" spc="5" dirty="0">
                <a:latin typeface="Carlito"/>
                <a:cs typeface="Carlito"/>
              </a:rPr>
              <a:t> </a:t>
            </a:r>
            <a:r>
              <a:rPr sz="2400" spc="-15" dirty="0">
                <a:latin typeface="Carlito"/>
                <a:cs typeface="Carlito"/>
              </a:rPr>
              <a:t>undertaken</a:t>
            </a:r>
            <a:endParaRPr sz="2400">
              <a:latin typeface="Carlito"/>
              <a:cs typeface="Carlito"/>
            </a:endParaRPr>
          </a:p>
        </p:txBody>
      </p:sp>
    </p:spTree>
    <p:extLst>
      <p:ext uri="{BB962C8B-B14F-4D97-AF65-F5344CB8AC3E}">
        <p14:creationId xmlns:p14="http://schemas.microsoft.com/office/powerpoint/2010/main" val="22293137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2400"/>
            <a:ext cx="8229600" cy="1397819"/>
          </a:xfrm>
          <a:prstGeom prst="rect">
            <a:avLst/>
          </a:prstGeom>
        </p:spPr>
        <p:txBody>
          <a:bodyPr vert="horz" wrap="square" lIns="0" tIns="12700" rIns="0" bIns="0" rtlCol="0">
            <a:spAutoFit/>
          </a:bodyPr>
          <a:lstStyle/>
          <a:p>
            <a:pPr marL="885825" marR="5080">
              <a:lnSpc>
                <a:spcPct val="100000"/>
              </a:lnSpc>
              <a:spcBef>
                <a:spcPts val="100"/>
              </a:spcBef>
            </a:pPr>
            <a:r>
              <a:rPr lang="en-GB" spc="25" dirty="0"/>
              <a:t>Approaches </a:t>
            </a:r>
            <a:r>
              <a:rPr lang="en-GB" spc="-15" dirty="0"/>
              <a:t>to </a:t>
            </a:r>
            <a:r>
              <a:rPr lang="en-GB" dirty="0"/>
              <a:t>System</a:t>
            </a:r>
            <a:r>
              <a:rPr lang="en-GB" spc="-325" dirty="0"/>
              <a:t> </a:t>
            </a:r>
            <a:r>
              <a:rPr lang="en-GB" spc="5" dirty="0"/>
              <a:t>Development</a:t>
            </a:r>
            <a:endParaRPr spc="-5" dirty="0"/>
          </a:p>
        </p:txBody>
      </p:sp>
      <p:sp>
        <p:nvSpPr>
          <p:cNvPr id="3" name="object 3"/>
          <p:cNvSpPr/>
          <p:nvPr/>
        </p:nvSpPr>
        <p:spPr>
          <a:xfrm>
            <a:off x="1119809" y="1705000"/>
            <a:ext cx="5715000" cy="435292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7092315" y="2132838"/>
            <a:ext cx="1568069" cy="1112844"/>
          </a:xfrm>
          <a:prstGeom prst="rect">
            <a:avLst/>
          </a:prstGeom>
          <a:blipFill>
            <a:blip r:embed="rId3" cstate="print"/>
            <a:stretch>
              <a:fillRect/>
            </a:stretch>
          </a:blipFill>
        </p:spPr>
        <p:txBody>
          <a:bodyPr wrap="square" lIns="0" tIns="0" rIns="0" bIns="0" rtlCol="0"/>
          <a:lstStyle/>
          <a:p>
            <a:endParaRPr/>
          </a:p>
        </p:txBody>
      </p:sp>
      <p:sp>
        <p:nvSpPr>
          <p:cNvPr id="6" name="object 6"/>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68</a:t>
            </a:fld>
            <a:endParaRPr spc="-165" dirty="0"/>
          </a:p>
        </p:txBody>
      </p:sp>
    </p:spTree>
    <p:extLst>
      <p:ext uri="{BB962C8B-B14F-4D97-AF65-F5344CB8AC3E}">
        <p14:creationId xmlns:p14="http://schemas.microsoft.com/office/powerpoint/2010/main" val="1617247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5448"/>
            <a:ext cx="8229600" cy="1397819"/>
          </a:xfrm>
          <a:prstGeom prst="rect">
            <a:avLst/>
          </a:prstGeom>
        </p:spPr>
        <p:txBody>
          <a:bodyPr vert="horz" wrap="square" lIns="0" tIns="12700" rIns="0" bIns="0" rtlCol="0">
            <a:spAutoFit/>
          </a:bodyPr>
          <a:lstStyle/>
          <a:p>
            <a:pPr marL="885825" marR="5080">
              <a:lnSpc>
                <a:spcPct val="100000"/>
              </a:lnSpc>
              <a:spcBef>
                <a:spcPts val="100"/>
              </a:spcBef>
            </a:pPr>
            <a:r>
              <a:rPr lang="en-GB" spc="25" dirty="0"/>
              <a:t>Approaches </a:t>
            </a:r>
            <a:r>
              <a:rPr lang="en-GB" spc="-15" dirty="0"/>
              <a:t>to </a:t>
            </a:r>
            <a:r>
              <a:rPr lang="en-GB" dirty="0"/>
              <a:t>System</a:t>
            </a:r>
            <a:r>
              <a:rPr lang="en-GB" spc="-325" dirty="0"/>
              <a:t> </a:t>
            </a:r>
            <a:r>
              <a:rPr lang="en-GB" spc="5" dirty="0"/>
              <a:t>Development</a:t>
            </a:r>
            <a:endParaRPr spc="-5" dirty="0"/>
          </a:p>
        </p:txBody>
      </p:sp>
      <p:sp>
        <p:nvSpPr>
          <p:cNvPr id="5" name="object 5"/>
          <p:cNvSpPr txBox="1">
            <a:spLocks noGrp="1"/>
          </p:cNvSpPr>
          <p:nvPr>
            <p:ph type="sldNum" sz="quarter" idx="4294967295"/>
          </p:nvPr>
        </p:nvSpPr>
        <p:spPr>
          <a:xfrm>
            <a:off x="8380476" y="6420118"/>
            <a:ext cx="253365" cy="226695"/>
          </a:xfrm>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69</a:t>
            </a:fld>
            <a:endParaRPr spc="-165" dirty="0"/>
          </a:p>
        </p:txBody>
      </p:sp>
      <p:sp>
        <p:nvSpPr>
          <p:cNvPr id="3" name="object 3"/>
          <p:cNvSpPr txBox="1"/>
          <p:nvPr/>
        </p:nvSpPr>
        <p:spPr>
          <a:xfrm>
            <a:off x="535940" y="1461262"/>
            <a:ext cx="8047355" cy="3244850"/>
          </a:xfrm>
          <a:prstGeom prst="rect">
            <a:avLst/>
          </a:prstGeom>
        </p:spPr>
        <p:txBody>
          <a:bodyPr vert="horz" wrap="square" lIns="0" tIns="85725" rIns="0" bIns="0" rtlCol="0">
            <a:spAutoFit/>
          </a:bodyPr>
          <a:lstStyle/>
          <a:p>
            <a:pPr marL="355600" indent="-343535">
              <a:lnSpc>
                <a:spcPct val="100000"/>
              </a:lnSpc>
              <a:spcBef>
                <a:spcPts val="675"/>
              </a:spcBef>
              <a:buFont typeface="Arial"/>
              <a:buChar char="•"/>
              <a:tabLst>
                <a:tab pos="355600" algn="l"/>
                <a:tab pos="356235" algn="l"/>
              </a:tabLst>
            </a:pPr>
            <a:r>
              <a:rPr sz="2400" spc="-5" dirty="0">
                <a:latin typeface="Carlito"/>
                <a:cs typeface="Carlito"/>
              </a:rPr>
              <a:t>The End-User </a:t>
            </a:r>
            <a:r>
              <a:rPr sz="2400" spc="-10" dirty="0">
                <a:latin typeface="Carlito"/>
                <a:cs typeface="Carlito"/>
              </a:rPr>
              <a:t>Development</a:t>
            </a:r>
            <a:r>
              <a:rPr sz="2400" spc="15" dirty="0">
                <a:latin typeface="Carlito"/>
                <a:cs typeface="Carlito"/>
              </a:rPr>
              <a:t> </a:t>
            </a:r>
            <a:r>
              <a:rPr sz="2400" spc="-10" dirty="0">
                <a:latin typeface="Carlito"/>
                <a:cs typeface="Carlito"/>
              </a:rPr>
              <a:t>Approach</a:t>
            </a:r>
            <a:endParaRPr sz="2400">
              <a:latin typeface="Carlito"/>
              <a:cs typeface="Carlito"/>
            </a:endParaRPr>
          </a:p>
          <a:p>
            <a:pPr marL="756285" marR="358775" lvl="1" indent="-287020">
              <a:lnSpc>
                <a:spcPct val="100000"/>
              </a:lnSpc>
              <a:spcBef>
                <a:spcPts val="575"/>
              </a:spcBef>
              <a:buFont typeface="Arial"/>
              <a:buChar char="–"/>
              <a:tabLst>
                <a:tab pos="756920" algn="l"/>
              </a:tabLst>
            </a:pPr>
            <a:r>
              <a:rPr sz="2400" spc="-5" dirty="0">
                <a:latin typeface="Carlito"/>
                <a:cs typeface="Carlito"/>
              </a:rPr>
              <a:t>User </a:t>
            </a:r>
            <a:r>
              <a:rPr sz="2400" dirty="0">
                <a:latin typeface="Carlito"/>
                <a:cs typeface="Carlito"/>
              </a:rPr>
              <a:t>is </a:t>
            </a:r>
            <a:r>
              <a:rPr sz="2400" spc="-5" dirty="0">
                <a:latin typeface="Carlito"/>
                <a:cs typeface="Carlito"/>
              </a:rPr>
              <a:t>primarily responsible </a:t>
            </a:r>
            <a:r>
              <a:rPr sz="2400" spc="-20" dirty="0">
                <a:latin typeface="Carlito"/>
                <a:cs typeface="Carlito"/>
              </a:rPr>
              <a:t>for </a:t>
            </a:r>
            <a:r>
              <a:rPr sz="2400" dirty="0">
                <a:latin typeface="Carlito"/>
                <a:cs typeface="Carlito"/>
              </a:rPr>
              <a:t>the </a:t>
            </a:r>
            <a:r>
              <a:rPr sz="2400" spc="-10" dirty="0">
                <a:latin typeface="Carlito"/>
                <a:cs typeface="Carlito"/>
              </a:rPr>
              <a:t>development </a:t>
            </a:r>
            <a:r>
              <a:rPr sz="2400" spc="-5" dirty="0">
                <a:latin typeface="Carlito"/>
                <a:cs typeface="Carlito"/>
              </a:rPr>
              <a:t>of </a:t>
            </a:r>
            <a:r>
              <a:rPr sz="2400" dirty="0">
                <a:latin typeface="Carlito"/>
                <a:cs typeface="Carlito"/>
              </a:rPr>
              <a:t>the  </a:t>
            </a:r>
            <a:r>
              <a:rPr sz="2400" spc="-25" dirty="0">
                <a:latin typeface="Carlito"/>
                <a:cs typeface="Carlito"/>
              </a:rPr>
              <a:t>system</a:t>
            </a:r>
            <a:endParaRPr sz="2400">
              <a:latin typeface="Carlito"/>
              <a:cs typeface="Carlito"/>
            </a:endParaRPr>
          </a:p>
          <a:p>
            <a:pPr marL="756285" marR="304165" lvl="1" indent="-287020">
              <a:lnSpc>
                <a:spcPct val="100000"/>
              </a:lnSpc>
              <a:spcBef>
                <a:spcPts val="580"/>
              </a:spcBef>
              <a:buFont typeface="Arial"/>
              <a:buChar char="–"/>
              <a:tabLst>
                <a:tab pos="756920" algn="l"/>
              </a:tabLst>
            </a:pPr>
            <a:r>
              <a:rPr sz="2400" spc="-10" dirty="0">
                <a:latin typeface="Carlito"/>
                <a:cs typeface="Carlito"/>
              </a:rPr>
              <a:t>Most feasible </a:t>
            </a:r>
            <a:r>
              <a:rPr sz="2400" dirty="0">
                <a:latin typeface="Carlito"/>
                <a:cs typeface="Carlito"/>
              </a:rPr>
              <a:t>when </a:t>
            </a:r>
            <a:r>
              <a:rPr sz="2400" spc="-25" dirty="0">
                <a:latin typeface="Carlito"/>
                <a:cs typeface="Carlito"/>
              </a:rPr>
              <a:t>system </a:t>
            </a:r>
            <a:r>
              <a:rPr sz="2400" spc="-5" dirty="0">
                <a:latin typeface="Carlito"/>
                <a:cs typeface="Carlito"/>
              </a:rPr>
              <a:t>being developed </a:t>
            </a:r>
            <a:r>
              <a:rPr sz="2400" dirty="0">
                <a:latin typeface="Carlito"/>
                <a:cs typeface="Carlito"/>
              </a:rPr>
              <a:t>is </a:t>
            </a:r>
            <a:r>
              <a:rPr sz="2400" spc="-5" dirty="0">
                <a:latin typeface="Carlito"/>
                <a:cs typeface="Carlito"/>
              </a:rPr>
              <a:t>small </a:t>
            </a:r>
            <a:r>
              <a:rPr sz="2400" dirty="0">
                <a:latin typeface="Carlito"/>
                <a:cs typeface="Carlito"/>
              </a:rPr>
              <a:t>and  </a:t>
            </a:r>
            <a:r>
              <a:rPr sz="2400" spc="-10" dirty="0">
                <a:latin typeface="Carlito"/>
                <a:cs typeface="Carlito"/>
              </a:rPr>
              <a:t>inexpensive</a:t>
            </a:r>
            <a:endParaRPr sz="2400">
              <a:latin typeface="Carlito"/>
              <a:cs typeface="Carlito"/>
            </a:endParaRPr>
          </a:p>
          <a:p>
            <a:pPr marL="756285" marR="5080" lvl="1" indent="-287020">
              <a:lnSpc>
                <a:spcPct val="100000"/>
              </a:lnSpc>
              <a:spcBef>
                <a:spcPts val="575"/>
              </a:spcBef>
              <a:buFont typeface="Arial"/>
              <a:buChar char="–"/>
              <a:tabLst>
                <a:tab pos="756920" algn="l"/>
              </a:tabLst>
            </a:pPr>
            <a:r>
              <a:rPr sz="2400" spc="-5" dirty="0">
                <a:latin typeface="Carlito"/>
                <a:cs typeface="Carlito"/>
              </a:rPr>
              <a:t>Measures </a:t>
            </a:r>
            <a:r>
              <a:rPr sz="2400" spc="-10" dirty="0">
                <a:latin typeface="Carlito"/>
                <a:cs typeface="Carlito"/>
              </a:rPr>
              <a:t>must </a:t>
            </a:r>
            <a:r>
              <a:rPr sz="2400" spc="-5" dirty="0">
                <a:latin typeface="Carlito"/>
                <a:cs typeface="Carlito"/>
              </a:rPr>
              <a:t>be </a:t>
            </a:r>
            <a:r>
              <a:rPr sz="2400" spc="-20" dirty="0">
                <a:latin typeface="Carlito"/>
                <a:cs typeface="Carlito"/>
              </a:rPr>
              <a:t>taken </a:t>
            </a:r>
            <a:r>
              <a:rPr sz="2400" spc="-15" dirty="0">
                <a:latin typeface="Carlito"/>
                <a:cs typeface="Carlito"/>
              </a:rPr>
              <a:t>to </a:t>
            </a:r>
            <a:r>
              <a:rPr sz="2400" spc="-5" dirty="0">
                <a:latin typeface="Carlito"/>
                <a:cs typeface="Carlito"/>
              </a:rPr>
              <a:t>ensure </a:t>
            </a:r>
            <a:r>
              <a:rPr sz="2400" spc="-10" dirty="0">
                <a:latin typeface="Carlito"/>
                <a:cs typeface="Carlito"/>
              </a:rPr>
              <a:t>that </a:t>
            </a:r>
            <a:r>
              <a:rPr sz="2400" dirty="0">
                <a:latin typeface="Carlito"/>
                <a:cs typeface="Carlito"/>
              </a:rPr>
              <a:t>the </a:t>
            </a:r>
            <a:r>
              <a:rPr sz="2400" spc="-25" dirty="0">
                <a:latin typeface="Carlito"/>
                <a:cs typeface="Carlito"/>
              </a:rPr>
              <a:t>system </a:t>
            </a:r>
            <a:r>
              <a:rPr sz="2400" dirty="0">
                <a:latin typeface="Carlito"/>
                <a:cs typeface="Carlito"/>
              </a:rPr>
              <a:t>is  </a:t>
            </a:r>
            <a:r>
              <a:rPr sz="2400" spc="-10" dirty="0">
                <a:latin typeface="Carlito"/>
                <a:cs typeface="Carlito"/>
              </a:rPr>
              <a:t>compatible </a:t>
            </a:r>
            <a:r>
              <a:rPr sz="2400" dirty="0">
                <a:latin typeface="Carlito"/>
                <a:cs typeface="Carlito"/>
              </a:rPr>
              <a:t>with </a:t>
            </a:r>
            <a:r>
              <a:rPr sz="2400" spc="-10" dirty="0">
                <a:latin typeface="Carlito"/>
                <a:cs typeface="Carlito"/>
              </a:rPr>
              <a:t>existing </a:t>
            </a:r>
            <a:r>
              <a:rPr sz="2400" spc="-20" dirty="0">
                <a:latin typeface="Carlito"/>
                <a:cs typeface="Carlito"/>
              </a:rPr>
              <a:t>systems </a:t>
            </a:r>
            <a:r>
              <a:rPr sz="2400" dirty="0">
                <a:latin typeface="Carlito"/>
                <a:cs typeface="Carlito"/>
              </a:rPr>
              <a:t>and </a:t>
            </a:r>
            <a:r>
              <a:rPr sz="2400" spc="-5" dirty="0">
                <a:latin typeface="Carlito"/>
                <a:cs typeface="Carlito"/>
              </a:rPr>
              <a:t>no new </a:t>
            </a:r>
            <a:r>
              <a:rPr sz="2400" spc="-10" dirty="0">
                <a:latin typeface="Carlito"/>
                <a:cs typeface="Carlito"/>
              </a:rPr>
              <a:t>problems </a:t>
            </a:r>
            <a:r>
              <a:rPr sz="2400" spc="-15" dirty="0">
                <a:latin typeface="Carlito"/>
                <a:cs typeface="Carlito"/>
              </a:rPr>
              <a:t>are  </a:t>
            </a:r>
            <a:r>
              <a:rPr sz="2400" spc="-10" dirty="0">
                <a:latin typeface="Carlito"/>
                <a:cs typeface="Carlito"/>
              </a:rPr>
              <a:t>introduced</a:t>
            </a:r>
            <a:endParaRPr sz="2400">
              <a:latin typeface="Carlito"/>
              <a:cs typeface="Carlito"/>
            </a:endParaRPr>
          </a:p>
        </p:txBody>
      </p:sp>
    </p:spTree>
    <p:extLst>
      <p:ext uri="{BB962C8B-B14F-4D97-AF65-F5344CB8AC3E}">
        <p14:creationId xmlns:p14="http://schemas.microsoft.com/office/powerpoint/2010/main" val="39104504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55448"/>
            <a:ext cx="8229600" cy="566822"/>
          </a:xfrm>
          <a:prstGeom prst="rect">
            <a:avLst/>
          </a:prstGeom>
        </p:spPr>
        <p:txBody>
          <a:bodyPr vert="horz" wrap="square" lIns="0" tIns="12700" rIns="0" bIns="0" rtlCol="0">
            <a:spAutoFit/>
          </a:bodyPr>
          <a:lstStyle/>
          <a:p>
            <a:pPr marL="12700">
              <a:lnSpc>
                <a:spcPct val="100000"/>
              </a:lnSpc>
              <a:spcBef>
                <a:spcPts val="100"/>
              </a:spcBef>
            </a:pPr>
            <a:r>
              <a:rPr lang="en-US" sz="3600" spc="-45" dirty="0"/>
              <a:t>Summary</a:t>
            </a:r>
            <a:endParaRPr sz="3600"/>
          </a:p>
        </p:txBody>
      </p:sp>
      <p:sp>
        <p:nvSpPr>
          <p:cNvPr id="6" name="Content Placeholder 5"/>
          <p:cNvSpPr>
            <a:spLocks noGrp="1"/>
          </p:cNvSpPr>
          <p:nvPr>
            <p:ph idx="1"/>
          </p:nvPr>
        </p:nvSpPr>
        <p:spPr/>
        <p:txBody>
          <a:bodyPr>
            <a:normAutofit/>
          </a:bodyPr>
          <a:lstStyle/>
          <a:p>
            <a:r>
              <a:rPr lang="en-US" dirty="0"/>
              <a:t>Information Systems &amp; System Development: </a:t>
            </a:r>
          </a:p>
          <a:p>
            <a:pPr lvl="1"/>
            <a:r>
              <a:rPr lang="en-US" dirty="0"/>
              <a:t>Need for System Development Enterprise Architecture</a:t>
            </a:r>
          </a:p>
          <a:p>
            <a:r>
              <a:rPr lang="en-US" dirty="0"/>
              <a:t>Users of Information Systems </a:t>
            </a:r>
          </a:p>
          <a:p>
            <a:r>
              <a:rPr lang="en-US" dirty="0"/>
              <a:t>Types of Information Systems</a:t>
            </a:r>
          </a:p>
          <a:p>
            <a:r>
              <a:rPr lang="en-US" dirty="0"/>
              <a:t>System Development Life Cycle (SDLC) </a:t>
            </a:r>
          </a:p>
          <a:p>
            <a:pPr>
              <a:buNone/>
            </a:pPr>
            <a:r>
              <a:rPr lang="en-GB" dirty="0"/>
              <a:t>  </a:t>
            </a:r>
          </a:p>
          <a:p>
            <a:endParaRPr lang="en-GB" dirty="0"/>
          </a:p>
        </p:txBody>
      </p:sp>
      <p:sp>
        <p:nvSpPr>
          <p:cNvPr id="5" name="object 5"/>
          <p:cNvSpPr txBox="1">
            <a:spLocks noGrp="1"/>
          </p:cNvSpPr>
          <p:nvPr>
            <p:ph type="sldNum" sz="quarter" idx="12"/>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spc="-165" dirty="0"/>
              <a:pPr marL="38100">
                <a:lnSpc>
                  <a:spcPct val="100000"/>
                </a:lnSpc>
                <a:spcBef>
                  <a:spcPts val="190"/>
                </a:spcBef>
              </a:pPr>
              <a:t>70</a:t>
            </a:fld>
            <a:endParaRPr spc="-165" dirty="0"/>
          </a:p>
        </p:txBody>
      </p:sp>
    </p:spTree>
    <p:extLst>
      <p:ext uri="{BB962C8B-B14F-4D97-AF65-F5344CB8AC3E}">
        <p14:creationId xmlns:p14="http://schemas.microsoft.com/office/powerpoint/2010/main" val="41278929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2B1452A8B9644E8C8746036957D926" ma:contentTypeVersion="4" ma:contentTypeDescription="Create a new document." ma:contentTypeScope="" ma:versionID="c180a0b494e1df634ea8a136120aaaa5">
  <xsd:schema xmlns:xsd="http://www.w3.org/2001/XMLSchema" xmlns:xs="http://www.w3.org/2001/XMLSchema" xmlns:p="http://schemas.microsoft.com/office/2006/metadata/properties" xmlns:ns2="ecb9fd39-69ca-44d1-bf6e-cb49dbade056" targetNamespace="http://schemas.microsoft.com/office/2006/metadata/properties" ma:root="true" ma:fieldsID="f3bb93dc3ae910b110e4de89499c188f" ns2:_="">
    <xsd:import namespace="ecb9fd39-69ca-44d1-bf6e-cb49dbade05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fd39-69ca-44d1-bf6e-cb49dbade0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8D6F5DC-9AB2-4026-9816-3576C76E81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b9fd39-69ca-44d1-bf6e-cb49dbade0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B14C8F0-36A5-476E-85DA-52965E15AC34}">
  <ds:schemaRefs>
    <ds:schemaRef ds:uri="http://schemas.microsoft.com/sharepoint/v3/contenttype/forms"/>
  </ds:schemaRefs>
</ds:datastoreItem>
</file>

<file path=customXml/itemProps3.xml><?xml version="1.0" encoding="utf-8"?>
<ds:datastoreItem xmlns:ds="http://schemas.openxmlformats.org/officeDocument/2006/customXml" ds:itemID="{E3E95A48-BE1C-4D52-A155-E4B0BCEACDC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15579058</TotalTime>
  <Words>3404</Words>
  <Application>Microsoft Macintosh PowerPoint</Application>
  <PresentationFormat>On-screen Show (4:3)</PresentationFormat>
  <Paragraphs>520</Paragraphs>
  <Slides>70</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Arial</vt:lpstr>
      <vt:lpstr>Calibri</vt:lpstr>
      <vt:lpstr>Carlito</vt:lpstr>
      <vt:lpstr>Corbel</vt:lpstr>
      <vt:lpstr>Times New Roman</vt:lpstr>
      <vt:lpstr>Wingdings</vt:lpstr>
      <vt:lpstr>Wingdings 2</vt:lpstr>
      <vt:lpstr>Wingdings 3</vt:lpstr>
      <vt:lpstr>Module</vt:lpstr>
      <vt:lpstr>CSC 101 – Introduction to Computing</vt:lpstr>
      <vt:lpstr>Outline</vt:lpstr>
      <vt:lpstr>Basic Security</vt:lpstr>
      <vt:lpstr>Basic Security Terminology</vt:lpstr>
      <vt:lpstr>Basic Security Requirements</vt:lpstr>
      <vt:lpstr>Information security</vt:lpstr>
      <vt:lpstr>Why Security?</vt:lpstr>
      <vt:lpstr>Example 1</vt:lpstr>
      <vt:lpstr>Example 2</vt:lpstr>
      <vt:lpstr>Example 3</vt:lpstr>
      <vt:lpstr>Types of Threats</vt:lpstr>
      <vt:lpstr>Threat to User</vt:lpstr>
      <vt:lpstr>Identity Theft</vt:lpstr>
      <vt:lpstr>Loss of privacy</vt:lpstr>
      <vt:lpstr>Online Spying</vt:lpstr>
      <vt:lpstr>Online Theft, Online Fraud, and Other  Dot Cons</vt:lpstr>
      <vt:lpstr>Online Theft, Online Fraud, and Other  Dot Cons</vt:lpstr>
      <vt:lpstr>Online Theft, Online Fraud, and Other  Dot Cons</vt:lpstr>
      <vt:lpstr>Threats to Hardware</vt:lpstr>
      <vt:lpstr>Threats to Hardware</vt:lpstr>
      <vt:lpstr>Protecting Against Unauthorized  Access and Unauthorized Use</vt:lpstr>
      <vt:lpstr>Protecting Against Unauthorized  Access and Unauthorized Use</vt:lpstr>
      <vt:lpstr>Protecting Against Unauthorized  Access and Unauthorized Use</vt:lpstr>
      <vt:lpstr>Threats to Hardware</vt:lpstr>
      <vt:lpstr>Threats to Data</vt:lpstr>
      <vt:lpstr>Threats to Data: Malware</vt:lpstr>
      <vt:lpstr>Threats to Data: Malware</vt:lpstr>
      <vt:lpstr>Threats to Data: Virus</vt:lpstr>
      <vt:lpstr>Threats to Data: Virus</vt:lpstr>
      <vt:lpstr>Threats to Data: Malicious Program</vt:lpstr>
      <vt:lpstr>CyberCrime</vt:lpstr>
      <vt:lpstr>CSC 101 – Introduction to Computing</vt:lpstr>
      <vt:lpstr>Outline</vt:lpstr>
      <vt:lpstr>What Is an Information System?</vt:lpstr>
      <vt:lpstr>What Is an Information System?</vt:lpstr>
      <vt:lpstr>What Is an Information System?</vt:lpstr>
      <vt:lpstr>What Is an Information System?</vt:lpstr>
      <vt:lpstr>What Is an Information System?</vt:lpstr>
      <vt:lpstr>Users of Information Systems</vt:lpstr>
      <vt:lpstr>Types of Information Systems</vt:lpstr>
      <vt:lpstr>Types of Information Systems</vt:lpstr>
      <vt:lpstr>Types of Information Systems</vt:lpstr>
      <vt:lpstr>Types of Information Systems</vt:lpstr>
      <vt:lpstr>Types of Information Systems</vt:lpstr>
      <vt:lpstr>Types of Information Systems</vt:lpstr>
      <vt:lpstr>Types of Information Systems</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The System Development Life Cycle  (SDLC)</vt:lpstr>
      <vt:lpstr>Approaches to System Development</vt:lpstr>
      <vt:lpstr>The System Development Life Cycle  (SDLC)</vt:lpstr>
      <vt:lpstr>Approaches to System Development</vt:lpstr>
      <vt:lpstr>Approaches to System Development</vt:lpstr>
      <vt:lpstr>Summary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Shehla</dc:creator>
  <cp:lastModifiedBy>(FA24-BSE-042) MUHAMMAD ABDULLAH</cp:lastModifiedBy>
  <cp:revision>208</cp:revision>
  <dcterms:created xsi:type="dcterms:W3CDTF">2015-07-29T13:27:11Z</dcterms:created>
  <dcterms:modified xsi:type="dcterms:W3CDTF">2024-11-05T04:25:15Z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0x0101002C2B1452A8B9644E8C8746036957D926</vt:lpwstr>
  </property>
</Properties>
</file>