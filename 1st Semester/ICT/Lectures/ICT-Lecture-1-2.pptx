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1"/>
  </p:sldMasterIdLst>
  <p:notesMasterIdLst>
    <p:notesMasterId r:id="rId57"/>
  </p:notesMasterIdLst>
  <p:sldIdLst>
    <p:sldId id="256" r:id="rId2"/>
    <p:sldId id="456" r:id="rId3"/>
    <p:sldId id="457" r:id="rId4"/>
    <p:sldId id="458" r:id="rId5"/>
    <p:sldId id="459" r:id="rId6"/>
    <p:sldId id="460" r:id="rId7"/>
    <p:sldId id="461" r:id="rId8"/>
    <p:sldId id="462" r:id="rId9"/>
    <p:sldId id="463" r:id="rId10"/>
    <p:sldId id="464" r:id="rId11"/>
    <p:sldId id="465" r:id="rId12"/>
    <p:sldId id="466" r:id="rId13"/>
    <p:sldId id="467" r:id="rId14"/>
    <p:sldId id="468" r:id="rId15"/>
    <p:sldId id="469"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 id="506" r:id="rId53"/>
    <p:sldId id="507" r:id="rId54"/>
    <p:sldId id="508" r:id="rId55"/>
    <p:sldId id="509"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B6F5D3-6E95-1B0F-F0CA-4BFECBA4CB22}" v="15" dt="2023-02-20T08:59:32.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370" autoAdjust="0"/>
  </p:normalViewPr>
  <p:slideViewPr>
    <p:cSldViewPr>
      <p:cViewPr varScale="1">
        <p:scale>
          <a:sx n="112" d="100"/>
          <a:sy n="112" d="100"/>
        </p:scale>
        <p:origin x="164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1c2427dda35d2ee6a2307f81f3e58f292c47afc6611ded4c180efc746fe912c::" providerId="AD" clId="Web-{A7B6F5D3-6E95-1B0F-F0CA-4BFECBA4CB22}"/>
    <pc:docChg chg="modSld">
      <pc:chgData name="Guest User" userId="S::urn:spo:anon#01c2427dda35d2ee6a2307f81f3e58f292c47afc6611ded4c180efc746fe912c::" providerId="AD" clId="Web-{A7B6F5D3-6E95-1B0F-F0CA-4BFECBA4CB22}" dt="2023-02-20T08:59:32.193" v="13" actId="20577"/>
      <pc:docMkLst>
        <pc:docMk/>
      </pc:docMkLst>
      <pc:sldChg chg="modSp">
        <pc:chgData name="Guest User" userId="S::urn:spo:anon#01c2427dda35d2ee6a2307f81f3e58f292c47afc6611ded4c180efc746fe912c::" providerId="AD" clId="Web-{A7B6F5D3-6E95-1B0F-F0CA-4BFECBA4CB22}" dt="2023-02-20T08:59:32.193" v="13" actId="20577"/>
        <pc:sldMkLst>
          <pc:docMk/>
          <pc:sldMk cId="0" sldId="314"/>
        </pc:sldMkLst>
        <pc:spChg chg="mod">
          <ac:chgData name="Guest User" userId="S::urn:spo:anon#01c2427dda35d2ee6a2307f81f3e58f292c47afc6611ded4c180efc746fe912c::" providerId="AD" clId="Web-{A7B6F5D3-6E95-1B0F-F0CA-4BFECBA4CB22}" dt="2023-02-20T08:59:32.193" v="13" actId="20577"/>
          <ac:spMkLst>
            <pc:docMk/>
            <pc:sldMk cId="0" sldId="31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D47964-3B62-4D5B-A939-DE505F670888}" type="datetimeFigureOut">
              <a:rPr lang="en-US" smtClean="0"/>
              <a:pPr/>
              <a:t>1/18/25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C7BA28-8807-43C5-99C4-A55965820A4C}" type="slidenum">
              <a:rPr lang="en-US" smtClean="0"/>
              <a:pPr/>
              <a:t>‹#›</a:t>
            </a:fld>
            <a:endParaRPr lang="en-US"/>
          </a:p>
        </p:txBody>
      </p:sp>
    </p:spTree>
    <p:extLst>
      <p:ext uri="{BB962C8B-B14F-4D97-AF65-F5344CB8AC3E}">
        <p14:creationId xmlns:p14="http://schemas.microsoft.com/office/powerpoint/2010/main" val="2488443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George_W._Bush"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en.wikipedia.org/wiki/Arnold_Schwarzenegger"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weeks</a:t>
            </a:r>
          </a:p>
        </p:txBody>
      </p:sp>
      <p:sp>
        <p:nvSpPr>
          <p:cNvPr id="4" name="Slide Number Placeholder 3"/>
          <p:cNvSpPr>
            <a:spLocks noGrp="1"/>
          </p:cNvSpPr>
          <p:nvPr>
            <p:ph type="sldNum" sz="quarter" idx="10"/>
          </p:nvPr>
        </p:nvSpPr>
        <p:spPr/>
        <p:txBody>
          <a:bodyPr/>
          <a:lstStyle/>
          <a:p>
            <a:fld id="{05C7BA28-8807-43C5-99C4-A55965820A4C}" type="slidenum">
              <a:rPr lang="en-US" smtClean="0"/>
              <a:pPr/>
              <a:t>5</a:t>
            </a:fld>
            <a:endParaRPr lang="en-US"/>
          </a:p>
        </p:txBody>
      </p:sp>
    </p:spTree>
    <p:extLst>
      <p:ext uri="{BB962C8B-B14F-4D97-AF65-F5344CB8AC3E}">
        <p14:creationId xmlns:p14="http://schemas.microsoft.com/office/powerpoint/2010/main" val="1565875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pPr marL="0" lvl="1">
              <a:spcBef>
                <a:spcPct val="0"/>
              </a:spcBef>
            </a:pPr>
            <a:r>
              <a:rPr lang="en-US" sz="1800"/>
              <a:t>3 Frames form a morph from </a:t>
            </a:r>
            <a:r>
              <a:rPr lang="en-US" sz="1800">
                <a:hlinkClick r:id="rId3" action="ppaction://hlinkfile" tooltip="George W. Bush"/>
              </a:rPr>
              <a:t>George W. Bush</a:t>
            </a:r>
            <a:r>
              <a:rPr lang="en-US" sz="1800"/>
              <a:t> to </a:t>
            </a:r>
            <a:r>
              <a:rPr lang="en-US" sz="1800">
                <a:hlinkClick r:id="rId4" action="ppaction://hlinkfile" tooltip="Arnold Schwarzenegger"/>
              </a:rPr>
              <a:t>Arnold Schwarzenegger</a:t>
            </a:r>
            <a:r>
              <a:rPr lang="en-US" sz="1800"/>
              <a:t> showing also the mid-point between the two extremes</a:t>
            </a:r>
          </a:p>
          <a:p>
            <a:pPr>
              <a:spcBef>
                <a:spcPct val="0"/>
              </a:spcBef>
            </a:pPr>
            <a:endParaRPr lang="en-US"/>
          </a:p>
        </p:txBody>
      </p:sp>
      <p:sp>
        <p:nvSpPr>
          <p:cNvPr id="778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3A3AE00-E7BA-4652-A069-8F2C49792DAD}" type="slidenum">
              <a:rPr lang="en-US"/>
              <a:pPr fontAlgn="base">
                <a:spcBef>
                  <a:spcPct val="0"/>
                </a:spcBef>
                <a:spcAft>
                  <a:spcPct val="0"/>
                </a:spcAft>
              </a:pPr>
              <a:t>17</a:t>
            </a:fld>
            <a:endParaRPr lang="en-US"/>
          </a:p>
        </p:txBody>
      </p:sp>
    </p:spTree>
    <p:extLst>
      <p:ext uri="{BB962C8B-B14F-4D97-AF65-F5344CB8AC3E}">
        <p14:creationId xmlns:p14="http://schemas.microsoft.com/office/powerpoint/2010/main" val="3796858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C61EEDF-72F9-4434-9894-F2F6803A5A47}" type="slidenum">
              <a:rPr lang="en-US"/>
              <a:pPr fontAlgn="base">
                <a:spcBef>
                  <a:spcPct val="0"/>
                </a:spcBef>
                <a:spcAft>
                  <a:spcPct val="0"/>
                </a:spcAft>
              </a:pPr>
              <a:t>26</a:t>
            </a:fld>
            <a:endParaRPr lang="en-US"/>
          </a:p>
        </p:txBody>
      </p:sp>
      <p:sp>
        <p:nvSpPr>
          <p:cNvPr id="860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b="1" i="1">
                <a:cs typeface="Times New Roman" pitchFamily="18" charset="0"/>
              </a:rPr>
              <a:t>Insider information</a:t>
            </a:r>
          </a:p>
          <a:p>
            <a:pPr>
              <a:spcBef>
                <a:spcPct val="0"/>
              </a:spcBef>
            </a:pPr>
            <a:r>
              <a:rPr lang="en-US"/>
              <a:t>The 2000 Census determined that 51% of American households had computers. Over 42% of these households also had Internet access. This can be contrasted to 36% and 18% in 1997. See www.census.gov/prod/2001pubs/p23-207.pdf for more information. </a:t>
            </a:r>
          </a:p>
        </p:txBody>
      </p:sp>
    </p:spTree>
    <p:extLst>
      <p:ext uri="{BB962C8B-B14F-4D97-AF65-F5344CB8AC3E}">
        <p14:creationId xmlns:p14="http://schemas.microsoft.com/office/powerpoint/2010/main" val="3943915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9E56EDE-53A6-4478-9644-3F8357D2A4E5}" type="slidenum">
              <a:rPr lang="en-US"/>
              <a:pPr fontAlgn="base">
                <a:spcBef>
                  <a:spcPct val="0"/>
                </a:spcBef>
                <a:spcAft>
                  <a:spcPct val="0"/>
                </a:spcAft>
              </a:pPr>
              <a:t>30</a:t>
            </a:fld>
            <a:endParaRPr lang="en-US"/>
          </a:p>
        </p:txBody>
      </p:sp>
      <p:sp>
        <p:nvSpPr>
          <p:cNvPr id="890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90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Page 19 of the text introduces the first Norton Notebook, the Merging of Media and Meaning. The author draws an analogy between electricity and computers in our lives. Discuss how difficult live would be without either of these devices. Remember that computers exist in nearly all of our modern devices, including cars, phones, kitchen appliances and entertainment devices. </a:t>
            </a:r>
          </a:p>
        </p:txBody>
      </p:sp>
    </p:spTree>
    <p:extLst>
      <p:ext uri="{BB962C8B-B14F-4D97-AF65-F5344CB8AC3E}">
        <p14:creationId xmlns:p14="http://schemas.microsoft.com/office/powerpoint/2010/main" val="3232036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292ADC8-808C-45C3-A441-2158605CC5BE}" type="slidenum">
              <a:rPr lang="en-US" smtClean="0"/>
              <a:pPr/>
              <a:t>32</a:t>
            </a:fld>
            <a:endParaRPr lang="en-US"/>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 story of modern electronic digital computing should start with Alan Turing who published a paper in 1936 </a:t>
            </a:r>
            <a:r>
              <a:rPr lang="en-US" i="1" dirty="0"/>
              <a:t>On Computable Numbers, with an application to the </a:t>
            </a:r>
            <a:r>
              <a:rPr lang="en-US" i="1" dirty="0" err="1"/>
              <a:t>Entscheidungs</a:t>
            </a:r>
            <a:r>
              <a:rPr lang="en-US" i="1" dirty="0"/>
              <a:t> problem</a:t>
            </a:r>
            <a:r>
              <a:rPr lang="en-US" dirty="0"/>
              <a:t>.  The paper proved that a machine capable of processing a stream of 1s and 0s according to programmed instructions would be capable of solving any problem that would count as a 'definite method.'  As it happens, the set of problems included in this definition is the universe of mechanically solvable problems.  Hence, the Turing Machine is also known as the Universal Machine, the theoretical precursor to the electronic digital computer which </a:t>
            </a:r>
            <a:r>
              <a:rPr lang="en-US" dirty="0" err="1"/>
              <a:t>Atanasoff</a:t>
            </a:r>
            <a:r>
              <a:rPr lang="en-US" dirty="0"/>
              <a:t> was soon to invent.</a:t>
            </a:r>
            <a:br>
              <a:rPr lang="en-US" dirty="0"/>
            </a:br>
            <a:endParaRPr lang="en-US" dirty="0"/>
          </a:p>
        </p:txBody>
      </p:sp>
    </p:spTree>
    <p:extLst>
      <p:ext uri="{BB962C8B-B14F-4D97-AF65-F5344CB8AC3E}">
        <p14:creationId xmlns:p14="http://schemas.microsoft.com/office/powerpoint/2010/main" val="109792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BA259A5E-9EA2-44A9-B233-06A2C69E977F}" type="slidenum">
              <a:rPr lang="en-US" smtClean="0"/>
              <a:pPr/>
              <a:t>34</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95601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6D0A0426-1E93-4650-A475-F448298E202D}"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D0A0426-1E93-4650-A475-F448298E202D}"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D0A0426-1E93-4650-A475-F448298E202D}" type="datetimeFigureOut">
              <a:rPr lang="en-US" smtClean="0"/>
              <a:pPr/>
              <a:t>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D0A0426-1E93-4650-A475-F448298E202D}" type="datetimeFigureOut">
              <a:rPr lang="en-US" smtClean="0"/>
              <a:pPr/>
              <a:t>1/18/25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1447800"/>
          </a:xfrm>
          <a:ln/>
        </p:spPr>
        <p:style>
          <a:lnRef idx="1">
            <a:schemeClr val="accent2"/>
          </a:lnRef>
          <a:fillRef idx="3">
            <a:schemeClr val="accent2"/>
          </a:fillRef>
          <a:effectRef idx="2">
            <a:schemeClr val="accent2"/>
          </a:effectRef>
          <a:fontRef idx="none"/>
        </p:style>
        <p:txBody>
          <a:bodyPr/>
          <a:lstStyle>
            <a:lvl1pPr algn="ctr">
              <a:defRPr i="1">
                <a:solidFill>
                  <a:schemeClr val="bg1">
                    <a:lumMod val="95000"/>
                  </a:schemeClr>
                </a:solidFill>
              </a:defRPr>
            </a:lvl1pPr>
          </a:lstStyle>
          <a:p>
            <a:r>
              <a:rPr kumimoji="0" lang="en-US" dirty="0"/>
              <a:t>    Click to edit Master title style</a:t>
            </a:r>
          </a:p>
        </p:txBody>
      </p:sp>
      <p:sp>
        <p:nvSpPr>
          <p:cNvPr id="3" name="Date Placeholder 2"/>
          <p:cNvSpPr>
            <a:spLocks noGrp="1"/>
          </p:cNvSpPr>
          <p:nvPr>
            <p:ph type="dt" sz="half" idx="10"/>
          </p:nvPr>
        </p:nvSpPr>
        <p:spPr/>
        <p:txBody>
          <a:bodyPr/>
          <a:lstStyle/>
          <a:p>
            <a:fld id="{6D0A0426-1E93-4650-A475-F448298E202D}" type="datetimeFigureOut">
              <a:rPr lang="en-US" smtClean="0"/>
              <a:pPr/>
              <a:t>1/18/25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A0426-1E93-4650-A475-F448298E202D}" type="datetimeFigureOut">
              <a:rPr lang="en-US" smtClean="0"/>
              <a:pPr/>
              <a:t>1/18/25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D0A0426-1E93-4650-A475-F448298E202D}" type="datetimeFigureOut">
              <a:rPr lang="en-US" smtClean="0"/>
              <a:pPr/>
              <a:t>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6D0A0426-1E93-4650-A475-F448298E202D}" type="datetimeFigureOut">
              <a:rPr lang="en-US" smtClean="0"/>
              <a:pPr/>
              <a:t>1/18/25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22DB2727-650B-418F-B6A3-9EC51F60F0E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1/18/25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1000"/>
            <a:lum/>
          </a:blip>
          <a:srcRect/>
          <a:tile tx="0" ty="0" sx="100000" sy="100000" flip="none" algn="tl"/>
        </a:blipFill>
        <a:effectLst/>
      </p:bgPr>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0" y="0"/>
            <a:ext cx="9144000" cy="14034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775191"/>
            <a:ext cx="8481060" cy="4625609"/>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6D0A0426-1E93-4650-A475-F448298E202D}" type="datetimeFigureOut">
              <a:rPr lang="en-US" smtClean="0"/>
              <a:pPr/>
              <a:t>1/18/25</a:t>
            </a:fld>
            <a:endParaRPr lang="en-US" dirty="0"/>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r>
              <a:rPr lang="en-US" dirty="0"/>
              <a:t>Applications of Information and Communications Technology</a:t>
            </a:r>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22DB2727-650B-418F-B6A3-9EC51F60F0E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500" b="1" kern="1200">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en.wikipedia.org/wiki/Image:Bush-Arnie-morph.jp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CSC 101 – Introduction to Computing</a:t>
            </a:r>
          </a:p>
        </p:txBody>
      </p:sp>
      <p:sp>
        <p:nvSpPr>
          <p:cNvPr id="3" name="Subtitle 2"/>
          <p:cNvSpPr>
            <a:spLocks noGrp="1"/>
          </p:cNvSpPr>
          <p:nvPr>
            <p:ph idx="1"/>
          </p:nvPr>
        </p:nvSpPr>
        <p:spPr>
          <a:xfrm>
            <a:off x="2286000" y="2971800"/>
            <a:ext cx="4114800" cy="1196609"/>
          </a:xfrm>
        </p:spPr>
        <p:txBody>
          <a:bodyPr>
            <a:normAutofit/>
          </a:bodyPr>
          <a:lstStyle/>
          <a:p>
            <a:pPr marL="118872" indent="0" algn="ctr">
              <a:buNone/>
            </a:pPr>
            <a:r>
              <a:rPr lang="en-US" sz="4800" dirty="0"/>
              <a:t>Lecture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Information</a:t>
            </a:r>
          </a:p>
        </p:txBody>
      </p:sp>
      <p:pic>
        <p:nvPicPr>
          <p:cNvPr id="1026" name="Picture 2"/>
          <p:cNvPicPr>
            <a:picLocks noGrp="1" noChangeAspect="1" noChangeArrowheads="1"/>
          </p:cNvPicPr>
          <p:nvPr>
            <p:ph idx="1"/>
          </p:nvPr>
        </p:nvPicPr>
        <p:blipFill>
          <a:blip r:embed="rId2"/>
          <a:srcRect/>
          <a:stretch>
            <a:fillRect/>
          </a:stretch>
        </p:blipFill>
        <p:spPr bwMode="auto">
          <a:xfrm>
            <a:off x="457200" y="1981200"/>
            <a:ext cx="8229600" cy="1828800"/>
          </a:xfrm>
          <a:prstGeom prst="rect">
            <a:avLst/>
          </a:prstGeom>
          <a:noFill/>
          <a:ln w="9525">
            <a:noFill/>
            <a:miter lim="800000"/>
            <a:headEnd/>
            <a:tailEnd/>
          </a:ln>
          <a:effectLst/>
        </p:spPr>
      </p:pic>
    </p:spTree>
    <p:extLst>
      <p:ext uri="{BB962C8B-B14F-4D97-AF65-F5344CB8AC3E}">
        <p14:creationId xmlns:p14="http://schemas.microsoft.com/office/powerpoint/2010/main" val="2589338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a:t>
            </a:r>
          </a:p>
        </p:txBody>
      </p:sp>
      <p:sp>
        <p:nvSpPr>
          <p:cNvPr id="4" name="Content Placeholder 3"/>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2"/>
          <a:srcRect/>
          <a:stretch>
            <a:fillRect/>
          </a:stretch>
        </p:blipFill>
        <p:spPr bwMode="auto">
          <a:xfrm>
            <a:off x="404813" y="2228850"/>
            <a:ext cx="8334375" cy="2400300"/>
          </a:xfrm>
          <a:prstGeom prst="rect">
            <a:avLst/>
          </a:prstGeom>
          <a:noFill/>
          <a:ln w="9525">
            <a:noFill/>
            <a:miter lim="800000"/>
            <a:headEnd/>
            <a:tailEnd/>
          </a:ln>
          <a:effectLst/>
        </p:spPr>
      </p:pic>
    </p:spTree>
    <p:extLst>
      <p:ext uri="{BB962C8B-B14F-4D97-AF65-F5344CB8AC3E}">
        <p14:creationId xmlns:p14="http://schemas.microsoft.com/office/powerpoint/2010/main" val="933283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i="1" dirty="0"/>
            </a:br>
            <a:r>
              <a:rPr lang="en-US" i="1" dirty="0"/>
              <a:t>Assessment Plan for the Course:</a:t>
            </a:r>
            <a:br>
              <a:rPr lang="en-US" dirty="0"/>
            </a:br>
            <a:endParaRPr lang="en-US" dirty="0"/>
          </a:p>
        </p:txBody>
      </p:sp>
      <p:sp>
        <p:nvSpPr>
          <p:cNvPr id="4" name="Content Placeholder 3"/>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2"/>
          <a:srcRect/>
          <a:stretch>
            <a:fillRect/>
          </a:stretch>
        </p:blipFill>
        <p:spPr bwMode="auto">
          <a:xfrm>
            <a:off x="609600" y="2643188"/>
            <a:ext cx="7924800" cy="1571625"/>
          </a:xfrm>
          <a:prstGeom prst="rect">
            <a:avLst/>
          </a:prstGeom>
          <a:noFill/>
          <a:ln w="9525">
            <a:noFill/>
            <a:miter lim="800000"/>
            <a:headEnd/>
            <a:tailEnd/>
          </a:ln>
          <a:effectLst/>
        </p:spPr>
      </p:pic>
    </p:spTree>
    <p:extLst>
      <p:ext uri="{BB962C8B-B14F-4D97-AF65-F5344CB8AC3E}">
        <p14:creationId xmlns:p14="http://schemas.microsoft.com/office/powerpoint/2010/main" val="148794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Major Topics Covered in the Course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l="16406" t="16291" r="10938" b="22250"/>
          <a:stretch/>
        </p:blipFill>
        <p:spPr>
          <a:xfrm>
            <a:off x="304800" y="1408175"/>
            <a:ext cx="8534400" cy="5414297"/>
          </a:xfrm>
          <a:prstGeom prst="rect">
            <a:avLst/>
          </a:prstGeom>
        </p:spPr>
      </p:pic>
    </p:spTree>
    <p:extLst>
      <p:ext uri="{BB962C8B-B14F-4D97-AF65-F5344CB8AC3E}">
        <p14:creationId xmlns:p14="http://schemas.microsoft.com/office/powerpoint/2010/main" val="3307169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Learning Outcomes</a:t>
            </a:r>
          </a:p>
        </p:txBody>
      </p:sp>
      <p:sp>
        <p:nvSpPr>
          <p:cNvPr id="4" name="Content Placeholder 3"/>
          <p:cNvSpPr>
            <a:spLocks noGrp="1"/>
          </p:cNvSpPr>
          <p:nvPr>
            <p:ph idx="1"/>
          </p:nvPr>
        </p:nvSpPr>
        <p:spPr/>
        <p:txBody>
          <a:bodyPr/>
          <a:lstStyle/>
          <a:p>
            <a:endParaRPr lang="en-GB"/>
          </a:p>
        </p:txBody>
      </p:sp>
      <p:pic>
        <p:nvPicPr>
          <p:cNvPr id="3" name="Picture 2"/>
          <p:cNvPicPr>
            <a:picLocks noChangeAspect="1"/>
          </p:cNvPicPr>
          <p:nvPr/>
        </p:nvPicPr>
        <p:blipFill rotWithShape="1">
          <a:blip r:embed="rId2"/>
          <a:srcRect l="15625" t="18749" r="11718" b="20834"/>
          <a:stretch/>
        </p:blipFill>
        <p:spPr>
          <a:xfrm>
            <a:off x="276243" y="1459095"/>
            <a:ext cx="8430610" cy="5257800"/>
          </a:xfrm>
          <a:prstGeom prst="rect">
            <a:avLst/>
          </a:prstGeom>
        </p:spPr>
      </p:pic>
    </p:spTree>
    <p:extLst>
      <p:ext uri="{BB962C8B-B14F-4D97-AF65-F5344CB8AC3E}">
        <p14:creationId xmlns:p14="http://schemas.microsoft.com/office/powerpoint/2010/main" val="624677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 Assessment</a:t>
            </a:r>
          </a:p>
        </p:txBody>
      </p:sp>
      <p:pic>
        <p:nvPicPr>
          <p:cNvPr id="4" name="Content Placeholder 3"/>
          <p:cNvPicPr>
            <a:picLocks noGrp="1" noChangeAspect="1"/>
          </p:cNvPicPr>
          <p:nvPr>
            <p:ph idx="1"/>
          </p:nvPr>
        </p:nvPicPr>
        <p:blipFill rotWithShape="1">
          <a:blip r:embed="rId2"/>
          <a:srcRect l="15409" t="25875" r="11702" b="26355"/>
          <a:stretch/>
        </p:blipFill>
        <p:spPr>
          <a:xfrm>
            <a:off x="228600" y="1752600"/>
            <a:ext cx="8686800" cy="4269783"/>
          </a:xfrm>
          <a:prstGeom prst="rect">
            <a:avLst/>
          </a:prstGeom>
        </p:spPr>
      </p:pic>
    </p:spTree>
    <p:extLst>
      <p:ext uri="{BB962C8B-B14F-4D97-AF65-F5344CB8AC3E}">
        <p14:creationId xmlns:p14="http://schemas.microsoft.com/office/powerpoint/2010/main" val="1490058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Plagiarism Policy</a:t>
            </a:r>
            <a:br>
              <a:rPr lang="en-US" dirty="0"/>
            </a:br>
            <a:endParaRPr lang="en-US" dirty="0"/>
          </a:p>
        </p:txBody>
      </p:sp>
      <p:sp>
        <p:nvSpPr>
          <p:cNvPr id="3" name="Content Placeholder 2"/>
          <p:cNvSpPr>
            <a:spLocks noGrp="1"/>
          </p:cNvSpPr>
          <p:nvPr>
            <p:ph idx="1"/>
          </p:nvPr>
        </p:nvSpPr>
        <p:spPr/>
        <p:txBody>
          <a:bodyPr>
            <a:normAutofit/>
          </a:bodyPr>
          <a:lstStyle/>
          <a:p>
            <a:r>
              <a:rPr lang="en-US" dirty="0"/>
              <a:t>Any assignment found 20% or more copied from the internet will be marked 0 (ZERO).</a:t>
            </a:r>
          </a:p>
          <a:p>
            <a:r>
              <a:rPr lang="en-US" dirty="0"/>
              <a:t> Any assignment copied from the class mate will also be marked 0 (ZERO).</a:t>
            </a:r>
          </a:p>
          <a:p>
            <a:pPr lvl="1"/>
            <a:r>
              <a:rPr lang="en-US" dirty="0"/>
              <a:t>Both for the source and the copied one.</a:t>
            </a:r>
          </a:p>
          <a:p>
            <a:r>
              <a:rPr lang="en-US" dirty="0"/>
              <a:t> No consideration will be made regarding plagiarized assignments.</a:t>
            </a:r>
          </a:p>
        </p:txBody>
      </p:sp>
    </p:spTree>
    <p:extLst>
      <p:ext uri="{BB962C8B-B14F-4D97-AF65-F5344CB8AC3E}">
        <p14:creationId xmlns:p14="http://schemas.microsoft.com/office/powerpoint/2010/main" val="3782496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Attendance Policy</a:t>
            </a:r>
          </a:p>
        </p:txBody>
      </p:sp>
      <p:sp>
        <p:nvSpPr>
          <p:cNvPr id="3" name="Content Placeholder 2"/>
          <p:cNvSpPr>
            <a:spLocks noGrp="1"/>
          </p:cNvSpPr>
          <p:nvPr>
            <p:ph idx="1"/>
          </p:nvPr>
        </p:nvSpPr>
        <p:spPr/>
        <p:txBody>
          <a:bodyPr/>
          <a:lstStyle/>
          <a:p>
            <a:r>
              <a:rPr lang="en-US" dirty="0"/>
              <a:t>Any student late in class by 15 min shall be marked absent.</a:t>
            </a:r>
          </a:p>
        </p:txBody>
      </p:sp>
    </p:spTree>
    <p:extLst>
      <p:ext uri="{BB962C8B-B14F-4D97-AF65-F5344CB8AC3E}">
        <p14:creationId xmlns:p14="http://schemas.microsoft.com/office/powerpoint/2010/main" val="1658261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a:t>
            </a:r>
          </a:p>
        </p:txBody>
      </p:sp>
      <p:sp>
        <p:nvSpPr>
          <p:cNvPr id="3" name="Content Placeholder 2"/>
          <p:cNvSpPr>
            <a:spLocks noGrp="1"/>
          </p:cNvSpPr>
          <p:nvPr>
            <p:ph idx="1"/>
          </p:nvPr>
        </p:nvSpPr>
        <p:spPr/>
        <p:txBody>
          <a:bodyPr vert="horz" lIns="54864" tIns="91440" rIns="91440" bIns="45720" rtlCol="0" anchor="t">
            <a:normAutofit/>
          </a:bodyPr>
          <a:lstStyle/>
          <a:p>
            <a:pPr marL="438785"/>
            <a:r>
              <a:rPr lang="en-US" dirty="0"/>
              <a:t>Office</a:t>
            </a:r>
          </a:p>
          <a:p>
            <a:pPr lvl="1"/>
            <a:r>
              <a:rPr lang="en-US" dirty="0"/>
              <a:t>226, Second Floor, CS Department(AB II)</a:t>
            </a:r>
          </a:p>
          <a:p>
            <a:pPr marL="438785"/>
            <a:endParaRPr lang="en-US" dirty="0"/>
          </a:p>
          <a:p>
            <a:pPr marL="438785"/>
            <a:r>
              <a:rPr lang="en-US" dirty="0"/>
              <a:t>Email</a:t>
            </a:r>
          </a:p>
          <a:p>
            <a:pPr lvl="1"/>
            <a:r>
              <a:rPr lang="en-US" dirty="0"/>
              <a:t>Sundus.waleed@comsats.edu.pk</a:t>
            </a:r>
          </a:p>
        </p:txBody>
      </p:sp>
    </p:spTree>
    <p:extLst>
      <p:ext uri="{BB962C8B-B14F-4D97-AF65-F5344CB8AC3E}">
        <p14:creationId xmlns:p14="http://schemas.microsoft.com/office/powerpoint/2010/main" val="3612144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Lecture 01</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934143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sz="2600" dirty="0"/>
              <a:t>Definition of IT</a:t>
            </a:r>
          </a:p>
          <a:p>
            <a:r>
              <a:rPr lang="en-US" sz="2600" dirty="0"/>
              <a:t>Computer Technology</a:t>
            </a:r>
          </a:p>
          <a:p>
            <a:r>
              <a:rPr lang="en-US" sz="2600" dirty="0"/>
              <a:t>Communication Technology</a:t>
            </a:r>
          </a:p>
          <a:p>
            <a:r>
              <a:rPr lang="en-US" sz="2600" dirty="0"/>
              <a:t>Role of IT in Society</a:t>
            </a:r>
          </a:p>
          <a:p>
            <a:r>
              <a:rPr lang="en-GB" sz="2600" dirty="0"/>
              <a:t>Models: </a:t>
            </a:r>
          </a:p>
          <a:p>
            <a:pPr lvl="1"/>
            <a:r>
              <a:rPr lang="en-GB" sz="2200" dirty="0"/>
              <a:t>Turing Model</a:t>
            </a:r>
          </a:p>
          <a:p>
            <a:pPr lvl="1"/>
            <a:r>
              <a:rPr lang="en-GB" sz="2200" dirty="0"/>
              <a:t> Von Neumann Model</a:t>
            </a:r>
          </a:p>
          <a:p>
            <a:r>
              <a:rPr lang="en-GB" sz="2600" dirty="0"/>
              <a:t>Input Devices </a:t>
            </a:r>
          </a:p>
          <a:p>
            <a:r>
              <a:rPr lang="en-GB" sz="2600" dirty="0"/>
              <a:t>Output Devices </a:t>
            </a:r>
          </a:p>
          <a:p>
            <a:pPr>
              <a:tabLst>
                <a:tab pos="355600" algn="l"/>
                <a:tab pos="356235" algn="l"/>
              </a:tabLst>
            </a:pPr>
            <a:r>
              <a:rPr lang="en-US" sz="2600" dirty="0"/>
              <a:t>Central Processing Unit</a:t>
            </a:r>
          </a:p>
          <a:p>
            <a:pPr lvl="1">
              <a:tabLst>
                <a:tab pos="355600" algn="l"/>
                <a:tab pos="356235" algn="l"/>
              </a:tabLst>
            </a:pPr>
            <a:r>
              <a:rPr lang="en-US" sz="2200" dirty="0"/>
              <a:t>Control Unit</a:t>
            </a:r>
          </a:p>
          <a:p>
            <a:pPr lvl="1">
              <a:tabLst>
                <a:tab pos="355600" algn="l"/>
                <a:tab pos="356235" algn="l"/>
              </a:tabLst>
            </a:pPr>
            <a:r>
              <a:rPr lang="en-US" sz="2200" dirty="0"/>
              <a:t>Arithmetic &amp; Logic Unit </a:t>
            </a:r>
          </a:p>
          <a:p>
            <a:pPr>
              <a:tabLst>
                <a:tab pos="355600" algn="l"/>
                <a:tab pos="356235" algn="l"/>
              </a:tabLst>
            </a:pPr>
            <a:r>
              <a:rPr lang="en-US" sz="2600" dirty="0"/>
              <a:t>System Clock &amp; Machine Cycle </a:t>
            </a:r>
          </a:p>
          <a:p>
            <a:endParaRPr lang="en-GB" dirty="0"/>
          </a:p>
          <a:p>
            <a:endParaRPr lang="en-US" dirty="0"/>
          </a:p>
          <a:p>
            <a:endParaRPr lang="en-US" dirty="0"/>
          </a:p>
        </p:txBody>
      </p:sp>
    </p:spTree>
    <p:extLst>
      <p:ext uri="{BB962C8B-B14F-4D97-AF65-F5344CB8AC3E}">
        <p14:creationId xmlns:p14="http://schemas.microsoft.com/office/powerpoint/2010/main" val="129863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 name="Content Placeholder 13" descr="download.jpg"/>
          <p:cNvPicPr>
            <a:picLocks noGrp="1" noChangeAspect="1"/>
          </p:cNvPicPr>
          <p:nvPr>
            <p:ph idx="1"/>
          </p:nvPr>
        </p:nvPicPr>
        <p:blipFill>
          <a:blip r:embed="rId2" cstate="print"/>
          <a:stretch>
            <a:fillRect/>
          </a:stretch>
        </p:blipFill>
        <p:spPr>
          <a:xfrm>
            <a:off x="152400" y="5372100"/>
            <a:ext cx="1790700" cy="1485900"/>
          </a:xfrm>
        </p:spPr>
      </p:pic>
      <p:pic>
        <p:nvPicPr>
          <p:cNvPr id="15" name="Picture 14" descr="images (1).jpg"/>
          <p:cNvPicPr>
            <a:picLocks noChangeAspect="1"/>
          </p:cNvPicPr>
          <p:nvPr/>
        </p:nvPicPr>
        <p:blipFill>
          <a:blip r:embed="rId3" cstate="print"/>
          <a:stretch>
            <a:fillRect/>
          </a:stretch>
        </p:blipFill>
        <p:spPr>
          <a:xfrm>
            <a:off x="6648450" y="3200400"/>
            <a:ext cx="2495550" cy="1838325"/>
          </a:xfrm>
          <a:prstGeom prst="rect">
            <a:avLst/>
          </a:prstGeom>
        </p:spPr>
      </p:pic>
      <p:pic>
        <p:nvPicPr>
          <p:cNvPr id="16" name="Picture 15" descr="depositphotos_35304701-stock-photo-information-technology-in-tag-cloud.jpg"/>
          <p:cNvPicPr>
            <a:picLocks noChangeAspect="1"/>
          </p:cNvPicPr>
          <p:nvPr/>
        </p:nvPicPr>
        <p:blipFill>
          <a:blip r:embed="rId4" cstate="print"/>
          <a:stretch>
            <a:fillRect/>
          </a:stretch>
        </p:blipFill>
        <p:spPr>
          <a:xfrm>
            <a:off x="0" y="3124200"/>
            <a:ext cx="3118104" cy="2161032"/>
          </a:xfrm>
          <a:prstGeom prst="rect">
            <a:avLst/>
          </a:prstGeom>
        </p:spPr>
      </p:pic>
      <p:pic>
        <p:nvPicPr>
          <p:cNvPr id="17" name="Picture 16" descr="images (2).jpg"/>
          <p:cNvPicPr>
            <a:picLocks noChangeAspect="1"/>
          </p:cNvPicPr>
          <p:nvPr/>
        </p:nvPicPr>
        <p:blipFill>
          <a:blip r:embed="rId5" cstate="print"/>
          <a:stretch>
            <a:fillRect/>
          </a:stretch>
        </p:blipFill>
        <p:spPr>
          <a:xfrm>
            <a:off x="6477000" y="1447800"/>
            <a:ext cx="2466975" cy="1847850"/>
          </a:xfrm>
          <a:prstGeom prst="rect">
            <a:avLst/>
          </a:prstGeom>
        </p:spPr>
      </p:pic>
      <p:pic>
        <p:nvPicPr>
          <p:cNvPr id="18" name="Picture 17" descr="images (3).jpg"/>
          <p:cNvPicPr>
            <a:picLocks noChangeAspect="1"/>
          </p:cNvPicPr>
          <p:nvPr/>
        </p:nvPicPr>
        <p:blipFill>
          <a:blip r:embed="rId6" cstate="print"/>
          <a:stretch>
            <a:fillRect/>
          </a:stretch>
        </p:blipFill>
        <p:spPr>
          <a:xfrm>
            <a:off x="0" y="1447800"/>
            <a:ext cx="2571750" cy="1781175"/>
          </a:xfrm>
          <a:prstGeom prst="rect">
            <a:avLst/>
          </a:prstGeom>
        </p:spPr>
      </p:pic>
      <p:pic>
        <p:nvPicPr>
          <p:cNvPr id="19" name="Picture 18" descr="images (4).jpg"/>
          <p:cNvPicPr>
            <a:picLocks noChangeAspect="1"/>
          </p:cNvPicPr>
          <p:nvPr/>
        </p:nvPicPr>
        <p:blipFill>
          <a:blip r:embed="rId7" cstate="print"/>
          <a:stretch>
            <a:fillRect/>
          </a:stretch>
        </p:blipFill>
        <p:spPr>
          <a:xfrm>
            <a:off x="6286500" y="5257800"/>
            <a:ext cx="2857500" cy="1600200"/>
          </a:xfrm>
          <a:prstGeom prst="rect">
            <a:avLst/>
          </a:prstGeom>
        </p:spPr>
      </p:pic>
      <p:pic>
        <p:nvPicPr>
          <p:cNvPr id="20" name="Picture 19" descr="images.jpg"/>
          <p:cNvPicPr>
            <a:picLocks noChangeAspect="1"/>
          </p:cNvPicPr>
          <p:nvPr/>
        </p:nvPicPr>
        <p:blipFill>
          <a:blip r:embed="rId8" cstate="print"/>
          <a:stretch>
            <a:fillRect/>
          </a:stretch>
        </p:blipFill>
        <p:spPr>
          <a:xfrm>
            <a:off x="3581400" y="838200"/>
            <a:ext cx="2124075" cy="2152650"/>
          </a:xfrm>
          <a:prstGeom prst="rect">
            <a:avLst/>
          </a:prstGeom>
        </p:spPr>
      </p:pic>
      <p:pic>
        <p:nvPicPr>
          <p:cNvPr id="21" name="Picture 20" descr="itm_greatcareers_image.jpg"/>
          <p:cNvPicPr>
            <a:picLocks noChangeAspect="1"/>
          </p:cNvPicPr>
          <p:nvPr/>
        </p:nvPicPr>
        <p:blipFill>
          <a:blip r:embed="rId9" cstate="print"/>
          <a:stretch>
            <a:fillRect/>
          </a:stretch>
        </p:blipFill>
        <p:spPr>
          <a:xfrm>
            <a:off x="2895600" y="3352800"/>
            <a:ext cx="3352800" cy="2895600"/>
          </a:xfrm>
          <a:prstGeom prst="rect">
            <a:avLst/>
          </a:prstGeom>
        </p:spPr>
      </p:pic>
    </p:spTree>
    <p:extLst>
      <p:ext uri="{BB962C8B-B14F-4D97-AF65-F5344CB8AC3E}">
        <p14:creationId xmlns:p14="http://schemas.microsoft.com/office/powerpoint/2010/main" val="3639095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What is Information Technology</a:t>
            </a:r>
          </a:p>
        </p:txBody>
      </p:sp>
      <p:sp>
        <p:nvSpPr>
          <p:cNvPr id="15363" name="Content Placeholder 2"/>
          <p:cNvSpPr>
            <a:spLocks noGrp="1"/>
          </p:cNvSpPr>
          <p:nvPr>
            <p:ph idx="1"/>
          </p:nvPr>
        </p:nvSpPr>
        <p:spPr/>
        <p:txBody>
          <a:bodyPr/>
          <a:lstStyle/>
          <a:p>
            <a:pPr>
              <a:lnSpc>
                <a:spcPct val="150000"/>
              </a:lnSpc>
            </a:pPr>
            <a:r>
              <a:rPr lang="en-US" sz="2800"/>
              <a:t>Fusion of computer and communication technology</a:t>
            </a:r>
          </a:p>
          <a:p>
            <a:pPr>
              <a:lnSpc>
                <a:spcPct val="150000"/>
              </a:lnSpc>
            </a:pPr>
            <a:r>
              <a:rPr lang="en-US" sz="2800"/>
              <a:t>Computer Technology</a:t>
            </a:r>
          </a:p>
          <a:p>
            <a:pPr lvl="1">
              <a:lnSpc>
                <a:spcPct val="150000"/>
              </a:lnSpc>
            </a:pPr>
            <a:r>
              <a:rPr lang="en-US" sz="2400"/>
              <a:t>programmable, multiuse machine that accepts data and processes it into usable information</a:t>
            </a:r>
          </a:p>
          <a:p>
            <a:pPr lvl="2">
              <a:lnSpc>
                <a:spcPct val="150000"/>
              </a:lnSpc>
            </a:pPr>
            <a:r>
              <a:rPr lang="en-US" sz="2000"/>
              <a:t>summaries, totals, or reports</a:t>
            </a:r>
          </a:p>
          <a:p>
            <a:pPr lvl="1">
              <a:lnSpc>
                <a:spcPct val="150000"/>
              </a:lnSpc>
            </a:pPr>
            <a:r>
              <a:rPr lang="en-US" sz="2400"/>
              <a:t>used to speed up problem solving and increase productivity.</a:t>
            </a:r>
          </a:p>
          <a:p>
            <a:endParaRPr lang="en-US"/>
          </a:p>
          <a:p>
            <a:endParaRPr lang="en-US"/>
          </a:p>
        </p:txBody>
      </p:sp>
    </p:spTree>
    <p:extLst>
      <p:ext uri="{BB962C8B-B14F-4D97-AF65-F5344CB8AC3E}">
        <p14:creationId xmlns:p14="http://schemas.microsoft.com/office/powerpoint/2010/main" val="127395170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What is Information Technology</a:t>
            </a:r>
          </a:p>
        </p:txBody>
      </p:sp>
      <p:sp>
        <p:nvSpPr>
          <p:cNvPr id="16387" name="Content Placeholder 2"/>
          <p:cNvSpPr>
            <a:spLocks noGrp="1"/>
          </p:cNvSpPr>
          <p:nvPr>
            <p:ph idx="1"/>
          </p:nvPr>
        </p:nvSpPr>
        <p:spPr/>
        <p:txBody>
          <a:bodyPr>
            <a:normAutofit/>
          </a:bodyPr>
          <a:lstStyle/>
          <a:p>
            <a:pPr>
              <a:lnSpc>
                <a:spcPct val="150000"/>
              </a:lnSpc>
            </a:pPr>
            <a:r>
              <a:rPr lang="en-US" sz="2400"/>
              <a:t>Communication Technology</a:t>
            </a:r>
          </a:p>
          <a:p>
            <a:pPr lvl="1">
              <a:lnSpc>
                <a:spcPct val="150000"/>
              </a:lnSpc>
            </a:pPr>
            <a:r>
              <a:rPr lang="en-US" sz="2200"/>
              <a:t>consists of electromagnetic/optical devices and systems for communicating over long distances</a:t>
            </a:r>
          </a:p>
          <a:p>
            <a:pPr>
              <a:lnSpc>
                <a:spcPct val="150000"/>
              </a:lnSpc>
            </a:pPr>
            <a:r>
              <a:rPr lang="en-US" sz="2400"/>
              <a:t>InfoTech or IT is any technology that helps to produce, manipulate, store, communicate, and/or disseminate information</a:t>
            </a:r>
          </a:p>
          <a:p>
            <a:pPr>
              <a:lnSpc>
                <a:spcPct val="150000"/>
              </a:lnSpc>
            </a:pPr>
            <a:r>
              <a:rPr lang="en-US" sz="2400"/>
              <a:t>merges computing with high-speed communications links carrying data, sound, and video</a:t>
            </a:r>
          </a:p>
          <a:p>
            <a:pPr lvl="1"/>
            <a:endParaRPr lang="en-US"/>
          </a:p>
          <a:p>
            <a:endParaRPr lang="en-US"/>
          </a:p>
        </p:txBody>
      </p:sp>
    </p:spTree>
    <p:extLst>
      <p:ext uri="{BB962C8B-B14F-4D97-AF65-F5344CB8AC3E}">
        <p14:creationId xmlns:p14="http://schemas.microsoft.com/office/powerpoint/2010/main" val="378429797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Exercise</a:t>
            </a:r>
          </a:p>
        </p:txBody>
      </p:sp>
      <p:sp>
        <p:nvSpPr>
          <p:cNvPr id="18435" name="Content Placeholder 2"/>
          <p:cNvSpPr>
            <a:spLocks noGrp="1"/>
          </p:cNvSpPr>
          <p:nvPr>
            <p:ph idx="1"/>
          </p:nvPr>
        </p:nvSpPr>
        <p:spPr/>
        <p:txBody>
          <a:bodyPr/>
          <a:lstStyle/>
          <a:p>
            <a:pPr>
              <a:lnSpc>
                <a:spcPct val="150000"/>
              </a:lnSpc>
            </a:pPr>
            <a:r>
              <a:rPr lang="en-US" b="1" dirty="0"/>
              <a:t>How have you been using Information Technology in your life?</a:t>
            </a:r>
            <a:endParaRPr lang="en-US" dirty="0"/>
          </a:p>
          <a:p>
            <a:endParaRPr lang="en-US" dirty="0"/>
          </a:p>
          <a:p>
            <a:pPr>
              <a:buFontTx/>
              <a:buNone/>
            </a:pPr>
            <a:endParaRPr lang="en-US" dirty="0"/>
          </a:p>
        </p:txBody>
      </p:sp>
    </p:spTree>
    <p:extLst>
      <p:ext uri="{BB962C8B-B14F-4D97-AF65-F5344CB8AC3E}">
        <p14:creationId xmlns:p14="http://schemas.microsoft.com/office/powerpoint/2010/main" val="427414701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Some examples of IT</a:t>
            </a:r>
          </a:p>
        </p:txBody>
      </p:sp>
      <p:sp>
        <p:nvSpPr>
          <p:cNvPr id="19459" name="Content Placeholder 2"/>
          <p:cNvSpPr>
            <a:spLocks noGrp="1"/>
          </p:cNvSpPr>
          <p:nvPr>
            <p:ph idx="1"/>
          </p:nvPr>
        </p:nvSpPr>
        <p:spPr/>
        <p:txBody>
          <a:bodyPr/>
          <a:lstStyle/>
          <a:p>
            <a:r>
              <a:rPr lang="en-US" sz="2800"/>
              <a:t>Image Morphing</a:t>
            </a:r>
          </a:p>
          <a:p>
            <a:pPr lvl="1"/>
            <a:r>
              <a:rPr lang="en-US" sz="2000"/>
              <a:t>changing (or morphing) one image into another through a seamless transition</a:t>
            </a:r>
          </a:p>
          <a:p>
            <a:pPr lvl="1"/>
            <a:endParaRPr lang="en-US"/>
          </a:p>
          <a:p>
            <a:pPr lvl="1"/>
            <a:endParaRPr lang="en-US"/>
          </a:p>
          <a:p>
            <a:pPr lvl="1"/>
            <a:endParaRPr lang="en-US"/>
          </a:p>
          <a:p>
            <a:pPr lvl="1"/>
            <a:endParaRPr lang="en-US"/>
          </a:p>
          <a:p>
            <a:pPr lvl="1"/>
            <a:endParaRPr lang="en-US"/>
          </a:p>
          <a:p>
            <a:pPr lvl="1"/>
            <a:endParaRPr lang="en-US"/>
          </a:p>
        </p:txBody>
      </p:sp>
      <p:pic>
        <p:nvPicPr>
          <p:cNvPr id="19460" name="Picture 2" descr="http://upload.wikimedia.org/wikipedia/commons/thumb/1/1b/Bush-Arnie-morph.jpg/300px-Bush-Arnie-morph.jpg">
            <a:hlinkClick r:id="rId3" tooltip="3 Frames form a morph from George W. Bush to Arnold Schwarzenegger showing also the mid-point between the two extremes"/>
          </p:cNvPr>
          <p:cNvPicPr>
            <a:picLocks noChangeAspect="1" noChangeArrowheads="1"/>
          </p:cNvPicPr>
          <p:nvPr/>
        </p:nvPicPr>
        <p:blipFill>
          <a:blip r:embed="rId4" cstate="print"/>
          <a:srcRect/>
          <a:stretch>
            <a:fillRect/>
          </a:stretch>
        </p:blipFill>
        <p:spPr bwMode="auto">
          <a:xfrm>
            <a:off x="1295400" y="3124200"/>
            <a:ext cx="5791200" cy="2895600"/>
          </a:xfrm>
          <a:prstGeom prst="rect">
            <a:avLst/>
          </a:prstGeom>
          <a:noFill/>
          <a:ln w="9525">
            <a:noFill/>
            <a:miter lim="800000"/>
            <a:headEnd/>
            <a:tailEnd/>
          </a:ln>
        </p:spPr>
      </p:pic>
      <p:sp>
        <p:nvSpPr>
          <p:cNvPr id="19461" name="Rectangle 4"/>
          <p:cNvSpPr>
            <a:spLocks noChangeArrowheads="1"/>
          </p:cNvSpPr>
          <p:nvPr/>
        </p:nvSpPr>
        <p:spPr bwMode="auto">
          <a:xfrm>
            <a:off x="762000" y="6019800"/>
            <a:ext cx="6410325" cy="369888"/>
          </a:xfrm>
          <a:prstGeom prst="rect">
            <a:avLst/>
          </a:prstGeom>
          <a:noFill/>
          <a:ln w="9525">
            <a:noFill/>
            <a:miter lim="800000"/>
            <a:headEnd/>
            <a:tailEnd/>
          </a:ln>
        </p:spPr>
        <p:txBody>
          <a:bodyPr wrap="none">
            <a:spAutoFit/>
          </a:bodyPr>
          <a:lstStyle/>
          <a:p>
            <a:r>
              <a:rPr lang="en-US">
                <a:solidFill>
                  <a:schemeClr val="tx2"/>
                </a:solidFill>
                <a:latin typeface="Century Gothic" pitchFamily="34" charset="0"/>
              </a:rPr>
              <a:t>Image Courtesy: http://en.wikipedia.org/wiki/Morphing</a:t>
            </a:r>
          </a:p>
        </p:txBody>
      </p:sp>
    </p:spTree>
    <p:extLst>
      <p:ext uri="{BB962C8B-B14F-4D97-AF65-F5344CB8AC3E}">
        <p14:creationId xmlns:p14="http://schemas.microsoft.com/office/powerpoint/2010/main" val="68962907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lstStyle/>
          <a:p>
            <a:r>
              <a:rPr lang="en-US"/>
              <a:t>Video Conferencing</a:t>
            </a:r>
          </a:p>
        </p:txBody>
      </p:sp>
      <p:pic>
        <p:nvPicPr>
          <p:cNvPr id="22531" name="Picture 4" descr="Photo of TANDBERG video conferencing system in use."/>
          <p:cNvPicPr>
            <a:picLocks noChangeAspect="1" noChangeArrowheads="1"/>
          </p:cNvPicPr>
          <p:nvPr/>
        </p:nvPicPr>
        <p:blipFill>
          <a:blip r:embed="rId2" cstate="print"/>
          <a:srcRect/>
          <a:stretch>
            <a:fillRect/>
          </a:stretch>
        </p:blipFill>
        <p:spPr bwMode="auto">
          <a:xfrm>
            <a:off x="381000" y="1524000"/>
            <a:ext cx="6781800" cy="4173538"/>
          </a:xfrm>
          <a:prstGeom prst="rect">
            <a:avLst/>
          </a:prstGeom>
          <a:noFill/>
          <a:ln w="9525">
            <a:noFill/>
            <a:miter lim="800000"/>
            <a:headEnd/>
            <a:tailEnd/>
          </a:ln>
        </p:spPr>
      </p:pic>
      <p:sp>
        <p:nvSpPr>
          <p:cNvPr id="22532" name="Title 1"/>
          <p:cNvSpPr>
            <a:spLocks noGrp="1"/>
          </p:cNvSpPr>
          <p:nvPr>
            <p:ph type="title"/>
          </p:nvPr>
        </p:nvSpPr>
        <p:spPr/>
        <p:txBody>
          <a:bodyPr/>
          <a:lstStyle/>
          <a:p>
            <a:r>
              <a:rPr lang="en-US"/>
              <a:t>Some examples of IT</a:t>
            </a:r>
          </a:p>
        </p:txBody>
      </p:sp>
    </p:spTree>
    <p:extLst>
      <p:ext uri="{BB962C8B-B14F-4D97-AF65-F5344CB8AC3E}">
        <p14:creationId xmlns:p14="http://schemas.microsoft.com/office/powerpoint/2010/main" val="377940826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p:txBody>
          <a:bodyPr/>
          <a:lstStyle/>
          <a:p>
            <a:r>
              <a:rPr lang="en-US"/>
              <a:t>GPS Tracking</a:t>
            </a:r>
          </a:p>
          <a:p>
            <a:pPr lvl="1"/>
            <a:r>
              <a:rPr lang="en-US"/>
              <a:t>Track your vehicles, wherever they go, using GPS.</a:t>
            </a:r>
          </a:p>
        </p:txBody>
      </p:sp>
      <p:sp>
        <p:nvSpPr>
          <p:cNvPr id="23555" name="Title 1"/>
          <p:cNvSpPr>
            <a:spLocks noGrp="1"/>
          </p:cNvSpPr>
          <p:nvPr>
            <p:ph type="title"/>
          </p:nvPr>
        </p:nvSpPr>
        <p:spPr/>
        <p:txBody>
          <a:bodyPr/>
          <a:lstStyle/>
          <a:p>
            <a:r>
              <a:rPr lang="en-US"/>
              <a:t>Some examples of IT</a:t>
            </a:r>
          </a:p>
        </p:txBody>
      </p:sp>
      <p:pic>
        <p:nvPicPr>
          <p:cNvPr id="23556" name="Picture 2" descr="http://www.miamidetectiveservices.com/images/gps_tracking_products.jpg"/>
          <p:cNvPicPr>
            <a:picLocks noChangeAspect="1" noChangeArrowheads="1"/>
          </p:cNvPicPr>
          <p:nvPr/>
        </p:nvPicPr>
        <p:blipFill>
          <a:blip r:embed="rId2" cstate="print"/>
          <a:srcRect/>
          <a:stretch>
            <a:fillRect/>
          </a:stretch>
        </p:blipFill>
        <p:spPr bwMode="auto">
          <a:xfrm>
            <a:off x="2667000" y="3276600"/>
            <a:ext cx="3657600" cy="3200400"/>
          </a:xfrm>
          <a:prstGeom prst="rect">
            <a:avLst/>
          </a:prstGeom>
          <a:noFill/>
          <a:ln w="9525">
            <a:noFill/>
            <a:miter lim="800000"/>
            <a:headEnd/>
            <a:tailEnd/>
          </a:ln>
        </p:spPr>
      </p:pic>
    </p:spTree>
    <p:extLst>
      <p:ext uri="{BB962C8B-B14F-4D97-AF65-F5344CB8AC3E}">
        <p14:creationId xmlns:p14="http://schemas.microsoft.com/office/powerpoint/2010/main" val="202483503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20</a:t>
            </a:fld>
            <a:endParaRPr spc="-165" dirty="0"/>
          </a:p>
        </p:txBody>
      </p:sp>
      <p:sp>
        <p:nvSpPr>
          <p:cNvPr id="3" name="object 3"/>
          <p:cNvSpPr txBox="1"/>
          <p:nvPr/>
        </p:nvSpPr>
        <p:spPr>
          <a:xfrm>
            <a:off x="535940" y="1461262"/>
            <a:ext cx="8053070" cy="550343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a:t>
            </a:r>
            <a:endParaRPr sz="2400">
              <a:latin typeface="Carlito"/>
              <a:cs typeface="Carlito"/>
            </a:endParaRPr>
          </a:p>
          <a:p>
            <a:pPr marL="756285" marR="652145" lvl="1" indent="-287020">
              <a:lnSpc>
                <a:spcPct val="100000"/>
              </a:lnSpc>
              <a:spcBef>
                <a:spcPts val="575"/>
              </a:spcBef>
              <a:buFont typeface="Arial"/>
              <a:buChar char="–"/>
              <a:tabLst>
                <a:tab pos="756920" algn="l"/>
              </a:tabLst>
            </a:pPr>
            <a:r>
              <a:rPr sz="2400" dirty="0">
                <a:latin typeface="Carlito"/>
                <a:cs typeface="Carlito"/>
              </a:rPr>
              <a:t>A </a:t>
            </a:r>
            <a:r>
              <a:rPr sz="2400" spc="-10" dirty="0">
                <a:latin typeface="Carlito"/>
                <a:cs typeface="Carlito"/>
              </a:rPr>
              <a:t>programmable, </a:t>
            </a:r>
            <a:r>
              <a:rPr sz="2400" spc="-5" dirty="0">
                <a:latin typeface="Carlito"/>
                <a:cs typeface="Carlito"/>
              </a:rPr>
              <a:t>electronic device that accepts </a:t>
            </a:r>
            <a:r>
              <a:rPr sz="2400" spc="-15" dirty="0">
                <a:latin typeface="Carlito"/>
                <a:cs typeface="Carlito"/>
              </a:rPr>
              <a:t>data,  </a:t>
            </a:r>
            <a:r>
              <a:rPr sz="2400" spc="-10" dirty="0">
                <a:latin typeface="Carlito"/>
                <a:cs typeface="Carlito"/>
              </a:rPr>
              <a:t>performs operations </a:t>
            </a:r>
            <a:r>
              <a:rPr sz="2400" spc="-5" dirty="0">
                <a:latin typeface="Carlito"/>
                <a:cs typeface="Carlito"/>
              </a:rPr>
              <a:t>on </a:t>
            </a:r>
            <a:r>
              <a:rPr sz="2400" spc="-10" dirty="0">
                <a:latin typeface="Carlito"/>
                <a:cs typeface="Carlito"/>
              </a:rPr>
              <a:t>that data, </a:t>
            </a:r>
            <a:r>
              <a:rPr sz="2400" dirty="0">
                <a:latin typeface="Carlito"/>
                <a:cs typeface="Carlito"/>
              </a:rPr>
              <a:t>and </a:t>
            </a:r>
            <a:r>
              <a:rPr sz="2400" spc="-20" dirty="0">
                <a:latin typeface="Carlito"/>
                <a:cs typeface="Carlito"/>
              </a:rPr>
              <a:t>stores </a:t>
            </a:r>
            <a:r>
              <a:rPr sz="2400" dirty="0">
                <a:latin typeface="Carlito"/>
                <a:cs typeface="Carlito"/>
              </a:rPr>
              <a:t>the</a:t>
            </a:r>
            <a:r>
              <a:rPr sz="2400" spc="-55" dirty="0">
                <a:latin typeface="Carlito"/>
                <a:cs typeface="Carlito"/>
              </a:rPr>
              <a:t> </a:t>
            </a:r>
            <a:r>
              <a:rPr sz="2400" spc="-15" dirty="0">
                <a:latin typeface="Carlito"/>
                <a:cs typeface="Carlito"/>
              </a:rPr>
              <a:t>data</a:t>
            </a:r>
            <a:endParaRPr sz="2400">
              <a:latin typeface="Carlito"/>
              <a:cs typeface="Carlito"/>
            </a:endParaRPr>
          </a:p>
          <a:p>
            <a:pPr marL="756285" marR="5080" lvl="1" indent="-287020">
              <a:lnSpc>
                <a:spcPct val="100000"/>
              </a:lnSpc>
              <a:spcBef>
                <a:spcPts val="580"/>
              </a:spcBef>
              <a:buFont typeface="Arial"/>
              <a:buChar char="–"/>
              <a:tabLst>
                <a:tab pos="756920" algn="l"/>
              </a:tabLst>
            </a:pPr>
            <a:r>
              <a:rPr sz="2400" spc="-15" dirty="0">
                <a:latin typeface="Carlito"/>
                <a:cs typeface="Carlito"/>
              </a:rPr>
              <a:t>Follows </a:t>
            </a:r>
            <a:r>
              <a:rPr sz="2400" spc="-5" dirty="0">
                <a:latin typeface="Carlito"/>
                <a:cs typeface="Carlito"/>
              </a:rPr>
              <a:t>instructions, called </a:t>
            </a:r>
            <a:r>
              <a:rPr sz="2400" spc="-15" dirty="0">
                <a:latin typeface="Carlito"/>
                <a:cs typeface="Carlito"/>
              </a:rPr>
              <a:t>programs, </a:t>
            </a:r>
            <a:r>
              <a:rPr sz="2400" dirty="0">
                <a:latin typeface="Carlito"/>
                <a:cs typeface="Carlito"/>
              </a:rPr>
              <a:t>which </a:t>
            </a:r>
            <a:r>
              <a:rPr sz="2400" spc="-5" dirty="0">
                <a:latin typeface="Carlito"/>
                <a:cs typeface="Carlito"/>
              </a:rPr>
              <a:t>determine </a:t>
            </a:r>
            <a:r>
              <a:rPr sz="2400" dirty="0">
                <a:latin typeface="Carlito"/>
                <a:cs typeface="Carlito"/>
              </a:rPr>
              <a:t>the  </a:t>
            </a:r>
            <a:r>
              <a:rPr sz="2400" spc="-10" dirty="0">
                <a:latin typeface="Carlito"/>
                <a:cs typeface="Carlito"/>
              </a:rPr>
              <a:t>tasks </a:t>
            </a:r>
            <a:r>
              <a:rPr sz="2400" dirty="0">
                <a:latin typeface="Carlito"/>
                <a:cs typeface="Carlito"/>
              </a:rPr>
              <a:t>the </a:t>
            </a:r>
            <a:r>
              <a:rPr sz="2400" spc="-10" dirty="0">
                <a:latin typeface="Carlito"/>
                <a:cs typeface="Carlito"/>
              </a:rPr>
              <a:t>computer </a:t>
            </a:r>
            <a:r>
              <a:rPr sz="2400" dirty="0">
                <a:latin typeface="Carlito"/>
                <a:cs typeface="Carlito"/>
              </a:rPr>
              <a:t>will</a:t>
            </a:r>
            <a:r>
              <a:rPr sz="2400" spc="-50" dirty="0">
                <a:latin typeface="Carlito"/>
                <a:cs typeface="Carlito"/>
              </a:rPr>
              <a:t> </a:t>
            </a:r>
            <a:r>
              <a:rPr sz="2400" spc="-15" dirty="0">
                <a:latin typeface="Carlito"/>
                <a:cs typeface="Carlito"/>
              </a:rPr>
              <a:t>perform</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dirty="0">
                <a:latin typeface="Carlito"/>
                <a:cs typeface="Carlito"/>
              </a:rPr>
              <a:t>Basic</a:t>
            </a:r>
            <a:r>
              <a:rPr sz="2400" spc="-45" dirty="0">
                <a:latin typeface="Carlito"/>
                <a:cs typeface="Carlito"/>
              </a:rPr>
              <a:t> </a:t>
            </a:r>
            <a:r>
              <a:rPr sz="2400" spc="-10" dirty="0">
                <a:latin typeface="Carlito"/>
                <a:cs typeface="Carlito"/>
              </a:rPr>
              <a:t>Operations</a:t>
            </a:r>
            <a:endParaRPr sz="2400">
              <a:latin typeface="Carlito"/>
              <a:cs typeface="Carlito"/>
            </a:endParaRPr>
          </a:p>
          <a:p>
            <a:pPr marL="756285" lvl="1" indent="-287020">
              <a:lnSpc>
                <a:spcPct val="100000"/>
              </a:lnSpc>
              <a:spcBef>
                <a:spcPts val="580"/>
              </a:spcBef>
              <a:buFont typeface="Arial"/>
              <a:buChar char="–"/>
              <a:tabLst>
                <a:tab pos="756920" algn="l"/>
              </a:tabLst>
            </a:pPr>
            <a:r>
              <a:rPr sz="2400" dirty="0">
                <a:latin typeface="Carlito"/>
                <a:cs typeface="Carlito"/>
              </a:rPr>
              <a:t>Input: </a:t>
            </a:r>
            <a:r>
              <a:rPr sz="2400" spc="-10" dirty="0">
                <a:latin typeface="Carlito"/>
                <a:cs typeface="Carlito"/>
              </a:rPr>
              <a:t>Entering </a:t>
            </a:r>
            <a:r>
              <a:rPr sz="2400" spc="-15" dirty="0">
                <a:latin typeface="Carlito"/>
                <a:cs typeface="Carlito"/>
              </a:rPr>
              <a:t>data into </a:t>
            </a:r>
            <a:r>
              <a:rPr sz="2400" spc="-5" dirty="0">
                <a:latin typeface="Carlito"/>
                <a:cs typeface="Carlito"/>
              </a:rPr>
              <a:t>the</a:t>
            </a:r>
            <a:r>
              <a:rPr sz="2400" spc="-35" dirty="0">
                <a:latin typeface="Carlito"/>
                <a:cs typeface="Carlito"/>
              </a:rPr>
              <a:t> </a:t>
            </a:r>
            <a:r>
              <a:rPr sz="2400" spc="-10" dirty="0">
                <a:latin typeface="Carlito"/>
                <a:cs typeface="Carlito"/>
              </a:rPr>
              <a:t>computer</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Processing: </a:t>
            </a:r>
            <a:r>
              <a:rPr sz="2400" spc="-15" dirty="0">
                <a:latin typeface="Carlito"/>
                <a:cs typeface="Carlito"/>
              </a:rPr>
              <a:t>Performing </a:t>
            </a:r>
            <a:r>
              <a:rPr sz="2400" spc="-10" dirty="0">
                <a:latin typeface="Carlito"/>
                <a:cs typeface="Carlito"/>
              </a:rPr>
              <a:t>operations </a:t>
            </a:r>
            <a:r>
              <a:rPr sz="2400" spc="-5" dirty="0">
                <a:latin typeface="Carlito"/>
                <a:cs typeface="Carlito"/>
              </a:rPr>
              <a:t>on </a:t>
            </a:r>
            <a:r>
              <a:rPr sz="2400" dirty="0">
                <a:latin typeface="Carlito"/>
                <a:cs typeface="Carlito"/>
              </a:rPr>
              <a:t>the</a:t>
            </a:r>
            <a:r>
              <a:rPr sz="2400" spc="-50" dirty="0">
                <a:latin typeface="Carlito"/>
                <a:cs typeface="Carlito"/>
              </a:rPr>
              <a:t> </a:t>
            </a:r>
            <a:r>
              <a:rPr sz="2400" spc="-15" dirty="0">
                <a:latin typeface="Carlito"/>
                <a:cs typeface="Carlito"/>
              </a:rPr>
              <a:t>data</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Output: </a:t>
            </a:r>
            <a:r>
              <a:rPr sz="2400" spc="-10" dirty="0">
                <a:latin typeface="Carlito"/>
                <a:cs typeface="Carlito"/>
              </a:rPr>
              <a:t>Presenting </a:t>
            </a:r>
            <a:r>
              <a:rPr sz="2400" dirty="0">
                <a:latin typeface="Carlito"/>
                <a:cs typeface="Carlito"/>
              </a:rPr>
              <a:t>the</a:t>
            </a:r>
            <a:r>
              <a:rPr sz="2400" spc="-30" dirty="0">
                <a:latin typeface="Carlito"/>
                <a:cs typeface="Carlito"/>
              </a:rPr>
              <a:t> </a:t>
            </a:r>
            <a:r>
              <a:rPr sz="2400" spc="-5" dirty="0">
                <a:latin typeface="Carlito"/>
                <a:cs typeface="Carlito"/>
              </a:rPr>
              <a:t>results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Storage: </a:t>
            </a:r>
            <a:r>
              <a:rPr sz="2400" spc="-10" dirty="0">
                <a:latin typeface="Carlito"/>
                <a:cs typeface="Carlito"/>
              </a:rPr>
              <a:t>Saving </a:t>
            </a:r>
            <a:r>
              <a:rPr sz="2400" spc="-15" dirty="0">
                <a:latin typeface="Carlito"/>
                <a:cs typeface="Carlito"/>
              </a:rPr>
              <a:t>data, programs, </a:t>
            </a:r>
            <a:r>
              <a:rPr sz="2400" spc="-5" dirty="0">
                <a:latin typeface="Carlito"/>
                <a:cs typeface="Carlito"/>
              </a:rPr>
              <a:t>or </a:t>
            </a:r>
            <a:r>
              <a:rPr sz="2400" spc="-10" dirty="0">
                <a:latin typeface="Carlito"/>
                <a:cs typeface="Carlito"/>
              </a:rPr>
              <a:t>output </a:t>
            </a:r>
            <a:r>
              <a:rPr sz="2400" spc="-20" dirty="0">
                <a:latin typeface="Carlito"/>
                <a:cs typeface="Carlito"/>
              </a:rPr>
              <a:t>for </a:t>
            </a:r>
            <a:r>
              <a:rPr sz="2400" spc="-10">
                <a:latin typeface="Carlito"/>
                <a:cs typeface="Carlito"/>
              </a:rPr>
              <a:t>future</a:t>
            </a:r>
            <a:r>
              <a:rPr sz="2400" spc="-5">
                <a:latin typeface="Carlito"/>
                <a:cs typeface="Carlito"/>
              </a:rPr>
              <a:t> use</a:t>
            </a:r>
            <a:endParaRPr lang="en-US" sz="2400" spc="-5" dirty="0">
              <a:latin typeface="Carlito"/>
              <a:cs typeface="Carlito"/>
            </a:endParaRPr>
          </a:p>
          <a:p>
            <a:pPr marL="756285" lvl="1" indent="-287020">
              <a:lnSpc>
                <a:spcPct val="100000"/>
              </a:lnSpc>
              <a:spcBef>
                <a:spcPts val="575"/>
              </a:spcBef>
              <a:buFont typeface="Arial"/>
              <a:buChar char="–"/>
              <a:tabLst>
                <a:tab pos="756920" algn="l"/>
              </a:tabLst>
            </a:pPr>
            <a:r>
              <a:rPr sz="2400" spc="-5">
                <a:latin typeface="Carlito"/>
                <a:cs typeface="Carlito"/>
              </a:rPr>
              <a:t>Communications</a:t>
            </a:r>
            <a:r>
              <a:rPr sz="2400" spc="-5" dirty="0">
                <a:latin typeface="Carlito"/>
                <a:cs typeface="Carlito"/>
              </a:rPr>
              <a:t>: Sending </a:t>
            </a:r>
            <a:r>
              <a:rPr sz="2400" spc="-10" dirty="0">
                <a:latin typeface="Carlito"/>
                <a:cs typeface="Carlito"/>
              </a:rPr>
              <a:t>or </a:t>
            </a:r>
            <a:r>
              <a:rPr sz="2400" spc="-5" dirty="0">
                <a:latin typeface="Carlito"/>
                <a:cs typeface="Carlito"/>
              </a:rPr>
              <a:t>receiving</a:t>
            </a:r>
            <a:r>
              <a:rPr sz="2400" spc="-65" dirty="0">
                <a:latin typeface="Carlito"/>
                <a:cs typeface="Carlito"/>
              </a:rPr>
              <a:t> </a:t>
            </a:r>
            <a:r>
              <a:rPr sz="2400" spc="-15" dirty="0">
                <a:latin typeface="Carlito"/>
                <a:cs typeface="Carlito"/>
              </a:rPr>
              <a:t>data</a:t>
            </a:r>
            <a:endParaRPr sz="2400">
              <a:latin typeface="Carlito"/>
              <a:cs typeface="Carlito"/>
            </a:endParaRPr>
          </a:p>
        </p:txBody>
      </p:sp>
      <p:sp>
        <p:nvSpPr>
          <p:cNvPr id="6" name="Title 5"/>
          <p:cNvSpPr>
            <a:spLocks noGrp="1"/>
          </p:cNvSpPr>
          <p:nvPr>
            <p:ph type="title"/>
          </p:nvPr>
        </p:nvSpPr>
        <p:spPr/>
        <p:txBody>
          <a:bodyPr>
            <a:normAutofit fontScale="90000"/>
          </a:bodyPr>
          <a:lstStyle/>
          <a:p>
            <a:r>
              <a:rPr lang="en-US" dirty="0"/>
              <a:t>What is a Computer and What Does it Do?</a:t>
            </a:r>
            <a:endParaRPr lang="en-GB" dirty="0"/>
          </a:p>
        </p:txBody>
      </p:sp>
    </p:spTree>
    <p:extLst>
      <p:ext uri="{BB962C8B-B14F-4D97-AF65-F5344CB8AC3E}">
        <p14:creationId xmlns:p14="http://schemas.microsoft.com/office/powerpoint/2010/main" val="123124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Communication Defined</a:t>
            </a:r>
          </a:p>
        </p:txBody>
      </p:sp>
      <p:sp>
        <p:nvSpPr>
          <p:cNvPr id="30723" name="Content Placeholder 2"/>
          <p:cNvSpPr>
            <a:spLocks noGrp="1"/>
          </p:cNvSpPr>
          <p:nvPr>
            <p:ph idx="1"/>
          </p:nvPr>
        </p:nvSpPr>
        <p:spPr>
          <a:xfrm>
            <a:off x="0" y="533400"/>
            <a:ext cx="9144000" cy="5257800"/>
          </a:xfrm>
        </p:spPr>
        <p:txBody>
          <a:bodyPr>
            <a:normAutofit fontScale="77500" lnSpcReduction="20000"/>
          </a:bodyPr>
          <a:lstStyle/>
          <a:p>
            <a:pPr lvl="1">
              <a:lnSpc>
                <a:spcPct val="150000"/>
              </a:lnSpc>
            </a:pPr>
            <a:endParaRPr lang="en-US" dirty="0"/>
          </a:p>
          <a:p>
            <a:pPr lvl="1">
              <a:lnSpc>
                <a:spcPct val="150000"/>
              </a:lnSpc>
            </a:pPr>
            <a:endParaRPr lang="en-US" dirty="0"/>
          </a:p>
          <a:p>
            <a:pPr lvl="1">
              <a:lnSpc>
                <a:spcPct val="150000"/>
              </a:lnSpc>
            </a:pPr>
            <a:r>
              <a:rPr lang="en-US" dirty="0"/>
              <a:t>Communication: To transfer data/information from one point to another</a:t>
            </a:r>
          </a:p>
          <a:p>
            <a:pPr lvl="2">
              <a:lnSpc>
                <a:spcPct val="150000"/>
              </a:lnSpc>
            </a:pPr>
            <a:r>
              <a:rPr lang="en-US" dirty="0"/>
              <a:t>Using Wires</a:t>
            </a:r>
          </a:p>
          <a:p>
            <a:pPr lvl="3">
              <a:lnSpc>
                <a:spcPct val="150000"/>
              </a:lnSpc>
            </a:pPr>
            <a:r>
              <a:rPr lang="en-US" dirty="0"/>
              <a:t>Electrical Signals</a:t>
            </a:r>
          </a:p>
          <a:p>
            <a:pPr lvl="3">
              <a:lnSpc>
                <a:spcPct val="150000"/>
              </a:lnSpc>
            </a:pPr>
            <a:r>
              <a:rPr lang="en-US" dirty="0"/>
              <a:t>Optical Signals (Light)</a:t>
            </a:r>
          </a:p>
          <a:p>
            <a:pPr lvl="2">
              <a:lnSpc>
                <a:spcPct val="150000"/>
              </a:lnSpc>
            </a:pPr>
            <a:r>
              <a:rPr lang="en-US" dirty="0"/>
              <a:t>Wirelessly</a:t>
            </a:r>
          </a:p>
          <a:p>
            <a:pPr lvl="3">
              <a:lnSpc>
                <a:spcPct val="150000"/>
              </a:lnSpc>
            </a:pPr>
            <a:r>
              <a:rPr lang="en-US" dirty="0" err="1"/>
              <a:t>ElectroMagnetic</a:t>
            </a:r>
            <a:r>
              <a:rPr lang="en-US" dirty="0"/>
              <a:t> Waves</a:t>
            </a:r>
          </a:p>
          <a:p>
            <a:pPr lvl="3">
              <a:lnSpc>
                <a:spcPct val="150000"/>
              </a:lnSpc>
            </a:pPr>
            <a:r>
              <a:rPr lang="en-US" dirty="0"/>
              <a:t>Acoustic Waves (Sound) ….?</a:t>
            </a:r>
          </a:p>
          <a:p>
            <a:pPr lvl="2">
              <a:lnSpc>
                <a:spcPct val="150000"/>
              </a:lnSpc>
            </a:pPr>
            <a:r>
              <a:rPr lang="en-US" dirty="0"/>
              <a:t>Using Analog Signals</a:t>
            </a:r>
          </a:p>
          <a:p>
            <a:pPr lvl="2">
              <a:lnSpc>
                <a:spcPct val="150000"/>
              </a:lnSpc>
            </a:pPr>
            <a:r>
              <a:rPr lang="en-US" dirty="0"/>
              <a:t>Using Digital Signals</a:t>
            </a:r>
          </a:p>
        </p:txBody>
      </p:sp>
    </p:spTree>
    <p:extLst>
      <p:ext uri="{BB962C8B-B14F-4D97-AF65-F5344CB8AC3E}">
        <p14:creationId xmlns:p14="http://schemas.microsoft.com/office/powerpoint/2010/main" val="25055794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Related IT terms</a:t>
            </a:r>
          </a:p>
        </p:txBody>
      </p:sp>
      <p:sp>
        <p:nvSpPr>
          <p:cNvPr id="31747" name="Content Placeholder 2"/>
          <p:cNvSpPr>
            <a:spLocks noGrp="1"/>
          </p:cNvSpPr>
          <p:nvPr>
            <p:ph idx="1"/>
          </p:nvPr>
        </p:nvSpPr>
        <p:spPr/>
        <p:txBody>
          <a:bodyPr>
            <a:normAutofit fontScale="92500" lnSpcReduction="20000"/>
          </a:bodyPr>
          <a:lstStyle/>
          <a:p>
            <a:pPr>
              <a:lnSpc>
                <a:spcPct val="150000"/>
              </a:lnSpc>
            </a:pPr>
            <a:r>
              <a:rPr lang="en-US"/>
              <a:t>What is a Network?</a:t>
            </a:r>
          </a:p>
          <a:p>
            <a:pPr lvl="1">
              <a:lnSpc>
                <a:spcPct val="150000"/>
              </a:lnSpc>
            </a:pPr>
            <a:r>
              <a:rPr lang="en-US"/>
              <a:t>communications system connecting two or more computers with/without wires</a:t>
            </a:r>
          </a:p>
          <a:p>
            <a:pPr>
              <a:lnSpc>
                <a:spcPct val="150000"/>
              </a:lnSpc>
            </a:pPr>
            <a:r>
              <a:rPr lang="en-US"/>
              <a:t>What does being online mean?</a:t>
            </a:r>
          </a:p>
          <a:p>
            <a:pPr lvl="1">
              <a:lnSpc>
                <a:spcPct val="150000"/>
              </a:lnSpc>
            </a:pPr>
            <a:r>
              <a:rPr lang="en-US"/>
              <a:t>using a computer or other information device, connected through a voice or data network, to access information and services from another computer or information device</a:t>
            </a:r>
          </a:p>
          <a:p>
            <a:pPr lvl="1"/>
            <a:endParaRPr lang="en-US"/>
          </a:p>
          <a:p>
            <a:endParaRPr lang="en-US"/>
          </a:p>
        </p:txBody>
      </p:sp>
    </p:spTree>
    <p:extLst>
      <p:ext uri="{BB962C8B-B14F-4D97-AF65-F5344CB8AC3E}">
        <p14:creationId xmlns:p14="http://schemas.microsoft.com/office/powerpoint/2010/main" val="263488725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pPr>
              <a:defRPr/>
            </a:pPr>
            <a:r>
              <a:rPr lang="en-US" dirty="0"/>
              <a:t>Related IT terms</a:t>
            </a:r>
          </a:p>
        </p:txBody>
      </p:sp>
      <p:sp>
        <p:nvSpPr>
          <p:cNvPr id="3" name="Content Placeholder 2"/>
          <p:cNvSpPr>
            <a:spLocks noGrp="1"/>
          </p:cNvSpPr>
          <p:nvPr>
            <p:ph idx="1"/>
          </p:nvPr>
        </p:nvSpPr>
        <p:spPr>
          <a:xfrm>
            <a:off x="381000" y="838200"/>
            <a:ext cx="8229600" cy="5334000"/>
          </a:xfrm>
        </p:spPr>
        <p:txBody>
          <a:bodyPr>
            <a:normAutofit fontScale="55000" lnSpcReduction="20000"/>
          </a:bodyPr>
          <a:lstStyle/>
          <a:p>
            <a:pPr marL="0" indent="0" algn="just">
              <a:lnSpc>
                <a:spcPct val="120000"/>
              </a:lnSpc>
              <a:tabLst>
                <a:tab pos="455613" algn="l"/>
              </a:tabLst>
              <a:defRPr/>
            </a:pPr>
            <a:endParaRPr lang="en-US" dirty="0"/>
          </a:p>
          <a:p>
            <a:pPr marL="0" indent="0" algn="just">
              <a:lnSpc>
                <a:spcPct val="120000"/>
              </a:lnSpc>
              <a:tabLst>
                <a:tab pos="455613" algn="l"/>
              </a:tabLst>
              <a:defRPr/>
            </a:pPr>
            <a:endParaRPr lang="en-US" sz="4400" dirty="0"/>
          </a:p>
          <a:p>
            <a:pPr marL="0" indent="0" algn="just">
              <a:lnSpc>
                <a:spcPct val="120000"/>
              </a:lnSpc>
              <a:tabLst>
                <a:tab pos="455613" algn="l"/>
              </a:tabLst>
              <a:defRPr/>
            </a:pPr>
            <a:r>
              <a:rPr lang="en-US" sz="4400" dirty="0"/>
              <a:t>Cyberspace</a:t>
            </a:r>
            <a:endParaRPr lang="en-US" sz="6000" dirty="0"/>
          </a:p>
          <a:p>
            <a:pPr marL="400050" lvl="1" indent="0" algn="just">
              <a:lnSpc>
                <a:spcPct val="120000"/>
              </a:lnSpc>
              <a:tabLst>
                <a:tab pos="455613" algn="l"/>
              </a:tabLst>
              <a:defRPr/>
            </a:pPr>
            <a:r>
              <a:rPr lang="en-US" sz="4000" dirty="0"/>
              <a:t> encompasses the whole wired and wireless world of communications</a:t>
            </a:r>
          </a:p>
          <a:p>
            <a:pPr marL="0" indent="0" algn="just">
              <a:lnSpc>
                <a:spcPct val="120000"/>
              </a:lnSpc>
              <a:tabLst>
                <a:tab pos="455613" algn="l"/>
              </a:tabLst>
              <a:defRPr/>
            </a:pPr>
            <a:r>
              <a:rPr lang="en-US" sz="6000" dirty="0"/>
              <a:t> </a:t>
            </a:r>
            <a:r>
              <a:rPr lang="en-US" sz="4400" dirty="0"/>
              <a:t>The Internet </a:t>
            </a:r>
            <a:endParaRPr lang="en-US" sz="6000" dirty="0"/>
          </a:p>
          <a:p>
            <a:pPr marL="400050" lvl="1" indent="0" algn="just">
              <a:lnSpc>
                <a:spcPct val="120000"/>
              </a:lnSpc>
              <a:tabLst>
                <a:tab pos="455613" algn="l"/>
              </a:tabLst>
              <a:defRPr/>
            </a:pPr>
            <a:r>
              <a:rPr lang="en-US" sz="4000" dirty="0"/>
              <a:t>the “network of all networks”</a:t>
            </a:r>
          </a:p>
          <a:p>
            <a:pPr marL="0" indent="0" algn="just">
              <a:lnSpc>
                <a:spcPct val="120000"/>
              </a:lnSpc>
              <a:tabLst>
                <a:tab pos="455613" algn="l"/>
              </a:tabLst>
              <a:defRPr/>
            </a:pPr>
            <a:r>
              <a:rPr lang="en-US" sz="4400" dirty="0"/>
              <a:t>Multimedia</a:t>
            </a:r>
          </a:p>
          <a:p>
            <a:pPr marL="400050" lvl="1" indent="0" algn="just">
              <a:lnSpc>
                <a:spcPct val="120000"/>
              </a:lnSpc>
              <a:tabLst>
                <a:tab pos="455613" algn="l"/>
              </a:tabLst>
              <a:defRPr/>
            </a:pPr>
            <a:r>
              <a:rPr lang="en-US" sz="4000" dirty="0"/>
              <a:t>technology that presents information in more than one medium, such as text, still images, moving images, and sound</a:t>
            </a:r>
          </a:p>
          <a:p>
            <a:pPr marL="0" indent="0" algn="just">
              <a:lnSpc>
                <a:spcPct val="120000"/>
              </a:lnSpc>
              <a:tabLst>
                <a:tab pos="455613" algn="l"/>
              </a:tabLst>
              <a:defRPr/>
            </a:pPr>
            <a:r>
              <a:rPr lang="en-US" sz="4400" dirty="0"/>
              <a:t>World Wide Web</a:t>
            </a:r>
          </a:p>
          <a:p>
            <a:pPr marL="400050" lvl="1" indent="0" algn="just">
              <a:lnSpc>
                <a:spcPct val="120000"/>
              </a:lnSpc>
              <a:tabLst>
                <a:tab pos="455613" algn="l"/>
              </a:tabLst>
              <a:defRPr/>
            </a:pPr>
            <a:r>
              <a:rPr lang="en-US" sz="4000" dirty="0"/>
              <a:t>“graphical side of the Internet”</a:t>
            </a:r>
          </a:p>
          <a:p>
            <a:pPr marL="400050" lvl="1" indent="0" algn="just">
              <a:lnSpc>
                <a:spcPct val="120000"/>
              </a:lnSpc>
              <a:tabLst>
                <a:tab pos="455613" algn="l"/>
              </a:tabLst>
              <a:defRPr/>
            </a:pPr>
            <a:r>
              <a:rPr lang="en-US" sz="4000" dirty="0"/>
              <a:t>global network of linked documents on the Internet</a:t>
            </a:r>
          </a:p>
          <a:p>
            <a:pPr algn="just">
              <a:defRPr/>
            </a:pPr>
            <a:endParaRPr lang="en-US" dirty="0"/>
          </a:p>
        </p:txBody>
      </p:sp>
      <p:pic>
        <p:nvPicPr>
          <p:cNvPr id="32772" name="Picture 8" descr="internet"/>
          <p:cNvPicPr>
            <a:picLocks noChangeAspect="1" noChangeArrowheads="1"/>
          </p:cNvPicPr>
          <p:nvPr/>
        </p:nvPicPr>
        <p:blipFill>
          <a:blip r:embed="rId2" cstate="print"/>
          <a:srcRect/>
          <a:stretch>
            <a:fillRect/>
          </a:stretch>
        </p:blipFill>
        <p:spPr bwMode="auto">
          <a:xfrm>
            <a:off x="5638800" y="2438400"/>
            <a:ext cx="2743200" cy="1574800"/>
          </a:xfrm>
          <a:prstGeom prst="rect">
            <a:avLst/>
          </a:prstGeom>
          <a:noFill/>
          <a:ln w="9525">
            <a:noFill/>
            <a:miter lim="800000"/>
            <a:headEnd/>
            <a:tailEnd/>
          </a:ln>
        </p:spPr>
      </p:pic>
    </p:spTree>
    <p:extLst>
      <p:ext uri="{BB962C8B-B14F-4D97-AF65-F5344CB8AC3E}">
        <p14:creationId xmlns:p14="http://schemas.microsoft.com/office/powerpoint/2010/main" val="1287097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pPr>
              <a:defRPr/>
            </a:pPr>
            <a:r>
              <a:rPr lang="en-US" dirty="0"/>
              <a:t>Related IT terms</a:t>
            </a:r>
          </a:p>
        </p:txBody>
      </p:sp>
      <p:sp>
        <p:nvSpPr>
          <p:cNvPr id="3" name="Content Placeholder 2"/>
          <p:cNvSpPr>
            <a:spLocks noGrp="1"/>
          </p:cNvSpPr>
          <p:nvPr>
            <p:ph idx="1"/>
          </p:nvPr>
        </p:nvSpPr>
        <p:spPr>
          <a:xfrm>
            <a:off x="457200" y="1066800"/>
            <a:ext cx="8229600" cy="4525963"/>
          </a:xfrm>
        </p:spPr>
        <p:txBody>
          <a:bodyPr>
            <a:normAutofit fontScale="92500" lnSpcReduction="20000"/>
          </a:bodyPr>
          <a:lstStyle/>
          <a:p>
            <a:pPr marL="0" indent="0">
              <a:lnSpc>
                <a:spcPct val="150000"/>
              </a:lnSpc>
              <a:buNone/>
              <a:tabLst>
                <a:tab pos="455613" algn="l"/>
              </a:tabLst>
              <a:defRPr/>
            </a:pPr>
            <a:r>
              <a:rPr lang="en-US" dirty="0"/>
              <a:t> </a:t>
            </a:r>
          </a:p>
          <a:p>
            <a:pPr marL="0" indent="0">
              <a:lnSpc>
                <a:spcPct val="150000"/>
              </a:lnSpc>
              <a:tabLst>
                <a:tab pos="455613" algn="l"/>
              </a:tabLst>
              <a:defRPr/>
            </a:pPr>
            <a:r>
              <a:rPr lang="en-US" dirty="0"/>
              <a:t>The E-word ; E Stands for Electronic</a:t>
            </a:r>
          </a:p>
          <a:p>
            <a:pPr marL="400050" lvl="1" indent="0">
              <a:lnSpc>
                <a:spcPct val="150000"/>
              </a:lnSpc>
              <a:tabLst>
                <a:tab pos="455613" algn="l"/>
              </a:tabLst>
              <a:defRPr/>
            </a:pPr>
            <a:r>
              <a:rPr lang="en-US" dirty="0"/>
              <a:t>E-mail</a:t>
            </a:r>
          </a:p>
          <a:p>
            <a:pPr marL="400050" lvl="1" indent="0">
              <a:lnSpc>
                <a:spcPct val="150000"/>
              </a:lnSpc>
              <a:tabLst>
                <a:tab pos="455613" algn="l"/>
              </a:tabLst>
              <a:defRPr/>
            </a:pPr>
            <a:r>
              <a:rPr lang="en-US" dirty="0"/>
              <a:t>E-learning</a:t>
            </a:r>
          </a:p>
          <a:p>
            <a:pPr marL="400050" lvl="1" indent="0">
              <a:lnSpc>
                <a:spcPct val="150000"/>
              </a:lnSpc>
              <a:tabLst>
                <a:tab pos="455613" algn="l"/>
              </a:tabLst>
              <a:defRPr/>
            </a:pPr>
            <a:r>
              <a:rPr lang="en-US" dirty="0"/>
              <a:t>E-business</a:t>
            </a:r>
          </a:p>
          <a:p>
            <a:pPr marL="400050" lvl="1" indent="0">
              <a:lnSpc>
                <a:spcPct val="150000"/>
              </a:lnSpc>
              <a:tabLst>
                <a:tab pos="455613" algn="l"/>
              </a:tabLst>
              <a:defRPr/>
            </a:pPr>
            <a:r>
              <a:rPr lang="en-US" dirty="0"/>
              <a:t>E-commerce</a:t>
            </a:r>
          </a:p>
          <a:p>
            <a:pPr marL="400050" lvl="1" indent="0">
              <a:lnSpc>
                <a:spcPct val="150000"/>
              </a:lnSpc>
              <a:tabLst>
                <a:tab pos="455613" algn="l"/>
              </a:tabLst>
              <a:defRPr/>
            </a:pPr>
            <a:r>
              <a:rPr lang="en-US" dirty="0"/>
              <a:t>E-government</a:t>
            </a:r>
          </a:p>
          <a:p>
            <a:pPr>
              <a:defRPr/>
            </a:pPr>
            <a:endParaRPr lang="en-US" dirty="0"/>
          </a:p>
        </p:txBody>
      </p:sp>
    </p:spTree>
    <p:extLst>
      <p:ext uri="{BB962C8B-B14F-4D97-AF65-F5344CB8AC3E}">
        <p14:creationId xmlns:p14="http://schemas.microsoft.com/office/powerpoint/2010/main" val="32551761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Exercise</a:t>
            </a:r>
          </a:p>
        </p:txBody>
      </p:sp>
      <p:sp>
        <p:nvSpPr>
          <p:cNvPr id="48131" name="Content Placeholder 2"/>
          <p:cNvSpPr>
            <a:spLocks noGrp="1"/>
          </p:cNvSpPr>
          <p:nvPr>
            <p:ph idx="1"/>
          </p:nvPr>
        </p:nvSpPr>
        <p:spPr/>
        <p:txBody>
          <a:bodyPr/>
          <a:lstStyle/>
          <a:p>
            <a:r>
              <a:rPr lang="en-US" dirty="0"/>
              <a:t>Generate a list of ways the computer/IT has impacted the world. </a:t>
            </a:r>
          </a:p>
          <a:p>
            <a:pPr lvl="1"/>
            <a:r>
              <a:rPr lang="en-US" dirty="0"/>
              <a:t>Include both positive changes and negative changes. </a:t>
            </a:r>
          </a:p>
          <a:p>
            <a:pPr lvl="1"/>
            <a:r>
              <a:rPr lang="en-US" dirty="0"/>
              <a:t>think creatively. </a:t>
            </a:r>
          </a:p>
          <a:p>
            <a:endParaRPr lang="en-US" dirty="0"/>
          </a:p>
        </p:txBody>
      </p:sp>
    </p:spTree>
    <p:extLst>
      <p:ext uri="{BB962C8B-B14F-4D97-AF65-F5344CB8AC3E}">
        <p14:creationId xmlns:p14="http://schemas.microsoft.com/office/powerpoint/2010/main" val="185899537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t>Computers In Society</a:t>
            </a:r>
          </a:p>
        </p:txBody>
      </p:sp>
      <p:sp>
        <p:nvSpPr>
          <p:cNvPr id="50179" name="Rectangle 3"/>
          <p:cNvSpPr>
            <a:spLocks noGrp="1" noChangeArrowheads="1"/>
          </p:cNvSpPr>
          <p:nvPr>
            <p:ph idx="1"/>
          </p:nvPr>
        </p:nvSpPr>
        <p:spPr/>
        <p:txBody>
          <a:bodyPr/>
          <a:lstStyle/>
          <a:p>
            <a:r>
              <a:rPr lang="en-US" dirty="0"/>
              <a:t>Computers at home</a:t>
            </a:r>
          </a:p>
          <a:p>
            <a:r>
              <a:rPr lang="en-US" dirty="0"/>
              <a:t>Computers in government</a:t>
            </a:r>
          </a:p>
          <a:p>
            <a:pPr lvl="1"/>
            <a:r>
              <a:rPr lang="en-US" dirty="0"/>
              <a:t>Necessary to track data for population</a:t>
            </a:r>
          </a:p>
          <a:p>
            <a:pPr lvl="2"/>
            <a:r>
              <a:rPr lang="en-US" dirty="0"/>
              <a:t>Police officers</a:t>
            </a:r>
          </a:p>
          <a:p>
            <a:pPr lvl="2"/>
            <a:r>
              <a:rPr lang="en-US" dirty="0"/>
              <a:t>Tax calculation and collection</a:t>
            </a:r>
          </a:p>
          <a:p>
            <a:r>
              <a:rPr lang="en-US" dirty="0"/>
              <a:t>Computers in education</a:t>
            </a:r>
          </a:p>
          <a:p>
            <a:r>
              <a:rPr lang="en-US" dirty="0"/>
              <a:t>Computers in industry</a:t>
            </a:r>
          </a:p>
          <a:p>
            <a:r>
              <a:rPr lang="en-US" dirty="0"/>
              <a:t>Computers in small business</a:t>
            </a:r>
          </a:p>
          <a:p>
            <a:endParaRPr lang="en-US" dirty="0"/>
          </a:p>
          <a:p>
            <a:pPr lvl="1"/>
            <a:endParaRPr lang="en-US" dirty="0"/>
          </a:p>
          <a:p>
            <a:pPr lvl="1"/>
            <a:endParaRPr lang="en-US" dirty="0"/>
          </a:p>
        </p:txBody>
      </p:sp>
      <p:sp>
        <p:nvSpPr>
          <p:cNvPr id="50180"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F49BB5A0-F8AD-4B68-9D46-AC91847F150D}" type="slidenum">
              <a:rPr lang="en-US"/>
              <a:pPr fontAlgn="base">
                <a:spcBef>
                  <a:spcPct val="0"/>
                </a:spcBef>
                <a:spcAft>
                  <a:spcPct val="0"/>
                </a:spcAft>
              </a:pPr>
              <a:t>26</a:t>
            </a:fld>
            <a:endParaRPr lang="en-US"/>
          </a:p>
        </p:txBody>
      </p:sp>
      <p:pic>
        <p:nvPicPr>
          <p:cNvPr id="5" name="Picture 2" descr="E:\CHAP01\0101\IMAGES\010102P.JPG"/>
          <p:cNvPicPr>
            <a:picLocks noChangeAspect="1" noChangeArrowheads="1"/>
          </p:cNvPicPr>
          <p:nvPr/>
        </p:nvPicPr>
        <p:blipFill>
          <a:blip r:embed="rId3" cstate="print"/>
          <a:srcRect/>
          <a:stretch>
            <a:fillRect/>
          </a:stretch>
        </p:blipFill>
        <p:spPr bwMode="auto">
          <a:xfrm>
            <a:off x="6400800" y="2514600"/>
            <a:ext cx="2120900" cy="2120900"/>
          </a:xfrm>
          <a:prstGeom prst="rect">
            <a:avLst/>
          </a:prstGeom>
          <a:noFill/>
          <a:ln w="9525">
            <a:noFill/>
            <a:miter lim="800000"/>
            <a:headEnd/>
            <a:tailEnd/>
          </a:ln>
        </p:spPr>
      </p:pic>
    </p:spTree>
    <p:extLst>
      <p:ext uri="{BB962C8B-B14F-4D97-AF65-F5344CB8AC3E}">
        <p14:creationId xmlns:p14="http://schemas.microsoft.com/office/powerpoint/2010/main" val="216150942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82600"/>
            <a:ext cx="7239000" cy="843821"/>
          </a:xfrm>
          <a:prstGeom prst="rect">
            <a:avLst/>
          </a:prstGeom>
        </p:spPr>
        <p:txBody>
          <a:bodyPr vert="horz" wrap="square" lIns="0" tIns="12700" rIns="0" bIns="0" rtlCol="0">
            <a:spAutoFit/>
          </a:bodyPr>
          <a:lstStyle/>
          <a:p>
            <a:pPr marL="12700">
              <a:lnSpc>
                <a:spcPct val="100000"/>
              </a:lnSpc>
            </a:pPr>
            <a:r>
              <a:rPr lang="en-US" sz="5400" dirty="0"/>
              <a:t>Computers in the Home</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27</a:t>
            </a:fld>
            <a:endParaRPr spc="-165" dirty="0"/>
          </a:p>
        </p:txBody>
      </p:sp>
      <p:sp>
        <p:nvSpPr>
          <p:cNvPr id="3" name="object 3"/>
          <p:cNvSpPr txBox="1"/>
          <p:nvPr/>
        </p:nvSpPr>
        <p:spPr>
          <a:xfrm>
            <a:off x="535940" y="1388110"/>
            <a:ext cx="8608060" cy="5302092"/>
          </a:xfrm>
          <a:prstGeom prst="rect">
            <a:avLst/>
          </a:prstGeom>
        </p:spPr>
        <p:txBody>
          <a:bodyPr vert="horz" wrap="square" lIns="0" tIns="122555" rIns="0" bIns="0" rtlCol="0">
            <a:spAutoFit/>
          </a:bodyPr>
          <a:lstStyle/>
          <a:p>
            <a:pPr marL="355600" indent="-343535">
              <a:lnSpc>
                <a:spcPct val="100000"/>
              </a:lnSpc>
              <a:spcBef>
                <a:spcPts val="965"/>
              </a:spcBef>
              <a:buFont typeface="Arial"/>
              <a:buChar char="•"/>
              <a:tabLst>
                <a:tab pos="355600" algn="l"/>
                <a:tab pos="356235" algn="l"/>
              </a:tabLst>
            </a:pPr>
            <a:r>
              <a:rPr sz="2400" spc="-10" dirty="0">
                <a:latin typeface="Carlito"/>
                <a:cs typeface="Carlito"/>
              </a:rPr>
              <a:t>Computers </a:t>
            </a:r>
            <a:r>
              <a:rPr sz="2400" spc="-5" dirty="0">
                <a:latin typeface="Carlito"/>
                <a:cs typeface="Carlito"/>
              </a:rPr>
              <a:t>used </a:t>
            </a:r>
            <a:r>
              <a:rPr sz="2400" spc="-20" dirty="0">
                <a:latin typeface="Carlito"/>
                <a:cs typeface="Carlito"/>
              </a:rPr>
              <a:t>for </a:t>
            </a:r>
            <a:r>
              <a:rPr sz="2400" dirty="0">
                <a:latin typeface="Carlito"/>
                <a:cs typeface="Carlito"/>
              </a:rPr>
              <a:t>a </a:t>
            </a:r>
            <a:r>
              <a:rPr sz="2400" spc="-10" dirty="0">
                <a:latin typeface="Carlito"/>
                <a:cs typeface="Carlito"/>
              </a:rPr>
              <a:t>variety </a:t>
            </a:r>
            <a:r>
              <a:rPr sz="2400" spc="-5" dirty="0">
                <a:latin typeface="Carlito"/>
                <a:cs typeface="Carlito"/>
              </a:rPr>
              <a:t>of</a:t>
            </a:r>
            <a:r>
              <a:rPr sz="2400" spc="-80" dirty="0">
                <a:latin typeface="Carlito"/>
                <a:cs typeface="Carlito"/>
              </a:rPr>
              <a:t> </a:t>
            </a:r>
            <a:r>
              <a:rPr sz="2400" spc="-10" dirty="0">
                <a:latin typeface="Carlito"/>
                <a:cs typeface="Carlito"/>
              </a:rPr>
              <a:t>tasks:</a:t>
            </a:r>
            <a:endParaRPr sz="2400" dirty="0">
              <a:latin typeface="Carlito"/>
              <a:cs typeface="Carlito"/>
            </a:endParaRPr>
          </a:p>
          <a:p>
            <a:pPr marL="756285" lvl="1" indent="-287020">
              <a:lnSpc>
                <a:spcPct val="100000"/>
              </a:lnSpc>
              <a:spcBef>
                <a:spcPts val="860"/>
              </a:spcBef>
              <a:buFont typeface="Arial"/>
              <a:buChar char="–"/>
              <a:tabLst>
                <a:tab pos="756920" algn="l"/>
              </a:tabLst>
            </a:pPr>
            <a:r>
              <a:rPr sz="2400" spc="-5" dirty="0">
                <a:latin typeface="Carlito"/>
                <a:cs typeface="Carlito"/>
              </a:rPr>
              <a:t>Looking up </a:t>
            </a:r>
            <a:r>
              <a:rPr sz="2400" spc="-10" dirty="0">
                <a:latin typeface="Carlito"/>
                <a:cs typeface="Carlito"/>
              </a:rPr>
              <a:t>information </a:t>
            </a:r>
            <a:r>
              <a:rPr sz="2400" dirty="0">
                <a:latin typeface="Carlito"/>
                <a:cs typeface="Carlito"/>
              </a:rPr>
              <a:t>and</a:t>
            </a:r>
            <a:r>
              <a:rPr sz="2400" spc="-70" dirty="0">
                <a:latin typeface="Carlito"/>
                <a:cs typeface="Carlito"/>
              </a:rPr>
              <a:t> </a:t>
            </a:r>
            <a:r>
              <a:rPr sz="2400" spc="-15" dirty="0">
                <a:latin typeface="Carlito"/>
                <a:cs typeface="Carlito"/>
              </a:rPr>
              <a:t>news</a:t>
            </a:r>
            <a:endParaRPr sz="2400" dirty="0">
              <a:latin typeface="Carlito"/>
              <a:cs typeface="Carlito"/>
            </a:endParaRPr>
          </a:p>
          <a:p>
            <a:pPr marL="756285" lvl="1" indent="-287020">
              <a:lnSpc>
                <a:spcPct val="100000"/>
              </a:lnSpc>
              <a:spcBef>
                <a:spcPts val="865"/>
              </a:spcBef>
              <a:buFont typeface="Arial"/>
              <a:buChar char="–"/>
              <a:tabLst>
                <a:tab pos="756920" algn="l"/>
              </a:tabLst>
            </a:pPr>
            <a:r>
              <a:rPr sz="2400" spc="-5" dirty="0">
                <a:latin typeface="Carlito"/>
                <a:cs typeface="Carlito"/>
              </a:rPr>
              <a:t>Shopping </a:t>
            </a:r>
            <a:r>
              <a:rPr sz="2400" dirty="0">
                <a:latin typeface="Carlito"/>
                <a:cs typeface="Carlito"/>
              </a:rPr>
              <a:t>and </a:t>
            </a:r>
            <a:r>
              <a:rPr sz="2400" spc="-10" dirty="0">
                <a:latin typeface="Carlito"/>
                <a:cs typeface="Carlito"/>
              </a:rPr>
              <a:t>paying</a:t>
            </a:r>
            <a:r>
              <a:rPr sz="2400" spc="-40" dirty="0">
                <a:latin typeface="Carlito"/>
                <a:cs typeface="Carlito"/>
              </a:rPr>
              <a:t> </a:t>
            </a:r>
            <a:r>
              <a:rPr sz="2400" spc="-5" dirty="0">
                <a:latin typeface="Carlito"/>
                <a:cs typeface="Carlito"/>
              </a:rPr>
              <a:t>bills</a:t>
            </a:r>
            <a:endParaRPr sz="2400" dirty="0">
              <a:latin typeface="Carlito"/>
              <a:cs typeface="Carlito"/>
            </a:endParaRPr>
          </a:p>
          <a:p>
            <a:pPr marL="756285" lvl="1" indent="-287020">
              <a:lnSpc>
                <a:spcPct val="100000"/>
              </a:lnSpc>
              <a:spcBef>
                <a:spcPts val="865"/>
              </a:spcBef>
              <a:buFont typeface="Arial"/>
              <a:buChar char="–"/>
              <a:tabLst>
                <a:tab pos="756920" algn="l"/>
              </a:tabLst>
            </a:pPr>
            <a:r>
              <a:rPr sz="2400" spc="-20" dirty="0">
                <a:latin typeface="Carlito"/>
                <a:cs typeface="Carlito"/>
              </a:rPr>
              <a:t>Watching </a:t>
            </a:r>
            <a:r>
              <a:rPr sz="2400" spc="-5" dirty="0">
                <a:latin typeface="Carlito"/>
                <a:cs typeface="Carlito"/>
              </a:rPr>
              <a:t>TV </a:t>
            </a:r>
            <a:r>
              <a:rPr sz="2400" dirty="0">
                <a:latin typeface="Carlito"/>
                <a:cs typeface="Carlito"/>
              </a:rPr>
              <a:t>and</a:t>
            </a:r>
            <a:r>
              <a:rPr sz="2400" spc="-20" dirty="0">
                <a:latin typeface="Carlito"/>
                <a:cs typeface="Carlito"/>
              </a:rPr>
              <a:t> </a:t>
            </a:r>
            <a:r>
              <a:rPr sz="2400" spc="-5" dirty="0">
                <a:latin typeface="Carlito"/>
                <a:cs typeface="Carlito"/>
              </a:rPr>
              <a:t>videos</a:t>
            </a:r>
            <a:endParaRPr sz="2400" dirty="0">
              <a:latin typeface="Carlito"/>
              <a:cs typeface="Carlito"/>
            </a:endParaRPr>
          </a:p>
          <a:p>
            <a:pPr marL="756285" lvl="1" indent="-287020">
              <a:lnSpc>
                <a:spcPct val="100000"/>
              </a:lnSpc>
              <a:spcBef>
                <a:spcPts val="865"/>
              </a:spcBef>
              <a:buFont typeface="Arial"/>
              <a:buChar char="–"/>
              <a:tabLst>
                <a:tab pos="756920" algn="l"/>
              </a:tabLst>
            </a:pPr>
            <a:r>
              <a:rPr sz="2400" spc="-5" dirty="0">
                <a:latin typeface="Carlito"/>
                <a:cs typeface="Carlito"/>
              </a:rPr>
              <a:t>Downloading </a:t>
            </a:r>
            <a:r>
              <a:rPr sz="2400" dirty="0">
                <a:latin typeface="Carlito"/>
                <a:cs typeface="Carlito"/>
              </a:rPr>
              <a:t>music and</a:t>
            </a:r>
            <a:r>
              <a:rPr sz="2400" spc="-50" dirty="0">
                <a:latin typeface="Carlito"/>
                <a:cs typeface="Carlito"/>
              </a:rPr>
              <a:t> </a:t>
            </a:r>
            <a:r>
              <a:rPr sz="2400" spc="-5" dirty="0">
                <a:latin typeface="Carlito"/>
                <a:cs typeface="Carlito"/>
              </a:rPr>
              <a:t>movies</a:t>
            </a:r>
            <a:endParaRPr sz="2400" dirty="0">
              <a:latin typeface="Carlito"/>
              <a:cs typeface="Carlito"/>
            </a:endParaRPr>
          </a:p>
          <a:p>
            <a:pPr marL="756285" lvl="1" indent="-287020">
              <a:lnSpc>
                <a:spcPct val="100000"/>
              </a:lnSpc>
              <a:spcBef>
                <a:spcPts val="860"/>
              </a:spcBef>
              <a:buFont typeface="Arial"/>
              <a:buChar char="–"/>
              <a:tabLst>
                <a:tab pos="756920" algn="l"/>
              </a:tabLst>
            </a:pPr>
            <a:r>
              <a:rPr sz="2400" spc="-10" dirty="0">
                <a:latin typeface="Carlito"/>
                <a:cs typeface="Carlito"/>
              </a:rPr>
              <a:t>Organizing digital</a:t>
            </a:r>
            <a:r>
              <a:rPr sz="2400" spc="-45" dirty="0">
                <a:latin typeface="Carlito"/>
                <a:cs typeface="Carlito"/>
              </a:rPr>
              <a:t> </a:t>
            </a:r>
            <a:r>
              <a:rPr sz="2400" spc="-10" dirty="0">
                <a:latin typeface="Carlito"/>
                <a:cs typeface="Carlito"/>
              </a:rPr>
              <a:t>photographs</a:t>
            </a:r>
            <a:endParaRPr sz="2400" dirty="0">
              <a:latin typeface="Carlito"/>
              <a:cs typeface="Carlito"/>
            </a:endParaRPr>
          </a:p>
          <a:p>
            <a:pPr marL="756285" lvl="1" indent="-287020">
              <a:lnSpc>
                <a:spcPct val="100000"/>
              </a:lnSpc>
              <a:spcBef>
                <a:spcPts val="869"/>
              </a:spcBef>
              <a:buFont typeface="Arial"/>
              <a:buChar char="–"/>
              <a:tabLst>
                <a:tab pos="756920" algn="l"/>
              </a:tabLst>
            </a:pPr>
            <a:r>
              <a:rPr sz="2400" spc="-10" dirty="0">
                <a:latin typeface="Carlito"/>
                <a:cs typeface="Carlito"/>
              </a:rPr>
              <a:t>Playing</a:t>
            </a:r>
            <a:r>
              <a:rPr sz="2400" spc="-30" dirty="0">
                <a:latin typeface="Carlito"/>
                <a:cs typeface="Carlito"/>
              </a:rPr>
              <a:t> </a:t>
            </a:r>
            <a:r>
              <a:rPr sz="2400" spc="-10" dirty="0">
                <a:latin typeface="Carlito"/>
                <a:cs typeface="Carlito"/>
              </a:rPr>
              <a:t>games</a:t>
            </a:r>
            <a:endParaRPr lang="en-US" sz="2400" spc="-10" dirty="0">
              <a:latin typeface="Carlito"/>
              <a:cs typeface="Carlito"/>
            </a:endParaRPr>
          </a:p>
          <a:p>
            <a:pPr marL="354965" indent="-342900">
              <a:spcBef>
                <a:spcPts val="869"/>
              </a:spcBef>
              <a:buFont typeface="Arial" panose="020B0604020202020204" pitchFamily="34" charset="0"/>
              <a:buChar char="•"/>
              <a:tabLst>
                <a:tab pos="756920" algn="l"/>
              </a:tabLst>
            </a:pPr>
            <a:r>
              <a:rPr lang="en-US" sz="2400" spc="-5" dirty="0">
                <a:latin typeface="Carlito"/>
                <a:cs typeface="Carlito"/>
              </a:rPr>
              <a:t>Smart</a:t>
            </a:r>
            <a:r>
              <a:rPr lang="en-US" sz="2400" spc="-40" dirty="0">
                <a:latin typeface="Carlito"/>
                <a:cs typeface="Carlito"/>
              </a:rPr>
              <a:t> </a:t>
            </a:r>
            <a:r>
              <a:rPr lang="en-US" sz="2400" dirty="0">
                <a:latin typeface="Carlito"/>
                <a:cs typeface="Carlito"/>
              </a:rPr>
              <a:t>appliances</a:t>
            </a:r>
          </a:p>
          <a:p>
            <a:pPr marL="354965" indent="-342900">
              <a:spcBef>
                <a:spcPts val="869"/>
              </a:spcBef>
              <a:buFont typeface="Arial" panose="020B0604020202020204" pitchFamily="34" charset="0"/>
              <a:buChar char="•"/>
              <a:tabLst>
                <a:tab pos="756920" algn="l"/>
              </a:tabLst>
            </a:pPr>
            <a:r>
              <a:rPr lang="en-US" sz="2400" spc="-5" dirty="0">
                <a:latin typeface="Carlito"/>
                <a:cs typeface="Carlito"/>
              </a:rPr>
              <a:t>Smart</a:t>
            </a:r>
            <a:r>
              <a:rPr lang="en-US" sz="2400" spc="-40" dirty="0">
                <a:latin typeface="Carlito"/>
                <a:cs typeface="Carlito"/>
              </a:rPr>
              <a:t> </a:t>
            </a:r>
            <a:r>
              <a:rPr lang="en-US" sz="2400" spc="-5" dirty="0">
                <a:latin typeface="Carlito"/>
                <a:cs typeface="Carlito"/>
              </a:rPr>
              <a:t>homes</a:t>
            </a:r>
            <a:endParaRPr lang="en-US" sz="2400" dirty="0">
              <a:latin typeface="Carlito"/>
              <a:cs typeface="Carlito"/>
            </a:endParaRPr>
          </a:p>
          <a:p>
            <a:pPr marL="354965" indent="-342900">
              <a:spcBef>
                <a:spcPts val="869"/>
              </a:spcBef>
              <a:buFont typeface="Arial" panose="020B0604020202020204" pitchFamily="34" charset="0"/>
              <a:buChar char="•"/>
              <a:tabLst>
                <a:tab pos="756920" algn="l"/>
              </a:tabLst>
            </a:pPr>
            <a:endParaRPr lang="en-US" sz="2400" dirty="0">
              <a:latin typeface="Carlito"/>
              <a:cs typeface="Carlito"/>
            </a:endParaRPr>
          </a:p>
          <a:p>
            <a:pPr marL="299085" indent="-287020">
              <a:spcBef>
                <a:spcPts val="869"/>
              </a:spcBef>
              <a:buFont typeface="Arial"/>
              <a:buChar char="–"/>
              <a:tabLst>
                <a:tab pos="756920" algn="l"/>
              </a:tabLst>
            </a:pPr>
            <a:endParaRPr sz="2400" dirty="0">
              <a:latin typeface="Carlito"/>
              <a:cs typeface="Carlito"/>
            </a:endParaRPr>
          </a:p>
        </p:txBody>
      </p:sp>
    </p:spTree>
    <p:extLst>
      <p:ext uri="{BB962C8B-B14F-4D97-AF65-F5344CB8AC3E}">
        <p14:creationId xmlns:p14="http://schemas.microsoft.com/office/powerpoint/2010/main" val="1609902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67537" y="2277338"/>
            <a:ext cx="8173460" cy="327785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28</a:t>
            </a:fld>
            <a:endParaRPr spc="-165" dirty="0"/>
          </a:p>
        </p:txBody>
      </p:sp>
      <p:sp>
        <p:nvSpPr>
          <p:cNvPr id="6" name="Title 5"/>
          <p:cNvSpPr>
            <a:spLocks noGrp="1"/>
          </p:cNvSpPr>
          <p:nvPr>
            <p:ph type="title"/>
          </p:nvPr>
        </p:nvSpPr>
        <p:spPr/>
        <p:txBody>
          <a:bodyPr/>
          <a:lstStyle/>
          <a:p>
            <a:r>
              <a:rPr lang="en-US" dirty="0"/>
              <a:t>Computers in Education</a:t>
            </a:r>
            <a:endParaRPr lang="en-GB" dirty="0"/>
          </a:p>
        </p:txBody>
      </p:sp>
    </p:spTree>
    <p:extLst>
      <p:ext uri="{BB962C8B-B14F-4D97-AF65-F5344CB8AC3E}">
        <p14:creationId xmlns:p14="http://schemas.microsoft.com/office/powerpoint/2010/main" val="1226799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369685"/>
            <a:chOff x="0" y="0"/>
            <a:chExt cx="9144000" cy="6369685"/>
          </a:xfrm>
        </p:grpSpPr>
        <p:sp>
          <p:nvSpPr>
            <p:cNvPr id="3" name="object 3"/>
            <p:cNvSpPr/>
            <p:nvPr/>
          </p:nvSpPr>
          <p:spPr>
            <a:xfrm>
              <a:off x="2199936" y="1484807"/>
              <a:ext cx="4422075" cy="488488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732269" y="1556842"/>
              <a:ext cx="1906120" cy="622710"/>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29</a:t>
            </a:fld>
            <a:endParaRPr spc="-165" dirty="0"/>
          </a:p>
        </p:txBody>
      </p:sp>
      <p:sp>
        <p:nvSpPr>
          <p:cNvPr id="8" name="Title 7"/>
          <p:cNvSpPr>
            <a:spLocks noGrp="1"/>
          </p:cNvSpPr>
          <p:nvPr>
            <p:ph type="title"/>
          </p:nvPr>
        </p:nvSpPr>
        <p:spPr/>
        <p:txBody>
          <a:bodyPr/>
          <a:lstStyle/>
          <a:p>
            <a:r>
              <a:rPr lang="en-US" dirty="0"/>
              <a:t>Computers on the Job</a:t>
            </a:r>
            <a:endParaRPr lang="en-GB" dirty="0"/>
          </a:p>
        </p:txBody>
      </p:sp>
    </p:spTree>
    <p:extLst>
      <p:ext uri="{BB962C8B-B14F-4D97-AF65-F5344CB8AC3E}">
        <p14:creationId xmlns:p14="http://schemas.microsoft.com/office/powerpoint/2010/main" val="2150092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a:t>Computers In Health Care</a:t>
            </a:r>
          </a:p>
        </p:txBody>
      </p:sp>
      <p:sp>
        <p:nvSpPr>
          <p:cNvPr id="53251" name="Rectangle 3"/>
          <p:cNvSpPr>
            <a:spLocks noGrp="1" noChangeArrowheads="1"/>
          </p:cNvSpPr>
          <p:nvPr>
            <p:ph idx="1"/>
          </p:nvPr>
        </p:nvSpPr>
        <p:spPr/>
        <p:txBody>
          <a:bodyPr>
            <a:normAutofit/>
          </a:bodyPr>
          <a:lstStyle/>
          <a:p>
            <a:pPr lvl="1"/>
            <a:r>
              <a:rPr lang="en-US" sz="2000" dirty="0"/>
              <a:t>Revolutionized health care</a:t>
            </a:r>
          </a:p>
          <a:p>
            <a:pPr lvl="1"/>
            <a:r>
              <a:rPr lang="en-US" sz="2000" dirty="0"/>
              <a:t>New treatments possible</a:t>
            </a:r>
          </a:p>
          <a:p>
            <a:pPr lvl="1"/>
            <a:r>
              <a:rPr lang="en-US" sz="2000" dirty="0"/>
              <a:t>Scheduling of patients has improved</a:t>
            </a:r>
          </a:p>
          <a:p>
            <a:pPr lvl="1"/>
            <a:r>
              <a:rPr lang="en-US" sz="2000" dirty="0"/>
              <a:t>Delivery of medicine is safer</a:t>
            </a:r>
          </a:p>
        </p:txBody>
      </p:sp>
      <p:sp>
        <p:nvSpPr>
          <p:cNvPr id="53252" name="Slide Number Placeholder 3"/>
          <p:cNvSpPr>
            <a:spLocks noGrp="1"/>
          </p:cNvSpPr>
          <p:nvPr>
            <p:ph type="sldNum" sz="quarter" idx="12"/>
          </p:nvPr>
        </p:nvSpPr>
        <p:spPr>
          <a:noFill/>
        </p:spPr>
        <p:txBody>
          <a:bodyPr/>
          <a:lstStyle/>
          <a:p>
            <a:pPr fontAlgn="base">
              <a:spcBef>
                <a:spcPct val="0"/>
              </a:spcBef>
              <a:spcAft>
                <a:spcPct val="0"/>
              </a:spcAft>
            </a:pPr>
            <a:r>
              <a:rPr lang="en-US"/>
              <a:t>1A-</a:t>
            </a:r>
            <a:fld id="{EB84AA96-E613-400C-B83E-1D77CF01645A}" type="slidenum">
              <a:rPr lang="en-US"/>
              <a:pPr fontAlgn="base">
                <a:spcBef>
                  <a:spcPct val="0"/>
                </a:spcBef>
                <a:spcAft>
                  <a:spcPct val="0"/>
                </a:spcAft>
              </a:pPr>
              <a:t>30</a:t>
            </a:fld>
            <a:endParaRPr lang="en-US"/>
          </a:p>
        </p:txBody>
      </p:sp>
      <p:pic>
        <p:nvPicPr>
          <p:cNvPr id="1026" name="Picture 2" descr="Digital Transformation in Healthcare Facilities: An IC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3764280"/>
            <a:ext cx="3288588"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tages and Disadvantages of using computers in health care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639901"/>
            <a:ext cx="2686470" cy="17814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5 Reasons Why Medical Grade Computers Matter in the Hospital |  TechnologyAdvic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600" y="3764280"/>
            <a:ext cx="352467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59497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31</a:t>
            </a:fld>
            <a:endParaRPr spc="-165" dirty="0"/>
          </a:p>
        </p:txBody>
      </p:sp>
      <p:sp>
        <p:nvSpPr>
          <p:cNvPr id="3" name="object 3"/>
          <p:cNvSpPr txBox="1"/>
          <p:nvPr/>
        </p:nvSpPr>
        <p:spPr>
          <a:xfrm>
            <a:off x="535940" y="1461262"/>
            <a:ext cx="8032115" cy="4395434"/>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Computers </a:t>
            </a:r>
            <a:r>
              <a:rPr sz="2400" spc="-15" dirty="0">
                <a:latin typeface="Carlito"/>
                <a:cs typeface="Carlito"/>
              </a:rPr>
              <a:t>are encountered </a:t>
            </a:r>
            <a:r>
              <a:rPr sz="2400" dirty="0">
                <a:latin typeface="Carlito"/>
                <a:cs typeface="Carlito"/>
              </a:rPr>
              <a:t>in </a:t>
            </a:r>
            <a:r>
              <a:rPr sz="2400" spc="-5" dirty="0">
                <a:latin typeface="Carlito"/>
                <a:cs typeface="Carlito"/>
              </a:rPr>
              <a:t>nearly every </a:t>
            </a:r>
            <a:r>
              <a:rPr sz="2400" dirty="0">
                <a:latin typeface="Carlito"/>
                <a:cs typeface="Carlito"/>
              </a:rPr>
              <a:t>aspect </a:t>
            </a:r>
            <a:r>
              <a:rPr sz="2400" spc="-5" dirty="0">
                <a:latin typeface="Carlito"/>
                <a:cs typeface="Carlito"/>
              </a:rPr>
              <a:t>of daily</a:t>
            </a:r>
            <a:r>
              <a:rPr sz="2400" spc="-10" dirty="0">
                <a:latin typeface="Carlito"/>
                <a:cs typeface="Carlito"/>
              </a:rPr>
              <a:t> </a:t>
            </a:r>
            <a:r>
              <a:rPr sz="2400" spc="-20" dirty="0">
                <a:latin typeface="Carlito"/>
                <a:cs typeface="Carlito"/>
              </a:rPr>
              <a:t>life</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Consumer</a:t>
            </a:r>
            <a:r>
              <a:rPr sz="2400" spc="-30" dirty="0">
                <a:latin typeface="Carlito"/>
                <a:cs typeface="Carlito"/>
              </a:rPr>
              <a:t> </a:t>
            </a:r>
            <a:r>
              <a:rPr sz="2400" spc="-10" dirty="0">
                <a:latin typeface="Carlito"/>
                <a:cs typeface="Carlito"/>
              </a:rPr>
              <a:t>kiosks</a:t>
            </a:r>
            <a:endParaRPr sz="2400" dirty="0">
              <a:latin typeface="Carlito"/>
              <a:cs typeface="Carlito"/>
            </a:endParaRPr>
          </a:p>
          <a:p>
            <a:pPr marL="756285" lvl="1" indent="-287020">
              <a:lnSpc>
                <a:spcPct val="100000"/>
              </a:lnSpc>
              <a:spcBef>
                <a:spcPts val="580"/>
              </a:spcBef>
              <a:buFont typeface="Arial"/>
              <a:buChar char="–"/>
              <a:tabLst>
                <a:tab pos="756920" algn="l"/>
              </a:tabLst>
            </a:pPr>
            <a:r>
              <a:rPr sz="2400" spc="-65" dirty="0">
                <a:latin typeface="Carlito"/>
                <a:cs typeface="Carlito"/>
              </a:rPr>
              <a:t>ATM</a:t>
            </a:r>
            <a:r>
              <a:rPr sz="2400" spc="-15" dirty="0">
                <a:latin typeface="Carlito"/>
                <a:cs typeface="Carlito"/>
              </a:rPr>
              <a:t> </a:t>
            </a:r>
            <a:r>
              <a:rPr sz="2400" spc="-5" dirty="0">
                <a:latin typeface="Carlito"/>
                <a:cs typeface="Carlito"/>
              </a:rPr>
              <a:t>transactions</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POS </a:t>
            </a:r>
            <a:r>
              <a:rPr sz="2400" spc="-20" dirty="0">
                <a:latin typeface="Carlito"/>
                <a:cs typeface="Carlito"/>
              </a:rPr>
              <a:t>systems </a:t>
            </a:r>
            <a:r>
              <a:rPr sz="2400" spc="-15" dirty="0">
                <a:latin typeface="Carlito"/>
                <a:cs typeface="Carlito"/>
              </a:rPr>
              <a:t>at retail</a:t>
            </a:r>
            <a:r>
              <a:rPr sz="2400" spc="-30" dirty="0">
                <a:latin typeface="Carlito"/>
                <a:cs typeface="Carlito"/>
              </a:rPr>
              <a:t> </a:t>
            </a:r>
            <a:r>
              <a:rPr sz="2400" spc="-20" dirty="0">
                <a:latin typeface="Carlito"/>
                <a:cs typeface="Carlito"/>
              </a:rPr>
              <a:t>stores</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Self-checkout</a:t>
            </a:r>
            <a:r>
              <a:rPr sz="2400" spc="-40" dirty="0">
                <a:latin typeface="Carlito"/>
                <a:cs typeface="Carlito"/>
              </a:rPr>
              <a:t> </a:t>
            </a:r>
            <a:r>
              <a:rPr sz="2400" spc="-20" dirty="0">
                <a:latin typeface="Carlito"/>
                <a:cs typeface="Carlito"/>
              </a:rPr>
              <a:t>systems</a:t>
            </a:r>
            <a:endParaRPr sz="2400" dirty="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Consumer authentication</a:t>
            </a:r>
            <a:r>
              <a:rPr sz="2400" spc="-45" dirty="0">
                <a:latin typeface="Carlito"/>
                <a:cs typeface="Carlito"/>
              </a:rPr>
              <a:t> </a:t>
            </a:r>
            <a:r>
              <a:rPr sz="2400" spc="-20" dirty="0">
                <a:latin typeface="Carlito"/>
                <a:cs typeface="Carlito"/>
              </a:rPr>
              <a:t>systems</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GPS</a:t>
            </a:r>
            <a:r>
              <a:rPr sz="2400" spc="-20" dirty="0">
                <a:latin typeface="Carlito"/>
                <a:cs typeface="Carlito"/>
              </a:rPr>
              <a:t> systems</a:t>
            </a:r>
            <a:endParaRPr lang="en-US" sz="2400" spc="-20" dirty="0">
              <a:latin typeface="Carlito"/>
              <a:cs typeface="Carlito"/>
            </a:endParaRPr>
          </a:p>
          <a:p>
            <a:pPr marL="756285" lvl="1" indent="-287020">
              <a:spcBef>
                <a:spcPts val="575"/>
              </a:spcBef>
              <a:buFont typeface="Arial"/>
              <a:buChar char="–"/>
              <a:tabLst>
                <a:tab pos="756920" algn="l"/>
              </a:tabLst>
            </a:pPr>
            <a:r>
              <a:rPr lang="en-US" sz="2400" spc="-5" dirty="0">
                <a:latin typeface="Carlito"/>
                <a:cs typeface="Carlito"/>
              </a:rPr>
              <a:t>Used </a:t>
            </a:r>
            <a:r>
              <a:rPr lang="en-US" sz="2400" dirty="0">
                <a:latin typeface="Carlito"/>
                <a:cs typeface="Carlito"/>
              </a:rPr>
              <a:t>in </a:t>
            </a:r>
            <a:r>
              <a:rPr lang="en-US" sz="2400" spc="-10" dirty="0">
                <a:latin typeface="Carlito"/>
                <a:cs typeface="Carlito"/>
              </a:rPr>
              <a:t>conjunction </a:t>
            </a:r>
            <a:r>
              <a:rPr lang="en-US" sz="2400" dirty="0">
                <a:latin typeface="Carlito"/>
                <a:cs typeface="Carlito"/>
              </a:rPr>
              <a:t>with</a:t>
            </a:r>
            <a:r>
              <a:rPr lang="en-US" sz="2400" spc="-30" dirty="0">
                <a:latin typeface="Carlito"/>
                <a:cs typeface="Carlito"/>
              </a:rPr>
              <a:t> </a:t>
            </a:r>
            <a:r>
              <a:rPr lang="en-US" sz="2400" dirty="0">
                <a:latin typeface="Carlito"/>
                <a:cs typeface="Carlito"/>
              </a:rPr>
              <a:t>e-menus</a:t>
            </a:r>
          </a:p>
          <a:p>
            <a:pPr marL="756285" lvl="1" indent="-287020">
              <a:lnSpc>
                <a:spcPct val="100000"/>
              </a:lnSpc>
              <a:spcBef>
                <a:spcPts val="575"/>
              </a:spcBef>
              <a:buFont typeface="Arial"/>
              <a:buChar char="–"/>
              <a:tabLst>
                <a:tab pos="756920" algn="l"/>
              </a:tabLst>
            </a:pPr>
            <a:endParaRPr sz="2400" dirty="0">
              <a:latin typeface="Carlito"/>
              <a:cs typeface="Carlito"/>
            </a:endParaRPr>
          </a:p>
        </p:txBody>
      </p:sp>
      <p:sp>
        <p:nvSpPr>
          <p:cNvPr id="6" name="Title 5"/>
          <p:cNvSpPr>
            <a:spLocks noGrp="1"/>
          </p:cNvSpPr>
          <p:nvPr>
            <p:ph type="title"/>
          </p:nvPr>
        </p:nvSpPr>
        <p:spPr/>
        <p:txBody>
          <a:bodyPr/>
          <a:lstStyle/>
          <a:p>
            <a:r>
              <a:rPr lang="en-US" dirty="0"/>
              <a:t>Computers on the Go</a:t>
            </a:r>
            <a:endParaRPr lang="en-GB" dirty="0"/>
          </a:p>
        </p:txBody>
      </p:sp>
      <p:sp>
        <p:nvSpPr>
          <p:cNvPr id="7" name="object 4"/>
          <p:cNvSpPr/>
          <p:nvPr/>
        </p:nvSpPr>
        <p:spPr>
          <a:xfrm>
            <a:off x="6248400" y="3886200"/>
            <a:ext cx="2590800" cy="1600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139230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30" name="Text Box 6"/>
          <p:cNvSpPr txBox="1">
            <a:spLocks noChangeArrowheads="1"/>
          </p:cNvSpPr>
          <p:nvPr/>
        </p:nvSpPr>
        <p:spPr bwMode="auto">
          <a:xfrm>
            <a:off x="152400" y="1600200"/>
            <a:ext cx="8991600" cy="3785652"/>
          </a:xfrm>
          <a:prstGeom prst="rect">
            <a:avLst/>
          </a:prstGeom>
          <a:noFill/>
          <a:ln w="9525">
            <a:noFill/>
            <a:miter lim="800000"/>
            <a:headEnd/>
            <a:tailEnd/>
          </a:ln>
          <a:effectLst/>
        </p:spPr>
        <p:txBody>
          <a:bodyPr wrap="square">
            <a:spAutoFit/>
          </a:bodyPr>
          <a:lstStyle/>
          <a:p>
            <a:pPr fontAlgn="auto">
              <a:spcBef>
                <a:spcPts val="0"/>
              </a:spcBef>
              <a:spcAft>
                <a:spcPts val="0"/>
              </a:spcAft>
              <a:buFont typeface="Wingdings" pitchFamily="2" charset="2"/>
              <a:buChar char="q"/>
              <a:defRPr/>
            </a:pPr>
            <a:r>
              <a:rPr lang="en-US" sz="2400" dirty="0">
                <a:cs typeface="Times New Roman" pitchFamily="18" charset="0"/>
              </a:rPr>
              <a:t>The Turing Machine Aka The Universal Machine (1936) includes</a:t>
            </a:r>
          </a:p>
          <a:p>
            <a:pPr fontAlgn="auto">
              <a:spcBef>
                <a:spcPts val="0"/>
              </a:spcBef>
              <a:spcAft>
                <a:spcPts val="0"/>
              </a:spcAft>
              <a:buFont typeface="Wingdings" pitchFamily="2" charset="2"/>
              <a:buChar char="q"/>
              <a:defRPr/>
            </a:pPr>
            <a:r>
              <a:rPr lang="en-US" sz="2400" dirty="0">
                <a:cs typeface="Times New Roman" pitchFamily="18" charset="0"/>
              </a:rPr>
              <a:t>A conceptual Tape that extends infinitely to both directions</a:t>
            </a:r>
          </a:p>
          <a:p>
            <a:pPr lvl="1">
              <a:buFont typeface="Wingdings" pitchFamily="2" charset="2"/>
              <a:buChar char="§"/>
              <a:defRPr/>
            </a:pPr>
            <a:r>
              <a:rPr lang="en-US" sz="2400" dirty="0">
                <a:cs typeface="Times New Roman" pitchFamily="18" charset="0"/>
              </a:rPr>
              <a:t>Holds the input to the </a:t>
            </a:r>
            <a:r>
              <a:rPr lang="en-US" sz="2400" dirty="0" err="1">
                <a:cs typeface="Times New Roman" pitchFamily="18" charset="0"/>
              </a:rPr>
              <a:t>turing</a:t>
            </a:r>
            <a:r>
              <a:rPr lang="en-US" sz="2400" dirty="0">
                <a:cs typeface="Times New Roman" pitchFamily="18" charset="0"/>
              </a:rPr>
              <a:t> machine</a:t>
            </a:r>
          </a:p>
          <a:p>
            <a:pPr lvl="1">
              <a:buFont typeface="Wingdings" pitchFamily="2" charset="2"/>
              <a:buChar char="§"/>
              <a:defRPr/>
            </a:pPr>
            <a:r>
              <a:rPr lang="en-US" sz="2400" dirty="0">
                <a:cs typeface="Times New Roman" pitchFamily="18" charset="0"/>
              </a:rPr>
              <a:t>Serves as memory</a:t>
            </a:r>
          </a:p>
          <a:p>
            <a:pPr lvl="1">
              <a:buFont typeface="Wingdings" pitchFamily="2" charset="2"/>
              <a:buChar char="§"/>
              <a:defRPr/>
            </a:pPr>
            <a:r>
              <a:rPr lang="en-US" sz="2400" dirty="0">
                <a:cs typeface="Times New Roman" pitchFamily="18" charset="0"/>
              </a:rPr>
              <a:t>The tape is divided in cells</a:t>
            </a:r>
          </a:p>
          <a:p>
            <a:pPr fontAlgn="auto">
              <a:spcBef>
                <a:spcPts val="0"/>
              </a:spcBef>
              <a:spcAft>
                <a:spcPts val="0"/>
              </a:spcAft>
              <a:buFont typeface="Wingdings" pitchFamily="2" charset="2"/>
              <a:buChar char="q"/>
              <a:defRPr/>
            </a:pPr>
            <a:r>
              <a:rPr lang="en-US" sz="2400" dirty="0">
                <a:cs typeface="Times New Roman" pitchFamily="18" charset="0"/>
              </a:rPr>
              <a:t>A unit that reads one cell of the tape and writes a symbol in that cell</a:t>
            </a:r>
          </a:p>
          <a:p>
            <a:pPr fontAlgn="auto">
              <a:spcBef>
                <a:spcPts val="0"/>
              </a:spcBef>
              <a:spcAft>
                <a:spcPts val="0"/>
              </a:spcAft>
              <a:buFont typeface="Wingdings" pitchFamily="2" charset="2"/>
              <a:buChar char="q"/>
              <a:defRPr/>
            </a:pPr>
            <a:endParaRPr lang="en-US" sz="2400" dirty="0">
              <a:cs typeface="Times New Roman" pitchFamily="18" charset="0"/>
            </a:endParaRPr>
          </a:p>
          <a:p>
            <a:pPr fontAlgn="auto">
              <a:spcBef>
                <a:spcPts val="0"/>
              </a:spcBef>
              <a:spcAft>
                <a:spcPts val="0"/>
              </a:spcAft>
              <a:defRPr/>
            </a:pPr>
            <a:endParaRPr lang="en-US" sz="2400" dirty="0">
              <a:cs typeface="Times New Roman" pitchFamily="18" charset="0"/>
            </a:endParaRPr>
          </a:p>
          <a:p>
            <a:pPr fontAlgn="auto">
              <a:spcBef>
                <a:spcPts val="0"/>
              </a:spcBef>
              <a:spcAft>
                <a:spcPts val="0"/>
              </a:spcAft>
              <a:defRPr/>
            </a:pPr>
            <a:endParaRPr lang="en-US" sz="2400" dirty="0">
              <a:cs typeface="Times New Roman" pitchFamily="18" charset="0"/>
            </a:endParaRPr>
          </a:p>
          <a:p>
            <a:pPr fontAlgn="auto">
              <a:spcBef>
                <a:spcPts val="0"/>
              </a:spcBef>
              <a:spcAft>
                <a:spcPts val="0"/>
              </a:spcAft>
              <a:defRPr/>
            </a:pPr>
            <a:endParaRPr lang="en-US" sz="2400" dirty="0"/>
          </a:p>
        </p:txBody>
      </p:sp>
      <p:sp>
        <p:nvSpPr>
          <p:cNvPr id="64516" name="AutoShape 2"/>
          <p:cNvSpPr>
            <a:spLocks noGrp="1" noChangeArrowheads="1"/>
          </p:cNvSpPr>
          <p:nvPr>
            <p:ph type="title"/>
          </p:nvPr>
        </p:nvSpPr>
        <p:spPr/>
        <p:txBody>
          <a:bodyPr/>
          <a:lstStyle/>
          <a:p>
            <a:pPr eaLnBrk="1" hangingPunct="1"/>
            <a:r>
              <a:rPr lang="en-US" sz="3200"/>
              <a:t>Allen Turing (1912-1954) </a:t>
            </a:r>
          </a:p>
        </p:txBody>
      </p:sp>
      <p:pic>
        <p:nvPicPr>
          <p:cNvPr id="1026" name="Picture 2"/>
          <p:cNvPicPr>
            <a:picLocks noChangeAspect="1" noChangeArrowheads="1"/>
          </p:cNvPicPr>
          <p:nvPr/>
        </p:nvPicPr>
        <p:blipFill>
          <a:blip r:embed="rId3"/>
          <a:srcRect/>
          <a:stretch>
            <a:fillRect/>
          </a:stretch>
        </p:blipFill>
        <p:spPr bwMode="auto">
          <a:xfrm>
            <a:off x="1066800" y="4277089"/>
            <a:ext cx="4572000" cy="1626898"/>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6019800" y="4419600"/>
            <a:ext cx="2384425" cy="1621522"/>
          </a:xfrm>
          <a:prstGeom prst="rect">
            <a:avLst/>
          </a:prstGeom>
          <a:noFill/>
          <a:ln w="9525">
            <a:noFill/>
            <a:miter lim="800000"/>
            <a:headEnd/>
            <a:tailEnd/>
          </a:ln>
          <a:effectLst/>
        </p:spPr>
      </p:pic>
      <p:pic>
        <p:nvPicPr>
          <p:cNvPr id="2052" name="Picture 4" descr="1936: Alan Turing &amp; The Turing Machine - Pivotal Moments — Pivota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8400" y="71725"/>
            <a:ext cx="24384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43935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dirty="0"/>
              <a:t>John von Neumann (1945)</a:t>
            </a:r>
            <a:endParaRPr lang="en-IN" dirty="0"/>
          </a:p>
        </p:txBody>
      </p:sp>
      <p:sp>
        <p:nvSpPr>
          <p:cNvPr id="63491" name="Content Placeholder 2"/>
          <p:cNvSpPr>
            <a:spLocks noGrp="1"/>
          </p:cNvSpPr>
          <p:nvPr>
            <p:ph idx="1"/>
          </p:nvPr>
        </p:nvSpPr>
        <p:spPr>
          <a:xfrm>
            <a:off x="0" y="1600200"/>
            <a:ext cx="3581400" cy="4800600"/>
          </a:xfrm>
        </p:spPr>
        <p:txBody>
          <a:bodyPr>
            <a:noAutofit/>
          </a:bodyPr>
          <a:lstStyle/>
          <a:p>
            <a:pPr algn="just"/>
            <a:r>
              <a:rPr lang="en-US" sz="2000" dirty="0"/>
              <a:t>A processing unit with both an arithmetic logic unit and processor registers</a:t>
            </a:r>
          </a:p>
          <a:p>
            <a:pPr algn="just"/>
            <a:r>
              <a:rPr lang="en-US" sz="2000" dirty="0"/>
              <a:t>A control unit that includes an instruction register and a program counter</a:t>
            </a:r>
          </a:p>
          <a:p>
            <a:pPr algn="just"/>
            <a:r>
              <a:rPr lang="en-US" sz="2000" dirty="0"/>
              <a:t>Memory that stores data and instructions</a:t>
            </a:r>
          </a:p>
          <a:p>
            <a:pPr algn="just"/>
            <a:r>
              <a:rPr lang="en-US" sz="2000" dirty="0"/>
              <a:t>External mass storage</a:t>
            </a:r>
          </a:p>
          <a:p>
            <a:pPr algn="just"/>
            <a:r>
              <a:rPr lang="en-US" sz="2000" dirty="0"/>
              <a:t>Input and output mechanisms</a:t>
            </a:r>
          </a:p>
        </p:txBody>
      </p:sp>
      <p:pic>
        <p:nvPicPr>
          <p:cNvPr id="63492" name="Picture 8" descr="http://www.adeptis.ru/vinci/john_von_neumann7.jpg"/>
          <p:cNvPicPr>
            <a:picLocks noChangeAspect="1" noChangeArrowheads="1"/>
          </p:cNvPicPr>
          <p:nvPr/>
        </p:nvPicPr>
        <p:blipFill>
          <a:blip r:embed="rId2" cstate="print"/>
          <a:srcRect/>
          <a:stretch>
            <a:fillRect/>
          </a:stretch>
        </p:blipFill>
        <p:spPr bwMode="auto">
          <a:xfrm>
            <a:off x="7806322" y="0"/>
            <a:ext cx="1337678" cy="1524000"/>
          </a:xfrm>
          <a:prstGeom prst="rect">
            <a:avLst/>
          </a:prstGeom>
          <a:noFill/>
          <a:ln w="9525">
            <a:noFill/>
            <a:miter lim="800000"/>
            <a:headEnd/>
            <a:tailEnd/>
          </a:ln>
        </p:spPr>
      </p:pic>
      <p:pic>
        <p:nvPicPr>
          <p:cNvPr id="3074" name="Picture 2" descr="Von Neumann Architecture | IGCSE Computer Science | Learnlearn.u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088356"/>
            <a:ext cx="5135311" cy="3519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3930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xfrm>
            <a:off x="685800" y="228600"/>
            <a:ext cx="6934200" cy="911225"/>
          </a:xfrm>
        </p:spPr>
        <p:txBody>
          <a:bodyPr/>
          <a:lstStyle/>
          <a:p>
            <a:r>
              <a:rPr lang="en-US" dirty="0"/>
              <a:t>Input Devices</a:t>
            </a:r>
          </a:p>
        </p:txBody>
      </p:sp>
      <p:sp>
        <p:nvSpPr>
          <p:cNvPr id="5124" name="Rectangle 4"/>
          <p:cNvSpPr>
            <a:spLocks noGrp="1" noChangeArrowheads="1"/>
          </p:cNvSpPr>
          <p:nvPr>
            <p:ph type="body" idx="1"/>
          </p:nvPr>
        </p:nvSpPr>
        <p:spPr>
          <a:xfrm>
            <a:off x="304800" y="1578351"/>
            <a:ext cx="7239000" cy="914400"/>
          </a:xfrm>
        </p:spPr>
        <p:txBody>
          <a:bodyPr>
            <a:normAutofit fontScale="92500" lnSpcReduction="20000"/>
          </a:bodyPr>
          <a:lstStyle/>
          <a:p>
            <a:r>
              <a:rPr lang="en-US" dirty="0"/>
              <a:t>Hardware used to enter data and instructions</a:t>
            </a:r>
          </a:p>
        </p:txBody>
      </p:sp>
      <p:sp>
        <p:nvSpPr>
          <p:cNvPr id="13"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34</a:t>
            </a:fld>
            <a:endParaRPr lang="en-US" dirty="0"/>
          </a:p>
        </p:txBody>
      </p:sp>
      <p:pic>
        <p:nvPicPr>
          <p:cNvPr id="4098" name="Picture 2" descr="Top 15 Computer Input Devices | Uses &amp; Summary (2024 Edi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494498"/>
            <a:ext cx="7015162" cy="3907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184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Devices</a:t>
            </a:r>
          </a:p>
        </p:txBody>
      </p:sp>
      <p:pic>
        <p:nvPicPr>
          <p:cNvPr id="5122" name="Picture 2" descr="Input and Output Devices: Types and Uses of Computer I/O Devic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2133600"/>
            <a:ext cx="6615113" cy="3586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558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152400"/>
            <a:ext cx="8229600" cy="1252728"/>
          </a:xfrm>
        </p:spPr>
        <p:txBody>
          <a:bodyPr/>
          <a:lstStyle/>
          <a:p>
            <a:r>
              <a:rPr lang="en-US" dirty="0"/>
              <a:t>The System Unit and CPU</a:t>
            </a:r>
          </a:p>
        </p:txBody>
      </p:sp>
    </p:spTree>
    <p:extLst>
      <p:ext uri="{BB962C8B-B14F-4D97-AF65-F5344CB8AC3E}">
        <p14:creationId xmlns:p14="http://schemas.microsoft.com/office/powerpoint/2010/main" val="2855412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320" y="382600"/>
            <a:ext cx="4533900" cy="574675"/>
          </a:xfrm>
          <a:prstGeom prst="rect">
            <a:avLst/>
          </a:prstGeom>
        </p:spPr>
        <p:txBody>
          <a:bodyPr vert="horz" wrap="square" lIns="0" tIns="12700" rIns="0" bIns="0" rtlCol="0">
            <a:spAutoFit/>
          </a:bodyPr>
          <a:lstStyle/>
          <a:p>
            <a:pPr marL="12700">
              <a:lnSpc>
                <a:spcPct val="100000"/>
              </a:lnSpc>
              <a:spcBef>
                <a:spcPts val="100"/>
              </a:spcBef>
            </a:pPr>
            <a:r>
              <a:rPr sz="3600" spc="-440" dirty="0"/>
              <a:t>Inside </a:t>
            </a:r>
            <a:r>
              <a:rPr sz="3600" spc="-420" dirty="0"/>
              <a:t>the </a:t>
            </a:r>
            <a:r>
              <a:rPr sz="3600" spc="-540" dirty="0"/>
              <a:t>System</a:t>
            </a:r>
            <a:r>
              <a:rPr sz="3600" spc="-515" dirty="0"/>
              <a:t> </a:t>
            </a:r>
            <a:r>
              <a:rPr sz="3600" spc="-400" dirty="0"/>
              <a:t>Unit</a:t>
            </a:r>
            <a:endParaRPr sz="3600"/>
          </a:p>
        </p:txBody>
      </p:sp>
      <p:grpSp>
        <p:nvGrpSpPr>
          <p:cNvPr id="3" name="object 3"/>
          <p:cNvGrpSpPr/>
          <p:nvPr/>
        </p:nvGrpSpPr>
        <p:grpSpPr>
          <a:xfrm>
            <a:off x="76200" y="1905000"/>
            <a:ext cx="8749969" cy="4255660"/>
            <a:chOff x="683564" y="1840340"/>
            <a:chExt cx="7990205" cy="3883025"/>
          </a:xfrm>
        </p:grpSpPr>
        <p:sp>
          <p:nvSpPr>
            <p:cNvPr id="4" name="object 4"/>
            <p:cNvSpPr/>
            <p:nvPr/>
          </p:nvSpPr>
          <p:spPr>
            <a:xfrm>
              <a:off x="683564" y="1840340"/>
              <a:ext cx="6694170" cy="388278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380351" y="1844802"/>
              <a:ext cx="1293368" cy="1188720"/>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37</a:t>
            </a:fld>
            <a:endParaRPr spc="-165" dirty="0"/>
          </a:p>
        </p:txBody>
      </p:sp>
    </p:spTree>
    <p:extLst>
      <p:ext uri="{BB962C8B-B14F-4D97-AF65-F5344CB8AC3E}">
        <p14:creationId xmlns:p14="http://schemas.microsoft.com/office/powerpoint/2010/main" val="2592170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nSpc>
                <a:spcPct val="100000"/>
              </a:lnSpc>
              <a:spcBef>
                <a:spcPts val="100"/>
              </a:spcBef>
            </a:pPr>
            <a:r>
              <a:rPr sz="3600" spc="-440" dirty="0"/>
              <a:t>Inside </a:t>
            </a:r>
            <a:r>
              <a:rPr sz="3600" spc="-425" dirty="0"/>
              <a:t>the </a:t>
            </a:r>
            <a:r>
              <a:rPr sz="3600" spc="-540" dirty="0"/>
              <a:t>System</a:t>
            </a:r>
            <a:r>
              <a:rPr sz="3600" spc="-495" dirty="0"/>
              <a:t> </a:t>
            </a:r>
            <a:r>
              <a:rPr sz="3600" spc="-400" dirty="0"/>
              <a:t>Unit</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38</a:t>
            </a:fld>
            <a:endParaRPr spc="-165" dirty="0"/>
          </a:p>
        </p:txBody>
      </p:sp>
      <p:sp>
        <p:nvSpPr>
          <p:cNvPr id="3" name="object 3"/>
          <p:cNvSpPr txBox="1"/>
          <p:nvPr/>
        </p:nvSpPr>
        <p:spPr>
          <a:xfrm>
            <a:off x="993444" y="1461262"/>
            <a:ext cx="7608570" cy="4206921"/>
          </a:xfrm>
          <a:prstGeom prst="rect">
            <a:avLst/>
          </a:prstGeom>
        </p:spPr>
        <p:txBody>
          <a:bodyPr vert="horz" wrap="square" lIns="0" tIns="48895" rIns="0" bIns="0" rtlCol="0">
            <a:spAutoFit/>
          </a:bodyPr>
          <a:lstStyle/>
          <a:p>
            <a:pPr marL="12065" algn="just">
              <a:lnSpc>
                <a:spcPct val="100000"/>
              </a:lnSpc>
              <a:spcBef>
                <a:spcPts val="385"/>
              </a:spcBef>
              <a:tabLst>
                <a:tab pos="299720" algn="l"/>
              </a:tabLst>
            </a:pPr>
            <a:r>
              <a:rPr lang="en-US" sz="2400" spc="-10" dirty="0">
                <a:latin typeface="Carlito"/>
                <a:cs typeface="Carlito"/>
              </a:rPr>
              <a:t>Central Processing Unit</a:t>
            </a:r>
          </a:p>
          <a:p>
            <a:pPr marL="354965" indent="-342900" algn="just">
              <a:lnSpc>
                <a:spcPct val="100000"/>
              </a:lnSpc>
              <a:spcBef>
                <a:spcPts val="385"/>
              </a:spcBef>
              <a:buFont typeface="Wingdings" panose="05000000000000000000" pitchFamily="2" charset="2"/>
              <a:buChar char="§"/>
              <a:tabLst>
                <a:tab pos="299720" algn="l"/>
              </a:tabLst>
            </a:pPr>
            <a:r>
              <a:rPr sz="2400" spc="-10" dirty="0">
                <a:latin typeface="Carlito"/>
                <a:cs typeface="Carlito"/>
              </a:rPr>
              <a:t>Dual-core</a:t>
            </a:r>
            <a:r>
              <a:rPr sz="2400" spc="-15" dirty="0">
                <a:latin typeface="Carlito"/>
                <a:cs typeface="Carlito"/>
              </a:rPr>
              <a:t> </a:t>
            </a:r>
            <a:r>
              <a:rPr sz="2400" spc="-5" dirty="0">
                <a:latin typeface="Carlito"/>
                <a:cs typeface="Carlito"/>
              </a:rPr>
              <a:t>CPU</a:t>
            </a:r>
            <a:endParaRPr sz="2400" dirty="0">
              <a:latin typeface="Carlito"/>
              <a:cs typeface="Carlito"/>
            </a:endParaRPr>
          </a:p>
          <a:p>
            <a:pPr marL="812165" marR="577215" lvl="1" indent="-342900" algn="just">
              <a:lnSpc>
                <a:spcPts val="2600"/>
              </a:lnSpc>
              <a:spcBef>
                <a:spcPts val="610"/>
              </a:spcBef>
              <a:buFont typeface="Wingdings" panose="05000000000000000000" pitchFamily="2" charset="2"/>
              <a:buChar char="Ø"/>
              <a:tabLst>
                <a:tab pos="698500" algn="l"/>
              </a:tabLst>
            </a:pPr>
            <a:r>
              <a:rPr sz="2400" spc="-10" dirty="0">
                <a:latin typeface="Carlito"/>
                <a:cs typeface="Carlito"/>
              </a:rPr>
              <a:t>Contains </a:t>
            </a:r>
            <a:r>
              <a:rPr sz="2400" dirty="0">
                <a:latin typeface="Carlito"/>
                <a:cs typeface="Carlito"/>
              </a:rPr>
              <a:t>the </a:t>
            </a:r>
            <a:r>
              <a:rPr sz="2400" spc="-10" dirty="0">
                <a:latin typeface="Carlito"/>
                <a:cs typeface="Carlito"/>
              </a:rPr>
              <a:t>processing components (cores) </a:t>
            </a:r>
            <a:r>
              <a:rPr sz="2400" spc="-5" dirty="0">
                <a:latin typeface="Carlito"/>
                <a:cs typeface="Carlito"/>
              </a:rPr>
              <a:t>of </a:t>
            </a:r>
            <a:r>
              <a:rPr sz="2400" spc="-10" dirty="0">
                <a:latin typeface="Carlito"/>
                <a:cs typeface="Carlito"/>
              </a:rPr>
              <a:t>two  </a:t>
            </a:r>
            <a:r>
              <a:rPr sz="2400" spc="-15" dirty="0">
                <a:latin typeface="Carlito"/>
                <a:cs typeface="Carlito"/>
              </a:rPr>
              <a:t>separate processors </a:t>
            </a:r>
            <a:r>
              <a:rPr sz="2400" spc="-5" dirty="0">
                <a:latin typeface="Carlito"/>
                <a:cs typeface="Carlito"/>
              </a:rPr>
              <a:t>on </a:t>
            </a:r>
            <a:r>
              <a:rPr sz="2400" dirty="0">
                <a:latin typeface="Carlito"/>
                <a:cs typeface="Carlito"/>
              </a:rPr>
              <a:t>a </a:t>
            </a:r>
            <a:r>
              <a:rPr sz="2400" spc="-5" dirty="0">
                <a:latin typeface="Carlito"/>
                <a:cs typeface="Carlito"/>
              </a:rPr>
              <a:t>single</a:t>
            </a:r>
            <a:r>
              <a:rPr sz="2400" spc="-25" dirty="0">
                <a:latin typeface="Carlito"/>
                <a:cs typeface="Carlito"/>
              </a:rPr>
              <a:t> </a:t>
            </a:r>
            <a:r>
              <a:rPr sz="2400" spc="-5" dirty="0">
                <a:latin typeface="Carlito"/>
                <a:cs typeface="Carlito"/>
              </a:rPr>
              <a:t>CPU</a:t>
            </a:r>
            <a:endParaRPr sz="2400" dirty="0">
              <a:latin typeface="Carlito"/>
              <a:cs typeface="Carlito"/>
            </a:endParaRPr>
          </a:p>
          <a:p>
            <a:pPr marL="354965" indent="-342900" algn="just">
              <a:lnSpc>
                <a:spcPct val="100000"/>
              </a:lnSpc>
              <a:spcBef>
                <a:spcPts val="240"/>
              </a:spcBef>
              <a:buFont typeface="Wingdings" panose="05000000000000000000" pitchFamily="2" charset="2"/>
              <a:buChar char="§"/>
              <a:tabLst>
                <a:tab pos="299720" algn="l"/>
              </a:tabLst>
            </a:pPr>
            <a:r>
              <a:rPr sz="2400" spc="-10" dirty="0">
                <a:latin typeface="Carlito"/>
                <a:cs typeface="Carlito"/>
              </a:rPr>
              <a:t>Quad-core</a:t>
            </a:r>
            <a:r>
              <a:rPr sz="2400" spc="-15" dirty="0">
                <a:latin typeface="Carlito"/>
                <a:cs typeface="Carlito"/>
              </a:rPr>
              <a:t> </a:t>
            </a:r>
            <a:r>
              <a:rPr sz="2400" spc="-5" dirty="0">
                <a:latin typeface="Carlito"/>
                <a:cs typeface="Carlito"/>
              </a:rPr>
              <a:t>CPU</a:t>
            </a:r>
            <a:endParaRPr sz="2400" dirty="0">
              <a:latin typeface="Carlito"/>
              <a:cs typeface="Carlito"/>
            </a:endParaRPr>
          </a:p>
          <a:p>
            <a:pPr marL="811530" lvl="1" indent="-342900" algn="just">
              <a:lnSpc>
                <a:spcPct val="100000"/>
              </a:lnSpc>
              <a:spcBef>
                <a:spcPts val="290"/>
              </a:spcBef>
              <a:buFont typeface="Wingdings" panose="05000000000000000000" pitchFamily="2" charset="2"/>
              <a:buChar char="Ø"/>
              <a:tabLst>
                <a:tab pos="698500" algn="l"/>
              </a:tabLst>
            </a:pPr>
            <a:r>
              <a:rPr sz="2400" spc="-10" dirty="0">
                <a:latin typeface="Carlito"/>
                <a:cs typeface="Carlito"/>
              </a:rPr>
              <a:t>Contains </a:t>
            </a:r>
            <a:r>
              <a:rPr sz="2400" spc="-15" dirty="0">
                <a:latin typeface="Carlito"/>
                <a:cs typeface="Carlito"/>
              </a:rPr>
              <a:t>four</a:t>
            </a:r>
            <a:r>
              <a:rPr sz="2400" spc="-30" dirty="0">
                <a:latin typeface="Carlito"/>
                <a:cs typeface="Carlito"/>
              </a:rPr>
              <a:t> </a:t>
            </a:r>
            <a:r>
              <a:rPr sz="2400" spc="-15" dirty="0">
                <a:latin typeface="Carlito"/>
                <a:cs typeface="Carlito"/>
              </a:rPr>
              <a:t>cores</a:t>
            </a:r>
            <a:endParaRPr sz="2400" dirty="0">
              <a:latin typeface="Carlito"/>
              <a:cs typeface="Carlito"/>
            </a:endParaRPr>
          </a:p>
          <a:p>
            <a:pPr marL="354965" marR="368935" indent="-342900" algn="just">
              <a:lnSpc>
                <a:spcPts val="2590"/>
              </a:lnSpc>
              <a:spcBef>
                <a:spcPts val="620"/>
              </a:spcBef>
              <a:buFont typeface="Wingdings" panose="05000000000000000000" pitchFamily="2" charset="2"/>
              <a:buChar char="§"/>
              <a:tabLst>
                <a:tab pos="299720" algn="l"/>
              </a:tabLst>
            </a:pPr>
            <a:r>
              <a:rPr sz="2400" spc="-10" dirty="0">
                <a:latin typeface="Carlito"/>
                <a:cs typeface="Carlito"/>
              </a:rPr>
              <a:t>Multi-core </a:t>
            </a:r>
            <a:r>
              <a:rPr sz="2400" spc="-15" dirty="0">
                <a:latin typeface="Carlito"/>
                <a:cs typeface="Carlito"/>
              </a:rPr>
              <a:t>processors </a:t>
            </a:r>
            <a:r>
              <a:rPr sz="2400" spc="-5" dirty="0">
                <a:latin typeface="Carlito"/>
                <a:cs typeface="Carlito"/>
              </a:rPr>
              <a:t>allow </a:t>
            </a:r>
            <a:r>
              <a:rPr sz="2400" spc="-15" dirty="0">
                <a:latin typeface="Carlito"/>
                <a:cs typeface="Carlito"/>
              </a:rPr>
              <a:t>computers to </a:t>
            </a:r>
            <a:r>
              <a:rPr sz="2400" spc="-10" dirty="0">
                <a:latin typeface="Carlito"/>
                <a:cs typeface="Carlito"/>
              </a:rPr>
              <a:t>work on more  </a:t>
            </a:r>
            <a:r>
              <a:rPr sz="2400" dirty="0">
                <a:latin typeface="Carlito"/>
                <a:cs typeface="Carlito"/>
              </a:rPr>
              <a:t>than </a:t>
            </a:r>
            <a:r>
              <a:rPr sz="2400" spc="-5" dirty="0">
                <a:latin typeface="Carlito"/>
                <a:cs typeface="Carlito"/>
              </a:rPr>
              <a:t>one </a:t>
            </a:r>
            <a:r>
              <a:rPr sz="2400" spc="-10" dirty="0">
                <a:latin typeface="Carlito"/>
                <a:cs typeface="Carlito"/>
              </a:rPr>
              <a:t>task </a:t>
            </a:r>
            <a:r>
              <a:rPr sz="2400" spc="-15" dirty="0">
                <a:latin typeface="Carlito"/>
                <a:cs typeface="Carlito"/>
              </a:rPr>
              <a:t>at </a:t>
            </a:r>
            <a:r>
              <a:rPr sz="2400" dirty="0">
                <a:latin typeface="Carlito"/>
                <a:cs typeface="Carlito"/>
              </a:rPr>
              <a:t>a</a:t>
            </a:r>
            <a:r>
              <a:rPr sz="2400" spc="-35" dirty="0">
                <a:latin typeface="Carlito"/>
                <a:cs typeface="Carlito"/>
              </a:rPr>
              <a:t> </a:t>
            </a:r>
            <a:r>
              <a:rPr sz="2400" dirty="0">
                <a:latin typeface="Carlito"/>
                <a:cs typeface="Carlito"/>
              </a:rPr>
              <a:t>time</a:t>
            </a:r>
          </a:p>
          <a:p>
            <a:pPr marL="354965" marR="5080" indent="-342900" algn="just">
              <a:lnSpc>
                <a:spcPts val="2590"/>
              </a:lnSpc>
              <a:spcBef>
                <a:spcPts val="580"/>
              </a:spcBef>
              <a:buFont typeface="Wingdings" panose="05000000000000000000" pitchFamily="2" charset="2"/>
              <a:buChar char="§"/>
              <a:tabLst>
                <a:tab pos="299720" algn="l"/>
              </a:tabLst>
            </a:pPr>
            <a:r>
              <a:rPr sz="2400" spc="-15" dirty="0">
                <a:latin typeface="Carlito"/>
                <a:cs typeface="Carlito"/>
              </a:rPr>
              <a:t>Typically </a:t>
            </a:r>
            <a:r>
              <a:rPr sz="2400" spc="-20" dirty="0">
                <a:latin typeface="Carlito"/>
                <a:cs typeface="Carlito"/>
              </a:rPr>
              <a:t>different </a:t>
            </a:r>
            <a:r>
              <a:rPr sz="2400" spc="-5" dirty="0">
                <a:latin typeface="Carlito"/>
                <a:cs typeface="Carlito"/>
              </a:rPr>
              <a:t>CPUs </a:t>
            </a:r>
            <a:r>
              <a:rPr sz="2400" spc="-20" dirty="0">
                <a:latin typeface="Carlito"/>
                <a:cs typeface="Carlito"/>
              </a:rPr>
              <a:t>for </a:t>
            </a:r>
            <a:r>
              <a:rPr sz="2400" spc="-10" dirty="0">
                <a:latin typeface="Carlito"/>
                <a:cs typeface="Carlito"/>
              </a:rPr>
              <a:t>desktop </a:t>
            </a:r>
            <a:r>
              <a:rPr sz="2400" spc="-15" dirty="0">
                <a:latin typeface="Carlito"/>
                <a:cs typeface="Carlito"/>
              </a:rPr>
              <a:t>computers, </a:t>
            </a:r>
            <a:r>
              <a:rPr sz="2400" spc="-10" dirty="0">
                <a:latin typeface="Carlito"/>
                <a:cs typeface="Carlito"/>
              </a:rPr>
              <a:t>portable  </a:t>
            </a:r>
            <a:r>
              <a:rPr sz="2400" spc="-15" dirty="0">
                <a:latin typeface="Carlito"/>
                <a:cs typeface="Carlito"/>
              </a:rPr>
              <a:t>computers, </a:t>
            </a:r>
            <a:r>
              <a:rPr sz="2400" spc="-10" dirty="0">
                <a:latin typeface="Carlito"/>
                <a:cs typeface="Carlito"/>
              </a:rPr>
              <a:t>servers, </a:t>
            </a:r>
            <a:r>
              <a:rPr sz="2400" spc="-5" dirty="0">
                <a:latin typeface="Carlito"/>
                <a:cs typeface="Carlito"/>
              </a:rPr>
              <a:t>mobile devices, </a:t>
            </a:r>
            <a:r>
              <a:rPr sz="2400" spc="-10" dirty="0">
                <a:latin typeface="Carlito"/>
                <a:cs typeface="Carlito"/>
              </a:rPr>
              <a:t>consumer </a:t>
            </a:r>
            <a:r>
              <a:rPr sz="2400" spc="-5" dirty="0">
                <a:latin typeface="Carlito"/>
                <a:cs typeface="Carlito"/>
              </a:rPr>
              <a:t>devices,</a:t>
            </a:r>
            <a:r>
              <a:rPr sz="2400" spc="15" dirty="0">
                <a:latin typeface="Carlito"/>
                <a:cs typeface="Carlito"/>
              </a:rPr>
              <a:t> </a:t>
            </a:r>
            <a:r>
              <a:rPr sz="2400" spc="-10" dirty="0">
                <a:latin typeface="Carlito"/>
                <a:cs typeface="Carlito"/>
              </a:rPr>
              <a:t>etc.</a:t>
            </a:r>
            <a:endParaRPr sz="2400" dirty="0">
              <a:latin typeface="Carlito"/>
              <a:cs typeface="Carlito"/>
            </a:endParaRPr>
          </a:p>
        </p:txBody>
      </p:sp>
    </p:spTree>
    <p:extLst>
      <p:ext uri="{BB962C8B-B14F-4D97-AF65-F5344CB8AC3E}">
        <p14:creationId xmlns:p14="http://schemas.microsoft.com/office/powerpoint/2010/main" val="3975255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nSpc>
                <a:spcPct val="100000"/>
              </a:lnSpc>
              <a:spcBef>
                <a:spcPts val="100"/>
              </a:spcBef>
            </a:pPr>
            <a:r>
              <a:rPr sz="3600" spc="-440" dirty="0"/>
              <a:t>Inside </a:t>
            </a:r>
            <a:r>
              <a:rPr sz="3600" spc="-425" dirty="0"/>
              <a:t>the </a:t>
            </a:r>
            <a:r>
              <a:rPr sz="3600" spc="-540" dirty="0"/>
              <a:t>System</a:t>
            </a:r>
            <a:r>
              <a:rPr sz="3600" spc="-495" dirty="0"/>
              <a:t> </a:t>
            </a:r>
            <a:r>
              <a:rPr sz="3600" spc="-400" dirty="0"/>
              <a:t>Unit</a:t>
            </a:r>
            <a:endParaRPr sz="3600"/>
          </a:p>
        </p:txBody>
      </p:sp>
      <p:sp>
        <p:nvSpPr>
          <p:cNvPr id="3" name="object 3"/>
          <p:cNvSpPr/>
          <p:nvPr/>
        </p:nvSpPr>
        <p:spPr>
          <a:xfrm>
            <a:off x="467537" y="1772754"/>
            <a:ext cx="8130540" cy="4339675"/>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39</a:t>
            </a:fld>
            <a:endParaRPr spc="-165" dirty="0"/>
          </a:p>
        </p:txBody>
      </p:sp>
    </p:spTree>
    <p:extLst>
      <p:ext uri="{BB962C8B-B14F-4D97-AF65-F5344CB8AC3E}">
        <p14:creationId xmlns:p14="http://schemas.microsoft.com/office/powerpoint/2010/main" val="259562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nSpc>
                <a:spcPct val="100000"/>
              </a:lnSpc>
              <a:spcBef>
                <a:spcPts val="100"/>
              </a:spcBef>
            </a:pPr>
            <a:r>
              <a:rPr sz="3600" spc="-440" dirty="0"/>
              <a:t>Inside </a:t>
            </a:r>
            <a:r>
              <a:rPr sz="3600" spc="-425" dirty="0"/>
              <a:t>the </a:t>
            </a:r>
            <a:r>
              <a:rPr sz="3600" spc="-540" dirty="0"/>
              <a:t>System</a:t>
            </a:r>
            <a:r>
              <a:rPr sz="3600" spc="-495" dirty="0"/>
              <a:t> </a:t>
            </a:r>
            <a:r>
              <a:rPr sz="3600" spc="-400" dirty="0"/>
              <a:t>Unit</a:t>
            </a:r>
            <a:endParaRPr sz="3600"/>
          </a:p>
        </p:txBody>
      </p:sp>
      <p:sp>
        <p:nvSpPr>
          <p:cNvPr id="3" name="object 3"/>
          <p:cNvSpPr txBox="1"/>
          <p:nvPr/>
        </p:nvSpPr>
        <p:spPr>
          <a:xfrm>
            <a:off x="457200" y="1461262"/>
            <a:ext cx="8534400" cy="5223866"/>
          </a:xfrm>
          <a:prstGeom prst="rect">
            <a:avLst/>
          </a:prstGeom>
        </p:spPr>
        <p:txBody>
          <a:bodyPr vert="horz" wrap="square" lIns="0" tIns="85725" rIns="0" bIns="0" rtlCol="0">
            <a:spAutoFit/>
          </a:bodyPr>
          <a:lstStyle/>
          <a:p>
            <a:pPr marL="299085" indent="-287020">
              <a:lnSpc>
                <a:spcPct val="100000"/>
              </a:lnSpc>
              <a:spcBef>
                <a:spcPts val="675"/>
              </a:spcBef>
              <a:buFont typeface="Arial"/>
              <a:buChar char="–"/>
              <a:tabLst>
                <a:tab pos="299720" algn="l"/>
              </a:tabLst>
            </a:pPr>
            <a:r>
              <a:rPr sz="2400" spc="-5" dirty="0">
                <a:latin typeface="Carlito"/>
                <a:cs typeface="Carlito"/>
              </a:rPr>
              <a:t>The GPU (graphics </a:t>
            </a:r>
            <a:r>
              <a:rPr sz="2400" spc="-10" dirty="0">
                <a:latin typeface="Carlito"/>
                <a:cs typeface="Carlito"/>
              </a:rPr>
              <a:t>processing</a:t>
            </a:r>
            <a:r>
              <a:rPr sz="2400" spc="-60" dirty="0">
                <a:latin typeface="Carlito"/>
                <a:cs typeface="Carlito"/>
              </a:rPr>
              <a:t> </a:t>
            </a:r>
            <a:r>
              <a:rPr sz="2400" spc="-5" dirty="0">
                <a:latin typeface="Carlito"/>
                <a:cs typeface="Carlito"/>
              </a:rPr>
              <a:t>unit)</a:t>
            </a:r>
            <a:endParaRPr sz="2400" dirty="0">
              <a:latin typeface="Carlito"/>
              <a:cs typeface="Carlito"/>
            </a:endParaRPr>
          </a:p>
          <a:p>
            <a:pPr marL="697865" marR="5080" lvl="1" indent="-228600">
              <a:lnSpc>
                <a:spcPct val="100000"/>
              </a:lnSpc>
              <a:spcBef>
                <a:spcPts val="575"/>
              </a:spcBef>
              <a:buFont typeface="Arial"/>
              <a:buChar char="•"/>
              <a:tabLst>
                <a:tab pos="698500" algn="l"/>
              </a:tabLst>
            </a:pPr>
            <a:r>
              <a:rPr sz="2400" spc="-55" dirty="0">
                <a:latin typeface="Carlito"/>
                <a:cs typeface="Carlito"/>
              </a:rPr>
              <a:t>Takes </a:t>
            </a:r>
            <a:r>
              <a:rPr sz="2400" spc="-15" dirty="0">
                <a:latin typeface="Carlito"/>
                <a:cs typeface="Carlito"/>
              </a:rPr>
              <a:t>care </a:t>
            </a:r>
            <a:r>
              <a:rPr sz="2400" spc="-5" dirty="0">
                <a:latin typeface="Carlito"/>
                <a:cs typeface="Carlito"/>
              </a:rPr>
              <a:t>of </a:t>
            </a:r>
            <a:r>
              <a:rPr sz="2400" dirty="0">
                <a:latin typeface="Carlito"/>
                <a:cs typeface="Carlito"/>
              </a:rPr>
              <a:t>the </a:t>
            </a:r>
            <a:r>
              <a:rPr sz="2400" spc="-10" dirty="0">
                <a:latin typeface="Carlito"/>
                <a:cs typeface="Carlito"/>
              </a:rPr>
              <a:t>processing </a:t>
            </a:r>
            <a:r>
              <a:rPr sz="2400" spc="-5" dirty="0">
                <a:latin typeface="Carlito"/>
                <a:cs typeface="Carlito"/>
              </a:rPr>
              <a:t>needed </a:t>
            </a:r>
            <a:r>
              <a:rPr sz="2400" spc="-15" dirty="0">
                <a:latin typeface="Carlito"/>
                <a:cs typeface="Carlito"/>
              </a:rPr>
              <a:t>to display </a:t>
            </a:r>
            <a:r>
              <a:rPr sz="2400" spc="-5" dirty="0">
                <a:latin typeface="Carlito"/>
                <a:cs typeface="Carlito"/>
              </a:rPr>
              <a:t>images  (including </a:t>
            </a:r>
            <a:r>
              <a:rPr sz="2400" spc="-10" dirty="0">
                <a:latin typeface="Carlito"/>
                <a:cs typeface="Carlito"/>
              </a:rPr>
              <a:t>still </a:t>
            </a:r>
            <a:r>
              <a:rPr sz="2400" spc="-5" dirty="0">
                <a:latin typeface="Carlito"/>
                <a:cs typeface="Carlito"/>
              </a:rPr>
              <a:t>images, animations) on </a:t>
            </a:r>
            <a:r>
              <a:rPr sz="2400" dirty="0">
                <a:latin typeface="Carlito"/>
                <a:cs typeface="Carlito"/>
              </a:rPr>
              <a:t>the</a:t>
            </a:r>
            <a:r>
              <a:rPr sz="2400" spc="-65" dirty="0">
                <a:latin typeface="Carlito"/>
                <a:cs typeface="Carlito"/>
              </a:rPr>
              <a:t> </a:t>
            </a:r>
            <a:r>
              <a:rPr sz="2400" spc="-10" dirty="0">
                <a:latin typeface="Carlito"/>
                <a:cs typeface="Carlito"/>
              </a:rPr>
              <a:t>screen</a:t>
            </a:r>
            <a:endParaRPr lang="en-US" sz="2400" spc="-10" dirty="0">
              <a:latin typeface="Carlito"/>
              <a:cs typeface="Carlito"/>
            </a:endParaRPr>
          </a:p>
          <a:p>
            <a:pPr marL="469265" marR="5080" lvl="1">
              <a:lnSpc>
                <a:spcPct val="100000"/>
              </a:lnSpc>
              <a:spcBef>
                <a:spcPts val="575"/>
              </a:spcBef>
              <a:tabLst>
                <a:tab pos="698500" algn="l"/>
              </a:tabLst>
            </a:pPr>
            <a:endParaRPr lang="en-US" sz="2400" spc="-10" dirty="0">
              <a:latin typeface="Carlito"/>
              <a:cs typeface="Carlito"/>
            </a:endParaRPr>
          </a:p>
          <a:p>
            <a:pPr marL="12700">
              <a:lnSpc>
                <a:spcPct val="100000"/>
              </a:lnSpc>
              <a:spcBef>
                <a:spcPts val="675"/>
              </a:spcBef>
            </a:pPr>
            <a:r>
              <a:rPr lang="en-US" sz="2000" spc="-10" dirty="0">
                <a:latin typeface="Carlito"/>
                <a:cs typeface="Carlito"/>
              </a:rPr>
              <a:t>       </a:t>
            </a:r>
            <a:r>
              <a:rPr lang="en-US" sz="2400" spc="-10" dirty="0">
                <a:latin typeface="Carlito"/>
                <a:cs typeface="Carlito"/>
              </a:rPr>
              <a:t>Example:</a:t>
            </a:r>
            <a:r>
              <a:rPr lang="en-US" sz="2400" b="1" i="1" spc="-15" dirty="0">
                <a:latin typeface="Carlito"/>
                <a:cs typeface="Carlito"/>
              </a:rPr>
              <a:t> </a:t>
            </a:r>
            <a:r>
              <a:rPr lang="en-US" sz="2400" b="1" i="1" spc="-5" dirty="0">
                <a:latin typeface="Carlito"/>
                <a:cs typeface="Carlito"/>
              </a:rPr>
              <a:t>The </a:t>
            </a:r>
            <a:r>
              <a:rPr lang="en-US" sz="2400" b="1" i="1" dirty="0">
                <a:latin typeface="Carlito"/>
                <a:cs typeface="Carlito"/>
              </a:rPr>
              <a:t>Ride 3D </a:t>
            </a:r>
            <a:r>
              <a:rPr lang="en-US" sz="2400" b="1" spc="-75" dirty="0">
                <a:latin typeface="Arial"/>
                <a:cs typeface="Arial"/>
              </a:rPr>
              <a:t>at </a:t>
            </a:r>
            <a:r>
              <a:rPr lang="en-US" sz="2400" b="1" spc="-170" dirty="0">
                <a:latin typeface="Arial"/>
                <a:cs typeface="Arial"/>
              </a:rPr>
              <a:t>Universal</a:t>
            </a:r>
            <a:r>
              <a:rPr lang="en-US" sz="2400" b="1" spc="-330" dirty="0">
                <a:latin typeface="Arial"/>
                <a:cs typeface="Arial"/>
              </a:rPr>
              <a:t> </a:t>
            </a:r>
            <a:r>
              <a:rPr lang="en-US" sz="2400" b="1" spc="-204" dirty="0">
                <a:latin typeface="Arial"/>
                <a:cs typeface="Arial"/>
              </a:rPr>
              <a:t>Studios</a:t>
            </a:r>
            <a:endParaRPr lang="en-US" sz="2400" dirty="0">
              <a:latin typeface="Arial"/>
              <a:cs typeface="Arial"/>
            </a:endParaRPr>
          </a:p>
          <a:p>
            <a:pPr marL="756285" marR="5080" indent="-287020">
              <a:spcBef>
                <a:spcPts val="575"/>
              </a:spcBef>
              <a:buFont typeface="Arial"/>
              <a:buChar char="–"/>
              <a:tabLst>
                <a:tab pos="756920" algn="l"/>
              </a:tabLst>
            </a:pPr>
            <a:r>
              <a:rPr lang="en-US" sz="2000" spc="-5" dirty="0">
                <a:latin typeface="Carlito"/>
                <a:cs typeface="Carlito"/>
              </a:rPr>
              <a:t>Uses </a:t>
            </a:r>
            <a:r>
              <a:rPr lang="en-US" sz="2000" dirty="0">
                <a:latin typeface="Carlito"/>
                <a:cs typeface="Carlito"/>
              </a:rPr>
              <a:t>a </a:t>
            </a:r>
            <a:r>
              <a:rPr lang="en-US" sz="2000" spc="-5" dirty="0">
                <a:latin typeface="Carlito"/>
                <a:cs typeface="Carlito"/>
              </a:rPr>
              <a:t>2,000 </a:t>
            </a:r>
            <a:r>
              <a:rPr lang="en-US" sz="2000" spc="-10" dirty="0">
                <a:latin typeface="Carlito"/>
                <a:cs typeface="Carlito"/>
              </a:rPr>
              <a:t>foot-long track, </a:t>
            </a:r>
            <a:r>
              <a:rPr lang="en-US" sz="2000" dirty="0">
                <a:latin typeface="Carlito"/>
                <a:cs typeface="Carlito"/>
              </a:rPr>
              <a:t>14 </a:t>
            </a:r>
            <a:r>
              <a:rPr lang="en-US" sz="2000" spc="-10" dirty="0">
                <a:latin typeface="Carlito"/>
                <a:cs typeface="Carlito"/>
              </a:rPr>
              <a:t>huge screens, </a:t>
            </a:r>
            <a:r>
              <a:rPr lang="en-US" sz="2000" dirty="0">
                <a:latin typeface="Carlito"/>
                <a:cs typeface="Carlito"/>
              </a:rPr>
              <a:t>and 34  </a:t>
            </a:r>
            <a:r>
              <a:rPr lang="en-US" sz="2000" spc="-15" dirty="0">
                <a:latin typeface="Carlito"/>
                <a:cs typeface="Carlito"/>
              </a:rPr>
              <a:t>projectors</a:t>
            </a:r>
            <a:endParaRPr lang="en-US" sz="2000" dirty="0">
              <a:latin typeface="Carlito"/>
              <a:cs typeface="Carlito"/>
            </a:endParaRPr>
          </a:p>
          <a:p>
            <a:pPr marL="756285" indent="-287020">
              <a:spcBef>
                <a:spcPts val="580"/>
              </a:spcBef>
              <a:buFont typeface="Arial"/>
              <a:buChar char="–"/>
              <a:tabLst>
                <a:tab pos="756920" algn="l"/>
              </a:tabLst>
            </a:pPr>
            <a:r>
              <a:rPr lang="en-US" sz="2000" spc="-5" dirty="0">
                <a:latin typeface="Carlito"/>
                <a:cs typeface="Carlito"/>
              </a:rPr>
              <a:t>Motion </a:t>
            </a:r>
            <a:r>
              <a:rPr lang="en-US" sz="2000" dirty="0">
                <a:latin typeface="Carlito"/>
                <a:cs typeface="Carlito"/>
              </a:rPr>
              <a:t>is </a:t>
            </a:r>
            <a:r>
              <a:rPr lang="en-US" sz="2000" spc="-15" dirty="0">
                <a:latin typeface="Carlito"/>
                <a:cs typeface="Carlito"/>
              </a:rPr>
              <a:t>synchronized </a:t>
            </a:r>
            <a:r>
              <a:rPr lang="en-US" sz="2000" dirty="0">
                <a:latin typeface="Carlito"/>
                <a:cs typeface="Carlito"/>
              </a:rPr>
              <a:t>with the</a:t>
            </a:r>
            <a:r>
              <a:rPr lang="en-US" sz="2000" spc="-40" dirty="0">
                <a:latin typeface="Carlito"/>
                <a:cs typeface="Carlito"/>
              </a:rPr>
              <a:t> </a:t>
            </a:r>
            <a:r>
              <a:rPr lang="en-US" sz="2000" dirty="0">
                <a:latin typeface="Carlito"/>
                <a:cs typeface="Carlito"/>
              </a:rPr>
              <a:t>action</a:t>
            </a:r>
          </a:p>
          <a:p>
            <a:pPr marL="756285" indent="-287020">
              <a:spcBef>
                <a:spcPts val="575"/>
              </a:spcBef>
              <a:buFont typeface="Arial"/>
              <a:buChar char="–"/>
              <a:tabLst>
                <a:tab pos="756920" algn="l"/>
              </a:tabLst>
            </a:pPr>
            <a:r>
              <a:rPr lang="en-US" sz="2000" spc="-5" dirty="0">
                <a:latin typeface="Carlito"/>
                <a:cs typeface="Carlito"/>
              </a:rPr>
              <a:t>Images </a:t>
            </a:r>
            <a:r>
              <a:rPr lang="en-US" sz="2000" spc="-15" dirty="0">
                <a:latin typeface="Carlito"/>
                <a:cs typeface="Carlito"/>
              </a:rPr>
              <a:t>are </a:t>
            </a:r>
            <a:r>
              <a:rPr lang="en-US" sz="2000" spc="-25" dirty="0">
                <a:latin typeface="Carlito"/>
                <a:cs typeface="Carlito"/>
              </a:rPr>
              <a:t>3D, </a:t>
            </a:r>
            <a:r>
              <a:rPr lang="en-US" sz="2000" dirty="0">
                <a:latin typeface="Carlito"/>
                <a:cs typeface="Carlito"/>
              </a:rPr>
              <a:t>4K</a:t>
            </a:r>
          </a:p>
          <a:p>
            <a:pPr marL="756285" marR="3728720" indent="-287020">
              <a:spcBef>
                <a:spcPts val="580"/>
              </a:spcBef>
              <a:buFont typeface="Arial"/>
              <a:buChar char="–"/>
              <a:tabLst>
                <a:tab pos="756920" algn="l"/>
              </a:tabLst>
            </a:pPr>
            <a:r>
              <a:rPr lang="en-US" sz="2000" spc="-5" dirty="0">
                <a:latin typeface="Carlito"/>
                <a:cs typeface="Carlito"/>
              </a:rPr>
              <a:t>Used GPUs </a:t>
            </a:r>
            <a:r>
              <a:rPr lang="en-US" sz="2000" spc="-15" dirty="0">
                <a:latin typeface="Carlito"/>
                <a:cs typeface="Carlito"/>
              </a:rPr>
              <a:t>to </a:t>
            </a:r>
            <a:r>
              <a:rPr lang="en-US" sz="2000" spc="-5" dirty="0">
                <a:latin typeface="Carlito"/>
                <a:cs typeface="Carlito"/>
              </a:rPr>
              <a:t>see </a:t>
            </a:r>
            <a:r>
              <a:rPr lang="en-US" sz="2000" dirty="0">
                <a:latin typeface="Carlito"/>
                <a:cs typeface="Carlito"/>
              </a:rPr>
              <a:t>3D  </a:t>
            </a:r>
            <a:r>
              <a:rPr lang="en-US" sz="2000" spc="-5" dirty="0">
                <a:latin typeface="Carlito"/>
                <a:cs typeface="Carlito"/>
              </a:rPr>
              <a:t>animations </a:t>
            </a:r>
            <a:r>
              <a:rPr lang="en-US" sz="2000" dirty="0">
                <a:latin typeface="Carlito"/>
                <a:cs typeface="Carlito"/>
              </a:rPr>
              <a:t>in </a:t>
            </a:r>
            <a:r>
              <a:rPr lang="en-US" sz="2000" spc="-10" dirty="0">
                <a:latin typeface="Carlito"/>
                <a:cs typeface="Carlito"/>
              </a:rPr>
              <a:t>real</a:t>
            </a:r>
            <a:r>
              <a:rPr lang="en-US" sz="2000" spc="-95" dirty="0">
                <a:latin typeface="Carlito"/>
                <a:cs typeface="Carlito"/>
              </a:rPr>
              <a:t> </a:t>
            </a:r>
            <a:r>
              <a:rPr lang="en-US" sz="2000" dirty="0">
                <a:latin typeface="Carlito"/>
                <a:cs typeface="Carlito"/>
              </a:rPr>
              <a:t>time  as </a:t>
            </a:r>
            <a:r>
              <a:rPr lang="en-US" sz="2000" spc="-5" dirty="0">
                <a:latin typeface="Carlito"/>
                <a:cs typeface="Carlito"/>
              </a:rPr>
              <a:t>they </a:t>
            </a:r>
            <a:r>
              <a:rPr lang="en-US" sz="2000" spc="-15" dirty="0">
                <a:latin typeface="Carlito"/>
                <a:cs typeface="Carlito"/>
              </a:rPr>
              <a:t>were </a:t>
            </a:r>
            <a:r>
              <a:rPr lang="en-US" sz="2000" spc="-5" dirty="0">
                <a:latin typeface="Carlito"/>
                <a:cs typeface="Carlito"/>
              </a:rPr>
              <a:t>being  developed</a:t>
            </a:r>
            <a:endParaRPr lang="en-US" sz="2000" dirty="0">
              <a:latin typeface="Carlito"/>
              <a:cs typeface="Carlito"/>
            </a:endParaRPr>
          </a:p>
          <a:p>
            <a:pPr marL="697865" marR="5080" lvl="1" indent="-228600">
              <a:lnSpc>
                <a:spcPct val="100000"/>
              </a:lnSpc>
              <a:spcBef>
                <a:spcPts val="575"/>
              </a:spcBef>
              <a:buFont typeface="Arial"/>
              <a:buChar char="•"/>
              <a:tabLst>
                <a:tab pos="698500" algn="l"/>
              </a:tabLst>
            </a:pPr>
            <a:endParaRPr lang="en-US" sz="2400" spc="-10" dirty="0">
              <a:latin typeface="Carlito"/>
              <a:cs typeface="Carlito"/>
            </a:endParaRPr>
          </a:p>
          <a:p>
            <a:pPr marL="697865" marR="5080" lvl="1" indent="-228600">
              <a:lnSpc>
                <a:spcPct val="100000"/>
              </a:lnSpc>
              <a:spcBef>
                <a:spcPts val="575"/>
              </a:spcBef>
              <a:buFont typeface="Arial"/>
              <a:buChar char="•"/>
              <a:tabLst>
                <a:tab pos="698500" algn="l"/>
              </a:tabLst>
            </a:pPr>
            <a:endParaRPr sz="2400" dirty="0">
              <a:latin typeface="Carlito"/>
              <a:cs typeface="Carlito"/>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40</a:t>
            </a:fld>
            <a:endParaRPr spc="-165" dirty="0"/>
          </a:p>
        </p:txBody>
      </p:sp>
      <p:sp>
        <p:nvSpPr>
          <p:cNvPr id="7" name="object 4"/>
          <p:cNvSpPr/>
          <p:nvPr/>
        </p:nvSpPr>
        <p:spPr>
          <a:xfrm>
            <a:off x="5643223" y="4419600"/>
            <a:ext cx="2991358" cy="19050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62628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gn="just">
              <a:lnSpc>
                <a:spcPct val="100000"/>
              </a:lnSpc>
              <a:spcBef>
                <a:spcPts val="100"/>
              </a:spcBef>
            </a:pPr>
            <a:r>
              <a:rPr sz="3600" spc="-440" dirty="0"/>
              <a:t>Inside </a:t>
            </a:r>
            <a:r>
              <a:rPr sz="3600" spc="-425" dirty="0"/>
              <a:t>the </a:t>
            </a:r>
            <a:r>
              <a:rPr sz="3600" spc="-540" dirty="0"/>
              <a:t>System</a:t>
            </a:r>
            <a:r>
              <a:rPr sz="3600" spc="-495" dirty="0"/>
              <a:t> </a:t>
            </a:r>
            <a:r>
              <a:rPr sz="3600" spc="-400" dirty="0"/>
              <a:t>Unit</a:t>
            </a:r>
            <a:r>
              <a:rPr lang="en-US" sz="3600" spc="-400" dirty="0"/>
              <a:t>  (CPU)</a:t>
            </a:r>
            <a:endParaRPr sz="3600" dirty="0"/>
          </a:p>
        </p:txBody>
      </p:sp>
      <p:sp>
        <p:nvSpPr>
          <p:cNvPr id="5" name="object 5"/>
          <p:cNvSpPr txBox="1">
            <a:spLocks noGrp="1"/>
          </p:cNvSpPr>
          <p:nvPr>
            <p:ph type="sldNum" sz="quarter" idx="4294967295"/>
          </p:nvPr>
        </p:nvSpPr>
        <p:spPr>
          <a:xfrm>
            <a:off x="8380476" y="6437781"/>
            <a:ext cx="253365" cy="209032"/>
          </a:xfrm>
          <a:prstGeom prst="rect">
            <a:avLst/>
          </a:prstGeom>
        </p:spPr>
        <p:txBody>
          <a:bodyPr vert="horz" wrap="square" lIns="0" tIns="24130" rIns="0" bIns="0" rtlCol="0">
            <a:spAutoFit/>
          </a:bodyPr>
          <a:lstStyle/>
          <a:p>
            <a:pPr marL="38100" algn="just">
              <a:lnSpc>
                <a:spcPct val="100000"/>
              </a:lnSpc>
              <a:spcBef>
                <a:spcPts val="190"/>
              </a:spcBef>
            </a:pPr>
            <a:fld id="{81D60167-4931-47E6-BA6A-407CBD079E47}" type="slidenum">
              <a:rPr spc="-165" dirty="0"/>
              <a:pPr marL="38100" algn="just">
                <a:lnSpc>
                  <a:spcPct val="100000"/>
                </a:lnSpc>
                <a:spcBef>
                  <a:spcPts val="190"/>
                </a:spcBef>
              </a:pPr>
              <a:t>41</a:t>
            </a:fld>
            <a:endParaRPr spc="-165" dirty="0"/>
          </a:p>
        </p:txBody>
      </p:sp>
      <p:sp>
        <p:nvSpPr>
          <p:cNvPr id="3" name="object 3"/>
          <p:cNvSpPr txBox="1"/>
          <p:nvPr/>
        </p:nvSpPr>
        <p:spPr>
          <a:xfrm>
            <a:off x="535940" y="1461262"/>
            <a:ext cx="8531860" cy="3795270"/>
          </a:xfrm>
          <a:prstGeom prst="rect">
            <a:avLst/>
          </a:prstGeom>
        </p:spPr>
        <p:txBody>
          <a:bodyPr vert="horz" wrap="square" lIns="0" tIns="85725" rIns="0" bIns="0" rtlCol="0">
            <a:spAutoFit/>
          </a:bodyPr>
          <a:lstStyle/>
          <a:p>
            <a:pPr marL="355600" indent="-343535" algn="just">
              <a:lnSpc>
                <a:spcPct val="100000"/>
              </a:lnSpc>
              <a:spcBef>
                <a:spcPts val="675"/>
              </a:spcBef>
              <a:buFont typeface="Arial"/>
              <a:buChar char="•"/>
              <a:tabLst>
                <a:tab pos="355600" algn="l"/>
                <a:tab pos="356235" algn="l"/>
              </a:tabLst>
            </a:pPr>
            <a:r>
              <a:rPr sz="2400" spc="-10" dirty="0">
                <a:latin typeface="Carlito"/>
                <a:cs typeface="Carlito"/>
              </a:rPr>
              <a:t>Processing</a:t>
            </a:r>
            <a:r>
              <a:rPr sz="2400" spc="-40" dirty="0">
                <a:latin typeface="Carlito"/>
                <a:cs typeface="Carlito"/>
              </a:rPr>
              <a:t> </a:t>
            </a:r>
            <a:r>
              <a:rPr sz="2400" spc="-5" dirty="0">
                <a:latin typeface="Carlito"/>
                <a:cs typeface="Carlito"/>
              </a:rPr>
              <a:t>Speed</a:t>
            </a:r>
            <a:endParaRPr sz="2400" dirty="0">
              <a:latin typeface="Carlito"/>
              <a:cs typeface="Carlito"/>
            </a:endParaRPr>
          </a:p>
          <a:p>
            <a:pPr marL="756285" lvl="1" indent="-287020" algn="just">
              <a:lnSpc>
                <a:spcPct val="100000"/>
              </a:lnSpc>
              <a:spcBef>
                <a:spcPts val="575"/>
              </a:spcBef>
              <a:buFont typeface="Arial"/>
              <a:buChar char="–"/>
              <a:tabLst>
                <a:tab pos="756920" algn="l"/>
              </a:tabLst>
            </a:pPr>
            <a:r>
              <a:rPr sz="2400" spc="-5" dirty="0">
                <a:latin typeface="Carlito"/>
                <a:cs typeface="Carlito"/>
              </a:rPr>
              <a:t>CPU </a:t>
            </a:r>
            <a:r>
              <a:rPr sz="2400" dirty="0">
                <a:latin typeface="Carlito"/>
                <a:cs typeface="Carlito"/>
              </a:rPr>
              <a:t>clock </a:t>
            </a:r>
            <a:r>
              <a:rPr sz="2400" spc="-5" dirty="0">
                <a:latin typeface="Carlito"/>
                <a:cs typeface="Carlito"/>
              </a:rPr>
              <a:t>speed </a:t>
            </a:r>
            <a:r>
              <a:rPr sz="2400" dirty="0">
                <a:latin typeface="Carlito"/>
                <a:cs typeface="Carlito"/>
              </a:rPr>
              <a:t>is </a:t>
            </a:r>
            <a:r>
              <a:rPr sz="2400" spc="-10" dirty="0">
                <a:latin typeface="Carlito"/>
                <a:cs typeface="Carlito"/>
              </a:rPr>
              <a:t>one </a:t>
            </a:r>
            <a:r>
              <a:rPr sz="2400" spc="-5" dirty="0">
                <a:latin typeface="Carlito"/>
                <a:cs typeface="Carlito"/>
              </a:rPr>
              <a:t>measurement of </a:t>
            </a:r>
            <a:r>
              <a:rPr sz="2400" spc="-10" dirty="0">
                <a:latin typeface="Carlito"/>
                <a:cs typeface="Carlito"/>
              </a:rPr>
              <a:t>processing</a:t>
            </a:r>
            <a:r>
              <a:rPr sz="2400" spc="-110" dirty="0">
                <a:latin typeface="Carlito"/>
                <a:cs typeface="Carlito"/>
              </a:rPr>
              <a:t> </a:t>
            </a:r>
            <a:r>
              <a:rPr sz="2400" spc="-5" dirty="0">
                <a:latin typeface="Carlito"/>
                <a:cs typeface="Carlito"/>
              </a:rPr>
              <a:t>speed</a:t>
            </a:r>
            <a:endParaRPr sz="2400" dirty="0">
              <a:latin typeface="Carlito"/>
              <a:cs typeface="Carlito"/>
            </a:endParaRPr>
          </a:p>
          <a:p>
            <a:pPr marL="756285" lvl="1" indent="-287020" algn="just">
              <a:lnSpc>
                <a:spcPct val="100000"/>
              </a:lnSpc>
              <a:spcBef>
                <a:spcPts val="580"/>
              </a:spcBef>
              <a:buFont typeface="Arial"/>
              <a:buChar char="–"/>
              <a:tabLst>
                <a:tab pos="756920" algn="l"/>
              </a:tabLst>
            </a:pPr>
            <a:r>
              <a:rPr sz="2400" spc="-10" dirty="0">
                <a:latin typeface="Carlito"/>
                <a:cs typeface="Carlito"/>
              </a:rPr>
              <a:t>Rated </a:t>
            </a:r>
            <a:r>
              <a:rPr sz="2400" dirty="0">
                <a:latin typeface="Carlito"/>
                <a:cs typeface="Carlito"/>
              </a:rPr>
              <a:t>in </a:t>
            </a:r>
            <a:r>
              <a:rPr sz="2400" spc="-5" dirty="0">
                <a:latin typeface="Carlito"/>
                <a:cs typeface="Carlito"/>
              </a:rPr>
              <a:t>megahertz (MHz) or </a:t>
            </a:r>
            <a:r>
              <a:rPr sz="2400" spc="-10" dirty="0">
                <a:latin typeface="Carlito"/>
                <a:cs typeface="Carlito"/>
              </a:rPr>
              <a:t>gigahertz</a:t>
            </a:r>
            <a:r>
              <a:rPr sz="2400" spc="-65" dirty="0">
                <a:latin typeface="Carlito"/>
                <a:cs typeface="Carlito"/>
              </a:rPr>
              <a:t> </a:t>
            </a:r>
            <a:r>
              <a:rPr sz="2400" spc="-5" dirty="0">
                <a:latin typeface="Carlito"/>
                <a:cs typeface="Carlito"/>
              </a:rPr>
              <a:t>(GHz)</a:t>
            </a:r>
            <a:endParaRPr sz="2400" dirty="0">
              <a:latin typeface="Carlito"/>
              <a:cs typeface="Carlito"/>
            </a:endParaRPr>
          </a:p>
          <a:p>
            <a:pPr marL="756285" marR="5080" lvl="1" indent="-287020" algn="just">
              <a:lnSpc>
                <a:spcPct val="100000"/>
              </a:lnSpc>
              <a:spcBef>
                <a:spcPts val="575"/>
              </a:spcBef>
              <a:buFont typeface="Arial"/>
              <a:buChar char="–"/>
              <a:tabLst>
                <a:tab pos="756920" algn="l"/>
              </a:tabLst>
            </a:pPr>
            <a:r>
              <a:rPr sz="2400" spc="-5" dirty="0">
                <a:latin typeface="Carlito"/>
                <a:cs typeface="Carlito"/>
              </a:rPr>
              <a:t>Higher CPU </a:t>
            </a:r>
            <a:r>
              <a:rPr sz="2400" dirty="0">
                <a:latin typeface="Carlito"/>
                <a:cs typeface="Carlito"/>
              </a:rPr>
              <a:t>clock </a:t>
            </a:r>
            <a:r>
              <a:rPr sz="2400" spc="-5" dirty="0">
                <a:latin typeface="Carlito"/>
                <a:cs typeface="Carlito"/>
              </a:rPr>
              <a:t>speed </a:t>
            </a:r>
            <a:r>
              <a:rPr sz="2400" dirty="0">
                <a:latin typeface="Carlito"/>
                <a:cs typeface="Carlito"/>
              </a:rPr>
              <a:t>= </a:t>
            </a:r>
            <a:r>
              <a:rPr sz="2400" spc="-10" dirty="0">
                <a:latin typeface="Carlito"/>
                <a:cs typeface="Carlito"/>
              </a:rPr>
              <a:t>more </a:t>
            </a:r>
            <a:r>
              <a:rPr sz="2400" spc="-5" dirty="0">
                <a:latin typeface="Carlito"/>
                <a:cs typeface="Carlito"/>
              </a:rPr>
              <a:t>instructions </a:t>
            </a:r>
            <a:r>
              <a:rPr sz="2400" spc="-10" dirty="0">
                <a:latin typeface="Carlito"/>
                <a:cs typeface="Carlito"/>
              </a:rPr>
              <a:t>processed </a:t>
            </a:r>
            <a:r>
              <a:rPr sz="2400" spc="-5" dirty="0">
                <a:latin typeface="Carlito"/>
                <a:cs typeface="Carlito"/>
              </a:rPr>
              <a:t>per  </a:t>
            </a:r>
            <a:r>
              <a:rPr sz="2400" spc="-10" dirty="0">
                <a:latin typeface="Carlito"/>
                <a:cs typeface="Carlito"/>
              </a:rPr>
              <a:t>second</a:t>
            </a:r>
            <a:endParaRPr lang="en-US" sz="2400" dirty="0">
              <a:latin typeface="Carlito"/>
              <a:cs typeface="Carlito"/>
            </a:endParaRPr>
          </a:p>
          <a:p>
            <a:pPr marL="756285" marR="5080" lvl="1" indent="-287020" algn="just">
              <a:lnSpc>
                <a:spcPct val="100000"/>
              </a:lnSpc>
              <a:spcBef>
                <a:spcPts val="575"/>
              </a:spcBef>
              <a:buFont typeface="Arial"/>
              <a:buChar char="–"/>
              <a:tabLst>
                <a:tab pos="756920" algn="l"/>
              </a:tabLst>
            </a:pPr>
            <a:r>
              <a:rPr sz="2400" spc="-5" dirty="0">
                <a:latin typeface="Carlito"/>
                <a:cs typeface="Carlito"/>
              </a:rPr>
              <a:t>number</a:t>
            </a:r>
            <a:r>
              <a:rPr sz="2400" spc="-55" dirty="0">
                <a:latin typeface="Carlito"/>
                <a:cs typeface="Carlito"/>
              </a:rPr>
              <a:t> </a:t>
            </a:r>
            <a:r>
              <a:rPr sz="2400" spc="-10" dirty="0">
                <a:latin typeface="Carlito"/>
                <a:cs typeface="Carlito"/>
              </a:rPr>
              <a:t>of</a:t>
            </a:r>
            <a:r>
              <a:rPr lang="en-US" sz="2400" dirty="0">
                <a:latin typeface="Carlito"/>
                <a:cs typeface="Carlito"/>
              </a:rPr>
              <a:t> </a:t>
            </a:r>
            <a:r>
              <a:rPr sz="2400" spc="-5" dirty="0">
                <a:latin typeface="Carlito"/>
                <a:cs typeface="Carlito"/>
              </a:rPr>
              <a:t>instructions </a:t>
            </a:r>
            <a:r>
              <a:rPr sz="2400" dirty="0">
                <a:latin typeface="Carlito"/>
                <a:cs typeface="Carlito"/>
              </a:rPr>
              <a:t>a </a:t>
            </a:r>
            <a:r>
              <a:rPr sz="2400" spc="-5" dirty="0">
                <a:latin typeface="Carlito"/>
                <a:cs typeface="Carlito"/>
              </a:rPr>
              <a:t>CPU </a:t>
            </a:r>
            <a:r>
              <a:rPr sz="2400" spc="-10" dirty="0">
                <a:latin typeface="Carlito"/>
                <a:cs typeface="Carlito"/>
              </a:rPr>
              <a:t>can process </a:t>
            </a:r>
            <a:r>
              <a:rPr sz="2400" spc="-5" dirty="0">
                <a:latin typeface="Carlito"/>
                <a:cs typeface="Carlito"/>
              </a:rPr>
              <a:t>per</a:t>
            </a:r>
            <a:r>
              <a:rPr sz="2400" spc="-70" dirty="0">
                <a:latin typeface="Carlito"/>
                <a:cs typeface="Carlito"/>
              </a:rPr>
              <a:t> </a:t>
            </a:r>
            <a:r>
              <a:rPr sz="2400" spc="-10" dirty="0">
                <a:latin typeface="Carlito"/>
                <a:cs typeface="Carlito"/>
              </a:rPr>
              <a:t>second</a:t>
            </a:r>
            <a:endParaRPr sz="2400" dirty="0">
              <a:latin typeface="Carlito"/>
              <a:cs typeface="Carlito"/>
            </a:endParaRPr>
          </a:p>
          <a:p>
            <a:pPr marL="1155700" marR="667385" lvl="2" indent="-228600" algn="just">
              <a:lnSpc>
                <a:spcPct val="100000"/>
              </a:lnSpc>
              <a:spcBef>
                <a:spcPts val="575"/>
              </a:spcBef>
              <a:buFont typeface="Arial"/>
              <a:buChar char="•"/>
              <a:tabLst>
                <a:tab pos="1156335" algn="l"/>
              </a:tabLst>
            </a:pPr>
            <a:r>
              <a:rPr sz="2400" spc="-15" dirty="0">
                <a:latin typeface="Carlito"/>
                <a:cs typeface="Carlito"/>
              </a:rPr>
              <a:t>Megaflops </a:t>
            </a:r>
            <a:r>
              <a:rPr sz="2400" spc="-5" dirty="0">
                <a:latin typeface="Carlito"/>
                <a:cs typeface="Carlito"/>
              </a:rPr>
              <a:t>(millions), </a:t>
            </a:r>
            <a:r>
              <a:rPr sz="2400" spc="-15" dirty="0">
                <a:latin typeface="Carlito"/>
                <a:cs typeface="Carlito"/>
              </a:rPr>
              <a:t>gigaflops </a:t>
            </a:r>
            <a:r>
              <a:rPr sz="2400" spc="-5" dirty="0">
                <a:latin typeface="Carlito"/>
                <a:cs typeface="Carlito"/>
              </a:rPr>
              <a:t>(billions), </a:t>
            </a:r>
            <a:r>
              <a:rPr sz="2400" spc="-15" dirty="0">
                <a:latin typeface="Carlito"/>
                <a:cs typeface="Carlito"/>
              </a:rPr>
              <a:t>teraflops  </a:t>
            </a:r>
            <a:r>
              <a:rPr sz="2400" spc="-5" dirty="0">
                <a:latin typeface="Carlito"/>
                <a:cs typeface="Carlito"/>
              </a:rPr>
              <a:t>(trillions)</a:t>
            </a:r>
            <a:endParaRPr sz="2400" dirty="0">
              <a:latin typeface="Carlito"/>
              <a:cs typeface="Carlito"/>
            </a:endParaRPr>
          </a:p>
        </p:txBody>
      </p:sp>
    </p:spTree>
    <p:extLst>
      <p:ext uri="{BB962C8B-B14F-4D97-AF65-F5344CB8AC3E}">
        <p14:creationId xmlns:p14="http://schemas.microsoft.com/office/powerpoint/2010/main" val="4079323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nSpc>
                <a:spcPct val="100000"/>
              </a:lnSpc>
              <a:spcBef>
                <a:spcPts val="100"/>
              </a:spcBef>
            </a:pPr>
            <a:r>
              <a:rPr lang="en-US" sz="3600" spc="-440"/>
              <a:t>Inside </a:t>
            </a:r>
            <a:r>
              <a:rPr lang="en-US" sz="3600" spc="-425"/>
              <a:t>the </a:t>
            </a:r>
            <a:r>
              <a:rPr lang="en-US" sz="3600" spc="-540"/>
              <a:t>System</a:t>
            </a:r>
            <a:r>
              <a:rPr lang="en-US" sz="3600" spc="-495"/>
              <a:t> </a:t>
            </a:r>
            <a:r>
              <a:rPr lang="en-US" sz="3600" spc="-400"/>
              <a:t>Unit  (CPU)</a:t>
            </a:r>
            <a:endParaRPr sz="3600" dirty="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42</a:t>
            </a:fld>
            <a:endParaRPr spc="-165" dirty="0"/>
          </a:p>
        </p:txBody>
      </p:sp>
      <p:sp>
        <p:nvSpPr>
          <p:cNvPr id="3" name="object 3"/>
          <p:cNvSpPr txBox="1"/>
          <p:nvPr/>
        </p:nvSpPr>
        <p:spPr>
          <a:xfrm>
            <a:off x="535940" y="1461262"/>
            <a:ext cx="8038465" cy="3903979"/>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40" dirty="0">
                <a:latin typeface="Carlito"/>
                <a:cs typeface="Carlito"/>
              </a:rPr>
              <a:t>Word</a:t>
            </a:r>
            <a:r>
              <a:rPr sz="2400" spc="-25" dirty="0">
                <a:latin typeface="Carlito"/>
                <a:cs typeface="Carlito"/>
              </a:rPr>
              <a:t> </a:t>
            </a:r>
            <a:r>
              <a:rPr sz="2400" spc="-15" dirty="0">
                <a:latin typeface="Carlito"/>
                <a:cs typeface="Carlito"/>
              </a:rPr>
              <a:t>Size</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The amount of </a:t>
            </a:r>
            <a:r>
              <a:rPr sz="2400" spc="-15" dirty="0">
                <a:latin typeface="Carlito"/>
                <a:cs typeface="Carlito"/>
              </a:rPr>
              <a:t>data </a:t>
            </a:r>
            <a:r>
              <a:rPr sz="2400" spc="-10" dirty="0">
                <a:latin typeface="Carlito"/>
                <a:cs typeface="Carlito"/>
              </a:rPr>
              <a:t>that </a:t>
            </a:r>
            <a:r>
              <a:rPr sz="2400" dirty="0">
                <a:latin typeface="Carlito"/>
                <a:cs typeface="Carlito"/>
              </a:rPr>
              <a:t>a </a:t>
            </a:r>
            <a:r>
              <a:rPr sz="2400" spc="-5" dirty="0">
                <a:latin typeface="Carlito"/>
                <a:cs typeface="Carlito"/>
              </a:rPr>
              <a:t>CPU </a:t>
            </a:r>
            <a:r>
              <a:rPr sz="2400" spc="-10" dirty="0">
                <a:latin typeface="Carlito"/>
                <a:cs typeface="Carlito"/>
              </a:rPr>
              <a:t>can </a:t>
            </a:r>
            <a:r>
              <a:rPr sz="2400" spc="-5" dirty="0">
                <a:latin typeface="Carlito"/>
                <a:cs typeface="Carlito"/>
              </a:rPr>
              <a:t>manipulate </a:t>
            </a:r>
            <a:r>
              <a:rPr sz="2400" spc="-15" dirty="0">
                <a:latin typeface="Carlito"/>
                <a:cs typeface="Carlito"/>
              </a:rPr>
              <a:t>at </a:t>
            </a:r>
            <a:r>
              <a:rPr sz="2400" spc="-5" dirty="0">
                <a:latin typeface="Carlito"/>
                <a:cs typeface="Carlito"/>
              </a:rPr>
              <a:t>one</a:t>
            </a:r>
            <a:r>
              <a:rPr sz="2400" spc="-80" dirty="0">
                <a:latin typeface="Carlito"/>
                <a:cs typeface="Carlito"/>
              </a:rPr>
              <a:t> </a:t>
            </a:r>
            <a:r>
              <a:rPr sz="2400" dirty="0">
                <a:latin typeface="Carlito"/>
                <a:cs typeface="Carlito"/>
              </a:rPr>
              <a:t>time</a:t>
            </a:r>
            <a:endParaRPr sz="2400">
              <a:latin typeface="Carlito"/>
              <a:cs typeface="Carlito"/>
            </a:endParaRPr>
          </a:p>
          <a:p>
            <a:pPr marL="756285" lvl="1" indent="-287020">
              <a:lnSpc>
                <a:spcPct val="100000"/>
              </a:lnSpc>
              <a:spcBef>
                <a:spcPts val="580"/>
              </a:spcBef>
              <a:buFont typeface="Arial"/>
              <a:buChar char="–"/>
              <a:tabLst>
                <a:tab pos="756920" algn="l"/>
              </a:tabLst>
            </a:pPr>
            <a:r>
              <a:rPr sz="2400" spc="-15" dirty="0">
                <a:latin typeface="Carlito"/>
                <a:cs typeface="Carlito"/>
              </a:rPr>
              <a:t>Typically </a:t>
            </a:r>
            <a:r>
              <a:rPr sz="2400" dirty="0">
                <a:latin typeface="Carlito"/>
                <a:cs typeface="Carlito"/>
              </a:rPr>
              <a:t>32 </a:t>
            </a:r>
            <a:r>
              <a:rPr sz="2400" spc="-10" dirty="0">
                <a:latin typeface="Carlito"/>
                <a:cs typeface="Carlito"/>
              </a:rPr>
              <a:t>or </a:t>
            </a:r>
            <a:r>
              <a:rPr sz="2400" spc="-5" dirty="0">
                <a:latin typeface="Carlito"/>
                <a:cs typeface="Carlito"/>
              </a:rPr>
              <a:t>64</a:t>
            </a:r>
            <a:r>
              <a:rPr sz="2400" spc="-30" dirty="0">
                <a:latin typeface="Carlito"/>
                <a:cs typeface="Carlito"/>
              </a:rPr>
              <a:t> </a:t>
            </a:r>
            <a:r>
              <a:rPr sz="2400" spc="-5" dirty="0">
                <a:latin typeface="Carlito"/>
                <a:cs typeface="Carlito"/>
              </a:rPr>
              <a:t>bits</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spc="-5" dirty="0">
                <a:latin typeface="Carlito"/>
                <a:cs typeface="Carlito"/>
              </a:rPr>
              <a:t>Cache</a:t>
            </a:r>
            <a:r>
              <a:rPr sz="2400" spc="-40" dirty="0">
                <a:latin typeface="Carlito"/>
                <a:cs typeface="Carlito"/>
              </a:rPr>
              <a:t> </a:t>
            </a:r>
            <a:r>
              <a:rPr sz="2400" dirty="0">
                <a:latin typeface="Carlito"/>
                <a:cs typeface="Carlito"/>
              </a:rPr>
              <a:t>Memory</a:t>
            </a:r>
            <a:endParaRPr sz="2400">
              <a:latin typeface="Carlito"/>
              <a:cs typeface="Carlito"/>
            </a:endParaRPr>
          </a:p>
          <a:p>
            <a:pPr marL="756285" marR="653415" lvl="1" indent="-287020">
              <a:lnSpc>
                <a:spcPct val="100000"/>
              </a:lnSpc>
              <a:spcBef>
                <a:spcPts val="575"/>
              </a:spcBef>
              <a:buFont typeface="Arial"/>
              <a:buChar char="–"/>
              <a:tabLst>
                <a:tab pos="756920" algn="l"/>
              </a:tabLst>
            </a:pPr>
            <a:r>
              <a:rPr sz="2400" spc="-5" dirty="0">
                <a:latin typeface="Carlito"/>
                <a:cs typeface="Carlito"/>
              </a:rPr>
              <a:t>Special </a:t>
            </a:r>
            <a:r>
              <a:rPr sz="2400" spc="-10" dirty="0">
                <a:latin typeface="Carlito"/>
                <a:cs typeface="Carlito"/>
              </a:rPr>
              <a:t>group </a:t>
            </a:r>
            <a:r>
              <a:rPr sz="2400" spc="-5" dirty="0">
                <a:latin typeface="Carlito"/>
                <a:cs typeface="Carlito"/>
              </a:rPr>
              <a:t>of very </a:t>
            </a:r>
            <a:r>
              <a:rPr sz="2400" spc="-20" dirty="0">
                <a:latin typeface="Carlito"/>
                <a:cs typeface="Carlito"/>
              </a:rPr>
              <a:t>fast </a:t>
            </a:r>
            <a:r>
              <a:rPr sz="2400" dirty="0">
                <a:latin typeface="Carlito"/>
                <a:cs typeface="Carlito"/>
              </a:rPr>
              <a:t>memory </a:t>
            </a:r>
            <a:r>
              <a:rPr sz="2400" spc="-5" dirty="0">
                <a:latin typeface="Carlito"/>
                <a:cs typeface="Carlito"/>
              </a:rPr>
              <a:t>chips </a:t>
            </a:r>
            <a:r>
              <a:rPr sz="2400" spc="-15" dirty="0">
                <a:latin typeface="Carlito"/>
                <a:cs typeface="Carlito"/>
              </a:rPr>
              <a:t>located </a:t>
            </a:r>
            <a:r>
              <a:rPr sz="2400" spc="-5" dirty="0">
                <a:latin typeface="Carlito"/>
                <a:cs typeface="Carlito"/>
              </a:rPr>
              <a:t>on </a:t>
            </a:r>
            <a:r>
              <a:rPr sz="2400" spc="-10" dirty="0">
                <a:latin typeface="Carlito"/>
                <a:cs typeface="Carlito"/>
              </a:rPr>
              <a:t>or  </a:t>
            </a:r>
            <a:r>
              <a:rPr sz="2400" dirty="0">
                <a:latin typeface="Carlito"/>
                <a:cs typeface="Carlito"/>
              </a:rPr>
              <a:t>close </a:t>
            </a:r>
            <a:r>
              <a:rPr sz="2400" spc="-15" dirty="0">
                <a:latin typeface="Carlito"/>
                <a:cs typeface="Carlito"/>
              </a:rPr>
              <a:t>to </a:t>
            </a:r>
            <a:r>
              <a:rPr sz="2400" dirty="0">
                <a:latin typeface="Carlito"/>
                <a:cs typeface="Carlito"/>
              </a:rPr>
              <a:t>the</a:t>
            </a:r>
            <a:r>
              <a:rPr sz="2400" spc="-35" dirty="0">
                <a:latin typeface="Carlito"/>
                <a:cs typeface="Carlito"/>
              </a:rPr>
              <a:t> </a:t>
            </a:r>
            <a:r>
              <a:rPr sz="2400" spc="-5" dirty="0">
                <a:latin typeface="Carlito"/>
                <a:cs typeface="Carlito"/>
              </a:rPr>
              <a:t>CPU</a:t>
            </a:r>
            <a:endParaRPr sz="2400">
              <a:latin typeface="Carlito"/>
              <a:cs typeface="Carlito"/>
            </a:endParaRPr>
          </a:p>
          <a:p>
            <a:pPr marL="756285" lvl="1" indent="-287020">
              <a:lnSpc>
                <a:spcPct val="100000"/>
              </a:lnSpc>
              <a:spcBef>
                <a:spcPts val="580"/>
              </a:spcBef>
              <a:buFont typeface="Arial"/>
              <a:buChar char="–"/>
              <a:tabLst>
                <a:tab pos="756920" algn="l"/>
              </a:tabLst>
            </a:pPr>
            <a:r>
              <a:rPr sz="2400" spc="-10" dirty="0">
                <a:latin typeface="Carlito"/>
                <a:cs typeface="Carlito"/>
              </a:rPr>
              <a:t>Level </a:t>
            </a:r>
            <a:r>
              <a:rPr sz="2400" dirty="0">
                <a:latin typeface="Carlito"/>
                <a:cs typeface="Carlito"/>
              </a:rPr>
              <a:t>1 is </a:t>
            </a:r>
            <a:r>
              <a:rPr sz="2400" spc="-20" dirty="0">
                <a:latin typeface="Carlito"/>
                <a:cs typeface="Carlito"/>
              </a:rPr>
              <a:t>fastest, </a:t>
            </a:r>
            <a:r>
              <a:rPr sz="2400" dirty="0">
                <a:latin typeface="Carlito"/>
                <a:cs typeface="Carlito"/>
              </a:rPr>
              <a:t>then </a:t>
            </a:r>
            <a:r>
              <a:rPr sz="2400" spc="-10" dirty="0">
                <a:latin typeface="Carlito"/>
                <a:cs typeface="Carlito"/>
              </a:rPr>
              <a:t>Level </a:t>
            </a:r>
            <a:r>
              <a:rPr sz="2400" dirty="0">
                <a:latin typeface="Carlito"/>
                <a:cs typeface="Carlito"/>
              </a:rPr>
              <a:t>2, then </a:t>
            </a:r>
            <a:r>
              <a:rPr sz="2400" spc="-10" dirty="0">
                <a:latin typeface="Carlito"/>
                <a:cs typeface="Carlito"/>
              </a:rPr>
              <a:t>Level </a:t>
            </a:r>
            <a:r>
              <a:rPr sz="2400" dirty="0">
                <a:latin typeface="Carlito"/>
                <a:cs typeface="Carlito"/>
              </a:rPr>
              <a:t>3</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More </a:t>
            </a:r>
            <a:r>
              <a:rPr sz="2400" spc="-5" dirty="0">
                <a:latin typeface="Carlito"/>
                <a:cs typeface="Carlito"/>
              </a:rPr>
              <a:t>cache </a:t>
            </a:r>
            <a:r>
              <a:rPr sz="2400" dirty="0">
                <a:latin typeface="Carlito"/>
                <a:cs typeface="Carlito"/>
              </a:rPr>
              <a:t>memory </a:t>
            </a:r>
            <a:r>
              <a:rPr sz="2400" spc="-5" dirty="0">
                <a:latin typeface="Carlito"/>
                <a:cs typeface="Carlito"/>
              </a:rPr>
              <a:t>typically </a:t>
            </a:r>
            <a:r>
              <a:rPr sz="2400" dirty="0">
                <a:latin typeface="Carlito"/>
                <a:cs typeface="Carlito"/>
              </a:rPr>
              <a:t>means </a:t>
            </a:r>
            <a:r>
              <a:rPr sz="2400" spc="-20" dirty="0">
                <a:latin typeface="Carlito"/>
                <a:cs typeface="Carlito"/>
              </a:rPr>
              <a:t>faster</a:t>
            </a:r>
            <a:r>
              <a:rPr sz="2400" spc="-80" dirty="0">
                <a:latin typeface="Carlito"/>
                <a:cs typeface="Carlito"/>
              </a:rPr>
              <a:t> </a:t>
            </a:r>
            <a:r>
              <a:rPr sz="2400" spc="-10" dirty="0">
                <a:latin typeface="Carlito"/>
                <a:cs typeface="Carlito"/>
              </a:rPr>
              <a:t>processing</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Usually </a:t>
            </a:r>
            <a:r>
              <a:rPr sz="2400" spc="-10" dirty="0">
                <a:latin typeface="Carlito"/>
                <a:cs typeface="Carlito"/>
              </a:rPr>
              <a:t>internal </a:t>
            </a:r>
            <a:r>
              <a:rPr sz="2400" spc="-5" dirty="0">
                <a:latin typeface="Carlito"/>
                <a:cs typeface="Carlito"/>
              </a:rPr>
              <a:t>cache (built </a:t>
            </a:r>
            <a:r>
              <a:rPr sz="2400" spc="-15" dirty="0">
                <a:latin typeface="Carlito"/>
                <a:cs typeface="Carlito"/>
              </a:rPr>
              <a:t>into </a:t>
            </a:r>
            <a:r>
              <a:rPr sz="2400" dirty="0">
                <a:latin typeface="Carlito"/>
                <a:cs typeface="Carlito"/>
              </a:rPr>
              <a:t>the</a:t>
            </a:r>
            <a:r>
              <a:rPr sz="2400" spc="-55" dirty="0">
                <a:latin typeface="Carlito"/>
                <a:cs typeface="Carlito"/>
              </a:rPr>
              <a:t> </a:t>
            </a:r>
            <a:r>
              <a:rPr sz="2400" spc="-10" dirty="0">
                <a:latin typeface="Carlito"/>
                <a:cs typeface="Carlito"/>
              </a:rPr>
              <a:t>CPU)</a:t>
            </a:r>
            <a:endParaRPr sz="2400">
              <a:latin typeface="Carlito"/>
              <a:cs typeface="Carlito"/>
            </a:endParaRPr>
          </a:p>
        </p:txBody>
      </p:sp>
    </p:spTree>
    <p:extLst>
      <p:ext uri="{BB962C8B-B14F-4D97-AF65-F5344CB8AC3E}">
        <p14:creationId xmlns:p14="http://schemas.microsoft.com/office/powerpoint/2010/main" val="1239606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532630" cy="574040"/>
          </a:xfrm>
          <a:prstGeom prst="rect">
            <a:avLst/>
          </a:prstGeom>
        </p:spPr>
        <p:txBody>
          <a:bodyPr vert="horz" wrap="square" lIns="0" tIns="12700" rIns="0" bIns="0" rtlCol="0">
            <a:spAutoFit/>
          </a:bodyPr>
          <a:lstStyle/>
          <a:p>
            <a:pPr marL="12700">
              <a:lnSpc>
                <a:spcPct val="100000"/>
              </a:lnSpc>
              <a:spcBef>
                <a:spcPts val="100"/>
              </a:spcBef>
            </a:pPr>
            <a:r>
              <a:rPr sz="3600" spc="-440" dirty="0"/>
              <a:t>Inside </a:t>
            </a:r>
            <a:r>
              <a:rPr sz="3600" spc="-425" dirty="0"/>
              <a:t>the </a:t>
            </a:r>
            <a:r>
              <a:rPr sz="3600" spc="-540" dirty="0"/>
              <a:t>System</a:t>
            </a:r>
            <a:r>
              <a:rPr sz="3600" spc="-495" dirty="0"/>
              <a:t> </a:t>
            </a:r>
            <a:r>
              <a:rPr sz="3600" spc="-400" dirty="0"/>
              <a:t>Unit</a:t>
            </a:r>
            <a:endParaRPr sz="3600" dirty="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43</a:t>
            </a:fld>
            <a:endParaRPr spc="-165" dirty="0"/>
          </a:p>
        </p:txBody>
      </p:sp>
      <p:sp>
        <p:nvSpPr>
          <p:cNvPr id="3" name="object 3"/>
          <p:cNvSpPr txBox="1"/>
          <p:nvPr/>
        </p:nvSpPr>
        <p:spPr>
          <a:xfrm>
            <a:off x="535940" y="1461262"/>
            <a:ext cx="4950460" cy="4826321"/>
          </a:xfrm>
          <a:prstGeom prst="rect">
            <a:avLst/>
          </a:prstGeom>
        </p:spPr>
        <p:txBody>
          <a:bodyPr vert="horz" wrap="square" lIns="0" tIns="85725" rIns="0" bIns="0" rtlCol="0">
            <a:spAutoFit/>
          </a:bodyPr>
          <a:lstStyle/>
          <a:p>
            <a:pPr marL="355600" indent="-343535" algn="just">
              <a:lnSpc>
                <a:spcPct val="100000"/>
              </a:lnSpc>
              <a:spcBef>
                <a:spcPts val="675"/>
              </a:spcBef>
              <a:buFont typeface="Arial"/>
              <a:buChar char="•"/>
              <a:tabLst>
                <a:tab pos="355600" algn="l"/>
                <a:tab pos="356235" algn="l"/>
              </a:tabLst>
            </a:pPr>
            <a:r>
              <a:rPr sz="2400" dirty="0">
                <a:latin typeface="Carlito"/>
                <a:cs typeface="Carlito"/>
              </a:rPr>
              <a:t>Bus Width, Bus </a:t>
            </a:r>
            <a:r>
              <a:rPr sz="2400" spc="-5" dirty="0">
                <a:latin typeface="Carlito"/>
                <a:cs typeface="Carlito"/>
              </a:rPr>
              <a:t>Speed, and</a:t>
            </a:r>
            <a:r>
              <a:rPr sz="2400" spc="-50" dirty="0">
                <a:latin typeface="Carlito"/>
                <a:cs typeface="Carlito"/>
              </a:rPr>
              <a:t> </a:t>
            </a:r>
            <a:r>
              <a:rPr sz="2400" dirty="0">
                <a:latin typeface="Carlito"/>
                <a:cs typeface="Carlito"/>
              </a:rPr>
              <a:t>Bandwidth</a:t>
            </a:r>
          </a:p>
          <a:p>
            <a:pPr marL="756285" marR="425450" lvl="1" indent="-287020" algn="just">
              <a:lnSpc>
                <a:spcPct val="100000"/>
              </a:lnSpc>
              <a:spcBef>
                <a:spcPts val="575"/>
              </a:spcBef>
              <a:buFont typeface="Arial"/>
              <a:buChar char="–"/>
              <a:tabLst>
                <a:tab pos="756920" algn="l"/>
              </a:tabLst>
            </a:pPr>
            <a:r>
              <a:rPr sz="2400" dirty="0">
                <a:latin typeface="Carlito"/>
                <a:cs typeface="Carlito"/>
              </a:rPr>
              <a:t>A </a:t>
            </a:r>
            <a:r>
              <a:rPr sz="2400" spc="-5" dirty="0">
                <a:latin typeface="Carlito"/>
                <a:cs typeface="Carlito"/>
              </a:rPr>
              <a:t>bus </a:t>
            </a:r>
            <a:r>
              <a:rPr sz="2400" dirty="0">
                <a:latin typeface="Carlito"/>
                <a:cs typeface="Carlito"/>
              </a:rPr>
              <a:t>is an </a:t>
            </a:r>
            <a:r>
              <a:rPr sz="2400" spc="-5" dirty="0">
                <a:latin typeface="Carlito"/>
                <a:cs typeface="Carlito"/>
              </a:rPr>
              <a:t>electronic </a:t>
            </a:r>
            <a:r>
              <a:rPr sz="2400" spc="-10" dirty="0">
                <a:latin typeface="Carlito"/>
                <a:cs typeface="Carlito"/>
              </a:rPr>
              <a:t>path </a:t>
            </a:r>
            <a:r>
              <a:rPr sz="2400" spc="-15" dirty="0">
                <a:latin typeface="Carlito"/>
                <a:cs typeface="Carlito"/>
              </a:rPr>
              <a:t>over </a:t>
            </a:r>
            <a:r>
              <a:rPr sz="2400" dirty="0">
                <a:latin typeface="Carlito"/>
                <a:cs typeface="Carlito"/>
              </a:rPr>
              <a:t>which </a:t>
            </a:r>
            <a:r>
              <a:rPr sz="2400" spc="-15" dirty="0">
                <a:latin typeface="Carlito"/>
                <a:cs typeface="Carlito"/>
              </a:rPr>
              <a:t>data</a:t>
            </a:r>
            <a:r>
              <a:rPr sz="2400" spc="-100" dirty="0">
                <a:latin typeface="Carlito"/>
                <a:cs typeface="Carlito"/>
              </a:rPr>
              <a:t> </a:t>
            </a:r>
            <a:r>
              <a:rPr sz="2400" spc="-10" dirty="0">
                <a:latin typeface="Carlito"/>
                <a:cs typeface="Carlito"/>
              </a:rPr>
              <a:t>can  </a:t>
            </a:r>
            <a:r>
              <a:rPr sz="2400" spc="-20" dirty="0">
                <a:latin typeface="Carlito"/>
                <a:cs typeface="Carlito"/>
              </a:rPr>
              <a:t>travel</a:t>
            </a:r>
            <a:endParaRPr sz="2400" dirty="0">
              <a:latin typeface="Carlito"/>
              <a:cs typeface="Carlito"/>
            </a:endParaRPr>
          </a:p>
          <a:p>
            <a:pPr marL="756285" lvl="1" indent="-287020" algn="just">
              <a:lnSpc>
                <a:spcPct val="100000"/>
              </a:lnSpc>
              <a:spcBef>
                <a:spcPts val="580"/>
              </a:spcBef>
              <a:buFont typeface="Arial"/>
              <a:buChar char="–"/>
              <a:tabLst>
                <a:tab pos="756920" algn="l"/>
              </a:tabLst>
            </a:pPr>
            <a:r>
              <a:rPr sz="2400" spc="-10" dirty="0">
                <a:latin typeface="Carlito"/>
                <a:cs typeface="Carlito"/>
              </a:rPr>
              <a:t>Found </a:t>
            </a:r>
            <a:r>
              <a:rPr sz="2400" dirty="0">
                <a:latin typeface="Carlito"/>
                <a:cs typeface="Carlito"/>
              </a:rPr>
              <a:t>inside the </a:t>
            </a:r>
            <a:r>
              <a:rPr sz="2400" spc="-5" dirty="0">
                <a:latin typeface="Carlito"/>
                <a:cs typeface="Carlito"/>
              </a:rPr>
              <a:t>CPU </a:t>
            </a:r>
            <a:r>
              <a:rPr sz="2400" dirty="0">
                <a:latin typeface="Carlito"/>
                <a:cs typeface="Carlito"/>
              </a:rPr>
              <a:t>and </a:t>
            </a:r>
            <a:r>
              <a:rPr sz="2400" spc="-5" dirty="0">
                <a:latin typeface="Carlito"/>
                <a:cs typeface="Carlito"/>
              </a:rPr>
              <a:t>on </a:t>
            </a:r>
            <a:r>
              <a:rPr sz="2400" dirty="0">
                <a:latin typeface="Carlito"/>
                <a:cs typeface="Carlito"/>
              </a:rPr>
              <a:t>the</a:t>
            </a:r>
            <a:r>
              <a:rPr sz="2400" spc="-80" dirty="0">
                <a:latin typeface="Carlito"/>
                <a:cs typeface="Carlito"/>
              </a:rPr>
              <a:t> </a:t>
            </a:r>
            <a:r>
              <a:rPr sz="2400" spc="-5" dirty="0">
                <a:latin typeface="Carlito"/>
                <a:cs typeface="Carlito"/>
              </a:rPr>
              <a:t>motherboard</a:t>
            </a:r>
            <a:endParaRPr sz="2400" dirty="0">
              <a:latin typeface="Carlito"/>
              <a:cs typeface="Carlito"/>
            </a:endParaRPr>
          </a:p>
          <a:p>
            <a:pPr marL="756285" marR="237490" lvl="1" indent="-287020" algn="just">
              <a:lnSpc>
                <a:spcPct val="100000"/>
              </a:lnSpc>
              <a:spcBef>
                <a:spcPts val="575"/>
              </a:spcBef>
              <a:buFont typeface="Arial"/>
              <a:buChar char="–"/>
              <a:tabLst>
                <a:tab pos="756920" algn="l"/>
              </a:tabLst>
            </a:pPr>
            <a:r>
              <a:rPr sz="2400" dirty="0">
                <a:latin typeface="Carlito"/>
                <a:cs typeface="Carlito"/>
              </a:rPr>
              <a:t>Bus width is the </a:t>
            </a:r>
            <a:r>
              <a:rPr sz="2400" spc="-5" dirty="0">
                <a:latin typeface="Carlito"/>
                <a:cs typeface="Carlito"/>
              </a:rPr>
              <a:t>number of </a:t>
            </a:r>
            <a:r>
              <a:rPr sz="2400" spc="-10" dirty="0">
                <a:latin typeface="Carlito"/>
                <a:cs typeface="Carlito"/>
              </a:rPr>
              <a:t>wires </a:t>
            </a:r>
            <a:r>
              <a:rPr sz="2400" dirty="0">
                <a:latin typeface="Carlito"/>
                <a:cs typeface="Carlito"/>
              </a:rPr>
              <a:t>in the </a:t>
            </a:r>
            <a:r>
              <a:rPr sz="2400" spc="-5" dirty="0">
                <a:latin typeface="Carlito"/>
                <a:cs typeface="Carlito"/>
              </a:rPr>
              <a:t>bus</a:t>
            </a:r>
            <a:r>
              <a:rPr sz="2400" spc="-105" dirty="0">
                <a:latin typeface="Carlito"/>
                <a:cs typeface="Carlito"/>
              </a:rPr>
              <a:t> </a:t>
            </a:r>
            <a:r>
              <a:rPr sz="2400" spc="-15" dirty="0">
                <a:latin typeface="Carlito"/>
                <a:cs typeface="Carlito"/>
              </a:rPr>
              <a:t>over  </a:t>
            </a:r>
            <a:r>
              <a:rPr sz="2400" dirty="0">
                <a:latin typeface="Carlito"/>
                <a:cs typeface="Carlito"/>
              </a:rPr>
              <a:t>which </a:t>
            </a:r>
            <a:r>
              <a:rPr sz="2400" spc="-15" dirty="0">
                <a:latin typeface="Carlito"/>
                <a:cs typeface="Carlito"/>
              </a:rPr>
              <a:t>data </a:t>
            </a:r>
            <a:r>
              <a:rPr sz="2400" spc="-10" dirty="0">
                <a:latin typeface="Carlito"/>
                <a:cs typeface="Carlito"/>
              </a:rPr>
              <a:t>can</a:t>
            </a:r>
            <a:r>
              <a:rPr sz="2400" spc="-35" dirty="0">
                <a:latin typeface="Carlito"/>
                <a:cs typeface="Carlito"/>
              </a:rPr>
              <a:t> </a:t>
            </a:r>
            <a:r>
              <a:rPr sz="2400" spc="-20" dirty="0">
                <a:latin typeface="Carlito"/>
                <a:cs typeface="Carlito"/>
              </a:rPr>
              <a:t>travel</a:t>
            </a:r>
            <a:endParaRPr sz="2400" dirty="0">
              <a:latin typeface="Carlito"/>
              <a:cs typeface="Carlito"/>
            </a:endParaRPr>
          </a:p>
          <a:p>
            <a:pPr marL="1155700" marR="5080" lvl="2" indent="-228600" algn="just">
              <a:lnSpc>
                <a:spcPct val="100000"/>
              </a:lnSpc>
              <a:spcBef>
                <a:spcPts val="580"/>
              </a:spcBef>
              <a:buFont typeface="Arial"/>
              <a:buChar char="•"/>
              <a:tabLst>
                <a:tab pos="1156335" algn="l"/>
              </a:tabLst>
            </a:pPr>
            <a:r>
              <a:rPr sz="2400" dirty="0">
                <a:latin typeface="Carlito"/>
                <a:cs typeface="Carlito"/>
              </a:rPr>
              <a:t>A wider </a:t>
            </a:r>
            <a:r>
              <a:rPr sz="2400" spc="-5" dirty="0">
                <a:latin typeface="Carlito"/>
                <a:cs typeface="Carlito"/>
              </a:rPr>
              <a:t>bus </a:t>
            </a:r>
            <a:r>
              <a:rPr sz="2400" spc="-10" dirty="0">
                <a:latin typeface="Carlito"/>
                <a:cs typeface="Carlito"/>
              </a:rPr>
              <a:t>allows </a:t>
            </a:r>
            <a:r>
              <a:rPr sz="2400" spc="-15" dirty="0">
                <a:latin typeface="Carlito"/>
                <a:cs typeface="Carlito"/>
              </a:rPr>
              <a:t>more data to </a:t>
            </a:r>
            <a:r>
              <a:rPr sz="2400" spc="-5" dirty="0">
                <a:latin typeface="Carlito"/>
                <a:cs typeface="Carlito"/>
              </a:rPr>
              <a:t>be </a:t>
            </a:r>
            <a:r>
              <a:rPr sz="2400" spc="-20" dirty="0">
                <a:latin typeface="Carlito"/>
                <a:cs typeface="Carlito"/>
              </a:rPr>
              <a:t>transferred  </a:t>
            </a:r>
            <a:r>
              <a:rPr sz="2400" spc="-15" dirty="0">
                <a:latin typeface="Carlito"/>
                <a:cs typeface="Carlito"/>
              </a:rPr>
              <a:t>at </a:t>
            </a:r>
            <a:r>
              <a:rPr sz="2400" spc="-5" dirty="0">
                <a:latin typeface="Carlito"/>
                <a:cs typeface="Carlito"/>
              </a:rPr>
              <a:t>one</a:t>
            </a:r>
            <a:r>
              <a:rPr sz="2400" spc="-15" dirty="0">
                <a:latin typeface="Carlito"/>
                <a:cs typeface="Carlito"/>
              </a:rPr>
              <a:t> </a:t>
            </a:r>
            <a:r>
              <a:rPr sz="2400" dirty="0">
                <a:latin typeface="Carlito"/>
                <a:cs typeface="Carlito"/>
              </a:rPr>
              <a:t>time</a:t>
            </a:r>
          </a:p>
        </p:txBody>
      </p:sp>
      <p:sp>
        <p:nvSpPr>
          <p:cNvPr id="6" name="object 4"/>
          <p:cNvSpPr/>
          <p:nvPr/>
        </p:nvSpPr>
        <p:spPr>
          <a:xfrm>
            <a:off x="5715000" y="2265577"/>
            <a:ext cx="3272245" cy="1574074"/>
          </a:xfrm>
          <a:prstGeom prst="rect">
            <a:avLst/>
          </a:prstGeom>
          <a:blipFill>
            <a:blip r:embed="rId2" cstate="print"/>
            <a:stretch>
              <a:fillRect/>
            </a:stretch>
          </a:blipFill>
        </p:spPr>
        <p:txBody>
          <a:bodyPr wrap="square" lIns="0" tIns="0" rIns="0" bIns="0" rtlCol="0"/>
          <a:lstStyle/>
          <a:p>
            <a:endParaRPr/>
          </a:p>
        </p:txBody>
      </p:sp>
      <p:sp>
        <p:nvSpPr>
          <p:cNvPr id="7" name="object 5"/>
          <p:cNvSpPr/>
          <p:nvPr/>
        </p:nvSpPr>
        <p:spPr>
          <a:xfrm>
            <a:off x="6566770" y="4113897"/>
            <a:ext cx="1568703" cy="1050916"/>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950617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4640" cy="574040"/>
          </a:xfrm>
          <a:prstGeom prst="rect">
            <a:avLst/>
          </a:prstGeom>
        </p:spPr>
        <p:txBody>
          <a:bodyPr vert="horz" wrap="square" lIns="0" tIns="12700" rIns="0" bIns="0" rtlCol="0">
            <a:spAutoFit/>
          </a:bodyPr>
          <a:lstStyle/>
          <a:p>
            <a:pPr marL="12700">
              <a:lnSpc>
                <a:spcPct val="100000"/>
              </a:lnSpc>
              <a:spcBef>
                <a:spcPts val="100"/>
              </a:spcBef>
            </a:pPr>
            <a:r>
              <a:rPr sz="3600" spc="-515" dirty="0"/>
              <a:t>How </a:t>
            </a:r>
            <a:r>
              <a:rPr sz="3600" spc="-425" dirty="0"/>
              <a:t>the </a:t>
            </a:r>
            <a:r>
              <a:rPr sz="3600" spc="-565" dirty="0"/>
              <a:t>CPU</a:t>
            </a:r>
            <a:r>
              <a:rPr sz="3600" spc="-455" dirty="0"/>
              <a:t> </a:t>
            </a:r>
            <a:r>
              <a:rPr sz="3600" spc="-440" dirty="0"/>
              <a:t>Works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44</a:t>
            </a:fld>
            <a:endParaRPr spc="-165" dirty="0"/>
          </a:p>
        </p:txBody>
      </p:sp>
      <p:sp>
        <p:nvSpPr>
          <p:cNvPr id="3" name="object 3"/>
          <p:cNvSpPr txBox="1"/>
          <p:nvPr/>
        </p:nvSpPr>
        <p:spPr>
          <a:xfrm>
            <a:off x="535940" y="1461262"/>
            <a:ext cx="8042909" cy="331787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CPU </a:t>
            </a:r>
            <a:r>
              <a:rPr sz="2400" spc="-10" dirty="0">
                <a:latin typeface="Carlito"/>
                <a:cs typeface="Carlito"/>
              </a:rPr>
              <a:t>(Central Processing</a:t>
            </a:r>
            <a:r>
              <a:rPr sz="2400" spc="-70" dirty="0">
                <a:latin typeface="Carlito"/>
                <a:cs typeface="Carlito"/>
              </a:rPr>
              <a:t> </a:t>
            </a:r>
            <a:r>
              <a:rPr sz="2400" dirty="0">
                <a:latin typeface="Carlito"/>
                <a:cs typeface="Carlito"/>
              </a:rPr>
              <a:t>Unit)</a:t>
            </a:r>
            <a:endParaRPr sz="2400">
              <a:latin typeface="Carlito"/>
              <a:cs typeface="Carlito"/>
            </a:endParaRPr>
          </a:p>
          <a:p>
            <a:pPr marL="756285" marR="44450" lvl="1" indent="-287020">
              <a:lnSpc>
                <a:spcPct val="100000"/>
              </a:lnSpc>
              <a:spcBef>
                <a:spcPts val="575"/>
              </a:spcBef>
              <a:buFont typeface="Arial"/>
              <a:buChar char="–"/>
              <a:tabLst>
                <a:tab pos="756920" algn="l"/>
              </a:tabLst>
            </a:pPr>
            <a:r>
              <a:rPr sz="2400" spc="-10" dirty="0">
                <a:latin typeface="Carlito"/>
                <a:cs typeface="Carlito"/>
              </a:rPr>
              <a:t>Consists </a:t>
            </a:r>
            <a:r>
              <a:rPr sz="2400" spc="-5" dirty="0">
                <a:latin typeface="Carlito"/>
                <a:cs typeface="Carlito"/>
              </a:rPr>
              <a:t>of </a:t>
            </a:r>
            <a:r>
              <a:rPr sz="2400" dirty="0">
                <a:latin typeface="Carlito"/>
                <a:cs typeface="Carlito"/>
              </a:rPr>
              <a:t>a </a:t>
            </a:r>
            <a:r>
              <a:rPr sz="2400" spc="-10" dirty="0">
                <a:latin typeface="Carlito"/>
                <a:cs typeface="Carlito"/>
              </a:rPr>
              <a:t>variety </a:t>
            </a:r>
            <a:r>
              <a:rPr sz="2400" spc="-5" dirty="0">
                <a:latin typeface="Carlito"/>
                <a:cs typeface="Carlito"/>
              </a:rPr>
              <a:t>of circuitry </a:t>
            </a:r>
            <a:r>
              <a:rPr sz="2400" dirty="0">
                <a:latin typeface="Carlito"/>
                <a:cs typeface="Carlito"/>
              </a:rPr>
              <a:t>and </a:t>
            </a:r>
            <a:r>
              <a:rPr sz="2400" spc="-10" dirty="0">
                <a:latin typeface="Carlito"/>
                <a:cs typeface="Carlito"/>
              </a:rPr>
              <a:t>components packaged  together</a:t>
            </a:r>
            <a:endParaRPr sz="2400">
              <a:latin typeface="Carlito"/>
              <a:cs typeface="Carlito"/>
            </a:endParaRPr>
          </a:p>
          <a:p>
            <a:pPr marL="756285" lvl="1" indent="-287020">
              <a:lnSpc>
                <a:spcPct val="100000"/>
              </a:lnSpc>
              <a:spcBef>
                <a:spcPts val="580"/>
              </a:spcBef>
              <a:buFont typeface="Arial"/>
              <a:buChar char="–"/>
              <a:tabLst>
                <a:tab pos="756920" algn="l"/>
              </a:tabLst>
            </a:pPr>
            <a:r>
              <a:rPr sz="2400" spc="-25" dirty="0">
                <a:latin typeface="Carlito"/>
                <a:cs typeface="Carlito"/>
              </a:rPr>
              <a:t>Transistor: </a:t>
            </a:r>
            <a:r>
              <a:rPr sz="2400" spc="-20" dirty="0">
                <a:latin typeface="Carlito"/>
                <a:cs typeface="Carlito"/>
              </a:rPr>
              <a:t>Key </a:t>
            </a:r>
            <a:r>
              <a:rPr sz="2400" spc="-5" dirty="0">
                <a:latin typeface="Carlito"/>
                <a:cs typeface="Carlito"/>
              </a:rPr>
              <a:t>element of </a:t>
            </a:r>
            <a:r>
              <a:rPr sz="2400" dirty="0">
                <a:latin typeface="Carlito"/>
                <a:cs typeface="Carlito"/>
              </a:rPr>
              <a:t>the</a:t>
            </a:r>
            <a:r>
              <a:rPr sz="2400" spc="-10" dirty="0">
                <a:latin typeface="Carlito"/>
                <a:cs typeface="Carlito"/>
              </a:rPr>
              <a:t> microprocessor</a:t>
            </a:r>
            <a:endParaRPr sz="2400">
              <a:latin typeface="Carlito"/>
              <a:cs typeface="Carlito"/>
            </a:endParaRPr>
          </a:p>
          <a:p>
            <a:pPr marL="1155700" marR="29845" lvl="2" indent="-228600">
              <a:lnSpc>
                <a:spcPct val="100000"/>
              </a:lnSpc>
              <a:spcBef>
                <a:spcPts val="575"/>
              </a:spcBef>
              <a:buFont typeface="Arial"/>
              <a:buChar char="•"/>
              <a:tabLst>
                <a:tab pos="1156335" algn="l"/>
              </a:tabLst>
            </a:pPr>
            <a:r>
              <a:rPr sz="2400" dirty="0">
                <a:latin typeface="Carlito"/>
                <a:cs typeface="Carlito"/>
              </a:rPr>
              <a:t>Made </a:t>
            </a:r>
            <a:r>
              <a:rPr sz="2400" spc="-5" dirty="0">
                <a:latin typeface="Carlito"/>
                <a:cs typeface="Carlito"/>
              </a:rPr>
              <a:t>of </a:t>
            </a:r>
            <a:r>
              <a:rPr sz="2400" spc="-10" dirty="0">
                <a:latin typeface="Carlito"/>
                <a:cs typeface="Carlito"/>
              </a:rPr>
              <a:t>semi-conductor </a:t>
            </a:r>
            <a:r>
              <a:rPr sz="2400" spc="-5" dirty="0">
                <a:latin typeface="Carlito"/>
                <a:cs typeface="Carlito"/>
              </a:rPr>
              <a:t>material </a:t>
            </a:r>
            <a:r>
              <a:rPr sz="2400" spc="-10" dirty="0">
                <a:latin typeface="Carlito"/>
                <a:cs typeface="Carlito"/>
              </a:rPr>
              <a:t>that </a:t>
            </a:r>
            <a:r>
              <a:rPr sz="2400" dirty="0">
                <a:latin typeface="Carlito"/>
                <a:cs typeface="Carlito"/>
              </a:rPr>
              <a:t>acts </a:t>
            </a:r>
            <a:r>
              <a:rPr sz="2400" spc="-20" dirty="0">
                <a:latin typeface="Carlito"/>
                <a:cs typeface="Carlito"/>
              </a:rPr>
              <a:t>like </a:t>
            </a:r>
            <a:r>
              <a:rPr sz="2400" dirty="0">
                <a:latin typeface="Carlito"/>
                <a:cs typeface="Carlito"/>
              </a:rPr>
              <a:t>a </a:t>
            </a:r>
            <a:r>
              <a:rPr sz="2400" spc="-10" dirty="0">
                <a:latin typeface="Carlito"/>
                <a:cs typeface="Carlito"/>
              </a:rPr>
              <a:t>switch  </a:t>
            </a:r>
            <a:r>
              <a:rPr sz="2400" spc="-15" dirty="0">
                <a:latin typeface="Carlito"/>
                <a:cs typeface="Carlito"/>
              </a:rPr>
              <a:t>controlling </a:t>
            </a:r>
            <a:r>
              <a:rPr sz="2400" dirty="0">
                <a:latin typeface="Carlito"/>
                <a:cs typeface="Carlito"/>
              </a:rPr>
              <a:t>the </a:t>
            </a:r>
            <a:r>
              <a:rPr sz="2400" spc="-10" dirty="0">
                <a:latin typeface="Carlito"/>
                <a:cs typeface="Carlito"/>
              </a:rPr>
              <a:t>flow of </a:t>
            </a:r>
            <a:r>
              <a:rPr sz="2400" spc="-5" dirty="0">
                <a:latin typeface="Carlito"/>
                <a:cs typeface="Carlito"/>
              </a:rPr>
              <a:t>electrons </a:t>
            </a:r>
            <a:r>
              <a:rPr sz="2400" dirty="0">
                <a:latin typeface="Carlito"/>
                <a:cs typeface="Carlito"/>
              </a:rPr>
              <a:t>inside a</a:t>
            </a:r>
            <a:r>
              <a:rPr sz="2400" spc="-35" dirty="0">
                <a:latin typeface="Carlito"/>
                <a:cs typeface="Carlito"/>
              </a:rPr>
              <a:t> </a:t>
            </a:r>
            <a:r>
              <a:rPr sz="2400" dirty="0">
                <a:latin typeface="Carlito"/>
                <a:cs typeface="Carlito"/>
              </a:rPr>
              <a:t>chip</a:t>
            </a:r>
            <a:endParaRPr sz="2400">
              <a:latin typeface="Carlito"/>
              <a:cs typeface="Carlito"/>
            </a:endParaRPr>
          </a:p>
          <a:p>
            <a:pPr marL="756285" lvl="1" indent="-287020">
              <a:lnSpc>
                <a:spcPct val="100000"/>
              </a:lnSpc>
              <a:spcBef>
                <a:spcPts val="580"/>
              </a:spcBef>
              <a:buChar char="–"/>
              <a:tabLst>
                <a:tab pos="756920" algn="l"/>
              </a:tabLst>
            </a:pPr>
            <a:r>
              <a:rPr sz="2400" spc="-185" dirty="0">
                <a:latin typeface="Arial"/>
                <a:cs typeface="Arial"/>
              </a:rPr>
              <a:t>Today’s </a:t>
            </a:r>
            <a:r>
              <a:rPr sz="2400" spc="-325" dirty="0">
                <a:latin typeface="Arial"/>
                <a:cs typeface="Arial"/>
              </a:rPr>
              <a:t>CPUs </a:t>
            </a:r>
            <a:r>
              <a:rPr sz="2400" spc="-75" dirty="0">
                <a:latin typeface="Arial"/>
                <a:cs typeface="Arial"/>
              </a:rPr>
              <a:t>contain </a:t>
            </a:r>
            <a:r>
              <a:rPr sz="2400" spc="-100" dirty="0">
                <a:latin typeface="Arial"/>
                <a:cs typeface="Arial"/>
              </a:rPr>
              <a:t>hundreds </a:t>
            </a:r>
            <a:r>
              <a:rPr sz="2400" spc="-5" dirty="0">
                <a:latin typeface="Arial"/>
                <a:cs typeface="Arial"/>
              </a:rPr>
              <a:t>of </a:t>
            </a:r>
            <a:r>
              <a:rPr sz="2400" spc="-55" dirty="0">
                <a:latin typeface="Arial"/>
                <a:cs typeface="Arial"/>
              </a:rPr>
              <a:t>millions </a:t>
            </a:r>
            <a:r>
              <a:rPr sz="2400" spc="-5" dirty="0">
                <a:latin typeface="Arial"/>
                <a:cs typeface="Arial"/>
              </a:rPr>
              <a:t>of</a:t>
            </a:r>
            <a:r>
              <a:rPr sz="2400" spc="-185" dirty="0">
                <a:latin typeface="Arial"/>
                <a:cs typeface="Arial"/>
              </a:rPr>
              <a:t> </a:t>
            </a:r>
            <a:r>
              <a:rPr sz="2400" spc="-80" dirty="0">
                <a:latin typeface="Arial"/>
                <a:cs typeface="Arial"/>
              </a:rPr>
              <a:t>transistors;</a:t>
            </a:r>
            <a:endParaRPr sz="2400">
              <a:latin typeface="Arial"/>
              <a:cs typeface="Arial"/>
            </a:endParaRPr>
          </a:p>
          <a:p>
            <a:pPr marL="756285">
              <a:lnSpc>
                <a:spcPct val="100000"/>
              </a:lnSpc>
            </a:pPr>
            <a:r>
              <a:rPr sz="2400" spc="-30" dirty="0">
                <a:latin typeface="Arial"/>
                <a:cs typeface="Arial"/>
              </a:rPr>
              <a:t>the </a:t>
            </a:r>
            <a:r>
              <a:rPr sz="2400" spc="-75" dirty="0">
                <a:latin typeface="Arial"/>
                <a:cs typeface="Arial"/>
              </a:rPr>
              <a:t>number </a:t>
            </a:r>
            <a:r>
              <a:rPr sz="2400" spc="-105" dirty="0">
                <a:latin typeface="Arial"/>
                <a:cs typeface="Arial"/>
              </a:rPr>
              <a:t>doubles </a:t>
            </a:r>
            <a:r>
              <a:rPr sz="2400" spc="-55" dirty="0">
                <a:latin typeface="Arial"/>
                <a:cs typeface="Arial"/>
              </a:rPr>
              <a:t>about </a:t>
            </a:r>
            <a:r>
              <a:rPr sz="2400" spc="-105" dirty="0">
                <a:latin typeface="Arial"/>
                <a:cs typeface="Arial"/>
              </a:rPr>
              <a:t>every </a:t>
            </a:r>
            <a:r>
              <a:rPr sz="2400" spc="-120" dirty="0">
                <a:latin typeface="Arial"/>
                <a:cs typeface="Arial"/>
              </a:rPr>
              <a:t>18 </a:t>
            </a:r>
            <a:r>
              <a:rPr sz="2400" spc="-80" dirty="0">
                <a:latin typeface="Arial"/>
                <a:cs typeface="Arial"/>
              </a:rPr>
              <a:t>months </a:t>
            </a:r>
            <a:r>
              <a:rPr sz="2400" spc="-85" dirty="0">
                <a:latin typeface="Arial"/>
                <a:cs typeface="Arial"/>
              </a:rPr>
              <a:t>(Moore’s</a:t>
            </a:r>
            <a:r>
              <a:rPr sz="2400" spc="-420" dirty="0">
                <a:latin typeface="Arial"/>
                <a:cs typeface="Arial"/>
              </a:rPr>
              <a:t> </a:t>
            </a:r>
            <a:r>
              <a:rPr sz="2400" spc="-160" dirty="0">
                <a:latin typeface="Arial"/>
                <a:cs typeface="Arial"/>
              </a:rPr>
              <a:t>Law)</a:t>
            </a:r>
            <a:endParaRPr sz="2400">
              <a:latin typeface="Arial"/>
              <a:cs typeface="Arial"/>
            </a:endParaRPr>
          </a:p>
        </p:txBody>
      </p:sp>
    </p:spTree>
    <p:extLst>
      <p:ext uri="{BB962C8B-B14F-4D97-AF65-F5344CB8AC3E}">
        <p14:creationId xmlns:p14="http://schemas.microsoft.com/office/powerpoint/2010/main" val="42270382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4640" cy="574040"/>
          </a:xfrm>
          <a:prstGeom prst="rect">
            <a:avLst/>
          </a:prstGeom>
        </p:spPr>
        <p:txBody>
          <a:bodyPr vert="horz" wrap="square" lIns="0" tIns="12700" rIns="0" bIns="0" rtlCol="0">
            <a:spAutoFit/>
          </a:bodyPr>
          <a:lstStyle/>
          <a:p>
            <a:pPr marL="12700">
              <a:lnSpc>
                <a:spcPct val="100000"/>
              </a:lnSpc>
              <a:spcBef>
                <a:spcPts val="100"/>
              </a:spcBef>
            </a:pPr>
            <a:r>
              <a:rPr sz="3600" spc="-515" dirty="0"/>
              <a:t>How </a:t>
            </a:r>
            <a:r>
              <a:rPr sz="3600" spc="-425" dirty="0"/>
              <a:t>the </a:t>
            </a:r>
            <a:r>
              <a:rPr sz="3600" spc="-565" dirty="0"/>
              <a:t>CPU</a:t>
            </a:r>
            <a:r>
              <a:rPr sz="3600" spc="-455" dirty="0"/>
              <a:t> </a:t>
            </a:r>
            <a:r>
              <a:rPr sz="3600" spc="-440" dirty="0"/>
              <a:t>Works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45</a:t>
            </a:fld>
            <a:endParaRPr spc="-165" dirty="0"/>
          </a:p>
        </p:txBody>
      </p:sp>
      <p:sp>
        <p:nvSpPr>
          <p:cNvPr id="3" name="object 3"/>
          <p:cNvSpPr txBox="1"/>
          <p:nvPr/>
        </p:nvSpPr>
        <p:spPr>
          <a:xfrm>
            <a:off x="535940" y="1461262"/>
            <a:ext cx="7844155" cy="4305935"/>
          </a:xfrm>
          <a:prstGeom prst="rect">
            <a:avLst/>
          </a:prstGeom>
        </p:spPr>
        <p:txBody>
          <a:bodyPr vert="horz" wrap="square" lIns="0" tIns="48895" rIns="0" bIns="0" rtlCol="0">
            <a:spAutoFit/>
          </a:bodyPr>
          <a:lstStyle/>
          <a:p>
            <a:pPr marL="355600" indent="-343535">
              <a:lnSpc>
                <a:spcPct val="100000"/>
              </a:lnSpc>
              <a:spcBef>
                <a:spcPts val="385"/>
              </a:spcBef>
              <a:buFont typeface="Arial"/>
              <a:buChar char="•"/>
              <a:tabLst>
                <a:tab pos="355600" algn="l"/>
                <a:tab pos="356235" algn="l"/>
              </a:tabLst>
            </a:pPr>
            <a:r>
              <a:rPr sz="2400" spc="-20" dirty="0">
                <a:latin typeface="Carlito"/>
                <a:cs typeface="Carlito"/>
              </a:rPr>
              <a:t>Typical </a:t>
            </a:r>
            <a:r>
              <a:rPr sz="2400" spc="-5" dirty="0">
                <a:latin typeface="Carlito"/>
                <a:cs typeface="Carlito"/>
              </a:rPr>
              <a:t>CPU</a:t>
            </a:r>
            <a:r>
              <a:rPr sz="2400" spc="-25" dirty="0">
                <a:latin typeface="Carlito"/>
                <a:cs typeface="Carlito"/>
              </a:rPr>
              <a:t> </a:t>
            </a:r>
            <a:r>
              <a:rPr sz="2400" spc="-10" dirty="0">
                <a:latin typeface="Carlito"/>
                <a:cs typeface="Carlito"/>
              </a:rPr>
              <a:t>Components</a:t>
            </a:r>
            <a:endParaRPr sz="2400" dirty="0">
              <a:latin typeface="Carlito"/>
              <a:cs typeface="Carlito"/>
            </a:endParaRPr>
          </a:p>
          <a:p>
            <a:pPr marL="756285" lvl="1" indent="-287020">
              <a:lnSpc>
                <a:spcPct val="100000"/>
              </a:lnSpc>
              <a:spcBef>
                <a:spcPts val="290"/>
              </a:spcBef>
              <a:buFont typeface="Arial"/>
              <a:buChar char="–"/>
              <a:tabLst>
                <a:tab pos="756920" algn="l"/>
              </a:tabLst>
            </a:pPr>
            <a:r>
              <a:rPr sz="2400" dirty="0">
                <a:latin typeface="Carlito"/>
                <a:cs typeface="Carlito"/>
              </a:rPr>
              <a:t>Arithmetic/Logic Unit</a:t>
            </a:r>
            <a:r>
              <a:rPr sz="2400" spc="-75" dirty="0">
                <a:latin typeface="Carlito"/>
                <a:cs typeface="Carlito"/>
              </a:rPr>
              <a:t> </a:t>
            </a:r>
            <a:r>
              <a:rPr sz="2400" spc="-15" dirty="0">
                <a:latin typeface="Carlito"/>
                <a:cs typeface="Carlito"/>
              </a:rPr>
              <a:t>(ALU)</a:t>
            </a:r>
            <a:endParaRPr sz="2400" dirty="0">
              <a:latin typeface="Carlito"/>
              <a:cs typeface="Carlito"/>
            </a:endParaRPr>
          </a:p>
          <a:p>
            <a:pPr marL="1155700" lvl="2" indent="-229235">
              <a:lnSpc>
                <a:spcPts val="2735"/>
              </a:lnSpc>
              <a:spcBef>
                <a:spcPts val="290"/>
              </a:spcBef>
              <a:buFont typeface="Arial"/>
              <a:buChar char="•"/>
              <a:tabLst>
                <a:tab pos="1156335" algn="l"/>
              </a:tabLst>
            </a:pPr>
            <a:r>
              <a:rPr sz="2400" spc="-15" dirty="0">
                <a:latin typeface="Carlito"/>
                <a:cs typeface="Carlito"/>
              </a:rPr>
              <a:t>Performs </a:t>
            </a:r>
            <a:r>
              <a:rPr sz="2400" dirty="0">
                <a:latin typeface="Carlito"/>
                <a:cs typeface="Carlito"/>
              </a:rPr>
              <a:t>arithmetic </a:t>
            </a:r>
            <a:r>
              <a:rPr sz="2400" spc="-10" dirty="0">
                <a:latin typeface="Carlito"/>
                <a:cs typeface="Carlito"/>
              </a:rPr>
              <a:t>involving </a:t>
            </a:r>
            <a:r>
              <a:rPr sz="2400" spc="-15" dirty="0">
                <a:latin typeface="Carlito"/>
                <a:cs typeface="Carlito"/>
              </a:rPr>
              <a:t>integers </a:t>
            </a:r>
            <a:r>
              <a:rPr sz="2400" dirty="0">
                <a:latin typeface="Carlito"/>
                <a:cs typeface="Carlito"/>
              </a:rPr>
              <a:t>and</a:t>
            </a:r>
            <a:r>
              <a:rPr sz="2400" spc="-65" dirty="0">
                <a:latin typeface="Carlito"/>
                <a:cs typeface="Carlito"/>
              </a:rPr>
              <a:t> </a:t>
            </a:r>
            <a:r>
              <a:rPr sz="2400" spc="-5" dirty="0">
                <a:latin typeface="Carlito"/>
                <a:cs typeface="Carlito"/>
              </a:rPr>
              <a:t>logical</a:t>
            </a:r>
            <a:endParaRPr sz="2400" dirty="0">
              <a:latin typeface="Carlito"/>
              <a:cs typeface="Carlito"/>
            </a:endParaRPr>
          </a:p>
          <a:p>
            <a:pPr marL="1155700">
              <a:lnSpc>
                <a:spcPts val="2735"/>
              </a:lnSpc>
            </a:pPr>
            <a:r>
              <a:rPr sz="2400" spc="-10" dirty="0">
                <a:latin typeface="Carlito"/>
                <a:cs typeface="Carlito"/>
              </a:rPr>
              <a:t>operations</a:t>
            </a:r>
            <a:endParaRPr sz="2400" dirty="0">
              <a:latin typeface="Carlito"/>
              <a:cs typeface="Carlito"/>
            </a:endParaRPr>
          </a:p>
          <a:p>
            <a:pPr marL="756285" lvl="1" indent="-287020">
              <a:lnSpc>
                <a:spcPct val="100000"/>
              </a:lnSpc>
              <a:spcBef>
                <a:spcPts val="290"/>
              </a:spcBef>
              <a:buFont typeface="Arial"/>
              <a:buChar char="–"/>
              <a:tabLst>
                <a:tab pos="756920" algn="l"/>
              </a:tabLst>
            </a:pPr>
            <a:r>
              <a:rPr sz="2400" spc="-10" dirty="0">
                <a:latin typeface="Carlito"/>
                <a:cs typeface="Carlito"/>
              </a:rPr>
              <a:t>Floating </a:t>
            </a:r>
            <a:r>
              <a:rPr sz="2400" spc="-20" dirty="0">
                <a:latin typeface="Carlito"/>
                <a:cs typeface="Carlito"/>
              </a:rPr>
              <a:t>Point </a:t>
            </a:r>
            <a:r>
              <a:rPr sz="2400" spc="-5" dirty="0">
                <a:latin typeface="Carlito"/>
                <a:cs typeface="Carlito"/>
              </a:rPr>
              <a:t>Unit</a:t>
            </a:r>
            <a:r>
              <a:rPr sz="2400" spc="-10" dirty="0">
                <a:latin typeface="Carlito"/>
                <a:cs typeface="Carlito"/>
              </a:rPr>
              <a:t> </a:t>
            </a:r>
            <a:r>
              <a:rPr sz="2400" spc="-5" dirty="0">
                <a:latin typeface="Carlito"/>
                <a:cs typeface="Carlito"/>
              </a:rPr>
              <a:t>(FPU)</a:t>
            </a:r>
            <a:endParaRPr sz="2400" dirty="0">
              <a:latin typeface="Carlito"/>
              <a:cs typeface="Carlito"/>
            </a:endParaRPr>
          </a:p>
          <a:p>
            <a:pPr marL="1155700" lvl="2" indent="-229235">
              <a:lnSpc>
                <a:spcPct val="100000"/>
              </a:lnSpc>
              <a:spcBef>
                <a:spcPts val="290"/>
              </a:spcBef>
              <a:buFont typeface="Arial"/>
              <a:buChar char="•"/>
              <a:tabLst>
                <a:tab pos="1156335" algn="l"/>
              </a:tabLst>
            </a:pPr>
            <a:r>
              <a:rPr sz="2400" spc="-15" dirty="0">
                <a:latin typeface="Carlito"/>
                <a:cs typeface="Carlito"/>
              </a:rPr>
              <a:t>Performs </a:t>
            </a:r>
            <a:r>
              <a:rPr sz="2400" spc="-5" dirty="0">
                <a:latin typeface="Carlito"/>
                <a:cs typeface="Carlito"/>
              </a:rPr>
              <a:t>decimal</a:t>
            </a:r>
            <a:r>
              <a:rPr sz="2400" spc="-35" dirty="0">
                <a:latin typeface="Carlito"/>
                <a:cs typeface="Carlito"/>
              </a:rPr>
              <a:t> </a:t>
            </a:r>
            <a:r>
              <a:rPr sz="2400" spc="-5" dirty="0">
                <a:latin typeface="Carlito"/>
                <a:cs typeface="Carlito"/>
              </a:rPr>
              <a:t>arithmetic</a:t>
            </a:r>
            <a:endParaRPr sz="2400" dirty="0">
              <a:latin typeface="Carlito"/>
              <a:cs typeface="Carlito"/>
            </a:endParaRPr>
          </a:p>
          <a:p>
            <a:pPr marL="756285" lvl="1" indent="-287020">
              <a:lnSpc>
                <a:spcPct val="100000"/>
              </a:lnSpc>
              <a:spcBef>
                <a:spcPts val="285"/>
              </a:spcBef>
              <a:buFont typeface="Arial"/>
              <a:buChar char="–"/>
              <a:tabLst>
                <a:tab pos="756920" algn="l"/>
              </a:tabLst>
            </a:pPr>
            <a:r>
              <a:rPr sz="2400" spc="-15" dirty="0">
                <a:latin typeface="Carlito"/>
                <a:cs typeface="Carlito"/>
              </a:rPr>
              <a:t>Control</a:t>
            </a:r>
            <a:r>
              <a:rPr sz="2400" spc="-40" dirty="0">
                <a:latin typeface="Carlito"/>
                <a:cs typeface="Carlito"/>
              </a:rPr>
              <a:t> </a:t>
            </a:r>
            <a:r>
              <a:rPr sz="2400" dirty="0">
                <a:latin typeface="Carlito"/>
                <a:cs typeface="Carlito"/>
              </a:rPr>
              <a:t>Unit</a:t>
            </a:r>
          </a:p>
          <a:p>
            <a:pPr marL="1155700" lvl="2" indent="-229235">
              <a:lnSpc>
                <a:spcPct val="100000"/>
              </a:lnSpc>
              <a:spcBef>
                <a:spcPts val="290"/>
              </a:spcBef>
              <a:buFont typeface="Arial"/>
              <a:buChar char="•"/>
              <a:tabLst>
                <a:tab pos="1156335" algn="l"/>
              </a:tabLst>
            </a:pPr>
            <a:r>
              <a:rPr sz="2400" spc="-15" dirty="0">
                <a:latin typeface="Carlito"/>
                <a:cs typeface="Carlito"/>
              </a:rPr>
              <a:t>Coordinates </a:t>
            </a:r>
            <a:r>
              <a:rPr sz="2400" dirty="0">
                <a:latin typeface="Carlito"/>
                <a:cs typeface="Carlito"/>
              </a:rPr>
              <a:t>and </a:t>
            </a:r>
            <a:r>
              <a:rPr sz="2400" spc="-15" dirty="0">
                <a:latin typeface="Carlito"/>
                <a:cs typeface="Carlito"/>
              </a:rPr>
              <a:t>controls </a:t>
            </a:r>
            <a:r>
              <a:rPr sz="2400" dirty="0">
                <a:latin typeface="Carlito"/>
                <a:cs typeface="Carlito"/>
              </a:rPr>
              <a:t>activities within a </a:t>
            </a:r>
            <a:r>
              <a:rPr sz="2400" spc="-5" dirty="0">
                <a:latin typeface="Carlito"/>
                <a:cs typeface="Carlito"/>
              </a:rPr>
              <a:t>CPU</a:t>
            </a:r>
            <a:r>
              <a:rPr sz="2400" spc="-75" dirty="0">
                <a:latin typeface="Carlito"/>
                <a:cs typeface="Carlito"/>
              </a:rPr>
              <a:t> </a:t>
            </a:r>
            <a:r>
              <a:rPr sz="2400" spc="-20" dirty="0">
                <a:latin typeface="Carlito"/>
                <a:cs typeface="Carlito"/>
              </a:rPr>
              <a:t>core</a:t>
            </a:r>
            <a:endParaRPr sz="2400" dirty="0">
              <a:latin typeface="Carlito"/>
              <a:cs typeface="Carlito"/>
            </a:endParaRPr>
          </a:p>
          <a:p>
            <a:pPr marL="756285" lvl="1" indent="-287020">
              <a:lnSpc>
                <a:spcPct val="100000"/>
              </a:lnSpc>
              <a:spcBef>
                <a:spcPts val="285"/>
              </a:spcBef>
              <a:buFont typeface="Arial"/>
              <a:buChar char="–"/>
              <a:tabLst>
                <a:tab pos="756920" algn="l"/>
              </a:tabLst>
            </a:pPr>
            <a:r>
              <a:rPr sz="2400" spc="-20" dirty="0">
                <a:latin typeface="Carlito"/>
                <a:cs typeface="Carlito"/>
              </a:rPr>
              <a:t>Prefetch</a:t>
            </a:r>
            <a:r>
              <a:rPr sz="2400" spc="-30" dirty="0">
                <a:latin typeface="Carlito"/>
                <a:cs typeface="Carlito"/>
              </a:rPr>
              <a:t> </a:t>
            </a:r>
            <a:r>
              <a:rPr sz="2400" dirty="0">
                <a:latin typeface="Carlito"/>
                <a:cs typeface="Carlito"/>
              </a:rPr>
              <a:t>Unit</a:t>
            </a:r>
          </a:p>
          <a:p>
            <a:pPr marL="1155700" marR="5080" lvl="2" indent="-228600">
              <a:lnSpc>
                <a:spcPts val="2590"/>
              </a:lnSpc>
              <a:spcBef>
                <a:spcPts val="620"/>
              </a:spcBef>
              <a:buFont typeface="Arial"/>
              <a:buChar char="•"/>
              <a:tabLst>
                <a:tab pos="1156335" algn="l"/>
              </a:tabLst>
            </a:pPr>
            <a:r>
              <a:rPr sz="2400" spc="-20" dirty="0">
                <a:latin typeface="Carlito"/>
                <a:cs typeface="Carlito"/>
              </a:rPr>
              <a:t>Attempts </a:t>
            </a:r>
            <a:r>
              <a:rPr sz="2400" spc="-15" dirty="0">
                <a:latin typeface="Carlito"/>
                <a:cs typeface="Carlito"/>
              </a:rPr>
              <a:t>to retrieve data </a:t>
            </a:r>
            <a:r>
              <a:rPr sz="2400" dirty="0">
                <a:latin typeface="Carlito"/>
                <a:cs typeface="Carlito"/>
              </a:rPr>
              <a:t>and </a:t>
            </a:r>
            <a:r>
              <a:rPr sz="2400" spc="-5" dirty="0">
                <a:latin typeface="Carlito"/>
                <a:cs typeface="Carlito"/>
              </a:rPr>
              <a:t>instructions </a:t>
            </a:r>
            <a:r>
              <a:rPr sz="2400" spc="-25" dirty="0">
                <a:latin typeface="Carlito"/>
                <a:cs typeface="Carlito"/>
              </a:rPr>
              <a:t>before </a:t>
            </a:r>
            <a:r>
              <a:rPr sz="2400" dirty="0">
                <a:latin typeface="Carlito"/>
                <a:cs typeface="Carlito"/>
              </a:rPr>
              <a:t>they  </a:t>
            </a:r>
            <a:r>
              <a:rPr sz="2400" spc="-15" dirty="0">
                <a:latin typeface="Carlito"/>
                <a:cs typeface="Carlito"/>
              </a:rPr>
              <a:t>are </a:t>
            </a:r>
            <a:r>
              <a:rPr sz="2400" spc="-5" dirty="0">
                <a:latin typeface="Carlito"/>
                <a:cs typeface="Carlito"/>
              </a:rPr>
              <a:t>needed </a:t>
            </a:r>
            <a:r>
              <a:rPr sz="2400" spc="-20" dirty="0">
                <a:latin typeface="Carlito"/>
                <a:cs typeface="Carlito"/>
              </a:rPr>
              <a:t>for </a:t>
            </a:r>
            <a:r>
              <a:rPr sz="2400" spc="-10" dirty="0">
                <a:latin typeface="Carlito"/>
                <a:cs typeface="Carlito"/>
              </a:rPr>
              <a:t>processing </a:t>
            </a:r>
            <a:r>
              <a:rPr sz="2400" dirty="0">
                <a:latin typeface="Carlito"/>
                <a:cs typeface="Carlito"/>
              </a:rPr>
              <a:t>in </a:t>
            </a:r>
            <a:r>
              <a:rPr sz="2400" spc="-15" dirty="0">
                <a:latin typeface="Carlito"/>
                <a:cs typeface="Carlito"/>
              </a:rPr>
              <a:t>order to </a:t>
            </a:r>
            <a:r>
              <a:rPr sz="2400" spc="-20" dirty="0">
                <a:latin typeface="Carlito"/>
                <a:cs typeface="Carlito"/>
              </a:rPr>
              <a:t>avoid</a:t>
            </a:r>
            <a:r>
              <a:rPr sz="2400" spc="20" dirty="0">
                <a:latin typeface="Carlito"/>
                <a:cs typeface="Carlito"/>
              </a:rPr>
              <a:t> </a:t>
            </a:r>
            <a:r>
              <a:rPr sz="2400" spc="-15" dirty="0">
                <a:latin typeface="Carlito"/>
                <a:cs typeface="Carlito"/>
              </a:rPr>
              <a:t>delays</a:t>
            </a:r>
            <a:endParaRPr sz="2400" dirty="0">
              <a:latin typeface="Carlito"/>
              <a:cs typeface="Carlito"/>
            </a:endParaRPr>
          </a:p>
        </p:txBody>
      </p:sp>
    </p:spTree>
    <p:extLst>
      <p:ext uri="{BB962C8B-B14F-4D97-AF65-F5344CB8AC3E}">
        <p14:creationId xmlns:p14="http://schemas.microsoft.com/office/powerpoint/2010/main" val="3243681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4640" cy="574040"/>
          </a:xfrm>
          <a:prstGeom prst="rect">
            <a:avLst/>
          </a:prstGeom>
        </p:spPr>
        <p:txBody>
          <a:bodyPr vert="horz" wrap="square" lIns="0" tIns="12700" rIns="0" bIns="0" rtlCol="0">
            <a:spAutoFit/>
          </a:bodyPr>
          <a:lstStyle/>
          <a:p>
            <a:pPr marL="12700">
              <a:lnSpc>
                <a:spcPct val="100000"/>
              </a:lnSpc>
              <a:spcBef>
                <a:spcPts val="100"/>
              </a:spcBef>
            </a:pPr>
            <a:r>
              <a:rPr sz="3600" spc="-515" dirty="0"/>
              <a:t>How </a:t>
            </a:r>
            <a:r>
              <a:rPr sz="3600" spc="-425" dirty="0"/>
              <a:t>the </a:t>
            </a:r>
            <a:r>
              <a:rPr sz="3600" spc="-565" dirty="0"/>
              <a:t>CPU</a:t>
            </a:r>
            <a:r>
              <a:rPr sz="3600" spc="-455" dirty="0"/>
              <a:t> </a:t>
            </a:r>
            <a:r>
              <a:rPr sz="3600" spc="-440" dirty="0"/>
              <a:t>Works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46</a:t>
            </a:fld>
            <a:endParaRPr spc="-165" dirty="0"/>
          </a:p>
        </p:txBody>
      </p:sp>
      <p:sp>
        <p:nvSpPr>
          <p:cNvPr id="3" name="object 3"/>
          <p:cNvSpPr txBox="1"/>
          <p:nvPr/>
        </p:nvSpPr>
        <p:spPr>
          <a:xfrm>
            <a:off x="993444" y="1461262"/>
            <a:ext cx="7251700" cy="3391535"/>
          </a:xfrm>
          <a:prstGeom prst="rect">
            <a:avLst/>
          </a:prstGeom>
        </p:spPr>
        <p:txBody>
          <a:bodyPr vert="horz" wrap="square" lIns="0" tIns="85725" rIns="0" bIns="0" rtlCol="0">
            <a:spAutoFit/>
          </a:bodyPr>
          <a:lstStyle/>
          <a:p>
            <a:pPr marL="299085" indent="-287020">
              <a:lnSpc>
                <a:spcPct val="100000"/>
              </a:lnSpc>
              <a:spcBef>
                <a:spcPts val="675"/>
              </a:spcBef>
              <a:buFont typeface="Arial"/>
              <a:buChar char="–"/>
              <a:tabLst>
                <a:tab pos="299720" algn="l"/>
              </a:tabLst>
            </a:pPr>
            <a:r>
              <a:rPr sz="2400" spc="-10" dirty="0">
                <a:latin typeface="Carlito"/>
                <a:cs typeface="Carlito"/>
              </a:rPr>
              <a:t>Decode</a:t>
            </a:r>
            <a:r>
              <a:rPr sz="2400" spc="-25" dirty="0">
                <a:latin typeface="Carlito"/>
                <a:cs typeface="Carlito"/>
              </a:rPr>
              <a:t> </a:t>
            </a:r>
            <a:r>
              <a:rPr sz="2400" dirty="0">
                <a:latin typeface="Carlito"/>
                <a:cs typeface="Carlito"/>
              </a:rPr>
              <a:t>Unit</a:t>
            </a:r>
            <a:endParaRPr sz="2400">
              <a:latin typeface="Carlito"/>
              <a:cs typeface="Carlito"/>
            </a:endParaRPr>
          </a:p>
          <a:p>
            <a:pPr marL="697865" marR="5080" lvl="1" indent="-228600">
              <a:lnSpc>
                <a:spcPct val="100000"/>
              </a:lnSpc>
              <a:spcBef>
                <a:spcPts val="575"/>
              </a:spcBef>
              <a:buFont typeface="Arial"/>
              <a:buChar char="•"/>
              <a:tabLst>
                <a:tab pos="698500" algn="l"/>
              </a:tabLst>
            </a:pPr>
            <a:r>
              <a:rPr sz="2400" spc="-25" dirty="0">
                <a:latin typeface="Carlito"/>
                <a:cs typeface="Carlito"/>
              </a:rPr>
              <a:t>Translates </a:t>
            </a:r>
            <a:r>
              <a:rPr sz="2400" spc="-5" dirty="0">
                <a:latin typeface="Carlito"/>
                <a:cs typeface="Carlito"/>
              </a:rPr>
              <a:t>instructions </a:t>
            </a:r>
            <a:r>
              <a:rPr sz="2400" spc="-15" dirty="0">
                <a:latin typeface="Carlito"/>
                <a:cs typeface="Carlito"/>
              </a:rPr>
              <a:t>from </a:t>
            </a:r>
            <a:r>
              <a:rPr sz="2400" dirty="0">
                <a:latin typeface="Carlito"/>
                <a:cs typeface="Carlito"/>
              </a:rPr>
              <a:t>the </a:t>
            </a:r>
            <a:r>
              <a:rPr sz="2400" spc="-20" dirty="0">
                <a:latin typeface="Carlito"/>
                <a:cs typeface="Carlito"/>
              </a:rPr>
              <a:t>prefetch </a:t>
            </a:r>
            <a:r>
              <a:rPr sz="2400" spc="-5" dirty="0">
                <a:latin typeface="Carlito"/>
                <a:cs typeface="Carlito"/>
              </a:rPr>
              <a:t>unit so they  </a:t>
            </a:r>
            <a:r>
              <a:rPr sz="2400" spc="-15" dirty="0">
                <a:latin typeface="Carlito"/>
                <a:cs typeface="Carlito"/>
              </a:rPr>
              <a:t>are understood </a:t>
            </a:r>
            <a:r>
              <a:rPr sz="2400" spc="-10" dirty="0">
                <a:latin typeface="Carlito"/>
                <a:cs typeface="Carlito"/>
              </a:rPr>
              <a:t>by </a:t>
            </a:r>
            <a:r>
              <a:rPr sz="2400" dirty="0">
                <a:latin typeface="Carlito"/>
                <a:cs typeface="Carlito"/>
              </a:rPr>
              <a:t>the </a:t>
            </a:r>
            <a:r>
              <a:rPr sz="2400" spc="-15" dirty="0">
                <a:latin typeface="Carlito"/>
                <a:cs typeface="Carlito"/>
              </a:rPr>
              <a:t>control </a:t>
            </a:r>
            <a:r>
              <a:rPr sz="2400" spc="-5" dirty="0">
                <a:latin typeface="Carlito"/>
                <a:cs typeface="Carlito"/>
              </a:rPr>
              <a:t>unit, </a:t>
            </a:r>
            <a:r>
              <a:rPr sz="2400" spc="-25" dirty="0">
                <a:latin typeface="Carlito"/>
                <a:cs typeface="Carlito"/>
              </a:rPr>
              <a:t>ALU, </a:t>
            </a:r>
            <a:r>
              <a:rPr sz="2400" dirty="0">
                <a:latin typeface="Carlito"/>
                <a:cs typeface="Carlito"/>
              </a:rPr>
              <a:t>and </a:t>
            </a:r>
            <a:r>
              <a:rPr sz="2400" spc="-5" dirty="0">
                <a:latin typeface="Carlito"/>
                <a:cs typeface="Carlito"/>
              </a:rPr>
              <a:t>FPU</a:t>
            </a:r>
            <a:endParaRPr sz="2400">
              <a:latin typeface="Carlito"/>
              <a:cs typeface="Carlito"/>
            </a:endParaRPr>
          </a:p>
          <a:p>
            <a:pPr marL="299085" indent="-287020">
              <a:lnSpc>
                <a:spcPct val="100000"/>
              </a:lnSpc>
              <a:spcBef>
                <a:spcPts val="580"/>
              </a:spcBef>
              <a:buFont typeface="Arial"/>
              <a:buChar char="–"/>
              <a:tabLst>
                <a:tab pos="299720" algn="l"/>
              </a:tabLst>
            </a:pPr>
            <a:r>
              <a:rPr sz="2400" spc="-15" dirty="0">
                <a:latin typeface="Carlito"/>
                <a:cs typeface="Carlito"/>
              </a:rPr>
              <a:t>Registers </a:t>
            </a:r>
            <a:r>
              <a:rPr sz="2400" dirty="0">
                <a:latin typeface="Carlito"/>
                <a:cs typeface="Carlito"/>
              </a:rPr>
              <a:t>and </a:t>
            </a:r>
            <a:r>
              <a:rPr sz="2400" spc="-10" dirty="0">
                <a:latin typeface="Carlito"/>
                <a:cs typeface="Carlito"/>
              </a:rPr>
              <a:t>Internal </a:t>
            </a:r>
            <a:r>
              <a:rPr sz="2400" spc="-5" dirty="0">
                <a:latin typeface="Carlito"/>
                <a:cs typeface="Carlito"/>
              </a:rPr>
              <a:t>Cache</a:t>
            </a:r>
            <a:r>
              <a:rPr sz="2400" spc="-65" dirty="0">
                <a:latin typeface="Carlito"/>
                <a:cs typeface="Carlito"/>
              </a:rPr>
              <a:t> </a:t>
            </a:r>
            <a:r>
              <a:rPr sz="2400" dirty="0">
                <a:latin typeface="Carlito"/>
                <a:cs typeface="Carlito"/>
              </a:rPr>
              <a:t>Memory</a:t>
            </a:r>
            <a:endParaRPr sz="2400">
              <a:latin typeface="Carlito"/>
              <a:cs typeface="Carlito"/>
            </a:endParaRPr>
          </a:p>
          <a:p>
            <a:pPr marL="697865" lvl="1" indent="-229235">
              <a:lnSpc>
                <a:spcPct val="100000"/>
              </a:lnSpc>
              <a:spcBef>
                <a:spcPts val="575"/>
              </a:spcBef>
              <a:buFont typeface="Arial"/>
              <a:buChar char="•"/>
              <a:tabLst>
                <a:tab pos="698500" algn="l"/>
              </a:tabLst>
            </a:pPr>
            <a:r>
              <a:rPr sz="2400" spc="-15" dirty="0">
                <a:latin typeface="Carlito"/>
                <a:cs typeface="Carlito"/>
              </a:rPr>
              <a:t>Store data </a:t>
            </a:r>
            <a:r>
              <a:rPr sz="2400" dirty="0">
                <a:latin typeface="Carlito"/>
                <a:cs typeface="Carlito"/>
              </a:rPr>
              <a:t>and </a:t>
            </a:r>
            <a:r>
              <a:rPr sz="2400" spc="-5" dirty="0">
                <a:latin typeface="Carlito"/>
                <a:cs typeface="Carlito"/>
              </a:rPr>
              <a:t>instructions needed </a:t>
            </a:r>
            <a:r>
              <a:rPr sz="2400" spc="-10" dirty="0">
                <a:latin typeface="Carlito"/>
                <a:cs typeface="Carlito"/>
              </a:rPr>
              <a:t>by </a:t>
            </a:r>
            <a:r>
              <a:rPr sz="2400" dirty="0">
                <a:latin typeface="Carlito"/>
                <a:cs typeface="Carlito"/>
              </a:rPr>
              <a:t>the</a:t>
            </a:r>
            <a:r>
              <a:rPr sz="2400" spc="-40" dirty="0">
                <a:latin typeface="Carlito"/>
                <a:cs typeface="Carlito"/>
              </a:rPr>
              <a:t> </a:t>
            </a:r>
            <a:r>
              <a:rPr sz="2400" dirty="0">
                <a:latin typeface="Carlito"/>
                <a:cs typeface="Carlito"/>
              </a:rPr>
              <a:t>CPU</a:t>
            </a:r>
            <a:endParaRPr sz="2400">
              <a:latin typeface="Carlito"/>
              <a:cs typeface="Carlito"/>
            </a:endParaRPr>
          </a:p>
          <a:p>
            <a:pPr marL="299085" indent="-287020">
              <a:lnSpc>
                <a:spcPct val="100000"/>
              </a:lnSpc>
              <a:spcBef>
                <a:spcPts val="580"/>
              </a:spcBef>
              <a:buFont typeface="Arial"/>
              <a:buChar char="–"/>
              <a:tabLst>
                <a:tab pos="299720" algn="l"/>
              </a:tabLst>
            </a:pPr>
            <a:r>
              <a:rPr sz="2400" dirty="0">
                <a:latin typeface="Carlito"/>
                <a:cs typeface="Carlito"/>
              </a:rPr>
              <a:t>Bus </a:t>
            </a:r>
            <a:r>
              <a:rPr sz="2400" spc="-15" dirty="0">
                <a:latin typeface="Carlito"/>
                <a:cs typeface="Carlito"/>
              </a:rPr>
              <a:t>Interface</a:t>
            </a:r>
            <a:r>
              <a:rPr sz="2400" spc="-35" dirty="0">
                <a:latin typeface="Carlito"/>
                <a:cs typeface="Carlito"/>
              </a:rPr>
              <a:t> </a:t>
            </a:r>
            <a:r>
              <a:rPr sz="2400" spc="-10" dirty="0">
                <a:latin typeface="Carlito"/>
                <a:cs typeface="Carlito"/>
              </a:rPr>
              <a:t>Unit</a:t>
            </a:r>
            <a:endParaRPr sz="2400">
              <a:latin typeface="Carlito"/>
              <a:cs typeface="Carlito"/>
            </a:endParaRPr>
          </a:p>
          <a:p>
            <a:pPr marL="697865" marR="618490" lvl="1" indent="-228600">
              <a:lnSpc>
                <a:spcPct val="100000"/>
              </a:lnSpc>
              <a:spcBef>
                <a:spcPts val="575"/>
              </a:spcBef>
              <a:buFont typeface="Arial"/>
              <a:buChar char="•"/>
              <a:tabLst>
                <a:tab pos="698500" algn="l"/>
              </a:tabLst>
            </a:pPr>
            <a:r>
              <a:rPr sz="2400" spc="-10" dirty="0">
                <a:latin typeface="Carlito"/>
                <a:cs typeface="Carlito"/>
              </a:rPr>
              <a:t>Allows </a:t>
            </a:r>
            <a:r>
              <a:rPr sz="2400" dirty="0">
                <a:latin typeface="Carlito"/>
                <a:cs typeface="Carlito"/>
              </a:rPr>
              <a:t>the </a:t>
            </a:r>
            <a:r>
              <a:rPr sz="2400" spc="-20" dirty="0">
                <a:latin typeface="Carlito"/>
                <a:cs typeface="Carlito"/>
              </a:rPr>
              <a:t>core </a:t>
            </a:r>
            <a:r>
              <a:rPr sz="2400" spc="-15" dirty="0">
                <a:latin typeface="Carlito"/>
                <a:cs typeface="Carlito"/>
              </a:rPr>
              <a:t>to communicate </a:t>
            </a:r>
            <a:r>
              <a:rPr sz="2400" dirty="0">
                <a:latin typeface="Carlito"/>
                <a:cs typeface="Carlito"/>
              </a:rPr>
              <a:t>with </a:t>
            </a:r>
            <a:r>
              <a:rPr sz="2400" spc="-5" dirty="0">
                <a:latin typeface="Carlito"/>
                <a:cs typeface="Carlito"/>
              </a:rPr>
              <a:t>other CPU  </a:t>
            </a:r>
            <a:r>
              <a:rPr sz="2400" spc="-10" dirty="0">
                <a:latin typeface="Carlito"/>
                <a:cs typeface="Carlito"/>
              </a:rPr>
              <a:t>components</a:t>
            </a:r>
            <a:endParaRPr sz="2400">
              <a:latin typeface="Carlito"/>
              <a:cs typeface="Carlito"/>
            </a:endParaRPr>
          </a:p>
        </p:txBody>
      </p:sp>
    </p:spTree>
    <p:extLst>
      <p:ext uri="{BB962C8B-B14F-4D97-AF65-F5344CB8AC3E}">
        <p14:creationId xmlns:p14="http://schemas.microsoft.com/office/powerpoint/2010/main" val="495936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320" y="382600"/>
            <a:ext cx="4104004" cy="574675"/>
          </a:xfrm>
          <a:prstGeom prst="rect">
            <a:avLst/>
          </a:prstGeom>
        </p:spPr>
        <p:txBody>
          <a:bodyPr vert="horz" wrap="square" lIns="0" tIns="12700" rIns="0" bIns="0" rtlCol="0">
            <a:spAutoFit/>
          </a:bodyPr>
          <a:lstStyle/>
          <a:p>
            <a:pPr marL="12700">
              <a:lnSpc>
                <a:spcPct val="100000"/>
              </a:lnSpc>
              <a:spcBef>
                <a:spcPts val="100"/>
              </a:spcBef>
            </a:pPr>
            <a:r>
              <a:rPr sz="3600" spc="-509" dirty="0"/>
              <a:t>How </a:t>
            </a:r>
            <a:r>
              <a:rPr sz="3600" spc="-420" dirty="0"/>
              <a:t>the </a:t>
            </a:r>
            <a:r>
              <a:rPr sz="3600" spc="-565" dirty="0"/>
              <a:t>CPU</a:t>
            </a:r>
            <a:r>
              <a:rPr sz="3600" spc="-495" dirty="0"/>
              <a:t> </a:t>
            </a:r>
            <a:r>
              <a:rPr sz="3600" spc="-440" dirty="0"/>
              <a:t>Works</a:t>
            </a:r>
            <a:endParaRPr sz="3600"/>
          </a:p>
        </p:txBody>
      </p:sp>
      <p:grpSp>
        <p:nvGrpSpPr>
          <p:cNvPr id="3" name="object 3"/>
          <p:cNvGrpSpPr/>
          <p:nvPr/>
        </p:nvGrpSpPr>
        <p:grpSpPr>
          <a:xfrm>
            <a:off x="467537" y="1556791"/>
            <a:ext cx="8216900" cy="4665980"/>
            <a:chOff x="467537" y="1556791"/>
            <a:chExt cx="8216900" cy="4665980"/>
          </a:xfrm>
        </p:grpSpPr>
        <p:sp>
          <p:nvSpPr>
            <p:cNvPr id="4" name="object 4"/>
            <p:cNvSpPr/>
            <p:nvPr/>
          </p:nvSpPr>
          <p:spPr>
            <a:xfrm>
              <a:off x="467537" y="1556791"/>
              <a:ext cx="6739493" cy="466577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236333" y="1700784"/>
              <a:ext cx="1447800" cy="466725"/>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47</a:t>
            </a:fld>
            <a:endParaRPr spc="-165" dirty="0"/>
          </a:p>
        </p:txBody>
      </p:sp>
    </p:spTree>
    <p:extLst>
      <p:ext uri="{BB962C8B-B14F-4D97-AF65-F5344CB8AC3E}">
        <p14:creationId xmlns:p14="http://schemas.microsoft.com/office/powerpoint/2010/main" val="1273182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81000"/>
            <a:ext cx="9448800" cy="705321"/>
          </a:xfrm>
          <a:prstGeom prst="rect">
            <a:avLst/>
          </a:prstGeom>
        </p:spPr>
        <p:txBody>
          <a:bodyPr vert="horz" wrap="square" lIns="0" tIns="12700" rIns="0" bIns="0" rtlCol="0">
            <a:spAutoFit/>
          </a:bodyPr>
          <a:lstStyle/>
          <a:p>
            <a:pPr marL="1089660" marR="5080">
              <a:lnSpc>
                <a:spcPct val="100000"/>
              </a:lnSpc>
              <a:spcBef>
                <a:spcPts val="100"/>
              </a:spcBef>
            </a:pPr>
            <a:r>
              <a:rPr spc="-475" dirty="0"/>
              <a:t>The </a:t>
            </a:r>
            <a:r>
              <a:rPr spc="-480" dirty="0"/>
              <a:t>System </a:t>
            </a:r>
            <a:r>
              <a:rPr spc="-455" dirty="0"/>
              <a:t>Clock </a:t>
            </a:r>
            <a:r>
              <a:rPr spc="-360" dirty="0"/>
              <a:t>and </a:t>
            </a:r>
            <a:r>
              <a:rPr spc="-380" dirty="0"/>
              <a:t>the </a:t>
            </a:r>
            <a:r>
              <a:rPr spc="-385" dirty="0"/>
              <a:t>Machine  </a:t>
            </a:r>
            <a:r>
              <a:rPr spc="-470" dirty="0"/>
              <a:t>Cycle</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48</a:t>
            </a:fld>
            <a:endParaRPr spc="-165" dirty="0"/>
          </a:p>
        </p:txBody>
      </p:sp>
      <p:sp>
        <p:nvSpPr>
          <p:cNvPr id="3" name="object 3"/>
          <p:cNvSpPr txBox="1"/>
          <p:nvPr/>
        </p:nvSpPr>
        <p:spPr>
          <a:xfrm>
            <a:off x="535940" y="1461262"/>
            <a:ext cx="7569200" cy="456184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20" dirty="0">
                <a:latin typeface="Carlito"/>
                <a:cs typeface="Carlito"/>
              </a:rPr>
              <a:t>System</a:t>
            </a:r>
            <a:r>
              <a:rPr sz="2400" spc="-50" dirty="0">
                <a:latin typeface="Carlito"/>
                <a:cs typeface="Carlito"/>
              </a:rPr>
              <a:t> </a:t>
            </a:r>
            <a:r>
              <a:rPr sz="2400" spc="-5" dirty="0">
                <a:latin typeface="Carlito"/>
                <a:cs typeface="Carlito"/>
              </a:rPr>
              <a:t>Clock</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Small quartz </a:t>
            </a:r>
            <a:r>
              <a:rPr sz="2400" spc="-10" dirty="0">
                <a:latin typeface="Carlito"/>
                <a:cs typeface="Carlito"/>
              </a:rPr>
              <a:t>crystal </a:t>
            </a:r>
            <a:r>
              <a:rPr sz="2400" spc="-5" dirty="0">
                <a:latin typeface="Carlito"/>
                <a:cs typeface="Carlito"/>
              </a:rPr>
              <a:t>on </a:t>
            </a:r>
            <a:r>
              <a:rPr sz="2400" dirty="0">
                <a:latin typeface="Carlito"/>
                <a:cs typeface="Carlito"/>
              </a:rPr>
              <a:t>the</a:t>
            </a:r>
            <a:r>
              <a:rPr sz="2400" spc="-85" dirty="0">
                <a:latin typeface="Carlito"/>
                <a:cs typeface="Carlito"/>
              </a:rPr>
              <a:t> </a:t>
            </a:r>
            <a:r>
              <a:rPr sz="2400" spc="-5" dirty="0">
                <a:latin typeface="Carlito"/>
                <a:cs typeface="Carlito"/>
              </a:rPr>
              <a:t>motherboard</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Timing mechanism </a:t>
            </a:r>
            <a:r>
              <a:rPr sz="2400" dirty="0">
                <a:latin typeface="Carlito"/>
                <a:cs typeface="Carlito"/>
              </a:rPr>
              <a:t>within the </a:t>
            </a:r>
            <a:r>
              <a:rPr sz="2400" spc="-10" dirty="0">
                <a:latin typeface="Carlito"/>
                <a:cs typeface="Carlito"/>
              </a:rPr>
              <a:t>computer </a:t>
            </a:r>
            <a:r>
              <a:rPr sz="2400" spc="-25" dirty="0">
                <a:latin typeface="Carlito"/>
                <a:cs typeface="Carlito"/>
              </a:rPr>
              <a:t>system</a:t>
            </a:r>
            <a:r>
              <a:rPr sz="2400" spc="-90" dirty="0">
                <a:latin typeface="Carlito"/>
                <a:cs typeface="Carlito"/>
              </a:rPr>
              <a:t> </a:t>
            </a:r>
            <a:r>
              <a:rPr sz="2400" spc="-10" dirty="0">
                <a:latin typeface="Carlito"/>
                <a:cs typeface="Carlito"/>
              </a:rPr>
              <a:t>that</a:t>
            </a:r>
            <a:endParaRPr sz="2400">
              <a:latin typeface="Carlito"/>
              <a:cs typeface="Carlito"/>
            </a:endParaRPr>
          </a:p>
          <a:p>
            <a:pPr marL="756285">
              <a:lnSpc>
                <a:spcPct val="100000"/>
              </a:lnSpc>
            </a:pPr>
            <a:r>
              <a:rPr sz="2400" spc="-135" dirty="0">
                <a:latin typeface="Arial"/>
                <a:cs typeface="Arial"/>
              </a:rPr>
              <a:t>synchronizes </a:t>
            </a:r>
            <a:r>
              <a:rPr sz="2400" spc="-30" dirty="0">
                <a:latin typeface="Arial"/>
                <a:cs typeface="Arial"/>
              </a:rPr>
              <a:t>the </a:t>
            </a:r>
            <a:r>
              <a:rPr sz="2400" spc="-80" dirty="0">
                <a:latin typeface="Arial"/>
                <a:cs typeface="Arial"/>
              </a:rPr>
              <a:t>computer’s</a:t>
            </a:r>
            <a:r>
              <a:rPr sz="2400" spc="-254" dirty="0">
                <a:latin typeface="Arial"/>
                <a:cs typeface="Arial"/>
              </a:rPr>
              <a:t> </a:t>
            </a:r>
            <a:r>
              <a:rPr sz="2400" spc="-80" dirty="0">
                <a:latin typeface="Arial"/>
                <a:cs typeface="Arial"/>
              </a:rPr>
              <a:t>operations</a:t>
            </a:r>
            <a:endParaRPr sz="2400">
              <a:latin typeface="Arial"/>
              <a:cs typeface="Arial"/>
            </a:endParaRPr>
          </a:p>
          <a:p>
            <a:pPr marL="1155700" marR="5080" lvl="2" indent="-228600">
              <a:lnSpc>
                <a:spcPct val="100000"/>
              </a:lnSpc>
              <a:spcBef>
                <a:spcPts val="575"/>
              </a:spcBef>
              <a:buFont typeface="Arial"/>
              <a:buChar char="•"/>
              <a:tabLst>
                <a:tab pos="1156335" algn="l"/>
              </a:tabLst>
            </a:pPr>
            <a:r>
              <a:rPr sz="2400" spc="-5" dirty="0">
                <a:latin typeface="Carlito"/>
                <a:cs typeface="Carlito"/>
              </a:rPr>
              <a:t>Sends out </a:t>
            </a:r>
            <a:r>
              <a:rPr sz="2400" dirty="0">
                <a:latin typeface="Carlito"/>
                <a:cs typeface="Carlito"/>
              </a:rPr>
              <a:t>a </a:t>
            </a:r>
            <a:r>
              <a:rPr sz="2400" spc="-5" dirty="0">
                <a:latin typeface="Carlito"/>
                <a:cs typeface="Carlito"/>
              </a:rPr>
              <a:t>signal </a:t>
            </a:r>
            <a:r>
              <a:rPr sz="2400" spc="-10" dirty="0">
                <a:latin typeface="Carlito"/>
                <a:cs typeface="Carlito"/>
              </a:rPr>
              <a:t>on </a:t>
            </a:r>
            <a:r>
              <a:rPr sz="2400" dirty="0">
                <a:latin typeface="Carlito"/>
                <a:cs typeface="Carlito"/>
              </a:rPr>
              <a:t>a </a:t>
            </a:r>
            <a:r>
              <a:rPr sz="2400" spc="-10" dirty="0">
                <a:latin typeface="Carlito"/>
                <a:cs typeface="Carlito"/>
              </a:rPr>
              <a:t>regular </a:t>
            </a:r>
            <a:r>
              <a:rPr sz="2400" spc="-5" dirty="0">
                <a:latin typeface="Carlito"/>
                <a:cs typeface="Carlito"/>
              </a:rPr>
              <a:t>basis </a:t>
            </a:r>
            <a:r>
              <a:rPr sz="2400" spc="-15" dirty="0">
                <a:latin typeface="Carlito"/>
                <a:cs typeface="Carlito"/>
              </a:rPr>
              <a:t>to </a:t>
            </a:r>
            <a:r>
              <a:rPr sz="2400" dirty="0">
                <a:latin typeface="Carlito"/>
                <a:cs typeface="Carlito"/>
              </a:rPr>
              <a:t>all </a:t>
            </a:r>
            <a:r>
              <a:rPr sz="2400" spc="-10" dirty="0">
                <a:latin typeface="Carlito"/>
                <a:cs typeface="Carlito"/>
              </a:rPr>
              <a:t>computer  components</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Each </a:t>
            </a:r>
            <a:r>
              <a:rPr sz="2400" spc="-5" dirty="0">
                <a:latin typeface="Carlito"/>
                <a:cs typeface="Carlito"/>
              </a:rPr>
              <a:t>signal </a:t>
            </a:r>
            <a:r>
              <a:rPr sz="2400" dirty="0">
                <a:latin typeface="Carlito"/>
                <a:cs typeface="Carlito"/>
              </a:rPr>
              <a:t>is a</a:t>
            </a:r>
            <a:r>
              <a:rPr sz="2400" spc="-45" dirty="0">
                <a:latin typeface="Carlito"/>
                <a:cs typeface="Carlito"/>
              </a:rPr>
              <a:t> </a:t>
            </a:r>
            <a:r>
              <a:rPr sz="2400" spc="-10" dirty="0">
                <a:latin typeface="Carlito"/>
                <a:cs typeface="Carlito"/>
              </a:rPr>
              <a:t>cycle</a:t>
            </a:r>
            <a:endParaRPr sz="2400">
              <a:latin typeface="Carlito"/>
              <a:cs typeface="Carlito"/>
            </a:endParaRPr>
          </a:p>
          <a:p>
            <a:pPr marL="1155700" marR="971550" lvl="2" indent="-228600">
              <a:lnSpc>
                <a:spcPct val="100000"/>
              </a:lnSpc>
              <a:spcBef>
                <a:spcPts val="575"/>
              </a:spcBef>
              <a:buFont typeface="Arial"/>
              <a:buChar char="•"/>
              <a:tabLst>
                <a:tab pos="1156335" algn="l"/>
              </a:tabLst>
            </a:pPr>
            <a:r>
              <a:rPr sz="2400" dirty="0">
                <a:latin typeface="Carlito"/>
                <a:cs typeface="Carlito"/>
              </a:rPr>
              <a:t>Number </a:t>
            </a:r>
            <a:r>
              <a:rPr sz="2400" spc="-5" dirty="0">
                <a:latin typeface="Carlito"/>
                <a:cs typeface="Carlito"/>
              </a:rPr>
              <a:t>of cycles per </a:t>
            </a:r>
            <a:r>
              <a:rPr sz="2400" spc="-10" dirty="0">
                <a:latin typeface="Carlito"/>
                <a:cs typeface="Carlito"/>
              </a:rPr>
              <a:t>second </a:t>
            </a:r>
            <a:r>
              <a:rPr sz="2400" dirty="0">
                <a:latin typeface="Carlito"/>
                <a:cs typeface="Carlito"/>
              </a:rPr>
              <a:t>is </a:t>
            </a:r>
            <a:r>
              <a:rPr sz="2400" spc="-10" dirty="0">
                <a:latin typeface="Carlito"/>
                <a:cs typeface="Carlito"/>
              </a:rPr>
              <a:t>measured </a:t>
            </a:r>
            <a:r>
              <a:rPr sz="2400" dirty="0">
                <a:latin typeface="Carlito"/>
                <a:cs typeface="Carlito"/>
              </a:rPr>
              <a:t>in  </a:t>
            </a:r>
            <a:r>
              <a:rPr sz="2400" spc="-5" dirty="0">
                <a:latin typeface="Carlito"/>
                <a:cs typeface="Carlito"/>
              </a:rPr>
              <a:t>hertz</a:t>
            </a:r>
            <a:r>
              <a:rPr sz="2400" spc="-20" dirty="0">
                <a:latin typeface="Carlito"/>
                <a:cs typeface="Carlito"/>
              </a:rPr>
              <a:t> </a:t>
            </a:r>
            <a:r>
              <a:rPr sz="2400" spc="-5" dirty="0">
                <a:latin typeface="Carlito"/>
                <a:cs typeface="Carlito"/>
              </a:rPr>
              <a:t>(Hz)</a:t>
            </a:r>
            <a:endParaRPr sz="2400">
              <a:latin typeface="Carlito"/>
              <a:cs typeface="Carlito"/>
            </a:endParaRPr>
          </a:p>
          <a:p>
            <a:pPr marL="1155700" marR="1403985" lvl="2" indent="-228600">
              <a:lnSpc>
                <a:spcPct val="100000"/>
              </a:lnSpc>
              <a:spcBef>
                <a:spcPts val="580"/>
              </a:spcBef>
              <a:buFont typeface="Arial"/>
              <a:buChar char="•"/>
              <a:tabLst>
                <a:tab pos="1156335" algn="l"/>
              </a:tabLst>
            </a:pPr>
            <a:r>
              <a:rPr sz="2400" spc="-5" dirty="0">
                <a:latin typeface="Carlito"/>
                <a:cs typeface="Carlito"/>
              </a:rPr>
              <a:t>One megahertz </a:t>
            </a:r>
            <a:r>
              <a:rPr sz="2400" dirty="0">
                <a:latin typeface="Carlito"/>
                <a:cs typeface="Carlito"/>
              </a:rPr>
              <a:t>= </a:t>
            </a:r>
            <a:r>
              <a:rPr sz="2400" spc="-5" dirty="0">
                <a:latin typeface="Carlito"/>
                <a:cs typeface="Carlito"/>
              </a:rPr>
              <a:t>one </a:t>
            </a:r>
            <a:r>
              <a:rPr sz="2400" dirty="0">
                <a:latin typeface="Carlito"/>
                <a:cs typeface="Carlito"/>
              </a:rPr>
              <a:t>million </a:t>
            </a:r>
            <a:r>
              <a:rPr sz="2400" spc="-5" dirty="0">
                <a:latin typeface="Carlito"/>
                <a:cs typeface="Carlito"/>
              </a:rPr>
              <a:t>ticks of</a:t>
            </a:r>
            <a:r>
              <a:rPr sz="2400" spc="-150" dirty="0">
                <a:latin typeface="Carlito"/>
                <a:cs typeface="Carlito"/>
              </a:rPr>
              <a:t> </a:t>
            </a:r>
            <a:r>
              <a:rPr sz="2400" dirty="0">
                <a:latin typeface="Carlito"/>
                <a:cs typeface="Carlito"/>
              </a:rPr>
              <a:t>the  </a:t>
            </a:r>
            <a:r>
              <a:rPr sz="2400" spc="-25" dirty="0">
                <a:latin typeface="Carlito"/>
                <a:cs typeface="Carlito"/>
              </a:rPr>
              <a:t>system</a:t>
            </a:r>
            <a:r>
              <a:rPr sz="2400" spc="-30" dirty="0">
                <a:latin typeface="Carlito"/>
                <a:cs typeface="Carlito"/>
              </a:rPr>
              <a:t> </a:t>
            </a:r>
            <a:r>
              <a:rPr sz="2400" dirty="0">
                <a:latin typeface="Carlito"/>
                <a:cs typeface="Carlito"/>
              </a:rPr>
              <a:t>clock</a:t>
            </a:r>
            <a:endParaRPr sz="2400">
              <a:latin typeface="Carlito"/>
              <a:cs typeface="Carlito"/>
            </a:endParaRPr>
          </a:p>
        </p:txBody>
      </p:sp>
    </p:spTree>
    <p:extLst>
      <p:ext uri="{BB962C8B-B14F-4D97-AF65-F5344CB8AC3E}">
        <p14:creationId xmlns:p14="http://schemas.microsoft.com/office/powerpoint/2010/main" val="33843247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4294967295"/>
          </p:nvPr>
        </p:nvSpPr>
        <p:spPr>
          <a:xfrm>
            <a:off x="510641" y="6385675"/>
            <a:ext cx="4489450" cy="215900"/>
          </a:xfrm>
          <a:prstGeom prst="rect">
            <a:avLst/>
          </a:prstGeom>
        </p:spPr>
        <p:txBody>
          <a:bodyPr vert="horz" wrap="square" lIns="0" tIns="13335" rIns="0" bIns="0" rtlCol="0">
            <a:spAutoFit/>
          </a:bodyPr>
          <a:lstStyle/>
          <a:p>
            <a:pPr marL="12700">
              <a:lnSpc>
                <a:spcPct val="100000"/>
              </a:lnSpc>
              <a:spcBef>
                <a:spcPts val="105"/>
              </a:spcBef>
            </a:pPr>
            <a:r>
              <a:rPr spc="-125" dirty="0"/>
              <a:t>Understanding </a:t>
            </a:r>
            <a:r>
              <a:rPr spc="-135" dirty="0"/>
              <a:t>Computers: </a:t>
            </a:r>
            <a:r>
              <a:rPr spc="-125" dirty="0"/>
              <a:t>Today </a:t>
            </a:r>
            <a:r>
              <a:rPr spc="-135" dirty="0"/>
              <a:t>and </a:t>
            </a:r>
            <a:r>
              <a:rPr spc="-130" dirty="0"/>
              <a:t>Tomorrow, </a:t>
            </a:r>
            <a:r>
              <a:rPr spc="-140" dirty="0"/>
              <a:t>15th</a:t>
            </a:r>
            <a:r>
              <a:rPr spc="105" dirty="0"/>
              <a:t> </a:t>
            </a:r>
            <a:r>
              <a:rPr spc="-110" dirty="0"/>
              <a:t>Edition</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49</a:t>
            </a:fld>
            <a:endParaRPr spc="-165" dirty="0"/>
          </a:p>
        </p:txBody>
      </p:sp>
      <p:sp>
        <p:nvSpPr>
          <p:cNvPr id="3" name="object 3"/>
          <p:cNvSpPr txBox="1">
            <a:spLocks noGrp="1"/>
          </p:cNvSpPr>
          <p:nvPr>
            <p:ph type="body" idx="1"/>
          </p:nvPr>
        </p:nvSpPr>
        <p:spPr>
          <a:xfrm>
            <a:off x="457200" y="1775191"/>
            <a:ext cx="8229600" cy="3718326"/>
          </a:xfrm>
          <a:prstGeom prst="rect">
            <a:avLst/>
          </a:prstGeom>
        </p:spPr>
        <p:txBody>
          <a:bodyPr vert="horz" wrap="square" lIns="0" tIns="85725" rIns="0" bIns="0" rtlCol="0">
            <a:spAutoFit/>
          </a:bodyPr>
          <a:lstStyle/>
          <a:p>
            <a:pPr marL="400685" indent="-228600" algn="just">
              <a:lnSpc>
                <a:spcPct val="100000"/>
              </a:lnSpc>
              <a:spcBef>
                <a:spcPts val="675"/>
              </a:spcBef>
              <a:buFont typeface="Arial"/>
              <a:buChar char="•"/>
              <a:tabLst>
                <a:tab pos="401320" algn="l"/>
              </a:tabLst>
            </a:pPr>
            <a:r>
              <a:rPr sz="2400" spc="-15" dirty="0"/>
              <a:t>Many </a:t>
            </a:r>
            <a:r>
              <a:rPr sz="2400" dirty="0"/>
              <a:t>PC </a:t>
            </a:r>
            <a:r>
              <a:rPr sz="2400" spc="-25" dirty="0"/>
              <a:t>system </a:t>
            </a:r>
            <a:r>
              <a:rPr sz="2400" spc="-5" dirty="0"/>
              <a:t>clocks </a:t>
            </a:r>
            <a:r>
              <a:rPr sz="2400" dirty="0"/>
              <a:t>run </a:t>
            </a:r>
            <a:r>
              <a:rPr sz="2400" spc="-15" dirty="0"/>
              <a:t>at </a:t>
            </a:r>
            <a:r>
              <a:rPr sz="2400" spc="-5" dirty="0"/>
              <a:t>200</a:t>
            </a:r>
            <a:r>
              <a:rPr sz="2400" spc="-45" dirty="0"/>
              <a:t> </a:t>
            </a:r>
            <a:r>
              <a:rPr sz="2400" dirty="0"/>
              <a:t>MHz</a:t>
            </a:r>
          </a:p>
          <a:p>
            <a:pPr marL="400685" marR="11430" indent="-228600" algn="just">
              <a:lnSpc>
                <a:spcPct val="100000"/>
              </a:lnSpc>
              <a:spcBef>
                <a:spcPts val="575"/>
              </a:spcBef>
              <a:buFont typeface="Arial"/>
              <a:buChar char="•"/>
              <a:tabLst>
                <a:tab pos="401320" algn="l"/>
              </a:tabLst>
            </a:pPr>
            <a:r>
              <a:rPr sz="2400" spc="-10" dirty="0"/>
              <a:t>Computers can </a:t>
            </a:r>
            <a:r>
              <a:rPr sz="2400" dirty="0"/>
              <a:t>run </a:t>
            </a:r>
            <a:r>
              <a:rPr sz="2400" spc="-15" dirty="0"/>
              <a:t>at </a:t>
            </a:r>
            <a:r>
              <a:rPr sz="2400" dirty="0"/>
              <a:t>a multiple </a:t>
            </a:r>
            <a:r>
              <a:rPr sz="2400" spc="-5" dirty="0"/>
              <a:t>or </a:t>
            </a:r>
            <a:r>
              <a:rPr sz="2400" spc="-10" dirty="0"/>
              <a:t>fraction </a:t>
            </a:r>
            <a:r>
              <a:rPr sz="2400" spc="-5" dirty="0"/>
              <a:t>of</a:t>
            </a:r>
            <a:r>
              <a:rPr sz="2400" spc="-120" dirty="0"/>
              <a:t> </a:t>
            </a:r>
            <a:r>
              <a:rPr sz="2400" dirty="0"/>
              <a:t>the  </a:t>
            </a:r>
            <a:r>
              <a:rPr sz="2400" spc="-25" dirty="0"/>
              <a:t>system </a:t>
            </a:r>
            <a:r>
              <a:rPr sz="2400" dirty="0"/>
              <a:t>clock</a:t>
            </a:r>
            <a:r>
              <a:rPr sz="2400" spc="-35" dirty="0"/>
              <a:t> </a:t>
            </a:r>
            <a:r>
              <a:rPr sz="2400" spc="-5" dirty="0"/>
              <a:t>speed</a:t>
            </a:r>
          </a:p>
          <a:p>
            <a:pPr marL="400685" marR="124460" indent="-228600" algn="just">
              <a:lnSpc>
                <a:spcPct val="100000"/>
              </a:lnSpc>
              <a:spcBef>
                <a:spcPts val="580"/>
              </a:spcBef>
              <a:buFont typeface="Arial"/>
              <a:buChar char="•"/>
              <a:tabLst>
                <a:tab pos="401320" algn="l"/>
              </a:tabLst>
            </a:pPr>
            <a:r>
              <a:rPr sz="2400" dirty="0"/>
              <a:t>A </a:t>
            </a:r>
            <a:r>
              <a:rPr sz="2400" spc="-5" dirty="0"/>
              <a:t>CPU </a:t>
            </a:r>
            <a:r>
              <a:rPr sz="2400" dirty="0"/>
              <a:t>clock </a:t>
            </a:r>
            <a:r>
              <a:rPr sz="2400" spc="-5" dirty="0"/>
              <a:t>speed of </a:t>
            </a:r>
            <a:r>
              <a:rPr sz="2400" dirty="0"/>
              <a:t>2 GHz means the CPU</a:t>
            </a:r>
            <a:r>
              <a:rPr sz="2400" spc="-175" dirty="0"/>
              <a:t> </a:t>
            </a:r>
            <a:r>
              <a:rPr sz="2400" dirty="0"/>
              <a:t>clock  </a:t>
            </a:r>
            <a:r>
              <a:rPr sz="2400" spc="-5" dirty="0">
                <a:latin typeface="Arial"/>
                <a:cs typeface="Arial"/>
              </a:rPr>
              <a:t>“ticks” </a:t>
            </a:r>
            <a:r>
              <a:rPr sz="2400" spc="-120" dirty="0">
                <a:latin typeface="Arial"/>
                <a:cs typeface="Arial"/>
              </a:rPr>
              <a:t>10 </a:t>
            </a:r>
            <a:r>
              <a:rPr sz="2400" spc="-70" dirty="0">
                <a:latin typeface="Arial"/>
                <a:cs typeface="Arial"/>
              </a:rPr>
              <a:t>times during </a:t>
            </a:r>
            <a:r>
              <a:rPr sz="2400" spc="-145" dirty="0">
                <a:latin typeface="Arial"/>
                <a:cs typeface="Arial"/>
              </a:rPr>
              <a:t>each system </a:t>
            </a:r>
            <a:r>
              <a:rPr sz="2400" spc="-110" dirty="0">
                <a:latin typeface="Arial"/>
                <a:cs typeface="Arial"/>
              </a:rPr>
              <a:t>clock</a:t>
            </a:r>
            <a:r>
              <a:rPr sz="2400" spc="-465" dirty="0">
                <a:latin typeface="Arial"/>
                <a:cs typeface="Arial"/>
              </a:rPr>
              <a:t> </a:t>
            </a:r>
            <a:r>
              <a:rPr sz="2400" spc="-35" dirty="0">
                <a:latin typeface="Arial"/>
                <a:cs typeface="Arial"/>
              </a:rPr>
              <a:t>tick</a:t>
            </a:r>
          </a:p>
          <a:p>
            <a:pPr marL="400685" indent="-228600" algn="just">
              <a:lnSpc>
                <a:spcPct val="100000"/>
              </a:lnSpc>
              <a:spcBef>
                <a:spcPts val="575"/>
              </a:spcBef>
              <a:buFont typeface="Arial"/>
              <a:buChar char="•"/>
              <a:tabLst>
                <a:tab pos="401320" algn="l"/>
              </a:tabLst>
            </a:pPr>
            <a:r>
              <a:rPr sz="2400" spc="-5" dirty="0"/>
              <a:t>During </a:t>
            </a:r>
            <a:r>
              <a:rPr sz="2400" dirty="0"/>
              <a:t>each </a:t>
            </a:r>
            <a:r>
              <a:rPr sz="2400" spc="-5" dirty="0"/>
              <a:t>CPU </a:t>
            </a:r>
            <a:r>
              <a:rPr sz="2400" dirty="0"/>
              <a:t>clock tick, </a:t>
            </a:r>
            <a:r>
              <a:rPr sz="2400" spc="-5" dirty="0"/>
              <a:t>one or </a:t>
            </a:r>
            <a:r>
              <a:rPr sz="2400" spc="-15" dirty="0"/>
              <a:t>more </a:t>
            </a:r>
            <a:r>
              <a:rPr sz="2400" spc="-5" dirty="0"/>
              <a:t>pieces</a:t>
            </a:r>
            <a:r>
              <a:rPr sz="2400" spc="-130" dirty="0"/>
              <a:t> </a:t>
            </a:r>
            <a:r>
              <a:rPr sz="2400" spc="-5" dirty="0"/>
              <a:t>of</a:t>
            </a:r>
            <a:r>
              <a:rPr lang="en-US" sz="2400" spc="-5" dirty="0"/>
              <a:t> </a:t>
            </a:r>
            <a:r>
              <a:rPr sz="2400" spc="-10" dirty="0"/>
              <a:t>microcode </a:t>
            </a:r>
            <a:r>
              <a:rPr sz="2400" spc="-15" dirty="0"/>
              <a:t>are</a:t>
            </a:r>
            <a:r>
              <a:rPr sz="2400" spc="-40" dirty="0"/>
              <a:t> </a:t>
            </a:r>
            <a:r>
              <a:rPr sz="2400" spc="-10" dirty="0"/>
              <a:t>processed</a:t>
            </a:r>
          </a:p>
          <a:p>
            <a:pPr marL="400685" marR="5080" indent="-228600" algn="just">
              <a:lnSpc>
                <a:spcPct val="100000"/>
              </a:lnSpc>
              <a:spcBef>
                <a:spcPts val="580"/>
              </a:spcBef>
              <a:buFont typeface="Arial"/>
              <a:buChar char="•"/>
              <a:tabLst>
                <a:tab pos="401320" algn="l"/>
              </a:tabLst>
            </a:pPr>
            <a:r>
              <a:rPr sz="2400" dirty="0"/>
              <a:t>A </a:t>
            </a:r>
            <a:r>
              <a:rPr sz="2400" spc="-5" dirty="0"/>
              <a:t>CPU with </a:t>
            </a:r>
            <a:r>
              <a:rPr sz="2400" dirty="0"/>
              <a:t>a </a:t>
            </a:r>
            <a:r>
              <a:rPr sz="2400" spc="-5" dirty="0"/>
              <a:t>higher </a:t>
            </a:r>
            <a:r>
              <a:rPr sz="2400" dirty="0"/>
              <a:t>clock </a:t>
            </a:r>
            <a:r>
              <a:rPr sz="2400" spc="-5" dirty="0"/>
              <a:t>speed </a:t>
            </a:r>
            <a:r>
              <a:rPr sz="2400" spc="-10" dirty="0"/>
              <a:t>processes more  </a:t>
            </a:r>
            <a:r>
              <a:rPr sz="2400" spc="-5" dirty="0"/>
              <a:t>instructions per </a:t>
            </a:r>
            <a:r>
              <a:rPr sz="2400" spc="-10" dirty="0"/>
              <a:t>second </a:t>
            </a:r>
            <a:r>
              <a:rPr sz="2400" dirty="0"/>
              <a:t>than the </a:t>
            </a:r>
            <a:r>
              <a:rPr sz="2400" spc="-5" dirty="0"/>
              <a:t>same CPU </a:t>
            </a:r>
            <a:r>
              <a:rPr sz="2400" dirty="0"/>
              <a:t>with</a:t>
            </a:r>
            <a:r>
              <a:rPr sz="2400" spc="-95" dirty="0"/>
              <a:t> </a:t>
            </a:r>
            <a:r>
              <a:rPr sz="2400" dirty="0"/>
              <a:t>a  </a:t>
            </a:r>
            <a:r>
              <a:rPr sz="2400" spc="-10" dirty="0"/>
              <a:t>lower </a:t>
            </a:r>
            <a:r>
              <a:rPr sz="2400" spc="-5" dirty="0"/>
              <a:t>CPU </a:t>
            </a:r>
            <a:r>
              <a:rPr sz="2400" dirty="0"/>
              <a:t>clock</a:t>
            </a:r>
            <a:r>
              <a:rPr sz="2400" spc="-50" dirty="0"/>
              <a:t> </a:t>
            </a:r>
            <a:r>
              <a:rPr sz="2400" spc="-5" dirty="0"/>
              <a:t>speed</a:t>
            </a:r>
          </a:p>
        </p:txBody>
      </p:sp>
      <p:sp>
        <p:nvSpPr>
          <p:cNvPr id="6" name="object 2"/>
          <p:cNvSpPr txBox="1">
            <a:spLocks/>
          </p:cNvSpPr>
          <p:nvPr/>
        </p:nvSpPr>
        <p:spPr>
          <a:xfrm>
            <a:off x="-533400" y="381000"/>
            <a:ext cx="9448800" cy="705321"/>
          </a:xfrm>
          <a:prstGeom prst="rect">
            <a:avLst/>
          </a:prstGeom>
        </p:spPr>
        <p:txBody>
          <a:bodyPr vert="horz" wrap="square" lIns="0" tIns="12700" rIns="0" bIns="0" rtlCol="0" anchor="ctr">
            <a:sp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a:lstStyle>
          <a:p>
            <a:pPr marL="1089660" marR="5080">
              <a:spcBef>
                <a:spcPts val="100"/>
              </a:spcBef>
            </a:pPr>
            <a:r>
              <a:rPr lang="en-US" spc="-475" dirty="0"/>
              <a:t>The </a:t>
            </a:r>
            <a:r>
              <a:rPr lang="en-US" spc="-480" dirty="0"/>
              <a:t>System </a:t>
            </a:r>
            <a:r>
              <a:rPr lang="en-US" spc="-455" dirty="0"/>
              <a:t>Clock </a:t>
            </a:r>
            <a:r>
              <a:rPr lang="en-US" spc="-360" dirty="0"/>
              <a:t>and </a:t>
            </a:r>
            <a:r>
              <a:rPr lang="en-US" spc="-380" dirty="0"/>
              <a:t>the </a:t>
            </a:r>
            <a:r>
              <a:rPr lang="en-US" spc="-385" dirty="0"/>
              <a:t>Machine  </a:t>
            </a:r>
            <a:r>
              <a:rPr lang="en-US" spc="-470" dirty="0"/>
              <a:t>Cycle</a:t>
            </a:r>
          </a:p>
        </p:txBody>
      </p:sp>
    </p:spTree>
    <p:extLst>
      <p:ext uri="{BB962C8B-B14F-4D97-AF65-F5344CB8AC3E}">
        <p14:creationId xmlns:p14="http://schemas.microsoft.com/office/powerpoint/2010/main" val="9379627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461262"/>
            <a:ext cx="4660900" cy="163512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Machine</a:t>
            </a:r>
            <a:r>
              <a:rPr sz="2400" spc="-30" dirty="0">
                <a:latin typeface="Carlito"/>
                <a:cs typeface="Carlito"/>
              </a:rPr>
              <a:t> </a:t>
            </a:r>
            <a:r>
              <a:rPr sz="2400" spc="-10" dirty="0">
                <a:latin typeface="Carlito"/>
                <a:cs typeface="Carlito"/>
              </a:rPr>
              <a:t>Cycle</a:t>
            </a:r>
            <a:endParaRPr sz="2400">
              <a:latin typeface="Carlito"/>
              <a:cs typeface="Carlito"/>
            </a:endParaRPr>
          </a:p>
          <a:p>
            <a:pPr marL="756285" marR="5080" indent="-287020">
              <a:lnSpc>
                <a:spcPct val="100000"/>
              </a:lnSpc>
              <a:spcBef>
                <a:spcPts val="575"/>
              </a:spcBef>
            </a:pPr>
            <a:r>
              <a:rPr sz="2400" dirty="0">
                <a:latin typeface="Arial"/>
                <a:cs typeface="Arial"/>
              </a:rPr>
              <a:t>– </a:t>
            </a:r>
            <a:r>
              <a:rPr sz="2400" spc="-5" dirty="0">
                <a:latin typeface="Carlito"/>
                <a:cs typeface="Carlito"/>
              </a:rPr>
              <a:t>The series </a:t>
            </a:r>
            <a:r>
              <a:rPr sz="2400" spc="-10" dirty="0">
                <a:latin typeface="Carlito"/>
                <a:cs typeface="Carlito"/>
              </a:rPr>
              <a:t>of operations  </a:t>
            </a:r>
            <a:r>
              <a:rPr sz="2400" spc="-15" dirty="0">
                <a:latin typeface="Carlito"/>
                <a:cs typeface="Carlito"/>
              </a:rPr>
              <a:t>involved </a:t>
            </a:r>
            <a:r>
              <a:rPr sz="2400" dirty="0">
                <a:latin typeface="Carlito"/>
                <a:cs typeface="Carlito"/>
              </a:rPr>
              <a:t>in </a:t>
            </a:r>
            <a:r>
              <a:rPr sz="2400" spc="-5" dirty="0">
                <a:latin typeface="Carlito"/>
                <a:cs typeface="Carlito"/>
              </a:rPr>
              <a:t>the </a:t>
            </a:r>
            <a:r>
              <a:rPr sz="2400" spc="-15" dirty="0">
                <a:latin typeface="Carlito"/>
                <a:cs typeface="Carlito"/>
              </a:rPr>
              <a:t>execution </a:t>
            </a:r>
            <a:r>
              <a:rPr sz="2400" spc="-5" dirty="0">
                <a:latin typeface="Carlito"/>
                <a:cs typeface="Carlito"/>
              </a:rPr>
              <a:t>of </a:t>
            </a:r>
            <a:r>
              <a:rPr sz="2400" dirty="0">
                <a:latin typeface="Carlito"/>
                <a:cs typeface="Carlito"/>
              </a:rPr>
              <a:t>a  </a:t>
            </a:r>
            <a:r>
              <a:rPr sz="2400" spc="-5" dirty="0">
                <a:latin typeface="Carlito"/>
                <a:cs typeface="Carlito"/>
              </a:rPr>
              <a:t>single machine </a:t>
            </a:r>
            <a:r>
              <a:rPr sz="2400" spc="-10" dirty="0">
                <a:latin typeface="Carlito"/>
                <a:cs typeface="Carlito"/>
              </a:rPr>
              <a:t>level</a:t>
            </a:r>
            <a:r>
              <a:rPr sz="2400" spc="-60" dirty="0">
                <a:latin typeface="Carlito"/>
                <a:cs typeface="Carlito"/>
              </a:rPr>
              <a:t> </a:t>
            </a:r>
            <a:r>
              <a:rPr sz="2400" spc="-5" dirty="0">
                <a:latin typeface="Carlito"/>
                <a:cs typeface="Carlito"/>
              </a:rPr>
              <a:t>instruction</a:t>
            </a:r>
            <a:endParaRPr sz="2400">
              <a:latin typeface="Carlito"/>
              <a:cs typeface="Carlito"/>
            </a:endParaRPr>
          </a:p>
        </p:txBody>
      </p:sp>
      <p:sp>
        <p:nvSpPr>
          <p:cNvPr id="4" name="object 4"/>
          <p:cNvSpPr/>
          <p:nvPr/>
        </p:nvSpPr>
        <p:spPr>
          <a:xfrm>
            <a:off x="5334000" y="1950347"/>
            <a:ext cx="3674367" cy="3345561"/>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987801" y="4797145"/>
            <a:ext cx="1446402" cy="997527"/>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50</a:t>
            </a:fld>
            <a:endParaRPr spc="-165" dirty="0"/>
          </a:p>
        </p:txBody>
      </p:sp>
      <p:sp>
        <p:nvSpPr>
          <p:cNvPr id="8" name="object 2"/>
          <p:cNvSpPr txBox="1">
            <a:spLocks noGrp="1"/>
          </p:cNvSpPr>
          <p:nvPr>
            <p:ph type="title"/>
          </p:nvPr>
        </p:nvSpPr>
        <p:spPr>
          <a:xfrm>
            <a:off x="-609600" y="377275"/>
            <a:ext cx="9448800" cy="705321"/>
          </a:xfrm>
          <a:prstGeom prst="rect">
            <a:avLst/>
          </a:prstGeom>
        </p:spPr>
        <p:txBody>
          <a:bodyPr vert="horz" wrap="square" lIns="0" tIns="12700" rIns="0" bIns="0" rtlCol="0">
            <a:spAutoFit/>
          </a:bodyPr>
          <a:lstStyle/>
          <a:p>
            <a:pPr marL="1089660" marR="5080">
              <a:lnSpc>
                <a:spcPct val="100000"/>
              </a:lnSpc>
              <a:spcBef>
                <a:spcPts val="100"/>
              </a:spcBef>
            </a:pPr>
            <a:r>
              <a:rPr spc="-475" dirty="0"/>
              <a:t>The </a:t>
            </a:r>
            <a:r>
              <a:rPr spc="-480" dirty="0"/>
              <a:t>System </a:t>
            </a:r>
            <a:r>
              <a:rPr spc="-455" dirty="0"/>
              <a:t>Clock </a:t>
            </a:r>
            <a:r>
              <a:rPr spc="-360" dirty="0"/>
              <a:t>and </a:t>
            </a:r>
            <a:r>
              <a:rPr spc="-380" dirty="0"/>
              <a:t>the </a:t>
            </a:r>
            <a:r>
              <a:rPr spc="-385" dirty="0"/>
              <a:t>Machine  </a:t>
            </a:r>
            <a:r>
              <a:rPr spc="-470" dirty="0"/>
              <a:t>Cycle</a:t>
            </a:r>
          </a:p>
        </p:txBody>
      </p:sp>
    </p:spTree>
    <p:extLst>
      <p:ext uri="{BB962C8B-B14F-4D97-AF65-F5344CB8AC3E}">
        <p14:creationId xmlns:p14="http://schemas.microsoft.com/office/powerpoint/2010/main" val="1037502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89660" marR="5080">
              <a:lnSpc>
                <a:spcPct val="100000"/>
              </a:lnSpc>
              <a:spcBef>
                <a:spcPts val="100"/>
              </a:spcBef>
            </a:pPr>
            <a:r>
              <a:rPr spc="-345" dirty="0"/>
              <a:t>Making </a:t>
            </a:r>
            <a:r>
              <a:rPr spc="-395" dirty="0"/>
              <a:t>Computers </a:t>
            </a:r>
            <a:r>
              <a:rPr spc="-470" dirty="0"/>
              <a:t>Faster </a:t>
            </a:r>
            <a:r>
              <a:rPr spc="-360" dirty="0"/>
              <a:t>and </a:t>
            </a:r>
            <a:r>
              <a:rPr spc="-430" dirty="0"/>
              <a:t>Better  </a:t>
            </a:r>
            <a:r>
              <a:rPr spc="-415" dirty="0"/>
              <a:t>Now </a:t>
            </a:r>
            <a:r>
              <a:rPr spc="-360" dirty="0"/>
              <a:t>and </a:t>
            </a:r>
            <a:r>
              <a:rPr spc="-310" dirty="0"/>
              <a:t>in </a:t>
            </a:r>
            <a:r>
              <a:rPr spc="-375" dirty="0"/>
              <a:t>the</a:t>
            </a:r>
            <a:r>
              <a:rPr spc="275" dirty="0"/>
              <a:t> </a:t>
            </a:r>
            <a:r>
              <a:rPr spc="-390" dirty="0"/>
              <a:t>Future</a:t>
            </a:r>
          </a:p>
        </p:txBody>
      </p:sp>
      <p:sp>
        <p:nvSpPr>
          <p:cNvPr id="3" name="object 3"/>
          <p:cNvSpPr txBox="1"/>
          <p:nvPr/>
        </p:nvSpPr>
        <p:spPr>
          <a:xfrm>
            <a:off x="535940" y="1461262"/>
            <a:ext cx="6441440" cy="419608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Improving </a:t>
            </a:r>
            <a:r>
              <a:rPr sz="2400" dirty="0">
                <a:latin typeface="Carlito"/>
                <a:cs typeface="Carlito"/>
              </a:rPr>
              <a:t>the </a:t>
            </a:r>
            <a:r>
              <a:rPr sz="2400" spc="-15" dirty="0">
                <a:latin typeface="Carlito"/>
                <a:cs typeface="Carlito"/>
              </a:rPr>
              <a:t>Performance </a:t>
            </a:r>
            <a:r>
              <a:rPr sz="2400" spc="-5" dirty="0">
                <a:latin typeface="Carlito"/>
                <a:cs typeface="Carlito"/>
              </a:rPr>
              <a:t>of </a:t>
            </a:r>
            <a:r>
              <a:rPr sz="2400" spc="-50" dirty="0">
                <a:latin typeface="Carlito"/>
                <a:cs typeface="Carlito"/>
              </a:rPr>
              <a:t>Your </a:t>
            </a:r>
            <a:r>
              <a:rPr sz="2400" spc="-20" dirty="0">
                <a:latin typeface="Carlito"/>
                <a:cs typeface="Carlito"/>
              </a:rPr>
              <a:t>System</a:t>
            </a:r>
            <a:r>
              <a:rPr sz="2400" spc="5" dirty="0">
                <a:latin typeface="Carlito"/>
                <a:cs typeface="Carlito"/>
              </a:rPr>
              <a:t> </a:t>
            </a:r>
            <a:r>
              <a:rPr sz="2400" spc="-60" dirty="0">
                <a:latin typeface="Carlito"/>
                <a:cs typeface="Carlito"/>
              </a:rPr>
              <a:t>Today</a:t>
            </a:r>
            <a:endParaRPr sz="2400">
              <a:latin typeface="Carlito"/>
              <a:cs typeface="Carlito"/>
            </a:endParaRPr>
          </a:p>
          <a:p>
            <a:pPr marL="756285" lvl="1" indent="-287020">
              <a:lnSpc>
                <a:spcPct val="100000"/>
              </a:lnSpc>
              <a:spcBef>
                <a:spcPts val="575"/>
              </a:spcBef>
              <a:buFont typeface="Arial"/>
              <a:buChar char="–"/>
              <a:tabLst>
                <a:tab pos="756920" algn="l"/>
              </a:tabLst>
            </a:pPr>
            <a:r>
              <a:rPr sz="2400" dirty="0">
                <a:latin typeface="Carlito"/>
                <a:cs typeface="Carlito"/>
              </a:rPr>
              <a:t>Add </a:t>
            </a:r>
            <a:r>
              <a:rPr sz="2400" spc="-10" dirty="0">
                <a:latin typeface="Carlito"/>
                <a:cs typeface="Carlito"/>
              </a:rPr>
              <a:t>more</a:t>
            </a:r>
            <a:r>
              <a:rPr sz="2400" spc="-30" dirty="0">
                <a:latin typeface="Carlito"/>
                <a:cs typeface="Carlito"/>
              </a:rPr>
              <a:t> </a:t>
            </a:r>
            <a:r>
              <a:rPr sz="2400" dirty="0">
                <a:latin typeface="Carlito"/>
                <a:cs typeface="Carlito"/>
              </a:rPr>
              <a:t>memory</a:t>
            </a:r>
            <a:endParaRPr sz="2400">
              <a:latin typeface="Carlito"/>
              <a:cs typeface="Carlito"/>
            </a:endParaRPr>
          </a:p>
          <a:p>
            <a:pPr marL="756285" lvl="1" indent="-287020">
              <a:lnSpc>
                <a:spcPct val="100000"/>
              </a:lnSpc>
              <a:spcBef>
                <a:spcPts val="580"/>
              </a:spcBef>
              <a:buFont typeface="Arial"/>
              <a:buChar char="–"/>
              <a:tabLst>
                <a:tab pos="756920" algn="l"/>
              </a:tabLst>
            </a:pPr>
            <a:r>
              <a:rPr sz="2400" spc="-15" dirty="0">
                <a:latin typeface="Carlito"/>
                <a:cs typeface="Carlito"/>
              </a:rPr>
              <a:t>Perform </a:t>
            </a:r>
            <a:r>
              <a:rPr sz="2400" spc="-25" dirty="0">
                <a:latin typeface="Carlito"/>
                <a:cs typeface="Carlito"/>
              </a:rPr>
              <a:t>system</a:t>
            </a:r>
            <a:r>
              <a:rPr sz="2400" spc="-35" dirty="0">
                <a:latin typeface="Carlito"/>
                <a:cs typeface="Carlito"/>
              </a:rPr>
              <a:t> </a:t>
            </a:r>
            <a:r>
              <a:rPr sz="2400" spc="-5" dirty="0">
                <a:latin typeface="Carlito"/>
                <a:cs typeface="Carlito"/>
              </a:rPr>
              <a:t>maintenance</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10" dirty="0">
                <a:latin typeface="Carlito"/>
                <a:cs typeface="Carlito"/>
              </a:rPr>
              <a:t>Uninstall </a:t>
            </a:r>
            <a:r>
              <a:rPr sz="2400" spc="-15" dirty="0">
                <a:latin typeface="Carlito"/>
                <a:cs typeface="Carlito"/>
              </a:rPr>
              <a:t>programs</a:t>
            </a:r>
            <a:r>
              <a:rPr sz="2400" spc="-45" dirty="0">
                <a:latin typeface="Carlito"/>
                <a:cs typeface="Carlito"/>
              </a:rPr>
              <a:t> </a:t>
            </a:r>
            <a:r>
              <a:rPr sz="2400" spc="-10" dirty="0">
                <a:latin typeface="Carlito"/>
                <a:cs typeface="Carlito"/>
              </a:rPr>
              <a:t>properly</a:t>
            </a:r>
            <a:endParaRPr sz="2400">
              <a:latin typeface="Carlito"/>
              <a:cs typeface="Carlito"/>
            </a:endParaRPr>
          </a:p>
          <a:p>
            <a:pPr marL="1155700" marR="1423035" lvl="2" indent="-228600">
              <a:lnSpc>
                <a:spcPct val="100000"/>
              </a:lnSpc>
              <a:spcBef>
                <a:spcPts val="575"/>
              </a:spcBef>
              <a:buFont typeface="Arial"/>
              <a:buChar char="•"/>
              <a:tabLst>
                <a:tab pos="1156335" algn="l"/>
              </a:tabLst>
            </a:pPr>
            <a:r>
              <a:rPr sz="2400" spc="-15" dirty="0">
                <a:latin typeface="Carlito"/>
                <a:cs typeface="Carlito"/>
              </a:rPr>
              <a:t>Remove </a:t>
            </a:r>
            <a:r>
              <a:rPr sz="2400" dirty="0">
                <a:latin typeface="Carlito"/>
                <a:cs typeface="Carlito"/>
              </a:rPr>
              <a:t>unnecessary</a:t>
            </a:r>
            <a:r>
              <a:rPr sz="2400" spc="-85" dirty="0">
                <a:latin typeface="Carlito"/>
                <a:cs typeface="Carlito"/>
              </a:rPr>
              <a:t> </a:t>
            </a:r>
            <a:r>
              <a:rPr sz="2400" spc="-15" dirty="0">
                <a:latin typeface="Carlito"/>
                <a:cs typeface="Carlito"/>
              </a:rPr>
              <a:t>programs  from </a:t>
            </a:r>
            <a:r>
              <a:rPr sz="2400" dirty="0">
                <a:latin typeface="Carlito"/>
                <a:cs typeface="Carlito"/>
              </a:rPr>
              <a:t>the </a:t>
            </a:r>
            <a:r>
              <a:rPr sz="2400" spc="-5" dirty="0">
                <a:latin typeface="Carlito"/>
                <a:cs typeface="Carlito"/>
              </a:rPr>
              <a:t>Startup</a:t>
            </a:r>
            <a:r>
              <a:rPr sz="2400" spc="-60" dirty="0">
                <a:latin typeface="Carlito"/>
                <a:cs typeface="Carlito"/>
              </a:rPr>
              <a:t> </a:t>
            </a:r>
            <a:r>
              <a:rPr sz="2400" spc="-10" dirty="0">
                <a:latin typeface="Carlito"/>
                <a:cs typeface="Carlito"/>
              </a:rPr>
              <a:t>list</a:t>
            </a:r>
            <a:endParaRPr sz="2400">
              <a:latin typeface="Carlito"/>
              <a:cs typeface="Carlito"/>
            </a:endParaRPr>
          </a:p>
          <a:p>
            <a:pPr marL="1155700" marR="1501140" lvl="2" indent="-228600">
              <a:lnSpc>
                <a:spcPct val="100000"/>
              </a:lnSpc>
              <a:spcBef>
                <a:spcPts val="580"/>
              </a:spcBef>
              <a:buFont typeface="Arial"/>
              <a:buChar char="•"/>
              <a:tabLst>
                <a:tab pos="1156335" algn="l"/>
              </a:tabLst>
            </a:pPr>
            <a:r>
              <a:rPr sz="2400" spc="-5" dirty="0">
                <a:latin typeface="Carlito"/>
                <a:cs typeface="Carlito"/>
              </a:rPr>
              <a:t>Consider placing </a:t>
            </a:r>
            <a:r>
              <a:rPr sz="2400" spc="-15" dirty="0">
                <a:latin typeface="Carlito"/>
                <a:cs typeface="Carlito"/>
              </a:rPr>
              <a:t>large </a:t>
            </a:r>
            <a:r>
              <a:rPr sz="2400" spc="-5" dirty="0">
                <a:latin typeface="Carlito"/>
                <a:cs typeface="Carlito"/>
              </a:rPr>
              <a:t>files not  needed on </a:t>
            </a:r>
            <a:r>
              <a:rPr sz="2400" dirty="0">
                <a:latin typeface="Carlito"/>
                <a:cs typeface="Carlito"/>
              </a:rPr>
              <a:t>a </a:t>
            </a:r>
            <a:r>
              <a:rPr sz="2400" spc="-5" dirty="0">
                <a:latin typeface="Carlito"/>
                <a:cs typeface="Carlito"/>
              </a:rPr>
              <a:t>regular basis on  </a:t>
            </a:r>
            <a:r>
              <a:rPr sz="2400" spc="-10" dirty="0">
                <a:latin typeface="Carlito"/>
                <a:cs typeface="Carlito"/>
              </a:rPr>
              <a:t>external</a:t>
            </a:r>
            <a:r>
              <a:rPr sz="2400" spc="-40" dirty="0">
                <a:latin typeface="Carlito"/>
                <a:cs typeface="Carlito"/>
              </a:rPr>
              <a:t> </a:t>
            </a:r>
            <a:r>
              <a:rPr sz="2400" spc="-20" dirty="0">
                <a:latin typeface="Carlito"/>
                <a:cs typeface="Carlito"/>
              </a:rPr>
              <a:t>storage</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Delete temporary</a:t>
            </a:r>
            <a:r>
              <a:rPr sz="2400" spc="-35" dirty="0">
                <a:latin typeface="Carlito"/>
                <a:cs typeface="Carlito"/>
              </a:rPr>
              <a:t> </a:t>
            </a:r>
            <a:r>
              <a:rPr sz="2400" spc="-5" dirty="0">
                <a:latin typeface="Carlito"/>
                <a:cs typeface="Carlito"/>
              </a:rPr>
              <a:t>files</a:t>
            </a:r>
            <a:endParaRPr sz="2400">
              <a:latin typeface="Carlito"/>
              <a:cs typeface="Carlito"/>
            </a:endParaRPr>
          </a:p>
        </p:txBody>
      </p:sp>
      <p:grpSp>
        <p:nvGrpSpPr>
          <p:cNvPr id="4" name="object 4"/>
          <p:cNvGrpSpPr/>
          <p:nvPr/>
        </p:nvGrpSpPr>
        <p:grpSpPr>
          <a:xfrm>
            <a:off x="5580126" y="1484845"/>
            <a:ext cx="3470910" cy="4972685"/>
            <a:chOff x="5580126" y="1484845"/>
            <a:chExt cx="3470910" cy="4972685"/>
          </a:xfrm>
        </p:grpSpPr>
        <p:sp>
          <p:nvSpPr>
            <p:cNvPr id="5" name="object 5"/>
            <p:cNvSpPr/>
            <p:nvPr/>
          </p:nvSpPr>
          <p:spPr>
            <a:xfrm>
              <a:off x="5580126" y="2492870"/>
              <a:ext cx="3470655" cy="3964304"/>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740396" y="1484845"/>
              <a:ext cx="1215771" cy="1054138"/>
            </a:xfrm>
            <a:prstGeom prst="rect">
              <a:avLst/>
            </a:prstGeom>
            <a:blipFill>
              <a:blip r:embed="rId3" cstate="print"/>
              <a:stretch>
                <a:fillRect/>
              </a:stretch>
            </a:blipFill>
          </p:spPr>
          <p:txBody>
            <a:bodyPr wrap="square" lIns="0" tIns="0" rIns="0" bIns="0" rtlCol="0"/>
            <a:lstStyle/>
            <a:p>
              <a:endParaRPr/>
            </a:p>
          </p:txBody>
        </p:sp>
      </p:grpSp>
      <p:sp>
        <p:nvSpPr>
          <p:cNvPr id="8" name="object 8"/>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51</a:t>
            </a:fld>
            <a:endParaRPr spc="-165" dirty="0"/>
          </a:p>
        </p:txBody>
      </p:sp>
    </p:spTree>
    <p:extLst>
      <p:ext uri="{BB962C8B-B14F-4D97-AF65-F5344CB8AC3E}">
        <p14:creationId xmlns:p14="http://schemas.microsoft.com/office/powerpoint/2010/main" val="3223864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89660" marR="5080">
              <a:lnSpc>
                <a:spcPct val="100000"/>
              </a:lnSpc>
              <a:spcBef>
                <a:spcPts val="100"/>
              </a:spcBef>
            </a:pPr>
            <a:r>
              <a:rPr spc="-345" dirty="0"/>
              <a:t>Making </a:t>
            </a:r>
            <a:r>
              <a:rPr spc="-395" dirty="0"/>
              <a:t>Computers </a:t>
            </a:r>
            <a:r>
              <a:rPr spc="-470" dirty="0"/>
              <a:t>Faster </a:t>
            </a:r>
            <a:r>
              <a:rPr spc="-360" dirty="0"/>
              <a:t>and </a:t>
            </a:r>
            <a:r>
              <a:rPr spc="-430" dirty="0"/>
              <a:t>Better  </a:t>
            </a:r>
            <a:r>
              <a:rPr spc="-415" dirty="0"/>
              <a:t>Now </a:t>
            </a:r>
            <a:r>
              <a:rPr spc="-360" dirty="0"/>
              <a:t>and </a:t>
            </a:r>
            <a:r>
              <a:rPr spc="-310" dirty="0"/>
              <a:t>in </a:t>
            </a:r>
            <a:r>
              <a:rPr spc="-375" dirty="0"/>
              <a:t>the</a:t>
            </a:r>
            <a:r>
              <a:rPr spc="275" dirty="0"/>
              <a:t> </a:t>
            </a:r>
            <a:r>
              <a:rPr spc="-390" dirty="0"/>
              <a:t>Future</a:t>
            </a:r>
          </a:p>
        </p:txBody>
      </p:sp>
      <p:sp>
        <p:nvSpPr>
          <p:cNvPr id="3" name="object 3"/>
          <p:cNvSpPr txBox="1"/>
          <p:nvPr/>
        </p:nvSpPr>
        <p:spPr>
          <a:xfrm>
            <a:off x="535940" y="1461262"/>
            <a:ext cx="6615430" cy="339153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5" dirty="0">
                <a:latin typeface="Carlito"/>
                <a:cs typeface="Carlito"/>
              </a:rPr>
              <a:t>Strategies </a:t>
            </a:r>
            <a:r>
              <a:rPr sz="2400" spc="-20" dirty="0">
                <a:latin typeface="Carlito"/>
                <a:cs typeface="Carlito"/>
              </a:rPr>
              <a:t>for </a:t>
            </a:r>
            <a:r>
              <a:rPr sz="2400" dirty="0">
                <a:latin typeface="Carlito"/>
                <a:cs typeface="Carlito"/>
              </a:rPr>
              <a:t>Making </a:t>
            </a:r>
            <a:r>
              <a:rPr sz="2400" spc="-20" dirty="0">
                <a:latin typeface="Carlito"/>
                <a:cs typeface="Carlito"/>
              </a:rPr>
              <a:t>Faster </a:t>
            </a:r>
            <a:r>
              <a:rPr sz="2400" dirty="0">
                <a:latin typeface="Carlito"/>
                <a:cs typeface="Carlito"/>
              </a:rPr>
              <a:t>and </a:t>
            </a:r>
            <a:r>
              <a:rPr sz="2400" spc="-15" dirty="0">
                <a:latin typeface="Carlito"/>
                <a:cs typeface="Carlito"/>
              </a:rPr>
              <a:t>Better</a:t>
            </a:r>
            <a:r>
              <a:rPr sz="2400" spc="-60" dirty="0">
                <a:latin typeface="Carlito"/>
                <a:cs typeface="Carlito"/>
              </a:rPr>
              <a:t> </a:t>
            </a:r>
            <a:r>
              <a:rPr sz="2400" spc="-10" dirty="0">
                <a:latin typeface="Carlito"/>
                <a:cs typeface="Carlito"/>
              </a:rPr>
              <a:t>Computers</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Improved </a:t>
            </a:r>
            <a:r>
              <a:rPr sz="2400" spc="-10" dirty="0">
                <a:latin typeface="Carlito"/>
                <a:cs typeface="Carlito"/>
              </a:rPr>
              <a:t>Architecture</a:t>
            </a:r>
            <a:endParaRPr sz="2400">
              <a:latin typeface="Carlito"/>
              <a:cs typeface="Carlito"/>
            </a:endParaRPr>
          </a:p>
          <a:p>
            <a:pPr marL="1155700" marR="1560830" lvl="2" indent="-228600">
              <a:lnSpc>
                <a:spcPct val="100000"/>
              </a:lnSpc>
              <a:spcBef>
                <a:spcPts val="580"/>
              </a:spcBef>
              <a:buFont typeface="Arial"/>
              <a:buChar char="•"/>
              <a:tabLst>
                <a:tab pos="1156335" algn="l"/>
              </a:tabLst>
            </a:pPr>
            <a:r>
              <a:rPr sz="2400" spc="-5" dirty="0">
                <a:latin typeface="Carlito"/>
                <a:cs typeface="Carlito"/>
              </a:rPr>
              <a:t>Smaller </a:t>
            </a:r>
            <a:r>
              <a:rPr sz="2400" spc="-10" dirty="0">
                <a:latin typeface="Carlito"/>
                <a:cs typeface="Carlito"/>
              </a:rPr>
              <a:t>components, </a:t>
            </a:r>
            <a:r>
              <a:rPr sz="2400" spc="-20" dirty="0">
                <a:latin typeface="Carlito"/>
                <a:cs typeface="Carlito"/>
              </a:rPr>
              <a:t>faster </a:t>
            </a:r>
            <a:r>
              <a:rPr sz="2400" spc="-5" dirty="0">
                <a:latin typeface="Carlito"/>
                <a:cs typeface="Carlito"/>
              </a:rPr>
              <a:t>bus  speeds, </a:t>
            </a:r>
            <a:r>
              <a:rPr sz="2400" dirty="0">
                <a:latin typeface="Carlito"/>
                <a:cs typeface="Carlito"/>
              </a:rPr>
              <a:t>multiple </a:t>
            </a:r>
            <a:r>
              <a:rPr sz="2400" spc="-5" dirty="0">
                <a:latin typeface="Carlito"/>
                <a:cs typeface="Carlito"/>
              </a:rPr>
              <a:t>CPU </a:t>
            </a:r>
            <a:r>
              <a:rPr sz="2400" spc="-15" dirty="0">
                <a:latin typeface="Carlito"/>
                <a:cs typeface="Carlito"/>
              </a:rPr>
              <a:t>cores,  </a:t>
            </a:r>
            <a:r>
              <a:rPr sz="2400" spc="-5" dirty="0">
                <a:latin typeface="Carlito"/>
                <a:cs typeface="Carlito"/>
              </a:rPr>
              <a:t>support </a:t>
            </a:r>
            <a:r>
              <a:rPr sz="2400" spc="-20" dirty="0">
                <a:latin typeface="Carlito"/>
                <a:cs typeface="Carlito"/>
              </a:rPr>
              <a:t>for</a:t>
            </a:r>
            <a:r>
              <a:rPr sz="2400" spc="-30" dirty="0">
                <a:latin typeface="Carlito"/>
                <a:cs typeface="Carlito"/>
              </a:rPr>
              <a:t> </a:t>
            </a:r>
            <a:r>
              <a:rPr sz="2400" spc="-5" dirty="0">
                <a:latin typeface="Carlito"/>
                <a:cs typeface="Carlito"/>
              </a:rPr>
              <a:t>virtualization</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Improved </a:t>
            </a:r>
            <a:r>
              <a:rPr sz="2400" spc="-5" dirty="0">
                <a:latin typeface="Carlito"/>
                <a:cs typeface="Carlito"/>
              </a:rPr>
              <a:t>Materials</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Flexible </a:t>
            </a:r>
            <a:r>
              <a:rPr sz="2400" spc="-5" dirty="0">
                <a:latin typeface="Carlito"/>
                <a:cs typeface="Carlito"/>
              </a:rPr>
              <a:t>electronic</a:t>
            </a:r>
            <a:r>
              <a:rPr sz="2400" spc="-60" dirty="0">
                <a:latin typeface="Carlito"/>
                <a:cs typeface="Carlito"/>
              </a:rPr>
              <a:t> </a:t>
            </a:r>
            <a:r>
              <a:rPr sz="2400" spc="-10" dirty="0">
                <a:latin typeface="Carlito"/>
                <a:cs typeface="Carlito"/>
              </a:rPr>
              <a:t>components</a:t>
            </a:r>
            <a:endParaRPr sz="2400">
              <a:latin typeface="Carlito"/>
              <a:cs typeface="Carlito"/>
            </a:endParaRPr>
          </a:p>
          <a:p>
            <a:pPr marL="1384300">
              <a:lnSpc>
                <a:spcPct val="100000"/>
              </a:lnSpc>
              <a:spcBef>
                <a:spcPts val="575"/>
              </a:spcBef>
            </a:pPr>
            <a:r>
              <a:rPr sz="2400" dirty="0">
                <a:latin typeface="Arial"/>
                <a:cs typeface="Arial"/>
              </a:rPr>
              <a:t>– </a:t>
            </a:r>
            <a:r>
              <a:rPr sz="2400" spc="-35" dirty="0">
                <a:latin typeface="Carlito"/>
                <a:cs typeface="Carlito"/>
              </a:rPr>
              <a:t>Copper, </a:t>
            </a:r>
            <a:r>
              <a:rPr sz="2400" spc="-5" dirty="0">
                <a:latin typeface="Carlito"/>
                <a:cs typeface="Carlito"/>
              </a:rPr>
              <a:t>high-k, </a:t>
            </a:r>
            <a:r>
              <a:rPr sz="2400" spc="-10" dirty="0">
                <a:latin typeface="Carlito"/>
                <a:cs typeface="Carlito"/>
              </a:rPr>
              <a:t>graphene</a:t>
            </a:r>
            <a:r>
              <a:rPr sz="2400" spc="-200" dirty="0">
                <a:latin typeface="Carlito"/>
                <a:cs typeface="Carlito"/>
              </a:rPr>
              <a:t> </a:t>
            </a:r>
            <a:r>
              <a:rPr sz="2400" spc="-5" dirty="0">
                <a:latin typeface="Carlito"/>
                <a:cs typeface="Carlito"/>
              </a:rPr>
              <a:t>chip</a:t>
            </a:r>
            <a:endParaRPr sz="2400">
              <a:latin typeface="Carlito"/>
              <a:cs typeface="Carlito"/>
            </a:endParaRPr>
          </a:p>
        </p:txBody>
      </p:sp>
      <p:sp>
        <p:nvSpPr>
          <p:cNvPr id="4" name="object 4"/>
          <p:cNvSpPr/>
          <p:nvPr/>
        </p:nvSpPr>
        <p:spPr>
          <a:xfrm>
            <a:off x="5940171" y="3285020"/>
            <a:ext cx="2901950" cy="3141329"/>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52</a:t>
            </a:fld>
            <a:endParaRPr spc="-165" dirty="0"/>
          </a:p>
        </p:txBody>
      </p:sp>
    </p:spTree>
    <p:extLst>
      <p:ext uri="{BB962C8B-B14F-4D97-AF65-F5344CB8AC3E}">
        <p14:creationId xmlns:p14="http://schemas.microsoft.com/office/powerpoint/2010/main" val="3484429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89660" marR="5080">
              <a:lnSpc>
                <a:spcPct val="100000"/>
              </a:lnSpc>
              <a:spcBef>
                <a:spcPts val="100"/>
              </a:spcBef>
            </a:pPr>
            <a:r>
              <a:rPr spc="-345" dirty="0"/>
              <a:t>Making </a:t>
            </a:r>
            <a:r>
              <a:rPr spc="-395" dirty="0"/>
              <a:t>Computers </a:t>
            </a:r>
            <a:r>
              <a:rPr spc="-470" dirty="0"/>
              <a:t>Faster </a:t>
            </a:r>
            <a:r>
              <a:rPr spc="-360" dirty="0"/>
              <a:t>and </a:t>
            </a:r>
            <a:r>
              <a:rPr spc="-430" dirty="0"/>
              <a:t>Better  </a:t>
            </a:r>
            <a:r>
              <a:rPr spc="-415" dirty="0"/>
              <a:t>Now </a:t>
            </a:r>
            <a:r>
              <a:rPr spc="-360" dirty="0"/>
              <a:t>and </a:t>
            </a:r>
            <a:r>
              <a:rPr spc="-310" dirty="0"/>
              <a:t>in </a:t>
            </a:r>
            <a:r>
              <a:rPr spc="-375" dirty="0"/>
              <a:t>the</a:t>
            </a:r>
            <a:r>
              <a:rPr spc="275" dirty="0"/>
              <a:t> </a:t>
            </a:r>
            <a:r>
              <a:rPr spc="-390" dirty="0"/>
              <a:t>Future</a:t>
            </a:r>
          </a:p>
        </p:txBody>
      </p:sp>
      <p:sp>
        <p:nvSpPr>
          <p:cNvPr id="4" name="object 4"/>
          <p:cNvSpPr txBox="1">
            <a:spLocks noGrp="1"/>
          </p:cNvSpPr>
          <p:nvPr>
            <p:ph type="ftr" sz="quarter" idx="4294967295"/>
          </p:nvPr>
        </p:nvSpPr>
        <p:spPr>
          <a:xfrm>
            <a:off x="510641" y="6385675"/>
            <a:ext cx="4489450" cy="215900"/>
          </a:xfrm>
          <a:prstGeom prst="rect">
            <a:avLst/>
          </a:prstGeom>
        </p:spPr>
        <p:txBody>
          <a:bodyPr vert="horz" wrap="square" lIns="0" tIns="13335" rIns="0" bIns="0" rtlCol="0">
            <a:spAutoFit/>
          </a:bodyPr>
          <a:lstStyle/>
          <a:p>
            <a:pPr marL="12700">
              <a:lnSpc>
                <a:spcPct val="100000"/>
              </a:lnSpc>
              <a:spcBef>
                <a:spcPts val="105"/>
              </a:spcBef>
            </a:pPr>
            <a:r>
              <a:rPr spc="-125" dirty="0"/>
              <a:t>Understanding </a:t>
            </a:r>
            <a:r>
              <a:rPr spc="-135" dirty="0"/>
              <a:t>Computers: </a:t>
            </a:r>
            <a:r>
              <a:rPr spc="-125" dirty="0"/>
              <a:t>Today </a:t>
            </a:r>
            <a:r>
              <a:rPr spc="-135" dirty="0"/>
              <a:t>and </a:t>
            </a:r>
            <a:r>
              <a:rPr spc="-130" dirty="0"/>
              <a:t>Tomorrow, </a:t>
            </a:r>
            <a:r>
              <a:rPr spc="-140" dirty="0"/>
              <a:t>15th</a:t>
            </a:r>
            <a:r>
              <a:rPr spc="105" dirty="0"/>
              <a:t> </a:t>
            </a:r>
            <a:r>
              <a:rPr spc="-110" dirty="0"/>
              <a:t>Edition</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53</a:t>
            </a:fld>
            <a:endParaRPr spc="-165" dirty="0"/>
          </a:p>
        </p:txBody>
      </p:sp>
      <p:sp>
        <p:nvSpPr>
          <p:cNvPr id="3" name="object 3"/>
          <p:cNvSpPr txBox="1"/>
          <p:nvPr/>
        </p:nvSpPr>
        <p:spPr>
          <a:xfrm>
            <a:off x="993444" y="1461262"/>
            <a:ext cx="7017384" cy="3795270"/>
          </a:xfrm>
          <a:prstGeom prst="rect">
            <a:avLst/>
          </a:prstGeom>
        </p:spPr>
        <p:txBody>
          <a:bodyPr vert="horz" wrap="square" lIns="0" tIns="85725" rIns="0" bIns="0" rtlCol="0">
            <a:spAutoFit/>
          </a:bodyPr>
          <a:lstStyle/>
          <a:p>
            <a:pPr marL="299085" indent="-287020" algn="just">
              <a:lnSpc>
                <a:spcPct val="100000"/>
              </a:lnSpc>
              <a:spcBef>
                <a:spcPts val="675"/>
              </a:spcBef>
              <a:buFont typeface="Arial"/>
              <a:buChar char="–"/>
              <a:tabLst>
                <a:tab pos="299720" algn="l"/>
              </a:tabLst>
            </a:pPr>
            <a:r>
              <a:rPr sz="2400" dirty="0">
                <a:latin typeface="Carlito"/>
                <a:cs typeface="Carlito"/>
              </a:rPr>
              <a:t>Pipelining</a:t>
            </a:r>
          </a:p>
          <a:p>
            <a:pPr marL="697865" marR="5080" lvl="1" indent="-228600" algn="just">
              <a:lnSpc>
                <a:spcPct val="100000"/>
              </a:lnSpc>
              <a:spcBef>
                <a:spcPts val="575"/>
              </a:spcBef>
              <a:buFont typeface="Arial"/>
              <a:buChar char="•"/>
              <a:tabLst>
                <a:tab pos="698500" algn="l"/>
              </a:tabLst>
            </a:pPr>
            <a:r>
              <a:rPr sz="2000" spc="-10" dirty="0">
                <a:latin typeface="Carlito"/>
                <a:cs typeface="Carlito"/>
              </a:rPr>
              <a:t>Allows </a:t>
            </a:r>
            <a:r>
              <a:rPr sz="2000" dirty="0">
                <a:latin typeface="Carlito"/>
                <a:cs typeface="Carlito"/>
              </a:rPr>
              <a:t>multiple </a:t>
            </a:r>
            <a:r>
              <a:rPr sz="2000" spc="-5" dirty="0">
                <a:latin typeface="Carlito"/>
                <a:cs typeface="Carlito"/>
              </a:rPr>
              <a:t>instructions </a:t>
            </a:r>
            <a:r>
              <a:rPr sz="2000" spc="-15" dirty="0">
                <a:latin typeface="Carlito"/>
                <a:cs typeface="Carlito"/>
              </a:rPr>
              <a:t>to </a:t>
            </a:r>
            <a:r>
              <a:rPr sz="2000" spc="-5" dirty="0">
                <a:latin typeface="Carlito"/>
                <a:cs typeface="Carlito"/>
              </a:rPr>
              <a:t>be </a:t>
            </a:r>
            <a:r>
              <a:rPr sz="2000" spc="-10" dirty="0">
                <a:latin typeface="Carlito"/>
                <a:cs typeface="Carlito"/>
              </a:rPr>
              <a:t>processed </a:t>
            </a:r>
            <a:r>
              <a:rPr sz="2000" spc="-15" dirty="0">
                <a:latin typeface="Carlito"/>
                <a:cs typeface="Carlito"/>
              </a:rPr>
              <a:t>at </a:t>
            </a:r>
            <a:r>
              <a:rPr sz="2000" spc="-10" dirty="0">
                <a:latin typeface="Carlito"/>
                <a:cs typeface="Carlito"/>
              </a:rPr>
              <a:t>one  </a:t>
            </a:r>
            <a:r>
              <a:rPr sz="2000" dirty="0">
                <a:latin typeface="Carlito"/>
                <a:cs typeface="Carlito"/>
              </a:rPr>
              <a:t>time</a:t>
            </a:r>
            <a:endParaRPr lang="en-US" sz="2000" dirty="0">
              <a:latin typeface="Carlito"/>
              <a:cs typeface="Carlito"/>
            </a:endParaRPr>
          </a:p>
          <a:p>
            <a:pPr marL="697865" marR="5080" lvl="1" indent="-228600" algn="just">
              <a:lnSpc>
                <a:spcPct val="100000"/>
              </a:lnSpc>
              <a:spcBef>
                <a:spcPts val="575"/>
              </a:spcBef>
              <a:buFont typeface="Arial"/>
              <a:buChar char="•"/>
              <a:tabLst>
                <a:tab pos="698500" algn="l"/>
              </a:tabLst>
            </a:pPr>
            <a:r>
              <a:rPr lang="en-US" sz="2000" b="1" dirty="0"/>
              <a:t>Pipelining is a process of arrangement of hardware elements of the CPU</a:t>
            </a:r>
            <a:r>
              <a:rPr lang="en-US" sz="2000" dirty="0"/>
              <a:t> such that its overall performance is increased</a:t>
            </a:r>
          </a:p>
          <a:p>
            <a:pPr marL="697865" marR="5080" lvl="1" indent="-228600" algn="just">
              <a:lnSpc>
                <a:spcPct val="100000"/>
              </a:lnSpc>
              <a:spcBef>
                <a:spcPts val="575"/>
              </a:spcBef>
              <a:buFont typeface="Arial"/>
              <a:buChar char="•"/>
              <a:tabLst>
                <a:tab pos="698500" algn="l"/>
              </a:tabLst>
            </a:pPr>
            <a:r>
              <a:rPr lang="en-US" sz="2000" dirty="0"/>
              <a:t>Pipelining is a technique where multiple instructions are overlapped during execution</a:t>
            </a:r>
            <a:endParaRPr sz="2000" dirty="0">
              <a:latin typeface="Carlito"/>
              <a:cs typeface="Carlito"/>
            </a:endParaRPr>
          </a:p>
          <a:p>
            <a:pPr marL="299085" indent="-287020" algn="just">
              <a:lnSpc>
                <a:spcPct val="100000"/>
              </a:lnSpc>
              <a:spcBef>
                <a:spcPts val="580"/>
              </a:spcBef>
              <a:buFont typeface="Arial"/>
              <a:buChar char="–"/>
              <a:tabLst>
                <a:tab pos="299720" algn="l"/>
              </a:tabLst>
            </a:pPr>
            <a:r>
              <a:rPr sz="2400" spc="-5" dirty="0">
                <a:latin typeface="Carlito"/>
                <a:cs typeface="Carlito"/>
              </a:rPr>
              <a:t>Multiprocessing </a:t>
            </a:r>
            <a:r>
              <a:rPr sz="2400" dirty="0">
                <a:latin typeface="Carlito"/>
                <a:cs typeface="Carlito"/>
              </a:rPr>
              <a:t>and </a:t>
            </a:r>
            <a:r>
              <a:rPr sz="2400" spc="-15" dirty="0">
                <a:latin typeface="Carlito"/>
                <a:cs typeface="Carlito"/>
              </a:rPr>
              <a:t>Parallel</a:t>
            </a:r>
            <a:r>
              <a:rPr sz="2400" spc="-70" dirty="0">
                <a:latin typeface="Carlito"/>
                <a:cs typeface="Carlito"/>
              </a:rPr>
              <a:t> </a:t>
            </a:r>
            <a:r>
              <a:rPr sz="2400" spc="-10" dirty="0">
                <a:latin typeface="Carlito"/>
                <a:cs typeface="Carlito"/>
              </a:rPr>
              <a:t>Processing</a:t>
            </a:r>
            <a:endParaRPr sz="2400" dirty="0">
              <a:latin typeface="Carlito"/>
              <a:cs typeface="Carlito"/>
            </a:endParaRPr>
          </a:p>
          <a:p>
            <a:pPr marL="697865" lvl="1" indent="-229235" algn="just">
              <a:lnSpc>
                <a:spcPct val="100000"/>
              </a:lnSpc>
              <a:spcBef>
                <a:spcPts val="575"/>
              </a:spcBef>
              <a:buFont typeface="Arial"/>
              <a:buChar char="•"/>
              <a:tabLst>
                <a:tab pos="698500" algn="l"/>
              </a:tabLst>
            </a:pPr>
            <a:r>
              <a:rPr sz="2400" spc="-5" dirty="0">
                <a:latin typeface="Carlito"/>
                <a:cs typeface="Carlito"/>
              </a:rPr>
              <a:t>Use </a:t>
            </a:r>
            <a:r>
              <a:rPr sz="2400" dirty="0">
                <a:latin typeface="Carlito"/>
                <a:cs typeface="Carlito"/>
              </a:rPr>
              <a:t>multiple </a:t>
            </a:r>
            <a:r>
              <a:rPr sz="2400" spc="-15" dirty="0">
                <a:latin typeface="Carlito"/>
                <a:cs typeface="Carlito"/>
              </a:rPr>
              <a:t>processors to </a:t>
            </a:r>
            <a:r>
              <a:rPr sz="2400" spc="-5" dirty="0">
                <a:latin typeface="Carlito"/>
                <a:cs typeface="Carlito"/>
              </a:rPr>
              <a:t>speed up</a:t>
            </a:r>
            <a:r>
              <a:rPr sz="2400" spc="-25" dirty="0">
                <a:latin typeface="Carlito"/>
                <a:cs typeface="Carlito"/>
              </a:rPr>
              <a:t> </a:t>
            </a:r>
            <a:r>
              <a:rPr sz="2400" spc="-10" dirty="0">
                <a:latin typeface="Carlito"/>
                <a:cs typeface="Carlito"/>
              </a:rPr>
              <a:t>processing</a:t>
            </a:r>
            <a:endParaRPr sz="2400" dirty="0">
              <a:latin typeface="Carlito"/>
              <a:cs typeface="Carlito"/>
            </a:endParaRPr>
          </a:p>
        </p:txBody>
      </p:sp>
    </p:spTree>
    <p:extLst>
      <p:ext uri="{BB962C8B-B14F-4D97-AF65-F5344CB8AC3E}">
        <p14:creationId xmlns:p14="http://schemas.microsoft.com/office/powerpoint/2010/main" val="2901244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89660" marR="5080">
              <a:lnSpc>
                <a:spcPct val="100000"/>
              </a:lnSpc>
              <a:spcBef>
                <a:spcPts val="100"/>
              </a:spcBef>
            </a:pPr>
            <a:r>
              <a:rPr spc="-345" dirty="0"/>
              <a:t>Making </a:t>
            </a:r>
            <a:r>
              <a:rPr spc="-395" dirty="0"/>
              <a:t>Computers </a:t>
            </a:r>
            <a:r>
              <a:rPr spc="-470" dirty="0"/>
              <a:t>Faster </a:t>
            </a:r>
            <a:r>
              <a:rPr spc="-360" dirty="0"/>
              <a:t>and </a:t>
            </a:r>
            <a:r>
              <a:rPr spc="-430" dirty="0"/>
              <a:t>Better  </a:t>
            </a:r>
            <a:r>
              <a:rPr spc="-415" dirty="0"/>
              <a:t>Now </a:t>
            </a:r>
            <a:r>
              <a:rPr spc="-360" dirty="0"/>
              <a:t>and </a:t>
            </a:r>
            <a:r>
              <a:rPr spc="-310" dirty="0"/>
              <a:t>in </a:t>
            </a:r>
            <a:r>
              <a:rPr spc="-375" dirty="0"/>
              <a:t>the</a:t>
            </a:r>
            <a:r>
              <a:rPr spc="275" dirty="0"/>
              <a:t> </a:t>
            </a:r>
            <a:r>
              <a:rPr spc="-390" dirty="0"/>
              <a:t>Future</a:t>
            </a:r>
          </a:p>
        </p:txBody>
      </p:sp>
      <p:sp>
        <p:nvSpPr>
          <p:cNvPr id="3" name="object 3"/>
          <p:cNvSpPr/>
          <p:nvPr/>
        </p:nvSpPr>
        <p:spPr>
          <a:xfrm>
            <a:off x="613882" y="1844763"/>
            <a:ext cx="6658696" cy="396049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452359" y="4149077"/>
            <a:ext cx="1407541" cy="2103120"/>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ftr" sz="quarter" idx="4294967295"/>
          </p:nvPr>
        </p:nvSpPr>
        <p:spPr>
          <a:xfrm>
            <a:off x="510641" y="6385675"/>
            <a:ext cx="4489450" cy="215900"/>
          </a:xfrm>
          <a:prstGeom prst="rect">
            <a:avLst/>
          </a:prstGeom>
        </p:spPr>
        <p:txBody>
          <a:bodyPr vert="horz" wrap="square" lIns="0" tIns="13335" rIns="0" bIns="0" rtlCol="0">
            <a:spAutoFit/>
          </a:bodyPr>
          <a:lstStyle/>
          <a:p>
            <a:pPr marL="12700">
              <a:lnSpc>
                <a:spcPct val="100000"/>
              </a:lnSpc>
              <a:spcBef>
                <a:spcPts val="105"/>
              </a:spcBef>
            </a:pPr>
            <a:r>
              <a:rPr spc="-125" dirty="0"/>
              <a:t>Understanding </a:t>
            </a:r>
            <a:r>
              <a:rPr spc="-135" dirty="0"/>
              <a:t>Computers: </a:t>
            </a:r>
            <a:r>
              <a:rPr spc="-125" dirty="0"/>
              <a:t>Today </a:t>
            </a:r>
            <a:r>
              <a:rPr spc="-135" dirty="0"/>
              <a:t>and </a:t>
            </a:r>
            <a:r>
              <a:rPr spc="-130" dirty="0"/>
              <a:t>Tomorrow, </a:t>
            </a:r>
            <a:r>
              <a:rPr spc="-140" dirty="0"/>
              <a:t>15th</a:t>
            </a:r>
            <a:r>
              <a:rPr spc="105" dirty="0"/>
              <a:t> </a:t>
            </a:r>
            <a:r>
              <a:rPr spc="-110" dirty="0"/>
              <a:t>Edition</a:t>
            </a: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54</a:t>
            </a:fld>
            <a:endParaRPr spc="-165" dirty="0"/>
          </a:p>
        </p:txBody>
      </p:sp>
    </p:spTree>
    <p:extLst>
      <p:ext uri="{BB962C8B-B14F-4D97-AF65-F5344CB8AC3E}">
        <p14:creationId xmlns:p14="http://schemas.microsoft.com/office/powerpoint/2010/main" val="12355519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92500" lnSpcReduction="10000"/>
          </a:bodyPr>
          <a:lstStyle/>
          <a:p>
            <a:r>
              <a:rPr lang="en-US" sz="2600" dirty="0"/>
              <a:t>Definition of IT</a:t>
            </a:r>
          </a:p>
          <a:p>
            <a:r>
              <a:rPr lang="en-US" sz="2600" dirty="0"/>
              <a:t>Computer Technology</a:t>
            </a:r>
          </a:p>
          <a:p>
            <a:r>
              <a:rPr lang="en-US" sz="2600" dirty="0"/>
              <a:t>Communication Technology</a:t>
            </a:r>
          </a:p>
          <a:p>
            <a:r>
              <a:rPr lang="en-US" sz="2600" dirty="0"/>
              <a:t>Role of IT in Society</a:t>
            </a:r>
          </a:p>
          <a:p>
            <a:r>
              <a:rPr lang="en-GB" sz="2600" dirty="0"/>
              <a:t>Models: </a:t>
            </a:r>
          </a:p>
          <a:p>
            <a:pPr lvl="1"/>
            <a:r>
              <a:rPr lang="en-GB" sz="2200" dirty="0"/>
              <a:t>Turing Model</a:t>
            </a:r>
          </a:p>
          <a:p>
            <a:pPr lvl="1"/>
            <a:r>
              <a:rPr lang="en-GB" sz="2200" dirty="0"/>
              <a:t> Von Neumann Model</a:t>
            </a:r>
          </a:p>
          <a:p>
            <a:r>
              <a:rPr lang="en-GB" sz="2600" dirty="0"/>
              <a:t>Input Devices </a:t>
            </a:r>
          </a:p>
          <a:p>
            <a:r>
              <a:rPr lang="en-GB" sz="2600" dirty="0"/>
              <a:t>Output Devices </a:t>
            </a:r>
          </a:p>
          <a:p>
            <a:pPr>
              <a:tabLst>
                <a:tab pos="355600" algn="l"/>
                <a:tab pos="356235" algn="l"/>
              </a:tabLst>
            </a:pPr>
            <a:r>
              <a:rPr lang="en-US" sz="2600" dirty="0"/>
              <a:t>Central Processing Unit</a:t>
            </a:r>
          </a:p>
          <a:p>
            <a:pPr lvl="1">
              <a:tabLst>
                <a:tab pos="355600" algn="l"/>
                <a:tab pos="356235" algn="l"/>
              </a:tabLst>
            </a:pPr>
            <a:r>
              <a:rPr lang="en-US" sz="2200" dirty="0"/>
              <a:t>Control Unit</a:t>
            </a:r>
          </a:p>
          <a:p>
            <a:pPr lvl="1">
              <a:tabLst>
                <a:tab pos="355600" algn="l"/>
                <a:tab pos="356235" algn="l"/>
              </a:tabLst>
            </a:pPr>
            <a:r>
              <a:rPr lang="en-US" sz="2200" dirty="0"/>
              <a:t>Arithmetic &amp; Logic Unit </a:t>
            </a:r>
          </a:p>
          <a:p>
            <a:pPr>
              <a:tabLst>
                <a:tab pos="355600" algn="l"/>
                <a:tab pos="356235" algn="l"/>
              </a:tabLst>
            </a:pPr>
            <a:r>
              <a:rPr lang="en-US" sz="2600" dirty="0"/>
              <a:t>System Clock &amp; Machine Cycle </a:t>
            </a:r>
          </a:p>
          <a:p>
            <a:endParaRPr lang="en-GB" dirty="0"/>
          </a:p>
        </p:txBody>
      </p:sp>
    </p:spTree>
    <p:extLst>
      <p:ext uri="{BB962C8B-B14F-4D97-AF65-F5344CB8AC3E}">
        <p14:creationId xmlns:p14="http://schemas.microsoft.com/office/powerpoint/2010/main" val="2013821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3683668</TotalTime>
  <Words>2065</Words>
  <Application>Microsoft Macintosh PowerPoint</Application>
  <PresentationFormat>On-screen Show (4:3)</PresentationFormat>
  <Paragraphs>332</Paragraphs>
  <Slides>55</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Calibri</vt:lpstr>
      <vt:lpstr>Carlito</vt:lpstr>
      <vt:lpstr>Century Gothic</vt:lpstr>
      <vt:lpstr>Corbel</vt:lpstr>
      <vt:lpstr>Times New Roman</vt:lpstr>
      <vt:lpstr>Wingdings</vt:lpstr>
      <vt:lpstr>Wingdings 2</vt:lpstr>
      <vt:lpstr>Wingdings 3</vt:lpstr>
      <vt:lpstr>Module</vt:lpstr>
      <vt:lpstr>CSC 101 – Introduction to Computing</vt:lpstr>
      <vt:lpstr>Course Information</vt:lpstr>
      <vt:lpstr>Books</vt:lpstr>
      <vt:lpstr> Assessment Plan for the Course: </vt:lpstr>
      <vt:lpstr>Major Topics Covered in the Course</vt:lpstr>
      <vt:lpstr>Course Learning Outcomes</vt:lpstr>
      <vt:lpstr>CLO Assessment</vt:lpstr>
      <vt:lpstr> Plagiarism Policy </vt:lpstr>
      <vt:lpstr>Attendance Policy</vt:lpstr>
      <vt:lpstr>Contact</vt:lpstr>
      <vt:lpstr>Lecture 01</vt:lpstr>
      <vt:lpstr>Outline</vt:lpstr>
      <vt:lpstr>PowerPoint Presentation</vt:lpstr>
      <vt:lpstr>What is Information Technology</vt:lpstr>
      <vt:lpstr>What is Information Technology</vt:lpstr>
      <vt:lpstr>Exercise</vt:lpstr>
      <vt:lpstr>Some examples of IT</vt:lpstr>
      <vt:lpstr>Some examples of IT</vt:lpstr>
      <vt:lpstr>Some examples of IT</vt:lpstr>
      <vt:lpstr>What is a Computer and What Does it Do?</vt:lpstr>
      <vt:lpstr>Communication Defined</vt:lpstr>
      <vt:lpstr>Related IT terms</vt:lpstr>
      <vt:lpstr>Related IT terms</vt:lpstr>
      <vt:lpstr>Related IT terms</vt:lpstr>
      <vt:lpstr>Exercise</vt:lpstr>
      <vt:lpstr>Computers In Society</vt:lpstr>
      <vt:lpstr>Computers in the Home</vt:lpstr>
      <vt:lpstr>Computers in Education</vt:lpstr>
      <vt:lpstr>Computers on the Job</vt:lpstr>
      <vt:lpstr>Computers In Health Care</vt:lpstr>
      <vt:lpstr>Computers on the Go</vt:lpstr>
      <vt:lpstr>Allen Turing (1912-1954) </vt:lpstr>
      <vt:lpstr>John von Neumann (1945)</vt:lpstr>
      <vt:lpstr>Input Devices</vt:lpstr>
      <vt:lpstr>Output Devices</vt:lpstr>
      <vt:lpstr>The System Unit and CPU</vt:lpstr>
      <vt:lpstr>Inside the System Unit</vt:lpstr>
      <vt:lpstr>Inside the System Unit</vt:lpstr>
      <vt:lpstr>Inside the System Unit</vt:lpstr>
      <vt:lpstr>Inside the System Unit</vt:lpstr>
      <vt:lpstr>Inside the System Unit  (CPU)</vt:lpstr>
      <vt:lpstr>Inside the System Unit  (CPU)</vt:lpstr>
      <vt:lpstr>Inside the System Unit</vt:lpstr>
      <vt:lpstr>How the CPU Works</vt:lpstr>
      <vt:lpstr>How the CPU Works</vt:lpstr>
      <vt:lpstr>How the CPU Works</vt:lpstr>
      <vt:lpstr>How the CPU Works</vt:lpstr>
      <vt:lpstr>The System Clock and the Machine  Cycle</vt:lpstr>
      <vt:lpstr>PowerPoint Presentation</vt:lpstr>
      <vt:lpstr>The System Clock and the Machine  Cycle</vt:lpstr>
      <vt:lpstr>Making Computers Faster and Better  Now and in the Future</vt:lpstr>
      <vt:lpstr>Making Computers Faster and Better  Now and in the Future</vt:lpstr>
      <vt:lpstr>Making Computers Faster and Better  Now and in the Future</vt:lpstr>
      <vt:lpstr>Making Computers Faster and Better  Now and in the Future</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(FA24-BSE-042) MUHAMMAD ABDULLAH</cp:lastModifiedBy>
  <cp:revision>160</cp:revision>
  <dcterms:created xsi:type="dcterms:W3CDTF">2015-07-29T13:27:11Z</dcterms:created>
  <dcterms:modified xsi:type="dcterms:W3CDTF">2025-01-18T09:14:47Z</dcterms:modified>
</cp:coreProperties>
</file>