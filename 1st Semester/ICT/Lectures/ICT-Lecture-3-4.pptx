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51"/>
  </p:notesMasterIdLst>
  <p:sldIdLst>
    <p:sldId id="256" r:id="rId2"/>
    <p:sldId id="397" r:id="rId3"/>
    <p:sldId id="456" r:id="rId4"/>
    <p:sldId id="457" r:id="rId5"/>
    <p:sldId id="458" r:id="rId6"/>
    <p:sldId id="459" r:id="rId7"/>
    <p:sldId id="460" r:id="rId8"/>
    <p:sldId id="461" r:id="rId9"/>
    <p:sldId id="454" r:id="rId10"/>
    <p:sldId id="398" r:id="rId11"/>
    <p:sldId id="400" r:id="rId12"/>
    <p:sldId id="401" r:id="rId13"/>
    <p:sldId id="402" r:id="rId14"/>
    <p:sldId id="403" r:id="rId15"/>
    <p:sldId id="405" r:id="rId16"/>
    <p:sldId id="406" r:id="rId17"/>
    <p:sldId id="407" r:id="rId18"/>
    <p:sldId id="409" r:id="rId19"/>
    <p:sldId id="412" r:id="rId20"/>
    <p:sldId id="413" r:id="rId21"/>
    <p:sldId id="414" r:id="rId22"/>
    <p:sldId id="418" r:id="rId23"/>
    <p:sldId id="419" r:id="rId24"/>
    <p:sldId id="420" r:id="rId25"/>
    <p:sldId id="421" r:id="rId26"/>
    <p:sldId id="422" r:id="rId27"/>
    <p:sldId id="424" r:id="rId28"/>
    <p:sldId id="429" r:id="rId29"/>
    <p:sldId id="430" r:id="rId30"/>
    <p:sldId id="432" r:id="rId31"/>
    <p:sldId id="434" r:id="rId32"/>
    <p:sldId id="435" r:id="rId33"/>
    <p:sldId id="437" r:id="rId34"/>
    <p:sldId id="438" r:id="rId35"/>
    <p:sldId id="439" r:id="rId36"/>
    <p:sldId id="440" r:id="rId37"/>
    <p:sldId id="441" r:id="rId38"/>
    <p:sldId id="442" r:id="rId39"/>
    <p:sldId id="443" r:id="rId40"/>
    <p:sldId id="444" r:id="rId41"/>
    <p:sldId id="445" r:id="rId42"/>
    <p:sldId id="446" r:id="rId43"/>
    <p:sldId id="447" r:id="rId44"/>
    <p:sldId id="448" r:id="rId45"/>
    <p:sldId id="449" r:id="rId46"/>
    <p:sldId id="450" r:id="rId47"/>
    <p:sldId id="451" r:id="rId48"/>
    <p:sldId id="452" r:id="rId49"/>
    <p:sldId id="453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6F5D3-6E95-1B0F-F0CA-4BFECBA4CB22}" v="15" dt="2023-02-20T08:59:32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0" autoAdjust="0"/>
  </p:normalViewPr>
  <p:slideViewPr>
    <p:cSldViewPr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89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1c2427dda35d2ee6a2307f81f3e58f292c47afc6611ded4c180efc746fe912c::" providerId="AD" clId="Web-{A7B6F5D3-6E95-1B0F-F0CA-4BFECBA4CB22}"/>
    <pc:docChg chg="modSld">
      <pc:chgData name="Guest User" userId="S::urn:spo:anon#01c2427dda35d2ee6a2307f81f3e58f292c47afc6611ded4c180efc746fe912c::" providerId="AD" clId="Web-{A7B6F5D3-6E95-1B0F-F0CA-4BFECBA4CB22}" dt="2023-02-20T08:59:32.193" v="13" actId="20577"/>
      <pc:docMkLst>
        <pc:docMk/>
      </pc:docMkLst>
      <pc:sldChg chg="modSp">
        <pc:chgData name="Guest User" userId="S::urn:spo:anon#01c2427dda35d2ee6a2307f81f3e58f292c47afc6611ded4c180efc746fe912c::" providerId="AD" clId="Web-{A7B6F5D3-6E95-1B0F-F0CA-4BFECBA4CB22}" dt="2023-02-20T08:59:32.193" v="13" actId="20577"/>
        <pc:sldMkLst>
          <pc:docMk/>
          <pc:sldMk cId="0" sldId="314"/>
        </pc:sldMkLst>
        <pc:spChg chg="mod">
          <ac:chgData name="Guest User" userId="S::urn:spo:anon#01c2427dda35d2ee6a2307f81f3e58f292c47afc6611ded4c180efc746fe912c::" providerId="AD" clId="Web-{A7B6F5D3-6E95-1B0F-F0CA-4BFECBA4CB22}" dt="2023-02-20T08:59:32.193" v="13" actId="20577"/>
          <ac:spMkLst>
            <pc:docMk/>
            <pc:sldMk cId="0" sldId="31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7800"/>
          </a:xfr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/>
          <a:lstStyle>
            <a:lvl1pPr algn="ctr">
              <a:defRPr i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kumimoji="0" lang="en-US" dirty="0" smtClean="0"/>
              <a:t>    Click </a:t>
            </a:r>
            <a:r>
              <a:rPr kumimoji="0" lang="en-US" dirty="0"/>
              <a:t>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034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48106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r>
              <a:rPr lang="en-US" dirty="0" smtClean="0"/>
              <a:t>Applications of Information and Communications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500" b="1" kern="1200">
          <a:solidFill>
            <a:schemeClr val="bg1">
              <a:lumMod val="95000"/>
            </a:schemeClr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CSC 101 – Introduction to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286000" y="2971800"/>
            <a:ext cx="4114800" cy="1196609"/>
          </a:xfrm>
        </p:spPr>
        <p:txBody>
          <a:bodyPr>
            <a:normAutofit/>
          </a:bodyPr>
          <a:lstStyle/>
          <a:p>
            <a:pPr marL="118872" indent="0" algn="ctr">
              <a:buNone/>
            </a:pPr>
            <a:r>
              <a:rPr lang="en-US" sz="4800" dirty="0"/>
              <a:t>Lecture </a:t>
            </a:r>
            <a:r>
              <a:rPr lang="en-US" sz="4800" dirty="0" smtClean="0"/>
              <a:t>3-4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6060" cy="386964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Memory 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Memory </a:t>
            </a:r>
            <a:r>
              <a:rPr lang="en-US" sz="2400" dirty="0" smtClean="0"/>
              <a:t>Hierarchy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Storage Devices: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Magnetic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Optical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Solid State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Data Read &amp; Write Process. </a:t>
            </a:r>
          </a:p>
          <a:p>
            <a:r>
              <a:rPr lang="en-GB" sz="2400" dirty="0" smtClean="0"/>
              <a:t> 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400" dirty="0">
              <a:latin typeface="Carlito"/>
              <a:cs typeface="Carlito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242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4334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Refers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chip-based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inside the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25" dirty="0">
                <a:latin typeface="Carlito"/>
                <a:cs typeface="Carlito"/>
              </a:rPr>
              <a:t>refers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amount of long-term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0" dirty="0">
                <a:latin typeface="Carlito"/>
                <a:cs typeface="Carlito"/>
              </a:rPr>
              <a:t> 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Random </a:t>
            </a:r>
            <a:r>
              <a:rPr sz="2400" dirty="0">
                <a:latin typeface="Carlito"/>
                <a:cs typeface="Carlito"/>
              </a:rPr>
              <a:t>Access Memory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(RAM)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100" dirty="0">
                <a:latin typeface="Arial"/>
                <a:cs typeface="Arial"/>
              </a:rPr>
              <a:t>Computer’s </a:t>
            </a:r>
            <a:r>
              <a:rPr sz="2400" spc="-80" dirty="0">
                <a:latin typeface="Arial"/>
                <a:cs typeface="Arial"/>
              </a:rPr>
              <a:t>main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  <a:p>
            <a:pPr marL="1155700" marR="40195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chips </a:t>
            </a:r>
            <a:r>
              <a:rPr sz="2400" spc="-10" dirty="0">
                <a:latin typeface="Carlito"/>
                <a:cs typeface="Carlito"/>
              </a:rPr>
              <a:t>arranged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5" dirty="0">
                <a:latin typeface="Carlito"/>
                <a:cs typeface="Carlito"/>
              </a:rPr>
              <a:t>board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dirty="0">
                <a:latin typeface="Carlito"/>
                <a:cs typeface="Carlito"/>
              </a:rPr>
              <a:t>a  memory module which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plugged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motherboard</a:t>
            </a:r>
            <a:endParaRPr sz="2400">
              <a:latin typeface="Carlito"/>
              <a:cs typeface="Carlito"/>
            </a:endParaRPr>
          </a:p>
          <a:p>
            <a:pPr marL="1155700" marR="32067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essential parts of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system, </a:t>
            </a:r>
            <a:r>
              <a:rPr sz="2400" spc="-15" dirty="0">
                <a:latin typeface="Carlito"/>
                <a:cs typeface="Carlito"/>
              </a:rPr>
              <a:t>programs,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currently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using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4982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" y="317011"/>
            <a:ext cx="91440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/>
              <a:t>Memory</a:t>
            </a:r>
          </a:p>
        </p:txBody>
      </p:sp>
      <p:sp>
        <p:nvSpPr>
          <p:cNvPr id="3" name="object 3"/>
          <p:cNvSpPr/>
          <p:nvPr/>
        </p:nvSpPr>
        <p:spPr>
          <a:xfrm>
            <a:off x="2051685" y="1700809"/>
            <a:ext cx="5029199" cy="4429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56779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" y="317011"/>
            <a:ext cx="9144000" cy="705321"/>
          </a:xfrm>
          <a:prstGeom prst="rect">
            <a:avLst/>
          </a:prstGeom>
          <a:ln/>
        </p:spPr>
        <p:txBody>
          <a:bodyPr vert="horz" wrap="square" lIns="0" tIns="12700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12700">
              <a:spcBef>
                <a:spcPts val="100"/>
              </a:spcBef>
            </a:pPr>
            <a:r>
              <a:rPr dirty="0"/>
              <a:t>Memory</a:t>
            </a:r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461262"/>
            <a:ext cx="7486269" cy="387221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rlito"/>
                <a:cs typeface="Carlito"/>
              </a:rPr>
              <a:t>Volatile</a:t>
            </a:r>
            <a:endParaRPr sz="24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RAM </a:t>
            </a:r>
            <a:r>
              <a:rPr sz="2400" spc="-15" dirty="0">
                <a:latin typeface="Carlito"/>
                <a:cs typeface="Carlito"/>
              </a:rPr>
              <a:t>content </a:t>
            </a:r>
            <a:r>
              <a:rPr sz="2400" spc="-10" dirty="0">
                <a:latin typeface="Carlito"/>
                <a:cs typeface="Carlito"/>
              </a:rPr>
              <a:t>lost </a:t>
            </a:r>
            <a:r>
              <a:rPr sz="2400" dirty="0">
                <a:latin typeface="Carlito"/>
                <a:cs typeface="Carlito"/>
              </a:rPr>
              <a:t>when 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shut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off</a:t>
            </a:r>
            <a:endParaRPr sz="24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non-volatile</a:t>
            </a:r>
            <a:endParaRPr sz="24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bytes</a:t>
            </a:r>
            <a:endParaRPr sz="2400" dirty="0">
              <a:latin typeface="Carlito"/>
              <a:cs typeface="Carlito"/>
            </a:endParaRPr>
          </a:p>
          <a:p>
            <a:pPr marL="698500" marR="70929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Amount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depends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Most personal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use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SD-RAM</a:t>
            </a:r>
          </a:p>
          <a:p>
            <a:pPr marL="241300" marR="9906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rlito"/>
                <a:cs typeface="Carlito"/>
              </a:rPr>
              <a:t>MRAM and PRAM - </a:t>
            </a:r>
            <a:r>
              <a:rPr sz="2400" spc="-10" dirty="0">
                <a:latin typeface="Carlito"/>
                <a:cs typeface="Carlito"/>
              </a:rPr>
              <a:t>non-volatile </a:t>
            </a:r>
            <a:r>
              <a:rPr sz="2400" dirty="0">
                <a:latin typeface="Carlito"/>
                <a:cs typeface="Carlito"/>
              </a:rPr>
              <a:t>RAM</a:t>
            </a:r>
            <a:r>
              <a:rPr sz="2400" spc="-1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under  </a:t>
            </a:r>
            <a:r>
              <a:rPr sz="2400" spc="-10" dirty="0">
                <a:latin typeface="Carlito"/>
                <a:cs typeface="Carlito"/>
              </a:rPr>
              <a:t>development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4268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32269" y="1484757"/>
            <a:ext cx="1214607" cy="338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450594" y="1534414"/>
            <a:ext cx="330454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Each location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 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address</a:t>
            </a:r>
            <a:endParaRPr sz="2400">
              <a:latin typeface="Carlito"/>
              <a:cs typeface="Carlito"/>
            </a:endParaRPr>
          </a:p>
          <a:p>
            <a:pPr marL="698500" marR="30353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Each location  </a:t>
            </a:r>
            <a:r>
              <a:rPr sz="2400" spc="-5" dirty="0">
                <a:latin typeface="Carlito"/>
                <a:cs typeface="Carlito"/>
              </a:rPr>
              <a:t>typically holds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0" dirty="0">
                <a:latin typeface="Carlito"/>
                <a:cs typeface="Carlito"/>
              </a:rPr>
              <a:t>byte</a:t>
            </a:r>
            <a:endParaRPr sz="2400">
              <a:latin typeface="Carlito"/>
              <a:cs typeface="Carlito"/>
            </a:endParaRPr>
          </a:p>
          <a:p>
            <a:pPr marL="698500" marR="14605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 </a:t>
            </a:r>
            <a:r>
              <a:rPr sz="2400" spc="-5" dirty="0">
                <a:latin typeface="Carlito"/>
                <a:cs typeface="Carlito"/>
              </a:rPr>
              <a:t>sets up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maintains </a:t>
            </a:r>
            <a:r>
              <a:rPr sz="2400" spc="-10" dirty="0">
                <a:latin typeface="Carlito"/>
                <a:cs typeface="Carlito"/>
              </a:rPr>
              <a:t>directory  </a:t>
            </a:r>
            <a:r>
              <a:rPr sz="2400" spc="-5" dirty="0">
                <a:latin typeface="Carlito"/>
                <a:cs typeface="Carlito"/>
              </a:rPr>
              <a:t>tables </a:t>
            </a:r>
            <a:r>
              <a:rPr sz="2400" spc="-15" dirty="0">
                <a:latin typeface="Carlito"/>
                <a:cs typeface="Carlito"/>
              </a:rPr>
              <a:t>to facilitate  </a:t>
            </a:r>
            <a:r>
              <a:rPr sz="2400" spc="-10" dirty="0">
                <a:latin typeface="Carlito"/>
                <a:cs typeface="Carlito"/>
              </a:rPr>
              <a:t>retrieval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3965" y="1988845"/>
            <a:ext cx="3421380" cy="4152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48509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0189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Registers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High-speed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intermediary results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during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Fastest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spc="-5" dirty="0">
                <a:latin typeface="Carlito"/>
                <a:cs typeface="Carlito"/>
              </a:rPr>
              <a:t>(read-only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memory)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Non-volatile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motherboard </a:t>
            </a:r>
            <a:r>
              <a:rPr sz="2400" spc="-15" dirty="0">
                <a:latin typeface="Carlito"/>
                <a:cs typeface="Carlito"/>
              </a:rPr>
              <a:t>into 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been permanently</a:t>
            </a:r>
            <a:r>
              <a:rPr sz="2400" spc="-20" dirty="0">
                <a:latin typeface="Carlito"/>
                <a:cs typeface="Carlito"/>
              </a:rPr>
              <a:t> stored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Retrieved 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Being </a:t>
            </a: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24699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92695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Nonvolatile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0" dirty="0">
                <a:latin typeface="Carlito"/>
                <a:cs typeface="Carlito"/>
              </a:rPr>
              <a:t>that 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begun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replace </a:t>
            </a: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storing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  <a:tab pos="1407160" algn="l"/>
              </a:tabLst>
            </a:pPr>
            <a:r>
              <a:rPr sz="2400" spc="-10" dirty="0">
                <a:latin typeface="Carlito"/>
                <a:cs typeface="Carlito"/>
              </a:rPr>
              <a:t>Now	</a:t>
            </a:r>
            <a:r>
              <a:rPr sz="2400" spc="-20" dirty="0">
                <a:latin typeface="Carlito"/>
                <a:cs typeface="Carlito"/>
              </a:rPr>
              <a:t>stores </a:t>
            </a:r>
            <a:r>
              <a:rPr sz="2400" spc="-15" dirty="0">
                <a:latin typeface="Carlito"/>
                <a:cs typeface="Carlito"/>
              </a:rPr>
              <a:t>firmware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personal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devices</a:t>
            </a:r>
            <a:endParaRPr sz="2400">
              <a:latin typeface="Carlito"/>
              <a:cs typeface="Carlito"/>
            </a:endParaRPr>
          </a:p>
          <a:p>
            <a:pPr marL="697865" marR="123189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many </a:t>
            </a:r>
            <a:r>
              <a:rPr sz="2400" dirty="0">
                <a:latin typeface="Carlito"/>
                <a:cs typeface="Carlito"/>
              </a:rPr>
              <a:t>types </a:t>
            </a:r>
            <a:r>
              <a:rPr sz="2400" spc="-5" dirty="0">
                <a:latin typeface="Carlito"/>
                <a:cs typeface="Carlito"/>
              </a:rPr>
              <a:t>of devices (media tablets,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mobile  </a:t>
            </a:r>
            <a:r>
              <a:rPr sz="2400" spc="-5" dirty="0">
                <a:latin typeface="Carlito"/>
                <a:cs typeface="Carlito"/>
              </a:rPr>
              <a:t>phones,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digital cameras)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8677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Hierarchy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29" y="1524000"/>
            <a:ext cx="8842342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0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615430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Media and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10" dirty="0">
                <a:latin typeface="Carlito"/>
                <a:cs typeface="Carlito"/>
              </a:rPr>
              <a:t>where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DVD </a:t>
            </a:r>
            <a:r>
              <a:rPr sz="2400" spc="-5" dirty="0">
                <a:latin typeface="Carlito"/>
                <a:cs typeface="Carlito"/>
              </a:rPr>
              <a:t>disc, 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DVD </a:t>
            </a:r>
            <a:r>
              <a:rPr sz="2400" spc="-10" dirty="0">
                <a:latin typeface="Carlito"/>
                <a:cs typeface="Carlito"/>
              </a:rPr>
              <a:t>drive,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 </a:t>
            </a:r>
            <a:r>
              <a:rPr sz="2400" spc="-35" dirty="0">
                <a:latin typeface="Carlito"/>
                <a:cs typeface="Carlito"/>
              </a:rPr>
              <a:t>reader,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Medium is </a:t>
            </a:r>
            <a:r>
              <a:rPr sz="2400" spc="-5" dirty="0">
                <a:latin typeface="Carlito"/>
                <a:cs typeface="Carlito"/>
              </a:rPr>
              <a:t>inserted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internal, external, or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remote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typically identified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letter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3910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052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Volatility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15" dirty="0">
                <a:latin typeface="Carlito"/>
                <a:cs typeface="Carlito"/>
              </a:rPr>
              <a:t>are nonvolatile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Random </a:t>
            </a:r>
            <a:r>
              <a:rPr sz="2400" spc="-10" dirty="0">
                <a:latin typeface="Carlito"/>
                <a:cs typeface="Carlito"/>
              </a:rPr>
              <a:t>vs. </a:t>
            </a:r>
            <a:r>
              <a:rPr sz="2400" spc="-5" dirty="0">
                <a:latin typeface="Carlito"/>
                <a:cs typeface="Carlito"/>
              </a:rPr>
              <a:t>Sequential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Access</a:t>
            </a:r>
            <a:endParaRPr sz="2400">
              <a:latin typeface="Carlito"/>
              <a:cs typeface="Carlito"/>
            </a:endParaRPr>
          </a:p>
          <a:p>
            <a:pPr marL="756285" marR="15557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Random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0" dirty="0">
                <a:latin typeface="Carlito"/>
                <a:cs typeface="Carlito"/>
              </a:rPr>
              <a:t>(direct </a:t>
            </a:r>
            <a:r>
              <a:rPr sz="2400" spc="-5" dirty="0">
                <a:latin typeface="Carlito"/>
                <a:cs typeface="Carlito"/>
              </a:rPr>
              <a:t>access) </a:t>
            </a: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15" dirty="0">
                <a:latin typeface="Carlito"/>
                <a:cs typeface="Carlito"/>
              </a:rPr>
              <a:t>data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location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5" dirty="0">
                <a:latin typeface="Carlito"/>
                <a:cs typeface="Carlito"/>
              </a:rPr>
              <a:t> medium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Virtually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use random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access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Sequential </a:t>
            </a:r>
            <a:r>
              <a:rPr sz="2400" dirty="0">
                <a:latin typeface="Carlito"/>
                <a:cs typeface="Carlito"/>
              </a:rPr>
              <a:t>access means </a:t>
            </a:r>
            <a:r>
              <a:rPr sz="2400" spc="-10" dirty="0">
                <a:latin typeface="Carlito"/>
                <a:cs typeface="Carlito"/>
              </a:rPr>
              <a:t>retrieval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occur only</a:t>
            </a:r>
            <a:r>
              <a:rPr sz="2400" spc="-1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  the </a:t>
            </a:r>
            <a:r>
              <a:rPr sz="2400" spc="-15" dirty="0">
                <a:latin typeface="Carlito"/>
                <a:cs typeface="Carlito"/>
              </a:rPr>
              <a:t>order </a:t>
            </a:r>
            <a:r>
              <a:rPr sz="2400" dirty="0">
                <a:latin typeface="Carlito"/>
                <a:cs typeface="Carlito"/>
              </a:rPr>
              <a:t>in which it </a:t>
            </a:r>
            <a:r>
              <a:rPr sz="2400" spc="-10" dirty="0">
                <a:latin typeface="Carlito"/>
                <a:cs typeface="Carlito"/>
              </a:rPr>
              <a:t>was </a:t>
            </a: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storage  </a:t>
            </a: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tape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006078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07390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Logical vs.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File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Anything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5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medium,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program, </a:t>
            </a:r>
            <a:r>
              <a:rPr sz="2400" spc="-10" dirty="0">
                <a:latin typeface="Carlito"/>
                <a:cs typeface="Carlito"/>
              </a:rPr>
              <a:t>document, digital </a:t>
            </a:r>
            <a:r>
              <a:rPr sz="2400" spc="-5" dirty="0">
                <a:latin typeface="Carlito"/>
                <a:cs typeface="Carlito"/>
              </a:rPr>
              <a:t>image, 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Filename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Name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Folder</a:t>
            </a:r>
            <a:endParaRPr sz="2400">
              <a:latin typeface="Carlito"/>
              <a:cs typeface="Carlito"/>
            </a:endParaRPr>
          </a:p>
          <a:p>
            <a:pPr marL="1155700" marR="160718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Named </a:t>
            </a:r>
            <a:r>
              <a:rPr sz="2400" spc="-5" dirty="0">
                <a:latin typeface="Carlito"/>
                <a:cs typeface="Carlito"/>
              </a:rPr>
              <a:t>place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medium 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stored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9503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66193" y="2096323"/>
            <a:ext cx="8034655" cy="3601720"/>
            <a:chOff x="366193" y="2096323"/>
            <a:chExt cx="8034655" cy="3601720"/>
          </a:xfrm>
        </p:grpSpPr>
        <p:sp>
          <p:nvSpPr>
            <p:cNvPr id="4" name="object 4"/>
            <p:cNvSpPr/>
            <p:nvPr/>
          </p:nvSpPr>
          <p:spPr>
            <a:xfrm>
              <a:off x="366193" y="2096323"/>
              <a:ext cx="8034099" cy="242241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4189" y="4509122"/>
              <a:ext cx="1631441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107554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Storage </a:t>
            </a:r>
            <a:r>
              <a:rPr sz="3600" spc="-540" dirty="0"/>
              <a:t>System</a:t>
            </a:r>
            <a:r>
              <a:rPr sz="3600" spc="-10" dirty="0"/>
              <a:t> </a:t>
            </a:r>
            <a:r>
              <a:rPr sz="3600" spc="-505" dirty="0"/>
              <a:t>Characteristics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8162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Logical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1155700" marR="23495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Individuals view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document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5" dirty="0">
                <a:latin typeface="Carlito"/>
                <a:cs typeface="Carlito"/>
              </a:rPr>
              <a:t>complete  </a:t>
            </a:r>
            <a:r>
              <a:rPr sz="2400" spc="-5" dirty="0">
                <a:latin typeface="Carlito"/>
                <a:cs typeface="Carlito"/>
              </a:rPr>
              <a:t>unit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particular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particular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1155700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access a </a:t>
            </a:r>
            <a:r>
              <a:rPr sz="2400" spc="-5" dirty="0">
                <a:latin typeface="Carlito"/>
                <a:cs typeface="Carlito"/>
              </a:rPr>
              <a:t>particular </a:t>
            </a:r>
            <a:r>
              <a:rPr sz="2400" spc="-10" dirty="0">
                <a:latin typeface="Carlito"/>
                <a:cs typeface="Carlito"/>
              </a:rPr>
              <a:t>document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its </a:t>
            </a: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locations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Types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30" dirty="0">
                <a:latin typeface="Carlito"/>
                <a:cs typeface="Carlito"/>
              </a:rPr>
              <a:t>Technology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(conventional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drives)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Optical (optical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discs)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Electrons (flash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media)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1407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70148" y="1628775"/>
            <a:ext cx="7401139" cy="3793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66890" y="5727928"/>
            <a:ext cx="1276349" cy="552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533391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60615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Hard disks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divided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into: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0" dirty="0">
                <a:latin typeface="Carlito"/>
                <a:cs typeface="Carlito"/>
              </a:rPr>
              <a:t>Tracks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Concentric </a:t>
            </a:r>
            <a:r>
              <a:rPr sz="2400" spc="-10" dirty="0">
                <a:latin typeface="Carlito"/>
                <a:cs typeface="Carlito"/>
              </a:rPr>
              <a:t>path on disk where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recorded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Sectors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small piece 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track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Clusters</a:t>
            </a:r>
            <a:endParaRPr sz="2400">
              <a:latin typeface="Carlito"/>
              <a:cs typeface="Carlito"/>
            </a:endParaRPr>
          </a:p>
          <a:p>
            <a:pPr marL="1155700" marR="116839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One 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10" dirty="0">
                <a:latin typeface="Carlito"/>
                <a:cs typeface="Carlito"/>
              </a:rPr>
              <a:t>sectors; smallest </a:t>
            </a:r>
            <a:r>
              <a:rPr sz="2400" spc="-5" dirty="0">
                <a:latin typeface="Carlito"/>
                <a:cs typeface="Carlito"/>
              </a:rPr>
              <a:t>addressable </a:t>
            </a:r>
            <a:r>
              <a:rPr sz="2400" spc="-10" dirty="0">
                <a:latin typeface="Carlito"/>
                <a:cs typeface="Carlito"/>
              </a:rPr>
              <a:t>area </a:t>
            </a:r>
            <a:r>
              <a:rPr sz="2400" spc="-5" dirty="0">
                <a:latin typeface="Carlito"/>
                <a:cs typeface="Carlito"/>
              </a:rPr>
              <a:t>of 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Cylinders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Collection of </a:t>
            </a:r>
            <a:r>
              <a:rPr sz="2400" spc="-15" dirty="0">
                <a:latin typeface="Carlito"/>
                <a:cs typeface="Carlito"/>
              </a:rPr>
              <a:t>tracks located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on 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 of </a:t>
            </a:r>
            <a:r>
              <a:rPr sz="2400" spc="-10" dirty="0">
                <a:latin typeface="Carlito"/>
                <a:cs typeface="Carlito"/>
              </a:rPr>
              <a:t>hard </a:t>
            </a:r>
            <a:r>
              <a:rPr sz="2400" spc="-5" dirty="0">
                <a:latin typeface="Carlito"/>
                <a:cs typeface="Carlito"/>
              </a:rPr>
              <a:t>disk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surfaces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601321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250334" y="1687249"/>
            <a:ext cx="7139807" cy="4470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3662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76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/>
              <a:t>Hard</a:t>
            </a:r>
            <a:r>
              <a:rPr sz="3600" spc="-29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10354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Solid </a:t>
            </a:r>
            <a:r>
              <a:rPr sz="2400" spc="-20" dirty="0">
                <a:latin typeface="Carlito"/>
                <a:cs typeface="Carlito"/>
              </a:rPr>
              <a:t>State </a:t>
            </a:r>
            <a:r>
              <a:rPr sz="2400" spc="-10" dirty="0">
                <a:latin typeface="Carlito"/>
                <a:cs typeface="Carlito"/>
              </a:rPr>
              <a:t>Drives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(SSDs)</a:t>
            </a:r>
            <a:endParaRPr sz="2400">
              <a:latin typeface="Carlito"/>
              <a:cs typeface="Carlito"/>
            </a:endParaRPr>
          </a:p>
          <a:p>
            <a:pPr marL="756285" marR="11099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flash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 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>
              <a:latin typeface="Carlito"/>
              <a:cs typeface="Carlito"/>
            </a:endParaRPr>
          </a:p>
          <a:p>
            <a:pPr marL="756285" marR="2984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15" dirty="0">
                <a:latin typeface="Carlito"/>
                <a:cs typeface="Carlito"/>
              </a:rPr>
              <a:t>power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have  </a:t>
            </a:r>
            <a:r>
              <a:rPr sz="2400" spc="-5" dirty="0">
                <a:latin typeface="Carlito"/>
                <a:cs typeface="Carlito"/>
              </a:rPr>
              <a:t>no moving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parts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Particularly </a:t>
            </a:r>
            <a:r>
              <a:rPr sz="2400" spc="-10" dirty="0">
                <a:latin typeface="Carlito"/>
                <a:cs typeface="Carlito"/>
              </a:rPr>
              <a:t>appropriate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portable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 mobile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0543" y="1648869"/>
            <a:ext cx="3536802" cy="3291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5412" y="5188413"/>
            <a:ext cx="1366030" cy="562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38528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Internal </a:t>
            </a:r>
            <a:r>
              <a:rPr sz="3600" spc="-405" dirty="0"/>
              <a:t>and </a:t>
            </a:r>
            <a:r>
              <a:rPr sz="3600" spc="-505" dirty="0"/>
              <a:t>External </a:t>
            </a:r>
            <a:r>
              <a:rPr sz="3600" spc="-409" dirty="0"/>
              <a:t>Hard</a:t>
            </a:r>
            <a:r>
              <a:rPr sz="3600" spc="-26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50240" y="2227326"/>
            <a:ext cx="8140644" cy="23692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76345" y="4848225"/>
            <a:ext cx="1600200" cy="333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03216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405" dirty="0"/>
              <a:t>Speed, </a:t>
            </a:r>
            <a:r>
              <a:rPr spc="-425" dirty="0"/>
              <a:t>Disk </a:t>
            </a:r>
            <a:r>
              <a:rPr spc="-409" dirty="0"/>
              <a:t>Caching, </a:t>
            </a:r>
            <a:r>
              <a:rPr spc="-360" dirty="0"/>
              <a:t>and  </a:t>
            </a:r>
            <a:r>
              <a:rPr spc="-315" dirty="0"/>
              <a:t>Hybrid </a:t>
            </a:r>
            <a:r>
              <a:rPr spc="-365" dirty="0"/>
              <a:t>Hard</a:t>
            </a:r>
            <a:r>
              <a:rPr spc="-105" dirty="0"/>
              <a:t> </a:t>
            </a:r>
            <a:r>
              <a:rPr spc="-395" dirty="0"/>
              <a:t>Drives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560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Disk </a:t>
            </a:r>
            <a:r>
              <a:rPr sz="2400" dirty="0">
                <a:latin typeface="Carlito"/>
                <a:cs typeface="Carlito"/>
              </a:rPr>
              <a:t>access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</a:p>
          <a:p>
            <a:pPr marL="756285" marR="52514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5" dirty="0">
                <a:latin typeface="Carlito"/>
                <a:cs typeface="Carlito"/>
              </a:rPr>
              <a:t>Total </a:t>
            </a:r>
            <a:r>
              <a:rPr sz="2400" dirty="0">
                <a:latin typeface="Carlito"/>
                <a:cs typeface="Carlito"/>
              </a:rPr>
              <a:t>time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20" dirty="0">
                <a:latin typeface="Carlito"/>
                <a:cs typeface="Carlito"/>
              </a:rPr>
              <a:t>takes 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write 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 dirty="0">
              <a:latin typeface="Carlito"/>
              <a:cs typeface="Carlito"/>
            </a:endParaRPr>
          </a:p>
          <a:p>
            <a:pPr marL="756285" marR="136842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seek </a:t>
            </a:r>
            <a:r>
              <a:rPr sz="2400" dirty="0">
                <a:latin typeface="Carlito"/>
                <a:cs typeface="Carlito"/>
              </a:rPr>
              <a:t>time, </a:t>
            </a:r>
            <a:r>
              <a:rPr sz="2400" spc="-10" dirty="0">
                <a:latin typeface="Carlito"/>
                <a:cs typeface="Carlito"/>
              </a:rPr>
              <a:t>rotational </a:t>
            </a:r>
            <a:r>
              <a:rPr sz="2400" spc="-40" dirty="0">
                <a:latin typeface="Carlito"/>
                <a:cs typeface="Carlito"/>
              </a:rPr>
              <a:t>delay,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  </a:t>
            </a:r>
            <a:r>
              <a:rPr sz="2400" spc="-10" dirty="0">
                <a:latin typeface="Carlito"/>
                <a:cs typeface="Carlito"/>
              </a:rPr>
              <a:t>movement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spc="-385" dirty="0">
                <a:latin typeface="Arial"/>
                <a:cs typeface="Arial"/>
              </a:rPr>
              <a:t>SSDs </a:t>
            </a:r>
            <a:r>
              <a:rPr sz="2400" spc="-10" dirty="0">
                <a:latin typeface="Arial"/>
                <a:cs typeface="Arial"/>
              </a:rPr>
              <a:t>don’t </a:t>
            </a:r>
            <a:r>
              <a:rPr sz="2400" spc="-60" dirty="0">
                <a:latin typeface="Arial"/>
                <a:cs typeface="Arial"/>
              </a:rPr>
              <a:t>require </a:t>
            </a:r>
            <a:r>
              <a:rPr sz="2400" spc="-170" dirty="0">
                <a:latin typeface="Arial"/>
                <a:cs typeface="Arial"/>
              </a:rPr>
              <a:t>seek </a:t>
            </a:r>
            <a:r>
              <a:rPr sz="2400" spc="-20" dirty="0">
                <a:latin typeface="Arial"/>
                <a:cs typeface="Arial"/>
              </a:rPr>
              <a:t>time or </a:t>
            </a:r>
            <a:r>
              <a:rPr sz="2400" spc="-35" dirty="0">
                <a:latin typeface="Arial"/>
                <a:cs typeface="Arial"/>
              </a:rPr>
              <a:t>rotational</a:t>
            </a:r>
            <a:r>
              <a:rPr sz="2400" spc="-31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delays</a:t>
            </a:r>
            <a:endParaRPr sz="24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Disk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cache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conjunction </a:t>
            </a:r>
            <a:r>
              <a:rPr sz="2400" dirty="0">
                <a:latin typeface="Carlito"/>
                <a:cs typeface="Carlito"/>
              </a:rPr>
              <a:t>with a magnetic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</a:t>
            </a:r>
            <a:r>
              <a:rPr sz="2400" spc="-15" dirty="0">
                <a:latin typeface="Carlito"/>
                <a:cs typeface="Carlito"/>
              </a:rPr>
              <a:t>to  improve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10" dirty="0">
                <a:latin typeface="Carlito"/>
                <a:cs typeface="Carlito"/>
              </a:rPr>
              <a:t> performance</a:t>
            </a:r>
            <a:endParaRPr sz="2400" dirty="0">
              <a:latin typeface="Carlito"/>
              <a:cs typeface="Carlito"/>
            </a:endParaRPr>
          </a:p>
          <a:p>
            <a:pPr marL="756285" marR="3873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3188970" algn="l"/>
              </a:tabLst>
            </a:pPr>
            <a:r>
              <a:rPr sz="2400" spc="-15" dirty="0">
                <a:latin typeface="Carlito"/>
                <a:cs typeface="Carlito"/>
              </a:rPr>
              <a:t>Typically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consist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	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5" dirty="0">
                <a:latin typeface="Carlito"/>
                <a:cs typeface="Carlito"/>
              </a:rPr>
              <a:t>board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inside  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</a:t>
            </a:r>
            <a:r>
              <a:rPr sz="2400" spc="-5" dirty="0">
                <a:latin typeface="Carlito"/>
                <a:cs typeface="Carlito"/>
              </a:rPr>
              <a:t> case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73135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Hard </a:t>
            </a:r>
            <a:r>
              <a:rPr spc="-350" dirty="0"/>
              <a:t>Drive </a:t>
            </a:r>
            <a:r>
              <a:rPr spc="-405" dirty="0"/>
              <a:t>Speed, </a:t>
            </a:r>
            <a:r>
              <a:rPr spc="-425" dirty="0"/>
              <a:t>Disk </a:t>
            </a:r>
            <a:r>
              <a:rPr spc="-409" dirty="0"/>
              <a:t>Caching, </a:t>
            </a:r>
            <a:r>
              <a:rPr spc="-360" dirty="0"/>
              <a:t>and  </a:t>
            </a:r>
            <a:r>
              <a:rPr spc="-315" dirty="0"/>
              <a:t>Hybrid </a:t>
            </a:r>
            <a:r>
              <a:rPr spc="-365" dirty="0"/>
              <a:t>Hard</a:t>
            </a:r>
            <a:r>
              <a:rPr spc="-105" dirty="0"/>
              <a:t> </a:t>
            </a:r>
            <a:r>
              <a:rPr spc="-395" dirty="0"/>
              <a:t>Drives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689985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Hybrid </a:t>
            </a: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333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Combination of flash  </a:t>
            </a:r>
            <a:r>
              <a:rPr sz="2400" dirty="0">
                <a:latin typeface="Carlito"/>
                <a:cs typeface="Carlito"/>
              </a:rPr>
              <a:t>memory 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magnetic 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14922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flash </a:t>
            </a: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5" dirty="0">
                <a:latin typeface="Carlito"/>
                <a:cs typeface="Carlito"/>
              </a:rPr>
              <a:t>cache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dirty="0">
                <a:latin typeface="Carlito"/>
                <a:cs typeface="Carlito"/>
              </a:rPr>
              <a:t>encryption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  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6017" y="1556766"/>
            <a:ext cx="4065016" cy="3081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313" y="4690044"/>
            <a:ext cx="1483554" cy="1557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410243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70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4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1475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Characteristics</a:t>
            </a:r>
            <a:endParaRPr sz="2400">
              <a:latin typeface="Carlito"/>
              <a:cs typeface="Carlito"/>
            </a:endParaRPr>
          </a:p>
          <a:p>
            <a:pPr marL="756285" marR="61785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type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laser  </a:t>
            </a:r>
            <a:r>
              <a:rPr sz="2400" spc="-5" dirty="0">
                <a:latin typeface="Carlito"/>
                <a:cs typeface="Carlito"/>
              </a:rPr>
              <a:t>beams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185" dirty="0">
                <a:latin typeface="Arial"/>
                <a:cs typeface="Arial"/>
              </a:rPr>
              <a:t>Today’s </a:t>
            </a:r>
            <a:r>
              <a:rPr sz="2400" spc="-100" dirty="0">
                <a:latin typeface="Arial"/>
                <a:cs typeface="Arial"/>
              </a:rPr>
              <a:t>standard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70" dirty="0">
                <a:latin typeface="Arial"/>
                <a:cs typeface="Arial"/>
              </a:rPr>
              <a:t>software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delivery</a:t>
            </a:r>
            <a:endParaRPr sz="2400">
              <a:latin typeface="Arial"/>
              <a:cs typeface="Arial"/>
            </a:endParaRPr>
          </a:p>
          <a:p>
            <a:pPr marL="756285" marR="44005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Divided </a:t>
            </a:r>
            <a:r>
              <a:rPr sz="2400" spc="-15" dirty="0">
                <a:latin typeface="Carlito"/>
                <a:cs typeface="Carlito"/>
              </a:rPr>
              <a:t>into sectors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5" dirty="0">
                <a:latin typeface="Carlito"/>
                <a:cs typeface="Carlito"/>
              </a:rPr>
              <a:t>discs but 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  </a:t>
            </a:r>
            <a:r>
              <a:rPr sz="2400" spc="-15" dirty="0">
                <a:latin typeface="Carlito"/>
                <a:cs typeface="Carlito"/>
              </a:rPr>
              <a:t>spiral </a:t>
            </a:r>
            <a:r>
              <a:rPr sz="2400" spc="-10" dirty="0">
                <a:latin typeface="Carlito"/>
                <a:cs typeface="Carlito"/>
              </a:rPr>
              <a:t>track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(groove)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relatively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5" dirty="0">
                <a:latin typeface="Carlito"/>
                <a:cs typeface="Carlito"/>
              </a:rPr>
              <a:t>capacity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durable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spc="-5" dirty="0">
                <a:latin typeface="Carlito"/>
                <a:cs typeface="Carlito"/>
              </a:rPr>
              <a:t>purposes and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storing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transporting  </a:t>
            </a:r>
            <a:r>
              <a:rPr sz="2400" dirty="0">
                <a:latin typeface="Carlito"/>
                <a:cs typeface="Carlito"/>
              </a:rPr>
              <a:t>music, </a:t>
            </a:r>
            <a:r>
              <a:rPr sz="2400" spc="-10" dirty="0">
                <a:latin typeface="Carlito"/>
                <a:cs typeface="Carlito"/>
              </a:rPr>
              <a:t>photos, video,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522571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083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Representing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Read-only 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Surface </a:t>
            </a:r>
            <a:r>
              <a:rPr sz="2400" spc="-5" dirty="0">
                <a:latin typeface="Carlito"/>
                <a:cs typeface="Carlito"/>
              </a:rPr>
              <a:t>of disc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molded or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stamped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Recordable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rewritable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</a:t>
            </a:r>
            <a:endParaRPr sz="2400">
              <a:latin typeface="Carlito"/>
              <a:cs typeface="Carlito"/>
            </a:endParaRPr>
          </a:p>
          <a:p>
            <a:pPr marL="1155700" marR="25717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Optical drive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and the </a:t>
            </a:r>
            <a:r>
              <a:rPr sz="2400" spc="-10" dirty="0">
                <a:latin typeface="Carlito"/>
                <a:cs typeface="Carlito"/>
              </a:rPr>
              <a:t>reflectivity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disc </a:t>
            </a:r>
            <a:r>
              <a:rPr sz="2400" dirty="0">
                <a:latin typeface="Carlito"/>
                <a:cs typeface="Carlito"/>
              </a:rPr>
              <a:t>is  </a:t>
            </a:r>
            <a:r>
              <a:rPr sz="2400" spc="-5" dirty="0">
                <a:latin typeface="Carlito"/>
                <a:cs typeface="Carlito"/>
              </a:rPr>
              <a:t>changed using </a:t>
            </a:r>
            <a:r>
              <a:rPr sz="2400" dirty="0">
                <a:latin typeface="Carlito"/>
                <a:cs typeface="Carlito"/>
              </a:rPr>
              <a:t>a laser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Pits and lands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dirty="0">
                <a:latin typeface="Carlito"/>
                <a:cs typeface="Carlito"/>
              </a:rPr>
              <a:t>1s 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0s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transition between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pit </a:t>
            </a:r>
            <a:r>
              <a:rPr sz="2400" dirty="0">
                <a:latin typeface="Carlito"/>
                <a:cs typeface="Carlito"/>
              </a:rPr>
              <a:t>and a land </a:t>
            </a:r>
            <a:r>
              <a:rPr sz="2400" spc="-10" dirty="0">
                <a:latin typeface="Carlito"/>
                <a:cs typeface="Carlito"/>
              </a:rPr>
              <a:t>represents </a:t>
            </a:r>
            <a:r>
              <a:rPr sz="2400" dirty="0">
                <a:latin typeface="Carlito"/>
                <a:cs typeface="Carlito"/>
              </a:rPr>
              <a:t>a 1;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no  </a:t>
            </a:r>
            <a:r>
              <a:rPr sz="2400" spc="-10" dirty="0">
                <a:latin typeface="Carlito"/>
                <a:cs typeface="Carlito"/>
              </a:rPr>
              <a:t>transition represents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0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57199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083536" y="1716639"/>
            <a:ext cx="5701580" cy="4439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58406" y="1820417"/>
            <a:ext cx="1419225" cy="581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748624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723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Three </a:t>
            </a:r>
            <a:r>
              <a:rPr sz="2400" spc="-15" dirty="0">
                <a:latin typeface="Carlito"/>
                <a:cs typeface="Carlito"/>
              </a:rPr>
              <a:t>categories </a:t>
            </a:r>
            <a:r>
              <a:rPr sz="2400" spc="-5" dirty="0">
                <a:latin typeface="Carlito"/>
                <a:cs typeface="Carlito"/>
              </a:rPr>
              <a:t>of discs: </a:t>
            </a:r>
            <a:r>
              <a:rPr sz="2400" spc="-25" dirty="0">
                <a:latin typeface="Carlito"/>
                <a:cs typeface="Carlito"/>
              </a:rPr>
              <a:t>CD, DVD, </a:t>
            </a:r>
            <a:r>
              <a:rPr sz="2400" spc="-5" dirty="0">
                <a:latin typeface="Carlito"/>
                <a:cs typeface="Carlito"/>
              </a:rPr>
              <a:t>or Blu-Ray Disc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(BD)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25" dirty="0">
                <a:latin typeface="Carlito"/>
                <a:cs typeface="Carlito"/>
              </a:rPr>
              <a:t>read-only, </a:t>
            </a:r>
            <a:r>
              <a:rPr sz="2400" spc="-15" dirty="0">
                <a:latin typeface="Carlito"/>
                <a:cs typeface="Carlito"/>
              </a:rPr>
              <a:t>recordable,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rewritable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Almost </a:t>
            </a:r>
            <a:r>
              <a:rPr sz="2400" spc="-20" dirty="0">
                <a:latin typeface="Carlito"/>
                <a:cs typeface="Carlito"/>
              </a:rPr>
              <a:t>always </a:t>
            </a:r>
            <a:r>
              <a:rPr sz="2400" spc="-15" dirty="0">
                <a:latin typeface="Carlito"/>
                <a:cs typeface="Carlito"/>
              </a:rPr>
              <a:t>downward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compatible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support single or dual </a:t>
            </a:r>
            <a:r>
              <a:rPr sz="2400" spc="-15" dirty="0">
                <a:latin typeface="Carlito"/>
                <a:cs typeface="Carlito"/>
              </a:rPr>
              <a:t>layer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Recording data onto </a:t>
            </a:r>
            <a:r>
              <a:rPr sz="2400" spc="-10" dirty="0">
                <a:latin typeface="Carlito"/>
                <a:cs typeface="Carlito"/>
              </a:rPr>
              <a:t>disc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called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burning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external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1155700" marR="2439035" lvl="2" indent="-228600">
              <a:lnSpc>
                <a:spcPct val="120000"/>
              </a:lnSpc>
              <a:spcBef>
                <a:spcPts val="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External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connect  </a:t>
            </a:r>
            <a:r>
              <a:rPr sz="2400" dirty="0">
                <a:latin typeface="Carlito"/>
                <a:cs typeface="Carlito"/>
              </a:rPr>
              <a:t>via USB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6197" y="4221149"/>
            <a:ext cx="2598674" cy="2257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08342" y="2793830"/>
            <a:ext cx="1224140" cy="1153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00148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66380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 Shapes, </a:t>
            </a:r>
            <a:r>
              <a:rPr sz="2400" spc="-15" dirty="0">
                <a:latin typeface="Carlito"/>
                <a:cs typeface="Carlito"/>
              </a:rPr>
              <a:t>Sizes,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Capacities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size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120-mm (about 4.7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inches)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Mini </a:t>
            </a:r>
            <a:r>
              <a:rPr sz="2400" spc="-5" dirty="0">
                <a:latin typeface="Carlito"/>
                <a:cs typeface="Carlito"/>
              </a:rPr>
              <a:t>discs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smaller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80-mm</a:t>
            </a:r>
            <a:endParaRPr sz="2400">
              <a:latin typeface="Carlito"/>
              <a:cs typeface="Carlito"/>
            </a:endParaRPr>
          </a:p>
          <a:p>
            <a:pPr marL="756285" marR="2717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Theoretically 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various </a:t>
            </a:r>
            <a:r>
              <a:rPr sz="2400" spc="-20" dirty="0">
                <a:latin typeface="Carlito"/>
                <a:cs typeface="Carlito"/>
              </a:rPr>
              <a:t>shapes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hearts,  </a:t>
            </a:r>
            <a:r>
              <a:rPr sz="2400" spc="-5" dirty="0">
                <a:latin typeface="Carlito"/>
                <a:cs typeface="Carlito"/>
              </a:rPr>
              <a:t>triangles, irregular shapes, 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hockey-rink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5" dirty="0">
                <a:latin typeface="Carlito"/>
                <a:cs typeface="Carlito"/>
              </a:rPr>
              <a:t>Patent </a:t>
            </a:r>
            <a:r>
              <a:rPr sz="2400" spc="-15" dirty="0">
                <a:latin typeface="Carlito"/>
                <a:cs typeface="Carlito"/>
              </a:rPr>
              <a:t>battle exists </a:t>
            </a:r>
            <a:r>
              <a:rPr sz="2400" spc="-5" dirty="0">
                <a:latin typeface="Carlito"/>
                <a:cs typeface="Carlito"/>
              </a:rPr>
              <a:t>about </a:t>
            </a:r>
            <a:r>
              <a:rPr sz="2400" dirty="0">
                <a:latin typeface="Carlito"/>
                <a:cs typeface="Carlito"/>
              </a:rPr>
              <a:t>changing </a:t>
            </a: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disc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None of </a:t>
            </a:r>
            <a:r>
              <a:rPr sz="2400" dirty="0">
                <a:latin typeface="Carlito"/>
                <a:cs typeface="Carlito"/>
              </a:rPr>
              <a:t>these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shapes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currently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77784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79603"/>
            <a:ext cx="486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Optical </a:t>
            </a:r>
            <a:r>
              <a:rPr sz="3600" spc="-545" dirty="0"/>
              <a:t>Discs </a:t>
            </a:r>
            <a:r>
              <a:rPr sz="3600" spc="-405" dirty="0"/>
              <a:t>and</a:t>
            </a:r>
            <a:r>
              <a:rPr sz="3600" spc="-355" dirty="0"/>
              <a:t> </a:t>
            </a:r>
            <a:r>
              <a:rPr sz="3600" spc="-445" dirty="0"/>
              <a:t>Drives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63774" y="1953104"/>
            <a:ext cx="7753394" cy="3275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226" y="5401792"/>
            <a:ext cx="1847850" cy="657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681063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2162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marR="39814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Chip-based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 </a:t>
            </a:r>
            <a:r>
              <a:rPr sz="2400" spc="-10" dirty="0">
                <a:latin typeface="Carlito"/>
                <a:cs typeface="Carlito"/>
              </a:rPr>
              <a:t>that represents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using  electrons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SSDs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hybrid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Embedded 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dirty="0">
                <a:latin typeface="Carlito"/>
                <a:cs typeface="Carlito"/>
              </a:rPr>
              <a:t>embedded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products, </a:t>
            </a:r>
            <a:r>
              <a:rPr sz="2400" spc="-5" dirty="0">
                <a:latin typeface="Carlito"/>
                <a:cs typeface="Carlito"/>
              </a:rPr>
              <a:t>such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Portable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15" dirty="0">
                <a:latin typeface="Carlito"/>
                <a:cs typeface="Carlito"/>
              </a:rPr>
              <a:t>players, </a:t>
            </a: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cameras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Handheld </a:t>
            </a:r>
            <a:r>
              <a:rPr sz="2400" spc="-10" dirty="0">
                <a:latin typeface="Carlito"/>
                <a:cs typeface="Carlito"/>
              </a:rPr>
              <a:t>gaming </a:t>
            </a:r>
            <a:r>
              <a:rPr sz="2400" spc="-5" dirty="0">
                <a:latin typeface="Carlito"/>
                <a:cs typeface="Carlito"/>
              </a:rPr>
              <a:t>devices, GPS devices, </a:t>
            </a:r>
            <a:r>
              <a:rPr sz="2400" dirty="0">
                <a:latin typeface="Carlito"/>
                <a:cs typeface="Carlito"/>
              </a:rPr>
              <a:t>mobile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Sunglasses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wristwatches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37928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411729" y="1628851"/>
            <a:ext cx="4464382" cy="419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554429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23532" y="2233806"/>
            <a:ext cx="6840311" cy="3391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3596" y="3790040"/>
            <a:ext cx="1168072" cy="8679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029102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31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80" dirty="0"/>
              <a:t>Memory </a:t>
            </a:r>
            <a:r>
              <a:rPr sz="3600" spc="-445" dirty="0"/>
              <a:t>Storage</a:t>
            </a:r>
            <a:r>
              <a:rPr sz="3600" spc="-50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6220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USB </a:t>
            </a: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272415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  <a:tab pos="3060065" algn="l"/>
              </a:tabLst>
            </a:pPr>
            <a:r>
              <a:rPr sz="2400" spc="-5" dirty="0">
                <a:latin typeface="Carlito"/>
                <a:cs typeface="Carlito"/>
              </a:rPr>
              <a:t>Sometimes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called	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0" dirty="0">
                <a:latin typeface="Carlito"/>
                <a:cs typeface="Carlito"/>
              </a:rPr>
              <a:t>drives, </a:t>
            </a:r>
            <a:r>
              <a:rPr sz="2400" spc="-5" dirty="0">
                <a:latin typeface="Carlito"/>
                <a:cs typeface="Carlito"/>
              </a:rPr>
              <a:t>jump </a:t>
            </a:r>
            <a:r>
              <a:rPr sz="2400" spc="-10" dirty="0">
                <a:latin typeface="Carlito"/>
                <a:cs typeface="Carlito"/>
              </a:rPr>
              <a:t>drives,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dirty="0">
                <a:latin typeface="Carlito"/>
                <a:cs typeface="Carlito"/>
              </a:rPr>
              <a:t>thumb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  <a:tab pos="5097145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media </a:t>
            </a:r>
            <a:r>
              <a:rPr sz="2400" spc="-15" dirty="0">
                <a:latin typeface="Carlito"/>
                <a:cs typeface="Carlito"/>
              </a:rPr>
              <a:t>integrated 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self-contained </a:t>
            </a:r>
            <a:r>
              <a:rPr sz="2400" spc="-5" dirty="0">
                <a:latin typeface="Carlito"/>
                <a:cs typeface="Carlito"/>
              </a:rPr>
              <a:t>unit 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plug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and is </a:t>
            </a:r>
            <a:r>
              <a:rPr sz="2400" spc="-15" dirty="0">
                <a:latin typeface="Carlito"/>
                <a:cs typeface="Carlito"/>
              </a:rPr>
              <a:t>powered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	USB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very small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very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5" dirty="0">
                <a:latin typeface="Carlito"/>
                <a:cs typeface="Carlito"/>
              </a:rPr>
              <a:t>host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formats </a:t>
            </a:r>
            <a:r>
              <a:rPr sz="2400" dirty="0">
                <a:latin typeface="Carlito"/>
                <a:cs typeface="Carlito"/>
              </a:rPr>
              <a:t>including </a:t>
            </a:r>
            <a:r>
              <a:rPr sz="2400" spc="-10" dirty="0">
                <a:latin typeface="Carlito"/>
                <a:cs typeface="Carlito"/>
              </a:rPr>
              <a:t>custom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shapes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consumer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</a:t>
            </a:r>
            <a:endParaRPr sz="2400">
              <a:latin typeface="Carlito"/>
              <a:cs typeface="Carlito"/>
            </a:endParaRPr>
          </a:p>
          <a:p>
            <a:pPr marL="756285" marR="50165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lock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issue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  </a:t>
            </a:r>
            <a:r>
              <a:rPr sz="2400" spc="-15" dirty="0">
                <a:latin typeface="Carlito"/>
                <a:cs typeface="Carlito"/>
              </a:rPr>
              <a:t>passwords</a:t>
            </a:r>
            <a:endParaRPr sz="2400">
              <a:latin typeface="Carlito"/>
              <a:cs typeface="Carlito"/>
            </a:endParaRPr>
          </a:p>
          <a:p>
            <a:pPr marL="756285" marR="1094105" lvl="1" indent="-287020">
              <a:lnSpc>
                <a:spcPts val="2590"/>
              </a:lnSpc>
              <a:spcBef>
                <a:spcPts val="5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biometric </a:t>
            </a:r>
            <a:r>
              <a:rPr sz="2400" spc="-15" dirty="0">
                <a:latin typeface="Carlito"/>
                <a:cs typeface="Carlito"/>
              </a:rPr>
              <a:t>features,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a </a:t>
            </a:r>
            <a:r>
              <a:rPr sz="2400" spc="-5" dirty="0">
                <a:latin typeface="Carlito"/>
                <a:cs typeface="Carlito"/>
              </a:rPr>
              <a:t>built-in  </a:t>
            </a:r>
            <a:r>
              <a:rPr sz="2400" spc="-10" dirty="0">
                <a:latin typeface="Carlito"/>
                <a:cs typeface="Carlito"/>
              </a:rPr>
              <a:t>fingerprint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reader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947168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98870"/>
            <a:chOff x="0" y="0"/>
            <a:chExt cx="9144000" cy="6198870"/>
          </a:xfrm>
        </p:grpSpPr>
        <p:sp>
          <p:nvSpPr>
            <p:cNvPr id="3" name="object 3"/>
            <p:cNvSpPr/>
            <p:nvPr/>
          </p:nvSpPr>
          <p:spPr>
            <a:xfrm>
              <a:off x="827582" y="1484782"/>
              <a:ext cx="5751663" cy="47140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86981" y="3025520"/>
              <a:ext cx="1400175" cy="3333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672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20" dirty="0"/>
              <a:t>Flash </a:t>
            </a:r>
            <a:r>
              <a:rPr sz="3600" spc="-395" dirty="0"/>
              <a:t>Drive </a:t>
            </a:r>
            <a:r>
              <a:rPr sz="3600" spc="-445" dirty="0"/>
              <a:t>Storage</a:t>
            </a:r>
            <a:r>
              <a:rPr sz="3600" spc="-47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314005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464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Other </a:t>
            </a:r>
            <a:r>
              <a:rPr sz="3600" spc="-535" dirty="0"/>
              <a:t>Types </a:t>
            </a:r>
            <a:r>
              <a:rPr sz="3600" spc="-285" dirty="0"/>
              <a:t>of </a:t>
            </a:r>
            <a:r>
              <a:rPr sz="3600" spc="-440" dirty="0"/>
              <a:t>Storage</a:t>
            </a:r>
            <a:r>
              <a:rPr sz="3600" spc="-385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17459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and Cloud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not </a:t>
            </a:r>
            <a:r>
              <a:rPr sz="2400" spc="-5" dirty="0">
                <a:latin typeface="Carlito"/>
                <a:cs typeface="Carlito"/>
              </a:rPr>
              <a:t>directly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Accessed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local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7522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7971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attached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(NAS)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High </a:t>
            </a:r>
            <a:r>
              <a:rPr sz="2400" spc="-10" dirty="0">
                <a:latin typeface="Carlito"/>
                <a:cs typeface="Carlito"/>
              </a:rPr>
              <a:t>performance </a:t>
            </a:r>
            <a:r>
              <a:rPr sz="2400" spc="-20" dirty="0">
                <a:latin typeface="Carlito"/>
                <a:cs typeface="Carlito"/>
              </a:rPr>
              <a:t>storage systems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dirty="0">
                <a:latin typeface="Carlito"/>
                <a:cs typeface="Carlito"/>
              </a:rPr>
              <a:t>individually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small business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area network </a:t>
            </a:r>
            <a:r>
              <a:rPr sz="2400" spc="-5" dirty="0">
                <a:latin typeface="Carlito"/>
                <a:cs typeface="Carlito"/>
              </a:rPr>
              <a:t>(SAN)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Separate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drives </a:t>
            </a:r>
            <a:r>
              <a:rPr sz="2400" spc="-5" dirty="0">
                <a:latin typeface="Carlito"/>
                <a:cs typeface="Carlito"/>
              </a:rPr>
              <a:t>or other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are attached 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main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0391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043609" y="1733494"/>
            <a:ext cx="6761923" cy="3511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03822" y="5843358"/>
            <a:ext cx="1485900" cy="361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675990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61275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Cloud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(online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Accessed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sites </a:t>
            </a:r>
            <a:r>
              <a:rPr sz="2400" spc="-30" dirty="0">
                <a:latin typeface="Carlito"/>
                <a:cs typeface="Carlito"/>
              </a:rPr>
              <a:t>(Flickr, </a:t>
            </a:r>
            <a:r>
              <a:rPr sz="2400" spc="-10" dirty="0">
                <a:latin typeface="Carlito"/>
                <a:cs typeface="Carlito"/>
              </a:rPr>
              <a:t>Facebook, </a:t>
            </a:r>
            <a:r>
              <a:rPr sz="2400" spc="-5" dirty="0">
                <a:latin typeface="Carlito"/>
                <a:cs typeface="Carlito"/>
              </a:rPr>
              <a:t>Google Docs,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Via online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0" dirty="0">
                <a:latin typeface="Carlito"/>
                <a:cs typeface="Carlito"/>
              </a:rPr>
              <a:t>sites </a:t>
            </a:r>
            <a:r>
              <a:rPr sz="2400" spc="-15" dirty="0">
                <a:latin typeface="Carlito"/>
                <a:cs typeface="Carlito"/>
              </a:rPr>
              <a:t>(Box, Dropbox,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marR="59055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Growing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importance because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30" dirty="0">
                <a:latin typeface="Carlito"/>
                <a:cs typeface="Carlito"/>
              </a:rPr>
              <a:t>Web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Increasing being 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purposes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synched between </a:t>
            </a:r>
            <a:r>
              <a:rPr sz="2400" dirty="0">
                <a:latin typeface="Carlito"/>
                <a:cs typeface="Carlito"/>
              </a:rPr>
              <a:t>PC and cloud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sites providing </a:t>
            </a:r>
            <a:r>
              <a:rPr sz="2400" spc="-5" dirty="0">
                <a:latin typeface="Carlito"/>
                <a:cs typeface="Carlito"/>
              </a:rPr>
              <a:t>online </a:t>
            </a:r>
            <a:r>
              <a:rPr sz="2400" spc="-20" dirty="0">
                <a:latin typeface="Carlito"/>
                <a:cs typeface="Carlito"/>
              </a:rPr>
              <a:t>storage offer </a:t>
            </a:r>
            <a:r>
              <a:rPr sz="2400" dirty="0">
                <a:latin typeface="Carlito"/>
                <a:cs typeface="Carlito"/>
              </a:rPr>
              <a:t>it</a:t>
            </a:r>
            <a:r>
              <a:rPr sz="2400" spc="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free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Business cloud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66059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85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Network </a:t>
            </a:r>
            <a:r>
              <a:rPr spc="-360" dirty="0"/>
              <a:t>and </a:t>
            </a:r>
            <a:r>
              <a:rPr spc="-335" dirty="0"/>
              <a:t>Cloud </a:t>
            </a:r>
            <a:r>
              <a:rPr spc="-395" dirty="0"/>
              <a:t>Storage</a:t>
            </a:r>
            <a:r>
              <a:rPr spc="-370" dirty="0"/>
              <a:t>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115618" y="1533893"/>
            <a:ext cx="4968494" cy="4821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70299" y="2235705"/>
            <a:ext cx="1599914" cy="806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567367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47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Smart</a:t>
            </a:r>
            <a:r>
              <a:rPr sz="3600" spc="-280" dirty="0"/>
              <a:t> </a:t>
            </a:r>
            <a:r>
              <a:rPr sz="3600" spc="-495" dirty="0"/>
              <a:t>Cards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65134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Smart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756285" marR="82423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Credit </a:t>
            </a:r>
            <a:r>
              <a:rPr sz="2400" spc="-15" dirty="0">
                <a:latin typeface="Carlito"/>
                <a:cs typeface="Carlito"/>
              </a:rPr>
              <a:t>card-sized </a:t>
            </a:r>
            <a:r>
              <a:rPr sz="2400" spc="-5" dirty="0">
                <a:latin typeface="Carlito"/>
                <a:cs typeface="Carlito"/>
              </a:rPr>
              <a:t>piece of </a:t>
            </a:r>
            <a:r>
              <a:rPr sz="2400" spc="-10" dirty="0">
                <a:latin typeface="Carlito"/>
                <a:cs typeface="Carlito"/>
              </a:rPr>
              <a:t>plastic that contains </a:t>
            </a:r>
            <a:r>
              <a:rPr sz="2400" spc="-5" dirty="0">
                <a:latin typeface="Carlito"/>
                <a:cs typeface="Carlito"/>
              </a:rPr>
              <a:t>some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circuitry </a:t>
            </a:r>
            <a:r>
              <a:rPr sz="2400" spc="-30" dirty="0">
                <a:latin typeface="Carlito"/>
                <a:cs typeface="Carlito"/>
              </a:rPr>
              <a:t>(processor, </a:t>
            </a:r>
            <a:r>
              <a:rPr sz="2400" spc="-25" dirty="0">
                <a:latin typeface="Carlito"/>
                <a:cs typeface="Carlito"/>
              </a:rPr>
              <a:t>memory,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small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(about </a:t>
            </a:r>
            <a:r>
              <a:rPr sz="2400" dirty="0">
                <a:latin typeface="Carlito"/>
                <a:cs typeface="Carlito"/>
              </a:rPr>
              <a:t>64 KB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less)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Commonly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spc="-5" dirty="0">
                <a:latin typeface="Carlito"/>
                <a:cs typeface="Carlito"/>
              </a:rPr>
              <a:t>prepaid amounts of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5" dirty="0">
                <a:latin typeface="Carlito"/>
                <a:cs typeface="Carlito"/>
              </a:rPr>
              <a:t>cash or 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marR="54165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Smart </a:t>
            </a:r>
            <a:r>
              <a:rPr sz="2400" spc="-15" dirty="0">
                <a:latin typeface="Carlito"/>
                <a:cs typeface="Carlito"/>
              </a:rPr>
              <a:t>card readers are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attached to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30" dirty="0">
                <a:latin typeface="Carlito"/>
                <a:cs typeface="Carlito"/>
              </a:rPr>
              <a:t>computer, </a:t>
            </a:r>
            <a:r>
              <a:rPr sz="2400" spc="-10" dirty="0">
                <a:latin typeface="Carlito"/>
                <a:cs typeface="Carlito"/>
              </a:rPr>
              <a:t>door </a:t>
            </a:r>
            <a:r>
              <a:rPr sz="2400" dirty="0">
                <a:latin typeface="Carlito"/>
                <a:cs typeface="Carlito"/>
              </a:rPr>
              <a:t>lock, </a:t>
            </a:r>
            <a:r>
              <a:rPr sz="2400" spc="-5" dirty="0">
                <a:latin typeface="Carlito"/>
                <a:cs typeface="Carlito"/>
              </a:rPr>
              <a:t>vending machine, or other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smart </a:t>
            </a:r>
            <a:r>
              <a:rPr sz="2400" spc="-15" dirty="0">
                <a:latin typeface="Carlito"/>
                <a:cs typeface="Carlito"/>
              </a:rPr>
              <a:t>cards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5" dirty="0">
                <a:latin typeface="Carlito"/>
                <a:cs typeface="Carlito"/>
              </a:rPr>
              <a:t>biometric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mobile smart </a:t>
            </a:r>
            <a:r>
              <a:rPr sz="2400" spc="-15" dirty="0">
                <a:latin typeface="Carlito"/>
                <a:cs typeface="Carlito"/>
              </a:rPr>
              <a:t>cards </a:t>
            </a:r>
            <a:r>
              <a:rPr sz="2400" dirty="0">
                <a:latin typeface="Carlito"/>
                <a:cs typeface="Carlito"/>
              </a:rPr>
              <a:t>is an </a:t>
            </a:r>
            <a:r>
              <a:rPr sz="2400" spc="-5" dirty="0">
                <a:latin typeface="Carlito"/>
                <a:cs typeface="Carlito"/>
              </a:rPr>
              <a:t>emerging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trend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50353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36005"/>
            <a:chOff x="0" y="0"/>
            <a:chExt cx="9144000" cy="6136005"/>
          </a:xfrm>
        </p:grpSpPr>
        <p:sp>
          <p:nvSpPr>
            <p:cNvPr id="3" name="object 3"/>
            <p:cNvSpPr/>
            <p:nvPr/>
          </p:nvSpPr>
          <p:spPr>
            <a:xfrm>
              <a:off x="1403603" y="1484782"/>
              <a:ext cx="4784598" cy="4650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73393" y="3097529"/>
              <a:ext cx="1628775" cy="571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47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Smart</a:t>
            </a:r>
            <a:r>
              <a:rPr sz="3600" spc="-280" dirty="0"/>
              <a:t> </a:t>
            </a:r>
            <a:r>
              <a:rPr sz="3600" spc="-495" dirty="0"/>
              <a:t>Cards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628192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9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Holographic</a:t>
            </a:r>
            <a:r>
              <a:rPr sz="3600" spc="-285" dirty="0"/>
              <a:t> </a:t>
            </a:r>
            <a:r>
              <a:rPr sz="3600" spc="-445" dirty="0"/>
              <a:t>Storage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01000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Holographic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 marR="69596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Holographic drives connect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via a </a:t>
            </a:r>
            <a:r>
              <a:rPr sz="2400" spc="-5" dirty="0">
                <a:latin typeface="Carlito"/>
                <a:cs typeface="Carlito"/>
              </a:rPr>
              <a:t>serial  </a:t>
            </a:r>
            <a:r>
              <a:rPr sz="2400" spc="-15" dirty="0">
                <a:latin typeface="Carlito"/>
                <a:cs typeface="Carlito"/>
              </a:rPr>
              <a:t>attached </a:t>
            </a:r>
            <a:r>
              <a:rPr sz="2400" spc="-5" dirty="0">
                <a:latin typeface="Carlito"/>
                <a:cs typeface="Carlito"/>
              </a:rPr>
              <a:t>SCSI (SAS) or </a:t>
            </a:r>
            <a:r>
              <a:rPr sz="2400" spc="-10" dirty="0">
                <a:latin typeface="Carlito"/>
                <a:cs typeface="Carlito"/>
              </a:rPr>
              <a:t>Fibre </a:t>
            </a:r>
            <a:r>
              <a:rPr sz="2400" spc="-5" dirty="0">
                <a:latin typeface="Carlito"/>
                <a:cs typeface="Carlito"/>
              </a:rPr>
              <a:t>Channel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marR="72009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blue </a:t>
            </a:r>
            <a:r>
              <a:rPr sz="2400" dirty="0">
                <a:latin typeface="Carlito"/>
                <a:cs typeface="Carlito"/>
              </a:rPr>
              <a:t>laser </a:t>
            </a:r>
            <a:r>
              <a:rPr sz="2400" spc="-5" dirty="0">
                <a:latin typeface="Carlito"/>
                <a:cs typeface="Carlito"/>
              </a:rPr>
              <a:t>beams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three  </a:t>
            </a:r>
            <a:r>
              <a:rPr sz="2400" spc="-5" dirty="0">
                <a:latin typeface="Carlito"/>
                <a:cs typeface="Carlito"/>
              </a:rPr>
              <a:t>dimensions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Reference </a:t>
            </a:r>
            <a:r>
              <a:rPr sz="2400" spc="-5" dirty="0">
                <a:latin typeface="Carlito"/>
                <a:cs typeface="Carlito"/>
              </a:rPr>
              <a:t>beam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signal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beam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Suited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dirty="0">
                <a:latin typeface="Carlito"/>
                <a:cs typeface="Carlito"/>
              </a:rPr>
              <a:t>in which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10" dirty="0">
                <a:latin typeface="Carlito"/>
                <a:cs typeface="Carlito"/>
              </a:rPr>
              <a:t>amounts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need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5" dirty="0">
                <a:latin typeface="Carlito"/>
                <a:cs typeface="Carlito"/>
              </a:rPr>
              <a:t>quickly but </a:t>
            </a:r>
            <a:r>
              <a:rPr sz="2400" spc="-15" dirty="0">
                <a:latin typeface="Carlito"/>
                <a:cs typeface="Carlito"/>
              </a:rPr>
              <a:t>rarely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changed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Archiving business </a:t>
            </a:r>
            <a:r>
              <a:rPr sz="2400" spc="-10" dirty="0">
                <a:latin typeface="Carlito"/>
                <a:cs typeface="Carlito"/>
              </a:rPr>
              <a:t>data, </a:t>
            </a:r>
            <a:r>
              <a:rPr sz="2400" spc="-5" dirty="0">
                <a:latin typeface="Carlito"/>
                <a:cs typeface="Carlito"/>
              </a:rPr>
              <a:t>medical </a:t>
            </a:r>
            <a:r>
              <a:rPr sz="2400" spc="-15" dirty="0">
                <a:latin typeface="Carlito"/>
                <a:cs typeface="Carlito"/>
              </a:rPr>
              <a:t>records, </a:t>
            </a:r>
            <a:r>
              <a:rPr sz="2400" spc="-5" dirty="0">
                <a:latin typeface="Carlito"/>
                <a:cs typeface="Carlito"/>
              </a:rPr>
              <a:t>TV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shows,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sensor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89009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9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Holographic</a:t>
            </a:r>
            <a:r>
              <a:rPr sz="3600" spc="-285" dirty="0"/>
              <a:t> </a:t>
            </a:r>
            <a:r>
              <a:rPr sz="3600" spc="-445" dirty="0"/>
              <a:t>Storage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52414" y="1628775"/>
            <a:ext cx="7837805" cy="4173220"/>
            <a:chOff x="652414" y="1628775"/>
            <a:chExt cx="7837805" cy="4173220"/>
          </a:xfrm>
        </p:grpSpPr>
        <p:sp>
          <p:nvSpPr>
            <p:cNvPr id="4" name="object 4"/>
            <p:cNvSpPr/>
            <p:nvPr/>
          </p:nvSpPr>
          <p:spPr>
            <a:xfrm>
              <a:off x="652414" y="1700809"/>
              <a:ext cx="6990274" cy="41008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0306" y="1628775"/>
              <a:ext cx="1469390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897001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32040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Business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needs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growing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exponentially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produced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expected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double </a:t>
            </a:r>
            <a:r>
              <a:rPr sz="2400" spc="-5" dirty="0">
                <a:latin typeface="Carlito"/>
                <a:cs typeface="Carlito"/>
              </a:rPr>
              <a:t>every </a:t>
            </a:r>
            <a:r>
              <a:rPr sz="2400" spc="-10" dirty="0">
                <a:latin typeface="Carlito"/>
                <a:cs typeface="Carlito"/>
              </a:rPr>
              <a:t>two  years through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2020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756285" marR="5461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containing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high-speed </a:t>
            </a:r>
            <a:r>
              <a:rPr sz="2400" spc="-15" dirty="0">
                <a:latin typeface="Carlito"/>
                <a:cs typeface="Carlito"/>
              </a:rPr>
              <a:t>hard  </a:t>
            </a:r>
            <a:r>
              <a:rPr sz="2400" spc="-10" dirty="0">
                <a:latin typeface="Carlito"/>
                <a:cs typeface="Carlito"/>
              </a:rPr>
              <a:t>drives 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0" dirty="0">
                <a:latin typeface="Carlito"/>
                <a:cs typeface="Carlito"/>
              </a:rPr>
              <a:t> 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based on </a:t>
            </a:r>
            <a:r>
              <a:rPr sz="2400" dirty="0">
                <a:latin typeface="Carlito"/>
                <a:cs typeface="Carlito"/>
              </a:rPr>
              <a:t>magnetic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77071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1475613" y="1556791"/>
            <a:ext cx="3627146" cy="4612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09065" y="2087376"/>
            <a:ext cx="1619417" cy="1822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324405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909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RAID </a:t>
            </a:r>
            <a:r>
              <a:rPr sz="2400" spc="-10" dirty="0">
                <a:latin typeface="Carlito"/>
                <a:cs typeface="Carlito"/>
              </a:rPr>
              <a:t>(redundant </a:t>
            </a:r>
            <a:r>
              <a:rPr sz="2400" spc="-20" dirty="0">
                <a:latin typeface="Carlito"/>
                <a:cs typeface="Carlito"/>
              </a:rPr>
              <a:t>arrays </a:t>
            </a:r>
            <a:r>
              <a:rPr sz="2400" spc="-5" dirty="0">
                <a:latin typeface="Carlito"/>
                <a:cs typeface="Carlito"/>
              </a:rPr>
              <a:t>of independent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discs)</a:t>
            </a:r>
            <a:endParaRPr sz="2400">
              <a:latin typeface="Carlito"/>
              <a:cs typeface="Carlito"/>
            </a:endParaRPr>
          </a:p>
          <a:p>
            <a:pPr marL="756285" marR="3651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Method of </a:t>
            </a:r>
            <a:r>
              <a:rPr sz="2400" spc="-15" dirty="0">
                <a:latin typeface="Carlito"/>
                <a:cs typeface="Carlito"/>
              </a:rPr>
              <a:t>storing 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two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10" dirty="0">
                <a:latin typeface="Carlito"/>
                <a:cs typeface="Carlito"/>
              </a:rPr>
              <a:t>hard drives that  work together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job 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larger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marR="880744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protect </a:t>
            </a:r>
            <a:r>
              <a:rPr sz="2400" spc="-5" dirty="0">
                <a:latin typeface="Carlito"/>
                <a:cs typeface="Carlito"/>
              </a:rPr>
              <a:t>critical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20" dirty="0">
                <a:latin typeface="Carlito"/>
                <a:cs typeface="Carlito"/>
              </a:rPr>
              <a:t>storage  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spc="-15" dirty="0">
                <a:latin typeface="Carlito"/>
                <a:cs typeface="Carlito"/>
              </a:rPr>
              <a:t>involves recording </a:t>
            </a:r>
            <a:r>
              <a:rPr sz="2400" spc="-10" dirty="0">
                <a:latin typeface="Carlito"/>
                <a:cs typeface="Carlito"/>
              </a:rPr>
              <a:t>redundant </a:t>
            </a:r>
            <a:r>
              <a:rPr sz="2400" spc="-5" dirty="0">
                <a:latin typeface="Carlito"/>
                <a:cs typeface="Carlito"/>
              </a:rPr>
              <a:t>copies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stored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Helps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increase </a:t>
            </a:r>
            <a:r>
              <a:rPr sz="2400" spc="-10" dirty="0">
                <a:latin typeface="Carlito"/>
                <a:cs typeface="Carlito"/>
              </a:rPr>
              <a:t>fault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tolerance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737885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425320"/>
            <a:ext cx="780224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10" dirty="0">
                <a:latin typeface="Carlito"/>
                <a:cs typeface="Carlito"/>
              </a:rPr>
              <a:t>levels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RAID: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RAID 0 = </a:t>
            </a:r>
            <a:r>
              <a:rPr sz="2400" spc="-5" dirty="0">
                <a:latin typeface="Carlito"/>
                <a:cs typeface="Carlito"/>
              </a:rPr>
              <a:t>disk striping </a:t>
            </a:r>
            <a:r>
              <a:rPr sz="2400" spc="-10" dirty="0">
                <a:latin typeface="Carlito"/>
                <a:cs typeface="Carlito"/>
              </a:rPr>
              <a:t>(spread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spc="-10" dirty="0">
                <a:latin typeface="Carlito"/>
                <a:cs typeface="Carlito"/>
              </a:rPr>
              <a:t>two or more </a:t>
            </a:r>
            <a:r>
              <a:rPr sz="2400" spc="-15" dirty="0">
                <a:latin typeface="Carlito"/>
                <a:cs typeface="Carlito"/>
              </a:rPr>
              <a:t>hard  </a:t>
            </a:r>
            <a:r>
              <a:rPr sz="2400" spc="-10" dirty="0">
                <a:latin typeface="Carlito"/>
                <a:cs typeface="Carlito"/>
              </a:rPr>
              <a:t>drives)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RAID 1 = </a:t>
            </a:r>
            <a:r>
              <a:rPr sz="2400" spc="-5" dirty="0">
                <a:latin typeface="Carlito"/>
                <a:cs typeface="Carlito"/>
              </a:rPr>
              <a:t>disk </a:t>
            </a:r>
            <a:r>
              <a:rPr sz="2400" spc="-10" dirty="0">
                <a:latin typeface="Carlito"/>
                <a:cs typeface="Carlito"/>
              </a:rPr>
              <a:t>mirroring (duplicate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copy)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combination </a:t>
            </a:r>
            <a:r>
              <a:rPr sz="2400" spc="-5" dirty="0">
                <a:latin typeface="Carlito"/>
                <a:cs typeface="Carlito"/>
              </a:rPr>
              <a:t>or striping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mirroring</a:t>
            </a:r>
            <a:endParaRPr sz="24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rlito"/>
                <a:cs typeface="Carlito"/>
              </a:rPr>
              <a:t>Drobo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dirty="0">
                <a:latin typeface="Carlito"/>
                <a:cs typeface="Carlito"/>
              </a:rPr>
              <a:t>RAID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29229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Much </a:t>
            </a:r>
            <a:r>
              <a:rPr sz="2400" spc="-5" dirty="0">
                <a:latin typeface="Carlito"/>
                <a:cs typeface="Carlito"/>
              </a:rPr>
              <a:t>easier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10" dirty="0">
                <a:latin typeface="Carlito"/>
                <a:cs typeface="Carlito"/>
              </a:rPr>
              <a:t>previous 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Offers </a:t>
            </a:r>
            <a:r>
              <a:rPr sz="2400" spc="-10" dirty="0">
                <a:latin typeface="Carlito"/>
                <a:cs typeface="Carlito"/>
              </a:rPr>
              <a:t>continuous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redundancy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0126" y="3861053"/>
            <a:ext cx="3245104" cy="1584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7124" y="5825578"/>
            <a:ext cx="1056635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255500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 marR="508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Storage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0" dirty="0"/>
              <a:t>Large </a:t>
            </a:r>
            <a:r>
              <a:rPr spc="-365" dirty="0"/>
              <a:t>Computer  </a:t>
            </a:r>
            <a:r>
              <a:rPr spc="-500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3237" y="1674812"/>
            <a:ext cx="8437880" cy="4257040"/>
            <a:chOff x="503237" y="1674812"/>
            <a:chExt cx="8437880" cy="4257040"/>
          </a:xfrm>
        </p:grpSpPr>
        <p:sp>
          <p:nvSpPr>
            <p:cNvPr id="4" name="object 4"/>
            <p:cNvSpPr/>
            <p:nvPr/>
          </p:nvSpPr>
          <p:spPr>
            <a:xfrm>
              <a:off x="503237" y="1960029"/>
              <a:ext cx="7762875" cy="39714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1425" y="1674812"/>
              <a:ext cx="1349375" cy="8810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765436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84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0" dirty="0"/>
              <a:t>Magnetic </a:t>
            </a:r>
            <a:r>
              <a:rPr sz="3600" spc="-525" dirty="0"/>
              <a:t>Tape</a:t>
            </a:r>
            <a:r>
              <a:rPr sz="3600" spc="-65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3364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Magnetic</a:t>
            </a:r>
            <a:r>
              <a:rPr sz="2400" spc="-50" dirty="0">
                <a:latin typeface="Carlito"/>
                <a:cs typeface="Carlito"/>
              </a:rPr>
              <a:t> Tape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Plastic </a:t>
            </a:r>
            <a:r>
              <a:rPr sz="2400" spc="-10" dirty="0">
                <a:latin typeface="Carlito"/>
                <a:cs typeface="Carlito"/>
              </a:rPr>
              <a:t>tape </a:t>
            </a:r>
            <a:r>
              <a:rPr sz="2400" spc="-15" dirty="0">
                <a:latin typeface="Carlito"/>
                <a:cs typeface="Carlito"/>
              </a:rPr>
              <a:t>coated </a:t>
            </a: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5" dirty="0">
                <a:latin typeface="Carlito"/>
                <a:cs typeface="Carlito"/>
              </a:rPr>
              <a:t>magnetizable </a:t>
            </a:r>
            <a:r>
              <a:rPr sz="2400" spc="-10" dirty="0">
                <a:latin typeface="Carlito"/>
                <a:cs typeface="Carlito"/>
              </a:rPr>
              <a:t>substance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  represents </a:t>
            </a:r>
            <a:r>
              <a:rPr sz="2400" spc="-5" dirty="0">
                <a:latin typeface="Carlito"/>
                <a:cs typeface="Carlito"/>
              </a:rPr>
              <a:t>the bits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bytes of </a:t>
            </a: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Primarily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archival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purposes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Sequential </a:t>
            </a:r>
            <a:r>
              <a:rPr sz="2400" dirty="0">
                <a:latin typeface="Carlito"/>
                <a:cs typeface="Carlito"/>
              </a:rPr>
              <a:t>access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Low </a:t>
            </a:r>
            <a:r>
              <a:rPr sz="2400" spc="-15" dirty="0">
                <a:latin typeface="Carlito"/>
                <a:cs typeface="Carlito"/>
              </a:rPr>
              <a:t>cost </a:t>
            </a:r>
            <a:r>
              <a:rPr sz="2400" spc="-5" dirty="0">
                <a:latin typeface="Carlito"/>
                <a:cs typeface="Carlito"/>
              </a:rPr>
              <a:t>per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terabyte</a:t>
            </a:r>
            <a:endParaRPr sz="2400">
              <a:latin typeface="Carlito"/>
              <a:cs typeface="Carlito"/>
            </a:endParaRPr>
          </a:p>
          <a:p>
            <a:pPr marL="756285" marR="33718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tapes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5" dirty="0">
                <a:latin typeface="Carlito"/>
                <a:cs typeface="Carlito"/>
              </a:rPr>
              <a:t>of cartridge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tapes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48071" y="3400049"/>
            <a:ext cx="3390900" cy="2724150"/>
            <a:chOff x="5148071" y="3400049"/>
            <a:chExt cx="3390900" cy="2724150"/>
          </a:xfrm>
        </p:grpSpPr>
        <p:sp>
          <p:nvSpPr>
            <p:cNvPr id="5" name="object 5"/>
            <p:cNvSpPr/>
            <p:nvPr/>
          </p:nvSpPr>
          <p:spPr>
            <a:xfrm>
              <a:off x="5148071" y="3400049"/>
              <a:ext cx="3390646" cy="215559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8116" y="5301208"/>
              <a:ext cx="1458848" cy="8229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951743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36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95" dirty="0"/>
              <a:t>Evaluating </a:t>
            </a:r>
            <a:r>
              <a:rPr spc="-405" dirty="0"/>
              <a:t>Your </a:t>
            </a:r>
            <a:r>
              <a:rPr spc="-395" dirty="0"/>
              <a:t>Storage</a:t>
            </a:r>
            <a:r>
              <a:rPr spc="175" dirty="0"/>
              <a:t> </a:t>
            </a:r>
            <a:r>
              <a:rPr spc="-400" dirty="0"/>
              <a:t>Alternatives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423535" cy="4452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Product Characteristics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Consider: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Speed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Compatibility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capacity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Convenience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Portability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Most Users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Require: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Recordable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rewritable optical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reader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USB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113773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6060" cy="31309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Storage Devices: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Magnetic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Optical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Solid State Storage Devices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Data Read &amp; Write Process. </a:t>
            </a:r>
          </a:p>
          <a:p>
            <a:r>
              <a:rPr lang="en-GB" sz="2400" dirty="0" smtClean="0"/>
              <a:t> 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400">
              <a:latin typeface="Carlito"/>
              <a:cs typeface="Carlito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9714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3683678</TotalTime>
  <Words>2039</Words>
  <Application>Microsoft Office PowerPoint</Application>
  <PresentationFormat>On-screen Show (4:3)</PresentationFormat>
  <Paragraphs>357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Carlito</vt:lpstr>
      <vt:lpstr>Corbel</vt:lpstr>
      <vt:lpstr>Wingdings</vt:lpstr>
      <vt:lpstr>Wingdings 2</vt:lpstr>
      <vt:lpstr>Wingdings 3</vt:lpstr>
      <vt:lpstr>Module</vt:lpstr>
      <vt:lpstr>CSC 101 – Introduction to Computing</vt:lpstr>
      <vt:lpstr>Outline</vt:lpstr>
      <vt:lpstr>Memory</vt:lpstr>
      <vt:lpstr>Memory</vt:lpstr>
      <vt:lpstr>Memory</vt:lpstr>
      <vt:lpstr>Memory</vt:lpstr>
      <vt:lpstr>Memory</vt:lpstr>
      <vt:lpstr>Memory</vt:lpstr>
      <vt:lpstr>Memory Hierarchy</vt:lpstr>
      <vt:lpstr>Storage System Characteristics</vt:lpstr>
      <vt:lpstr>Storage System Characteristics</vt:lpstr>
      <vt:lpstr>Storage System Characteristics</vt:lpstr>
      <vt:lpstr>Storage System Characteristics</vt:lpstr>
      <vt:lpstr>Storage System Characteristics</vt:lpstr>
      <vt:lpstr>Hard Drives</vt:lpstr>
      <vt:lpstr>Hard Drives</vt:lpstr>
      <vt:lpstr>Hard Drives</vt:lpstr>
      <vt:lpstr>Hard Drives</vt:lpstr>
      <vt:lpstr>Internal and External Hard Drives</vt:lpstr>
      <vt:lpstr>Hard Drive Speed, Disk Caching, and  Hybrid Hard Drives</vt:lpstr>
      <vt:lpstr>Hard Drive Speed, Disk Caching, and  Hybrid Hard Drives</vt:lpstr>
      <vt:lpstr>Optical Discs and Drives</vt:lpstr>
      <vt:lpstr>Optical Discs and Drives</vt:lpstr>
      <vt:lpstr>Optical Discs and Drives</vt:lpstr>
      <vt:lpstr>Optical Discs and Drives</vt:lpstr>
      <vt:lpstr>Optical Discs and Drives</vt:lpstr>
      <vt:lpstr>Optical Discs and Drives</vt:lpstr>
      <vt:lpstr>Flash Memory Storage Systems</vt:lpstr>
      <vt:lpstr>Flash Memory Storage Systems</vt:lpstr>
      <vt:lpstr>Flash Memory Storage Systems</vt:lpstr>
      <vt:lpstr>Flash Memory Storage Systems</vt:lpstr>
      <vt:lpstr>Flash Drive Storage Systems</vt:lpstr>
      <vt:lpstr>Other Types of Storage Systems</vt:lpstr>
      <vt:lpstr>Network and Cloud Storage Systems</vt:lpstr>
      <vt:lpstr>Network and Cloud Storage Systems</vt:lpstr>
      <vt:lpstr>Network and Cloud Storage Systems</vt:lpstr>
      <vt:lpstr>Network and Cloud Storage Systems</vt:lpstr>
      <vt:lpstr>Smart Cards</vt:lpstr>
      <vt:lpstr>Smart Cards</vt:lpstr>
      <vt:lpstr>Holographic Storage</vt:lpstr>
      <vt:lpstr>Holographic Storage</vt:lpstr>
      <vt:lpstr>Storage Systems for Large Computer  Systems</vt:lpstr>
      <vt:lpstr>Storage Systems for Large Computer  Systems</vt:lpstr>
      <vt:lpstr>Storage Systems for Large Computer  Systems</vt:lpstr>
      <vt:lpstr>Storage Systems for Large Computer  Systems</vt:lpstr>
      <vt:lpstr>Storage Systems for Large Computer  Systems</vt:lpstr>
      <vt:lpstr>Magnetic Tape Systems</vt:lpstr>
      <vt:lpstr>Evaluating Your Storage Alternatives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HP</cp:lastModifiedBy>
  <cp:revision>160</cp:revision>
  <dcterms:created xsi:type="dcterms:W3CDTF">2015-07-29T13:27:11Z</dcterms:created>
  <dcterms:modified xsi:type="dcterms:W3CDTF">2024-09-10T08:24:02Z</dcterms:modified>
</cp:coreProperties>
</file>