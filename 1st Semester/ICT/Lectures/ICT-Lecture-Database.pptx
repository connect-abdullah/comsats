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60" r:id="rId4"/>
  </p:sldMasterIdLst>
  <p:notesMasterIdLst>
    <p:notesMasterId r:id="rId43"/>
  </p:notesMasterIdLst>
  <p:sldIdLst>
    <p:sldId id="256" r:id="rId5"/>
    <p:sldId id="316" r:id="rId6"/>
    <p:sldId id="372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41" r:id="rId27"/>
    <p:sldId id="344" r:id="rId28"/>
    <p:sldId id="345" r:id="rId29"/>
    <p:sldId id="346" r:id="rId30"/>
    <p:sldId id="348" r:id="rId31"/>
    <p:sldId id="355" r:id="rId32"/>
    <p:sldId id="356" r:id="rId33"/>
    <p:sldId id="357" r:id="rId34"/>
    <p:sldId id="358" r:id="rId35"/>
    <p:sldId id="359" r:id="rId36"/>
    <p:sldId id="364" r:id="rId37"/>
    <p:sldId id="365" r:id="rId38"/>
    <p:sldId id="366" r:id="rId39"/>
    <p:sldId id="367" r:id="rId40"/>
    <p:sldId id="368" r:id="rId41"/>
    <p:sldId id="371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5260B-8768-4F15-AD73-C84FD0309BF6}" v="248" dt="2024-11-02T10:33:07.1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>
      <p:cViewPr varScale="1">
        <p:scale>
          <a:sx n="105" d="100"/>
          <a:sy n="105" d="100"/>
        </p:scale>
        <p:origin x="184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4-BSE-044) MUHAMMAD ABU HURERA" userId="S::fa24-bse-044@isbstudent.comsats.edu.pk::55564e51-de64-41e3-8904-1bafa45b2f12" providerId="AD" clId="Web-{A6B5260B-8768-4F15-AD73-C84FD0309BF6}"/>
    <pc:docChg chg="modSld">
      <pc:chgData name="(FA24-BSE-044) MUHAMMAD ABU HURERA" userId="S::fa24-bse-044@isbstudent.comsats.edu.pk::55564e51-de64-41e3-8904-1bafa45b2f12" providerId="AD" clId="Web-{A6B5260B-8768-4F15-AD73-C84FD0309BF6}" dt="2024-11-02T10:33:06.502" v="98" actId="20577"/>
      <pc:docMkLst>
        <pc:docMk/>
      </pc:docMkLst>
      <pc:sldChg chg="modSp">
        <pc:chgData name="(FA24-BSE-044) MUHAMMAD ABU HURERA" userId="S::fa24-bse-044@isbstudent.comsats.edu.pk::55564e51-de64-41e3-8904-1bafa45b2f12" providerId="AD" clId="Web-{A6B5260B-8768-4F15-AD73-C84FD0309BF6}" dt="2024-11-02T09:26:29.779" v="6" actId="20577"/>
        <pc:sldMkLst>
          <pc:docMk/>
          <pc:sldMk cId="0" sldId="317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26:29.779" v="6" actId="20577"/>
          <ac:spMkLst>
            <pc:docMk/>
            <pc:sldMk cId="0" sldId="317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27:57.360" v="7" actId="20577"/>
        <pc:sldMkLst>
          <pc:docMk/>
          <pc:sldMk cId="0" sldId="319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27:57.360" v="7" actId="20577"/>
          <ac:spMkLst>
            <pc:docMk/>
            <pc:sldMk cId="0" sldId="319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29:30.164" v="15" actId="20577"/>
        <pc:sldMkLst>
          <pc:docMk/>
          <pc:sldMk cId="0" sldId="320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29:30.164" v="15" actId="20577"/>
          <ac:spMkLst>
            <pc:docMk/>
            <pc:sldMk cId="0" sldId="320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29:41.070" v="16" actId="20577"/>
        <pc:sldMkLst>
          <pc:docMk/>
          <pc:sldMk cId="0" sldId="321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29:41.070" v="16" actId="20577"/>
          <ac:spMkLst>
            <pc:docMk/>
            <pc:sldMk cId="0" sldId="321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31:23.698" v="17" actId="1076"/>
        <pc:sldMkLst>
          <pc:docMk/>
          <pc:sldMk cId="0" sldId="324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31:23.698" v="17" actId="1076"/>
          <ac:spMkLst>
            <pc:docMk/>
            <pc:sldMk cId="0" sldId="324"/>
            <ac:spMk id="4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36:06.179" v="33" actId="20577"/>
        <pc:sldMkLst>
          <pc:docMk/>
          <pc:sldMk cId="0" sldId="325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36:06.179" v="33" actId="20577"/>
          <ac:spMkLst>
            <pc:docMk/>
            <pc:sldMk cId="0" sldId="325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38:47.737" v="39" actId="20577"/>
        <pc:sldMkLst>
          <pc:docMk/>
          <pc:sldMk cId="0" sldId="327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38:47.737" v="39" actId="20577"/>
          <ac:spMkLst>
            <pc:docMk/>
            <pc:sldMk cId="0" sldId="327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39:38.535" v="43" actId="20577"/>
        <pc:sldMkLst>
          <pc:docMk/>
          <pc:sldMk cId="0" sldId="328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39:38.535" v="43" actId="20577"/>
          <ac:spMkLst>
            <pc:docMk/>
            <pc:sldMk cId="0" sldId="328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40:43.178" v="49" actId="20577"/>
        <pc:sldMkLst>
          <pc:docMk/>
          <pc:sldMk cId="0" sldId="330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40:43.178" v="49" actId="20577"/>
          <ac:spMkLst>
            <pc:docMk/>
            <pc:sldMk cId="0" sldId="330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42:12.868" v="52" actId="20577"/>
        <pc:sldMkLst>
          <pc:docMk/>
          <pc:sldMk cId="0" sldId="331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42:12.868" v="52" actId="20577"/>
          <ac:spMkLst>
            <pc:docMk/>
            <pc:sldMk cId="0" sldId="331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42:30.306" v="53" actId="20577"/>
        <pc:sldMkLst>
          <pc:docMk/>
          <pc:sldMk cId="0" sldId="332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42:30.306" v="53" actId="20577"/>
          <ac:spMkLst>
            <pc:docMk/>
            <pc:sldMk cId="0" sldId="332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42:41.087" v="55" actId="20577"/>
        <pc:sldMkLst>
          <pc:docMk/>
          <pc:sldMk cId="0" sldId="333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42:41.087" v="55" actId="20577"/>
          <ac:spMkLst>
            <pc:docMk/>
            <pc:sldMk cId="0" sldId="333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43:56.121" v="58" actId="20577"/>
        <pc:sldMkLst>
          <pc:docMk/>
          <pc:sldMk cId="0" sldId="335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43:56.121" v="58" actId="20577"/>
          <ac:spMkLst>
            <pc:docMk/>
            <pc:sldMk cId="0" sldId="335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05:15.254" v="75" actId="20577"/>
        <pc:sldMkLst>
          <pc:docMk/>
          <pc:sldMk cId="0" sldId="341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05:15.254" v="75" actId="20577"/>
          <ac:spMkLst>
            <pc:docMk/>
            <pc:sldMk cId="0" sldId="341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05:39.694" v="79" actId="20577"/>
        <pc:sldMkLst>
          <pc:docMk/>
          <pc:sldMk cId="0" sldId="344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05:39.694" v="79" actId="20577"/>
          <ac:spMkLst>
            <pc:docMk/>
            <pc:sldMk cId="0" sldId="344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9:46:54.798" v="65" actId="20577"/>
        <pc:sldMkLst>
          <pc:docMk/>
          <pc:sldMk cId="0" sldId="346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9:46:54.798" v="65" actId="20577"/>
          <ac:spMkLst>
            <pc:docMk/>
            <pc:sldMk cId="0" sldId="346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03:22.843" v="73" actId="20577"/>
        <pc:sldMkLst>
          <pc:docMk/>
          <pc:sldMk cId="0" sldId="348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03:22.843" v="73" actId="20577"/>
          <ac:spMkLst>
            <pc:docMk/>
            <pc:sldMk cId="0" sldId="348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28:15.349" v="82" actId="20577"/>
        <pc:sldMkLst>
          <pc:docMk/>
          <pc:sldMk cId="0" sldId="355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28:15.349" v="82" actId="20577"/>
          <ac:spMkLst>
            <pc:docMk/>
            <pc:sldMk cId="0" sldId="355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29:07.433" v="86" actId="20577"/>
        <pc:sldMkLst>
          <pc:docMk/>
          <pc:sldMk cId="0" sldId="357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29:07.433" v="86" actId="20577"/>
          <ac:spMkLst>
            <pc:docMk/>
            <pc:sldMk cId="0" sldId="357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29:27.199" v="87" actId="20577"/>
        <pc:sldMkLst>
          <pc:docMk/>
          <pc:sldMk cId="0" sldId="359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29:27.199" v="87" actId="20577"/>
          <ac:spMkLst>
            <pc:docMk/>
            <pc:sldMk cId="0" sldId="359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30:45.576" v="93" actId="20577"/>
        <pc:sldMkLst>
          <pc:docMk/>
          <pc:sldMk cId="0" sldId="364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30:12.184" v="88" actId="20577"/>
          <ac:spMkLst>
            <pc:docMk/>
            <pc:sldMk cId="0" sldId="364"/>
            <ac:spMk id="2" creationId="{00000000-0000-0000-0000-000000000000}"/>
          </ac:spMkLst>
        </pc:spChg>
        <pc:spChg chg="mod">
          <ac:chgData name="(FA24-BSE-044) MUHAMMAD ABU HURERA" userId="S::fa24-bse-044@isbstudent.comsats.edu.pk::55564e51-de64-41e3-8904-1bafa45b2f12" providerId="AD" clId="Web-{A6B5260B-8768-4F15-AD73-C84FD0309BF6}" dt="2024-11-02T10:30:45.576" v="93" actId="20577"/>
          <ac:spMkLst>
            <pc:docMk/>
            <pc:sldMk cId="0" sldId="364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31:12.467" v="94" actId="20577"/>
        <pc:sldMkLst>
          <pc:docMk/>
          <pc:sldMk cId="0" sldId="365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31:12.467" v="94" actId="20577"/>
          <ac:spMkLst>
            <pc:docMk/>
            <pc:sldMk cId="0" sldId="365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32:39.626" v="97" actId="20577"/>
        <pc:sldMkLst>
          <pc:docMk/>
          <pc:sldMk cId="0" sldId="366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32:39.626" v="97" actId="20577"/>
          <ac:spMkLst>
            <pc:docMk/>
            <pc:sldMk cId="0" sldId="366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10:33:06.502" v="98" actId="20577"/>
        <pc:sldMkLst>
          <pc:docMk/>
          <pc:sldMk cId="0" sldId="367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10:33:06.502" v="98" actId="20577"/>
          <ac:spMkLst>
            <pc:docMk/>
            <pc:sldMk cId="0" sldId="367"/>
            <ac:spMk id="3" creationId="{00000000-0000-0000-0000-000000000000}"/>
          </ac:spMkLst>
        </pc:spChg>
      </pc:sldChg>
      <pc:sldChg chg="modSp">
        <pc:chgData name="(FA24-BSE-044) MUHAMMAD ABU HURERA" userId="S::fa24-bse-044@isbstudent.comsats.edu.pk::55564e51-de64-41e3-8904-1bafa45b2f12" providerId="AD" clId="Web-{A6B5260B-8768-4F15-AD73-C84FD0309BF6}" dt="2024-11-02T08:57:10.409" v="1" actId="20577"/>
        <pc:sldMkLst>
          <pc:docMk/>
          <pc:sldMk cId="0" sldId="372"/>
        </pc:sldMkLst>
        <pc:spChg chg="mod">
          <ac:chgData name="(FA24-BSE-044) MUHAMMAD ABU HURERA" userId="S::fa24-bse-044@isbstudent.comsats.edu.pk::55564e51-de64-41e3-8904-1bafa45b2f12" providerId="AD" clId="Web-{A6B5260B-8768-4F15-AD73-C84FD0309BF6}" dt="2024-11-02T08:57:10.409" v="1" actId="20577"/>
          <ac:spMkLst>
            <pc:docMk/>
            <pc:sldMk cId="0" sldId="372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47964-3B62-4D5B-A939-DE505F670888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7BA28-8807-43C5-99C4-A55965820A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810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6D0A0426-1E93-4650-A475-F448298E202D}" type="datetimeFigureOut">
              <a:rPr lang="en-US" smtClean="0"/>
              <a:pPr/>
              <a:t>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22DB2727-650B-418F-B6A3-9EC51F60F0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/>
              <a:t>CSC 101 – Introduction to Computing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07 (Morley Ch12)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495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marR="77978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collection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 spc="-15">
                <a:latin typeface="Carlito"/>
                <a:cs typeface="Carlito"/>
              </a:rPr>
              <a:t>related data </a:t>
            </a:r>
            <a:r>
              <a:rPr sz="2400" spc="-20">
                <a:latin typeface="Carlito"/>
                <a:cs typeface="Carlito"/>
              </a:rPr>
              <a:t>stored </a:t>
            </a:r>
            <a:r>
              <a:rPr sz="2400">
                <a:latin typeface="Carlito"/>
                <a:cs typeface="Carlito"/>
              </a:rPr>
              <a:t>in a manner </a:t>
            </a:r>
            <a:r>
              <a:rPr sz="2400" spc="-10">
                <a:latin typeface="Carlito"/>
                <a:cs typeface="Carlito"/>
              </a:rPr>
              <a:t>that  </a:t>
            </a:r>
            <a:r>
              <a:rPr sz="2400">
                <a:latin typeface="Carlito"/>
                <a:cs typeface="Carlito"/>
              </a:rPr>
              <a:t>enables </a:t>
            </a:r>
            <a:r>
              <a:rPr sz="2400" spc="-10">
                <a:latin typeface="Carlito"/>
                <a:cs typeface="Carlito"/>
              </a:rPr>
              <a:t>information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5">
                <a:latin typeface="Carlito"/>
                <a:cs typeface="Carlito"/>
              </a:rPr>
              <a:t>be </a:t>
            </a:r>
            <a:r>
              <a:rPr sz="2400" spc="-10">
                <a:latin typeface="Carlito"/>
                <a:cs typeface="Carlito"/>
              </a:rPr>
              <a:t>retrieved </a:t>
            </a:r>
            <a:r>
              <a:rPr sz="2400">
                <a:latin typeface="Carlito"/>
                <a:cs typeface="Carlito"/>
              </a:rPr>
              <a:t>as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Management </a:t>
            </a:r>
            <a:r>
              <a:rPr sz="2400" spc="-20">
                <a:latin typeface="Carlito"/>
                <a:cs typeface="Carlito"/>
              </a:rPr>
              <a:t>System</a:t>
            </a:r>
            <a:r>
              <a:rPr sz="2400" spc="-6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(DBMS)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Used </a:t>
            </a:r>
            <a:r>
              <a:rPr sz="2400" spc="-15">
                <a:latin typeface="Carlito"/>
                <a:cs typeface="Carlito"/>
              </a:rPr>
              <a:t>to create, </a:t>
            </a:r>
            <a:r>
              <a:rPr sz="2400" spc="-5">
                <a:latin typeface="Carlito"/>
                <a:cs typeface="Carlito"/>
              </a:rPr>
              <a:t>maintain, </a:t>
            </a:r>
            <a:r>
              <a:rPr sz="2400">
                <a:latin typeface="Carlito"/>
                <a:cs typeface="Carlito"/>
              </a:rPr>
              <a:t>and access</a:t>
            </a:r>
            <a:r>
              <a:rPr sz="2400" spc="-4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engine</a:t>
            </a:r>
          </a:p>
          <a:p>
            <a:pPr marL="1155700" marR="76962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The part of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5">
                <a:latin typeface="Carlito"/>
                <a:cs typeface="Carlito"/>
              </a:rPr>
              <a:t>program </a:t>
            </a:r>
            <a:r>
              <a:rPr sz="2400" spc="-10">
                <a:latin typeface="Carlito"/>
                <a:cs typeface="Carlito"/>
              </a:rPr>
              <a:t>that </a:t>
            </a:r>
            <a:r>
              <a:rPr sz="2400">
                <a:latin typeface="Carlito"/>
                <a:cs typeface="Carlito"/>
              </a:rPr>
              <a:t>actually </a:t>
            </a:r>
            <a:r>
              <a:rPr sz="2400" spc="-20">
                <a:latin typeface="Carlito"/>
                <a:cs typeface="Carlito"/>
              </a:rPr>
              <a:t>stores</a:t>
            </a:r>
            <a:r>
              <a:rPr sz="2400" spc="-9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and  </a:t>
            </a:r>
            <a:r>
              <a:rPr sz="2400" spc="-10">
                <a:latin typeface="Carlito"/>
                <a:cs typeface="Carlito"/>
              </a:rPr>
              <a:t>retrieves</a:t>
            </a:r>
            <a:r>
              <a:rPr sz="2400" spc="-2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rlito"/>
                <a:cs typeface="Carlito"/>
              </a:rPr>
              <a:t>Microsoft </a:t>
            </a:r>
            <a:r>
              <a:rPr sz="2400">
                <a:latin typeface="Carlito"/>
                <a:cs typeface="Carlito"/>
              </a:rPr>
              <a:t>Access, </a:t>
            </a:r>
            <a:r>
              <a:rPr sz="2400" spc="-5">
                <a:latin typeface="Carlito"/>
                <a:cs typeface="Carlito"/>
              </a:rPr>
              <a:t>OpenOffice </a:t>
            </a:r>
            <a:r>
              <a:rPr sz="2400">
                <a:latin typeface="Carlito"/>
                <a:cs typeface="Carlito"/>
              </a:rPr>
              <a:t>Base, </a:t>
            </a:r>
            <a:r>
              <a:rPr sz="2400" spc="-10">
                <a:latin typeface="Carlito"/>
                <a:cs typeface="Carlito"/>
              </a:rPr>
              <a:t>Corel </a:t>
            </a:r>
            <a:r>
              <a:rPr sz="2400" spc="-25">
                <a:latin typeface="Carlito"/>
                <a:cs typeface="Carlito"/>
              </a:rPr>
              <a:t>Paradox,</a:t>
            </a:r>
            <a:r>
              <a:rPr sz="2400" spc="-5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Oracle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10">
                <a:latin typeface="Carlito"/>
                <a:cs typeface="Carlito"/>
              </a:rPr>
              <a:t>Database,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etc.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 vert="horz" lIns="54864" tIns="91440" rIns="91440" bIns="45720" rtlCol="0" anchor="t">
            <a:normAutofit fontScale="92500" lnSpcReduction="10000"/>
          </a:bodyPr>
          <a:lstStyle/>
          <a:p>
            <a:pPr marL="438785">
              <a:buFont typeface="Arial" pitchFamily="34" charset="0"/>
              <a:buChar char="•"/>
            </a:pPr>
            <a:r>
              <a:rPr lang="en-GB">
                <a:solidFill>
                  <a:schemeClr val="accent1"/>
                </a:solidFill>
              </a:rPr>
              <a:t>Database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What is a Database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Advantages &amp; Disadvantages of the DBMS Approach</a:t>
            </a:r>
          </a:p>
          <a:p>
            <a:pPr marL="438785">
              <a:buFont typeface="Arial" pitchFamily="34" charset="0"/>
              <a:buChar char="•"/>
            </a:pPr>
            <a:r>
              <a:rPr lang="en-GB"/>
              <a:t>Data Concepts &amp; Characteristics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Data Definition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Data Hierarchy 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Entities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Entity Relationships </a:t>
            </a:r>
          </a:p>
          <a:p>
            <a:pPr marL="438785">
              <a:buFont typeface="Arial" pitchFamily="34" charset="0"/>
              <a:buChar char="•"/>
            </a:pPr>
            <a:r>
              <a:rPr lang="en-GB"/>
              <a:t>Data Integrity, Security &amp; Privacy</a:t>
            </a:r>
          </a:p>
          <a:p>
            <a:pPr marL="438785">
              <a:buFont typeface="Arial" pitchFamily="34" charset="0"/>
              <a:buChar char="•"/>
            </a:pPr>
            <a:r>
              <a:rPr lang="en-GB"/>
              <a:t>Centralized vs. Distributed Database Systems </a:t>
            </a:r>
          </a:p>
          <a:p>
            <a:pPr marL="438785"/>
            <a:endParaRPr lang="en-GB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</a:t>
            </a:fld>
            <a:endParaRPr spc="-1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4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69859" cy="3872214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typically </a:t>
            </a:r>
            <a:r>
              <a:rPr sz="2400" spc="-10">
                <a:latin typeface="Carlito"/>
                <a:cs typeface="Carlito"/>
              </a:rPr>
              <a:t>consists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of: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5">
                <a:solidFill>
                  <a:schemeClr val="accent3"/>
                </a:solidFill>
                <a:latin typeface="Carlito"/>
                <a:cs typeface="Carlito"/>
              </a:rPr>
              <a:t>Tables</a:t>
            </a:r>
            <a:endParaRPr sz="2400">
              <a:solidFill>
                <a:schemeClr val="accent3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Collection of </a:t>
            </a:r>
            <a:r>
              <a:rPr sz="2400" spc="-15">
                <a:solidFill>
                  <a:schemeClr val="accent1"/>
                </a:solidFill>
                <a:latin typeface="Carlito"/>
                <a:cs typeface="Carlito"/>
              </a:rPr>
              <a:t>related</a:t>
            </a:r>
            <a:r>
              <a:rPr sz="2400" spc="-55">
                <a:solidFill>
                  <a:schemeClr val="accent1"/>
                </a:solidFill>
                <a:latin typeface="Carlito"/>
                <a:cs typeface="Carlito"/>
              </a:rPr>
              <a:t> </a:t>
            </a:r>
            <a:r>
              <a:rPr sz="2400" spc="-20">
                <a:solidFill>
                  <a:schemeClr val="accent1"/>
                </a:solidFill>
                <a:latin typeface="Carlito"/>
                <a:cs typeface="Carlito"/>
              </a:rPr>
              <a:t>records</a:t>
            </a:r>
            <a:endParaRPr sz="2400">
              <a:solidFill>
                <a:schemeClr val="accent1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Fields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(columns)</a:t>
            </a:r>
            <a:endParaRPr sz="2400">
              <a:latin typeface="Carlito"/>
              <a:cs typeface="Carlito"/>
            </a:endParaRPr>
          </a:p>
          <a:p>
            <a:pPr marL="1155700" marR="52832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Single </a:t>
            </a:r>
            <a:r>
              <a:rPr sz="2400" spc="-10">
                <a:solidFill>
                  <a:schemeClr val="accent1"/>
                </a:solidFill>
                <a:latin typeface="Carlito"/>
                <a:cs typeface="Carlito"/>
              </a:rPr>
              <a:t>category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of </a:t>
            </a:r>
            <a:r>
              <a:rPr sz="2400" spc="-15">
                <a:solidFill>
                  <a:schemeClr val="accent1"/>
                </a:solidFill>
                <a:latin typeface="Carlito"/>
                <a:cs typeface="Carlito"/>
              </a:rPr>
              <a:t>data to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be </a:t>
            </a:r>
            <a:r>
              <a:rPr sz="2400" spc="-20">
                <a:solidFill>
                  <a:schemeClr val="accent1"/>
                </a:solidFill>
                <a:latin typeface="Carlito"/>
                <a:cs typeface="Carlito"/>
              </a:rPr>
              <a:t>stored </a:t>
            </a:r>
            <a:r>
              <a:rPr sz="2400">
                <a:solidFill>
                  <a:schemeClr val="accent1"/>
                </a:solidFill>
                <a:latin typeface="Carlito"/>
                <a:cs typeface="Carlito"/>
              </a:rPr>
              <a:t>in a </a:t>
            </a:r>
            <a:r>
              <a:rPr sz="2400" spc="-10">
                <a:solidFill>
                  <a:schemeClr val="accent1"/>
                </a:solidFill>
                <a:latin typeface="Carlito"/>
                <a:cs typeface="Carlito"/>
              </a:rPr>
              <a:t>database </a:t>
            </a:r>
            <a:r>
              <a:rPr sz="2400" spc="-1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(name, telephone </a:t>
            </a:r>
            <a:r>
              <a:rPr sz="2400" spc="-35">
                <a:latin typeface="Carlito"/>
                <a:cs typeface="Carlito"/>
              </a:rPr>
              <a:t>number, </a:t>
            </a:r>
            <a:r>
              <a:rPr sz="2400" spc="-1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469265" lvl="1">
              <a:lnSpc>
                <a:spcPct val="100000"/>
              </a:lnSpc>
              <a:spcBef>
                <a:spcPts val="580"/>
              </a:spcBef>
              <a:tabLst>
                <a:tab pos="756920" algn="l"/>
              </a:tabLst>
            </a:pP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Records</a:t>
            </a:r>
            <a:r>
              <a:rPr sz="2400" spc="-4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(rows)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Collection of </a:t>
            </a:r>
            <a:r>
              <a:rPr sz="2400" spc="-15">
                <a:latin typeface="Carlito"/>
                <a:cs typeface="Carlito"/>
              </a:rPr>
              <a:t>related </a:t>
            </a:r>
            <a:r>
              <a:rPr sz="2400" spc="-5">
                <a:latin typeface="Carlito"/>
                <a:cs typeface="Carlito"/>
              </a:rPr>
              <a:t>fields </a:t>
            </a:r>
            <a:r>
              <a:rPr sz="2400">
                <a:latin typeface="Carlito"/>
                <a:cs typeface="Carlito"/>
              </a:rPr>
              <a:t>in a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(all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fields  </a:t>
            </a:r>
            <a:r>
              <a:rPr sz="2400" spc="-20">
                <a:latin typeface="Carlito"/>
                <a:cs typeface="Carlito"/>
              </a:rPr>
              <a:t>for </a:t>
            </a:r>
            <a:r>
              <a:rPr sz="2400" spc="-5">
                <a:latin typeface="Carlito"/>
                <a:cs typeface="Carlito"/>
              </a:rPr>
              <a:t>one </a:t>
            </a:r>
            <a:r>
              <a:rPr sz="2400" spc="-30">
                <a:latin typeface="Carlito"/>
                <a:cs typeface="Carlito"/>
              </a:rPr>
              <a:t>customer, </a:t>
            </a:r>
            <a:r>
              <a:rPr sz="2400" spc="-20">
                <a:latin typeface="Carlito"/>
                <a:cs typeface="Carlito"/>
              </a:rPr>
              <a:t>for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example)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76936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>
                <a:latin typeface="Carlito"/>
                <a:cs typeface="Carlito"/>
              </a:rPr>
              <a:t>A </a:t>
            </a:r>
            <a:r>
              <a:rPr sz="2400" spc="-5">
                <a:latin typeface="Carlito"/>
                <a:cs typeface="Carlito"/>
              </a:rPr>
              <a:t>Simple </a:t>
            </a:r>
            <a:r>
              <a:rPr sz="2400" spc="-10">
                <a:latin typeface="Carlito"/>
                <a:cs typeface="Carlito"/>
              </a:rPr>
              <a:t>Relational Database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Example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779" y="1988845"/>
            <a:ext cx="5784620" cy="41100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48296" y="3068967"/>
            <a:ext cx="1003757" cy="5965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5</a:t>
            </a:fld>
            <a:endParaRPr spc="-16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093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05"/>
              <a:t>is </a:t>
            </a:r>
            <a:r>
              <a:rPr sz="3600" spc="-570"/>
              <a:t>a</a:t>
            </a:r>
            <a:r>
              <a:rPr sz="3600" spc="-495"/>
              <a:t> Database?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461884" cy="1708785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Primary</a:t>
            </a:r>
            <a:r>
              <a:rPr sz="2400" spc="-4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20">
                <a:solidFill>
                  <a:srgbClr val="FF0000"/>
                </a:solidFill>
                <a:latin typeface="Carlito"/>
                <a:cs typeface="Carlito"/>
              </a:rPr>
              <a:t>Key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>
                <a:latin typeface="Carlito"/>
                <a:cs typeface="Carlito"/>
              </a:rPr>
              <a:t>Field </a:t>
            </a:r>
            <a:r>
              <a:rPr sz="2400" spc="-10">
                <a:latin typeface="Carlito"/>
                <a:cs typeface="Carlito"/>
              </a:rPr>
              <a:t>that </a:t>
            </a:r>
            <a:r>
              <a:rPr sz="2400" spc="-5">
                <a:latin typeface="Carlito"/>
                <a:cs typeface="Carlito"/>
              </a:rPr>
              <a:t>uniquely identifies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5">
                <a:latin typeface="Carlito"/>
                <a:cs typeface="Carlito"/>
              </a:rPr>
              <a:t>records </a:t>
            </a:r>
            <a:r>
              <a:rPr sz="2400">
                <a:latin typeface="Carlito"/>
                <a:cs typeface="Carlito"/>
              </a:rPr>
              <a:t>in a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>
                <a:latin typeface="Carlito"/>
                <a:cs typeface="Carlito"/>
              </a:rPr>
              <a:t>Field </a:t>
            </a:r>
            <a:r>
              <a:rPr sz="2400">
                <a:latin typeface="Carlito"/>
                <a:cs typeface="Carlito"/>
              </a:rPr>
              <a:t>in a </a:t>
            </a:r>
            <a:r>
              <a:rPr sz="2400" spc="-10">
                <a:latin typeface="Carlito"/>
                <a:cs typeface="Carlito"/>
              </a:rPr>
              <a:t>table that </a:t>
            </a:r>
            <a:r>
              <a:rPr sz="2400">
                <a:latin typeface="Carlito"/>
                <a:cs typeface="Carlito"/>
              </a:rPr>
              <a:t>is </a:t>
            </a:r>
            <a:r>
              <a:rPr sz="2400" spc="-5">
                <a:latin typeface="Carlito"/>
                <a:cs typeface="Carlito"/>
              </a:rPr>
              <a:t>used </a:t>
            </a:r>
            <a:r>
              <a:rPr sz="2400" spc="-15">
                <a:latin typeface="Carlito"/>
                <a:cs typeface="Carlito"/>
              </a:rPr>
              <a:t>to relate </a:t>
            </a:r>
            <a:r>
              <a:rPr sz="2400" spc="-10">
                <a:latin typeface="Carlito"/>
                <a:cs typeface="Carlito"/>
              </a:rPr>
              <a:t>that </a:t>
            </a:r>
            <a:r>
              <a:rPr sz="2400" spc="-5">
                <a:latin typeface="Carlito"/>
                <a:cs typeface="Carlito"/>
              </a:rPr>
              <a:t>table </a:t>
            </a:r>
            <a:r>
              <a:rPr sz="2400" spc="-15">
                <a:latin typeface="Carlito"/>
                <a:cs typeface="Carlito"/>
              </a:rPr>
              <a:t>to</a:t>
            </a:r>
            <a:r>
              <a:rPr sz="2400" spc="-5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other</a:t>
            </a:r>
            <a:endParaRPr sz="2400">
              <a:latin typeface="Carlito"/>
              <a:cs typeface="Carlito"/>
            </a:endParaRPr>
          </a:p>
          <a:p>
            <a:pPr marL="697865">
              <a:lnSpc>
                <a:spcPct val="100000"/>
              </a:lnSpc>
            </a:pPr>
            <a:r>
              <a:rPr sz="2400" spc="-5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3212973"/>
            <a:ext cx="4267200" cy="251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516243" y="3645027"/>
            <a:ext cx="1344781" cy="12478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6</a:t>
            </a:fld>
            <a:endParaRPr spc="-16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7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4465" cy="3502882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latin typeface="Carlito"/>
                <a:cs typeface="Carlito"/>
              </a:rPr>
              <a:t>Individuals </a:t>
            </a:r>
            <a:r>
              <a:rPr sz="2400" spc="-20">
                <a:latin typeface="Carlito"/>
                <a:cs typeface="Carlito"/>
              </a:rPr>
              <a:t>Involved </a:t>
            </a:r>
            <a:r>
              <a:rPr sz="2400">
                <a:latin typeface="Carlito"/>
                <a:cs typeface="Carlito"/>
              </a:rPr>
              <a:t>with a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Management</a:t>
            </a:r>
            <a:r>
              <a:rPr sz="2400" spc="20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r>
              <a:rPr sz="2400" spc="-3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Designers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Design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r>
              <a:rPr sz="2400" spc="-3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Developers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228600" marR="4135120" lvl="2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5">
                <a:latin typeface="Carlito"/>
                <a:cs typeface="Carlito"/>
              </a:rPr>
              <a:t>Create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8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  <a:p>
            <a:pPr marL="299085" marR="4130040" indent="-756920" algn="r"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r>
              <a:rPr sz="2400" spc="-5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Programmers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>
                <a:latin typeface="Carlito"/>
                <a:cs typeface="Carlito"/>
              </a:rPr>
              <a:t>Write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5">
                <a:latin typeface="Carlito"/>
                <a:cs typeface="Carlito"/>
              </a:rPr>
              <a:t>programs </a:t>
            </a:r>
            <a:r>
              <a:rPr sz="2400" spc="-5">
                <a:latin typeface="Carlito"/>
                <a:cs typeface="Carlito"/>
              </a:rPr>
              <a:t>needed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>
                <a:latin typeface="Carlito"/>
                <a:cs typeface="Carlito"/>
              </a:rPr>
              <a:t>access the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or  </a:t>
            </a:r>
            <a:r>
              <a:rPr sz="2400">
                <a:latin typeface="Carlito"/>
                <a:cs typeface="Carlito"/>
              </a:rPr>
              <a:t>tie the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5">
                <a:latin typeface="Carlito"/>
                <a:cs typeface="Carlito"/>
              </a:rPr>
              <a:t>other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programs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8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283450" cy="2513330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r>
              <a:rPr sz="2400" spc="-3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Administrators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697865" marR="37274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>
                <a:latin typeface="Carlito"/>
                <a:cs typeface="Carlito"/>
              </a:rPr>
              <a:t>Responsible </a:t>
            </a:r>
            <a:r>
              <a:rPr sz="2400" spc="-20">
                <a:latin typeface="Carlito"/>
                <a:cs typeface="Carlito"/>
              </a:rPr>
              <a:t>for </a:t>
            </a:r>
            <a:r>
              <a:rPr sz="2400">
                <a:latin typeface="Carlito"/>
                <a:cs typeface="Carlito"/>
              </a:rPr>
              <a:t>managing the </a:t>
            </a:r>
            <a:r>
              <a:rPr sz="2400" spc="-10">
                <a:latin typeface="Carlito"/>
                <a:cs typeface="Carlito"/>
              </a:rPr>
              <a:t>databases </a:t>
            </a:r>
            <a:r>
              <a:rPr sz="2400">
                <a:latin typeface="Carlito"/>
                <a:cs typeface="Carlito"/>
              </a:rPr>
              <a:t>within</a:t>
            </a:r>
            <a:r>
              <a:rPr sz="2400" spc="-9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an  </a:t>
            </a:r>
            <a:r>
              <a:rPr sz="2400" spc="-15">
                <a:latin typeface="Carlito"/>
                <a:cs typeface="Carlito"/>
              </a:rPr>
              <a:t>organization</a:t>
            </a:r>
            <a:endParaRPr sz="2400">
              <a:latin typeface="Carlito"/>
              <a:cs typeface="Carlito"/>
            </a:endParaRPr>
          </a:p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>
                <a:latin typeface="Carlito"/>
                <a:cs typeface="Carlito"/>
              </a:rPr>
              <a:t>Users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>
                <a:latin typeface="Carlito"/>
                <a:cs typeface="Carlito"/>
              </a:rPr>
              <a:t>Individuals </a:t>
            </a:r>
            <a:r>
              <a:rPr sz="2400">
                <a:latin typeface="Carlito"/>
                <a:cs typeface="Carlito"/>
              </a:rPr>
              <a:t>who </a:t>
            </a:r>
            <a:r>
              <a:rPr sz="2400" spc="-10">
                <a:latin typeface="Carlito"/>
                <a:cs typeface="Carlito"/>
              </a:rPr>
              <a:t>enter </a:t>
            </a:r>
            <a:r>
              <a:rPr sz="2400" spc="-15">
                <a:latin typeface="Carlito"/>
                <a:cs typeface="Carlito"/>
              </a:rPr>
              <a:t>data, update data, </a:t>
            </a:r>
            <a:r>
              <a:rPr sz="2400">
                <a:latin typeface="Carlito"/>
                <a:cs typeface="Carlito"/>
              </a:rPr>
              <a:t>and </a:t>
            </a:r>
            <a:r>
              <a:rPr sz="2400" spc="-10">
                <a:latin typeface="Carlito"/>
                <a:cs typeface="Carlito"/>
              </a:rPr>
              <a:t>retrieve  information </a:t>
            </a:r>
            <a:r>
              <a:rPr sz="2400" spc="-15">
                <a:latin typeface="Carlito"/>
                <a:cs typeface="Carlito"/>
              </a:rPr>
              <a:t>from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4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534414"/>
            <a:ext cx="3718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latin typeface="Carlito"/>
                <a:cs typeface="Carlito"/>
              </a:rPr>
              <a:t>The </a:t>
            </a:r>
            <a:r>
              <a:rPr sz="2400" spc="-15">
                <a:latin typeface="Carlito"/>
                <a:cs typeface="Carlito"/>
              </a:rPr>
              <a:t>Evolution </a:t>
            </a:r>
            <a:r>
              <a:rPr sz="2400" spc="-5">
                <a:latin typeface="Carlito"/>
                <a:cs typeface="Carlito"/>
              </a:rPr>
              <a:t>of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9600" y="2362200"/>
            <a:ext cx="8253095" cy="3808729"/>
            <a:chOff x="611555" y="1988845"/>
            <a:chExt cx="8253095" cy="3808729"/>
          </a:xfrm>
        </p:grpSpPr>
        <p:sp>
          <p:nvSpPr>
            <p:cNvPr id="5" name="object 5"/>
            <p:cNvSpPr/>
            <p:nvPr/>
          </p:nvSpPr>
          <p:spPr>
            <a:xfrm>
              <a:off x="611555" y="1988845"/>
              <a:ext cx="7303526" cy="380845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12404" y="2348865"/>
              <a:ext cx="1051902" cy="100583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9</a:t>
            </a:fld>
            <a:endParaRPr spc="-16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103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95"/>
              <a:t>What </a:t>
            </a:r>
            <a:r>
              <a:rPr sz="3600" spc="-560"/>
              <a:t>Is </a:t>
            </a:r>
            <a:r>
              <a:rPr sz="3600" spc="-570"/>
              <a:t>a</a:t>
            </a:r>
            <a:r>
              <a:rPr sz="3600" spc="-370"/>
              <a:t> </a:t>
            </a:r>
            <a:r>
              <a:rPr sz="3600" spc="-500"/>
              <a:t>Database?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10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064375" cy="397700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>
                <a:latin typeface="Carlito"/>
                <a:cs typeface="Carlito"/>
              </a:rPr>
              <a:t>Advantages </a:t>
            </a:r>
            <a:r>
              <a:rPr sz="2400">
                <a:latin typeface="Carlito"/>
                <a:cs typeface="Carlito"/>
              </a:rPr>
              <a:t>and </a:t>
            </a:r>
            <a:r>
              <a:rPr sz="2400" spc="-15">
                <a:latin typeface="Carlito"/>
                <a:cs typeface="Carlito"/>
              </a:rPr>
              <a:t>Disadvantages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DBMS </a:t>
            </a:r>
            <a:r>
              <a:rPr sz="2400" spc="-10">
                <a:latin typeface="Carlito"/>
                <a:cs typeface="Carlito"/>
              </a:rPr>
              <a:t>Approach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>
                <a:latin typeface="Carlito"/>
                <a:cs typeface="Carlito"/>
              </a:rPr>
              <a:t>Advantages</a:t>
            </a:r>
            <a:endParaRPr sz="2400">
              <a:latin typeface="Carlito"/>
              <a:cs typeface="Carlito"/>
            </a:endParaRPr>
          </a:p>
          <a:p>
            <a:pPr marL="228600" marR="2889250" lvl="2" indent="-228600" algn="r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228600" algn="l"/>
              </a:tabLst>
            </a:pPr>
            <a:r>
              <a:rPr sz="2400" spc="-10">
                <a:latin typeface="Carlito"/>
                <a:cs typeface="Carlito"/>
              </a:rPr>
              <a:t>Low level </a:t>
            </a:r>
            <a:r>
              <a:rPr sz="2400" spc="-5">
                <a:latin typeface="Carlito"/>
                <a:cs typeface="Carlito"/>
              </a:rPr>
              <a:t>of</a:t>
            </a:r>
            <a:r>
              <a:rPr sz="2400" spc="-5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redundancy</a:t>
            </a:r>
            <a:endParaRPr sz="2400">
              <a:latin typeface="Carlito"/>
              <a:cs typeface="Carlito"/>
            </a:endParaRPr>
          </a:p>
          <a:p>
            <a:pPr marL="228600" marR="2861945" lvl="3" indent="-228600" algn="r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28600" algn="l"/>
              </a:tabLst>
            </a:pPr>
            <a:r>
              <a:rPr sz="2400" spc="-20">
                <a:latin typeface="Carlito"/>
                <a:cs typeface="Carlito"/>
              </a:rPr>
              <a:t>Faster </a:t>
            </a:r>
            <a:r>
              <a:rPr sz="2400" spc="-5">
                <a:latin typeface="Carlito"/>
                <a:cs typeface="Carlito"/>
              </a:rPr>
              <a:t>response</a:t>
            </a:r>
            <a:r>
              <a:rPr sz="2400" spc="-9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time</a:t>
            </a: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10">
                <a:latin typeface="Carlito"/>
                <a:cs typeface="Carlito"/>
              </a:rPr>
              <a:t>Lower </a:t>
            </a:r>
            <a:r>
              <a:rPr sz="2400" spc="-20">
                <a:latin typeface="Carlito"/>
                <a:cs typeface="Carlito"/>
              </a:rPr>
              <a:t>storage</a:t>
            </a:r>
            <a:r>
              <a:rPr sz="2400" spc="-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requirements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>
                <a:latin typeface="Carlito"/>
                <a:cs typeface="Carlito"/>
              </a:rPr>
              <a:t>Easier </a:t>
            </a:r>
            <a:r>
              <a:rPr sz="2400" spc="-15">
                <a:latin typeface="Carlito"/>
                <a:cs typeface="Carlito"/>
              </a:rPr>
              <a:t>to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secure</a:t>
            </a:r>
            <a:endParaRPr sz="2400">
              <a:latin typeface="Carlito"/>
              <a:cs typeface="Carlito"/>
            </a:endParaRPr>
          </a:p>
          <a:p>
            <a:pPr marL="1612900" lvl="3" indent="-229235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1613535" algn="l"/>
              </a:tabLst>
            </a:pPr>
            <a:r>
              <a:rPr sz="2400" spc="-5">
                <a:latin typeface="Carlito"/>
                <a:cs typeface="Carlito"/>
              </a:rPr>
              <a:t>Increased </a:t>
            </a:r>
            <a:r>
              <a:rPr sz="2400" spc="-15">
                <a:latin typeface="Carlito"/>
                <a:cs typeface="Carlito"/>
              </a:rPr>
              <a:t>data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accuracy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>
                <a:latin typeface="Carlito"/>
                <a:cs typeface="Carlito"/>
              </a:rPr>
              <a:t>Disadvantages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Increased vulnerability </a:t>
            </a:r>
            <a:r>
              <a:rPr sz="2400" spc="-10">
                <a:latin typeface="Carlito"/>
                <a:cs typeface="Carlito"/>
              </a:rPr>
              <a:t>(backup </a:t>
            </a:r>
            <a:r>
              <a:rPr sz="2400">
                <a:latin typeface="Carlito"/>
                <a:cs typeface="Carlito"/>
              </a:rPr>
              <a:t>is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essential)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6266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40"/>
              <a:t>Inside </a:t>
            </a:r>
            <a:r>
              <a:rPr sz="3600" spc="-425"/>
              <a:t>the </a:t>
            </a:r>
            <a:r>
              <a:rPr sz="3600" spc="-415"/>
              <a:t>Industry</a:t>
            </a:r>
            <a:r>
              <a:rPr sz="3600" spc="175"/>
              <a:t> </a:t>
            </a:r>
            <a:r>
              <a:rPr sz="3600" spc="-60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0" y="1838260"/>
            <a:ext cx="4462272" cy="139461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000" b="1" dirty="0">
                <a:latin typeface="Carlito"/>
                <a:cs typeface="Carlito"/>
              </a:rPr>
              <a:t>File </a:t>
            </a:r>
            <a:r>
              <a:rPr sz="2000" b="1" spc="-10" dirty="0">
                <a:latin typeface="Carlito"/>
                <a:cs typeface="Carlito"/>
              </a:rPr>
              <a:t>Management</a:t>
            </a:r>
            <a:r>
              <a:rPr sz="2000" b="1" spc="-80" dirty="0">
                <a:latin typeface="Carlito"/>
                <a:cs typeface="Carlito"/>
              </a:rPr>
              <a:t> </a:t>
            </a:r>
            <a:r>
              <a:rPr sz="2000" b="1" spc="-15" dirty="0">
                <a:latin typeface="Carlito"/>
                <a:cs typeface="Carlito"/>
              </a:rPr>
              <a:t>Systems</a:t>
            </a:r>
            <a:endParaRPr sz="2000" dirty="0">
              <a:latin typeface="Carlito"/>
              <a:cs typeface="Carlito"/>
            </a:endParaRPr>
          </a:p>
          <a:p>
            <a:pPr marL="756285" marR="1093470" indent="-287020"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latin typeface="Arial"/>
                <a:cs typeface="Arial"/>
              </a:rPr>
              <a:t>– </a:t>
            </a:r>
            <a:r>
              <a:rPr sz="2000" spc="-35" dirty="0">
                <a:latin typeface="Carlito"/>
                <a:cs typeface="Carlito"/>
              </a:rPr>
              <a:t>Tables </a:t>
            </a:r>
            <a:r>
              <a:rPr sz="2000" spc="-15" dirty="0">
                <a:latin typeface="Carlito"/>
                <a:cs typeface="Carlito"/>
              </a:rPr>
              <a:t>are  </a:t>
            </a:r>
            <a:r>
              <a:rPr sz="2000" spc="-5" dirty="0">
                <a:latin typeface="Carlito"/>
                <a:cs typeface="Carlito"/>
              </a:rPr>
              <a:t>not </a:t>
            </a:r>
            <a:r>
              <a:rPr sz="2000" spc="-15" dirty="0">
                <a:latin typeface="Carlito"/>
                <a:cs typeface="Carlito"/>
              </a:rPr>
              <a:t>related  </a:t>
            </a:r>
            <a:r>
              <a:rPr sz="2000" spc="-5" dirty="0">
                <a:latin typeface="Carlito"/>
                <a:cs typeface="Carlito"/>
              </a:rPr>
              <a:t>so </a:t>
            </a:r>
            <a:r>
              <a:rPr sz="2000" spc="-10" dirty="0">
                <a:latin typeface="Carlito"/>
                <a:cs typeface="Carlito"/>
              </a:rPr>
              <a:t>more  </a:t>
            </a:r>
            <a:r>
              <a:rPr sz="2000" dirty="0">
                <a:latin typeface="Carlito"/>
                <a:cs typeface="Carlito"/>
              </a:rPr>
              <a:t>time-  </a:t>
            </a:r>
            <a:r>
              <a:rPr sz="2000" spc="-10" dirty="0">
                <a:latin typeface="Carlito"/>
                <a:cs typeface="Carlito"/>
              </a:rPr>
              <a:t>consuming  </a:t>
            </a:r>
            <a:r>
              <a:rPr sz="2000" dirty="0">
                <a:latin typeface="Carlito"/>
                <a:cs typeface="Carlito"/>
              </a:rPr>
              <a:t>and </a:t>
            </a:r>
            <a:r>
              <a:rPr sz="2000" spc="-10" dirty="0">
                <a:latin typeface="Carlito"/>
                <a:cs typeface="Carlito"/>
              </a:rPr>
              <a:t>more  </a:t>
            </a:r>
            <a:r>
              <a:rPr sz="2000" spc="-35" dirty="0">
                <a:latin typeface="Carlito"/>
                <a:cs typeface="Carlito"/>
              </a:rPr>
              <a:t>r</a:t>
            </a:r>
            <a:r>
              <a:rPr sz="2000" dirty="0">
                <a:latin typeface="Carlito"/>
                <a:cs typeface="Carlito"/>
              </a:rPr>
              <a:t>edund</a:t>
            </a:r>
            <a:r>
              <a:rPr sz="2000" spc="5" dirty="0">
                <a:latin typeface="Carlito"/>
                <a:cs typeface="Carlito"/>
              </a:rPr>
              <a:t>a</a:t>
            </a:r>
            <a:r>
              <a:rPr sz="2000" spc="-5" dirty="0">
                <a:latin typeface="Carlito"/>
                <a:cs typeface="Carlito"/>
              </a:rPr>
              <a:t>ncy</a:t>
            </a:r>
            <a:endParaRPr sz="2000" dirty="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1816" y="1592668"/>
            <a:ext cx="5662456" cy="3966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11</a:t>
            </a:fld>
            <a:endParaRPr spc="-16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430"/>
              <a:t>Concepts </a:t>
            </a:r>
            <a:r>
              <a:rPr spc="-360"/>
              <a:t>and</a:t>
            </a:r>
            <a:r>
              <a:rPr spc="-405"/>
              <a:t> </a:t>
            </a:r>
            <a:r>
              <a:rPr spc="-45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12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5332730" cy="4026102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Data</a:t>
            </a:r>
            <a:r>
              <a:rPr sz="2400" spc="-3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Hierarchy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chemeClr val="tx2"/>
                </a:solidFill>
                <a:latin typeface="Carlito"/>
                <a:cs typeface="Carlito"/>
              </a:rPr>
              <a:t>Fields/columns</a:t>
            </a:r>
            <a:r>
              <a:rPr lang="en-US" sz="2400" spc="-10">
                <a:solidFill>
                  <a:schemeClr val="tx2"/>
                </a:solidFill>
                <a:latin typeface="Carlito"/>
                <a:cs typeface="Carlito"/>
              </a:rPr>
              <a:t>:</a:t>
            </a:r>
            <a:endParaRPr sz="2400">
              <a:solidFill>
                <a:schemeClr val="tx2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Hold single pieces of</a:t>
            </a:r>
            <a:r>
              <a:rPr sz="2400" spc="-5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data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20">
                <a:solidFill>
                  <a:schemeClr val="tx2"/>
                </a:solidFill>
                <a:latin typeface="Carlito"/>
                <a:cs typeface="Carlito"/>
              </a:rPr>
              <a:t>Records/rows</a:t>
            </a:r>
            <a:r>
              <a:rPr lang="en-US" sz="2400" spc="-20">
                <a:solidFill>
                  <a:schemeClr val="tx2"/>
                </a:solidFill>
                <a:latin typeface="Carlito"/>
                <a:cs typeface="Carlito"/>
              </a:rPr>
              <a:t>:</a:t>
            </a:r>
            <a:endParaRPr sz="2400">
              <a:solidFill>
                <a:schemeClr val="tx2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Groups </a:t>
            </a: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of </a:t>
            </a: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related</a:t>
            </a:r>
            <a:r>
              <a:rPr sz="2400" spc="-2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fields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5">
                <a:solidFill>
                  <a:schemeClr val="tx2"/>
                </a:solidFill>
                <a:latin typeface="Carlito"/>
                <a:cs typeface="Carlito"/>
              </a:rPr>
              <a:t>Tables</a:t>
            </a:r>
            <a:r>
              <a:rPr lang="en-US" sz="2400" spc="-35">
                <a:solidFill>
                  <a:schemeClr val="tx2"/>
                </a:solidFill>
                <a:latin typeface="Carlito"/>
                <a:cs typeface="Carlito"/>
              </a:rPr>
              <a:t>:</a:t>
            </a:r>
            <a:endParaRPr sz="2400">
              <a:solidFill>
                <a:schemeClr val="tx2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Collection of </a:t>
            </a: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related</a:t>
            </a:r>
            <a:r>
              <a:rPr sz="2400" spc="-6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records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chemeClr val="tx2"/>
                </a:solidFill>
                <a:latin typeface="Carlito"/>
                <a:cs typeface="Carlito"/>
              </a:rPr>
              <a:t>Database</a:t>
            </a:r>
            <a:r>
              <a:rPr lang="en-US" sz="2400" spc="-10">
                <a:solidFill>
                  <a:schemeClr val="tx2"/>
                </a:solidFill>
                <a:latin typeface="Carlito"/>
                <a:cs typeface="Carlito"/>
              </a:rPr>
              <a:t>: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Contains </a:t>
            </a:r>
            <a:r>
              <a:rPr sz="240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a </a:t>
            </a: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group of </a:t>
            </a: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related</a:t>
            </a:r>
            <a:r>
              <a:rPr sz="2400" spc="-7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tables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430"/>
              <a:t>Concepts </a:t>
            </a:r>
            <a:r>
              <a:rPr spc="-360"/>
              <a:t>and</a:t>
            </a:r>
            <a:r>
              <a:rPr spc="-405"/>
              <a:t> </a:t>
            </a:r>
            <a:r>
              <a:rPr spc="-45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13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4490" cy="47085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latin typeface="Carlito"/>
                <a:cs typeface="Carlito"/>
              </a:rPr>
              <a:t>Entities </a:t>
            </a:r>
            <a:r>
              <a:rPr sz="2400">
                <a:latin typeface="Carlito"/>
                <a:cs typeface="Carlito"/>
              </a:rPr>
              <a:t>and </a:t>
            </a:r>
            <a:r>
              <a:rPr sz="2400" spc="-5">
                <a:latin typeface="Carlito"/>
                <a:cs typeface="Carlito"/>
              </a:rPr>
              <a:t>Entity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Relationships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Entity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person, </a:t>
            </a:r>
            <a:r>
              <a:rPr sz="2400" spc="-5">
                <a:latin typeface="Carlito"/>
                <a:cs typeface="Carlito"/>
              </a:rPr>
              <a:t>object, </a:t>
            </a:r>
            <a:r>
              <a:rPr sz="2400" spc="-10">
                <a:latin typeface="Carlito"/>
                <a:cs typeface="Carlito"/>
              </a:rPr>
              <a:t>or </a:t>
            </a:r>
            <a:r>
              <a:rPr sz="2400" spc="-15">
                <a:latin typeface="Carlito"/>
                <a:cs typeface="Carlito"/>
              </a:rPr>
              <a:t>event </a:t>
            </a:r>
            <a:r>
              <a:rPr sz="2400" spc="-5">
                <a:latin typeface="Carlito"/>
                <a:cs typeface="Carlito"/>
              </a:rPr>
              <a:t>of importance </a:t>
            </a:r>
            <a:r>
              <a:rPr sz="2400" spc="-15">
                <a:latin typeface="Carlito"/>
                <a:cs typeface="Carlito"/>
              </a:rPr>
              <a:t>to</a:t>
            </a:r>
            <a:r>
              <a:rPr sz="2400" spc="-5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the</a:t>
            </a:r>
          </a:p>
          <a:p>
            <a:pPr marL="1155700">
              <a:lnSpc>
                <a:spcPct val="100000"/>
              </a:lnSpc>
            </a:pPr>
            <a:r>
              <a:rPr sz="2400" spc="-15">
                <a:latin typeface="Carlito"/>
                <a:cs typeface="Carlito"/>
              </a:rPr>
              <a:t>organization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Entities </a:t>
            </a:r>
            <a:r>
              <a:rPr sz="2400" spc="-10">
                <a:latin typeface="Carlito"/>
                <a:cs typeface="Carlito"/>
              </a:rPr>
              <a:t>that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5">
                <a:latin typeface="Carlito"/>
                <a:cs typeface="Carlito"/>
              </a:rPr>
              <a:t>organization wants to </a:t>
            </a:r>
            <a:r>
              <a:rPr sz="2400" spc="-25">
                <a:latin typeface="Carlito"/>
                <a:cs typeface="Carlito"/>
              </a:rPr>
              <a:t>store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about  </a:t>
            </a:r>
            <a:r>
              <a:rPr sz="2400" spc="-5">
                <a:latin typeface="Carlito"/>
                <a:cs typeface="Carlito"/>
              </a:rPr>
              <a:t>typically </a:t>
            </a:r>
            <a:r>
              <a:rPr sz="2400" spc="-10">
                <a:latin typeface="Carlito"/>
                <a:cs typeface="Carlito"/>
              </a:rPr>
              <a:t>becomes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6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>
                <a:latin typeface="Carlito"/>
                <a:cs typeface="Carlito"/>
              </a:rPr>
              <a:t>Attributes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latin typeface="Carlito"/>
                <a:cs typeface="Carlito"/>
              </a:rPr>
              <a:t>Characteristics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>
                <a:latin typeface="Carlito"/>
                <a:cs typeface="Carlito"/>
              </a:rPr>
              <a:t>an</a:t>
            </a:r>
            <a:r>
              <a:rPr sz="2400" spc="-5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entity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Char char="•"/>
              <a:tabLst>
                <a:tab pos="1156335" algn="l"/>
              </a:tabLst>
            </a:pPr>
            <a:r>
              <a:rPr sz="2400" spc="-120">
                <a:latin typeface="Arial"/>
                <a:cs typeface="Arial"/>
              </a:rPr>
              <a:t>Typically </a:t>
            </a:r>
            <a:r>
              <a:rPr sz="2400" spc="-125">
                <a:latin typeface="Arial"/>
                <a:cs typeface="Arial"/>
              </a:rPr>
              <a:t>become </a:t>
            </a:r>
            <a:r>
              <a:rPr sz="2400" spc="-70">
                <a:latin typeface="Arial"/>
                <a:cs typeface="Arial"/>
              </a:rPr>
              <a:t>fields </a:t>
            </a:r>
            <a:r>
              <a:rPr sz="2400" spc="-30">
                <a:latin typeface="Arial"/>
                <a:cs typeface="Arial"/>
              </a:rPr>
              <a:t>in </a:t>
            </a:r>
            <a:r>
              <a:rPr sz="2400" spc="-25">
                <a:latin typeface="Arial"/>
                <a:cs typeface="Arial"/>
              </a:rPr>
              <a:t>the </a:t>
            </a:r>
            <a:r>
              <a:rPr sz="2400" spc="-45">
                <a:latin typeface="Arial"/>
                <a:cs typeface="Arial"/>
              </a:rPr>
              <a:t>entity’s</a:t>
            </a:r>
            <a:r>
              <a:rPr sz="2400" spc="-434">
                <a:latin typeface="Arial"/>
                <a:cs typeface="Arial"/>
              </a:rPr>
              <a:t> </a:t>
            </a:r>
            <a:r>
              <a:rPr sz="2400" spc="-130">
                <a:latin typeface="Arial"/>
                <a:cs typeface="Arial"/>
              </a:rPr>
              <a:t>database </a:t>
            </a:r>
            <a:r>
              <a:rPr sz="2400" spc="-55">
                <a:latin typeface="Arial"/>
                <a:cs typeface="Arial"/>
              </a:rPr>
              <a:t>table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Relationship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  <a:tab pos="4234180" algn="l"/>
              </a:tabLst>
            </a:pPr>
            <a:r>
              <a:rPr sz="2400">
                <a:latin typeface="Carlito"/>
                <a:cs typeface="Carlito"/>
              </a:rPr>
              <a:t>An</a:t>
            </a:r>
            <a:r>
              <a:rPr sz="2400" spc="-1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association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between	</a:t>
            </a:r>
            <a:r>
              <a:rPr sz="2400" spc="-10">
                <a:latin typeface="Carlito"/>
                <a:cs typeface="Carlito"/>
              </a:rPr>
              <a:t>two or more</a:t>
            </a:r>
            <a:r>
              <a:rPr sz="2400" spc="-5">
                <a:latin typeface="Carlito"/>
                <a:cs typeface="Carlito"/>
              </a:rPr>
              <a:t> entities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430"/>
              <a:t>Concepts </a:t>
            </a:r>
            <a:r>
              <a:rPr spc="-360"/>
              <a:t>and</a:t>
            </a:r>
            <a:r>
              <a:rPr spc="-405"/>
              <a:t> </a:t>
            </a:r>
            <a:r>
              <a:rPr spc="-45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14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993444" y="1469796"/>
            <a:ext cx="7579995" cy="4630114"/>
          </a:xfrm>
          <a:prstGeom prst="rect">
            <a:avLst/>
          </a:prstGeom>
        </p:spPr>
        <p:txBody>
          <a:bodyPr vert="horz" wrap="square" lIns="0" tIns="46355" rIns="0" bIns="0" rtlCol="0" anchor="t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365"/>
              </a:spcBef>
              <a:buFont typeface="Arial"/>
              <a:buChar char="–"/>
              <a:tabLst>
                <a:tab pos="299720" algn="l"/>
              </a:tabLst>
            </a:pPr>
            <a:r>
              <a:rPr sz="2200" spc="-10" dirty="0">
                <a:latin typeface="Carlito"/>
                <a:cs typeface="Carlito"/>
              </a:rPr>
              <a:t>One </a:t>
            </a:r>
            <a:r>
              <a:rPr sz="2200" spc="-15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One (1:1) Entity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Relationships</a:t>
            </a:r>
            <a:r>
              <a:rPr lang="en-US" sz="2200" spc="-10" dirty="0">
                <a:latin typeface="Carlito"/>
                <a:cs typeface="Carlito"/>
              </a:rPr>
              <a:t>:-</a:t>
            </a:r>
            <a:endParaRPr sz="2200" dirty="0">
              <a:latin typeface="Carlito"/>
              <a:cs typeface="Carlito"/>
            </a:endParaRPr>
          </a:p>
          <a:p>
            <a:pPr marL="697865" marR="169545" lvl="1" indent="-228600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200" spc="-10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One entity </a:t>
            </a:r>
            <a:r>
              <a:rPr sz="2200" spc="-5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related to </a:t>
            </a:r>
            <a:r>
              <a:rPr sz="2200" spc="-5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only </a:t>
            </a:r>
            <a:r>
              <a:rPr sz="2200" spc="-10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one </a:t>
            </a:r>
            <a:r>
              <a:rPr sz="2200" spc="-5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other </a:t>
            </a:r>
            <a:r>
              <a:rPr sz="2200" spc="-10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entity </a:t>
            </a:r>
            <a:r>
              <a:rPr sz="2200" spc="-5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of a </a:t>
            </a:r>
            <a:r>
              <a:rPr sz="2200" spc="-10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particular  </a:t>
            </a:r>
            <a:r>
              <a:rPr sz="2200" spc="-5" dirty="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type</a:t>
            </a:r>
            <a:endParaRPr sz="2200" dirty="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227965" marR="2912745" lvl="1" indent="-227965" algn="r">
              <a:lnSpc>
                <a:spcPct val="100000"/>
              </a:lnSpc>
              <a:spcBef>
                <a:spcPts val="225"/>
              </a:spcBef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Not a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common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type of</a:t>
            </a:r>
            <a:r>
              <a:rPr sz="2200" spc="50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relationship</a:t>
            </a:r>
            <a:endParaRPr sz="22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286385" marR="2886075" indent="-286385" algn="r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286385" algn="l"/>
                <a:tab pos="299720" algn="l"/>
              </a:tabLst>
            </a:pP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One </a:t>
            </a:r>
            <a:r>
              <a:rPr sz="2200" spc="-15" dirty="0">
                <a:solidFill>
                  <a:srgbClr val="FF0000"/>
                </a:solidFill>
                <a:latin typeface="Carlito"/>
                <a:cs typeface="Carlito"/>
              </a:rPr>
              <a:t>to Many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(O:M) Entity</a:t>
            </a:r>
            <a:r>
              <a:rPr sz="2200" spc="6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Relationship</a:t>
            </a:r>
            <a:endParaRPr sz="22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227965" marR="2946400" lvl="1" indent="-227965" algn="r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227965" algn="l"/>
                <a:tab pos="228600" algn="l"/>
              </a:tabLst>
            </a:pP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Most common </a:t>
            </a:r>
            <a:r>
              <a:rPr sz="2200" spc="-5" dirty="0">
                <a:solidFill>
                  <a:srgbClr val="FF0000"/>
                </a:solidFill>
                <a:latin typeface="Carlito"/>
                <a:cs typeface="Carlito"/>
              </a:rPr>
              <a:t>type of</a:t>
            </a:r>
            <a:r>
              <a:rPr sz="2200" spc="4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Carlito"/>
                <a:cs typeface="Carlito"/>
              </a:rPr>
              <a:t>relationship</a:t>
            </a:r>
            <a:endParaRPr sz="2200" dirty="0">
              <a:solidFill>
                <a:srgbClr val="FF0000"/>
              </a:solidFill>
              <a:latin typeface="Carlito"/>
              <a:cs typeface="Carlito"/>
            </a:endParaRPr>
          </a:p>
          <a:p>
            <a:pPr marL="697865" lvl="1" indent="-229235" algn="just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200" spc="-5" dirty="0">
                <a:latin typeface="Carlito"/>
                <a:cs typeface="Carlito"/>
              </a:rPr>
              <a:t>One </a:t>
            </a:r>
            <a:r>
              <a:rPr sz="2200" spc="-10" dirty="0">
                <a:latin typeface="Carlito"/>
                <a:cs typeface="Carlito"/>
              </a:rPr>
              <a:t>entity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related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5" dirty="0">
                <a:latin typeface="Carlito"/>
                <a:cs typeface="Carlito"/>
              </a:rPr>
              <a:t>than one other</a:t>
            </a:r>
            <a:r>
              <a:rPr sz="2200" spc="9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entity</a:t>
            </a:r>
            <a:endParaRPr sz="2200" dirty="0">
              <a:latin typeface="Carlito"/>
              <a:cs typeface="Carlito"/>
            </a:endParaRPr>
          </a:p>
          <a:p>
            <a:pPr marL="1155065" marR="824865" indent="-228600" algn="just">
              <a:lnSpc>
                <a:spcPts val="2380"/>
              </a:lnSpc>
              <a:spcBef>
                <a:spcPts val="560"/>
              </a:spcBef>
            </a:pPr>
            <a:r>
              <a:rPr sz="2200" spc="-5" dirty="0">
                <a:latin typeface="Arial"/>
                <a:cs typeface="Arial"/>
              </a:rPr>
              <a:t>– </a:t>
            </a:r>
            <a:r>
              <a:rPr sz="2200" spc="-5" dirty="0">
                <a:latin typeface="Carlito"/>
                <a:cs typeface="Carlito"/>
              </a:rPr>
              <a:t>A </a:t>
            </a:r>
            <a:r>
              <a:rPr sz="2200" spc="-10" dirty="0">
                <a:latin typeface="Carlito"/>
                <a:cs typeface="Carlito"/>
              </a:rPr>
              <a:t>supplier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10" dirty="0">
                <a:latin typeface="Carlito"/>
                <a:cs typeface="Carlito"/>
              </a:rPr>
              <a:t>supply more </a:t>
            </a:r>
            <a:r>
              <a:rPr sz="2200" spc="-5" dirty="0">
                <a:latin typeface="Carlito"/>
                <a:cs typeface="Carlito"/>
              </a:rPr>
              <a:t>than one </a:t>
            </a:r>
            <a:r>
              <a:rPr sz="2200" spc="-15" dirty="0">
                <a:latin typeface="Carlito"/>
                <a:cs typeface="Carlito"/>
              </a:rPr>
              <a:t>product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5" dirty="0">
                <a:latin typeface="Carlito"/>
                <a:cs typeface="Carlito"/>
              </a:rPr>
              <a:t>a  </a:t>
            </a:r>
            <a:r>
              <a:rPr sz="2200" spc="-15" dirty="0">
                <a:latin typeface="Carlito"/>
                <a:cs typeface="Carlito"/>
              </a:rPr>
              <a:t>company</a:t>
            </a:r>
            <a:endParaRPr sz="2200" dirty="0">
              <a:latin typeface="Carlito"/>
              <a:cs typeface="Carlito"/>
            </a:endParaRPr>
          </a:p>
          <a:p>
            <a:pPr marL="299085" indent="-287020" algn="just">
              <a:lnSpc>
                <a:spcPct val="100000"/>
              </a:lnSpc>
              <a:spcBef>
                <a:spcPts val="225"/>
              </a:spcBef>
              <a:buFont typeface="Arial"/>
              <a:buChar char="–"/>
              <a:tabLst>
                <a:tab pos="299720" algn="l"/>
              </a:tabLst>
            </a:pP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20" dirty="0">
                <a:latin typeface="Carlito"/>
                <a:cs typeface="Carlito"/>
              </a:rPr>
              <a:t>to </a:t>
            </a:r>
            <a:r>
              <a:rPr sz="2200" spc="-15" dirty="0">
                <a:latin typeface="Carlito"/>
                <a:cs typeface="Carlito"/>
              </a:rPr>
              <a:t>Many </a:t>
            </a:r>
            <a:r>
              <a:rPr sz="2200" spc="-10" dirty="0">
                <a:latin typeface="Carlito"/>
                <a:cs typeface="Carlito"/>
              </a:rPr>
              <a:t>(M:M) Entity</a:t>
            </a:r>
            <a:r>
              <a:rPr sz="2200" spc="65" dirty="0">
                <a:latin typeface="Carlito"/>
                <a:cs typeface="Carlito"/>
              </a:rPr>
              <a:t> </a:t>
            </a:r>
            <a:r>
              <a:rPr sz="2200" spc="-10" dirty="0">
                <a:latin typeface="Carlito"/>
                <a:cs typeface="Carlito"/>
              </a:rPr>
              <a:t>Relationships</a:t>
            </a:r>
            <a:endParaRPr sz="2200" dirty="0">
              <a:latin typeface="Carlito"/>
              <a:cs typeface="Carlito"/>
            </a:endParaRPr>
          </a:p>
          <a:p>
            <a:pPr marL="697865" marR="5080" lvl="1" indent="-228600" algn="just">
              <a:lnSpc>
                <a:spcPts val="2380"/>
              </a:lnSpc>
              <a:spcBef>
                <a:spcPts val="560"/>
              </a:spcBef>
              <a:buFont typeface="Arial"/>
              <a:buChar char="•"/>
              <a:tabLst>
                <a:tab pos="698500" algn="l"/>
              </a:tabLst>
            </a:pPr>
            <a:r>
              <a:rPr sz="2200" spc="-10" dirty="0">
                <a:latin typeface="Carlito"/>
                <a:cs typeface="Carlito"/>
              </a:rPr>
              <a:t>One entity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related to </a:t>
            </a:r>
            <a:r>
              <a:rPr sz="2200" spc="-10" dirty="0">
                <a:latin typeface="Carlito"/>
                <a:cs typeface="Carlito"/>
              </a:rPr>
              <a:t>more </a:t>
            </a:r>
            <a:r>
              <a:rPr sz="2200" spc="-5" dirty="0">
                <a:latin typeface="Carlito"/>
                <a:cs typeface="Carlito"/>
              </a:rPr>
              <a:t>than one other </a:t>
            </a:r>
            <a:r>
              <a:rPr sz="2200" spc="-30" dirty="0">
                <a:latin typeface="Carlito"/>
                <a:cs typeface="Carlito"/>
              </a:rPr>
              <a:t>entity, </a:t>
            </a:r>
            <a:r>
              <a:rPr sz="2200" spc="-5" dirty="0">
                <a:latin typeface="Carlito"/>
                <a:cs typeface="Carlito"/>
              </a:rPr>
              <a:t>and  those </a:t>
            </a:r>
            <a:r>
              <a:rPr sz="2200" spc="-10" dirty="0">
                <a:latin typeface="Carlito"/>
                <a:cs typeface="Carlito"/>
              </a:rPr>
              <a:t>entities </a:t>
            </a:r>
            <a:r>
              <a:rPr sz="2200" spc="-15" dirty="0">
                <a:latin typeface="Carlito"/>
                <a:cs typeface="Carlito"/>
              </a:rPr>
              <a:t>can </a:t>
            </a:r>
            <a:r>
              <a:rPr sz="2200" spc="-5" dirty="0">
                <a:latin typeface="Carlito"/>
                <a:cs typeface="Carlito"/>
              </a:rPr>
              <a:t>be </a:t>
            </a:r>
            <a:r>
              <a:rPr sz="2200" spc="-15" dirty="0">
                <a:latin typeface="Carlito"/>
                <a:cs typeface="Carlito"/>
              </a:rPr>
              <a:t>related to </a:t>
            </a:r>
            <a:r>
              <a:rPr sz="2200" spc="-5" dirty="0">
                <a:latin typeface="Carlito"/>
                <a:cs typeface="Carlito"/>
              </a:rPr>
              <a:t>multiple </a:t>
            </a:r>
            <a:r>
              <a:rPr sz="2200" spc="-10" dirty="0">
                <a:latin typeface="Carlito"/>
                <a:cs typeface="Carlito"/>
              </a:rPr>
              <a:t>entities </a:t>
            </a:r>
            <a:r>
              <a:rPr sz="2200" spc="-5" dirty="0">
                <a:latin typeface="Carlito"/>
                <a:cs typeface="Carlito"/>
              </a:rPr>
              <a:t>of the same  type as the original</a:t>
            </a:r>
            <a:r>
              <a:rPr sz="2200" spc="-10" dirty="0">
                <a:latin typeface="Carlito"/>
                <a:cs typeface="Carlito"/>
              </a:rPr>
              <a:t> entity</a:t>
            </a:r>
            <a:endParaRPr sz="22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430"/>
              <a:t>Concepts </a:t>
            </a:r>
            <a:r>
              <a:rPr spc="-360"/>
              <a:t>and</a:t>
            </a:r>
            <a:r>
              <a:rPr spc="-405"/>
              <a:t> </a:t>
            </a:r>
            <a:r>
              <a:rPr spc="-450"/>
              <a:t>Characteristics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15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17815" cy="4232910"/>
          </a:xfrm>
          <a:prstGeom prst="rect">
            <a:avLst/>
          </a:prstGeom>
        </p:spPr>
        <p:txBody>
          <a:bodyPr vert="horz" wrap="square" lIns="0" tIns="4889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Data</a:t>
            </a:r>
            <a:r>
              <a:rPr sz="2400" spc="-3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Definition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marR="547370" lvl="1" indent="-287020">
              <a:lnSpc>
                <a:spcPts val="2600"/>
              </a:lnSpc>
              <a:spcBef>
                <a:spcPts val="610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>
                <a:latin typeface="Carlito"/>
                <a:cs typeface="Carlito"/>
              </a:rPr>
              <a:t>"</a:t>
            </a:r>
            <a:r>
              <a:rPr sz="2400" spc="-5">
                <a:latin typeface="Carlito"/>
                <a:cs typeface="Carlito"/>
              </a:rPr>
              <a:t>The </a:t>
            </a:r>
            <a:r>
              <a:rPr sz="2400" spc="-10">
                <a:latin typeface="Carlito"/>
                <a:cs typeface="Carlito"/>
              </a:rPr>
              <a:t>process </a:t>
            </a:r>
            <a:r>
              <a:rPr sz="2400" spc="-5">
                <a:latin typeface="Carlito"/>
                <a:cs typeface="Carlito"/>
              </a:rPr>
              <a:t>of describing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0">
                <a:latin typeface="Carlito"/>
                <a:cs typeface="Carlito"/>
              </a:rPr>
              <a:t>properties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 spc="-15">
                <a:latin typeface="Carlito"/>
                <a:cs typeface="Carlito"/>
              </a:rPr>
              <a:t>data to </a:t>
            </a:r>
            <a:r>
              <a:rPr sz="2400" spc="-5">
                <a:latin typeface="Carlito"/>
                <a:cs typeface="Carlito"/>
              </a:rPr>
              <a:t>be  </a:t>
            </a:r>
            <a:r>
              <a:rPr sz="2400">
                <a:latin typeface="Carlito"/>
                <a:cs typeface="Carlito"/>
              </a:rPr>
              <a:t>included in a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5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</a:t>
            </a:r>
            <a:r>
              <a:rPr lang="en-US" sz="2400" spc="-5">
                <a:latin typeface="Carlito"/>
                <a:cs typeface="Carlito"/>
              </a:rPr>
              <a:t>."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During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10">
                <a:latin typeface="Carlito"/>
                <a:cs typeface="Carlito"/>
              </a:rPr>
              <a:t>definition, </a:t>
            </a:r>
            <a:r>
              <a:rPr sz="2400">
                <a:latin typeface="Carlito"/>
                <a:cs typeface="Carlito"/>
              </a:rPr>
              <a:t>each </a:t>
            </a:r>
            <a:r>
              <a:rPr sz="2400" spc="-5">
                <a:latin typeface="Carlito"/>
                <a:cs typeface="Carlito"/>
              </a:rPr>
              <a:t>field </a:t>
            </a:r>
            <a:r>
              <a:rPr sz="2400">
                <a:latin typeface="Carlito"/>
                <a:cs typeface="Carlito"/>
              </a:rPr>
              <a:t>is</a:t>
            </a:r>
            <a:r>
              <a:rPr sz="2400" spc="-4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assigned: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Name </a:t>
            </a:r>
            <a:r>
              <a:rPr sz="2400" spc="-10">
                <a:latin typeface="Carlito"/>
                <a:cs typeface="Carlito"/>
              </a:rPr>
              <a:t>(must </a:t>
            </a:r>
            <a:r>
              <a:rPr sz="2400" spc="-5">
                <a:latin typeface="Carlito"/>
                <a:cs typeface="Carlito"/>
              </a:rPr>
              <a:t>be unique </a:t>
            </a:r>
            <a:r>
              <a:rPr sz="2400">
                <a:latin typeface="Carlito"/>
                <a:cs typeface="Carlito"/>
              </a:rPr>
              <a:t>within the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type </a:t>
            </a:r>
            <a:r>
              <a:rPr sz="2400" spc="-5">
                <a:latin typeface="Carlito"/>
                <a:cs typeface="Carlito"/>
              </a:rPr>
              <a:t>(such </a:t>
            </a:r>
            <a:r>
              <a:rPr sz="2400">
                <a:latin typeface="Carlito"/>
                <a:cs typeface="Carlito"/>
              </a:rPr>
              <a:t>as </a:t>
            </a:r>
            <a:r>
              <a:rPr sz="2400" spc="-50">
                <a:latin typeface="Carlito"/>
                <a:cs typeface="Carlito"/>
              </a:rPr>
              <a:t>Text, </a:t>
            </a:r>
            <a:r>
              <a:rPr sz="2400" spc="-30">
                <a:latin typeface="Carlito"/>
                <a:cs typeface="Carlito"/>
              </a:rPr>
              <a:t>Number, </a:t>
            </a:r>
            <a:r>
              <a:rPr sz="2400" spc="-25">
                <a:latin typeface="Carlito"/>
                <a:cs typeface="Carlito"/>
              </a:rPr>
              <a:t>Currency,</a:t>
            </a:r>
            <a:r>
              <a:rPr sz="2400" spc="-10">
                <a:latin typeface="Carlito"/>
                <a:cs typeface="Carlito"/>
              </a:rPr>
              <a:t> Date/Time)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Description (optional description </a:t>
            </a:r>
            <a:r>
              <a:rPr sz="2400" spc="-10">
                <a:latin typeface="Carlito"/>
                <a:cs typeface="Carlito"/>
              </a:rPr>
              <a:t>of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field)</a:t>
            </a:r>
            <a:endParaRPr sz="2400">
              <a:latin typeface="Carlito"/>
              <a:cs typeface="Carlito"/>
            </a:endParaRPr>
          </a:p>
          <a:p>
            <a:pPr marL="1155700" marR="509905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latin typeface="Carlito"/>
                <a:cs typeface="Carlito"/>
              </a:rPr>
              <a:t>Properties </a:t>
            </a:r>
            <a:r>
              <a:rPr sz="2400" spc="-5">
                <a:latin typeface="Carlito"/>
                <a:cs typeface="Carlito"/>
              </a:rPr>
              <a:t>(field </a:t>
            </a:r>
            <a:r>
              <a:rPr sz="2400" spc="-15">
                <a:latin typeface="Carlito"/>
                <a:cs typeface="Carlito"/>
              </a:rPr>
              <a:t>size, format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field, allowable  </a:t>
            </a:r>
            <a:r>
              <a:rPr sz="2400" spc="-15">
                <a:latin typeface="Carlito"/>
                <a:cs typeface="Carlito"/>
              </a:rPr>
              <a:t>range, </a:t>
            </a:r>
            <a:r>
              <a:rPr sz="2400">
                <a:latin typeface="Carlito"/>
                <a:cs typeface="Carlito"/>
              </a:rPr>
              <a:t>if </a:t>
            </a:r>
            <a:r>
              <a:rPr sz="2400" spc="-5">
                <a:latin typeface="Carlito"/>
                <a:cs typeface="Carlito"/>
              </a:rPr>
              <a:t>field </a:t>
            </a:r>
            <a:r>
              <a:rPr sz="2400">
                <a:latin typeface="Carlito"/>
                <a:cs typeface="Carlito"/>
              </a:rPr>
              <a:t>is </a:t>
            </a:r>
            <a:r>
              <a:rPr sz="2400" spc="-10">
                <a:latin typeface="Carlito"/>
                <a:cs typeface="Carlito"/>
              </a:rPr>
              <a:t>required,</a:t>
            </a:r>
            <a:r>
              <a:rPr sz="240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etc.)</a:t>
            </a:r>
            <a:endParaRPr sz="2400">
              <a:latin typeface="Carlito"/>
              <a:cs typeface="Carlito"/>
            </a:endParaRPr>
          </a:p>
          <a:p>
            <a:pPr marL="756285" marR="812800" lvl="1" indent="-287020">
              <a:lnSpc>
                <a:spcPts val="259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Finished </a:t>
            </a:r>
            <a:r>
              <a:rPr sz="2400" spc="-10">
                <a:latin typeface="Carlito"/>
                <a:cs typeface="Carlito"/>
              </a:rPr>
              <a:t>specifications </a:t>
            </a:r>
            <a:r>
              <a:rPr sz="2400" spc="-20">
                <a:latin typeface="Carlito"/>
                <a:cs typeface="Carlito"/>
              </a:rPr>
              <a:t>for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table become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table  </a:t>
            </a:r>
            <a:r>
              <a:rPr sz="2400" spc="-10">
                <a:latin typeface="Carlito"/>
                <a:cs typeface="Carlito"/>
              </a:rPr>
              <a:t>structure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189345"/>
            <a:chOff x="0" y="0"/>
            <a:chExt cx="9144000" cy="6189345"/>
          </a:xfrm>
        </p:grpSpPr>
        <p:sp>
          <p:nvSpPr>
            <p:cNvPr id="3" name="object 3"/>
            <p:cNvSpPr/>
            <p:nvPr/>
          </p:nvSpPr>
          <p:spPr>
            <a:xfrm>
              <a:off x="827582" y="1484757"/>
              <a:ext cx="7618730" cy="38301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7537" y="4941163"/>
              <a:ext cx="1238250" cy="124777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430"/>
              <a:t>Concepts </a:t>
            </a:r>
            <a:r>
              <a:rPr spc="-360"/>
              <a:t>and</a:t>
            </a:r>
            <a:r>
              <a:rPr spc="-405"/>
              <a:t> </a:t>
            </a:r>
            <a:r>
              <a:rPr spc="-450"/>
              <a:t>Characteristics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16</a:t>
            </a:fld>
            <a:endParaRPr spc="-16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125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430"/>
              <a:t>Concepts </a:t>
            </a:r>
            <a:r>
              <a:rPr spc="-360"/>
              <a:t>and</a:t>
            </a:r>
            <a:r>
              <a:rPr spc="-405"/>
              <a:t> </a:t>
            </a:r>
            <a:r>
              <a:rPr spc="-450"/>
              <a:t>Characteristics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17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981315" cy="4635500"/>
          </a:xfrm>
          <a:prstGeom prst="rect">
            <a:avLst/>
          </a:prstGeom>
        </p:spPr>
        <p:txBody>
          <a:bodyPr vert="horz" wrap="square" lIns="0" tIns="4889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The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Data</a:t>
            </a:r>
            <a:r>
              <a:rPr sz="2400" spc="-2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Dictionary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rlito"/>
                <a:cs typeface="Carlito"/>
              </a:rPr>
              <a:t>Contains </a:t>
            </a:r>
            <a:r>
              <a:rPr sz="2400">
                <a:latin typeface="Carlito"/>
                <a:cs typeface="Carlito"/>
              </a:rPr>
              <a:t>all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10">
                <a:latin typeface="Carlito"/>
                <a:cs typeface="Carlito"/>
              </a:rPr>
              <a:t>definitions </a:t>
            </a:r>
            <a:r>
              <a:rPr sz="2400">
                <a:latin typeface="Carlito"/>
                <a:cs typeface="Carlito"/>
              </a:rPr>
              <a:t>in a </a:t>
            </a:r>
            <a:r>
              <a:rPr sz="2400" spc="-10">
                <a:latin typeface="Carlito"/>
                <a:cs typeface="Carlito"/>
              </a:rPr>
              <a:t>database,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including:</a:t>
            </a: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40">
                <a:solidFill>
                  <a:srgbClr val="FF0000"/>
                </a:solidFill>
                <a:latin typeface="Carlito"/>
                <a:cs typeface="Carlito"/>
              </a:rPr>
              <a:t>Table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structures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Security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information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(passwords,</a:t>
            </a:r>
            <a:r>
              <a:rPr sz="2400" spc="-5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etc.)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Relationships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between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the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tables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in the</a:t>
            </a:r>
            <a:r>
              <a:rPr sz="2400" spc="-6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Basic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information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about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each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table, such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as the</a:t>
            </a:r>
            <a:r>
              <a:rPr sz="2400" spc="-10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current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number of</a:t>
            </a:r>
            <a:r>
              <a:rPr sz="2400" spc="-20">
                <a:solidFill>
                  <a:srgbClr val="FF0000"/>
                </a:solidFill>
                <a:latin typeface="Carlito"/>
                <a:cs typeface="Carlito"/>
              </a:rPr>
              <a:t> records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Does not </a:t>
            </a:r>
            <a:r>
              <a:rPr sz="2400" spc="-15">
                <a:latin typeface="Carlito"/>
                <a:cs typeface="Carlito"/>
              </a:rPr>
              <a:t>contain </a:t>
            </a:r>
            <a:r>
              <a:rPr sz="2400" spc="-20">
                <a:latin typeface="Carlito"/>
                <a:cs typeface="Carlito"/>
              </a:rPr>
              <a:t>any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in the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756285" marR="412750" lvl="1" indent="-287020">
              <a:lnSpc>
                <a:spcPts val="2600"/>
              </a:lnSpc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Does </a:t>
            </a:r>
            <a:r>
              <a:rPr sz="2400" spc="-15">
                <a:latin typeface="Carlito"/>
                <a:cs typeface="Carlito"/>
              </a:rPr>
              <a:t>contain </a:t>
            </a:r>
            <a:r>
              <a:rPr sz="2400" spc="-10">
                <a:latin typeface="Carlito"/>
                <a:cs typeface="Carlito"/>
              </a:rPr>
              <a:t>metadata, </a:t>
            </a:r>
            <a:r>
              <a:rPr sz="2400">
                <a:latin typeface="Carlito"/>
                <a:cs typeface="Carlito"/>
              </a:rPr>
              <a:t>which is </a:t>
            </a:r>
            <a:r>
              <a:rPr sz="2400" spc="-10">
                <a:latin typeface="Carlito"/>
                <a:cs typeface="Carlito"/>
              </a:rPr>
              <a:t>information </a:t>
            </a:r>
            <a:r>
              <a:rPr sz="2400" spc="-5">
                <a:latin typeface="Carlito"/>
                <a:cs typeface="Carlito"/>
              </a:rPr>
              <a:t>about</a:t>
            </a:r>
            <a:r>
              <a:rPr sz="2400" spc="-10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the 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tables</a:t>
            </a:r>
            <a:endParaRPr sz="2400">
              <a:latin typeface="Carlito"/>
              <a:cs typeface="Carlito"/>
            </a:endParaRPr>
          </a:p>
          <a:p>
            <a:pPr marL="756285" marR="377825" lvl="1" indent="-287020">
              <a:lnSpc>
                <a:spcPts val="259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rlito"/>
                <a:cs typeface="Carlito"/>
              </a:rPr>
              <a:t>Ensures that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5">
                <a:latin typeface="Carlito"/>
                <a:cs typeface="Carlito"/>
              </a:rPr>
              <a:t>being </a:t>
            </a:r>
            <a:r>
              <a:rPr sz="2400" spc="-15">
                <a:latin typeface="Carlito"/>
                <a:cs typeface="Carlito"/>
              </a:rPr>
              <a:t>entered into </a:t>
            </a:r>
            <a:r>
              <a:rPr sz="2400" spc="-5">
                <a:latin typeface="Carlito"/>
                <a:cs typeface="Carlito"/>
              </a:rPr>
              <a:t>the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does  not </a:t>
            </a:r>
            <a:r>
              <a:rPr sz="2400" spc="-10">
                <a:latin typeface="Carlito"/>
                <a:cs typeface="Carlito"/>
              </a:rPr>
              <a:t>violate </a:t>
            </a:r>
            <a:r>
              <a:rPr sz="2400" spc="-15">
                <a:latin typeface="Carlito"/>
                <a:cs typeface="Carlito"/>
              </a:rPr>
              <a:t>any </a:t>
            </a:r>
            <a:r>
              <a:rPr sz="2400" spc="-5">
                <a:latin typeface="Carlito"/>
                <a:cs typeface="Carlito"/>
              </a:rPr>
              <a:t>specified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criteria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355"/>
              <a:t>Integrity, </a:t>
            </a:r>
            <a:r>
              <a:rPr spc="-425"/>
              <a:t>Security, </a:t>
            </a:r>
            <a:r>
              <a:rPr spc="-360"/>
              <a:t>and</a:t>
            </a:r>
            <a:r>
              <a:rPr spc="-300"/>
              <a:t> </a:t>
            </a:r>
            <a:r>
              <a:rPr spc="-450"/>
              <a:t>Privacy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18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051165" cy="4561840"/>
          </a:xfrm>
          <a:prstGeom prst="rect">
            <a:avLst/>
          </a:prstGeom>
        </p:spPr>
        <p:txBody>
          <a:bodyPr vert="horz" wrap="square" lIns="0" tIns="4889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>
                <a:solidFill>
                  <a:schemeClr val="accent1">
                    <a:lumMod val="60000"/>
                    <a:lumOff val="40000"/>
                  </a:schemeClr>
                </a:solidFill>
                <a:latin typeface="Carlito"/>
                <a:cs typeface="Carlito"/>
              </a:rPr>
              <a:t>Data</a:t>
            </a:r>
            <a:r>
              <a:rPr sz="2400" spc="-30">
                <a:solidFill>
                  <a:schemeClr val="accent1">
                    <a:lumMod val="60000"/>
                    <a:lumOff val="40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chemeClr val="accent1">
                    <a:lumMod val="60000"/>
                    <a:lumOff val="40000"/>
                  </a:schemeClr>
                </a:solidFill>
                <a:latin typeface="Carlito"/>
                <a:cs typeface="Carlito"/>
              </a:rPr>
              <a:t>Integrity</a:t>
            </a:r>
            <a:endParaRPr lang="en-US" sz="2400">
              <a:solidFill>
                <a:schemeClr val="accent1">
                  <a:lumMod val="60000"/>
                  <a:lumOff val="40000"/>
                </a:schemeClr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Accuracy of</a:t>
            </a:r>
            <a:r>
              <a:rPr sz="2400" spc="-5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ts val="2735"/>
              </a:lnSpc>
              <a:spcBef>
                <a:spcPts val="290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Quality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 spc="-15">
                <a:latin typeface="Carlito"/>
                <a:cs typeface="Carlito"/>
              </a:rPr>
              <a:t>data entered </a:t>
            </a:r>
            <a:r>
              <a:rPr sz="2400" spc="-5">
                <a:latin typeface="Carlito"/>
                <a:cs typeface="Carlito"/>
              </a:rPr>
              <a:t>determines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quality</a:t>
            </a:r>
            <a:r>
              <a:rPr sz="2400" spc="-7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of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ts val="2735"/>
              </a:lnSpc>
            </a:pPr>
            <a:r>
              <a:rPr sz="2400" spc="-15">
                <a:latin typeface="Carlito"/>
                <a:cs typeface="Carlito"/>
              </a:rPr>
              <a:t>generated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information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>
                <a:latin typeface="Carlito"/>
                <a:cs typeface="Carlito"/>
              </a:rPr>
              <a:t>Data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Validation</a:t>
            </a:r>
            <a:endParaRPr sz="2400">
              <a:latin typeface="Carlito"/>
              <a:cs typeface="Carlito"/>
            </a:endParaRPr>
          </a:p>
          <a:p>
            <a:pPr marL="1155700" marR="25400" lvl="2" indent="-228600">
              <a:lnSpc>
                <a:spcPts val="2590"/>
              </a:lnSpc>
              <a:spcBef>
                <a:spcPts val="61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latin typeface="Carlito"/>
                <a:cs typeface="Carlito"/>
              </a:rPr>
              <a:t>Process </a:t>
            </a:r>
            <a:r>
              <a:rPr sz="2400" spc="-5">
                <a:latin typeface="Carlito"/>
                <a:cs typeface="Carlito"/>
              </a:rPr>
              <a:t>of ensuring </a:t>
            </a:r>
            <a:r>
              <a:rPr sz="2400" spc="-10">
                <a:latin typeface="Carlito"/>
                <a:cs typeface="Carlito"/>
              </a:rPr>
              <a:t>that </a:t>
            </a:r>
            <a:r>
              <a:rPr sz="2400" spc="-15">
                <a:latin typeface="Carlito"/>
                <a:cs typeface="Carlito"/>
              </a:rPr>
              <a:t>data entered into </a:t>
            </a:r>
            <a:r>
              <a:rPr sz="2400" spc="-5">
                <a:latin typeface="Carlito"/>
                <a:cs typeface="Carlito"/>
              </a:rPr>
              <a:t>the </a:t>
            </a:r>
            <a:r>
              <a:rPr sz="2400" spc="-10">
                <a:latin typeface="Carlito"/>
                <a:cs typeface="Carlito"/>
              </a:rPr>
              <a:t>database  </a:t>
            </a:r>
            <a:r>
              <a:rPr sz="2400">
                <a:latin typeface="Carlito"/>
                <a:cs typeface="Carlito"/>
              </a:rPr>
              <a:t>is</a:t>
            </a:r>
            <a:r>
              <a:rPr sz="2400" spc="-2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valid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>
                <a:latin typeface="Carlito"/>
                <a:cs typeface="Carlito"/>
              </a:rPr>
              <a:t>Record </a:t>
            </a:r>
            <a:r>
              <a:rPr sz="2400" spc="-10">
                <a:latin typeface="Carlito"/>
                <a:cs typeface="Carlito"/>
              </a:rPr>
              <a:t>validation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rules</a:t>
            </a:r>
            <a:r>
              <a:rPr lang="en-US" sz="2400">
                <a:latin typeface="Carlito"/>
                <a:cs typeface="Carlito"/>
              </a:rPr>
              <a:t>:-</a:t>
            </a:r>
            <a:endParaRPr sz="2400">
              <a:latin typeface="Carlito"/>
              <a:cs typeface="Carlito"/>
            </a:endParaRPr>
          </a:p>
          <a:p>
            <a:pPr marL="1612900" marR="651510" indent="-228600">
              <a:lnSpc>
                <a:spcPts val="2590"/>
              </a:lnSpc>
              <a:spcBef>
                <a:spcPts val="615"/>
              </a:spcBef>
            </a:pPr>
            <a:r>
              <a:rPr sz="2400">
                <a:latin typeface="Arial"/>
                <a:cs typeface="Arial"/>
              </a:rPr>
              <a:t>– </a:t>
            </a:r>
            <a:r>
              <a:rPr sz="2400" spc="-5">
                <a:latin typeface="Carlito"/>
                <a:cs typeface="Carlito"/>
              </a:rPr>
              <a:t>Checks </a:t>
            </a:r>
            <a:r>
              <a:rPr sz="2400">
                <a:latin typeface="Carlito"/>
                <a:cs typeface="Carlito"/>
              </a:rPr>
              <a:t>all </a:t>
            </a:r>
            <a:r>
              <a:rPr sz="2400" spc="-5">
                <a:latin typeface="Carlito"/>
                <a:cs typeface="Carlito"/>
              </a:rPr>
              <a:t>fields </a:t>
            </a:r>
            <a:r>
              <a:rPr sz="2400" spc="-25">
                <a:latin typeface="Carlito"/>
                <a:cs typeface="Carlito"/>
              </a:rPr>
              <a:t>before </a:t>
            </a:r>
            <a:r>
              <a:rPr sz="2400" spc="-5">
                <a:latin typeface="Carlito"/>
                <a:cs typeface="Carlito"/>
              </a:rPr>
              <a:t>changes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20">
                <a:latin typeface="Carlito"/>
                <a:cs typeface="Carlito"/>
              </a:rPr>
              <a:t>record</a:t>
            </a:r>
            <a:r>
              <a:rPr sz="2400" spc="-25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are  saved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ts val="259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Can be </a:t>
            </a:r>
            <a:r>
              <a:rPr sz="2400" spc="-15">
                <a:latin typeface="Carlito"/>
                <a:cs typeface="Carlito"/>
              </a:rPr>
              <a:t>enforced </a:t>
            </a:r>
            <a:r>
              <a:rPr sz="2400" spc="-5">
                <a:latin typeface="Carlito"/>
                <a:cs typeface="Carlito"/>
              </a:rPr>
              <a:t>on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5">
                <a:latin typeface="Carlito"/>
                <a:cs typeface="Carlito"/>
              </a:rPr>
              <a:t>per transaction basis so the </a:t>
            </a:r>
            <a:r>
              <a:rPr sz="2400" spc="-10">
                <a:latin typeface="Carlito"/>
                <a:cs typeface="Carlito"/>
              </a:rPr>
              <a:t>entire  </a:t>
            </a:r>
            <a:r>
              <a:rPr sz="2400" spc="-5">
                <a:latin typeface="Carlito"/>
                <a:cs typeface="Carlito"/>
              </a:rPr>
              <a:t>transaction </a:t>
            </a:r>
            <a:r>
              <a:rPr sz="2400">
                <a:latin typeface="Carlito"/>
                <a:cs typeface="Carlito"/>
              </a:rPr>
              <a:t>will </a:t>
            </a:r>
            <a:r>
              <a:rPr sz="2400" spc="-15">
                <a:latin typeface="Carlito"/>
                <a:cs typeface="Carlito"/>
              </a:rPr>
              <a:t>fail </a:t>
            </a:r>
            <a:r>
              <a:rPr sz="2400">
                <a:latin typeface="Carlito"/>
                <a:cs typeface="Carlito"/>
              </a:rPr>
              <a:t>if </a:t>
            </a:r>
            <a:r>
              <a:rPr sz="2400" spc="-5">
                <a:latin typeface="Carlito"/>
                <a:cs typeface="Carlito"/>
              </a:rPr>
              <a:t>one part </a:t>
            </a:r>
            <a:r>
              <a:rPr sz="2400">
                <a:latin typeface="Carlito"/>
                <a:cs typeface="Carlito"/>
              </a:rPr>
              <a:t>is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invalid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355"/>
              <a:t>Integrity, </a:t>
            </a:r>
            <a:r>
              <a:rPr spc="-425"/>
              <a:t>Security, </a:t>
            </a:r>
            <a:r>
              <a:rPr spc="-360"/>
              <a:t>and</a:t>
            </a:r>
            <a:r>
              <a:rPr spc="-300"/>
              <a:t> </a:t>
            </a:r>
            <a:r>
              <a:rPr spc="-450"/>
              <a:t>Privacy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397750" cy="1270000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>
                <a:solidFill>
                  <a:schemeClr val="accent2">
                    <a:lumMod val="49000"/>
                  </a:schemeClr>
                </a:solidFill>
                <a:latin typeface="Carlito"/>
                <a:cs typeface="Carlito"/>
              </a:rPr>
              <a:t>Database</a:t>
            </a:r>
            <a:r>
              <a:rPr sz="2400" spc="-30">
                <a:solidFill>
                  <a:schemeClr val="accent2">
                    <a:lumMod val="49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chemeClr val="accent2">
                    <a:lumMod val="49000"/>
                  </a:schemeClr>
                </a:solidFill>
                <a:latin typeface="Carlito"/>
                <a:cs typeface="Carlito"/>
              </a:rPr>
              <a:t>Locking</a:t>
            </a:r>
            <a:endParaRPr lang="en-US" sz="2400">
              <a:solidFill>
                <a:schemeClr val="accent2">
                  <a:lumMod val="49000"/>
                </a:schemeClr>
              </a:solidFill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>
                <a:latin typeface="Carlito"/>
                <a:cs typeface="Carlito"/>
              </a:rPr>
              <a:t>Prevents </a:t>
            </a:r>
            <a:r>
              <a:rPr sz="2400" spc="-10">
                <a:latin typeface="Carlito"/>
                <a:cs typeface="Carlito"/>
              </a:rPr>
              <a:t>two </a:t>
            </a:r>
            <a:r>
              <a:rPr sz="2400">
                <a:latin typeface="Carlito"/>
                <a:cs typeface="Carlito"/>
              </a:rPr>
              <a:t>individuals </a:t>
            </a:r>
            <a:r>
              <a:rPr sz="2400" spc="-10">
                <a:latin typeface="Carlito"/>
                <a:cs typeface="Carlito"/>
              </a:rPr>
              <a:t>from </a:t>
            </a:r>
            <a:r>
              <a:rPr sz="2400" spc="-5">
                <a:latin typeface="Carlito"/>
                <a:cs typeface="Carlito"/>
              </a:rPr>
              <a:t>changing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same </a:t>
            </a:r>
            <a:r>
              <a:rPr sz="2400" spc="-15">
                <a:latin typeface="Carlito"/>
                <a:cs typeface="Carlito"/>
              </a:rPr>
              <a:t>data  at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same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time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83564" y="3007697"/>
            <a:ext cx="7936865" cy="3410585"/>
            <a:chOff x="683564" y="3007697"/>
            <a:chExt cx="7936865" cy="3410585"/>
          </a:xfrm>
        </p:grpSpPr>
        <p:sp>
          <p:nvSpPr>
            <p:cNvPr id="5" name="object 5"/>
            <p:cNvSpPr/>
            <p:nvPr/>
          </p:nvSpPr>
          <p:spPr>
            <a:xfrm>
              <a:off x="683564" y="3007697"/>
              <a:ext cx="7936311" cy="29929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92090" y="5229199"/>
              <a:ext cx="1447164" cy="11887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19</a:t>
            </a:fld>
            <a:endParaRPr spc="-16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355"/>
              <a:t>Integrity, </a:t>
            </a:r>
            <a:r>
              <a:rPr spc="-425"/>
              <a:t>Security, </a:t>
            </a:r>
            <a:r>
              <a:rPr spc="-360"/>
              <a:t>and</a:t>
            </a:r>
            <a:r>
              <a:rPr spc="-300"/>
              <a:t> </a:t>
            </a:r>
            <a:r>
              <a:rPr spc="-450"/>
              <a:t>Privacy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20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482981" y="1570990"/>
            <a:ext cx="7897495" cy="4241546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solidFill>
                  <a:schemeClr val="accent2">
                    <a:lumMod val="49000"/>
                  </a:schemeClr>
                </a:solidFill>
                <a:latin typeface="Carlito"/>
                <a:cs typeface="Carlito"/>
              </a:rPr>
              <a:t>Data</a:t>
            </a:r>
            <a:r>
              <a:rPr sz="2400" spc="-30" dirty="0">
                <a:solidFill>
                  <a:schemeClr val="accent2">
                    <a:lumMod val="49000"/>
                  </a:schemeClr>
                </a:solidFill>
                <a:latin typeface="Carlito"/>
                <a:cs typeface="Carlito"/>
              </a:rPr>
              <a:t> </a:t>
            </a:r>
            <a:r>
              <a:rPr sz="2400" dirty="0">
                <a:solidFill>
                  <a:schemeClr val="accent2">
                    <a:lumMod val="49000"/>
                  </a:schemeClr>
                </a:solidFill>
                <a:latin typeface="Carlito"/>
                <a:cs typeface="Carlito"/>
              </a:rPr>
              <a:t>Security</a:t>
            </a:r>
            <a:endParaRPr lang="en-US" sz="2400" dirty="0">
              <a:solidFill>
                <a:schemeClr val="accent2">
                  <a:lumMod val="49000"/>
                </a:schemeClr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Protects </a:t>
            </a:r>
            <a:r>
              <a:rPr sz="2400" spc="-15" dirty="0">
                <a:latin typeface="Carlito"/>
                <a:cs typeface="Carlito"/>
              </a:rPr>
              <a:t>data against </a:t>
            </a:r>
            <a:r>
              <a:rPr sz="2400" spc="-5" dirty="0">
                <a:latin typeface="Carlito"/>
                <a:cs typeface="Carlito"/>
              </a:rPr>
              <a:t>destruction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misuse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Protects </a:t>
            </a:r>
            <a:r>
              <a:rPr sz="2400" spc="-15" dirty="0">
                <a:latin typeface="Carlito"/>
                <a:cs typeface="Carlito"/>
              </a:rPr>
              <a:t>against </a:t>
            </a:r>
            <a:r>
              <a:rPr sz="2400" spc="-10" dirty="0">
                <a:latin typeface="Carlito"/>
                <a:cs typeface="Carlito"/>
              </a:rPr>
              <a:t>unauthorized </a:t>
            </a:r>
            <a:r>
              <a:rPr sz="2400" dirty="0">
                <a:latin typeface="Carlito"/>
                <a:cs typeface="Carlito"/>
              </a:rPr>
              <a:t>access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unauthorized</a:t>
            </a:r>
            <a:endParaRPr sz="2400" dirty="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rlito"/>
                <a:cs typeface="Carlito"/>
              </a:rPr>
              <a:t>use of </a:t>
            </a:r>
            <a:r>
              <a:rPr sz="2400" dirty="0">
                <a:latin typeface="Carlito"/>
                <a:cs typeface="Carlito"/>
              </a:rPr>
              <a:t>a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 dirty="0">
              <a:latin typeface="Carlito"/>
              <a:cs typeface="Carlito"/>
            </a:endParaRPr>
          </a:p>
          <a:p>
            <a:pPr marL="756285" marR="47180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Database </a:t>
            </a:r>
            <a:r>
              <a:rPr sz="2400" dirty="0">
                <a:latin typeface="Carlito"/>
                <a:cs typeface="Carlito"/>
              </a:rPr>
              <a:t>activity </a:t>
            </a:r>
            <a:r>
              <a:rPr sz="2400" spc="-5" dirty="0">
                <a:latin typeface="Carlito"/>
                <a:cs typeface="Carlito"/>
              </a:rPr>
              <a:t>monitoring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can </a:t>
            </a:r>
            <a:r>
              <a:rPr sz="2400" spc="-5" dirty="0">
                <a:latin typeface="Carlito"/>
                <a:cs typeface="Carlito"/>
              </a:rPr>
              <a:t>be used</a:t>
            </a:r>
            <a:r>
              <a:rPr sz="2400" spc="-9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to  </a:t>
            </a:r>
            <a:r>
              <a:rPr sz="2400" spc="-10" dirty="0">
                <a:latin typeface="Carlito"/>
                <a:cs typeface="Carlito"/>
              </a:rPr>
              <a:t>detect </a:t>
            </a:r>
            <a:r>
              <a:rPr sz="2400" spc="-5" dirty="0">
                <a:latin typeface="Carlito"/>
                <a:cs typeface="Carlito"/>
              </a:rPr>
              <a:t>possible intrusions </a:t>
            </a:r>
            <a:r>
              <a:rPr sz="2400" dirty="0">
                <a:latin typeface="Carlito"/>
                <a:cs typeface="Carlito"/>
              </a:rPr>
              <a:t>and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risks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rlito"/>
                <a:cs typeface="Carlito"/>
              </a:rPr>
              <a:t>Prevents data</a:t>
            </a:r>
            <a:r>
              <a:rPr sz="2400" spc="-5" dirty="0">
                <a:latin typeface="Carlito"/>
                <a:cs typeface="Carlito"/>
              </a:rPr>
              <a:t> loss</a:t>
            </a:r>
            <a:endParaRPr sz="2400" dirty="0">
              <a:latin typeface="Carlito"/>
              <a:cs typeface="Carlito"/>
            </a:endParaRPr>
          </a:p>
          <a:p>
            <a:pPr marL="756285" marR="924560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Should </a:t>
            </a:r>
            <a:r>
              <a:rPr sz="2400" dirty="0">
                <a:latin typeface="Carlito"/>
                <a:cs typeface="Carlito"/>
              </a:rPr>
              <a:t>include </a:t>
            </a:r>
            <a:r>
              <a:rPr sz="2400" spc="-5" dirty="0">
                <a:latin typeface="Carlito"/>
                <a:cs typeface="Carlito"/>
              </a:rPr>
              <a:t>strict </a:t>
            </a:r>
            <a:r>
              <a:rPr sz="2400" spc="-10" dirty="0">
                <a:latin typeface="Carlito"/>
                <a:cs typeface="Carlito"/>
              </a:rPr>
              <a:t>backup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disaster-recovery  procedures (disaster-recovery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plan)</a:t>
            </a:r>
            <a:endParaRPr sz="24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rlito"/>
                <a:cs typeface="Carlito"/>
              </a:rPr>
              <a:t>Should be used </a:t>
            </a:r>
            <a:r>
              <a:rPr sz="2400" dirty="0">
                <a:latin typeface="Carlito"/>
                <a:cs typeface="Carlito"/>
              </a:rPr>
              <a:t>with </a:t>
            </a:r>
            <a:r>
              <a:rPr sz="2400" spc="-5" dirty="0">
                <a:latin typeface="Carlito"/>
                <a:cs typeface="Carlito"/>
              </a:rPr>
              <a:t>both in-house </a:t>
            </a:r>
            <a:r>
              <a:rPr sz="2400" dirty="0">
                <a:latin typeface="Carlito"/>
                <a:cs typeface="Carlito"/>
              </a:rPr>
              <a:t>and cloud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database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355"/>
              <a:t>Integrity, </a:t>
            </a:r>
            <a:r>
              <a:rPr spc="-425"/>
              <a:t>Security, </a:t>
            </a:r>
            <a:r>
              <a:rPr spc="-360"/>
              <a:t>and</a:t>
            </a:r>
            <a:r>
              <a:rPr spc="-300"/>
              <a:t> </a:t>
            </a:r>
            <a:r>
              <a:rPr spc="-450"/>
              <a:t>Privacy</a:t>
            </a:r>
          </a:p>
        </p:txBody>
      </p:sp>
      <p:sp>
        <p:nvSpPr>
          <p:cNvPr id="3" name="object 3"/>
          <p:cNvSpPr/>
          <p:nvPr/>
        </p:nvSpPr>
        <p:spPr>
          <a:xfrm>
            <a:off x="179514" y="1988820"/>
            <a:ext cx="8569960" cy="33844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263407" y="5538084"/>
            <a:ext cx="1346432" cy="12145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21</a:t>
            </a:fld>
            <a:endParaRPr spc="-16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414655"/>
            <a:ext cx="63353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5"/>
              <a:t>Data </a:t>
            </a:r>
            <a:r>
              <a:rPr spc="-355"/>
              <a:t>Integrity, </a:t>
            </a:r>
            <a:r>
              <a:rPr spc="-425"/>
              <a:t>Security, </a:t>
            </a:r>
            <a:r>
              <a:rPr spc="-360"/>
              <a:t>and</a:t>
            </a:r>
            <a:r>
              <a:rPr spc="-300"/>
              <a:t> </a:t>
            </a:r>
            <a:r>
              <a:rPr spc="-450"/>
              <a:t>Privacy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22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7041515" cy="2952115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299085" indent="-287020">
              <a:spcBef>
                <a:spcPts val="675"/>
              </a:spcBef>
              <a:buFont typeface="Arial"/>
              <a:buChar char="–"/>
              <a:tabLst>
                <a:tab pos="299720" algn="l"/>
              </a:tabLst>
            </a:pPr>
            <a:r>
              <a:rPr lang="en-US" sz="2400" spc="-15">
                <a:solidFill>
                  <a:schemeClr val="accent4"/>
                </a:solidFill>
                <a:latin typeface="Carlito"/>
                <a:cs typeface="Carlito"/>
              </a:rPr>
              <a:t>Data</a:t>
            </a:r>
            <a:r>
              <a:rPr lang="en-US" sz="2400" spc="-30">
                <a:solidFill>
                  <a:schemeClr val="accent4"/>
                </a:solidFill>
                <a:latin typeface="Carlito"/>
                <a:cs typeface="Carlito"/>
              </a:rPr>
              <a:t> </a:t>
            </a:r>
            <a:r>
              <a:rPr lang="en-US" sz="2400" spc="-10">
                <a:solidFill>
                  <a:schemeClr val="accent4"/>
                </a:solidFill>
                <a:latin typeface="Carlito"/>
                <a:cs typeface="Carlito"/>
              </a:rPr>
              <a:t>Privacy</a:t>
            </a:r>
            <a:endParaRPr lang="en-US" sz="2400">
              <a:solidFill>
                <a:schemeClr val="accent4"/>
              </a:solidFill>
              <a:latin typeface="Carlito"/>
              <a:cs typeface="Carlito"/>
            </a:endParaRPr>
          </a:p>
          <a:p>
            <a:pPr marL="697865" marR="29908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0">
                <a:latin typeface="Carlito"/>
                <a:cs typeface="Carlito"/>
              </a:rPr>
              <a:t>Growing concern </a:t>
            </a:r>
            <a:r>
              <a:rPr sz="2400" spc="-5">
                <a:latin typeface="Carlito"/>
                <a:cs typeface="Carlito"/>
              </a:rPr>
              <a:t>because of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20">
                <a:latin typeface="Carlito"/>
                <a:cs typeface="Carlito"/>
              </a:rPr>
              <a:t>vast </a:t>
            </a:r>
            <a:r>
              <a:rPr sz="2400" spc="-5">
                <a:latin typeface="Carlito"/>
                <a:cs typeface="Carlito"/>
              </a:rPr>
              <a:t>amounts of  </a:t>
            </a:r>
            <a:r>
              <a:rPr sz="2400" spc="-10">
                <a:latin typeface="Carlito"/>
                <a:cs typeface="Carlito"/>
              </a:rPr>
              <a:t>personal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20">
                <a:latin typeface="Carlito"/>
                <a:cs typeface="Carlito"/>
              </a:rPr>
              <a:t>stored </a:t>
            </a:r>
            <a:r>
              <a:rPr sz="2400">
                <a:latin typeface="Carlito"/>
                <a:cs typeface="Carlito"/>
              </a:rPr>
              <a:t>in </a:t>
            </a:r>
            <a:r>
              <a:rPr sz="2400" spc="-5">
                <a:latin typeface="Carlito"/>
                <a:cs typeface="Carlito"/>
              </a:rPr>
              <a:t>databases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today</a:t>
            </a:r>
            <a:endParaRPr sz="2400">
              <a:latin typeface="Carlito"/>
              <a:cs typeface="Carlito"/>
            </a:endParaRPr>
          </a:p>
          <a:p>
            <a:pPr marL="697865" marR="5080" lvl="1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>
                <a:latin typeface="Carlito"/>
                <a:cs typeface="Carlito"/>
              </a:rPr>
              <a:t>Many </a:t>
            </a:r>
            <a:r>
              <a:rPr sz="2400" spc="-20">
                <a:latin typeface="Carlito"/>
                <a:cs typeface="Carlito"/>
              </a:rPr>
              <a:t>states </a:t>
            </a:r>
            <a:r>
              <a:rPr sz="2400" spc="-10">
                <a:latin typeface="Carlito"/>
                <a:cs typeface="Carlito"/>
              </a:rPr>
              <a:t>require </a:t>
            </a:r>
            <a:r>
              <a:rPr sz="2400" spc="-5">
                <a:latin typeface="Carlito"/>
                <a:cs typeface="Carlito"/>
              </a:rPr>
              <a:t>businesses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5">
                <a:latin typeface="Carlito"/>
                <a:cs typeface="Carlito"/>
              </a:rPr>
              <a:t>notify </a:t>
            </a:r>
            <a:r>
              <a:rPr sz="2400" spc="-15">
                <a:latin typeface="Carlito"/>
                <a:cs typeface="Carlito"/>
              </a:rPr>
              <a:t>customers  </a:t>
            </a:r>
            <a:r>
              <a:rPr sz="2400">
                <a:latin typeface="Carlito"/>
                <a:cs typeface="Carlito"/>
              </a:rPr>
              <a:t>when their </a:t>
            </a:r>
            <a:r>
              <a:rPr sz="2400" spc="-10">
                <a:latin typeface="Carlito"/>
                <a:cs typeface="Carlito"/>
              </a:rPr>
              <a:t>personal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5">
                <a:latin typeface="Carlito"/>
                <a:cs typeface="Carlito"/>
              </a:rPr>
              <a:t>has been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compromised</a:t>
            </a:r>
            <a:endParaRPr sz="2400">
              <a:latin typeface="Carlito"/>
              <a:cs typeface="Carlito"/>
            </a:endParaRPr>
          </a:p>
          <a:p>
            <a:pPr marL="697865" lvl="1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10">
                <a:latin typeface="Carlito"/>
                <a:cs typeface="Carlito"/>
              </a:rPr>
              <a:t>breaches can </a:t>
            </a:r>
            <a:r>
              <a:rPr sz="2400" spc="-5">
                <a:latin typeface="Carlito"/>
                <a:cs typeface="Carlito"/>
              </a:rPr>
              <a:t>be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costly</a:t>
            </a:r>
            <a:endParaRPr sz="2400">
              <a:latin typeface="Carlito"/>
              <a:cs typeface="Carlito"/>
            </a:endParaRPr>
          </a:p>
          <a:p>
            <a:pPr marL="926465">
              <a:lnSpc>
                <a:spcPct val="100000"/>
              </a:lnSpc>
              <a:spcBef>
                <a:spcPts val="580"/>
              </a:spcBef>
            </a:pPr>
            <a:r>
              <a:rPr sz="2400">
                <a:latin typeface="Arial"/>
                <a:cs typeface="Arial"/>
              </a:rPr>
              <a:t>– </a:t>
            </a:r>
            <a:r>
              <a:rPr sz="2400" spc="-5">
                <a:latin typeface="Carlito"/>
                <a:cs typeface="Carlito"/>
              </a:rPr>
              <a:t>One </a:t>
            </a:r>
            <a:r>
              <a:rPr sz="2400" spc="-10">
                <a:latin typeface="Carlito"/>
                <a:cs typeface="Carlito"/>
              </a:rPr>
              <a:t>estimate </a:t>
            </a:r>
            <a:r>
              <a:rPr sz="2400">
                <a:latin typeface="Carlito"/>
                <a:cs typeface="Carlito"/>
              </a:rPr>
              <a:t>is </a:t>
            </a:r>
            <a:r>
              <a:rPr sz="2400" spc="-5">
                <a:latin typeface="Carlito"/>
                <a:cs typeface="Carlito"/>
              </a:rPr>
              <a:t>$200 per breached</a:t>
            </a:r>
            <a:r>
              <a:rPr sz="2400" spc="-260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record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/>
              <a:t>Database</a:t>
            </a:r>
            <a:r>
              <a:rPr sz="3600" spc="-265"/>
              <a:t> </a:t>
            </a:r>
            <a:r>
              <a:rPr sz="3600" spc="-475"/>
              <a:t>Classifications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23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656195" cy="3872214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Single-User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vs.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Multiuser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r>
              <a:rPr sz="2400" spc="-4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Systems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Single-User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Located </a:t>
            </a:r>
            <a:r>
              <a:rPr sz="2400" spc="-5">
                <a:latin typeface="Carlito"/>
                <a:cs typeface="Carlito"/>
              </a:rPr>
              <a:t>on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5">
                <a:latin typeface="Carlito"/>
                <a:cs typeface="Carlito"/>
              </a:rPr>
              <a:t>single</a:t>
            </a:r>
            <a:r>
              <a:rPr sz="2400" spc="-2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computer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Designed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5">
                <a:latin typeface="Carlito"/>
                <a:cs typeface="Carlito"/>
              </a:rPr>
              <a:t>be accessed </a:t>
            </a:r>
            <a:r>
              <a:rPr sz="2400" spc="-10">
                <a:latin typeface="Carlito"/>
                <a:cs typeface="Carlito"/>
              </a:rPr>
              <a:t>by </a:t>
            </a:r>
            <a:r>
              <a:rPr sz="2400" spc="-5">
                <a:latin typeface="Carlito"/>
                <a:cs typeface="Carlito"/>
              </a:rPr>
              <a:t>one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user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Widely </a:t>
            </a:r>
            <a:r>
              <a:rPr sz="2400" spc="-5">
                <a:latin typeface="Carlito"/>
                <a:cs typeface="Carlito"/>
              </a:rPr>
              <a:t>used </a:t>
            </a:r>
            <a:r>
              <a:rPr sz="2400" spc="-20">
                <a:latin typeface="Carlito"/>
                <a:cs typeface="Carlito"/>
              </a:rPr>
              <a:t>for </a:t>
            </a:r>
            <a:r>
              <a:rPr sz="2400" spc="-10">
                <a:latin typeface="Carlito"/>
                <a:cs typeface="Carlito"/>
              </a:rPr>
              <a:t>personal </a:t>
            </a:r>
            <a:r>
              <a:rPr sz="2400" spc="-5">
                <a:latin typeface="Carlito"/>
                <a:cs typeface="Carlito"/>
              </a:rPr>
              <a:t>applications </a:t>
            </a:r>
            <a:r>
              <a:rPr sz="2400">
                <a:latin typeface="Carlito"/>
                <a:cs typeface="Carlito"/>
              </a:rPr>
              <a:t>and </a:t>
            </a:r>
            <a:r>
              <a:rPr sz="2400" spc="-5">
                <a:latin typeface="Carlito"/>
                <a:cs typeface="Carlito"/>
              </a:rPr>
              <a:t>very small  businesses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>
                <a:solidFill>
                  <a:schemeClr val="accent2"/>
                </a:solidFill>
                <a:latin typeface="Carlito"/>
                <a:cs typeface="Carlito"/>
              </a:rPr>
              <a:t>Multiuser </a:t>
            </a:r>
            <a:r>
              <a:rPr sz="2400" spc="-10">
                <a:solidFill>
                  <a:schemeClr val="accent2"/>
                </a:solidFill>
                <a:latin typeface="Carlito"/>
                <a:cs typeface="Carlito"/>
              </a:rPr>
              <a:t>Database</a:t>
            </a:r>
            <a:r>
              <a:rPr sz="2400" spc="-40">
                <a:solidFill>
                  <a:schemeClr val="accent2"/>
                </a:solidFill>
                <a:latin typeface="Carlito"/>
                <a:cs typeface="Carlito"/>
              </a:rPr>
              <a:t> </a:t>
            </a:r>
            <a:r>
              <a:rPr sz="2400" spc="-20">
                <a:solidFill>
                  <a:schemeClr val="accent2"/>
                </a:solidFill>
                <a:latin typeface="Carlito"/>
                <a:cs typeface="Carlito"/>
              </a:rPr>
              <a:t>System</a:t>
            </a:r>
            <a:endParaRPr sz="2400">
              <a:solidFill>
                <a:schemeClr val="accent2"/>
              </a:solidFill>
              <a:latin typeface="Carlito"/>
              <a:cs typeface="Carlito"/>
            </a:endParaRPr>
          </a:p>
          <a:p>
            <a:pPr marL="1155700" marR="50673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Designed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be accessed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by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multiple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users (</a:t>
            </a:r>
            <a:r>
              <a:rPr sz="2400" spc="-10">
                <a:latin typeface="Carlito"/>
                <a:cs typeface="Carlito"/>
              </a:rPr>
              <a:t>most  </a:t>
            </a:r>
            <a:r>
              <a:rPr sz="2400" spc="-5">
                <a:latin typeface="Carlito"/>
                <a:cs typeface="Carlito"/>
              </a:rPr>
              <a:t>business </a:t>
            </a:r>
            <a:r>
              <a:rPr sz="2400" spc="-10">
                <a:latin typeface="Carlito"/>
                <a:cs typeface="Carlito"/>
              </a:rPr>
              <a:t>databases</a:t>
            </a:r>
            <a:r>
              <a:rPr sz="2400" spc="-2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today)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/>
              <a:t>Database</a:t>
            </a:r>
            <a:r>
              <a:rPr sz="3600" spc="-265"/>
              <a:t> </a:t>
            </a:r>
            <a:r>
              <a:rPr sz="3600" spc="-475"/>
              <a:t>Classifications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24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487920" cy="3317875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Centralized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vs. Distributed Database</a:t>
            </a:r>
            <a:r>
              <a:rPr sz="2400" spc="-2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Systems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>
                <a:latin typeface="Carlito"/>
                <a:cs typeface="Carlito"/>
              </a:rPr>
              <a:t>Centralized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is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located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on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single </a:t>
            </a:r>
            <a:r>
              <a:rPr sz="2400" spc="-30">
                <a:solidFill>
                  <a:srgbClr val="FF0000"/>
                </a:solidFill>
                <a:latin typeface="Carlito"/>
                <a:cs typeface="Carlito"/>
              </a:rPr>
              <a:t>computer</a:t>
            </a:r>
            <a:r>
              <a:rPr sz="2400" spc="-30">
                <a:latin typeface="Carlito"/>
                <a:cs typeface="Carlito"/>
              </a:rPr>
              <a:t>, </a:t>
            </a:r>
            <a:r>
              <a:rPr sz="2400" spc="-5">
                <a:latin typeface="Carlito"/>
                <a:cs typeface="Carlito"/>
              </a:rPr>
              <a:t>such </a:t>
            </a:r>
            <a:r>
              <a:rPr sz="2400">
                <a:latin typeface="Carlito"/>
                <a:cs typeface="Carlito"/>
              </a:rPr>
              <a:t>as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a</a:t>
            </a:r>
          </a:p>
          <a:p>
            <a:pPr marL="1155700" algn="just">
              <a:lnSpc>
                <a:spcPct val="100000"/>
              </a:lnSpc>
            </a:pPr>
            <a:r>
              <a:rPr sz="2400" spc="-5">
                <a:latin typeface="Carlito"/>
                <a:cs typeface="Carlito"/>
              </a:rPr>
              <a:t>server or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mainframe</a:t>
            </a:r>
            <a:endParaRPr sz="2400">
              <a:latin typeface="Carlito"/>
              <a:cs typeface="Carlito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Distributed Database</a:t>
            </a:r>
            <a:r>
              <a:rPr sz="2400" spc="-2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20">
                <a:solidFill>
                  <a:srgbClr val="FF0000"/>
                </a:solidFill>
                <a:latin typeface="Carlito"/>
                <a:cs typeface="Carlito"/>
              </a:rPr>
              <a:t>System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is </a:t>
            </a:r>
            <a:r>
              <a:rPr sz="2400" spc="-15">
                <a:latin typeface="Carlito"/>
                <a:cs typeface="Carlito"/>
              </a:rPr>
              <a:t>physically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divided among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several computers</a:t>
            </a:r>
            <a:r>
              <a:rPr sz="2400" spc="-15">
                <a:latin typeface="Carlito"/>
                <a:cs typeface="Carlito"/>
              </a:rPr>
              <a:t>  </a:t>
            </a:r>
            <a:r>
              <a:rPr sz="2400" spc="-10">
                <a:latin typeface="Carlito"/>
                <a:cs typeface="Carlito"/>
              </a:rPr>
              <a:t>connected by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network, </a:t>
            </a:r>
            <a:r>
              <a:rPr sz="2400" spc="-5">
                <a:latin typeface="Carlito"/>
                <a:cs typeface="Carlito"/>
              </a:rPr>
              <a:t>but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logically  </a:t>
            </a:r>
            <a:r>
              <a:rPr sz="2400" spc="-10">
                <a:latin typeface="Carlito"/>
                <a:cs typeface="Carlito"/>
              </a:rPr>
              <a:t>looks </a:t>
            </a:r>
            <a:r>
              <a:rPr sz="2400" spc="-20">
                <a:latin typeface="Carlito"/>
                <a:cs typeface="Carlito"/>
              </a:rPr>
              <a:t>like </a:t>
            </a:r>
            <a:r>
              <a:rPr sz="2400">
                <a:latin typeface="Carlito"/>
                <a:cs typeface="Carlito"/>
              </a:rPr>
              <a:t>it is a </a:t>
            </a:r>
            <a:r>
              <a:rPr sz="2400" spc="-5">
                <a:latin typeface="Carlito"/>
                <a:cs typeface="Carlito"/>
              </a:rPr>
              <a:t>single</a:t>
            </a:r>
            <a:r>
              <a:rPr sz="2400" spc="-5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/>
              <a:t>Database</a:t>
            </a:r>
            <a:r>
              <a:rPr sz="3600" spc="-265"/>
              <a:t> </a:t>
            </a:r>
            <a:r>
              <a:rPr sz="3600" spc="-475"/>
              <a:t>Classifications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745296" y="1628775"/>
            <a:ext cx="7353763" cy="35881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96153" y="5301208"/>
            <a:ext cx="1190625" cy="885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25</a:t>
            </a:fld>
            <a:endParaRPr spc="-16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48374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/>
              <a:t>Database</a:t>
            </a:r>
            <a:r>
              <a:rPr sz="3600" spc="-265"/>
              <a:t> </a:t>
            </a:r>
            <a:r>
              <a:rPr sz="3600" spc="-475"/>
              <a:t>Classifications</a:t>
            </a:r>
            <a:endParaRPr sz="360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26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66684" cy="3949158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Disk-Based </a:t>
            </a:r>
            <a:r>
              <a:rPr sz="2400" spc="-10">
                <a:solidFill>
                  <a:schemeClr val="accent1"/>
                </a:solidFill>
                <a:latin typeface="Carlito"/>
                <a:cs typeface="Carlito"/>
              </a:rPr>
              <a:t>vs.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In-Memory </a:t>
            </a:r>
            <a:r>
              <a:rPr sz="2400" spc="-10">
                <a:solidFill>
                  <a:schemeClr val="accent1"/>
                </a:solidFill>
                <a:latin typeface="Carlito"/>
                <a:cs typeface="Carlito"/>
              </a:rPr>
              <a:t>Database</a:t>
            </a:r>
            <a:r>
              <a:rPr sz="2400" spc="-35">
                <a:solidFill>
                  <a:schemeClr val="accent1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chemeClr val="accent1"/>
                </a:solidFill>
                <a:latin typeface="Carlito"/>
                <a:cs typeface="Carlito"/>
              </a:rPr>
              <a:t>Systems</a:t>
            </a:r>
            <a:endParaRPr lang="en-US" sz="2400">
              <a:solidFill>
                <a:schemeClr val="accent1"/>
              </a:solidFill>
              <a:latin typeface="Carlito"/>
              <a:cs typeface="Carlito"/>
            </a:endParaRPr>
          </a:p>
          <a:p>
            <a:pPr marL="469265" lvl="1">
              <a:lnSpc>
                <a:spcPct val="100000"/>
              </a:lnSpc>
              <a:spcBef>
                <a:spcPts val="575"/>
              </a:spcBef>
              <a:tabLst>
                <a:tab pos="756920" algn="l"/>
              </a:tabLst>
            </a:pPr>
            <a:r>
              <a:rPr sz="2400" spc="-5">
                <a:solidFill>
                  <a:schemeClr val="accent6"/>
                </a:solidFill>
                <a:latin typeface="Carlito"/>
                <a:cs typeface="Carlito"/>
              </a:rPr>
              <a:t>Disk-Based</a:t>
            </a:r>
            <a:r>
              <a:rPr sz="2400" spc="-35">
                <a:solidFill>
                  <a:schemeClr val="accent6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chemeClr val="accent6"/>
                </a:solidFill>
                <a:latin typeface="Carlito"/>
                <a:cs typeface="Carlito"/>
              </a:rPr>
              <a:t>Systems</a:t>
            </a:r>
            <a:endParaRPr sz="2400">
              <a:solidFill>
                <a:schemeClr val="accent6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is </a:t>
            </a:r>
            <a:r>
              <a:rPr sz="2400" spc="-20">
                <a:latin typeface="Carlito"/>
                <a:cs typeface="Carlito"/>
              </a:rPr>
              <a:t>stored </a:t>
            </a:r>
            <a:r>
              <a:rPr sz="2400" spc="-5">
                <a:latin typeface="Carlito"/>
                <a:cs typeface="Carlito"/>
              </a:rPr>
              <a:t>on </a:t>
            </a:r>
            <a:r>
              <a:rPr sz="2400" spc="-15">
                <a:latin typeface="Carlito"/>
                <a:cs typeface="Carlito"/>
              </a:rPr>
              <a:t>hard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drives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solidFill>
                  <a:schemeClr val="accent6"/>
                </a:solidFill>
                <a:latin typeface="Carlito"/>
                <a:cs typeface="Carlito"/>
              </a:rPr>
              <a:t>In-Memory </a:t>
            </a:r>
            <a:r>
              <a:rPr sz="2400" spc="-10">
                <a:solidFill>
                  <a:schemeClr val="accent6"/>
                </a:solidFill>
                <a:latin typeface="Carlito"/>
                <a:cs typeface="Carlito"/>
              </a:rPr>
              <a:t>Databases</a:t>
            </a:r>
            <a:r>
              <a:rPr sz="2400" spc="-40">
                <a:solidFill>
                  <a:schemeClr val="accent6"/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chemeClr val="accent6"/>
                </a:solidFill>
                <a:latin typeface="Carlito"/>
                <a:cs typeface="Carlito"/>
              </a:rPr>
              <a:t>(IMDBs)</a:t>
            </a:r>
            <a:endParaRPr sz="2400">
              <a:solidFill>
                <a:schemeClr val="accent6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is </a:t>
            </a:r>
            <a:r>
              <a:rPr sz="2400" spc="-20">
                <a:latin typeface="Carlito"/>
                <a:cs typeface="Carlito"/>
              </a:rPr>
              <a:t>stored </a:t>
            </a:r>
            <a:r>
              <a:rPr sz="2400">
                <a:latin typeface="Carlito"/>
                <a:cs typeface="Carlito"/>
              </a:rPr>
              <a:t>in main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memory</a:t>
            </a: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latin typeface="Carlito"/>
                <a:cs typeface="Carlito"/>
              </a:rPr>
              <a:t>Dramatically </a:t>
            </a:r>
            <a:r>
              <a:rPr sz="2400" spc="-20">
                <a:latin typeface="Carlito"/>
                <a:cs typeface="Carlito"/>
              </a:rPr>
              <a:t>faster </a:t>
            </a:r>
            <a:r>
              <a:rPr sz="2400">
                <a:latin typeface="Carlito"/>
                <a:cs typeface="Carlito"/>
              </a:rPr>
              <a:t>than </a:t>
            </a:r>
            <a:r>
              <a:rPr sz="2400" spc="-5">
                <a:latin typeface="Carlito"/>
                <a:cs typeface="Carlito"/>
              </a:rPr>
              <a:t>disk-based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Good </a:t>
            </a:r>
            <a:r>
              <a:rPr sz="2400" spc="-10">
                <a:latin typeface="Carlito"/>
                <a:cs typeface="Carlito"/>
              </a:rPr>
              <a:t>backup procedures </a:t>
            </a:r>
            <a:r>
              <a:rPr sz="2400" spc="-15">
                <a:latin typeface="Carlito"/>
                <a:cs typeface="Carlito"/>
              </a:rPr>
              <a:t>are </a:t>
            </a:r>
            <a:r>
              <a:rPr sz="2400" spc="-5">
                <a:latin typeface="Carlito"/>
                <a:cs typeface="Carlito"/>
              </a:rPr>
              <a:t>essential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Used both </a:t>
            </a:r>
            <a:r>
              <a:rPr sz="2400">
                <a:latin typeface="Carlito"/>
                <a:cs typeface="Carlito"/>
              </a:rPr>
              <a:t>in </a:t>
            </a:r>
            <a:r>
              <a:rPr sz="2400" spc="-5">
                <a:latin typeface="Carlito"/>
                <a:cs typeface="Carlito"/>
              </a:rPr>
              <a:t>high-end </a:t>
            </a:r>
            <a:r>
              <a:rPr sz="2400" spc="-20">
                <a:latin typeface="Carlito"/>
                <a:cs typeface="Carlito"/>
              </a:rPr>
              <a:t>systems </a:t>
            </a:r>
            <a:r>
              <a:rPr sz="2400" spc="-10">
                <a:latin typeface="Carlito"/>
                <a:cs typeface="Carlito"/>
              </a:rPr>
              <a:t>where performance </a:t>
            </a:r>
            <a:r>
              <a:rPr sz="2400">
                <a:latin typeface="Carlito"/>
                <a:cs typeface="Carlito"/>
              </a:rPr>
              <a:t>is  crucial and in </a:t>
            </a:r>
            <a:r>
              <a:rPr sz="2400" spc="-10">
                <a:latin typeface="Carlito"/>
                <a:cs typeface="Carlito"/>
              </a:rPr>
              <a:t>small-footprint, </a:t>
            </a:r>
            <a:r>
              <a:rPr sz="2400" spc="-5">
                <a:latin typeface="Carlito"/>
                <a:cs typeface="Carlito"/>
              </a:rPr>
              <a:t>embedded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applications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517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84"/>
              <a:t>Database</a:t>
            </a:r>
            <a:r>
              <a:rPr sz="3600" spc="-265"/>
              <a:t> </a:t>
            </a:r>
            <a:r>
              <a:rPr sz="3600" spc="-380"/>
              <a:t>Models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27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857490" cy="4241546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solidFill>
                  <a:schemeClr val="accent6"/>
                </a:solidFill>
                <a:latin typeface="Carlito"/>
                <a:cs typeface="Carlito"/>
              </a:rPr>
              <a:t>The </a:t>
            </a:r>
            <a:r>
              <a:rPr sz="2400" spc="-10">
                <a:solidFill>
                  <a:schemeClr val="accent6"/>
                </a:solidFill>
                <a:latin typeface="Carlito"/>
                <a:cs typeface="Carlito"/>
              </a:rPr>
              <a:t>Hierarchical </a:t>
            </a:r>
            <a:r>
              <a:rPr sz="2400">
                <a:solidFill>
                  <a:schemeClr val="accent6"/>
                </a:solidFill>
                <a:latin typeface="Carlito"/>
                <a:cs typeface="Carlito"/>
              </a:rPr>
              <a:t>and </a:t>
            </a:r>
            <a:r>
              <a:rPr sz="2400" spc="-10">
                <a:solidFill>
                  <a:schemeClr val="accent6"/>
                </a:solidFill>
                <a:latin typeface="Carlito"/>
                <a:cs typeface="Carlito"/>
              </a:rPr>
              <a:t>Network Database</a:t>
            </a:r>
            <a:r>
              <a:rPr sz="2400" spc="-50">
                <a:solidFill>
                  <a:schemeClr val="accent6"/>
                </a:solidFill>
                <a:latin typeface="Carlito"/>
                <a:cs typeface="Carlito"/>
              </a:rPr>
              <a:t> </a:t>
            </a:r>
            <a:r>
              <a:rPr sz="2400">
                <a:solidFill>
                  <a:schemeClr val="accent6"/>
                </a:solidFill>
                <a:latin typeface="Carlito"/>
                <a:cs typeface="Carlito"/>
              </a:rPr>
              <a:t>Models</a:t>
            </a:r>
            <a:endParaRPr lang="en-US" sz="2400">
              <a:solidFill>
                <a:schemeClr val="accent6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Hierarchical</a:t>
            </a:r>
            <a:r>
              <a:rPr sz="2400" spc="-4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20">
                <a:latin typeface="Carlito"/>
                <a:cs typeface="Carlito"/>
              </a:rPr>
              <a:t>Organizes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>
                <a:latin typeface="Carlito"/>
                <a:cs typeface="Carlito"/>
              </a:rPr>
              <a:t>in a </a:t>
            </a:r>
            <a:r>
              <a:rPr sz="2400" spc="-10">
                <a:latin typeface="Carlito"/>
                <a:cs typeface="Carlito"/>
              </a:rPr>
              <a:t>tree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structure</a:t>
            </a:r>
            <a:endParaRPr sz="2400">
              <a:latin typeface="Carlito"/>
              <a:cs typeface="Carlito"/>
            </a:endParaRPr>
          </a:p>
          <a:p>
            <a:pPr marL="1155700" marR="441325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Typically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one-to-many </a:t>
            </a:r>
            <a:r>
              <a:rPr sz="2400" spc="-5">
                <a:latin typeface="Carlito"/>
                <a:cs typeface="Carlito"/>
              </a:rPr>
              <a:t>relationship between</a:t>
            </a:r>
            <a:r>
              <a:rPr sz="2400" spc="-85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data  </a:t>
            </a:r>
            <a:r>
              <a:rPr sz="2400" spc="-5">
                <a:latin typeface="Carlito"/>
                <a:cs typeface="Carlito"/>
              </a:rPr>
              <a:t>entities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Network</a:t>
            </a:r>
            <a:r>
              <a:rPr sz="2400" spc="-4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Databases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marR="126746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Allow both </a:t>
            </a:r>
            <a:r>
              <a:rPr sz="2400" spc="-10">
                <a:solidFill>
                  <a:schemeClr val="accent6"/>
                </a:solidFill>
                <a:latin typeface="Carlito"/>
                <a:cs typeface="Carlito"/>
              </a:rPr>
              <a:t>one-to-many </a:t>
            </a:r>
            <a:r>
              <a:rPr sz="2400">
                <a:solidFill>
                  <a:schemeClr val="accent6"/>
                </a:solidFill>
                <a:latin typeface="Carlito"/>
                <a:cs typeface="Carlito"/>
              </a:rPr>
              <a:t>and </a:t>
            </a:r>
            <a:r>
              <a:rPr sz="2400" spc="-15">
                <a:solidFill>
                  <a:schemeClr val="accent6"/>
                </a:solidFill>
                <a:latin typeface="Carlito"/>
                <a:cs typeface="Carlito"/>
              </a:rPr>
              <a:t>many-to-many 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relationships </a:t>
            </a:r>
            <a:r>
              <a:rPr sz="2400" spc="-5">
                <a:latin typeface="Carlito"/>
                <a:cs typeface="Carlito"/>
              </a:rPr>
              <a:t>between </a:t>
            </a:r>
            <a:r>
              <a:rPr sz="2400" spc="-15">
                <a:latin typeface="Carlito"/>
                <a:cs typeface="Carlito"/>
              </a:rPr>
              <a:t>data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elements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rlito"/>
                <a:cs typeface="Carlito"/>
              </a:rPr>
              <a:t>Most </a:t>
            </a:r>
            <a:r>
              <a:rPr sz="2400" spc="-5">
                <a:latin typeface="Carlito"/>
                <a:cs typeface="Carlito"/>
              </a:rPr>
              <a:t>databases </a:t>
            </a:r>
            <a:r>
              <a:rPr sz="2400" spc="-20">
                <a:latin typeface="Carlito"/>
                <a:cs typeface="Carlito"/>
              </a:rPr>
              <a:t>today </a:t>
            </a:r>
            <a:r>
              <a:rPr sz="2400" spc="-15">
                <a:latin typeface="Carlito"/>
                <a:cs typeface="Carlito"/>
              </a:rPr>
              <a:t>are </a:t>
            </a:r>
            <a:r>
              <a:rPr sz="2400" spc="-5">
                <a:latin typeface="Carlito"/>
                <a:cs typeface="Carlito"/>
              </a:rPr>
              <a:t>neither </a:t>
            </a:r>
            <a:r>
              <a:rPr sz="2400" spc="-10">
                <a:latin typeface="Carlito"/>
                <a:cs typeface="Carlito"/>
              </a:rPr>
              <a:t>hierarchical </a:t>
            </a:r>
            <a:r>
              <a:rPr sz="2400" spc="-5">
                <a:latin typeface="Carlito"/>
                <a:cs typeface="Carlito"/>
              </a:rPr>
              <a:t>or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network</a:t>
            </a:r>
            <a:endParaRPr sz="2400">
              <a:latin typeface="Carlito"/>
              <a:cs typeface="Carlito"/>
            </a:endParaRPr>
          </a:p>
          <a:p>
            <a:pPr marL="756285">
              <a:lnSpc>
                <a:spcPct val="100000"/>
              </a:lnSpc>
            </a:pPr>
            <a:r>
              <a:rPr sz="2400">
                <a:latin typeface="Carlito"/>
                <a:cs typeface="Carlito"/>
              </a:rPr>
              <a:t>models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/>
              <a:t>The </a:t>
            </a:r>
            <a:r>
              <a:rPr spc="-385"/>
              <a:t>Relational </a:t>
            </a:r>
            <a:r>
              <a:rPr spc="-430"/>
              <a:t>Database </a:t>
            </a:r>
            <a:r>
              <a:rPr spc="-280"/>
              <a:t>Model  </a:t>
            </a:r>
            <a:r>
              <a:rPr spc="-40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28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785734" cy="4610878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Retrieving Information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from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a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Relational</a:t>
            </a:r>
            <a:r>
              <a:rPr sz="2400" spc="-5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</a:t>
            </a:r>
            <a:endParaRPr lang="en-US"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>
                <a:solidFill>
                  <a:schemeClr val="accent6"/>
                </a:solidFill>
                <a:latin typeface="Carlito"/>
                <a:cs typeface="Carlito"/>
              </a:rPr>
              <a:t>Query</a:t>
            </a: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request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5">
                <a:latin typeface="Carlito"/>
                <a:cs typeface="Carlito"/>
              </a:rPr>
              <a:t>see </a:t>
            </a:r>
            <a:r>
              <a:rPr sz="2400" spc="-10">
                <a:latin typeface="Carlito"/>
                <a:cs typeface="Carlito"/>
              </a:rPr>
              <a:t>information </a:t>
            </a:r>
            <a:r>
              <a:rPr sz="2400" spc="-15">
                <a:latin typeface="Carlito"/>
                <a:cs typeface="Carlito"/>
              </a:rPr>
              <a:t>from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that</a:t>
            </a:r>
            <a:endParaRPr sz="2400">
              <a:latin typeface="Carlito"/>
              <a:cs typeface="Carlito"/>
            </a:endParaRPr>
          </a:p>
          <a:p>
            <a:pPr marL="1155700">
              <a:lnSpc>
                <a:spcPct val="100000"/>
              </a:lnSpc>
            </a:pPr>
            <a:r>
              <a:rPr sz="2400" spc="-10">
                <a:latin typeface="Carlito"/>
                <a:cs typeface="Carlito"/>
              </a:rPr>
              <a:t>matches </a:t>
            </a:r>
            <a:r>
              <a:rPr sz="2400" spc="-5">
                <a:latin typeface="Carlito"/>
                <a:cs typeface="Carlito"/>
              </a:rPr>
              <a:t>specific</a:t>
            </a:r>
            <a:r>
              <a:rPr sz="2400" spc="-5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criteria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Every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DBMS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provides tools users can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use </a:t>
            </a:r>
            <a:r>
              <a:rPr sz="2400" spc="-15">
                <a:solidFill>
                  <a:srgbClr val="FF0000"/>
                </a:solidFill>
                <a:latin typeface="Carlito"/>
                <a:cs typeface="Carlito"/>
              </a:rPr>
              <a:t>to </a:t>
            </a:r>
            <a:r>
              <a:rPr sz="2400" spc="-5">
                <a:solidFill>
                  <a:srgbClr val="FF0000"/>
                </a:solidFill>
                <a:latin typeface="Carlito"/>
                <a:cs typeface="Carlito"/>
              </a:rPr>
              <a:t>query </a:t>
            </a:r>
            <a:r>
              <a:rPr sz="2400">
                <a:solidFill>
                  <a:srgbClr val="FF0000"/>
                </a:solidFill>
                <a:latin typeface="Carlito"/>
                <a:cs typeface="Carlito"/>
              </a:rPr>
              <a:t>the 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database </a:t>
            </a:r>
            <a:r>
              <a:rPr sz="2400" spc="-20">
                <a:solidFill>
                  <a:srgbClr val="FF0000"/>
                </a:solidFill>
                <a:latin typeface="Carlito"/>
                <a:cs typeface="Carlito"/>
              </a:rPr>
              <a:t>for</a:t>
            </a:r>
            <a:r>
              <a:rPr sz="2400" spc="-35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FF0000"/>
                </a:solidFill>
                <a:latin typeface="Carlito"/>
                <a:cs typeface="Carlito"/>
              </a:rPr>
              <a:t>information</a:t>
            </a:r>
            <a:endParaRPr sz="2400">
              <a:solidFill>
                <a:srgbClr val="FF0000"/>
              </a:solidFill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Can </a:t>
            </a:r>
            <a:r>
              <a:rPr sz="2400">
                <a:latin typeface="Carlito"/>
                <a:cs typeface="Carlito"/>
              </a:rPr>
              <a:t>also </a:t>
            </a:r>
            <a:r>
              <a:rPr sz="2400" spc="-5">
                <a:latin typeface="Carlito"/>
                <a:cs typeface="Carlito"/>
              </a:rPr>
              <a:t>write </a:t>
            </a:r>
            <a:r>
              <a:rPr sz="2400">
                <a:latin typeface="Carlito"/>
                <a:cs typeface="Carlito"/>
              </a:rPr>
              <a:t>in </a:t>
            </a:r>
            <a:r>
              <a:rPr sz="2400" spc="-10">
                <a:solidFill>
                  <a:schemeClr val="accent1"/>
                </a:solidFill>
                <a:latin typeface="Carlito"/>
                <a:cs typeface="Carlito"/>
              </a:rPr>
              <a:t>structured </a:t>
            </a:r>
            <a:r>
              <a:rPr sz="2400">
                <a:solidFill>
                  <a:schemeClr val="accent1"/>
                </a:solidFill>
                <a:latin typeface="Carlito"/>
                <a:cs typeface="Carlito"/>
              </a:rPr>
              <a:t>query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language</a:t>
            </a:r>
            <a:r>
              <a:rPr sz="2400" spc="-75">
                <a:solidFill>
                  <a:schemeClr val="accent1"/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(SQL)</a:t>
            </a:r>
            <a:endParaRPr sz="2400">
              <a:solidFill>
                <a:schemeClr val="accent1"/>
              </a:solidFill>
              <a:latin typeface="Carlito"/>
              <a:cs typeface="Carlito"/>
            </a:endParaRPr>
          </a:p>
          <a:p>
            <a:pPr marL="1155700" marR="1651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latin typeface="Carlito"/>
                <a:cs typeface="Carlito"/>
              </a:rPr>
              <a:t>Must </a:t>
            </a:r>
            <a:r>
              <a:rPr sz="2400" spc="-5">
                <a:latin typeface="Carlito"/>
                <a:cs typeface="Carlito"/>
              </a:rPr>
              <a:t>be designed </a:t>
            </a:r>
            <a:r>
              <a:rPr sz="2400" spc="-15">
                <a:latin typeface="Carlito"/>
                <a:cs typeface="Carlito"/>
              </a:rPr>
              <a:t>to extract </a:t>
            </a:r>
            <a:r>
              <a:rPr sz="2400" spc="-10">
                <a:latin typeface="Carlito"/>
                <a:cs typeface="Carlito"/>
              </a:rPr>
              <a:t>information </a:t>
            </a:r>
            <a:r>
              <a:rPr sz="2400">
                <a:latin typeface="Carlito"/>
                <a:cs typeface="Carlito"/>
              </a:rPr>
              <a:t>as </a:t>
            </a:r>
            <a:r>
              <a:rPr sz="2400" spc="-10">
                <a:latin typeface="Carlito"/>
                <a:cs typeface="Carlito"/>
              </a:rPr>
              <a:t>efficiently  </a:t>
            </a:r>
            <a:r>
              <a:rPr sz="2400">
                <a:latin typeface="Carlito"/>
                <a:cs typeface="Carlito"/>
              </a:rPr>
              <a:t>as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possible</a:t>
            </a:r>
            <a:endParaRPr sz="2400">
              <a:latin typeface="Carlito"/>
              <a:cs typeface="Carlito"/>
            </a:endParaRPr>
          </a:p>
          <a:p>
            <a:pPr marL="1155700" marR="107505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Poorly </a:t>
            </a:r>
            <a:r>
              <a:rPr sz="2400" spc="-10">
                <a:latin typeface="Carlito"/>
                <a:cs typeface="Carlito"/>
              </a:rPr>
              <a:t>written </a:t>
            </a:r>
            <a:r>
              <a:rPr sz="2400" spc="-5">
                <a:latin typeface="Carlito"/>
                <a:cs typeface="Carlito"/>
              </a:rPr>
              <a:t>queries </a:t>
            </a:r>
            <a:r>
              <a:rPr sz="2400" spc="-10">
                <a:latin typeface="Carlito"/>
                <a:cs typeface="Carlito"/>
              </a:rPr>
              <a:t>can </a:t>
            </a:r>
            <a:r>
              <a:rPr sz="2400">
                <a:latin typeface="Carlito"/>
                <a:cs typeface="Carlito"/>
              </a:rPr>
              <a:t>impact the </a:t>
            </a:r>
            <a:r>
              <a:rPr sz="2400" spc="-15">
                <a:latin typeface="Carlito"/>
                <a:cs typeface="Carlito"/>
              </a:rPr>
              <a:t>overall  </a:t>
            </a:r>
            <a:r>
              <a:rPr sz="2400" spc="-10">
                <a:latin typeface="Carlito"/>
                <a:cs typeface="Carlito"/>
              </a:rPr>
              <a:t>performance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25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5081" y="1476273"/>
            <a:ext cx="6629651" cy="4819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/>
              <a:t>The </a:t>
            </a:r>
            <a:r>
              <a:rPr spc="-385"/>
              <a:t>Relational </a:t>
            </a:r>
            <a:r>
              <a:rPr spc="-430"/>
              <a:t>Database </a:t>
            </a:r>
            <a:r>
              <a:rPr spc="-280"/>
              <a:t>Model  </a:t>
            </a:r>
            <a:r>
              <a:rPr spc="-400"/>
              <a:t>(RDBMS)</a:t>
            </a:r>
          </a:p>
        </p:txBody>
      </p:sp>
      <p:sp>
        <p:nvSpPr>
          <p:cNvPr id="4" name="object 4"/>
          <p:cNvSpPr/>
          <p:nvPr/>
        </p:nvSpPr>
        <p:spPr>
          <a:xfrm>
            <a:off x="7380351" y="2636901"/>
            <a:ext cx="1263015" cy="1188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510641" y="6385675"/>
            <a:ext cx="4489450" cy="215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/>
              <a:t>Understanding </a:t>
            </a:r>
            <a:r>
              <a:rPr spc="-135"/>
              <a:t>Computers: </a:t>
            </a:r>
            <a:r>
              <a:rPr spc="-125"/>
              <a:t>Today </a:t>
            </a:r>
            <a:r>
              <a:rPr spc="-135"/>
              <a:t>and </a:t>
            </a:r>
            <a:r>
              <a:rPr spc="-130"/>
              <a:t>Tomorrow, </a:t>
            </a:r>
            <a:r>
              <a:rPr spc="-140"/>
              <a:t>15th</a:t>
            </a:r>
            <a:r>
              <a:rPr spc="105"/>
              <a:t> </a:t>
            </a:r>
            <a:r>
              <a:rPr spc="-110"/>
              <a:t>Edition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29</a:t>
            </a:fld>
            <a:endParaRPr spc="-165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/>
              <a:t>The </a:t>
            </a:r>
            <a:r>
              <a:rPr spc="-385"/>
              <a:t>Relational </a:t>
            </a:r>
            <a:r>
              <a:rPr spc="-430"/>
              <a:t>Database </a:t>
            </a:r>
            <a:r>
              <a:rPr spc="-280"/>
              <a:t>Model  </a:t>
            </a:r>
            <a:r>
              <a:rPr spc="-40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30</a:t>
            </a:fld>
            <a:endParaRPr spc="-165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775191"/>
            <a:ext cx="8229600" cy="3918380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631825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633095" algn="l"/>
              </a:tabLst>
            </a:pPr>
            <a:r>
              <a:rPr spc="-5">
                <a:solidFill>
                  <a:schemeClr val="accent1"/>
                </a:solidFill>
              </a:rPr>
              <a:t>Reports</a:t>
            </a:r>
          </a:p>
          <a:p>
            <a:pPr marL="1030605" marR="405130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20">
                <a:latin typeface="Carlito"/>
                <a:cs typeface="Carlito"/>
              </a:rPr>
              <a:t>Formatted </a:t>
            </a:r>
            <a:r>
              <a:rPr sz="2400" spc="-25">
                <a:latin typeface="Carlito"/>
                <a:cs typeface="Carlito"/>
              </a:rPr>
              <a:t>way </a:t>
            </a:r>
            <a:r>
              <a:rPr sz="2400" spc="-5">
                <a:latin typeface="Carlito"/>
                <a:cs typeface="Carlito"/>
              </a:rPr>
              <a:t>of looking </a:t>
            </a:r>
            <a:r>
              <a:rPr sz="2400" spc="-15">
                <a:latin typeface="Carlito"/>
                <a:cs typeface="Carlito"/>
              </a:rPr>
              <a:t>at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10">
                <a:latin typeface="Carlito"/>
                <a:cs typeface="Carlito"/>
              </a:rPr>
              <a:t>database </a:t>
            </a:r>
            <a:r>
              <a:rPr sz="2400" spc="-5">
                <a:latin typeface="Carlito"/>
                <a:cs typeface="Carlito"/>
              </a:rPr>
              <a:t>table or </a:t>
            </a:r>
            <a:r>
              <a:rPr sz="2400">
                <a:solidFill>
                  <a:schemeClr val="accent1"/>
                </a:solidFill>
                <a:latin typeface="Carlito"/>
                <a:cs typeface="Carlito"/>
              </a:rPr>
              <a:t>the 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results of </a:t>
            </a:r>
            <a:r>
              <a:rPr sz="2400">
                <a:solidFill>
                  <a:schemeClr val="accent1"/>
                </a:solidFill>
                <a:latin typeface="Carlito"/>
                <a:cs typeface="Carlito"/>
              </a:rPr>
              <a:t>a</a:t>
            </a:r>
            <a:r>
              <a:rPr sz="2400" spc="-30">
                <a:solidFill>
                  <a:schemeClr val="accent1"/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chemeClr val="accent1"/>
                </a:solidFill>
                <a:latin typeface="Carlito"/>
                <a:cs typeface="Carlito"/>
              </a:rPr>
              <a:t>query</a:t>
            </a:r>
            <a:endParaRPr sz="2400">
              <a:solidFill>
                <a:schemeClr val="accent1"/>
              </a:solidFill>
              <a:latin typeface="Carlito"/>
              <a:cs typeface="Carlito"/>
            </a:endParaRPr>
          </a:p>
          <a:p>
            <a:pPr marL="103060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5">
                <a:latin typeface="Carlito"/>
                <a:cs typeface="Carlito"/>
              </a:rPr>
              <a:t>Can pull </a:t>
            </a:r>
            <a:r>
              <a:rPr sz="2400" spc="-15">
                <a:latin typeface="Carlito"/>
                <a:cs typeface="Carlito"/>
              </a:rPr>
              <a:t>data from </a:t>
            </a:r>
            <a:r>
              <a:rPr sz="2400" spc="-10">
                <a:latin typeface="Carlito"/>
                <a:cs typeface="Carlito"/>
              </a:rPr>
              <a:t>more </a:t>
            </a:r>
            <a:r>
              <a:rPr sz="2400">
                <a:latin typeface="Carlito"/>
                <a:cs typeface="Carlito"/>
              </a:rPr>
              <a:t>than </a:t>
            </a:r>
            <a:r>
              <a:rPr sz="2400" spc="-5">
                <a:latin typeface="Carlito"/>
                <a:cs typeface="Carlito"/>
              </a:rPr>
              <a:t>one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table</a:t>
            </a:r>
            <a:endParaRPr sz="2400">
              <a:latin typeface="Carlito"/>
              <a:cs typeface="Carlito"/>
            </a:endParaRPr>
          </a:p>
          <a:p>
            <a:pPr marL="1030605" marR="12255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15">
                <a:latin typeface="Carlito"/>
                <a:cs typeface="Carlito"/>
              </a:rPr>
              <a:t>Many programs </a:t>
            </a:r>
            <a:r>
              <a:rPr sz="2400" spc="-20">
                <a:latin typeface="Carlito"/>
                <a:cs typeface="Carlito"/>
              </a:rPr>
              <a:t>have</a:t>
            </a:r>
            <a:r>
              <a:rPr sz="2400" spc="-20">
                <a:solidFill>
                  <a:schemeClr val="accent4"/>
                </a:solidFill>
                <a:latin typeface="Carlito"/>
                <a:cs typeface="Carlito"/>
              </a:rPr>
              <a:t> </a:t>
            </a:r>
            <a:r>
              <a:rPr sz="2400" spc="-15">
                <a:solidFill>
                  <a:schemeClr val="accent4"/>
                </a:solidFill>
                <a:latin typeface="Carlito"/>
                <a:cs typeface="Carlito"/>
              </a:rPr>
              <a:t>wizards </a:t>
            </a:r>
            <a:r>
              <a:rPr sz="2400" spc="-10">
                <a:solidFill>
                  <a:schemeClr val="accent4"/>
                </a:solidFill>
                <a:latin typeface="Carlito"/>
                <a:cs typeface="Carlito"/>
              </a:rPr>
              <a:t>or </a:t>
            </a:r>
            <a:r>
              <a:rPr sz="2400" spc="-5">
                <a:solidFill>
                  <a:schemeClr val="accent4"/>
                </a:solidFill>
                <a:latin typeface="Carlito"/>
                <a:cs typeface="Carlito"/>
              </a:rPr>
              <a:t>other </a:t>
            </a:r>
            <a:r>
              <a:rPr sz="2400" spc="-10">
                <a:solidFill>
                  <a:schemeClr val="accent4"/>
                </a:solidFill>
                <a:latin typeface="Carlito"/>
                <a:cs typeface="Carlito"/>
              </a:rPr>
              <a:t>tools</a:t>
            </a:r>
            <a:r>
              <a:rPr sz="2400" spc="-10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20">
                <a:latin typeface="Carlito"/>
                <a:cs typeface="Carlito"/>
              </a:rPr>
              <a:t>make </a:t>
            </a:r>
            <a:r>
              <a:rPr sz="2400">
                <a:latin typeface="Carlito"/>
                <a:cs typeface="Carlito"/>
              </a:rPr>
              <a:t>it  </a:t>
            </a:r>
            <a:r>
              <a:rPr sz="2400" spc="-15">
                <a:latin typeface="Carlito"/>
                <a:cs typeface="Carlito"/>
              </a:rPr>
              <a:t>easy to create </a:t>
            </a:r>
            <a:r>
              <a:rPr sz="2400">
                <a:latin typeface="Carlito"/>
                <a:cs typeface="Carlito"/>
              </a:rPr>
              <a:t>a</a:t>
            </a:r>
            <a:r>
              <a:rPr sz="2400" spc="-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report</a:t>
            </a:r>
            <a:endParaRPr sz="2400">
              <a:latin typeface="Carlito"/>
              <a:cs typeface="Carlito"/>
            </a:endParaRPr>
          </a:p>
          <a:p>
            <a:pPr marL="1030605" lvl="1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5">
                <a:latin typeface="Carlito"/>
                <a:cs typeface="Carlito"/>
              </a:rPr>
              <a:t>Can be </a:t>
            </a:r>
            <a:r>
              <a:rPr sz="2400">
                <a:latin typeface="Carlito"/>
                <a:cs typeface="Carlito"/>
              </a:rPr>
              <a:t>modified and </a:t>
            </a:r>
            <a:r>
              <a:rPr sz="2400" spc="-15">
                <a:latin typeface="Carlito"/>
                <a:cs typeface="Carlito"/>
              </a:rPr>
              <a:t>customized </a:t>
            </a:r>
            <a:r>
              <a:rPr sz="2400" spc="-5">
                <a:latin typeface="Carlito"/>
                <a:cs typeface="Carlito"/>
              </a:rPr>
              <a:t>using </a:t>
            </a:r>
            <a:r>
              <a:rPr sz="2400">
                <a:latin typeface="Carlito"/>
                <a:cs typeface="Carlito"/>
              </a:rPr>
              <a:t>the </a:t>
            </a:r>
            <a:r>
              <a:rPr sz="2400" spc="-5">
                <a:latin typeface="Carlito"/>
                <a:cs typeface="Carlito"/>
              </a:rPr>
              <a:t>Design</a:t>
            </a:r>
            <a:r>
              <a:rPr sz="2400" spc="-8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view</a:t>
            </a:r>
            <a:endParaRPr sz="2400">
              <a:latin typeface="Carlito"/>
              <a:cs typeface="Carlito"/>
            </a:endParaRPr>
          </a:p>
          <a:p>
            <a:pPr marL="1030605" marR="45085" lvl="1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031875" algn="l"/>
              </a:tabLst>
            </a:pPr>
            <a:r>
              <a:rPr sz="2400" spc="-5">
                <a:latin typeface="Carlito"/>
                <a:cs typeface="Carlito"/>
              </a:rPr>
              <a:t>Reports </a:t>
            </a:r>
            <a:r>
              <a:rPr sz="2400">
                <a:latin typeface="Carlito"/>
                <a:cs typeface="Carlito"/>
              </a:rPr>
              <a:t>in </a:t>
            </a:r>
            <a:r>
              <a:rPr sz="2400" spc="-10">
                <a:latin typeface="Carlito"/>
                <a:cs typeface="Carlito"/>
              </a:rPr>
              <a:t>Microsoft </a:t>
            </a:r>
            <a:r>
              <a:rPr sz="2400">
                <a:latin typeface="Carlito"/>
                <a:cs typeface="Carlito"/>
              </a:rPr>
              <a:t>Access </a:t>
            </a:r>
            <a:r>
              <a:rPr sz="2400" spc="-15">
                <a:latin typeface="Carlito"/>
                <a:cs typeface="Carlito"/>
              </a:rPr>
              <a:t>are saved </a:t>
            </a:r>
            <a:r>
              <a:rPr sz="2400">
                <a:latin typeface="Carlito"/>
                <a:cs typeface="Carlito"/>
              </a:rPr>
              <a:t>as </a:t>
            </a:r>
            <a:r>
              <a:rPr sz="2400" spc="-5">
                <a:latin typeface="Carlito"/>
                <a:cs typeface="Carlito"/>
              </a:rPr>
              <a:t>objects </a:t>
            </a:r>
            <a:r>
              <a:rPr sz="2400">
                <a:latin typeface="Carlito"/>
                <a:cs typeface="Carlito"/>
              </a:rPr>
              <a:t>in the  </a:t>
            </a:r>
            <a:r>
              <a:rPr sz="2400" spc="-10">
                <a:latin typeface="Carlito"/>
                <a:cs typeface="Carlito"/>
              </a:rPr>
              <a:t>database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file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/>
              <a:t>The </a:t>
            </a:r>
            <a:r>
              <a:rPr spc="-385"/>
              <a:t>Relational </a:t>
            </a:r>
            <a:r>
              <a:rPr spc="-430"/>
              <a:t>Database </a:t>
            </a:r>
            <a:r>
              <a:rPr spc="-280"/>
              <a:t>Model  </a:t>
            </a:r>
            <a:r>
              <a:rPr spc="-400"/>
              <a:t>(RDBMS)</a:t>
            </a:r>
          </a:p>
        </p:txBody>
      </p:sp>
      <p:sp>
        <p:nvSpPr>
          <p:cNvPr id="3" name="object 3"/>
          <p:cNvSpPr/>
          <p:nvPr/>
        </p:nvSpPr>
        <p:spPr>
          <a:xfrm>
            <a:off x="64368" y="1556854"/>
            <a:ext cx="7420134" cy="47955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03057" y="1844801"/>
            <a:ext cx="1295400" cy="838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31</a:t>
            </a:fld>
            <a:endParaRPr spc="-165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>
              <a:lnSpc>
                <a:spcPct val="100000"/>
              </a:lnSpc>
              <a:spcBef>
                <a:spcPts val="100"/>
              </a:spcBef>
            </a:pPr>
            <a:r>
              <a:rPr spc="-475"/>
              <a:t>The </a:t>
            </a:r>
            <a:r>
              <a:rPr spc="-385"/>
              <a:t>Relational </a:t>
            </a:r>
            <a:r>
              <a:rPr spc="-430"/>
              <a:t>Database </a:t>
            </a:r>
            <a:r>
              <a:rPr spc="-280"/>
              <a:t>Model  </a:t>
            </a:r>
            <a:r>
              <a:rPr spc="-400"/>
              <a:t>(RDBMS)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32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7304405" cy="3579826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Maintaining </a:t>
            </a:r>
            <a:r>
              <a:rPr sz="240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a </a:t>
            </a: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Relational</a:t>
            </a:r>
            <a:r>
              <a:rPr sz="2400" spc="-7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Database</a:t>
            </a:r>
            <a:endParaRPr lang="en-US"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40">
                <a:latin typeface="Carlito"/>
                <a:cs typeface="Carlito"/>
              </a:rPr>
              <a:t>Table </a:t>
            </a:r>
            <a:r>
              <a:rPr sz="2400" spc="-10">
                <a:latin typeface="Carlito"/>
                <a:cs typeface="Carlito"/>
              </a:rPr>
              <a:t>structures can </a:t>
            </a:r>
            <a:r>
              <a:rPr sz="2400" spc="-5">
                <a:latin typeface="Carlito"/>
                <a:cs typeface="Carlito"/>
              </a:rPr>
              <a:t>be </a:t>
            </a:r>
            <a:r>
              <a:rPr sz="2400">
                <a:latin typeface="Carlito"/>
                <a:cs typeface="Carlito"/>
              </a:rPr>
              <a:t>modified when</a:t>
            </a:r>
            <a:r>
              <a:rPr sz="2400" spc="1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needed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Other possible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modifications: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Adding </a:t>
            </a:r>
            <a:r>
              <a:rPr sz="2400" spc="-5">
                <a:latin typeface="Carlito"/>
                <a:cs typeface="Carlito"/>
              </a:rPr>
              <a:t>new </a:t>
            </a:r>
            <a:r>
              <a:rPr sz="2400" spc="-15">
                <a:latin typeface="Carlito"/>
                <a:cs typeface="Carlito"/>
              </a:rPr>
              <a:t>indexes to </a:t>
            </a:r>
            <a:r>
              <a:rPr sz="2400" spc="-5">
                <a:latin typeface="Carlito"/>
                <a:cs typeface="Carlito"/>
              </a:rPr>
              <a:t>speed up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queries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Deleting </a:t>
            </a:r>
            <a:r>
              <a:rPr sz="2400" spc="-10">
                <a:latin typeface="Carlito"/>
                <a:cs typeface="Carlito"/>
              </a:rPr>
              <a:t>obsolete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5">
                <a:latin typeface="Carlito"/>
                <a:cs typeface="Carlito"/>
              </a:rPr>
              <a:t>data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>
                <a:latin typeface="Carlito"/>
                <a:cs typeface="Carlito"/>
              </a:rPr>
              <a:t>Upgrading database software, </a:t>
            </a:r>
            <a:r>
              <a:rPr sz="2400" spc="-5">
                <a:latin typeface="Carlito"/>
                <a:cs typeface="Carlito"/>
              </a:rPr>
              <a:t>installing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patches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Repairing/restoring </a:t>
            </a:r>
            <a:r>
              <a:rPr sz="2400" spc="-15">
                <a:latin typeface="Carlito"/>
                <a:cs typeface="Carlito"/>
              </a:rPr>
              <a:t>data </a:t>
            </a:r>
            <a:r>
              <a:rPr sz="2400" spc="-10">
                <a:latin typeface="Carlito"/>
                <a:cs typeface="Carlito"/>
              </a:rPr>
              <a:t>that </a:t>
            </a:r>
            <a:r>
              <a:rPr sz="2400" spc="-5">
                <a:latin typeface="Carlito"/>
                <a:cs typeface="Carlito"/>
              </a:rPr>
              <a:t>has </a:t>
            </a:r>
            <a:r>
              <a:rPr sz="2400" spc="-10">
                <a:latin typeface="Carlito"/>
                <a:cs typeface="Carlito"/>
              </a:rPr>
              <a:t>become</a:t>
            </a:r>
            <a:r>
              <a:rPr sz="2400" spc="-7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corrupt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Continuing </a:t>
            </a:r>
            <a:r>
              <a:rPr sz="2400" spc="-15">
                <a:latin typeface="Carlito"/>
                <a:cs typeface="Carlito"/>
              </a:rPr>
              <a:t>to evaluate </a:t>
            </a:r>
            <a:r>
              <a:rPr sz="2400">
                <a:latin typeface="Carlito"/>
                <a:cs typeface="Carlito"/>
              </a:rPr>
              <a:t>and </a:t>
            </a:r>
            <a:r>
              <a:rPr sz="2400" spc="-15">
                <a:latin typeface="Carlito"/>
                <a:cs typeface="Carlito"/>
              </a:rPr>
              <a:t>improve </a:t>
            </a:r>
            <a:r>
              <a:rPr sz="2400" spc="-5">
                <a:latin typeface="Carlito"/>
                <a:cs typeface="Carlito"/>
              </a:rPr>
              <a:t>security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1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>
                <a:solidFill>
                  <a:schemeClr val="accent3">
                    <a:lumMod val="76000"/>
                  </a:schemeClr>
                </a:solidFill>
              </a:rPr>
              <a:t>Cloud</a:t>
            </a:r>
            <a:r>
              <a:rPr sz="3600" spc="-275">
                <a:solidFill>
                  <a:schemeClr val="accent3">
                    <a:lumMod val="76000"/>
                  </a:schemeClr>
                </a:solidFill>
              </a:rPr>
              <a:t> </a:t>
            </a:r>
            <a:r>
              <a:rPr sz="3600" spc="-505">
                <a:solidFill>
                  <a:schemeClr val="accent3">
                    <a:lumMod val="76000"/>
                  </a:schemeClr>
                </a:solidFill>
              </a:rPr>
              <a:t>Databases</a:t>
            </a:r>
            <a:endParaRPr lang="en-US" sz="3600">
              <a:solidFill>
                <a:schemeClr val="accent3">
                  <a:lumMod val="76000"/>
                </a:schemeClr>
              </a:solidFill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33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534415"/>
            <a:ext cx="7977505" cy="498341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20">
                <a:latin typeface="Arial"/>
                <a:cs typeface="Arial"/>
              </a:rPr>
              <a:t>Typically </a:t>
            </a:r>
            <a:r>
              <a:rPr sz="2400" spc="-95">
                <a:latin typeface="Arial"/>
                <a:cs typeface="Arial"/>
              </a:rPr>
              <a:t>hosted </a:t>
            </a:r>
            <a:r>
              <a:rPr sz="2400" spc="-75">
                <a:latin typeface="Arial"/>
                <a:cs typeface="Arial"/>
              </a:rPr>
              <a:t>on </a:t>
            </a:r>
            <a:r>
              <a:rPr sz="2400" spc="-190">
                <a:solidFill>
                  <a:schemeClr val="accent3">
                    <a:lumMod val="76000"/>
                  </a:schemeClr>
                </a:solidFill>
                <a:latin typeface="Arial"/>
                <a:cs typeface="Arial"/>
              </a:rPr>
              <a:t>a </a:t>
            </a:r>
            <a:r>
              <a:rPr sz="2400" spc="-80">
                <a:solidFill>
                  <a:schemeClr val="accent3">
                    <a:lumMod val="76000"/>
                  </a:schemeClr>
                </a:solidFill>
                <a:latin typeface="Arial"/>
                <a:cs typeface="Arial"/>
              </a:rPr>
              <a:t>cloud </a:t>
            </a:r>
            <a:r>
              <a:rPr sz="2400" spc="-130">
                <a:solidFill>
                  <a:schemeClr val="accent3">
                    <a:lumMod val="76000"/>
                  </a:schemeClr>
                </a:solidFill>
                <a:latin typeface="Arial"/>
                <a:cs typeface="Arial"/>
              </a:rPr>
              <a:t>database </a:t>
            </a:r>
            <a:r>
              <a:rPr sz="2400" spc="-70">
                <a:solidFill>
                  <a:schemeClr val="accent3">
                    <a:lumMod val="76000"/>
                  </a:schemeClr>
                </a:solidFill>
                <a:latin typeface="Arial"/>
                <a:cs typeface="Arial"/>
              </a:rPr>
              <a:t>provider’s </a:t>
            </a:r>
            <a:r>
              <a:rPr sz="2400" spc="-130">
                <a:solidFill>
                  <a:schemeClr val="accent3">
                    <a:lumMod val="76000"/>
                  </a:schemeClr>
                </a:solidFill>
                <a:latin typeface="Arial"/>
                <a:cs typeface="Arial"/>
              </a:rPr>
              <a:t>servers</a:t>
            </a:r>
            <a:r>
              <a:rPr sz="2400" spc="-130">
                <a:latin typeface="Arial"/>
                <a:cs typeface="Arial"/>
              </a:rPr>
              <a:t> </a:t>
            </a:r>
            <a:r>
              <a:rPr sz="2400" spc="-5">
                <a:latin typeface="Arial"/>
                <a:cs typeface="Arial"/>
              </a:rPr>
              <a:t>that</a:t>
            </a:r>
            <a:r>
              <a:rPr sz="2400" spc="-254">
                <a:latin typeface="Arial"/>
                <a:cs typeface="Arial"/>
              </a:rPr>
              <a:t> </a:t>
            </a:r>
            <a:r>
              <a:rPr sz="2400" spc="-125">
                <a:latin typeface="Arial"/>
                <a:cs typeface="Arial"/>
              </a:rPr>
              <a:t>is  </a:t>
            </a:r>
            <a:r>
              <a:rPr sz="2400" spc="-5">
                <a:latin typeface="Carlito"/>
                <a:cs typeface="Carlito"/>
              </a:rPr>
              <a:t>accessible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10">
                <a:latin typeface="Carlito"/>
                <a:cs typeface="Carlito"/>
              </a:rPr>
              <a:t>users </a:t>
            </a:r>
            <a:r>
              <a:rPr sz="2400" spc="-5">
                <a:latin typeface="Carlito"/>
                <a:cs typeface="Carlito"/>
              </a:rPr>
              <a:t>via </a:t>
            </a:r>
            <a:r>
              <a:rPr sz="2400">
                <a:latin typeface="Carlito"/>
                <a:cs typeface="Carlito"/>
              </a:rPr>
              <a:t>the</a:t>
            </a:r>
            <a:r>
              <a:rPr sz="2400" spc="-20">
                <a:latin typeface="Carlito"/>
                <a:cs typeface="Carlito"/>
              </a:rPr>
              <a:t> </a:t>
            </a:r>
            <a:r>
              <a:rPr sz="2400" spc="-30">
                <a:latin typeface="Carlito"/>
                <a:cs typeface="Carlito"/>
              </a:rPr>
              <a:t>Web</a:t>
            </a:r>
            <a:endParaRPr sz="2400">
              <a:latin typeface="Carlito"/>
              <a:cs typeface="Carlito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>
                <a:latin typeface="Carlito"/>
                <a:cs typeface="Carlito"/>
              </a:rPr>
              <a:t>Examples </a:t>
            </a:r>
            <a:r>
              <a:rPr sz="2400" spc="-5">
                <a:latin typeface="Carlito"/>
                <a:cs typeface="Carlito"/>
              </a:rPr>
              <a:t>of </a:t>
            </a: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Cloud Databases</a:t>
            </a:r>
            <a:r>
              <a:rPr sz="2400" spc="-5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in</a:t>
            </a:r>
            <a:r>
              <a:rPr sz="2400" spc="-6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Use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Information</a:t>
            </a:r>
            <a:r>
              <a:rPr sz="2400" spc="-4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retrieval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1155700" marR="4191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Data to </a:t>
            </a:r>
            <a:r>
              <a:rPr sz="2400" spc="-5">
                <a:latin typeface="Carlito"/>
                <a:cs typeface="Carlito"/>
              </a:rPr>
              <a:t>be accessed </a:t>
            </a:r>
            <a:r>
              <a:rPr sz="2400">
                <a:latin typeface="Carlito"/>
                <a:cs typeface="Carlito"/>
              </a:rPr>
              <a:t>and </a:t>
            </a:r>
            <a:r>
              <a:rPr sz="2400" spc="-15">
                <a:latin typeface="Carlito"/>
                <a:cs typeface="Carlito"/>
              </a:rPr>
              <a:t>displayed </a:t>
            </a:r>
            <a:r>
              <a:rPr sz="2400" spc="-5">
                <a:latin typeface="Carlito"/>
                <a:cs typeface="Carlito"/>
              </a:rPr>
              <a:t>on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30">
                <a:latin typeface="Carlito"/>
                <a:cs typeface="Carlito"/>
              </a:rPr>
              <a:t>Web </a:t>
            </a:r>
            <a:r>
              <a:rPr sz="2400" spc="-10">
                <a:latin typeface="Carlito"/>
                <a:cs typeface="Carlito"/>
              </a:rPr>
              <a:t>page </a:t>
            </a:r>
            <a:r>
              <a:rPr sz="2400">
                <a:latin typeface="Carlito"/>
                <a:cs typeface="Carlito"/>
              </a:rPr>
              <a:t>is  </a:t>
            </a:r>
            <a:r>
              <a:rPr sz="2400" spc="-10">
                <a:latin typeface="Carlito"/>
                <a:cs typeface="Carlito"/>
              </a:rPr>
              <a:t>often </a:t>
            </a:r>
            <a:r>
              <a:rPr sz="2400" spc="-20">
                <a:latin typeface="Carlito"/>
                <a:cs typeface="Carlito"/>
              </a:rPr>
              <a:t>stored </a:t>
            </a:r>
            <a:r>
              <a:rPr sz="2400">
                <a:latin typeface="Carlito"/>
                <a:cs typeface="Carlito"/>
              </a:rPr>
              <a:t>in a </a:t>
            </a:r>
            <a:r>
              <a:rPr sz="2400" spc="-10">
                <a:latin typeface="Carlito"/>
                <a:cs typeface="Carlito"/>
              </a:rPr>
              <a:t>database, </a:t>
            </a:r>
            <a:r>
              <a:rPr sz="2400">
                <a:latin typeface="Carlito"/>
                <a:cs typeface="Carlito"/>
              </a:rPr>
              <a:t>i.e, </a:t>
            </a:r>
            <a:r>
              <a:rPr sz="2400" spc="-10">
                <a:latin typeface="Carlito"/>
                <a:cs typeface="Carlito"/>
              </a:rPr>
              <a:t>Search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sites</a:t>
            </a:r>
            <a:endParaRPr sz="240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Support </a:t>
            </a:r>
            <a:r>
              <a:rPr sz="240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and </a:t>
            </a:r>
            <a:r>
              <a:rPr sz="2400" spc="-1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facilitate</a:t>
            </a:r>
            <a:r>
              <a:rPr sz="2400" spc="-45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chemeClr val="accent3">
                    <a:lumMod val="76000"/>
                  </a:schemeClr>
                </a:solidFill>
                <a:latin typeface="Carlito"/>
                <a:cs typeface="Carlito"/>
              </a:rPr>
              <a:t>e-commerce</a:t>
            </a:r>
            <a:endParaRPr sz="2400">
              <a:solidFill>
                <a:schemeClr val="accent3">
                  <a:lumMod val="76000"/>
                </a:schemeClr>
              </a:solidFill>
              <a:latin typeface="Carlito"/>
              <a:cs typeface="Carlito"/>
            </a:endParaRPr>
          </a:p>
          <a:p>
            <a:pPr marL="1155700" marR="106489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5">
                <a:latin typeface="Carlito"/>
                <a:cs typeface="Carlito"/>
              </a:rPr>
              <a:t>Display </a:t>
            </a:r>
            <a:r>
              <a:rPr sz="2400" spc="-10">
                <a:latin typeface="Carlito"/>
                <a:cs typeface="Carlito"/>
              </a:rPr>
              <a:t>product information, </a:t>
            </a:r>
            <a:r>
              <a:rPr sz="2400">
                <a:latin typeface="Carlito"/>
                <a:cs typeface="Carlito"/>
              </a:rPr>
              <a:t>pricing, </a:t>
            </a:r>
            <a:r>
              <a:rPr sz="2400" spc="-10">
                <a:latin typeface="Carlito"/>
                <a:cs typeface="Carlito"/>
              </a:rPr>
              <a:t>customer  information, </a:t>
            </a:r>
            <a:r>
              <a:rPr sz="2400" spc="-5">
                <a:latin typeface="Carlito"/>
                <a:cs typeface="Carlito"/>
              </a:rPr>
              <a:t>shopping cart </a:t>
            </a:r>
            <a:r>
              <a:rPr sz="2400" spc="-15">
                <a:latin typeface="Carlito"/>
                <a:cs typeface="Carlito"/>
              </a:rPr>
              <a:t>content,</a:t>
            </a:r>
            <a:r>
              <a:rPr sz="2400" spc="-70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etc.</a:t>
            </a:r>
            <a:endParaRPr lang="en-US" sz="2400" spc="-10">
              <a:latin typeface="Carlito"/>
              <a:cs typeface="Carlito"/>
            </a:endParaRPr>
          </a:p>
          <a:p>
            <a:pPr marL="1155700" marR="1064895" lvl="2" indent="-228600"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lang="en-US" sz="2400" spc="-5">
                <a:latin typeface="Carlito"/>
                <a:cs typeface="Carlito"/>
              </a:rPr>
              <a:t>Cloud </a:t>
            </a:r>
            <a:r>
              <a:rPr lang="en-US" sz="2400" spc="-10">
                <a:latin typeface="Carlito"/>
                <a:cs typeface="Carlito"/>
              </a:rPr>
              <a:t>databases </a:t>
            </a:r>
            <a:r>
              <a:rPr lang="en-US" sz="2400" spc="-5">
                <a:latin typeface="Carlito"/>
                <a:cs typeface="Carlito"/>
              </a:rPr>
              <a:t>allow </a:t>
            </a:r>
            <a:r>
              <a:rPr lang="en-US" sz="2400" spc="-30">
                <a:latin typeface="Carlito"/>
                <a:cs typeface="Carlito"/>
              </a:rPr>
              <a:t>Web </a:t>
            </a:r>
            <a:r>
              <a:rPr lang="en-US" sz="2400" spc="-10">
                <a:latin typeface="Carlito"/>
                <a:cs typeface="Carlito"/>
              </a:rPr>
              <a:t>pages </a:t>
            </a:r>
            <a:r>
              <a:rPr lang="en-US" sz="2400" spc="-15">
                <a:latin typeface="Carlito"/>
                <a:cs typeface="Carlito"/>
              </a:rPr>
              <a:t>to </a:t>
            </a:r>
            <a:r>
              <a:rPr lang="en-US" sz="2400" spc="-5">
                <a:latin typeface="Carlito"/>
                <a:cs typeface="Carlito"/>
              </a:rPr>
              <a:t>be dynamic </a:t>
            </a:r>
            <a:r>
              <a:rPr lang="en-US" sz="2400" spc="-30">
                <a:latin typeface="Carlito"/>
                <a:cs typeface="Carlito"/>
              </a:rPr>
              <a:t>Web  </a:t>
            </a:r>
            <a:r>
              <a:rPr lang="en-US" sz="2400" spc="-10">
                <a:latin typeface="Carlito"/>
                <a:cs typeface="Carlito"/>
              </a:rPr>
              <a:t>pages</a:t>
            </a:r>
            <a:endParaRPr lang="en-US" sz="2400">
              <a:latin typeface="Carlito"/>
              <a:cs typeface="Carlito"/>
            </a:endParaRPr>
          </a:p>
          <a:p>
            <a:pPr marL="1155700" marR="1064895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50266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34"/>
              <a:t>Technology </a:t>
            </a:r>
            <a:r>
              <a:rPr sz="3600" spc="-405"/>
              <a:t>and </a:t>
            </a:r>
            <a:r>
              <a:rPr sz="3600" spc="-490"/>
              <a:t>You</a:t>
            </a:r>
            <a:r>
              <a:rPr sz="3600" spc="95"/>
              <a:t> </a:t>
            </a:r>
            <a:r>
              <a:rPr sz="3600" spc="-600"/>
              <a:t>Box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4171315" cy="4050029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b="1" spc="-5">
                <a:latin typeface="Carlito"/>
                <a:cs typeface="Carlito"/>
              </a:rPr>
              <a:t>Cloud</a:t>
            </a:r>
            <a:r>
              <a:rPr sz="2400" b="1" spc="-30">
                <a:latin typeface="Carlito"/>
                <a:cs typeface="Carlito"/>
              </a:rPr>
              <a:t> </a:t>
            </a:r>
            <a:r>
              <a:rPr sz="2400" b="1" spc="-10">
                <a:latin typeface="Carlito"/>
                <a:cs typeface="Carlito"/>
              </a:rPr>
              <a:t>Databases</a:t>
            </a:r>
            <a:endParaRPr sz="2400">
              <a:latin typeface="Carlito"/>
              <a:cs typeface="Carlito"/>
            </a:endParaRPr>
          </a:p>
          <a:p>
            <a:pPr marL="756285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Use </a:t>
            </a:r>
            <a:r>
              <a:rPr sz="2400" spc="-10">
                <a:latin typeface="Carlito"/>
                <a:cs typeface="Carlito"/>
              </a:rPr>
              <a:t>growing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rapidly</a:t>
            </a:r>
            <a:endParaRPr sz="2400">
              <a:latin typeface="Carlito"/>
              <a:cs typeface="Carlito"/>
            </a:endParaRPr>
          </a:p>
          <a:p>
            <a:pPr marL="756285" marR="41910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>
                <a:latin typeface="Carlito"/>
                <a:cs typeface="Carlito"/>
              </a:rPr>
              <a:t>Typically </a:t>
            </a:r>
            <a:r>
              <a:rPr sz="2400" spc="-5">
                <a:latin typeface="Carlito"/>
                <a:cs typeface="Carlito"/>
              </a:rPr>
              <a:t>built using </a:t>
            </a:r>
            <a:r>
              <a:rPr sz="2400">
                <a:latin typeface="Carlito"/>
                <a:cs typeface="Carlito"/>
              </a:rPr>
              <a:t>a</a:t>
            </a:r>
            <a:r>
              <a:rPr sz="2400" spc="-11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cloud  </a:t>
            </a:r>
            <a:r>
              <a:rPr sz="2400" spc="-10">
                <a:latin typeface="Carlito"/>
                <a:cs typeface="Carlito"/>
              </a:rPr>
              <a:t>provider </a:t>
            </a: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(Windows Azure,  Amazon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SimpleDB, or  Google Cloud</a:t>
            </a:r>
            <a:r>
              <a:rPr sz="2400" spc="-40">
                <a:solidFill>
                  <a:srgbClr val="00B0F0"/>
                </a:solidFill>
                <a:latin typeface="Carlito"/>
                <a:cs typeface="Carlito"/>
              </a:rPr>
              <a:t>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SQL)</a:t>
            </a:r>
            <a:endParaRPr sz="2400">
              <a:solidFill>
                <a:srgbClr val="00B0F0"/>
              </a:solidFill>
              <a:latin typeface="Carlito"/>
              <a:cs typeface="Carlito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>
                <a:latin typeface="Carlito"/>
                <a:cs typeface="Carlito"/>
              </a:rPr>
              <a:t>Requires </a:t>
            </a:r>
            <a:r>
              <a:rPr sz="2400">
                <a:latin typeface="Carlito"/>
                <a:cs typeface="Carlito"/>
              </a:rPr>
              <a:t>less </a:t>
            </a:r>
            <a:r>
              <a:rPr sz="2400" spc="-10">
                <a:latin typeface="Carlito"/>
                <a:cs typeface="Carlito"/>
              </a:rPr>
              <a:t>in-house  </a:t>
            </a:r>
            <a:r>
              <a:rPr sz="2400" spc="-15">
                <a:latin typeface="Carlito"/>
                <a:cs typeface="Carlito"/>
              </a:rPr>
              <a:t>hardware </a:t>
            </a:r>
            <a:r>
              <a:rPr sz="2400">
                <a:latin typeface="Carlito"/>
                <a:cs typeface="Carlito"/>
              </a:rPr>
              <a:t>and</a:t>
            </a:r>
            <a:r>
              <a:rPr sz="2400" spc="-9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maintenance</a:t>
            </a:r>
            <a:endParaRPr sz="2400">
              <a:latin typeface="Carlito"/>
              <a:cs typeface="Carlito"/>
            </a:endParaRPr>
          </a:p>
          <a:p>
            <a:pPr marL="756285" marR="73025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>
                <a:latin typeface="Carlito"/>
                <a:cs typeface="Carlito"/>
              </a:rPr>
              <a:t>Individuals </a:t>
            </a:r>
            <a:r>
              <a:rPr sz="2400" spc="-10">
                <a:latin typeface="Carlito"/>
                <a:cs typeface="Carlito"/>
              </a:rPr>
              <a:t>can </a:t>
            </a:r>
            <a:r>
              <a:rPr sz="2400" spc="-15">
                <a:latin typeface="Carlito"/>
                <a:cs typeface="Carlito"/>
              </a:rPr>
              <a:t>create </a:t>
            </a:r>
            <a:r>
              <a:rPr sz="2400">
                <a:latin typeface="Carlito"/>
                <a:cs typeface="Carlito"/>
              </a:rPr>
              <a:t>via  </a:t>
            </a:r>
            <a:r>
              <a:rPr sz="2400" spc="-10">
                <a:latin typeface="Carlito"/>
                <a:cs typeface="Carlito"/>
              </a:rPr>
              <a:t>Microsoft </a:t>
            </a:r>
            <a:r>
              <a:rPr sz="2400">
                <a:latin typeface="Carlito"/>
                <a:cs typeface="Carlito"/>
              </a:rPr>
              <a:t>Access </a:t>
            </a:r>
            <a:r>
              <a:rPr sz="2400" spc="-10">
                <a:latin typeface="Carlito"/>
                <a:cs typeface="Carlito"/>
              </a:rPr>
              <a:t>web</a:t>
            </a:r>
            <a:r>
              <a:rPr sz="2400" spc="-10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apps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88027" y="1628800"/>
            <a:ext cx="4267200" cy="4781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34</a:t>
            </a:fld>
            <a:endParaRPr spc="-165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/>
              <a:t>Cloud</a:t>
            </a:r>
            <a:r>
              <a:rPr sz="3600" spc="-275"/>
              <a:t> </a:t>
            </a:r>
            <a:r>
              <a:rPr sz="3600" spc="-505"/>
              <a:t>Databases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35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535940" y="1461262"/>
            <a:ext cx="8227060" cy="3348994"/>
          </a:xfrm>
          <a:prstGeom prst="rect">
            <a:avLst/>
          </a:prstGeom>
        </p:spPr>
        <p:txBody>
          <a:bodyPr vert="horz" wrap="square" lIns="0" tIns="85725" rIns="0" bIns="0" rtlCol="0" anchor="t">
            <a:spAutoFit/>
          </a:bodyPr>
          <a:lstStyle/>
          <a:p>
            <a:pPr marL="342900" marR="3900170" indent="-342900" algn="r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42900" algn="l"/>
                <a:tab pos="343535" algn="l"/>
              </a:tabLst>
            </a:pP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How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Cloud </a:t>
            </a: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Databases</a:t>
            </a:r>
            <a:r>
              <a:rPr lang="en-US" sz="2400" spc="-10">
                <a:solidFill>
                  <a:srgbClr val="00B0F0"/>
                </a:solidFill>
                <a:latin typeface="Carlito"/>
                <a:cs typeface="Carlito"/>
              </a:rPr>
              <a:t> </a:t>
            </a:r>
            <a:r>
              <a:rPr sz="2400" spc="-30">
                <a:solidFill>
                  <a:srgbClr val="00B0F0"/>
                </a:solidFill>
                <a:latin typeface="Carlito"/>
                <a:cs typeface="Carlito"/>
              </a:rPr>
              <a:t>Work</a:t>
            </a:r>
            <a:endParaRPr lang="en-US" sz="2400">
              <a:solidFill>
                <a:srgbClr val="00B0F0"/>
              </a:solidFill>
              <a:latin typeface="Carlito"/>
              <a:cs typeface="Carlito"/>
            </a:endParaRPr>
          </a:p>
          <a:p>
            <a:pPr marL="287020" marR="3887470" lvl="1" indent="-287020" algn="r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287020" algn="l"/>
              </a:tabLst>
            </a:pPr>
            <a:r>
              <a:rPr sz="2400" spc="-10">
                <a:latin typeface="Carlito"/>
                <a:cs typeface="Carlito"/>
              </a:rPr>
              <a:t>Visitor </a:t>
            </a:r>
            <a:r>
              <a:rPr sz="2400" spc="-15">
                <a:latin typeface="Carlito"/>
                <a:cs typeface="Carlito"/>
              </a:rPr>
              <a:t>makes </a:t>
            </a:r>
            <a:r>
              <a:rPr sz="2400" spc="-10">
                <a:latin typeface="Carlito"/>
                <a:cs typeface="Carlito"/>
              </a:rPr>
              <a:t>request</a:t>
            </a:r>
            <a:r>
              <a:rPr sz="2400" spc="-8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by</a:t>
            </a:r>
            <a:endParaRPr sz="2400">
              <a:latin typeface="Carlito"/>
              <a:cs typeface="Carlito"/>
            </a:endParaRPr>
          </a:p>
          <a:p>
            <a:pPr marL="1155700" lvl="2" indent="-2292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>
                <a:latin typeface="Carlito"/>
                <a:cs typeface="Carlito"/>
              </a:rPr>
              <a:t>Filling out </a:t>
            </a:r>
            <a:r>
              <a:rPr sz="2400">
                <a:latin typeface="Carlito"/>
                <a:cs typeface="Carlito"/>
              </a:rPr>
              <a:t>a </a:t>
            </a:r>
            <a:r>
              <a:rPr sz="2400" spc="-30">
                <a:latin typeface="Carlito"/>
                <a:cs typeface="Carlito"/>
              </a:rPr>
              <a:t>Web </a:t>
            </a:r>
            <a:r>
              <a:rPr sz="2400" spc="-10">
                <a:latin typeface="Carlito"/>
                <a:cs typeface="Carlito"/>
              </a:rPr>
              <a:t>page</a:t>
            </a:r>
            <a:r>
              <a:rPr sz="2400" spc="-30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form</a:t>
            </a:r>
            <a:endParaRPr sz="2400">
              <a:latin typeface="Carlito"/>
              <a:cs typeface="Carlito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>
                <a:latin typeface="Carlito"/>
                <a:cs typeface="Carlito"/>
              </a:rPr>
              <a:t>Selecting an </a:t>
            </a:r>
            <a:r>
              <a:rPr sz="2400" spc="-5">
                <a:latin typeface="Carlito"/>
                <a:cs typeface="Carlito"/>
              </a:rPr>
              <a:t>option </a:t>
            </a:r>
            <a:r>
              <a:rPr sz="2400" spc="-15">
                <a:latin typeface="Carlito"/>
                <a:cs typeface="Carlito"/>
              </a:rPr>
              <a:t>from </a:t>
            </a:r>
            <a:r>
              <a:rPr sz="2400">
                <a:latin typeface="Carlito"/>
                <a:cs typeface="Carlito"/>
              </a:rPr>
              <a:t>a menu </a:t>
            </a:r>
            <a:r>
              <a:rPr sz="2400" spc="-10">
                <a:latin typeface="Carlito"/>
                <a:cs typeface="Carlito"/>
              </a:rPr>
              <a:t>displayed </a:t>
            </a:r>
            <a:r>
              <a:rPr sz="2400" spc="-5">
                <a:latin typeface="Carlito"/>
                <a:cs typeface="Carlito"/>
              </a:rPr>
              <a:t>on </a:t>
            </a:r>
            <a:r>
              <a:rPr sz="2400">
                <a:latin typeface="Carlito"/>
                <a:cs typeface="Carlito"/>
              </a:rPr>
              <a:t>a</a:t>
            </a:r>
            <a:r>
              <a:rPr sz="2400" spc="-140">
                <a:latin typeface="Carlito"/>
                <a:cs typeface="Carlito"/>
              </a:rPr>
              <a:t> </a:t>
            </a:r>
            <a:r>
              <a:rPr sz="2400" spc="-30">
                <a:latin typeface="Carlito"/>
                <a:cs typeface="Carlito"/>
              </a:rPr>
              <a:t>Web  </a:t>
            </a:r>
            <a:r>
              <a:rPr sz="2400" spc="-10">
                <a:latin typeface="Carlito"/>
                <a:cs typeface="Carlito"/>
              </a:rPr>
              <a:t>page</a:t>
            </a:r>
            <a:r>
              <a:rPr sz="2400" spc="-15">
                <a:latin typeface="Carlito"/>
                <a:cs typeface="Carlito"/>
              </a:rPr>
              <a:t> </a:t>
            </a:r>
            <a:r>
              <a:rPr sz="2400" spc="-20">
                <a:latin typeface="Carlito"/>
                <a:cs typeface="Carlito"/>
              </a:rPr>
              <a:t>form</a:t>
            </a:r>
            <a:endParaRPr sz="2400">
              <a:latin typeface="Carlito"/>
              <a:cs typeface="Carlito"/>
            </a:endParaRPr>
          </a:p>
          <a:p>
            <a:pPr marL="756285" marR="76200" lvl="1" indent="-287020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30">
                <a:solidFill>
                  <a:srgbClr val="00B0F0"/>
                </a:solidFill>
                <a:latin typeface="Carlito"/>
                <a:cs typeface="Carlito"/>
              </a:rPr>
              <a:t>Web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server </a:t>
            </a:r>
            <a:r>
              <a:rPr sz="2400" spc="-15">
                <a:solidFill>
                  <a:srgbClr val="00B0F0"/>
                </a:solidFill>
                <a:latin typeface="Carlito"/>
                <a:cs typeface="Carlito"/>
              </a:rPr>
              <a:t>converts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the </a:t>
            </a: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request </a:t>
            </a:r>
            <a:r>
              <a:rPr sz="2400" spc="-15">
                <a:solidFill>
                  <a:srgbClr val="00B0F0"/>
                </a:solidFill>
                <a:latin typeface="Carlito"/>
                <a:cs typeface="Carlito"/>
              </a:rPr>
              <a:t>into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a </a:t>
            </a: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database </a:t>
            </a:r>
            <a:r>
              <a:rPr sz="2400" spc="-30">
                <a:solidFill>
                  <a:srgbClr val="00B0F0"/>
                </a:solidFill>
                <a:latin typeface="Carlito"/>
                <a:cs typeface="Carlito"/>
              </a:rPr>
              <a:t>query, 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passes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it </a:t>
            </a:r>
            <a:r>
              <a:rPr sz="2400" spc="-15">
                <a:solidFill>
                  <a:srgbClr val="00B0F0"/>
                </a:solidFill>
                <a:latin typeface="Carlito"/>
                <a:cs typeface="Carlito"/>
              </a:rPr>
              <a:t>onto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the </a:t>
            </a: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database </a:t>
            </a:r>
            <a:r>
              <a:rPr sz="2400" spc="-35">
                <a:solidFill>
                  <a:srgbClr val="00B0F0"/>
                </a:solidFill>
                <a:latin typeface="Carlito"/>
                <a:cs typeface="Carlito"/>
              </a:rPr>
              <a:t>server,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and then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sends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the  </a:t>
            </a:r>
            <a:r>
              <a:rPr sz="2400" spc="-5">
                <a:solidFill>
                  <a:srgbClr val="00B0F0"/>
                </a:solidFill>
                <a:latin typeface="Carlito"/>
                <a:cs typeface="Carlito"/>
              </a:rPr>
              <a:t>results back </a:t>
            </a:r>
            <a:r>
              <a:rPr sz="2400" spc="-15">
                <a:solidFill>
                  <a:srgbClr val="00B0F0"/>
                </a:solidFill>
                <a:latin typeface="Carlito"/>
                <a:cs typeface="Carlito"/>
              </a:rPr>
              <a:t>to </a:t>
            </a:r>
            <a:r>
              <a:rPr sz="2400">
                <a:solidFill>
                  <a:srgbClr val="00B0F0"/>
                </a:solidFill>
                <a:latin typeface="Carlito"/>
                <a:cs typeface="Carlito"/>
              </a:rPr>
              <a:t>the</a:t>
            </a:r>
            <a:r>
              <a:rPr sz="2400" spc="-35">
                <a:solidFill>
                  <a:srgbClr val="00B0F0"/>
                </a:solidFill>
                <a:latin typeface="Carlito"/>
                <a:cs typeface="Carlito"/>
              </a:rPr>
              <a:t> </a:t>
            </a:r>
            <a:r>
              <a:rPr sz="2400" spc="-10">
                <a:solidFill>
                  <a:srgbClr val="00B0F0"/>
                </a:solidFill>
                <a:latin typeface="Carlito"/>
                <a:cs typeface="Carlito"/>
              </a:rPr>
              <a:t>visitor</a:t>
            </a:r>
            <a:endParaRPr sz="2400">
              <a:solidFill>
                <a:srgbClr val="00B0F0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0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/>
              <a:t>Cloud</a:t>
            </a:r>
            <a:r>
              <a:rPr sz="3600" spc="-275"/>
              <a:t> </a:t>
            </a:r>
            <a:r>
              <a:rPr sz="3600" spc="-505"/>
              <a:t>Databases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36</a:t>
            </a:fld>
            <a:endParaRPr spc="-165"/>
          </a:p>
        </p:txBody>
      </p:sp>
      <p:sp>
        <p:nvSpPr>
          <p:cNvPr id="3" name="object 3"/>
          <p:cNvSpPr txBox="1"/>
          <p:nvPr/>
        </p:nvSpPr>
        <p:spPr>
          <a:xfrm>
            <a:off x="993444" y="1461262"/>
            <a:ext cx="6885305" cy="4305935"/>
          </a:xfrm>
          <a:prstGeom prst="rect">
            <a:avLst/>
          </a:prstGeom>
        </p:spPr>
        <p:txBody>
          <a:bodyPr vert="horz" wrap="square" lIns="0" tIns="48895" rIns="0" bIns="0" rtlCol="0" anchor="t">
            <a:spAutoFit/>
          </a:bodyPr>
          <a:lstStyle/>
          <a:p>
            <a:pPr marL="299085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299720" algn="l"/>
              </a:tabLst>
            </a:pPr>
            <a:r>
              <a:rPr sz="2400" spc="-10">
                <a:solidFill>
                  <a:schemeClr val="accent1"/>
                </a:solidFill>
                <a:latin typeface="Carlito"/>
                <a:cs typeface="Carlito"/>
              </a:rPr>
              <a:t>Middleware</a:t>
            </a:r>
            <a:endParaRPr sz="2400">
              <a:solidFill>
                <a:schemeClr val="accent1"/>
              </a:solidFill>
              <a:latin typeface="Carlito"/>
              <a:cs typeface="Carlito"/>
            </a:endParaRPr>
          </a:p>
          <a:p>
            <a:pPr marL="697865" marR="5080" lvl="1" indent="-228600" algn="just">
              <a:lnSpc>
                <a:spcPct val="90100"/>
              </a:lnSpc>
              <a:spcBef>
                <a:spcPts val="57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5">
                <a:latin typeface="Carlito"/>
                <a:cs typeface="Carlito"/>
              </a:rPr>
              <a:t>Software </a:t>
            </a:r>
            <a:r>
              <a:rPr sz="2400" spc="-5">
                <a:latin typeface="Carlito"/>
                <a:cs typeface="Carlito"/>
              </a:rPr>
              <a:t>used </a:t>
            </a:r>
            <a:r>
              <a:rPr sz="2400" spc="-15">
                <a:latin typeface="Carlito"/>
                <a:cs typeface="Carlito"/>
              </a:rPr>
              <a:t>to </a:t>
            </a:r>
            <a:r>
              <a:rPr sz="2400" spc="-10">
                <a:latin typeface="Carlito"/>
                <a:cs typeface="Carlito"/>
              </a:rPr>
              <a:t>connect two </a:t>
            </a:r>
            <a:r>
              <a:rPr sz="2400">
                <a:latin typeface="Carlito"/>
                <a:cs typeface="Carlito"/>
              </a:rPr>
              <a:t>otherwise </a:t>
            </a:r>
            <a:r>
              <a:rPr sz="2400" spc="-15">
                <a:latin typeface="Carlito"/>
                <a:cs typeface="Carlito"/>
              </a:rPr>
              <a:t>separate  </a:t>
            </a:r>
            <a:r>
              <a:rPr sz="2400" spc="-5">
                <a:latin typeface="Carlito"/>
                <a:cs typeface="Carlito"/>
              </a:rPr>
              <a:t>applications, such </a:t>
            </a:r>
            <a:r>
              <a:rPr sz="2400">
                <a:latin typeface="Carlito"/>
                <a:cs typeface="Carlito"/>
              </a:rPr>
              <a:t>as a </a:t>
            </a:r>
            <a:r>
              <a:rPr sz="2400" spc="-30">
                <a:latin typeface="Carlito"/>
                <a:cs typeface="Carlito"/>
              </a:rPr>
              <a:t>Web </a:t>
            </a:r>
            <a:r>
              <a:rPr sz="2400" spc="-5">
                <a:latin typeface="Carlito"/>
                <a:cs typeface="Carlito"/>
              </a:rPr>
              <a:t>server </a:t>
            </a:r>
            <a:r>
              <a:rPr sz="2400">
                <a:latin typeface="Carlito"/>
                <a:cs typeface="Carlito"/>
              </a:rPr>
              <a:t>and a </a:t>
            </a:r>
            <a:r>
              <a:rPr sz="2400" spc="-10">
                <a:latin typeface="Carlito"/>
                <a:cs typeface="Carlito"/>
              </a:rPr>
              <a:t>database  </a:t>
            </a:r>
            <a:r>
              <a:rPr sz="2400" spc="-5">
                <a:latin typeface="Carlito"/>
                <a:cs typeface="Carlito"/>
              </a:rPr>
              <a:t>management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25">
                <a:latin typeface="Carlito"/>
                <a:cs typeface="Carlito"/>
              </a:rPr>
              <a:t>system</a:t>
            </a:r>
            <a:endParaRPr sz="2400">
              <a:latin typeface="Carlito"/>
              <a:cs typeface="Carlito"/>
            </a:endParaRPr>
          </a:p>
          <a:p>
            <a:pPr marL="697865" lvl="1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>
                <a:latin typeface="Carlito"/>
                <a:cs typeface="Carlito"/>
              </a:rPr>
              <a:t>Commonly </a:t>
            </a:r>
            <a:r>
              <a:rPr sz="2400" spc="-10">
                <a:latin typeface="Carlito"/>
                <a:cs typeface="Carlito"/>
              </a:rPr>
              <a:t>written </a:t>
            </a:r>
            <a:r>
              <a:rPr sz="2400">
                <a:latin typeface="Carlito"/>
                <a:cs typeface="Carlito"/>
              </a:rPr>
              <a:t>as</a:t>
            </a:r>
            <a:r>
              <a:rPr sz="2400" spc="-5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scripts</a:t>
            </a:r>
            <a:endParaRPr sz="2400">
              <a:latin typeface="Carlito"/>
              <a:cs typeface="Carlito"/>
            </a:endParaRPr>
          </a:p>
          <a:p>
            <a:pPr marL="697865" lvl="1" indent="-229235" algn="just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>
                <a:latin typeface="Carlito"/>
                <a:cs typeface="Carlito"/>
              </a:rPr>
              <a:t>Common languages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>
                <a:latin typeface="Carlito"/>
                <a:cs typeface="Carlito"/>
              </a:rPr>
              <a:t>include</a:t>
            </a:r>
          </a:p>
          <a:p>
            <a:pPr marL="1155065" lvl="2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>
                <a:latin typeface="Carlito"/>
                <a:cs typeface="Carlito"/>
              </a:rPr>
              <a:t>JavaScript</a:t>
            </a:r>
            <a:endParaRPr sz="2400">
              <a:latin typeface="Carlito"/>
              <a:cs typeface="Carlito"/>
            </a:endParaRPr>
          </a:p>
          <a:p>
            <a:pPr marL="1155065" lvl="2" indent="-229235" algn="just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5">
                <a:latin typeface="Carlito"/>
                <a:cs typeface="Carlito"/>
              </a:rPr>
              <a:t>VBScript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10">
                <a:latin typeface="Carlito"/>
                <a:cs typeface="Carlito"/>
              </a:rPr>
              <a:t>CGI</a:t>
            </a:r>
            <a:r>
              <a:rPr sz="2400" spc="-40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Scripts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95"/>
              </a:spcBef>
              <a:buFont typeface="Arial"/>
              <a:buChar char="–"/>
              <a:tabLst>
                <a:tab pos="1155700" algn="l"/>
              </a:tabLst>
            </a:pPr>
            <a:r>
              <a:rPr sz="2400" spc="-5">
                <a:latin typeface="Carlito"/>
                <a:cs typeface="Carlito"/>
              </a:rPr>
              <a:t>Active Server </a:t>
            </a:r>
            <a:r>
              <a:rPr sz="2400" spc="-15">
                <a:latin typeface="Carlito"/>
                <a:cs typeface="Carlito"/>
              </a:rPr>
              <a:t>Pages</a:t>
            </a:r>
            <a:r>
              <a:rPr sz="2400" spc="-35">
                <a:latin typeface="Carlito"/>
                <a:cs typeface="Carlito"/>
              </a:rPr>
              <a:t> </a:t>
            </a:r>
            <a:r>
              <a:rPr sz="2400" spc="-10">
                <a:latin typeface="Carlito"/>
                <a:cs typeface="Carlito"/>
              </a:rPr>
              <a:t>(ASPs)</a:t>
            </a:r>
            <a:endParaRPr sz="2400">
              <a:latin typeface="Carlito"/>
              <a:cs typeface="Carlito"/>
            </a:endParaRPr>
          </a:p>
          <a:p>
            <a:pPr marL="1155065" lvl="2" indent="-229235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1155700" algn="l"/>
              </a:tabLst>
            </a:pPr>
            <a:r>
              <a:rPr sz="2400">
                <a:latin typeface="Carlito"/>
                <a:cs typeface="Carlito"/>
              </a:rPr>
              <a:t>PHP</a:t>
            </a:r>
            <a:r>
              <a:rPr sz="2400" spc="-25">
                <a:latin typeface="Carlito"/>
                <a:cs typeface="Carlito"/>
              </a:rPr>
              <a:t> </a:t>
            </a:r>
            <a:r>
              <a:rPr sz="2400" spc="-5">
                <a:latin typeface="Carlito"/>
                <a:cs typeface="Carlito"/>
              </a:rPr>
              <a:t>Scripts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762115"/>
            <a:chOff x="0" y="0"/>
            <a:chExt cx="9144000" cy="6762115"/>
          </a:xfrm>
        </p:grpSpPr>
        <p:sp>
          <p:nvSpPr>
            <p:cNvPr id="3" name="object 3"/>
            <p:cNvSpPr/>
            <p:nvPr/>
          </p:nvSpPr>
          <p:spPr>
            <a:xfrm>
              <a:off x="657631" y="1471053"/>
              <a:ext cx="7734300" cy="48387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516243" y="6093298"/>
              <a:ext cx="1440179" cy="66864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06701" y="382651"/>
            <a:ext cx="34112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70"/>
              <a:t>Cloud</a:t>
            </a:r>
            <a:r>
              <a:rPr sz="3600" spc="-275"/>
              <a:t> </a:t>
            </a:r>
            <a:r>
              <a:rPr sz="3600" spc="-505"/>
              <a:t>Databases</a:t>
            </a:r>
            <a:endParaRPr sz="360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8380476" y="6420118"/>
            <a:ext cx="253365" cy="226695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37</a:t>
            </a:fld>
            <a:endParaRPr spc="-165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GB"/>
              <a:t>Database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What is a Database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Advantages &amp; Disadvantages of the DBMS Approach</a:t>
            </a:r>
          </a:p>
          <a:p>
            <a:pPr>
              <a:buFont typeface="Arial" pitchFamily="34" charset="0"/>
              <a:buChar char="•"/>
            </a:pPr>
            <a:r>
              <a:rPr lang="en-GB"/>
              <a:t>Data Concepts &amp; Characteristics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Data Definition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Data Hierarchy 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Entities</a:t>
            </a:r>
          </a:p>
          <a:p>
            <a:pPr lvl="1">
              <a:buFont typeface="Arial" pitchFamily="34" charset="0"/>
              <a:buChar char="•"/>
            </a:pPr>
            <a:r>
              <a:rPr lang="en-GB"/>
              <a:t>Entity Relationships </a:t>
            </a:r>
          </a:p>
          <a:p>
            <a:pPr>
              <a:buFont typeface="Arial" pitchFamily="34" charset="0"/>
              <a:buChar char="•"/>
            </a:pPr>
            <a:r>
              <a:rPr lang="en-GB"/>
              <a:t>Data Integrity, Security &amp; Privacy</a:t>
            </a:r>
          </a:p>
          <a:p>
            <a:pPr>
              <a:buFont typeface="Arial" pitchFamily="34" charset="0"/>
              <a:buChar char="•"/>
            </a:pPr>
            <a:r>
              <a:rPr lang="en-GB"/>
              <a:t>Centralized vs. Distributed Database Systems </a:t>
            </a:r>
          </a:p>
          <a:p>
            <a:endParaRPr lang="en-GB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65" dirty="0"/>
              <a:pPr marL="38100">
                <a:lnSpc>
                  <a:spcPct val="100000"/>
                </a:lnSpc>
                <a:spcBef>
                  <a:spcPts val="190"/>
                </a:spcBef>
              </a:pPr>
              <a:t>38</a:t>
            </a:fld>
            <a:endParaRPr spc="-165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2B1452A8B9644E8C8746036957D926" ma:contentTypeVersion="4" ma:contentTypeDescription="Create a new document." ma:contentTypeScope="" ma:versionID="c180a0b494e1df634ea8a136120aaaa5">
  <xsd:schema xmlns:xsd="http://www.w3.org/2001/XMLSchema" xmlns:xs="http://www.w3.org/2001/XMLSchema" xmlns:p="http://schemas.microsoft.com/office/2006/metadata/properties" xmlns:ns2="ecb9fd39-69ca-44d1-bf6e-cb49dbade056" targetNamespace="http://schemas.microsoft.com/office/2006/metadata/properties" ma:root="true" ma:fieldsID="f3bb93dc3ae910b110e4de89499c188f" ns2:_="">
    <xsd:import namespace="ecb9fd39-69ca-44d1-bf6e-cb49dbade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fd39-69ca-44d1-bf6e-cb49dbade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D20E68-89AF-4387-B04A-F72578A3CA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84FA50B-49A6-43BA-AF84-831E3D359296}">
  <ds:schemaRefs>
    <ds:schemaRef ds:uri="ecb9fd39-69ca-44d1-bf6e-cb49dbade05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A29AC12-94CD-4842-8AAA-EFEB65BE5094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18</TotalTime>
  <Words>1706</Words>
  <Application>Microsoft Macintosh PowerPoint</Application>
  <PresentationFormat>On-screen Show (4:3)</PresentationFormat>
  <Paragraphs>295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Carlito</vt:lpstr>
      <vt:lpstr>Corbel</vt:lpstr>
      <vt:lpstr>Wingdings</vt:lpstr>
      <vt:lpstr>Wingdings 2</vt:lpstr>
      <vt:lpstr>Wingdings 3</vt:lpstr>
      <vt:lpstr>Module</vt:lpstr>
      <vt:lpstr>CSC 101 – Introduction to Computing</vt:lpstr>
      <vt:lpstr>What Is a Database?</vt:lpstr>
      <vt:lpstr>Outline</vt:lpstr>
      <vt:lpstr>What Is a Database?</vt:lpstr>
      <vt:lpstr>What Is a Database?</vt:lpstr>
      <vt:lpstr>What is a Database?</vt:lpstr>
      <vt:lpstr>What Is a Database?</vt:lpstr>
      <vt:lpstr>What Is a Database?</vt:lpstr>
      <vt:lpstr>What Is a Database?</vt:lpstr>
      <vt:lpstr>What Is a Database?</vt:lpstr>
      <vt:lpstr>Inside the Industry Box</vt:lpstr>
      <vt:lpstr>Data Concepts and Characteristics</vt:lpstr>
      <vt:lpstr>Data Concepts and Characteristics</vt:lpstr>
      <vt:lpstr>Data Concepts and Characteristics</vt:lpstr>
      <vt:lpstr>Data Concepts and Characteristics</vt:lpstr>
      <vt:lpstr>Data Concepts and Characteristics</vt:lpstr>
      <vt:lpstr>Data Concepts and Characteristics</vt:lpstr>
      <vt:lpstr>Data Integrity, Security, and Privacy</vt:lpstr>
      <vt:lpstr>Data Integrity, Security, and Privacy</vt:lpstr>
      <vt:lpstr>Data Integrity, Security, and Privacy</vt:lpstr>
      <vt:lpstr>Data Integrity, Security, and Privacy</vt:lpstr>
      <vt:lpstr>Data Integrity, Security, and Privacy</vt:lpstr>
      <vt:lpstr>Database Classifications</vt:lpstr>
      <vt:lpstr>Database Classifications</vt:lpstr>
      <vt:lpstr>Database Classifications</vt:lpstr>
      <vt:lpstr>Database Classifications</vt:lpstr>
      <vt:lpstr>Database Models</vt:lpstr>
      <vt:lpstr>The Relational Database Model  (RDBMS)</vt:lpstr>
      <vt:lpstr>The Relational Database Model  (RDBMS)</vt:lpstr>
      <vt:lpstr>The Relational Database Model  (RDBMS)</vt:lpstr>
      <vt:lpstr>The Relational Database Model  (RDBMS)</vt:lpstr>
      <vt:lpstr>The Relational Database Model  (RDBMS)</vt:lpstr>
      <vt:lpstr>Cloud Databases</vt:lpstr>
      <vt:lpstr>Technology and You Box</vt:lpstr>
      <vt:lpstr>Cloud Databases</vt:lpstr>
      <vt:lpstr>Cloud Databases</vt:lpstr>
      <vt:lpstr>Cloud Databases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(FA24-BSE-042) MUHAMMAD ABDULLAH</cp:lastModifiedBy>
  <cp:revision>3</cp:revision>
  <dcterms:created xsi:type="dcterms:W3CDTF">2015-07-29T13:27:11Z</dcterms:created>
  <dcterms:modified xsi:type="dcterms:W3CDTF">2025-01-18T11:37:25Z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0x0101002C2B1452A8B9644E8C8746036957D926</vt:lpwstr>
  </property>
</Properties>
</file>