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4"/>
  </p:sldMasterIdLst>
  <p:notesMasterIdLst>
    <p:notesMasterId r:id="rId69"/>
  </p:notesMasterIdLst>
  <p:sldIdLst>
    <p:sldId id="256" r:id="rId5"/>
    <p:sldId id="374" r:id="rId6"/>
    <p:sldId id="375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9" r:id="rId28"/>
    <p:sldId id="400" r:id="rId29"/>
    <p:sldId id="401" r:id="rId30"/>
    <p:sldId id="403" r:id="rId31"/>
    <p:sldId id="404" r:id="rId32"/>
    <p:sldId id="405" r:id="rId33"/>
    <p:sldId id="406" r:id="rId34"/>
    <p:sldId id="407" r:id="rId35"/>
    <p:sldId id="408" r:id="rId36"/>
    <p:sldId id="409" r:id="rId37"/>
    <p:sldId id="410" r:id="rId38"/>
    <p:sldId id="411" r:id="rId39"/>
    <p:sldId id="412" r:id="rId40"/>
    <p:sldId id="413" r:id="rId41"/>
    <p:sldId id="414" r:id="rId42"/>
    <p:sldId id="415" r:id="rId43"/>
    <p:sldId id="418" r:id="rId44"/>
    <p:sldId id="419" r:id="rId45"/>
    <p:sldId id="420" r:id="rId46"/>
    <p:sldId id="421" r:id="rId47"/>
    <p:sldId id="422" r:id="rId48"/>
    <p:sldId id="423" r:id="rId49"/>
    <p:sldId id="424" r:id="rId50"/>
    <p:sldId id="425" r:id="rId51"/>
    <p:sldId id="426" r:id="rId52"/>
    <p:sldId id="427" r:id="rId53"/>
    <p:sldId id="428" r:id="rId54"/>
    <p:sldId id="429" r:id="rId55"/>
    <p:sldId id="430" r:id="rId56"/>
    <p:sldId id="431" r:id="rId57"/>
    <p:sldId id="432" r:id="rId58"/>
    <p:sldId id="433" r:id="rId59"/>
    <p:sldId id="434" r:id="rId60"/>
    <p:sldId id="435" r:id="rId61"/>
    <p:sldId id="436" r:id="rId62"/>
    <p:sldId id="437" r:id="rId63"/>
    <p:sldId id="438" r:id="rId64"/>
    <p:sldId id="439" r:id="rId65"/>
    <p:sldId id="440" r:id="rId66"/>
    <p:sldId id="441" r:id="rId67"/>
    <p:sldId id="402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14" autoAdjust="0"/>
    <p:restoredTop sz="94601"/>
  </p:normalViewPr>
  <p:slideViewPr>
    <p:cSldViewPr>
      <p:cViewPr varScale="1">
        <p:scale>
          <a:sx n="104" d="100"/>
          <a:sy n="104" d="100"/>
        </p:scale>
        <p:origin x="193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58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7BA28-8807-43C5-99C4-A55965820A4C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9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CSC 101 – Introduction to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08 (Morley Ch 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/>
              <a:t>O</a:t>
            </a:r>
            <a:r>
              <a:rPr lang="en-US" spc="-470" dirty="0" err="1"/>
              <a:t>utline</a:t>
            </a:r>
            <a:endParaRPr spc="-47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Networking Concepts</a:t>
            </a:r>
          </a:p>
          <a:p>
            <a:r>
              <a:rPr lang="en-US" dirty="0"/>
              <a:t>Networking Applications</a:t>
            </a:r>
          </a:p>
          <a:p>
            <a:pPr lvl="1"/>
            <a:r>
              <a:rPr lang="en-US" dirty="0"/>
              <a:t>Telecom Industry</a:t>
            </a:r>
          </a:p>
          <a:p>
            <a:pPr lvl="1"/>
            <a:r>
              <a:rPr lang="en-US" dirty="0"/>
              <a:t>Videoconferencing</a:t>
            </a:r>
          </a:p>
          <a:p>
            <a:r>
              <a:rPr lang="en-US" dirty="0"/>
              <a:t>Network Characteristics: </a:t>
            </a:r>
          </a:p>
          <a:p>
            <a:pPr lvl="1"/>
            <a:r>
              <a:rPr lang="en-US" dirty="0"/>
              <a:t>Types of networks</a:t>
            </a:r>
          </a:p>
          <a:p>
            <a:pPr lvl="1"/>
            <a:r>
              <a:rPr lang="en-US" dirty="0"/>
              <a:t>Network Topologies</a:t>
            </a:r>
          </a:p>
          <a:p>
            <a:pPr lvl="1"/>
            <a:r>
              <a:rPr lang="en-US" dirty="0"/>
              <a:t> Network Architectures </a:t>
            </a:r>
          </a:p>
          <a:p>
            <a:pPr lvl="1"/>
            <a:r>
              <a:rPr lang="en-US" dirty="0"/>
              <a:t>Network Size &amp; Coverage Area</a:t>
            </a:r>
          </a:p>
          <a:p>
            <a:r>
              <a:rPr lang="en-GB" dirty="0"/>
              <a:t>Communication Protocols</a:t>
            </a:r>
          </a:p>
          <a:p>
            <a:r>
              <a:rPr lang="en-GB" dirty="0"/>
              <a:t>Networking Standards</a:t>
            </a:r>
          </a:p>
          <a:p>
            <a:r>
              <a:rPr lang="en-GB" dirty="0"/>
              <a:t>Networking Hardware 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17011"/>
            <a:ext cx="39497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What </a:t>
            </a:r>
            <a:r>
              <a:rPr spc="-560" dirty="0"/>
              <a:t>Is </a:t>
            </a:r>
            <a:r>
              <a:rPr lang="en-US" spc="-560" dirty="0"/>
              <a:t> </a:t>
            </a:r>
            <a:r>
              <a:rPr spc="-570" dirty="0"/>
              <a:t>a</a:t>
            </a:r>
            <a:r>
              <a:rPr spc="-395" dirty="0"/>
              <a:t> </a:t>
            </a:r>
            <a:r>
              <a:rPr spc="-484" dirty="0"/>
              <a:t>Network?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4575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of objects 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people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marR="50863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collection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5" dirty="0">
                <a:latin typeface="Carlito"/>
                <a:cs typeface="Carlito"/>
              </a:rPr>
              <a:t>devices 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together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spc="-10" dirty="0">
                <a:latin typeface="Carlito"/>
                <a:cs typeface="Carlito"/>
              </a:rPr>
              <a:t>users can share </a:t>
            </a:r>
            <a:r>
              <a:rPr sz="2400" spc="-15" dirty="0">
                <a:latin typeface="Carlito"/>
                <a:cs typeface="Carlito"/>
              </a:rPr>
              <a:t>hardware,  </a:t>
            </a:r>
            <a:r>
              <a:rPr sz="2400" spc="-10" dirty="0">
                <a:latin typeface="Carlito"/>
                <a:cs typeface="Carlito"/>
              </a:rPr>
              <a:t>software,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data,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electronically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communicate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Computer networks </a:t>
            </a:r>
            <a:r>
              <a:rPr sz="2400" spc="-15" dirty="0">
                <a:latin typeface="Carlito"/>
                <a:cs typeface="Carlito"/>
              </a:rPr>
              <a:t>are converging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telephone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Networks </a:t>
            </a:r>
            <a:r>
              <a:rPr sz="2400" spc="-15" dirty="0">
                <a:latin typeface="Carlito"/>
                <a:cs typeface="Carlito"/>
              </a:rPr>
              <a:t>range from </a:t>
            </a:r>
            <a:r>
              <a:rPr sz="2400" spc="-5" dirty="0">
                <a:latin typeface="Carlito"/>
                <a:cs typeface="Carlito"/>
              </a:rPr>
              <a:t>small </a:t>
            </a:r>
            <a:r>
              <a:rPr sz="2400" spc="-15" dirty="0">
                <a:latin typeface="Carlito"/>
                <a:cs typeface="Carlito"/>
              </a:rPr>
              <a:t>private networks 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5" dirty="0">
                <a:latin typeface="Carlito"/>
                <a:cs typeface="Carlito"/>
              </a:rPr>
              <a:t>businesses, </a:t>
            </a:r>
            <a:r>
              <a:rPr sz="2400" spc="-10" dirty="0">
                <a:latin typeface="Carlito"/>
                <a:cs typeface="Carlito"/>
              </a:rPr>
              <a:t>computer networks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essential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0370" cy="394915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10" dirty="0">
                <a:latin typeface="Carlito"/>
                <a:cs typeface="Carlito"/>
              </a:rPr>
              <a:t> Internet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Largest </a:t>
            </a:r>
            <a:r>
              <a:rPr sz="2400" spc="-10" dirty="0">
                <a:latin typeface="Carlito"/>
                <a:cs typeface="Carlito"/>
              </a:rPr>
              <a:t>computer network </a:t>
            </a:r>
            <a:r>
              <a:rPr sz="2400" dirty="0">
                <a:latin typeface="Carlito"/>
                <a:cs typeface="Carlito"/>
              </a:rPr>
              <a:t>in 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world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5" dirty="0">
                <a:latin typeface="Carlito"/>
                <a:cs typeface="Carlito"/>
              </a:rPr>
              <a:t>Telephone</a:t>
            </a:r>
            <a:r>
              <a:rPr sz="2400" dirty="0">
                <a:latin typeface="Carlito"/>
                <a:cs typeface="Carlito"/>
              </a:rPr>
              <a:t> Service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POTS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lang="en-US" sz="2400" spc="-10" dirty="0">
                <a:latin typeface="Carlito"/>
                <a:cs typeface="Carlito"/>
              </a:rPr>
              <a:t> (Plain Old Telephone Service)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One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first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Still used </a:t>
            </a:r>
            <a:r>
              <a:rPr sz="2400" spc="-20" dirty="0">
                <a:latin typeface="Carlito"/>
                <a:cs typeface="Carlito"/>
              </a:rPr>
              <a:t>today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</a:t>
            </a:r>
            <a:r>
              <a:rPr sz="2400" spc="-5" dirty="0">
                <a:latin typeface="Carlito"/>
                <a:cs typeface="Carlito"/>
              </a:rPr>
              <a:t>telephone </a:t>
            </a:r>
            <a:r>
              <a:rPr sz="2400" dirty="0">
                <a:latin typeface="Carlito"/>
                <a:cs typeface="Carlito"/>
              </a:rPr>
              <a:t>service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landline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Mobile </a:t>
            </a:r>
            <a:r>
              <a:rPr sz="2400" spc="-5" dirty="0">
                <a:latin typeface="Carlito"/>
                <a:cs typeface="Carlito"/>
              </a:rPr>
              <a:t>Phones (wireless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1461262"/>
            <a:ext cx="6568440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rlito"/>
                <a:cs typeface="Carlito"/>
              </a:rPr>
              <a:t>Cellular (cell)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within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to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function</a:t>
            </a:r>
            <a:endParaRPr sz="2400" dirty="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rlito"/>
                <a:cs typeface="Carlito"/>
              </a:rPr>
              <a:t>Dual-mode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698500" marR="6985" lvl="1" indent="-228600" algn="just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spc="-5" dirty="0">
                <a:latin typeface="Carlito"/>
                <a:cs typeface="Carlito"/>
              </a:rPr>
              <a:t>telephone calls using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more 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698500" marR="328930" lvl="1" indent="-228600" algn="just">
              <a:lnSpc>
                <a:spcPts val="2590"/>
              </a:lnSpc>
              <a:spcBef>
                <a:spcPts val="58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Cellular/Wi-Fi dual-mode phones </a:t>
            </a:r>
            <a:r>
              <a:rPr sz="2400" spc="-10" dirty="0">
                <a:latin typeface="Carlito"/>
                <a:cs typeface="Carlito"/>
              </a:rPr>
              <a:t>can switch  </a:t>
            </a:r>
            <a:r>
              <a:rPr sz="2400" spc="-5" dirty="0">
                <a:latin typeface="Carlito"/>
                <a:cs typeface="Carlito"/>
              </a:rPr>
              <a:t>seamlessly between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Wi-Fi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and a  cellular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Satellite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Communicate </a:t>
            </a:r>
            <a:r>
              <a:rPr sz="2400" dirty="0">
                <a:latin typeface="Carlito"/>
                <a:cs typeface="Carlito"/>
              </a:rPr>
              <a:t>via </a:t>
            </a:r>
            <a:r>
              <a:rPr sz="2400" spc="-10" dirty="0">
                <a:latin typeface="Carlito"/>
                <a:cs typeface="Carlito"/>
              </a:rPr>
              <a:t>satellite</a:t>
            </a:r>
            <a:r>
              <a:rPr sz="2400" spc="4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technology</a:t>
            </a:r>
            <a:endParaRPr sz="2400" dirty="0">
              <a:latin typeface="Carlito"/>
              <a:cs typeface="Carlito"/>
            </a:endParaRPr>
          </a:p>
          <a:p>
            <a:pPr marL="698500" marR="5080" lvl="1" indent="-228600" algn="just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Most often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soldiers,  journalists, </a:t>
            </a:r>
            <a:r>
              <a:rPr sz="2400" dirty="0">
                <a:latin typeface="Carlito"/>
                <a:cs typeface="Carlito"/>
              </a:rPr>
              <a:t>wilderness guides, and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researchers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475613" y="2086001"/>
            <a:ext cx="5538251" cy="3374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73772" y="2276855"/>
            <a:ext cx="1116736" cy="5447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30820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25" dirty="0">
                <a:latin typeface="Carlito"/>
                <a:cs typeface="Carlito"/>
              </a:rPr>
              <a:t>Television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dirty="0">
                <a:latin typeface="Carlito"/>
                <a:cs typeface="Carlito"/>
              </a:rPr>
              <a:t>Radio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Broadcasting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Still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deliver </a:t>
            </a:r>
            <a:r>
              <a:rPr sz="2400" spc="-5" dirty="0">
                <a:latin typeface="Carlito"/>
                <a:cs typeface="Carlito"/>
              </a:rPr>
              <a:t>TV and </a:t>
            </a:r>
            <a:r>
              <a:rPr sz="2400" spc="-10" dirty="0">
                <a:latin typeface="Carlito"/>
                <a:cs typeface="Carlito"/>
              </a:rPr>
              <a:t>radio </a:t>
            </a:r>
            <a:r>
              <a:rPr sz="2400" spc="-15" dirty="0">
                <a:latin typeface="Carlito"/>
                <a:cs typeface="Carlito"/>
              </a:rPr>
              <a:t>content to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public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5" dirty="0">
                <a:latin typeface="Carlito"/>
                <a:cs typeface="Carlito"/>
              </a:rPr>
              <a:t>networks involved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television </a:t>
            </a:r>
            <a:r>
              <a:rPr sz="2400" spc="-20" dirty="0">
                <a:latin typeface="Carlito"/>
                <a:cs typeface="Carlito"/>
              </a:rPr>
              <a:t>content </a:t>
            </a:r>
            <a:r>
              <a:rPr sz="2400" spc="-5" dirty="0">
                <a:latin typeface="Carlito"/>
                <a:cs typeface="Carlito"/>
              </a:rPr>
              <a:t>delivery 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cable TV </a:t>
            </a:r>
            <a:r>
              <a:rPr sz="2400" spc="-10" dirty="0">
                <a:latin typeface="Carlito"/>
                <a:cs typeface="Carlito"/>
              </a:rPr>
              <a:t>networks, satellite </a:t>
            </a:r>
            <a:r>
              <a:rPr sz="2400" spc="-5" dirty="0">
                <a:latin typeface="Carlito"/>
                <a:cs typeface="Carlito"/>
              </a:rPr>
              <a:t>TV </a:t>
            </a:r>
            <a:r>
              <a:rPr sz="2400" spc="-10" dirty="0">
                <a:latin typeface="Carlito"/>
                <a:cs typeface="Carlito"/>
              </a:rPr>
              <a:t>networks,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private  </a:t>
            </a:r>
            <a:r>
              <a:rPr sz="2400" spc="-5" dirty="0">
                <a:latin typeface="Carlito"/>
                <a:cs typeface="Carlito"/>
              </a:rPr>
              <a:t>closed-circuit television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Global </a:t>
            </a:r>
            <a:r>
              <a:rPr sz="2400" spc="-10" dirty="0">
                <a:latin typeface="Carlito"/>
                <a:cs typeface="Carlito"/>
              </a:rPr>
              <a:t>Positioning </a:t>
            </a:r>
            <a:r>
              <a:rPr sz="2400" spc="-20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(GPS)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Applications</a:t>
            </a:r>
            <a:endParaRPr sz="2400" dirty="0">
              <a:latin typeface="Carlito"/>
              <a:cs typeface="Carlito"/>
            </a:endParaRPr>
          </a:p>
          <a:p>
            <a:pPr marL="756285" marR="610870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spc="-10" dirty="0">
                <a:latin typeface="Carlito"/>
                <a:cs typeface="Carlito"/>
              </a:rPr>
              <a:t>satellites </a:t>
            </a:r>
            <a:r>
              <a:rPr sz="2400" dirty="0">
                <a:latin typeface="Carlito"/>
                <a:cs typeface="Carlito"/>
              </a:rPr>
              <a:t>and a </a:t>
            </a:r>
            <a:r>
              <a:rPr sz="2400" spc="-10" dirty="0">
                <a:latin typeface="Carlito"/>
                <a:cs typeface="Carlito"/>
              </a:rPr>
              <a:t>receiver to </a:t>
            </a:r>
            <a:r>
              <a:rPr sz="2400" spc="-5" dirty="0">
                <a:latin typeface="Carlito"/>
                <a:cs typeface="Carlito"/>
              </a:rPr>
              <a:t>determine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exact  </a:t>
            </a:r>
            <a:r>
              <a:rPr sz="2400" spc="-10" dirty="0">
                <a:latin typeface="Carlito"/>
                <a:cs typeface="Carlito"/>
              </a:rPr>
              <a:t>geographic location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receiver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GPS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receivers</a:t>
            </a:r>
            <a:endParaRPr sz="2400" dirty="0">
              <a:latin typeface="Carlito"/>
              <a:cs typeface="Carlito"/>
            </a:endParaRPr>
          </a:p>
          <a:p>
            <a:pPr marL="1155700" marR="56388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Commonly used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determine </a:t>
            </a:r>
            <a:r>
              <a:rPr sz="2400" dirty="0">
                <a:latin typeface="Carlito"/>
                <a:cs typeface="Carlito"/>
              </a:rPr>
              <a:t>their  </a:t>
            </a:r>
            <a:r>
              <a:rPr sz="2400" spc="-10" dirty="0">
                <a:latin typeface="Carlito"/>
                <a:cs typeface="Carlito"/>
              </a:rPr>
              <a:t>geographic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location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42580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GPS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receivers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job </a:t>
            </a:r>
            <a:r>
              <a:rPr sz="2400" spc="-10" dirty="0">
                <a:latin typeface="Carlito"/>
                <a:cs typeface="Carlito"/>
              </a:rPr>
              <a:t>by surveyors, </a:t>
            </a:r>
            <a:r>
              <a:rPr sz="2400" spc="-15" dirty="0">
                <a:latin typeface="Carlito"/>
                <a:cs typeface="Carlito"/>
              </a:rPr>
              <a:t>farmers,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fishermen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guide </a:t>
            </a:r>
            <a:r>
              <a:rPr sz="2400" spc="-5" dirty="0">
                <a:latin typeface="Carlito"/>
                <a:cs typeface="Carlito"/>
              </a:rPr>
              <a:t>vehicles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equipment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military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guide munitions and </a:t>
            </a:r>
            <a:r>
              <a:rPr sz="2400" spc="-5" dirty="0">
                <a:latin typeface="Carlito"/>
                <a:cs typeface="Carlito"/>
              </a:rPr>
              <a:t>trucks,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10" dirty="0">
                <a:latin typeface="Carlito"/>
                <a:cs typeface="Carlito"/>
              </a:rPr>
              <a:t>track </a:t>
            </a:r>
            <a:r>
              <a:rPr sz="2400" spc="-5" dirty="0">
                <a:latin typeface="Carlito"/>
                <a:cs typeface="Carlito"/>
              </a:rPr>
              <a:t>military </a:t>
            </a:r>
            <a:r>
              <a:rPr sz="2400" spc="-15" dirty="0">
                <a:latin typeface="Carlito"/>
                <a:cs typeface="Carlito"/>
              </a:rPr>
              <a:t>aircraft, </a:t>
            </a:r>
            <a:r>
              <a:rPr sz="2400" spc="-10" dirty="0">
                <a:latin typeface="Carlito"/>
                <a:cs typeface="Carlito"/>
              </a:rPr>
              <a:t>ships,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submarines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3312" y="4114800"/>
            <a:ext cx="8122284" cy="2609215"/>
            <a:chOff x="517525" y="3757984"/>
            <a:chExt cx="8122284" cy="2609215"/>
          </a:xfrm>
        </p:grpSpPr>
        <p:sp>
          <p:nvSpPr>
            <p:cNvPr id="5" name="object 5"/>
            <p:cNvSpPr/>
            <p:nvPr/>
          </p:nvSpPr>
          <p:spPr>
            <a:xfrm>
              <a:off x="517525" y="3757984"/>
              <a:ext cx="6878880" cy="260862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0351" y="3861053"/>
              <a:ext cx="1259052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296150" cy="513409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Monitoring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10" dirty="0">
                <a:latin typeface="Carlito"/>
                <a:cs typeface="Carlito"/>
              </a:rPr>
              <a:t>networking technology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determine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current  location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status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an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object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RFID-based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r>
              <a:rPr lang="en-US" sz="2400" spc="-15" dirty="0">
                <a:latin typeface="Carlito"/>
                <a:cs typeface="Carlito"/>
              </a:rPr>
              <a:t> (Radio Frequency Identification)</a:t>
            </a:r>
            <a:endParaRPr sz="2400" dirty="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Monitor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status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objects</a:t>
            </a:r>
            <a:r>
              <a:rPr lang="en-US" sz="2400" spc="-5" dirty="0">
                <a:latin typeface="Carlito"/>
                <a:cs typeface="Carlito"/>
              </a:rPr>
              <a:t> (inventory management, secure access to buildings)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GPS-based </a:t>
            </a:r>
            <a:r>
              <a:rPr sz="2400" spc="-10" dirty="0">
                <a:latin typeface="Carlito"/>
                <a:cs typeface="Carlito"/>
              </a:rPr>
              <a:t>Monitoring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Monitor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physical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objects</a:t>
            </a:r>
            <a:endParaRPr sz="2400" dirty="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20" dirty="0">
                <a:latin typeface="Carlito"/>
                <a:cs typeface="Carlito"/>
              </a:rPr>
              <a:t>Vehicle </a:t>
            </a:r>
            <a:r>
              <a:rPr sz="2400" dirty="0">
                <a:latin typeface="Carlito"/>
                <a:cs typeface="Carlito"/>
              </a:rPr>
              <a:t>and child </a:t>
            </a:r>
            <a:r>
              <a:rPr sz="2400" spc="-5" dirty="0">
                <a:latin typeface="Carlito"/>
                <a:cs typeface="Carlito"/>
              </a:rPr>
              <a:t>monitoring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Electronic </a:t>
            </a:r>
            <a:r>
              <a:rPr sz="2400" spc="-5" dirty="0">
                <a:latin typeface="Carlito"/>
                <a:cs typeface="Carlito"/>
              </a:rPr>
              <a:t>Medical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Monitors</a:t>
            </a:r>
            <a:endParaRPr sz="2400" dirty="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healthcare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1461262"/>
            <a:ext cx="5860415" cy="245644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Sensors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some monitoring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Sensor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698500" marR="269875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Home </a:t>
            </a:r>
            <a:r>
              <a:rPr sz="2400" spc="-10" dirty="0">
                <a:latin typeface="Carlito"/>
                <a:cs typeface="Carlito"/>
              </a:rPr>
              <a:t>automation  </a:t>
            </a:r>
            <a:r>
              <a:rPr sz="2400" spc="-5" dirty="0">
                <a:latin typeface="Carlito"/>
                <a:cs typeface="Carlito"/>
              </a:rPr>
              <a:t>(smart</a:t>
            </a:r>
            <a:r>
              <a:rPr lang="en-US"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thermostats,  etc.)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2217" y="2641104"/>
            <a:ext cx="3590924" cy="312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94136" y="4483852"/>
            <a:ext cx="1300857" cy="11996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28940" cy="416460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Multimedia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Networking</a:t>
            </a:r>
            <a:endParaRPr sz="2400" dirty="0">
              <a:latin typeface="Carlito"/>
              <a:cs typeface="Carlito"/>
            </a:endParaRPr>
          </a:p>
          <a:p>
            <a:pPr marL="756285" marR="69024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Distributing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5" dirty="0">
                <a:latin typeface="Carlito"/>
                <a:cs typeface="Carlito"/>
              </a:rPr>
              <a:t>multimedia </a:t>
            </a:r>
            <a:r>
              <a:rPr sz="2400" spc="-15" dirty="0">
                <a:latin typeface="Carlito"/>
                <a:cs typeface="Carlito"/>
              </a:rPr>
              <a:t>content,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dirty="0">
                <a:latin typeface="Carlito"/>
                <a:cs typeface="Carlito"/>
              </a:rPr>
              <a:t>via a 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756285" marR="68770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Necessary </a:t>
            </a:r>
            <a:r>
              <a:rPr sz="2400" spc="-10" dirty="0">
                <a:latin typeface="Carlito"/>
                <a:cs typeface="Carlito"/>
              </a:rPr>
              <a:t>networking </a:t>
            </a:r>
            <a:r>
              <a:rPr sz="2400" spc="-5" dirty="0">
                <a:latin typeface="Carlito"/>
                <a:cs typeface="Carlito"/>
              </a:rPr>
              <a:t>capabilities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 </a:t>
            </a:r>
            <a:r>
              <a:rPr sz="2400" spc="-5" dirty="0">
                <a:latin typeface="Carlito"/>
                <a:cs typeface="Carlito"/>
              </a:rPr>
              <a:t>devices being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Might </a:t>
            </a:r>
            <a:r>
              <a:rPr sz="2400" spc="-5" dirty="0">
                <a:latin typeface="Carlito"/>
                <a:cs typeface="Carlito"/>
              </a:rPr>
              <a:t>need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multimedia </a:t>
            </a:r>
            <a:r>
              <a:rPr sz="2400" spc="-10" dirty="0">
                <a:latin typeface="Carlito"/>
                <a:cs typeface="Carlito"/>
              </a:rPr>
              <a:t>networking </a:t>
            </a:r>
            <a:r>
              <a:rPr sz="2400" spc="-5" dirty="0">
                <a:latin typeface="Carlito"/>
                <a:cs typeface="Carlito"/>
              </a:rPr>
              <a:t>device such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10" dirty="0">
                <a:latin typeface="Carlito"/>
                <a:cs typeface="Carlito"/>
              </a:rPr>
              <a:t>receiver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dirty="0">
                <a:latin typeface="Carlito"/>
                <a:cs typeface="Carlito"/>
              </a:rPr>
              <a:t>media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streamer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Placeshifting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Content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view </a:t>
            </a:r>
            <a:r>
              <a:rPr sz="2400" dirty="0">
                <a:latin typeface="Carlito"/>
                <a:cs typeface="Carlito"/>
              </a:rPr>
              <a:t>multimedia </a:t>
            </a:r>
            <a:r>
              <a:rPr sz="2400" spc="-15" dirty="0">
                <a:latin typeface="Carlito"/>
                <a:cs typeface="Carlito"/>
              </a:rPr>
              <a:t>content at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spc="-15" dirty="0">
                <a:latin typeface="Carlito"/>
                <a:cs typeface="Carlito"/>
              </a:rPr>
              <a:t>convenient </a:t>
            </a:r>
            <a:r>
              <a:rPr sz="2400" spc="-10" dirty="0">
                <a:latin typeface="Carlito"/>
                <a:cs typeface="Carlito"/>
              </a:rPr>
              <a:t>location, </a:t>
            </a:r>
            <a:r>
              <a:rPr sz="2400" dirty="0">
                <a:latin typeface="Carlito"/>
                <a:cs typeface="Carlito"/>
              </a:rPr>
              <a:t>i.e., </a:t>
            </a:r>
            <a:r>
              <a:rPr sz="2400" spc="-15" dirty="0">
                <a:latin typeface="Carlito"/>
                <a:cs typeface="Carlito"/>
              </a:rPr>
              <a:t>Slingbox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7758430" cy="3611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5984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Videoconferencing, </a:t>
            </a:r>
            <a:r>
              <a:rPr sz="2400" spc="-15" dirty="0">
                <a:latin typeface="Carlito"/>
                <a:cs typeface="Carlito"/>
              </a:rPr>
              <a:t>Collaborative </a:t>
            </a:r>
            <a:r>
              <a:rPr sz="2400" spc="-5" dirty="0">
                <a:latin typeface="Carlito"/>
                <a:cs typeface="Carlito"/>
              </a:rPr>
              <a:t>Computing,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25" dirty="0">
                <a:latin typeface="Carlito"/>
                <a:cs typeface="Carlito"/>
              </a:rPr>
              <a:t>Telecommuting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Videoconferencing</a:t>
            </a:r>
            <a:endParaRPr sz="2400">
              <a:latin typeface="Carlito"/>
              <a:cs typeface="Carlito"/>
            </a:endParaRPr>
          </a:p>
          <a:p>
            <a:pPr marL="1155700" marR="12192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spc="-15" dirty="0">
                <a:latin typeface="Carlito"/>
                <a:cs typeface="Carlito"/>
              </a:rPr>
              <a:t>computers, </a:t>
            </a:r>
            <a:r>
              <a:rPr sz="2400" dirty="0">
                <a:latin typeface="Carlito"/>
                <a:cs typeface="Carlito"/>
              </a:rPr>
              <a:t>video </a:t>
            </a:r>
            <a:r>
              <a:rPr sz="2400" spc="-10" dirty="0">
                <a:latin typeface="Carlito"/>
                <a:cs typeface="Carlito"/>
              </a:rPr>
              <a:t>cameras, microphones,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networking </a:t>
            </a:r>
            <a:r>
              <a:rPr sz="2400" spc="-5" dirty="0">
                <a:latin typeface="Carlito"/>
                <a:cs typeface="Carlito"/>
              </a:rPr>
              <a:t>technologies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conduct face-to-face  </a:t>
            </a:r>
            <a:r>
              <a:rPr sz="2400" spc="-5" dirty="0">
                <a:latin typeface="Carlito"/>
                <a:cs typeface="Carlito"/>
              </a:rPr>
              <a:t>meetings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Telepresence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Videoconferencing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setup </a:t>
            </a:r>
            <a:r>
              <a:rPr sz="2400" spc="-10" dirty="0">
                <a:latin typeface="Carlito"/>
                <a:cs typeface="Carlito"/>
              </a:rPr>
              <a:t>that more </a:t>
            </a:r>
            <a:r>
              <a:rPr sz="2400" dirty="0">
                <a:latin typeface="Carlito"/>
                <a:cs typeface="Carlito"/>
              </a:rPr>
              <a:t>closely mimics a </a:t>
            </a:r>
            <a:r>
              <a:rPr sz="2400" spc="-5" dirty="0">
                <a:latin typeface="Carlito"/>
                <a:cs typeface="Carlito"/>
              </a:rPr>
              <a:t>real-time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meeting  </a:t>
            </a:r>
            <a:r>
              <a:rPr sz="2400" spc="-10" dirty="0">
                <a:latin typeface="Carlito"/>
                <a:cs typeface="Carlito"/>
              </a:rPr>
              <a:t>environment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3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8698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Collaborative </a:t>
            </a:r>
            <a:r>
              <a:rPr sz="2400" spc="-5" dirty="0">
                <a:latin typeface="Carlito"/>
                <a:cs typeface="Carlito"/>
              </a:rPr>
              <a:t>Computing </a:t>
            </a:r>
            <a:r>
              <a:rPr sz="2400" spc="-10" dirty="0">
                <a:latin typeface="Carlito"/>
                <a:cs typeface="Carlito"/>
              </a:rPr>
              <a:t>(workgroup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computing)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Enables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15" dirty="0">
                <a:latin typeface="Carlito"/>
                <a:cs typeface="Carlito"/>
              </a:rPr>
              <a:t>work together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documents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projects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25" dirty="0">
                <a:latin typeface="Carlito"/>
                <a:cs typeface="Carlito"/>
              </a:rPr>
              <a:t>Telecommuting</a:t>
            </a:r>
            <a:endParaRPr sz="2400">
              <a:latin typeface="Carlito"/>
              <a:cs typeface="Carlito"/>
            </a:endParaRPr>
          </a:p>
          <a:p>
            <a:pPr marL="697865" marR="4635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Individuals </a:t>
            </a:r>
            <a:r>
              <a:rPr sz="2400" spc="-10" dirty="0">
                <a:latin typeface="Carlito"/>
                <a:cs typeface="Carlito"/>
              </a:rPr>
              <a:t>work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remote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spc="-5" dirty="0">
                <a:latin typeface="Carlito"/>
                <a:cs typeface="Carlito"/>
              </a:rPr>
              <a:t>(usually home)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communicate </a:t>
            </a:r>
            <a:r>
              <a:rPr sz="2400" dirty="0">
                <a:latin typeface="Carlito"/>
                <a:cs typeface="Carlito"/>
              </a:rPr>
              <a:t>with their </a:t>
            </a:r>
            <a:r>
              <a:rPr sz="2400" spc="-5" dirty="0">
                <a:latin typeface="Carlito"/>
                <a:cs typeface="Carlito"/>
              </a:rPr>
              <a:t>places of business and  clients using </a:t>
            </a:r>
            <a:r>
              <a:rPr sz="2400" spc="-10" dirty="0">
                <a:latin typeface="Carlito"/>
                <a:cs typeface="Carlito"/>
              </a:rPr>
              <a:t>networking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technologies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employee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flexibility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3220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Telemedicine</a:t>
            </a:r>
            <a:endParaRPr sz="2400" dirty="0">
              <a:latin typeface="Carlito"/>
              <a:cs typeface="Carlito"/>
            </a:endParaRPr>
          </a:p>
          <a:p>
            <a:pPr marL="756285" marR="11455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spc="-10" dirty="0">
                <a:latin typeface="Carlito"/>
                <a:cs typeface="Carlito"/>
              </a:rPr>
              <a:t>networking technology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</a:t>
            </a:r>
            <a:r>
              <a:rPr sz="2400" spc="-5" dirty="0">
                <a:latin typeface="Carlito"/>
                <a:cs typeface="Carlito"/>
              </a:rPr>
              <a:t>medical 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services</a:t>
            </a: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Remote </a:t>
            </a:r>
            <a:r>
              <a:rPr sz="2400" spc="-5" dirty="0">
                <a:latin typeface="Carlito"/>
                <a:cs typeface="Carlito"/>
              </a:rPr>
              <a:t>monitoring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consultations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Remote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diagnosis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Telesurgery</a:t>
            </a:r>
            <a:endParaRPr sz="2400" dirty="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1156335" algn="l"/>
              </a:tabLst>
            </a:pPr>
            <a:r>
              <a:rPr sz="2400" spc="-114" dirty="0">
                <a:latin typeface="Arial"/>
                <a:cs typeface="Arial"/>
              </a:rPr>
              <a:t>Robot </a:t>
            </a:r>
            <a:r>
              <a:rPr sz="2400" spc="-140" dirty="0">
                <a:latin typeface="Arial"/>
                <a:cs typeface="Arial"/>
              </a:rPr>
              <a:t>assisted </a:t>
            </a:r>
            <a:r>
              <a:rPr sz="2400" spc="-114" dirty="0">
                <a:latin typeface="Arial"/>
                <a:cs typeface="Arial"/>
              </a:rPr>
              <a:t>surgery </a:t>
            </a:r>
            <a:r>
              <a:rPr sz="2400" spc="-75" dirty="0">
                <a:latin typeface="Arial"/>
                <a:cs typeface="Arial"/>
              </a:rPr>
              <a:t>where </a:t>
            </a:r>
            <a:r>
              <a:rPr sz="2400" spc="-65" dirty="0">
                <a:latin typeface="Arial"/>
                <a:cs typeface="Arial"/>
              </a:rPr>
              <a:t>doctor’s </a:t>
            </a:r>
            <a:r>
              <a:rPr sz="2400" spc="-125" dirty="0">
                <a:latin typeface="Arial"/>
                <a:cs typeface="Arial"/>
              </a:rPr>
              <a:t>physical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location 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30" dirty="0">
                <a:latin typeface="Arial"/>
                <a:cs typeface="Arial"/>
              </a:rPr>
              <a:t>different </a:t>
            </a:r>
            <a:r>
              <a:rPr sz="2400" spc="-25" dirty="0">
                <a:latin typeface="Arial"/>
                <a:cs typeface="Arial"/>
              </a:rPr>
              <a:t>from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55" dirty="0">
                <a:latin typeface="Arial"/>
                <a:cs typeface="Arial"/>
              </a:rPr>
              <a:t>patient’s</a:t>
            </a:r>
            <a:r>
              <a:rPr sz="2400" spc="-48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55" dirty="0">
                <a:latin typeface="Arial"/>
                <a:cs typeface="Arial"/>
              </a:rPr>
              <a:t>robot’s</a:t>
            </a:r>
            <a:endParaRPr sz="2400" dirty="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5" dirty="0">
                <a:latin typeface="Carlito"/>
                <a:cs typeface="Carlito"/>
              </a:rPr>
              <a:t>be needed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long-term space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exploration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763648" y="1556766"/>
            <a:ext cx="4233926" cy="4905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88252" y="2060829"/>
            <a:ext cx="1085850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75600" cy="54264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Wired vs. </a:t>
            </a:r>
            <a:r>
              <a:rPr sz="2400" u="sng" spc="-5" dirty="0">
                <a:latin typeface="Carlito"/>
                <a:cs typeface="Carlito"/>
              </a:rPr>
              <a:t>Wireless</a:t>
            </a:r>
            <a:r>
              <a:rPr sz="2400" u="sng" spc="-10" dirty="0">
                <a:latin typeface="Carlito"/>
                <a:cs typeface="Carlito"/>
              </a:rPr>
              <a:t> Networks</a:t>
            </a:r>
            <a:endParaRPr sz="2400" u="sng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Wired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devices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are</a:t>
            </a:r>
            <a:endParaRPr sz="2400" dirty="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physically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Found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schools, businesses,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government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facilities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Wireless</a:t>
            </a:r>
            <a:endParaRPr sz="2400" dirty="0">
              <a:latin typeface="Carlito"/>
              <a:cs typeface="Carlito"/>
            </a:endParaRPr>
          </a:p>
          <a:p>
            <a:pPr marL="1155700" marR="30480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in which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devices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without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spc="-10" dirty="0">
                <a:latin typeface="Carlito"/>
                <a:cs typeface="Carlito"/>
              </a:rPr>
              <a:t>radio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waves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Found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homes, schools,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businesses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97838"/>
            <a:ext cx="7915275" cy="491429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353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Network </a:t>
            </a:r>
            <a:r>
              <a:rPr sz="2400" u="sng" spc="-25" dirty="0">
                <a:latin typeface="Carlito"/>
                <a:cs typeface="Carlito"/>
              </a:rPr>
              <a:t>Topologies</a:t>
            </a:r>
            <a:r>
              <a:rPr sz="2400" spc="-25" dirty="0">
                <a:latin typeface="Carlito"/>
                <a:cs typeface="Carlito"/>
              </a:rPr>
              <a:t>: </a:t>
            </a:r>
            <a:r>
              <a:rPr sz="2400" spc="-15" dirty="0">
                <a:latin typeface="Carlito"/>
                <a:cs typeface="Carlito"/>
              </a:rPr>
              <a:t>Indicate </a:t>
            </a: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0" dirty="0">
                <a:latin typeface="Carlito"/>
                <a:cs typeface="Carlito"/>
              </a:rPr>
              <a:t>network 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arranged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1155700" marR="152273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networked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central  device/server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If the </a:t>
            </a:r>
            <a:r>
              <a:rPr sz="2400" spc="-10" dirty="0">
                <a:latin typeface="Carlito"/>
                <a:cs typeface="Carlito"/>
              </a:rPr>
              <a:t>central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0" dirty="0">
                <a:latin typeface="Carlito"/>
                <a:cs typeface="Carlito"/>
              </a:rPr>
              <a:t>fails,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cannot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work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Bus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1155700" marR="73279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central </a:t>
            </a:r>
            <a:r>
              <a:rPr sz="2400" spc="-5" dirty="0">
                <a:latin typeface="Carlito"/>
                <a:cs typeface="Carlito"/>
              </a:rPr>
              <a:t>cable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which all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  </a:t>
            </a:r>
            <a:r>
              <a:rPr sz="2400" spc="-10" dirty="0">
                <a:latin typeface="Carlito"/>
                <a:cs typeface="Carlito"/>
              </a:rPr>
              <a:t>connect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Mesh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1155700" marR="674370" lvl="2" indent="-228600">
              <a:lnSpc>
                <a:spcPct val="9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0" dirty="0">
                <a:latin typeface="Carlito"/>
                <a:cs typeface="Carlito"/>
              </a:rPr>
              <a:t>connections </a:t>
            </a:r>
            <a:r>
              <a:rPr sz="2400" dirty="0">
                <a:latin typeface="Carlito"/>
                <a:cs typeface="Carlito"/>
              </a:rPr>
              <a:t>among the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messages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25" dirty="0">
                <a:latin typeface="Carlito"/>
                <a:cs typeface="Carlito"/>
              </a:rPr>
              <a:t>take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several  </a:t>
            </a:r>
            <a:r>
              <a:rPr sz="2400" spc="-5" dirty="0">
                <a:latin typeface="Carlito"/>
                <a:cs typeface="Carlito"/>
              </a:rPr>
              <a:t>possible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paths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3" name="object 3"/>
          <p:cNvSpPr/>
          <p:nvPr/>
        </p:nvSpPr>
        <p:spPr>
          <a:xfrm>
            <a:off x="1383538" y="1901570"/>
            <a:ext cx="2743164" cy="2743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32045" y="1556842"/>
            <a:ext cx="2280532" cy="4810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03603" y="5517235"/>
            <a:ext cx="1776566" cy="3657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4536" cy="305660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Network</a:t>
            </a:r>
            <a:r>
              <a:rPr sz="2400" u="sng" spc="-40" dirty="0">
                <a:latin typeface="Carlito"/>
                <a:cs typeface="Carlito"/>
              </a:rPr>
              <a:t> </a:t>
            </a:r>
            <a:r>
              <a:rPr sz="2400" u="sng" spc="-10" dirty="0">
                <a:latin typeface="Carlito"/>
                <a:cs typeface="Carlito"/>
              </a:rPr>
              <a:t>Architectures</a:t>
            </a:r>
            <a:endParaRPr sz="2400" u="sng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Client-Server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Client</a:t>
            </a:r>
            <a:endParaRPr sz="2400" dirty="0">
              <a:latin typeface="Carlito"/>
              <a:cs typeface="Carlito"/>
            </a:endParaRPr>
          </a:p>
          <a:p>
            <a:pPr marL="1612900" marR="385445" lvl="3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5" dirty="0">
                <a:latin typeface="Carlito"/>
                <a:cs typeface="Carlito"/>
              </a:rPr>
              <a:t>or other device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that  requests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utilizes network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resources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Server</a:t>
            </a:r>
            <a:endParaRPr sz="2400" dirty="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Computer dedicated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processing </a:t>
            </a:r>
            <a:r>
              <a:rPr sz="2400" spc="-5" dirty="0">
                <a:latin typeface="Carlito"/>
                <a:cs typeface="Carlito"/>
              </a:rPr>
              <a:t>client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requests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3" name="object 3"/>
          <p:cNvSpPr/>
          <p:nvPr/>
        </p:nvSpPr>
        <p:spPr>
          <a:xfrm>
            <a:off x="960854" y="1628800"/>
            <a:ext cx="5447489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20306" y="2924936"/>
            <a:ext cx="1549780" cy="8756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371600"/>
            <a:ext cx="7549515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marR="3699510" indent="-287020" algn="r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87020" algn="l"/>
              </a:tabLst>
            </a:pPr>
            <a:r>
              <a:rPr sz="2400" spc="-15" dirty="0">
                <a:latin typeface="Carlito"/>
                <a:cs typeface="Carlito"/>
              </a:rPr>
              <a:t>Peer-to-Peer </a:t>
            </a:r>
            <a:r>
              <a:rPr sz="2400" spc="-10" dirty="0">
                <a:latin typeface="Carlito"/>
                <a:cs typeface="Carlito"/>
              </a:rPr>
              <a:t>(P2P)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228600" marR="3706495" lvl="1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5" dirty="0">
                <a:latin typeface="Carlito"/>
                <a:cs typeface="Carlito"/>
              </a:rPr>
              <a:t>Central </a:t>
            </a: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not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work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same</a:t>
            </a:r>
            <a:endParaRPr sz="2400" dirty="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functional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level</a:t>
            </a:r>
            <a:endParaRPr sz="2400" dirty="0">
              <a:latin typeface="Carlito"/>
              <a:cs typeface="Carlito"/>
            </a:endParaRPr>
          </a:p>
          <a:p>
            <a:pPr marL="697865" marR="13652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0" dirty="0">
                <a:latin typeface="Carlito"/>
                <a:cs typeface="Carlito"/>
              </a:rPr>
              <a:t>direct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devices  </a:t>
            </a:r>
            <a:r>
              <a:rPr sz="2400" spc="-15" dirty="0">
                <a:latin typeface="Carlito"/>
                <a:cs typeface="Carlito"/>
              </a:rPr>
              <a:t>attached 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Less </a:t>
            </a:r>
            <a:r>
              <a:rPr sz="2400" spc="-15" dirty="0">
                <a:latin typeface="Carlito"/>
                <a:cs typeface="Carlito"/>
              </a:rPr>
              <a:t>complicated </a:t>
            </a:r>
            <a:r>
              <a:rPr sz="2400" dirty="0">
                <a:latin typeface="Carlito"/>
                <a:cs typeface="Carlito"/>
              </a:rPr>
              <a:t>and less </a:t>
            </a:r>
            <a:r>
              <a:rPr sz="2400" spc="-10" dirty="0">
                <a:latin typeface="Carlito"/>
                <a:cs typeface="Carlito"/>
              </a:rPr>
              <a:t>expensive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implement </a:t>
            </a:r>
            <a:r>
              <a:rPr sz="2400" dirty="0">
                <a:latin typeface="Carlito"/>
                <a:cs typeface="Carlito"/>
              </a:rPr>
              <a:t>than  </a:t>
            </a:r>
            <a:r>
              <a:rPr sz="2400" spc="-5" dirty="0">
                <a:latin typeface="Carlito"/>
                <a:cs typeface="Carlito"/>
              </a:rPr>
              <a:t>client-server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P2P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Computing</a:t>
            </a:r>
            <a:endParaRPr sz="2400" dirty="0">
              <a:latin typeface="Carlito"/>
              <a:cs typeface="Carlito"/>
            </a:endParaRPr>
          </a:p>
          <a:p>
            <a:pPr marL="1155065" marR="582295" indent="-2286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15" dirty="0">
                <a:latin typeface="Carlito"/>
                <a:cs typeface="Carlito"/>
              </a:rPr>
              <a:t>Content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exchanged over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</a:t>
            </a:r>
            <a:r>
              <a:rPr sz="2400" spc="-229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directly  between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users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13345" cy="5173852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Network </a:t>
            </a:r>
            <a:r>
              <a:rPr sz="2400" u="sng" spc="-15" dirty="0">
                <a:latin typeface="Carlito"/>
                <a:cs typeface="Carlito"/>
              </a:rPr>
              <a:t>Size </a:t>
            </a:r>
            <a:r>
              <a:rPr sz="2400" u="sng" dirty="0">
                <a:latin typeface="Carlito"/>
                <a:cs typeface="Carlito"/>
              </a:rPr>
              <a:t>and </a:t>
            </a:r>
            <a:r>
              <a:rPr sz="2400" u="sng" spc="-15" dirty="0">
                <a:latin typeface="Carlito"/>
                <a:cs typeface="Carlito"/>
              </a:rPr>
              <a:t>Coverage</a:t>
            </a:r>
            <a:r>
              <a:rPr sz="2400" u="sng" spc="-30" dirty="0">
                <a:latin typeface="Carlito"/>
                <a:cs typeface="Carlito"/>
              </a:rPr>
              <a:t> </a:t>
            </a:r>
            <a:r>
              <a:rPr sz="2400" u="sng" spc="-10" dirty="0">
                <a:latin typeface="Carlito"/>
                <a:cs typeface="Carlito"/>
              </a:rPr>
              <a:t>Area</a:t>
            </a:r>
            <a:endParaRPr sz="2400" u="sng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Personal </a:t>
            </a:r>
            <a:r>
              <a:rPr sz="2400" spc="-10" dirty="0">
                <a:latin typeface="Carlito"/>
                <a:cs typeface="Carlito"/>
              </a:rPr>
              <a:t>Area Networks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(PANs)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290"/>
              </a:spcBef>
              <a:buChar char="•"/>
              <a:tabLst>
                <a:tab pos="1156335" algn="l"/>
              </a:tabLst>
            </a:pPr>
            <a:r>
              <a:rPr sz="2400" spc="-130" dirty="0">
                <a:latin typeface="Arial"/>
                <a:cs typeface="Arial"/>
              </a:rPr>
              <a:t>Connect an </a:t>
            </a:r>
            <a:r>
              <a:rPr sz="2400" spc="-75" dirty="0">
                <a:latin typeface="Arial"/>
                <a:cs typeface="Arial"/>
              </a:rPr>
              <a:t>individual’s </a:t>
            </a:r>
            <a:r>
              <a:rPr sz="2400" spc="-105" dirty="0">
                <a:latin typeface="Arial"/>
                <a:cs typeface="Arial"/>
              </a:rPr>
              <a:t>personal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devices</a:t>
            </a:r>
            <a:r>
              <a:rPr lang="en-US" sz="2400" spc="-135" dirty="0">
                <a:latin typeface="Arial"/>
                <a:cs typeface="Arial"/>
              </a:rPr>
              <a:t> (</a:t>
            </a:r>
            <a:r>
              <a:rPr lang="en-US" sz="2400" spc="-135" dirty="0" err="1">
                <a:latin typeface="Arial"/>
                <a:cs typeface="Arial"/>
              </a:rPr>
              <a:t>bluetooth</a:t>
            </a:r>
            <a:r>
              <a:rPr lang="en-US" sz="2400" spc="-135" dirty="0">
                <a:latin typeface="Arial"/>
                <a:cs typeface="Arial"/>
              </a:rPr>
              <a:t>)</a:t>
            </a:r>
            <a:endParaRPr sz="2400" dirty="0">
              <a:latin typeface="Arial"/>
              <a:cs typeface="Arial"/>
            </a:endParaRPr>
          </a:p>
          <a:p>
            <a:pPr marL="1384300" algn="just">
              <a:lnSpc>
                <a:spcPct val="100000"/>
              </a:lnSpc>
              <a:spcBef>
                <a:spcPts val="290"/>
              </a:spcBef>
            </a:pPr>
            <a:r>
              <a:rPr sz="2000" dirty="0">
                <a:latin typeface="Arial"/>
                <a:cs typeface="Arial"/>
              </a:rPr>
              <a:t>– </a:t>
            </a:r>
            <a:r>
              <a:rPr sz="2000" spc="-5" dirty="0">
                <a:latin typeface="Carlito"/>
                <a:cs typeface="Carlito"/>
              </a:rPr>
              <a:t>Devices </a:t>
            </a:r>
            <a:r>
              <a:rPr sz="2000" spc="-10" dirty="0">
                <a:latin typeface="Carlito"/>
                <a:cs typeface="Carlito"/>
              </a:rPr>
              <a:t>must </a:t>
            </a:r>
            <a:r>
              <a:rPr sz="2000" spc="-5" dirty="0">
                <a:latin typeface="Carlito"/>
                <a:cs typeface="Carlito"/>
              </a:rPr>
              <a:t>be </a:t>
            </a:r>
            <a:r>
              <a:rPr sz="2000" spc="-15" dirty="0">
                <a:latin typeface="Carlito"/>
                <a:cs typeface="Carlito"/>
              </a:rPr>
              <a:t>physically located </a:t>
            </a:r>
            <a:r>
              <a:rPr sz="2000" dirty="0">
                <a:latin typeface="Carlito"/>
                <a:cs typeface="Carlito"/>
              </a:rPr>
              <a:t>close</a:t>
            </a:r>
            <a:r>
              <a:rPr sz="2000" spc="-190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together</a:t>
            </a:r>
            <a:endParaRPr sz="20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Local Area Networks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(LANs)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Connect devices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small </a:t>
            </a:r>
            <a:r>
              <a:rPr sz="2400" spc="-10" dirty="0">
                <a:latin typeface="Carlito"/>
                <a:cs typeface="Carlito"/>
              </a:rPr>
              <a:t>geographic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area</a:t>
            </a:r>
            <a:r>
              <a:rPr lang="en-US" sz="2400" spc="-10" dirty="0">
                <a:latin typeface="Carlito"/>
                <a:cs typeface="Carlito"/>
              </a:rPr>
              <a:t> (home/office network)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Metropolitan Area Networks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(MANs)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Cover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metropolitan area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 a city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county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Wide </a:t>
            </a:r>
            <a:r>
              <a:rPr sz="2400" spc="-10" dirty="0">
                <a:latin typeface="Carlito"/>
                <a:cs typeface="Carlito"/>
              </a:rPr>
              <a:t>Area Networks</a:t>
            </a:r>
            <a:r>
              <a:rPr sz="2400" spc="-20" dirty="0">
                <a:latin typeface="Carlito"/>
                <a:cs typeface="Carlito"/>
              </a:rPr>
              <a:t> (WANs)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Cover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10" dirty="0">
                <a:latin typeface="Carlito"/>
                <a:cs typeface="Carlito"/>
              </a:rPr>
              <a:t>geographic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area</a:t>
            </a:r>
            <a:r>
              <a:rPr lang="en-US" sz="2400" spc="-10" dirty="0">
                <a:latin typeface="Carlito"/>
                <a:cs typeface="Carlito"/>
              </a:rPr>
              <a:t> (internet)</a:t>
            </a:r>
            <a:endParaRPr sz="2400" dirty="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45" dirty="0">
                <a:latin typeface="Carlito"/>
                <a:cs typeface="Carlito"/>
              </a:rPr>
              <a:t>Two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LANs </a:t>
            </a:r>
            <a:r>
              <a:rPr sz="2400" spc="-10" dirty="0">
                <a:latin typeface="Carlito"/>
                <a:cs typeface="Carlito"/>
              </a:rPr>
              <a:t>connected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together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450455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u="sng" spc="-10" dirty="0">
                <a:latin typeface="Carlito"/>
                <a:cs typeface="Carlito"/>
              </a:rPr>
              <a:t>Intranets </a:t>
            </a:r>
            <a:r>
              <a:rPr sz="2400" u="sng" dirty="0">
                <a:latin typeface="Carlito"/>
                <a:cs typeface="Carlito"/>
              </a:rPr>
              <a:t>and</a:t>
            </a:r>
            <a:r>
              <a:rPr sz="2400" u="sng" spc="-35" dirty="0">
                <a:latin typeface="Carlito"/>
                <a:cs typeface="Carlito"/>
              </a:rPr>
              <a:t> </a:t>
            </a:r>
            <a:r>
              <a:rPr sz="2400" u="sng" spc="-5" dirty="0">
                <a:latin typeface="Carlito"/>
                <a:cs typeface="Carlito"/>
              </a:rPr>
              <a:t>Extranets</a:t>
            </a:r>
            <a:endParaRPr sz="2400" u="sng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Intranet</a:t>
            </a:r>
            <a:endParaRPr sz="2400" dirty="0">
              <a:latin typeface="Carlito"/>
              <a:cs typeface="Carlito"/>
            </a:endParaRPr>
          </a:p>
          <a:p>
            <a:pPr marL="1155065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5" dirty="0">
                <a:latin typeface="Carlito"/>
                <a:cs typeface="Carlito"/>
              </a:rPr>
              <a:t>Private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15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an</a:t>
            </a:r>
          </a:p>
          <a:p>
            <a:pPr marL="1155065">
              <a:lnSpc>
                <a:spcPts val="2735"/>
              </a:lnSpc>
            </a:pPr>
            <a:r>
              <a:rPr sz="2400" spc="-90" dirty="0">
                <a:latin typeface="Arial"/>
                <a:cs typeface="Arial"/>
              </a:rPr>
              <a:t>organizations’ </a:t>
            </a:r>
            <a:r>
              <a:rPr sz="2400" spc="-110" dirty="0">
                <a:latin typeface="Arial"/>
                <a:cs typeface="Arial"/>
              </a:rPr>
              <a:t>employees; </a:t>
            </a:r>
            <a:r>
              <a:rPr sz="2400" spc="-95" dirty="0">
                <a:latin typeface="Arial"/>
                <a:cs typeface="Arial"/>
              </a:rPr>
              <a:t>set </a:t>
            </a:r>
            <a:r>
              <a:rPr sz="2400" spc="-80" dirty="0">
                <a:latin typeface="Arial"/>
                <a:cs typeface="Arial"/>
              </a:rPr>
              <a:t>up </a:t>
            </a:r>
            <a:r>
              <a:rPr sz="2400" spc="-75" dirty="0">
                <a:latin typeface="Arial"/>
                <a:cs typeface="Arial"/>
              </a:rPr>
              <a:t>like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39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Internet</a:t>
            </a:r>
            <a:endParaRPr sz="2400" dirty="0">
              <a:latin typeface="Arial"/>
              <a:cs typeface="Arial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Extranet</a:t>
            </a:r>
            <a:endParaRPr sz="2400" dirty="0">
              <a:latin typeface="Carlito"/>
              <a:cs typeface="Carlito"/>
            </a:endParaRPr>
          </a:p>
          <a:p>
            <a:pPr marL="1155065" marR="94615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Company network </a:t>
            </a:r>
            <a:r>
              <a:rPr sz="2400" spc="-5" dirty="0">
                <a:latin typeface="Carlito"/>
                <a:cs typeface="Carlito"/>
              </a:rPr>
              <a:t>accessible </a:t>
            </a:r>
            <a:r>
              <a:rPr sz="2400" spc="-10" dirty="0">
                <a:latin typeface="Carlito"/>
                <a:cs typeface="Carlito"/>
              </a:rPr>
              <a:t>by</a:t>
            </a:r>
            <a:r>
              <a:rPr lang="en-US"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authorized  </a:t>
            </a:r>
            <a:r>
              <a:rPr sz="2400" spc="-10" dirty="0">
                <a:latin typeface="Carlito"/>
                <a:cs typeface="Carlito"/>
              </a:rPr>
              <a:t>outsiders</a:t>
            </a:r>
            <a:endParaRPr sz="2400" dirty="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Virtual </a:t>
            </a:r>
            <a:r>
              <a:rPr sz="2400" spc="-15" dirty="0">
                <a:latin typeface="Carlito"/>
                <a:cs typeface="Carlito"/>
              </a:rPr>
              <a:t>Private </a:t>
            </a:r>
            <a:r>
              <a:rPr sz="2400" spc="-10" dirty="0">
                <a:latin typeface="Carlito"/>
                <a:cs typeface="Carlito"/>
              </a:rPr>
              <a:t>Networks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(VPNs)</a:t>
            </a:r>
            <a:endParaRPr sz="2400" dirty="0">
              <a:latin typeface="Carlito"/>
              <a:cs typeface="Carlito"/>
            </a:endParaRPr>
          </a:p>
          <a:p>
            <a:pPr marL="697865" marR="5080" lvl="1" indent="-228600">
              <a:lnSpc>
                <a:spcPct val="90100"/>
              </a:lnSpc>
              <a:spcBef>
                <a:spcPts val="57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Private, </a:t>
            </a:r>
            <a:r>
              <a:rPr sz="2400" spc="-10" dirty="0">
                <a:latin typeface="Carlito"/>
                <a:cs typeface="Carlito"/>
              </a:rPr>
              <a:t>secure path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 that provides  </a:t>
            </a:r>
            <a:r>
              <a:rPr sz="2400" spc="-5" dirty="0">
                <a:latin typeface="Carlito"/>
                <a:cs typeface="Carlito"/>
              </a:rPr>
              <a:t>authorized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secure </a:t>
            </a:r>
            <a:r>
              <a:rPr sz="2400" dirty="0">
                <a:latin typeface="Carlito"/>
                <a:cs typeface="Carlito"/>
              </a:rPr>
              <a:t>means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accessing a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private 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via 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tunneling and </a:t>
            </a:r>
            <a:r>
              <a:rPr sz="2400" spc="-5" dirty="0">
                <a:latin typeface="Carlito"/>
                <a:cs typeface="Carlito"/>
              </a:rPr>
              <a:t>special </a:t>
            </a:r>
            <a:r>
              <a:rPr sz="2400" dirty="0">
                <a:latin typeface="Carlito"/>
                <a:cs typeface="Carlito"/>
              </a:rPr>
              <a:t>encryption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technology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5712460" cy="51995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Bandwidth</a:t>
            </a:r>
          </a:p>
          <a:p>
            <a:pPr marL="756285" marR="214629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can </a:t>
            </a:r>
            <a:r>
              <a:rPr sz="2400" spc="-5" dirty="0">
                <a:latin typeface="Carlito"/>
                <a:cs typeface="Carlito"/>
              </a:rPr>
              <a:t>be  </a:t>
            </a:r>
            <a:r>
              <a:rPr sz="2400" spc="-15" dirty="0">
                <a:latin typeface="Carlito"/>
                <a:cs typeface="Carlito"/>
              </a:rPr>
              <a:t>transferred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given </a:t>
            </a:r>
            <a:r>
              <a:rPr sz="2400" spc="-5" dirty="0">
                <a:latin typeface="Carlito"/>
                <a:cs typeface="Carlito"/>
              </a:rPr>
              <a:t>period of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</a:p>
          <a:p>
            <a:pPr marL="756285" marR="5080" lvl="1" indent="-287020">
              <a:lnSpc>
                <a:spcPts val="2590"/>
              </a:lnSpc>
              <a:spcBef>
                <a:spcPts val="57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Measured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bits per </a:t>
            </a:r>
            <a:r>
              <a:rPr sz="2400" spc="-10" dirty="0">
                <a:latin typeface="Carlito"/>
                <a:cs typeface="Carlito"/>
              </a:rPr>
              <a:t>second </a:t>
            </a:r>
            <a:r>
              <a:rPr sz="2400" spc="-5" dirty="0">
                <a:latin typeface="Carlito"/>
                <a:cs typeface="Carlito"/>
              </a:rPr>
              <a:t>(bps),  Kbps (thousands), Mbps (millions ), or  </a:t>
            </a:r>
            <a:r>
              <a:rPr sz="2400" spc="-5" dirty="0" err="1">
                <a:latin typeface="Carlito"/>
                <a:cs typeface="Carlito"/>
              </a:rPr>
              <a:t>Gbps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(billions)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Analog </a:t>
            </a:r>
            <a:r>
              <a:rPr sz="2400" spc="-10" dirty="0">
                <a:latin typeface="Carlito"/>
                <a:cs typeface="Carlito"/>
              </a:rPr>
              <a:t>vs. Digital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Signals</a:t>
            </a:r>
            <a:endParaRPr sz="2400" dirty="0">
              <a:latin typeface="Carlito"/>
              <a:cs typeface="Carlito"/>
            </a:endParaRPr>
          </a:p>
          <a:p>
            <a:pPr marL="756285" marR="56388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  <a:tab pos="170053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represented by two </a:t>
            </a:r>
            <a:r>
              <a:rPr sz="2400" spc="-15" dirty="0">
                <a:latin typeface="Carlito"/>
                <a:cs typeface="Carlito"/>
              </a:rPr>
              <a:t>discrete  states:	</a:t>
            </a:r>
            <a:r>
              <a:rPr sz="2400" spc="-5" dirty="0">
                <a:latin typeface="Carlito"/>
                <a:cs typeface="Carlito"/>
              </a:rPr>
              <a:t>0s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1s</a:t>
            </a:r>
          </a:p>
          <a:p>
            <a:pPr marL="756285" lvl="1" indent="-287020">
              <a:lnSpc>
                <a:spcPts val="2735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Conventional </a:t>
            </a:r>
            <a:r>
              <a:rPr sz="2400" spc="-5" dirty="0">
                <a:latin typeface="Carlito"/>
                <a:cs typeface="Carlito"/>
              </a:rPr>
              <a:t>telephone </a:t>
            </a:r>
            <a:r>
              <a:rPr sz="2400" spc="-20" dirty="0">
                <a:latin typeface="Carlito"/>
                <a:cs typeface="Carlito"/>
              </a:rPr>
              <a:t>systems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 dirty="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dirty="0">
                <a:latin typeface="Carlito"/>
                <a:cs typeface="Carlito"/>
              </a:rPr>
              <a:t>analog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signals</a:t>
            </a:r>
            <a:endParaRPr sz="2400" dirty="0">
              <a:latin typeface="Carlito"/>
              <a:cs typeface="Carlito"/>
            </a:endParaRPr>
          </a:p>
          <a:p>
            <a:pPr marL="1155700" marR="342265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continuous  </a:t>
            </a:r>
            <a:r>
              <a:rPr sz="2400" spc="-20" dirty="0">
                <a:latin typeface="Carlito"/>
                <a:cs typeface="Carlito"/>
              </a:rPr>
              <a:t>waves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0" y="1874036"/>
            <a:ext cx="2774865" cy="40802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805680" cy="3684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Transmission </a:t>
            </a:r>
            <a:r>
              <a:rPr sz="2400" spc="-30" dirty="0">
                <a:latin typeface="Carlito"/>
                <a:cs typeface="Carlito"/>
              </a:rPr>
              <a:t>Type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Timing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Serial</a:t>
            </a:r>
            <a:endParaRPr sz="2400">
              <a:latin typeface="Carlito"/>
              <a:cs typeface="Carlito"/>
            </a:endParaRPr>
          </a:p>
          <a:p>
            <a:pPr marL="1155700" marR="29019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one </a:t>
            </a:r>
            <a:r>
              <a:rPr sz="2400" spc="-5" dirty="0">
                <a:latin typeface="Carlito"/>
                <a:cs typeface="Carlito"/>
              </a:rPr>
              <a:t>bit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time, 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after </a:t>
            </a:r>
            <a:r>
              <a:rPr sz="2400" spc="-25" dirty="0">
                <a:latin typeface="Carlito"/>
                <a:cs typeface="Carlito"/>
              </a:rPr>
              <a:t>another, </a:t>
            </a:r>
            <a:r>
              <a:rPr sz="2400" dirty="0">
                <a:latin typeface="Carlito"/>
                <a:cs typeface="Carlito"/>
              </a:rPr>
              <a:t>along a  </a:t>
            </a:r>
            <a:r>
              <a:rPr sz="2400" spc="-5" dirty="0">
                <a:latin typeface="Carlito"/>
                <a:cs typeface="Carlito"/>
              </a:rPr>
              <a:t>single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Parallel</a:t>
            </a:r>
            <a:endParaRPr sz="2400">
              <a:latin typeface="Carlito"/>
              <a:cs typeface="Carlito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least one </a:t>
            </a:r>
            <a:r>
              <a:rPr sz="2400" spc="-10" dirty="0">
                <a:latin typeface="Carlito"/>
                <a:cs typeface="Carlito"/>
              </a:rPr>
              <a:t>byte </a:t>
            </a:r>
            <a:r>
              <a:rPr sz="2400" spc="-15" dirty="0">
                <a:latin typeface="Carlito"/>
                <a:cs typeface="Carlito"/>
              </a:rPr>
              <a:t>at  </a:t>
            </a:r>
            <a:r>
              <a:rPr sz="2400" dirty="0">
                <a:latin typeface="Carlito"/>
                <a:cs typeface="Carlito"/>
              </a:rPr>
              <a:t>time with each </a:t>
            </a:r>
            <a:r>
              <a:rPr sz="2400" spc="-5" dirty="0">
                <a:latin typeface="Carlito"/>
                <a:cs typeface="Carlito"/>
              </a:rPr>
              <a:t>bit </a:t>
            </a:r>
            <a:r>
              <a:rPr sz="2400" dirty="0">
                <a:latin typeface="Carlito"/>
                <a:cs typeface="Carlito"/>
              </a:rPr>
              <a:t>in the</a:t>
            </a:r>
            <a:r>
              <a:rPr sz="2400" spc="-1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byte  </a:t>
            </a:r>
            <a:r>
              <a:rPr sz="2400" spc="-5" dirty="0">
                <a:latin typeface="Carlito"/>
                <a:cs typeface="Carlito"/>
              </a:rPr>
              <a:t>taking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different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74299" y="1823248"/>
            <a:ext cx="2563637" cy="33881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72225" y="5517235"/>
            <a:ext cx="1324736" cy="54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2322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Synchronous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Blocks of </a:t>
            </a:r>
            <a:r>
              <a:rPr sz="2400" spc="-15" dirty="0">
                <a:latin typeface="Carlito"/>
                <a:cs typeface="Carlito"/>
              </a:rPr>
              <a:t>data are transferred </a:t>
            </a:r>
            <a:r>
              <a:rPr sz="2400" spc="-10" dirty="0">
                <a:latin typeface="Carlito"/>
                <a:cs typeface="Carlito"/>
              </a:rPr>
              <a:t>at </a:t>
            </a:r>
            <a:r>
              <a:rPr sz="2400" spc="-30" dirty="0">
                <a:latin typeface="Carlito"/>
                <a:cs typeface="Carlito"/>
              </a:rPr>
              <a:t>regular, </a:t>
            </a:r>
            <a:r>
              <a:rPr sz="2400" spc="-5" dirty="0">
                <a:latin typeface="Carlito"/>
                <a:cs typeface="Carlito"/>
              </a:rPr>
              <a:t>specified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intervals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transmissions within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over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synchronous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Asynchronous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ready </a:t>
            </a:r>
            <a:r>
              <a:rPr sz="2400" spc="-5" dirty="0">
                <a:latin typeface="Carlito"/>
                <a:cs typeface="Carlito"/>
              </a:rPr>
              <a:t>without being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synchronized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Start </a:t>
            </a:r>
            <a:r>
              <a:rPr sz="2400" spc="-5" dirty="0">
                <a:latin typeface="Carlito"/>
                <a:cs typeface="Carlito"/>
              </a:rPr>
              <a:t>bits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stop </a:t>
            </a:r>
            <a:r>
              <a:rPr sz="2400" spc="-5" dirty="0">
                <a:latin typeface="Carlito"/>
                <a:cs typeface="Carlito"/>
              </a:rPr>
              <a:t>bits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identify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bits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belong  </a:t>
            </a:r>
            <a:r>
              <a:rPr sz="2400" dirty="0">
                <a:latin typeface="Carlito"/>
                <a:cs typeface="Carlito"/>
              </a:rPr>
              <a:t>in each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byte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Isochronous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 </a:t>
            </a:r>
            <a:r>
              <a:rPr sz="2400" dirty="0">
                <a:latin typeface="Carlito"/>
                <a:cs typeface="Carlito"/>
              </a:rPr>
              <a:t>time as </a:t>
            </a:r>
            <a:r>
              <a:rPr sz="2400" spc="-40" dirty="0">
                <a:latin typeface="Carlito"/>
                <a:cs typeface="Carlito"/>
              </a:rPr>
              <a:t>other, </a:t>
            </a:r>
            <a:r>
              <a:rPr sz="2400" spc="-15" dirty="0">
                <a:latin typeface="Carlito"/>
                <a:cs typeface="Carlito"/>
              </a:rPr>
              <a:t>related,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96330"/>
            <a:chOff x="0" y="0"/>
            <a:chExt cx="9144000" cy="6196330"/>
          </a:xfrm>
        </p:grpSpPr>
        <p:sp>
          <p:nvSpPr>
            <p:cNvPr id="3" name="object 3"/>
            <p:cNvSpPr/>
            <p:nvPr/>
          </p:nvSpPr>
          <p:spPr>
            <a:xfrm>
              <a:off x="683564" y="1484782"/>
              <a:ext cx="7691170" cy="40686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39720" y="5373217"/>
              <a:ext cx="1019759" cy="8229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893656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64475" cy="2660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Simplex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travels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single direction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only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Half-Duplex</a:t>
            </a:r>
            <a:r>
              <a:rPr sz="2400" spc="-20" dirty="0">
                <a:latin typeface="Carlito"/>
                <a:cs typeface="Carlito"/>
              </a:rPr>
              <a:t> 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travels </a:t>
            </a:r>
            <a:r>
              <a:rPr sz="2400" dirty="0">
                <a:latin typeface="Carlito"/>
                <a:cs typeface="Carlito"/>
              </a:rPr>
              <a:t>in either </a:t>
            </a:r>
            <a:r>
              <a:rPr sz="2400" spc="-5" dirty="0">
                <a:latin typeface="Carlito"/>
                <a:cs typeface="Carlito"/>
              </a:rPr>
              <a:t>direction but only </a:t>
            </a:r>
            <a:r>
              <a:rPr sz="2400" spc="-10" dirty="0">
                <a:latin typeface="Carlito"/>
                <a:cs typeface="Carlito"/>
              </a:rPr>
              <a:t>one </a:t>
            </a:r>
            <a:r>
              <a:rPr sz="2400" spc="-25" dirty="0">
                <a:latin typeface="Carlito"/>
                <a:cs typeface="Carlito"/>
              </a:rPr>
              <a:t>way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Full-Duplex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travels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both </a:t>
            </a:r>
            <a:r>
              <a:rPr sz="2400" spc="-10" dirty="0">
                <a:latin typeface="Carlito"/>
                <a:cs typeface="Carlito"/>
              </a:rPr>
              <a:t>directions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130491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0" y="1461262"/>
            <a:ext cx="8536940" cy="49802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065" algn="just">
              <a:lnSpc>
                <a:spcPct val="100000"/>
              </a:lnSpc>
              <a:spcBef>
                <a:spcPts val="675"/>
              </a:spcBef>
              <a:tabLst>
                <a:tab pos="355600" algn="l"/>
                <a:tab pos="356235" algn="l"/>
              </a:tabLst>
            </a:pPr>
            <a:r>
              <a:rPr lang="en-GB" sz="2400" spc="-5" dirty="0">
                <a:latin typeface="Carlito"/>
                <a:cs typeface="Carlito"/>
              </a:rPr>
              <a:t>   </a:t>
            </a:r>
            <a:r>
              <a:rPr sz="2400" spc="-5" dirty="0">
                <a:latin typeface="Carlito"/>
                <a:cs typeface="Carlito"/>
              </a:rPr>
              <a:t>Delivery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Method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Circuit-Switching</a:t>
            </a:r>
            <a:endParaRPr sz="2400" dirty="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Dedicated path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established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between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sender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receiver;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follows </a:t>
            </a:r>
            <a:r>
              <a:rPr sz="2400" spc="-10" dirty="0">
                <a:latin typeface="Carlito"/>
                <a:cs typeface="Carlito"/>
              </a:rPr>
              <a:t>that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Packet-Switching</a:t>
            </a:r>
            <a:endParaRPr sz="2400" dirty="0">
              <a:latin typeface="Carlito"/>
              <a:cs typeface="Carlito"/>
            </a:endParaRPr>
          </a:p>
          <a:p>
            <a:pPr marL="1155700" marR="11176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Messages </a:t>
            </a:r>
            <a:r>
              <a:rPr sz="2400" spc="-15" dirty="0">
                <a:latin typeface="Carlito"/>
                <a:cs typeface="Carlito"/>
              </a:rPr>
              <a:t>are separated into </a:t>
            </a:r>
            <a:r>
              <a:rPr sz="2400" spc="-5" dirty="0">
                <a:latin typeface="Carlito"/>
                <a:cs typeface="Carlito"/>
              </a:rPr>
              <a:t>small units called </a:t>
            </a:r>
            <a:r>
              <a:rPr sz="2400" spc="-15" dirty="0">
                <a:latin typeface="Carlito"/>
                <a:cs typeface="Carlito"/>
              </a:rPr>
              <a:t>packets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travel </a:t>
            </a:r>
            <a:r>
              <a:rPr sz="2400" dirty="0">
                <a:latin typeface="Carlito"/>
                <a:cs typeface="Carlito"/>
              </a:rPr>
              <a:t>along the </a:t>
            </a:r>
            <a:r>
              <a:rPr sz="2400" spc="-10" dirty="0">
                <a:latin typeface="Carlito"/>
                <a:cs typeface="Carlito"/>
              </a:rPr>
              <a:t>network separately; </a:t>
            </a:r>
            <a:r>
              <a:rPr sz="2400" spc="-15" dirty="0">
                <a:latin typeface="Carlito"/>
                <a:cs typeface="Carlito"/>
              </a:rPr>
              <a:t>packets are </a:t>
            </a:r>
            <a:r>
              <a:rPr sz="2400" spc="-10" dirty="0">
                <a:latin typeface="Carlito"/>
                <a:cs typeface="Carlito"/>
              </a:rPr>
              <a:t>reassembled </a:t>
            </a:r>
            <a:r>
              <a:rPr sz="2400" spc="-5" dirty="0">
                <a:latin typeface="Carlito"/>
                <a:cs typeface="Carlito"/>
              </a:rPr>
              <a:t>once </a:t>
            </a:r>
            <a:r>
              <a:rPr sz="2400" spc="-10" dirty="0">
                <a:latin typeface="Carlito"/>
                <a:cs typeface="Carlito"/>
              </a:rPr>
              <a:t>destination </a:t>
            </a:r>
            <a:r>
              <a:rPr sz="2400" spc="-5" dirty="0">
                <a:latin typeface="Carlito"/>
                <a:cs typeface="Carlito"/>
              </a:rPr>
              <a:t>is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reached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Broadcasting</a:t>
            </a:r>
            <a:endParaRPr sz="2400" dirty="0">
              <a:latin typeface="Carlito"/>
              <a:cs typeface="Carlito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5" dirty="0">
                <a:latin typeface="Carlito"/>
                <a:cs typeface="Carlito"/>
              </a:rPr>
              <a:t>out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other nodes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spc="-5" dirty="0">
                <a:latin typeface="Carlito"/>
                <a:cs typeface="Carlito"/>
              </a:rPr>
              <a:t>only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intended recipient; </a:t>
            </a:r>
            <a:r>
              <a:rPr sz="2400" spc="-5" dirty="0">
                <a:latin typeface="Carlito"/>
                <a:cs typeface="Carlito"/>
              </a:rPr>
              <a:t>primarily used 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LANs</a:t>
            </a:r>
            <a:r>
              <a:rPr lang="en-US" sz="2400" spc="-5" dirty="0">
                <a:latin typeface="Carlito"/>
                <a:cs typeface="Carlito"/>
              </a:rPr>
              <a:t> (Live and </a:t>
            </a:r>
            <a:r>
              <a:rPr lang="en-US" sz="2400" spc="-5" dirty="0" err="1">
                <a:latin typeface="Carlito"/>
                <a:cs typeface="Carlito"/>
              </a:rPr>
              <a:t>tv</a:t>
            </a:r>
            <a:r>
              <a:rPr lang="en-US" sz="2400" spc="-5" dirty="0">
                <a:latin typeface="Carlito"/>
                <a:cs typeface="Carlito"/>
              </a:rPr>
              <a:t> signal)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0410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6407" y="1704975"/>
            <a:ext cx="8086725" cy="4530090"/>
            <a:chOff x="466407" y="1704975"/>
            <a:chExt cx="8086725" cy="4530090"/>
          </a:xfrm>
        </p:grpSpPr>
        <p:sp>
          <p:nvSpPr>
            <p:cNvPr id="4" name="object 4"/>
            <p:cNvSpPr/>
            <p:nvPr/>
          </p:nvSpPr>
          <p:spPr>
            <a:xfrm>
              <a:off x="466407" y="1704975"/>
              <a:ext cx="8086725" cy="35909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3603" y="5229199"/>
              <a:ext cx="1327149" cy="10058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563569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25080" cy="47085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Wired Networking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Media</a:t>
            </a: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Twisted-Pair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Pairs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insulated wires twisted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together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telephone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network connections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(LANs)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Coaxial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Thick </a:t>
            </a:r>
            <a:r>
              <a:rPr sz="2400" spc="-10" dirty="0">
                <a:latin typeface="Carlito"/>
                <a:cs typeface="Carlito"/>
              </a:rPr>
              <a:t>center wire surrounded by</a:t>
            </a:r>
            <a:r>
              <a:rPr sz="2400" spc="-5" dirty="0">
                <a:latin typeface="Carlito"/>
                <a:cs typeface="Carlito"/>
              </a:rPr>
              <a:t> insulation</a:t>
            </a:r>
            <a:endParaRPr sz="2400" dirty="0">
              <a:latin typeface="Carlito"/>
              <a:cs typeface="Carlito"/>
            </a:endParaRPr>
          </a:p>
          <a:p>
            <a:pPr marL="1155700" marR="40513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computer networks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cable television  delivery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Fiber-Optic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</a:t>
            </a:r>
            <a:endParaRPr sz="2400" dirty="0">
              <a:latin typeface="Carlito"/>
              <a:cs typeface="Carlito"/>
            </a:endParaRPr>
          </a:p>
          <a:p>
            <a:pPr marL="1155700" marR="3429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Utilizes hundreds </a:t>
            </a:r>
            <a:r>
              <a:rPr sz="2400" spc="-5" dirty="0">
                <a:latin typeface="Carlito"/>
                <a:cs typeface="Carlito"/>
              </a:rPr>
              <a:t>of thin </a:t>
            </a:r>
            <a:r>
              <a:rPr sz="2400" spc="-10" dirty="0">
                <a:latin typeface="Carlito"/>
                <a:cs typeface="Carlito"/>
              </a:rPr>
              <a:t>transparent </a:t>
            </a:r>
            <a:r>
              <a:rPr sz="2400" dirty="0">
                <a:latin typeface="Carlito"/>
                <a:cs typeface="Carlito"/>
              </a:rPr>
              <a:t>clear glass </a:t>
            </a:r>
            <a:r>
              <a:rPr sz="2400" spc="-5" dirty="0">
                <a:latin typeface="Carlito"/>
                <a:cs typeface="Carlito"/>
              </a:rPr>
              <a:t>or  </a:t>
            </a:r>
            <a:r>
              <a:rPr sz="2400" spc="-10" dirty="0">
                <a:latin typeface="Carlito"/>
                <a:cs typeface="Carlito"/>
              </a:rPr>
              <a:t>plastic fibers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5" dirty="0">
                <a:latin typeface="Carlito"/>
                <a:cs typeface="Carlito"/>
              </a:rPr>
              <a:t>lasers </a:t>
            </a:r>
            <a:r>
              <a:rPr sz="2400" spc="-10" dirty="0">
                <a:latin typeface="Carlito"/>
                <a:cs typeface="Carlito"/>
              </a:rPr>
              <a:t>transmit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light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high-speed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1926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6994" y="1700783"/>
            <a:ext cx="7884795" cy="4237355"/>
            <a:chOff x="536994" y="1700783"/>
            <a:chExt cx="7884795" cy="4237355"/>
          </a:xfrm>
        </p:grpSpPr>
        <p:sp>
          <p:nvSpPr>
            <p:cNvPr id="4" name="object 4"/>
            <p:cNvSpPr/>
            <p:nvPr/>
          </p:nvSpPr>
          <p:spPr>
            <a:xfrm>
              <a:off x="536994" y="1770266"/>
              <a:ext cx="6876254" cy="41674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64323" y="1700783"/>
              <a:ext cx="1257300" cy="609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69156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37500" cy="50571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spc="-10" dirty="0">
                <a:latin typeface="Carlito"/>
                <a:cs typeface="Carlito"/>
              </a:rPr>
              <a:t>Networking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Media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sent through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airwaves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spc="-10" dirty="0">
                <a:latin typeface="Carlito"/>
                <a:cs typeface="Carlito"/>
              </a:rPr>
              <a:t>radio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signals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Electromagnetic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Wireless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Spectrum</a:t>
            </a:r>
            <a:endParaRPr sz="2400" dirty="0">
              <a:latin typeface="Carlito"/>
              <a:cs typeface="Carlito"/>
            </a:endParaRPr>
          </a:p>
          <a:p>
            <a:pPr marL="1155700" marR="56769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Radio frequencies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assigned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FCC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10" dirty="0">
                <a:latin typeface="Carlito"/>
                <a:cs typeface="Carlito"/>
              </a:rPr>
              <a:t>measured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hertz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(Hz)</a:t>
            </a: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The electromagnetic spectrum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common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electromagnetic </a:t>
            </a:r>
            <a:r>
              <a:rPr sz="2400" spc="-10" dirty="0">
                <a:latin typeface="Carlito"/>
                <a:cs typeface="Carlito"/>
              </a:rPr>
              <a:t>radiation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(energy)</a:t>
            </a:r>
            <a:endParaRPr sz="2400" dirty="0">
              <a:latin typeface="Carlito"/>
              <a:cs typeface="Carlito"/>
            </a:endParaRPr>
          </a:p>
          <a:p>
            <a:pPr marL="1155700" marR="69532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5" dirty="0">
                <a:latin typeface="Carlito"/>
                <a:cs typeface="Carlito"/>
              </a:rPr>
              <a:t>parts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spectrum </a:t>
            </a:r>
            <a:r>
              <a:rPr sz="2400" spc="-20" dirty="0">
                <a:latin typeface="Carlito"/>
                <a:cs typeface="Carlito"/>
              </a:rPr>
              <a:t>have different  </a:t>
            </a:r>
            <a:r>
              <a:rPr sz="2400" spc="-5" dirty="0">
                <a:latin typeface="Carlito"/>
                <a:cs typeface="Carlito"/>
              </a:rPr>
              <a:t>properties,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spc="-5" dirty="0">
                <a:latin typeface="Carlito"/>
                <a:cs typeface="Carlito"/>
              </a:rPr>
              <a:t>certain frequencies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more  appropriate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certain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applications</a:t>
            </a:r>
            <a:endParaRPr lang="en-US" sz="2400" spc="-5" dirty="0">
              <a:latin typeface="Carlito"/>
              <a:cs typeface="Carlito"/>
            </a:endParaRPr>
          </a:p>
          <a:p>
            <a:pPr marL="1155700" marR="69532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endParaRPr lang="en-US" sz="2400" spc="-5" dirty="0">
              <a:latin typeface="Carlito"/>
              <a:cs typeface="Carlito"/>
            </a:endParaRPr>
          </a:p>
          <a:p>
            <a:pPr marL="1155700" marR="69532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lang="en-US" sz="2400" i="1" spc="-5" dirty="0">
                <a:solidFill>
                  <a:srgbClr val="00B050"/>
                </a:solidFill>
                <a:latin typeface="Carlito"/>
                <a:cs typeface="Carlito"/>
              </a:rPr>
              <a:t>FCC: Federal Communication Commission</a:t>
            </a:r>
            <a:endParaRPr sz="2400" i="1" dirty="0">
              <a:solidFill>
                <a:srgbClr val="00B050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262299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3" name="object 3"/>
          <p:cNvSpPr/>
          <p:nvPr/>
        </p:nvSpPr>
        <p:spPr>
          <a:xfrm>
            <a:off x="2195702" y="1699666"/>
            <a:ext cx="4400550" cy="4352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76288" y="3068954"/>
            <a:ext cx="1403730" cy="1344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2363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8455660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6545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Frequencies </a:t>
            </a:r>
            <a:r>
              <a:rPr sz="2400" dirty="0">
                <a:latin typeface="Carlito"/>
                <a:cs typeface="Carlito"/>
              </a:rPr>
              <a:t>assigned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5" dirty="0">
                <a:latin typeface="Carlito"/>
                <a:cs typeface="Carlito"/>
              </a:rPr>
              <a:t>application usually </a:t>
            </a:r>
            <a:r>
              <a:rPr sz="2400" spc="-10" dirty="0">
                <a:latin typeface="Carlito"/>
                <a:cs typeface="Carlito"/>
              </a:rPr>
              <a:t>consist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frequencies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spc="-10" dirty="0">
                <a:latin typeface="Carlito"/>
                <a:cs typeface="Carlito"/>
              </a:rPr>
              <a:t>networking </a:t>
            </a:r>
            <a:r>
              <a:rPr sz="2400" spc="-5" dirty="0">
                <a:latin typeface="Carlito"/>
                <a:cs typeface="Carlito"/>
              </a:rPr>
              <a:t>applications use frequencies </a:t>
            </a:r>
            <a:r>
              <a:rPr sz="2400">
                <a:latin typeface="Carlito"/>
                <a:cs typeface="Carlito"/>
              </a:rPr>
              <a:t>in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the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RF </a:t>
            </a:r>
            <a:r>
              <a:rPr sz="2400" spc="-5" dirty="0">
                <a:latin typeface="Carlito"/>
                <a:cs typeface="Carlito"/>
              </a:rPr>
              <a:t>band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low </a:t>
            </a:r>
            <a:r>
              <a:rPr sz="2400" dirty="0">
                <a:latin typeface="Carlito"/>
                <a:cs typeface="Carlito"/>
              </a:rPr>
              <a:t>end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5" dirty="0">
                <a:latin typeface="Carlito"/>
                <a:cs typeface="Carlito"/>
              </a:rPr>
              <a:t>spectrum</a:t>
            </a:r>
            <a:r>
              <a:rPr sz="2400" spc="-25" dirty="0">
                <a:latin typeface="Arial"/>
                <a:cs typeface="Arial"/>
              </a:rPr>
              <a:t>—</a:t>
            </a:r>
            <a:r>
              <a:rPr sz="2400" spc="-25" dirty="0">
                <a:latin typeface="Carlito"/>
                <a:cs typeface="Carlito"/>
              </a:rPr>
              <a:t>up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300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GHz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i="1" dirty="0">
                <a:latin typeface="Carlito"/>
                <a:cs typeface="Carlito"/>
              </a:rPr>
              <a:t>wireless</a:t>
            </a:r>
            <a:r>
              <a:rPr sz="2400" i="1" spc="-30" dirty="0">
                <a:latin typeface="Carlito"/>
                <a:cs typeface="Carlito"/>
              </a:rPr>
              <a:t> </a:t>
            </a:r>
            <a:r>
              <a:rPr sz="2400" i="1" spc="-5" dirty="0">
                <a:latin typeface="Carlito"/>
                <a:cs typeface="Carlito"/>
              </a:rPr>
              <a:t>spectrum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900 </a:t>
            </a:r>
            <a:r>
              <a:rPr sz="2400" dirty="0">
                <a:latin typeface="Carlito"/>
                <a:cs typeface="Carlito"/>
              </a:rPr>
              <a:t>MHz, </a:t>
            </a:r>
            <a:r>
              <a:rPr sz="2400" spc="-5" dirty="0">
                <a:latin typeface="Carlito"/>
                <a:cs typeface="Carlito"/>
              </a:rPr>
              <a:t>2.4GHz, </a:t>
            </a:r>
            <a:r>
              <a:rPr sz="2400" dirty="0">
                <a:latin typeface="Carlito"/>
                <a:cs typeface="Carlito"/>
              </a:rPr>
              <a:t>5 GHz, and </a:t>
            </a:r>
            <a:r>
              <a:rPr sz="2400" spc="-5" dirty="0">
                <a:latin typeface="Carlito"/>
                <a:cs typeface="Carlito"/>
              </a:rPr>
              <a:t>5.8 </a:t>
            </a:r>
            <a:r>
              <a:rPr sz="2400" dirty="0">
                <a:latin typeface="Carlito"/>
                <a:cs typeface="Carlito"/>
              </a:rPr>
              <a:t>GHz </a:t>
            </a:r>
            <a:r>
              <a:rPr sz="2400" spc="-5" dirty="0">
                <a:latin typeface="Carlito"/>
                <a:cs typeface="Carlito"/>
              </a:rPr>
              <a:t>frequencies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dirty="0">
                <a:latin typeface="Carlito"/>
                <a:cs typeface="Carlito"/>
              </a:rPr>
              <a:t>within an </a:t>
            </a:r>
            <a:r>
              <a:rPr sz="2400" spc="-5" dirty="0">
                <a:latin typeface="Carlito"/>
                <a:cs typeface="Carlito"/>
              </a:rPr>
              <a:t>unlicensed part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spectrum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10" dirty="0">
                <a:latin typeface="Carlito"/>
                <a:cs typeface="Carlito"/>
              </a:rPr>
              <a:t>by 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10" dirty="0">
                <a:latin typeface="Carlito"/>
                <a:cs typeface="Carlito"/>
              </a:rPr>
              <a:t>product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individual</a:t>
            </a:r>
            <a:endParaRPr sz="2400">
              <a:latin typeface="Carlito"/>
              <a:cs typeface="Carlito"/>
            </a:endParaRPr>
          </a:p>
          <a:p>
            <a:pPr marL="756285" marR="137160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  <a:tab pos="2693035" algn="l"/>
              </a:tabLst>
            </a:pPr>
            <a:r>
              <a:rPr sz="2400" spc="-10" dirty="0">
                <a:latin typeface="Carlito"/>
                <a:cs typeface="Carlito"/>
              </a:rPr>
              <a:t>Cordless </a:t>
            </a:r>
            <a:r>
              <a:rPr sz="2400" dirty="0">
                <a:latin typeface="Carlito"/>
                <a:cs typeface="Carlito"/>
              </a:rPr>
              <a:t>landline </a:t>
            </a:r>
            <a:r>
              <a:rPr sz="2400" spc="-5" dirty="0">
                <a:latin typeface="Carlito"/>
                <a:cs typeface="Carlito"/>
              </a:rPr>
              <a:t>phones, </a:t>
            </a:r>
            <a:r>
              <a:rPr sz="2400" spc="-20">
                <a:latin typeface="Carlito"/>
                <a:cs typeface="Carlito"/>
              </a:rPr>
              <a:t>garage </a:t>
            </a:r>
            <a:r>
              <a:rPr sz="2400" spc="-10">
                <a:latin typeface="Carlito"/>
                <a:cs typeface="Carlito"/>
              </a:rPr>
              <a:t>door</a:t>
            </a:r>
            <a:r>
              <a:rPr lang="en-US" sz="2400" spc="-10" dirty="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openers</a:t>
            </a:r>
            <a:r>
              <a:rPr sz="2400" spc="-10" dirty="0">
                <a:latin typeface="Carlito"/>
                <a:cs typeface="Carlito"/>
              </a:rPr>
              <a:t>,  </a:t>
            </a:r>
            <a:r>
              <a:rPr sz="2400" spc="-5" dirty="0">
                <a:latin typeface="Carlito"/>
                <a:cs typeface="Carlito"/>
              </a:rPr>
              <a:t>Wi-Fi</a:t>
            </a:r>
            <a:r>
              <a:rPr sz="2400" spc="-5">
                <a:latin typeface="Carlito"/>
                <a:cs typeface="Carlito"/>
              </a:rPr>
              <a:t>,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WiMAX,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and</a:t>
            </a:r>
            <a:r>
              <a:rPr sz="2400" spc="-5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Bluetooth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64089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97838"/>
            <a:ext cx="8049895" cy="453521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5" dirty="0">
                <a:latin typeface="Carlito"/>
                <a:cs typeface="Carlito"/>
              </a:rPr>
              <a:t>Radio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Transmissions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20" dirty="0">
                <a:latin typeface="Carlito"/>
                <a:cs typeface="Carlito"/>
              </a:rPr>
              <a:t>towers </a:t>
            </a:r>
            <a:r>
              <a:rPr sz="2400" dirty="0">
                <a:latin typeface="Carlito"/>
                <a:cs typeface="Carlito"/>
              </a:rPr>
              <a:t>within </a:t>
            </a:r>
            <a:r>
              <a:rPr sz="2400" spc="-10" dirty="0">
                <a:latin typeface="Carlito"/>
                <a:cs typeface="Carlito"/>
              </a:rPr>
              <a:t>honeycomb-shaped </a:t>
            </a:r>
            <a:r>
              <a:rPr sz="2400" spc="-15" dirty="0">
                <a:latin typeface="Carlito"/>
                <a:cs typeface="Carlito"/>
              </a:rPr>
              <a:t>zones </a:t>
            </a:r>
            <a:r>
              <a:rPr sz="2400" spc="-5" dirty="0">
                <a:latin typeface="Carlito"/>
                <a:cs typeface="Carlito"/>
              </a:rPr>
              <a:t>called  </a:t>
            </a:r>
            <a:r>
              <a:rPr sz="2400" dirty="0">
                <a:latin typeface="Carlito"/>
                <a:cs typeface="Carlito"/>
              </a:rPr>
              <a:t>cells</a:t>
            </a:r>
          </a:p>
          <a:p>
            <a:pPr marL="756285" marR="41275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Calls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20" dirty="0">
                <a:latin typeface="Carlito"/>
                <a:cs typeface="Carlito"/>
              </a:rPr>
              <a:t>transferred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to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</a:t>
            </a:r>
            <a:r>
              <a:rPr sz="2400" dirty="0">
                <a:latin typeface="Carlito"/>
                <a:cs typeface="Carlito"/>
              </a:rPr>
              <a:t>as the  individual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moves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forwards </a:t>
            </a:r>
            <a:r>
              <a:rPr sz="2400" spc="-5" dirty="0">
                <a:latin typeface="Carlito"/>
                <a:cs typeface="Carlito"/>
              </a:rPr>
              <a:t>call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MTSO</a:t>
            </a:r>
            <a:r>
              <a:rPr lang="en-US" sz="2400" spc="-10" dirty="0">
                <a:latin typeface="Carlito"/>
                <a:cs typeface="Carlito"/>
              </a:rPr>
              <a:t> (mobile telephone switching office)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265" dirty="0">
                <a:latin typeface="Arial"/>
                <a:cs typeface="Arial"/>
              </a:rPr>
              <a:t>MTSO </a:t>
            </a:r>
            <a:r>
              <a:rPr sz="2400" spc="-80" dirty="0">
                <a:latin typeface="Arial"/>
                <a:cs typeface="Arial"/>
              </a:rPr>
              <a:t>routes </a:t>
            </a:r>
            <a:r>
              <a:rPr sz="2400" spc="-90" dirty="0">
                <a:latin typeface="Arial"/>
                <a:cs typeface="Arial"/>
              </a:rPr>
              <a:t>call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35" dirty="0">
                <a:latin typeface="Arial"/>
                <a:cs typeface="Arial"/>
              </a:rPr>
              <a:t>the </a:t>
            </a:r>
            <a:r>
              <a:rPr sz="2400" spc="-65" dirty="0">
                <a:latin typeface="Arial"/>
                <a:cs typeface="Arial"/>
              </a:rPr>
              <a:t>recipient’s</a:t>
            </a:r>
            <a:r>
              <a:rPr sz="2400" spc="-37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phone</a:t>
            </a:r>
            <a:endParaRPr sz="24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5" dirty="0">
                <a:latin typeface="Carlito"/>
                <a:cs typeface="Carlito"/>
              </a:rPr>
              <a:t>phones </a:t>
            </a:r>
            <a:r>
              <a:rPr sz="2400" spc="-15" dirty="0">
                <a:latin typeface="Carlito"/>
                <a:cs typeface="Carlito"/>
              </a:rPr>
              <a:t>works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similar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manner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speed of </a:t>
            </a: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10" dirty="0">
                <a:latin typeface="Carlito"/>
                <a:cs typeface="Carlito"/>
              </a:rPr>
              <a:t>radio </a:t>
            </a:r>
            <a:r>
              <a:rPr sz="2400" spc="-5" dirty="0">
                <a:latin typeface="Carlito"/>
                <a:cs typeface="Carlito"/>
              </a:rPr>
              <a:t>transmissions depends on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15" dirty="0">
                <a:latin typeface="Carlito"/>
                <a:cs typeface="Carlito"/>
              </a:rPr>
              <a:t>standard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18589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33465"/>
            <a:chOff x="0" y="0"/>
            <a:chExt cx="9144000" cy="6133465"/>
          </a:xfrm>
        </p:grpSpPr>
        <p:sp>
          <p:nvSpPr>
            <p:cNvPr id="3" name="object 3"/>
            <p:cNvSpPr/>
            <p:nvPr/>
          </p:nvSpPr>
          <p:spPr>
            <a:xfrm>
              <a:off x="827582" y="1484782"/>
              <a:ext cx="7019925" cy="4648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308342" y="3501009"/>
              <a:ext cx="1419225" cy="5524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853797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71790" cy="515846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Microwave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Satellite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Microwaves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High-frequency </a:t>
            </a:r>
            <a:r>
              <a:rPr sz="2400" spc="-10" dirty="0">
                <a:latin typeface="Carlito"/>
                <a:cs typeface="Carlito"/>
              </a:rPr>
              <a:t>radio </a:t>
            </a:r>
            <a:r>
              <a:rPr sz="2400" spc="-5" dirty="0">
                <a:latin typeface="Carlito"/>
                <a:cs typeface="Carlito"/>
              </a:rPr>
              <a:t>signals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0" dirty="0">
                <a:latin typeface="Carlito"/>
                <a:cs typeface="Carlito"/>
              </a:rPr>
              <a:t> received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spc="-20" dirty="0">
                <a:latin typeface="Carlito"/>
                <a:cs typeface="Carlito"/>
              </a:rPr>
              <a:t>microwave </a:t>
            </a:r>
            <a:r>
              <a:rPr sz="2400" spc="-10" dirty="0">
                <a:latin typeface="Carlito"/>
                <a:cs typeface="Carlito"/>
              </a:rPr>
              <a:t>stations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satellites</a:t>
            </a:r>
            <a:endParaRPr sz="2400" dirty="0">
              <a:latin typeface="Carlito"/>
              <a:cs typeface="Carlito"/>
            </a:endParaRPr>
          </a:p>
          <a:p>
            <a:pPr marL="1155700" marR="435609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Signals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line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sight,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spc="-20" dirty="0">
                <a:latin typeface="Carlito"/>
                <a:cs typeface="Carlito"/>
              </a:rPr>
              <a:t>microwave </a:t>
            </a:r>
            <a:r>
              <a:rPr sz="2400" spc="-10" dirty="0">
                <a:latin typeface="Carlito"/>
                <a:cs typeface="Carlito"/>
              </a:rPr>
              <a:t>stations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5" dirty="0">
                <a:latin typeface="Carlito"/>
                <a:cs typeface="Carlito"/>
              </a:rPr>
              <a:t>usually built on </a:t>
            </a:r>
            <a:r>
              <a:rPr sz="2400" spc="-10" dirty="0">
                <a:latin typeface="Carlito"/>
                <a:cs typeface="Carlito"/>
              </a:rPr>
              <a:t>tall </a:t>
            </a:r>
            <a:r>
              <a:rPr sz="2400" spc="-5" dirty="0">
                <a:latin typeface="Carlito"/>
                <a:cs typeface="Carlito"/>
              </a:rPr>
              <a:t>buildings, </a:t>
            </a:r>
            <a:r>
              <a:rPr sz="2400" spc="-20" dirty="0">
                <a:latin typeface="Carlito"/>
                <a:cs typeface="Carlito"/>
              </a:rPr>
              <a:t>towers,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mountaintops</a:t>
            </a:r>
            <a:r>
              <a:rPr lang="en-US" sz="2400" spc="-15" dirty="0">
                <a:latin typeface="Carlito"/>
                <a:cs typeface="Carlito"/>
              </a:rPr>
              <a:t> (old </a:t>
            </a:r>
            <a:r>
              <a:rPr lang="en-US" sz="2400" spc="-15" dirty="0" err="1">
                <a:latin typeface="Carlito"/>
                <a:cs typeface="Carlito"/>
              </a:rPr>
              <a:t>tv</a:t>
            </a:r>
            <a:r>
              <a:rPr lang="en-US" sz="2400" spc="-15" dirty="0">
                <a:latin typeface="Carlito"/>
                <a:cs typeface="Carlito"/>
              </a:rPr>
              <a:t> antennas used to capture microwave signal)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Microwave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stations</a:t>
            </a:r>
            <a:endParaRPr sz="2400" dirty="0">
              <a:latin typeface="Carlito"/>
              <a:cs typeface="Carlito"/>
            </a:endParaRPr>
          </a:p>
          <a:p>
            <a:pPr marL="1155700" marR="38608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Earth-based stations that transmit </a:t>
            </a:r>
            <a:r>
              <a:rPr sz="2400" spc="-5" dirty="0">
                <a:latin typeface="Carlito"/>
                <a:cs typeface="Carlito"/>
              </a:rPr>
              <a:t>signals directly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dirty="0">
                <a:latin typeface="Carlito"/>
                <a:cs typeface="Carlito"/>
              </a:rPr>
              <a:t>each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dirty="0">
                <a:latin typeface="Carlito"/>
                <a:cs typeface="Carlito"/>
              </a:rPr>
              <a:t>within a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30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miles</a:t>
            </a:r>
          </a:p>
          <a:p>
            <a:pPr marL="1155700" marR="473709" lvl="2" indent="-228600">
              <a:lnSpc>
                <a:spcPts val="259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Stations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15" dirty="0">
                <a:latin typeface="Carlito"/>
                <a:cs typeface="Carlito"/>
              </a:rPr>
              <a:t>communicate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satellites  </a:t>
            </a:r>
            <a:r>
              <a:rPr sz="2400" spc="-5" dirty="0">
                <a:latin typeface="Carlito"/>
                <a:cs typeface="Carlito"/>
              </a:rPr>
              <a:t>(television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dirty="0">
                <a:latin typeface="Carlito"/>
                <a:cs typeface="Carlito"/>
              </a:rPr>
              <a:t>services)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spc="-10" dirty="0">
                <a:latin typeface="Carlito"/>
                <a:cs typeface="Carlito"/>
              </a:rPr>
              <a:t>satellite  </a:t>
            </a:r>
            <a:r>
              <a:rPr sz="2400" spc="-5" dirty="0">
                <a:latin typeface="Carlito"/>
                <a:cs typeface="Carlito"/>
              </a:rPr>
              <a:t>dishes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076820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3" name="object 3"/>
          <p:cNvSpPr/>
          <p:nvPr/>
        </p:nvSpPr>
        <p:spPr>
          <a:xfrm>
            <a:off x="179514" y="1993392"/>
            <a:ext cx="8782050" cy="3067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67936" y="5234901"/>
            <a:ext cx="1247775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39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15403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170814"/>
            <a:ext cx="562546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405" dirty="0"/>
              <a:t>Communications </a:t>
            </a:r>
            <a:r>
              <a:rPr sz="3200" spc="-390" dirty="0"/>
              <a:t>Protocols </a:t>
            </a:r>
            <a:r>
              <a:rPr sz="3200" spc="-360" dirty="0"/>
              <a:t>and  </a:t>
            </a:r>
            <a:r>
              <a:rPr sz="3200" spc="-380" dirty="0"/>
              <a:t>Networking</a:t>
            </a:r>
            <a:r>
              <a:rPr sz="3200" spc="-225" dirty="0"/>
              <a:t> </a:t>
            </a:r>
            <a:r>
              <a:rPr sz="3200" spc="-415" dirty="0"/>
              <a:t>Standards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687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Protocol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set of </a:t>
            </a:r>
            <a:r>
              <a:rPr sz="2400" dirty="0">
                <a:latin typeface="Carlito"/>
                <a:cs typeface="Carlito"/>
              </a:rPr>
              <a:t>rules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particular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situation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Communications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Protocol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set of </a:t>
            </a:r>
            <a:r>
              <a:rPr sz="2400" dirty="0">
                <a:latin typeface="Carlito"/>
                <a:cs typeface="Carlito"/>
              </a:rPr>
              <a:t>rules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determine </a:t>
            </a: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spc="-5" dirty="0">
                <a:latin typeface="Carlito"/>
                <a:cs typeface="Carlito"/>
              </a:rPr>
              <a:t>devices 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  </a:t>
            </a:r>
            <a:r>
              <a:rPr sz="2400" spc="-15" dirty="0">
                <a:latin typeface="Carlito"/>
                <a:cs typeface="Carlito"/>
              </a:rPr>
              <a:t>communicate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Standard</a:t>
            </a:r>
            <a:endParaRPr sz="2400">
              <a:latin typeface="Carlito"/>
              <a:cs typeface="Carlito"/>
            </a:endParaRPr>
          </a:p>
          <a:p>
            <a:pPr marL="756285" marR="6096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set of criteria or </a:t>
            </a:r>
            <a:r>
              <a:rPr sz="2400" spc="-10" dirty="0">
                <a:latin typeface="Carlito"/>
                <a:cs typeface="Carlito"/>
              </a:rPr>
              <a:t>requirements </a:t>
            </a:r>
            <a:r>
              <a:rPr sz="2400" spc="-15" dirty="0">
                <a:latin typeface="Carlito"/>
                <a:cs typeface="Carlito"/>
              </a:rPr>
              <a:t>approved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recognized  </a:t>
            </a:r>
            <a:r>
              <a:rPr sz="2400" spc="-10" dirty="0">
                <a:latin typeface="Carlito"/>
                <a:cs typeface="Carlito"/>
              </a:rPr>
              <a:t>standards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organization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Address </a:t>
            </a: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spc="-15" dirty="0">
                <a:latin typeface="Carlito"/>
                <a:cs typeface="Carlito"/>
              </a:rPr>
              <a:t>networked computers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connect/communicate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Needed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ensure products can work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products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040943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170814"/>
            <a:ext cx="626999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370" dirty="0"/>
              <a:t>TCP/IP </a:t>
            </a:r>
            <a:r>
              <a:rPr sz="3200" spc="-360" dirty="0"/>
              <a:t>and </a:t>
            </a:r>
            <a:r>
              <a:rPr sz="3200" spc="-340" dirty="0"/>
              <a:t>Other </a:t>
            </a:r>
            <a:r>
              <a:rPr sz="3200" spc="-405" dirty="0"/>
              <a:t>Communications  </a:t>
            </a:r>
            <a:r>
              <a:rPr sz="3200" spc="-395" dirty="0"/>
              <a:t>Protocols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07300" cy="47085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35" dirty="0">
                <a:latin typeface="Carlito"/>
                <a:cs typeface="Carlito"/>
              </a:rPr>
              <a:t>TCP/IP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dirty="0">
                <a:latin typeface="Carlito"/>
                <a:cs typeface="Carlito"/>
              </a:rPr>
              <a:t>widely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protocol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Consists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two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protocols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Transmission </a:t>
            </a:r>
            <a:r>
              <a:rPr sz="2400" spc="-15" dirty="0">
                <a:latin typeface="Carlito"/>
                <a:cs typeface="Carlito"/>
              </a:rPr>
              <a:t>Control Protocols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(TCP)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Responsible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delivery of</a:t>
            </a:r>
            <a:r>
              <a:rPr sz="2400" spc="-15" dirty="0">
                <a:latin typeface="Carlito"/>
                <a:cs typeface="Carlito"/>
              </a:rPr>
              <a:t> data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15" dirty="0">
                <a:latin typeface="Carlito"/>
                <a:cs typeface="Carlito"/>
              </a:rPr>
              <a:t>Protocols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(IP)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Provides </a:t>
            </a:r>
            <a:r>
              <a:rPr sz="2400" spc="-5" dirty="0">
                <a:latin typeface="Carlito"/>
                <a:cs typeface="Carlito"/>
              </a:rPr>
              <a:t>addresses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routing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spc="-15" dirty="0">
                <a:latin typeface="Carlito"/>
                <a:cs typeface="Carlito"/>
              </a:rPr>
              <a:t>packet </a:t>
            </a:r>
            <a:r>
              <a:rPr sz="2400" spc="-5" dirty="0">
                <a:latin typeface="Carlito"/>
                <a:cs typeface="Carlito"/>
              </a:rPr>
              <a:t>switching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transmit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5" dirty="0">
                <a:latin typeface="Carlito"/>
                <a:cs typeface="Carlito"/>
              </a:rPr>
              <a:t>TCP/IP </a:t>
            </a:r>
            <a:r>
              <a:rPr sz="2400" spc="-5" dirty="0">
                <a:latin typeface="Carlito"/>
                <a:cs typeface="Carlito"/>
              </a:rPr>
              <a:t>support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almost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 </a:t>
            </a:r>
            <a:r>
              <a:rPr sz="2400" dirty="0">
                <a:latin typeface="Carlito"/>
                <a:cs typeface="Carlito"/>
              </a:rPr>
              <a:t>and IP </a:t>
            </a:r>
            <a:r>
              <a:rPr sz="2400" spc="-5" dirty="0">
                <a:latin typeface="Carlito"/>
                <a:cs typeface="Carlito"/>
              </a:rPr>
              <a:t>addresses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identify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devices on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networks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32093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228715"/>
            <a:chOff x="0" y="0"/>
            <a:chExt cx="9144000" cy="6228715"/>
          </a:xfrm>
        </p:grpSpPr>
        <p:sp>
          <p:nvSpPr>
            <p:cNvPr id="3" name="object 3"/>
            <p:cNvSpPr/>
            <p:nvPr/>
          </p:nvSpPr>
          <p:spPr>
            <a:xfrm>
              <a:off x="971600" y="1484782"/>
              <a:ext cx="5924550" cy="47434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36332" y="2132838"/>
              <a:ext cx="1371600" cy="9048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170814"/>
            <a:ext cx="626999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370" dirty="0"/>
              <a:t>TCP/IP </a:t>
            </a:r>
            <a:r>
              <a:rPr sz="3200" spc="-360" dirty="0"/>
              <a:t>and </a:t>
            </a:r>
            <a:r>
              <a:rPr sz="3200" spc="-340" dirty="0"/>
              <a:t>Other </a:t>
            </a:r>
            <a:r>
              <a:rPr sz="3200" spc="-405" dirty="0"/>
              <a:t>Communications  </a:t>
            </a:r>
            <a:r>
              <a:rPr sz="3200" spc="-395" dirty="0"/>
              <a:t>Protocols</a:t>
            </a:r>
            <a:endParaRPr sz="32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42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403732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170814"/>
            <a:ext cx="626999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370" dirty="0"/>
              <a:t>TCP/IP </a:t>
            </a:r>
            <a:r>
              <a:rPr sz="3200" spc="-360" dirty="0"/>
              <a:t>and </a:t>
            </a:r>
            <a:r>
              <a:rPr sz="3200" spc="-340" dirty="0"/>
              <a:t>Other </a:t>
            </a:r>
            <a:r>
              <a:rPr sz="3200" spc="-405" dirty="0"/>
              <a:t>Communications  </a:t>
            </a:r>
            <a:r>
              <a:rPr sz="3200" spc="-395" dirty="0"/>
              <a:t>Protocols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6875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Protocols</a:t>
            </a:r>
            <a:endParaRPr sz="2400">
              <a:latin typeface="Carlito"/>
              <a:cs typeface="Carlito"/>
            </a:endParaRPr>
          </a:p>
          <a:p>
            <a:pPr marL="756285" marR="56642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5" dirty="0">
                <a:latin typeface="Carlito"/>
                <a:cs typeface="Carlito"/>
              </a:rPr>
              <a:t>HTTP </a:t>
            </a:r>
            <a:r>
              <a:rPr sz="2400" spc="-5" dirty="0">
                <a:latin typeface="Carlito"/>
                <a:cs typeface="Carlito"/>
              </a:rPr>
              <a:t>(Hypertext </a:t>
            </a:r>
            <a:r>
              <a:rPr sz="2400" spc="-40" dirty="0">
                <a:latin typeface="Carlito"/>
                <a:cs typeface="Carlito"/>
              </a:rPr>
              <a:t>Transfer </a:t>
            </a:r>
            <a:r>
              <a:rPr sz="2400" spc="-15" dirty="0">
                <a:latin typeface="Carlito"/>
                <a:cs typeface="Carlito"/>
              </a:rPr>
              <a:t>Protocol) </a:t>
            </a:r>
            <a:r>
              <a:rPr sz="2400" dirty="0">
                <a:latin typeface="Carlito"/>
                <a:cs typeface="Carlito"/>
              </a:rPr>
              <a:t>and HTTPS </a:t>
            </a:r>
            <a:r>
              <a:rPr sz="2400" spc="-10" dirty="0">
                <a:latin typeface="Carlito"/>
                <a:cs typeface="Carlito"/>
              </a:rPr>
              <a:t>(Secure  Hypertext </a:t>
            </a:r>
            <a:r>
              <a:rPr sz="2400" spc="-40" dirty="0">
                <a:latin typeface="Carlito"/>
                <a:cs typeface="Carlito"/>
              </a:rPr>
              <a:t>Transfer </a:t>
            </a:r>
            <a:r>
              <a:rPr sz="2400" spc="-15" dirty="0">
                <a:latin typeface="Carlito"/>
                <a:cs typeface="Carlito"/>
              </a:rPr>
              <a:t>Protocol)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display </a:t>
            </a:r>
            <a:r>
              <a:rPr sz="2400" spc="-30" dirty="0">
                <a:latin typeface="Carlito"/>
                <a:cs typeface="Carlito"/>
              </a:rPr>
              <a:t>Web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pages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FTP (File </a:t>
            </a:r>
            <a:r>
              <a:rPr sz="2400" spc="-40" dirty="0">
                <a:latin typeface="Carlito"/>
                <a:cs typeface="Carlito"/>
              </a:rPr>
              <a:t>Transfer</a:t>
            </a:r>
            <a:r>
              <a:rPr sz="2400" spc="-15" dirty="0">
                <a:latin typeface="Carlito"/>
                <a:cs typeface="Carlito"/>
              </a:rPr>
              <a:t> Protocol)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SMTP (Simple </a:t>
            </a:r>
            <a:r>
              <a:rPr sz="2400" dirty="0">
                <a:latin typeface="Carlito"/>
                <a:cs typeface="Carlito"/>
              </a:rPr>
              <a:t>Mail </a:t>
            </a:r>
            <a:r>
              <a:rPr sz="2400" spc="-40" dirty="0">
                <a:latin typeface="Carlito"/>
                <a:cs typeface="Carlito"/>
              </a:rPr>
              <a:t>Transfer </a:t>
            </a:r>
            <a:r>
              <a:rPr sz="2400" spc="-15" dirty="0">
                <a:latin typeface="Carlito"/>
                <a:cs typeface="Carlito"/>
              </a:rPr>
              <a:t>Protocol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POP3 </a:t>
            </a:r>
            <a:r>
              <a:rPr sz="2400" spc="-20" dirty="0">
                <a:latin typeface="Carlito"/>
                <a:cs typeface="Carlito"/>
              </a:rPr>
              <a:t>(Post </a:t>
            </a:r>
            <a:r>
              <a:rPr sz="2400" spc="-10" dirty="0">
                <a:latin typeface="Carlito"/>
                <a:cs typeface="Carlito"/>
              </a:rPr>
              <a:t>Office  </a:t>
            </a:r>
            <a:r>
              <a:rPr sz="2400" spc="-15" dirty="0">
                <a:latin typeface="Carlito"/>
                <a:cs typeface="Carlito"/>
              </a:rPr>
              <a:t>Protocol)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deliver </a:t>
            </a:r>
            <a:r>
              <a:rPr sz="2400" dirty="0">
                <a:latin typeface="Carlito"/>
                <a:cs typeface="Carlito"/>
              </a:rPr>
              <a:t>e-mail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770122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11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Ethernet</a:t>
            </a:r>
            <a:r>
              <a:rPr spc="-250" dirty="0"/>
              <a:t> </a:t>
            </a:r>
            <a:r>
              <a:rPr spc="-415" dirty="0"/>
              <a:t>(802.3)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22260" cy="594714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Ethernet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(802.3)</a:t>
            </a:r>
            <a:endParaRPr sz="20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Most </a:t>
            </a:r>
            <a:r>
              <a:rPr sz="2000" dirty="0">
                <a:latin typeface="Carlito"/>
                <a:cs typeface="Carlito"/>
              </a:rPr>
              <a:t>widely </a:t>
            </a:r>
            <a:r>
              <a:rPr sz="2000" spc="-5" dirty="0">
                <a:latin typeface="Carlito"/>
                <a:cs typeface="Carlito"/>
              </a:rPr>
              <a:t>used </a:t>
            </a:r>
            <a:r>
              <a:rPr sz="2000" spc="-15" dirty="0">
                <a:latin typeface="Carlito"/>
                <a:cs typeface="Carlito"/>
              </a:rPr>
              <a:t>standard </a:t>
            </a:r>
            <a:r>
              <a:rPr sz="2000" spc="-20" dirty="0">
                <a:latin typeface="Carlito"/>
                <a:cs typeface="Carlito"/>
              </a:rPr>
              <a:t>for </a:t>
            </a:r>
            <a:r>
              <a:rPr sz="2000" spc="-10" dirty="0">
                <a:latin typeface="Carlito"/>
                <a:cs typeface="Carlito"/>
              </a:rPr>
              <a:t>wired</a:t>
            </a:r>
            <a:r>
              <a:rPr sz="2000" spc="-15" dirty="0">
                <a:latin typeface="Carlito"/>
                <a:cs typeface="Carlito"/>
              </a:rPr>
              <a:t> networks</a:t>
            </a:r>
            <a:endParaRPr sz="20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5" dirty="0">
                <a:latin typeface="Carlito"/>
                <a:cs typeface="Carlito"/>
              </a:rPr>
              <a:t>Typically </a:t>
            </a:r>
            <a:r>
              <a:rPr sz="2000" spc="-5" dirty="0">
                <a:latin typeface="Carlito"/>
                <a:cs typeface="Carlito"/>
              </a:rPr>
              <a:t>used with LANs </a:t>
            </a:r>
            <a:r>
              <a:rPr sz="2000" spc="-10" dirty="0">
                <a:latin typeface="Carlito"/>
                <a:cs typeface="Carlito"/>
              </a:rPr>
              <a:t>that </a:t>
            </a:r>
            <a:r>
              <a:rPr sz="2000" spc="-20" dirty="0">
                <a:latin typeface="Carlito"/>
                <a:cs typeface="Carlito"/>
              </a:rPr>
              <a:t>have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5" dirty="0">
                <a:latin typeface="Carlito"/>
                <a:cs typeface="Carlito"/>
              </a:rPr>
              <a:t>star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topology</a:t>
            </a:r>
            <a:endParaRPr sz="20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30" dirty="0">
                <a:latin typeface="Carlito"/>
                <a:cs typeface="Carlito"/>
              </a:rPr>
              <a:t>Works </a:t>
            </a:r>
            <a:r>
              <a:rPr sz="2000" dirty="0">
                <a:latin typeface="Carlito"/>
                <a:cs typeface="Carlito"/>
              </a:rPr>
              <a:t>with </a:t>
            </a:r>
            <a:r>
              <a:rPr sz="2000" spc="-25" dirty="0">
                <a:latin typeface="Carlito"/>
                <a:cs typeface="Carlito"/>
              </a:rPr>
              <a:t>twisted-pair, </a:t>
            </a:r>
            <a:r>
              <a:rPr sz="2000" spc="-10" dirty="0">
                <a:latin typeface="Carlito"/>
                <a:cs typeface="Carlito"/>
              </a:rPr>
              <a:t>coaxial,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5" dirty="0">
                <a:latin typeface="Carlito"/>
                <a:cs typeface="Carlito"/>
              </a:rPr>
              <a:t>fiber-optic cabling</a:t>
            </a:r>
            <a:endParaRPr sz="20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Most common </a:t>
            </a:r>
            <a:r>
              <a:rPr sz="2000" spc="-20" dirty="0">
                <a:latin typeface="Carlito"/>
                <a:cs typeface="Carlito"/>
              </a:rPr>
              <a:t>today </a:t>
            </a:r>
            <a:r>
              <a:rPr sz="2000" spc="-15" dirty="0">
                <a:latin typeface="Carlito"/>
                <a:cs typeface="Carlito"/>
              </a:rPr>
              <a:t>are </a:t>
            </a:r>
            <a:r>
              <a:rPr sz="2000" spc="-25" dirty="0">
                <a:latin typeface="Carlito"/>
                <a:cs typeface="Carlito"/>
              </a:rPr>
              <a:t>Fast </a:t>
            </a:r>
            <a:r>
              <a:rPr sz="2000" spc="-5" dirty="0">
                <a:latin typeface="Carlito"/>
                <a:cs typeface="Carlito"/>
              </a:rPr>
              <a:t>Ethernet, </a:t>
            </a:r>
            <a:r>
              <a:rPr sz="2000" spc="-10" dirty="0">
                <a:latin typeface="Carlito"/>
                <a:cs typeface="Carlito"/>
              </a:rPr>
              <a:t>Gigabit</a:t>
            </a:r>
            <a:r>
              <a:rPr sz="2000" spc="-5" dirty="0">
                <a:latin typeface="Carlito"/>
                <a:cs typeface="Carlito"/>
              </a:rPr>
              <a:t> Ethernet,</a:t>
            </a:r>
            <a:r>
              <a:rPr lang="en-US" sz="2000" spc="-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and 10 </a:t>
            </a:r>
            <a:r>
              <a:rPr sz="2000" spc="-10" dirty="0">
                <a:latin typeface="Carlito"/>
                <a:cs typeface="Carlito"/>
              </a:rPr>
              <a:t>Gigabit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Ethernet</a:t>
            </a:r>
            <a:endParaRPr lang="en-US" sz="2000" spc="-5" dirty="0">
              <a:latin typeface="Carlito"/>
              <a:cs typeface="Carlito"/>
            </a:endParaRPr>
          </a:p>
          <a:p>
            <a:pPr marL="756285" marR="288925" lvl="1" indent="-287020"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GB" sz="2000" spc="-20" dirty="0">
                <a:latin typeface="Carlito"/>
                <a:cs typeface="Carlito"/>
              </a:rPr>
              <a:t>Power </a:t>
            </a:r>
            <a:r>
              <a:rPr lang="en-GB" sz="2000" spc="-15" dirty="0">
                <a:latin typeface="Carlito"/>
                <a:cs typeface="Carlito"/>
              </a:rPr>
              <a:t>over </a:t>
            </a:r>
            <a:r>
              <a:rPr lang="en-GB" sz="2000" spc="-5" dirty="0">
                <a:latin typeface="Carlito"/>
                <a:cs typeface="Carlito"/>
              </a:rPr>
              <a:t>Ethernet</a:t>
            </a:r>
            <a:r>
              <a:rPr lang="en-GB" sz="2000" spc="20" dirty="0">
                <a:latin typeface="Carlito"/>
                <a:cs typeface="Carlito"/>
              </a:rPr>
              <a:t> </a:t>
            </a:r>
            <a:r>
              <a:rPr lang="en-GB" sz="2000" spc="-15" dirty="0">
                <a:latin typeface="Carlito"/>
                <a:cs typeface="Carlito"/>
              </a:rPr>
              <a:t>(</a:t>
            </a:r>
            <a:r>
              <a:rPr lang="en-GB" sz="2000" spc="-15" dirty="0" err="1">
                <a:latin typeface="Carlito"/>
                <a:cs typeface="Carlito"/>
              </a:rPr>
              <a:t>PoE</a:t>
            </a:r>
            <a:r>
              <a:rPr lang="en-GB" sz="2000" spc="-15" dirty="0">
                <a:latin typeface="Carlito"/>
                <a:cs typeface="Carlito"/>
              </a:rPr>
              <a:t>) (device gets both power and network connection info on a single cable.)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000" spc="-5" dirty="0">
                <a:latin typeface="Carlito"/>
                <a:cs typeface="Carlito"/>
              </a:rPr>
              <a:t>G.hn protocol</a:t>
            </a:r>
            <a:endParaRPr lang="en-US" sz="20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000" spc="-5" dirty="0">
                <a:latin typeface="Carlito"/>
                <a:cs typeface="Carlito"/>
              </a:rPr>
              <a:t>e</a:t>
            </a:r>
            <a:r>
              <a:rPr lang="en-US" sz="2000" spc="-10" dirty="0">
                <a:latin typeface="Carlito"/>
                <a:cs typeface="Carlito"/>
              </a:rPr>
              <a:t>xisting </a:t>
            </a:r>
            <a:r>
              <a:rPr lang="en-US" sz="2000" spc="-5" dirty="0">
                <a:latin typeface="Carlito"/>
                <a:cs typeface="Carlito"/>
              </a:rPr>
              <a:t>home </a:t>
            </a:r>
            <a:r>
              <a:rPr lang="en-US" sz="2000" spc="-25" dirty="0">
                <a:latin typeface="Carlito"/>
                <a:cs typeface="Carlito"/>
              </a:rPr>
              <a:t>wiring</a:t>
            </a:r>
            <a:r>
              <a:rPr lang="en-US" sz="2000" spc="-25" dirty="0">
                <a:latin typeface="Arial"/>
                <a:cs typeface="Arial"/>
              </a:rPr>
              <a:t>—</a:t>
            </a:r>
            <a:r>
              <a:rPr lang="en-US" sz="2000" spc="-25" dirty="0">
                <a:latin typeface="Carlito"/>
                <a:cs typeface="Carlito"/>
              </a:rPr>
              <a:t>phone </a:t>
            </a:r>
            <a:r>
              <a:rPr lang="en-US" sz="2000" dirty="0">
                <a:latin typeface="Carlito"/>
                <a:cs typeface="Carlito"/>
              </a:rPr>
              <a:t>lines, </a:t>
            </a:r>
            <a:r>
              <a:rPr lang="en-US" sz="2000" spc="-15" dirty="0">
                <a:latin typeface="Carlito"/>
                <a:cs typeface="Carlito"/>
              </a:rPr>
              <a:t>power </a:t>
            </a:r>
            <a:r>
              <a:rPr lang="en-US" sz="2000" dirty="0">
                <a:latin typeface="Carlito"/>
                <a:cs typeface="Carlito"/>
              </a:rPr>
              <a:t>lines,  and </a:t>
            </a:r>
            <a:r>
              <a:rPr lang="en-US" sz="2000" spc="-10" dirty="0">
                <a:latin typeface="Carlito"/>
                <a:cs typeface="Carlito"/>
              </a:rPr>
              <a:t>coaxial</a:t>
            </a:r>
            <a:r>
              <a:rPr lang="en-US" sz="2000" spc="-35" dirty="0">
                <a:latin typeface="Carlito"/>
                <a:cs typeface="Carlito"/>
              </a:rPr>
              <a:t> </a:t>
            </a:r>
            <a:r>
              <a:rPr lang="en-US" sz="2000" spc="-5" dirty="0">
                <a:latin typeface="Carlito"/>
                <a:cs typeface="Carlito"/>
              </a:rPr>
              <a:t>cable</a:t>
            </a:r>
            <a:endParaRPr lang="en-US" sz="20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000" spc="-10" dirty="0">
                <a:latin typeface="Carlito"/>
                <a:cs typeface="Carlito"/>
              </a:rPr>
              <a:t>Broadband </a:t>
            </a:r>
            <a:r>
              <a:rPr lang="en-US" sz="2000" spc="-15" dirty="0">
                <a:latin typeface="Carlito"/>
                <a:cs typeface="Carlito"/>
              </a:rPr>
              <a:t>over </a:t>
            </a:r>
            <a:r>
              <a:rPr lang="en-US" sz="2000" spc="-15" dirty="0" err="1">
                <a:latin typeface="Carlito"/>
                <a:cs typeface="Carlito"/>
              </a:rPr>
              <a:t>Powerline</a:t>
            </a:r>
            <a:r>
              <a:rPr lang="en-US" sz="2000" spc="15" dirty="0">
                <a:latin typeface="Carlito"/>
                <a:cs typeface="Carlito"/>
              </a:rPr>
              <a:t> </a:t>
            </a:r>
            <a:r>
              <a:rPr lang="en-US" sz="2000" spc="-5" dirty="0">
                <a:latin typeface="Carlito"/>
                <a:cs typeface="Carlito"/>
              </a:rPr>
              <a:t>(BPL)</a:t>
            </a:r>
          </a:p>
          <a:p>
            <a:pPr marL="812800" lvl="2" indent="-343535"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000" spc="-5" dirty="0">
                <a:latin typeface="Carlito"/>
                <a:cs typeface="Carlito"/>
              </a:rPr>
              <a:t>Designed </a:t>
            </a:r>
            <a:r>
              <a:rPr lang="en-US" sz="2000" spc="-15" dirty="0">
                <a:latin typeface="Carlito"/>
                <a:cs typeface="Carlito"/>
              </a:rPr>
              <a:t>to </a:t>
            </a:r>
            <a:r>
              <a:rPr lang="en-US" sz="2000" spc="-10" dirty="0">
                <a:latin typeface="Carlito"/>
                <a:cs typeface="Carlito"/>
              </a:rPr>
              <a:t>deliver broadband Internet </a:t>
            </a:r>
            <a:r>
              <a:rPr lang="en-US" sz="2000" spc="-15" dirty="0">
                <a:latin typeface="Carlito"/>
                <a:cs typeface="Carlito"/>
              </a:rPr>
              <a:t>to </a:t>
            </a:r>
            <a:r>
              <a:rPr lang="en-US" sz="2000" spc="-5" dirty="0">
                <a:latin typeface="Carlito"/>
                <a:cs typeface="Carlito"/>
              </a:rPr>
              <a:t>homes via</a:t>
            </a:r>
            <a:r>
              <a:rPr lang="en-US" sz="2000" spc="25" dirty="0">
                <a:latin typeface="Carlito"/>
                <a:cs typeface="Carlito"/>
              </a:rPr>
              <a:t> </a:t>
            </a:r>
            <a:r>
              <a:rPr lang="en-US" sz="2000" dirty="0">
                <a:latin typeface="Carlito"/>
                <a:cs typeface="Carlito"/>
              </a:rPr>
              <a:t>the </a:t>
            </a:r>
            <a:r>
              <a:rPr lang="en-US" sz="2000" spc="-10" dirty="0">
                <a:latin typeface="Carlito"/>
                <a:cs typeface="Carlito"/>
              </a:rPr>
              <a:t>existing outdoor power</a:t>
            </a:r>
            <a:r>
              <a:rPr lang="en-US" sz="2000" spc="-15" dirty="0">
                <a:latin typeface="Carlito"/>
                <a:cs typeface="Carlito"/>
              </a:rPr>
              <a:t> </a:t>
            </a:r>
            <a:r>
              <a:rPr lang="en-US" sz="2000" dirty="0">
                <a:latin typeface="Carlito"/>
                <a:cs typeface="Carlito"/>
              </a:rPr>
              <a:t>lines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lang="en-US" sz="2000" dirty="0">
              <a:latin typeface="Carlito"/>
              <a:cs typeface="Carlito"/>
            </a:endParaRPr>
          </a:p>
          <a:p>
            <a:pPr marL="756285" marR="288925" lvl="1" indent="-287020"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endParaRPr lang="en-GB" sz="2000" dirty="0">
              <a:latin typeface="Carlito"/>
              <a:cs typeface="Carlito"/>
            </a:endParaRPr>
          </a:p>
          <a:p>
            <a:pPr marL="756285" marR="28892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endParaRPr sz="2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7004881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454863"/>
            <a:ext cx="3212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Ethernet</a:t>
            </a:r>
            <a:r>
              <a:rPr spc="-280" dirty="0"/>
              <a:t> </a:t>
            </a:r>
            <a:r>
              <a:rPr spc="-415" dirty="0"/>
              <a:t>(802.3)</a:t>
            </a:r>
          </a:p>
        </p:txBody>
      </p:sp>
      <p:sp>
        <p:nvSpPr>
          <p:cNvPr id="3" name="object 3"/>
          <p:cNvSpPr/>
          <p:nvPr/>
        </p:nvSpPr>
        <p:spPr>
          <a:xfrm>
            <a:off x="1187627" y="1628800"/>
            <a:ext cx="6660704" cy="41270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55972" y="5805258"/>
            <a:ext cx="1533778" cy="45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4820680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436575"/>
            <a:ext cx="581368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Ethernet</a:t>
            </a:r>
            <a:r>
              <a:rPr spc="-280" dirty="0"/>
              <a:t> </a:t>
            </a:r>
            <a:r>
              <a:rPr spc="-415" dirty="0"/>
              <a:t>(</a:t>
            </a:r>
            <a:r>
              <a:rPr spc="-415"/>
              <a:t>802.3)</a:t>
            </a:r>
            <a:r>
              <a:rPr lang="en-US" spc="-415" dirty="0"/>
              <a:t> </a:t>
            </a:r>
            <a:r>
              <a:rPr lang="en-US" spc="-415" dirty="0" err="1"/>
              <a:t>PoE</a:t>
            </a:r>
            <a:endParaRPr spc="-415" dirty="0"/>
          </a:p>
        </p:txBody>
      </p:sp>
      <p:sp>
        <p:nvSpPr>
          <p:cNvPr id="3" name="object 3"/>
          <p:cNvSpPr/>
          <p:nvPr/>
        </p:nvSpPr>
        <p:spPr>
          <a:xfrm>
            <a:off x="1034859" y="1747520"/>
            <a:ext cx="6520048" cy="36823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08342" y="5661253"/>
            <a:ext cx="1308988" cy="359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46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7388853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814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Wi-Fi</a:t>
            </a:r>
            <a:r>
              <a:rPr spc="-295" dirty="0"/>
              <a:t> </a:t>
            </a:r>
            <a:r>
              <a:rPr spc="-420" dirty="0"/>
              <a:t>(802.11)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245860" cy="470962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Wi-Fi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(802.11)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family </a:t>
            </a:r>
            <a:r>
              <a:rPr sz="2400" spc="-5" dirty="0">
                <a:latin typeface="Carlito"/>
                <a:cs typeface="Carlito"/>
              </a:rPr>
              <a:t>of wireless </a:t>
            </a:r>
            <a:r>
              <a:rPr sz="2400" spc="-10" dirty="0">
                <a:latin typeface="Carlito"/>
                <a:cs typeface="Carlito"/>
              </a:rPr>
              <a:t>networking  standards </a:t>
            </a:r>
            <a:r>
              <a:rPr sz="2400" spc="-5" dirty="0">
                <a:latin typeface="Carlito"/>
                <a:cs typeface="Carlito"/>
              </a:rPr>
              <a:t>using IEEE </a:t>
            </a:r>
            <a:r>
              <a:rPr sz="2400" spc="-15" dirty="0">
                <a:latin typeface="Carlito"/>
                <a:cs typeface="Carlito"/>
              </a:rPr>
              <a:t>standard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802.11</a:t>
            </a:r>
            <a:endParaRPr sz="2400">
              <a:latin typeface="Carlito"/>
              <a:cs typeface="Carlito"/>
            </a:endParaRPr>
          </a:p>
          <a:p>
            <a:pPr marL="756285" marR="830580" lvl="1" indent="-287020">
              <a:lnSpc>
                <a:spcPts val="2590"/>
              </a:lnSpc>
              <a:spcBef>
                <a:spcPts val="57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15" dirty="0">
                <a:latin typeface="Carlito"/>
                <a:cs typeface="Carlito"/>
              </a:rPr>
              <a:t>standard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wireless  networks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homes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offices  </a:t>
            </a:r>
            <a:r>
              <a:rPr sz="2400" spc="-5" dirty="0">
                <a:latin typeface="Carlito"/>
                <a:cs typeface="Carlito"/>
              </a:rPr>
              <a:t>(wireless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Ethernet)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ts val="2735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many everyday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objects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spc="-20" dirty="0">
                <a:latin typeface="Carlito"/>
                <a:cs typeface="Carlito"/>
              </a:rPr>
              <a:t>today</a:t>
            </a:r>
            <a:endParaRPr sz="2400">
              <a:latin typeface="Carlito"/>
              <a:cs typeface="Carlito"/>
            </a:endParaRPr>
          </a:p>
          <a:p>
            <a:pPr marL="756285" marR="499109" lvl="1" indent="-287020">
              <a:lnSpc>
                <a:spcPct val="9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medium-range  transmission; speed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distance  </a:t>
            </a:r>
            <a:r>
              <a:rPr sz="2400" spc="-5" dirty="0">
                <a:latin typeface="Carlito"/>
                <a:cs typeface="Carlito"/>
              </a:rPr>
              <a:t>depends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Wi-Fi </a:t>
            </a:r>
            <a:r>
              <a:rPr sz="2400" spc="-15" dirty="0">
                <a:latin typeface="Carlito"/>
                <a:cs typeface="Carlito"/>
              </a:rPr>
              <a:t>standard </a:t>
            </a:r>
            <a:r>
              <a:rPr sz="2400" spc="-5" dirty="0">
                <a:latin typeface="Carlito"/>
                <a:cs typeface="Carlito"/>
              </a:rPr>
              <a:t>being  used, solid objects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60" dirty="0">
                <a:latin typeface="Carlito"/>
                <a:cs typeface="Carlito"/>
              </a:rPr>
              <a:t>way,  </a:t>
            </a:r>
            <a:r>
              <a:rPr sz="2400" spc="-10" dirty="0">
                <a:latin typeface="Carlito"/>
                <a:cs typeface="Carlito"/>
              </a:rPr>
              <a:t>interference,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81799" y="1752599"/>
            <a:ext cx="2319909" cy="4518787"/>
            <a:chOff x="6084189" y="1484757"/>
            <a:chExt cx="3017520" cy="4786630"/>
          </a:xfrm>
        </p:grpSpPr>
        <p:sp>
          <p:nvSpPr>
            <p:cNvPr id="5" name="object 5"/>
            <p:cNvSpPr/>
            <p:nvPr/>
          </p:nvSpPr>
          <p:spPr>
            <a:xfrm>
              <a:off x="6084189" y="2461221"/>
              <a:ext cx="2952749" cy="3810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96378" y="1484757"/>
              <a:ext cx="1504950" cy="10382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5636753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Technology </a:t>
            </a:r>
            <a:r>
              <a:rPr spc="-405" dirty="0"/>
              <a:t>and </a:t>
            </a:r>
            <a:r>
              <a:rPr spc="-490" dirty="0"/>
              <a:t>You</a:t>
            </a:r>
            <a:r>
              <a:rPr spc="95" dirty="0"/>
              <a:t> </a:t>
            </a:r>
            <a:r>
              <a:rPr spc="-600" dirty="0"/>
              <a:t>Box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7558" y="1752600"/>
            <a:ext cx="8229600" cy="396454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675"/>
              </a:spcBef>
            </a:pPr>
            <a:r>
              <a:rPr sz="2800" spc="-5" dirty="0"/>
              <a:t>Wi-Fi </a:t>
            </a:r>
            <a:r>
              <a:rPr sz="2800" dirty="0"/>
              <a:t>SD</a:t>
            </a:r>
            <a:r>
              <a:rPr sz="2800" spc="-15" dirty="0"/>
              <a:t> </a:t>
            </a:r>
            <a:r>
              <a:rPr sz="2800" spc="-10" dirty="0"/>
              <a:t>Cards</a:t>
            </a:r>
          </a:p>
          <a:p>
            <a:pPr marL="80073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801370" algn="l"/>
              </a:tabLst>
            </a:pPr>
            <a:r>
              <a:rPr sz="2800" b="0" spc="-5" dirty="0">
                <a:latin typeface="Carlito"/>
                <a:cs typeface="Carlito"/>
              </a:rPr>
              <a:t>Upload </a:t>
            </a:r>
            <a:r>
              <a:rPr sz="2800" b="0" spc="-10" dirty="0">
                <a:latin typeface="Carlito"/>
                <a:cs typeface="Carlito"/>
              </a:rPr>
              <a:t>photos </a:t>
            </a:r>
            <a:r>
              <a:rPr sz="2800" b="0" spc="-5" dirty="0">
                <a:latin typeface="Carlito"/>
                <a:cs typeface="Carlito"/>
              </a:rPr>
              <a:t>wirelessly </a:t>
            </a:r>
            <a:r>
              <a:rPr sz="2800" b="0" dirty="0">
                <a:latin typeface="Carlito"/>
                <a:cs typeface="Carlito"/>
              </a:rPr>
              <a:t>and </a:t>
            </a:r>
            <a:r>
              <a:rPr lang="en-US" sz="2800" b="0" dirty="0">
                <a:latin typeface="Carlito"/>
                <a:cs typeface="Carlito"/>
              </a:rPr>
              <a:t>a</a:t>
            </a:r>
            <a:r>
              <a:rPr sz="2800" b="0" spc="-10" dirty="0">
                <a:latin typeface="Carlito"/>
                <a:cs typeface="Carlito"/>
              </a:rPr>
              <a:t>utomatically </a:t>
            </a:r>
            <a:r>
              <a:rPr sz="2800" b="0" spc="-15" dirty="0">
                <a:latin typeface="Carlito"/>
                <a:cs typeface="Carlito"/>
              </a:rPr>
              <a:t>from camera to  </a:t>
            </a:r>
            <a:r>
              <a:rPr sz="2800" b="0" spc="-30" dirty="0">
                <a:latin typeface="Carlito"/>
                <a:cs typeface="Carlito"/>
              </a:rPr>
              <a:t>computer, </a:t>
            </a:r>
            <a:r>
              <a:rPr sz="2800" b="0" spc="-5" dirty="0">
                <a:latin typeface="Carlito"/>
                <a:cs typeface="Carlito"/>
              </a:rPr>
              <a:t>mobile device, </a:t>
            </a:r>
            <a:r>
              <a:rPr sz="2800" b="0" spc="-10" dirty="0">
                <a:latin typeface="Carlito"/>
                <a:cs typeface="Carlito"/>
              </a:rPr>
              <a:t>or </a:t>
            </a:r>
            <a:r>
              <a:rPr sz="2800" b="0" dirty="0">
                <a:latin typeface="Carlito"/>
                <a:cs typeface="Carlito"/>
              </a:rPr>
              <a:t>cloud </a:t>
            </a:r>
            <a:r>
              <a:rPr sz="2800" b="0" spc="-10" dirty="0">
                <a:latin typeface="Carlito"/>
                <a:cs typeface="Carlito"/>
              </a:rPr>
              <a:t>photo</a:t>
            </a:r>
            <a:r>
              <a:rPr sz="2800" b="0" spc="-30" dirty="0">
                <a:latin typeface="Carlito"/>
                <a:cs typeface="Carlito"/>
              </a:rPr>
              <a:t> </a:t>
            </a:r>
            <a:r>
              <a:rPr sz="2800" b="0" dirty="0">
                <a:latin typeface="Carlito"/>
                <a:cs typeface="Carlito"/>
              </a:rPr>
              <a:t>service</a:t>
            </a:r>
          </a:p>
          <a:p>
            <a:pPr marL="80073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801370" algn="l"/>
              </a:tabLst>
            </a:pPr>
            <a:r>
              <a:rPr sz="2800" b="0" spc="-5" dirty="0">
                <a:latin typeface="Carlito"/>
                <a:cs typeface="Carlito"/>
              </a:rPr>
              <a:t>Some </a:t>
            </a:r>
            <a:r>
              <a:rPr sz="2800" b="0" dirty="0">
                <a:latin typeface="Carlito"/>
                <a:cs typeface="Carlito"/>
              </a:rPr>
              <a:t>include </a:t>
            </a:r>
            <a:r>
              <a:rPr sz="2800" b="0" spc="-10" dirty="0">
                <a:latin typeface="Carlito"/>
                <a:cs typeface="Carlito"/>
              </a:rPr>
              <a:t>location</a:t>
            </a:r>
            <a:r>
              <a:rPr sz="2800" b="0" spc="-40" dirty="0">
                <a:latin typeface="Carlito"/>
                <a:cs typeface="Carlito"/>
              </a:rPr>
              <a:t> </a:t>
            </a:r>
            <a:r>
              <a:rPr sz="2800" b="0" spc="-10" dirty="0">
                <a:latin typeface="Carlito"/>
                <a:cs typeface="Carlito"/>
              </a:rPr>
              <a:t>information</a:t>
            </a:r>
          </a:p>
          <a:p>
            <a:pPr marL="80073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801370" algn="l"/>
              </a:tabLst>
            </a:pPr>
            <a:r>
              <a:rPr sz="2800" b="0" spc="-5" dirty="0">
                <a:latin typeface="Carlito"/>
                <a:cs typeface="Carlito"/>
              </a:rPr>
              <a:t>Some </a:t>
            </a:r>
            <a:r>
              <a:rPr sz="2800" b="0" spc="-15" dirty="0">
                <a:latin typeface="Carlito"/>
                <a:cs typeface="Carlito"/>
              </a:rPr>
              <a:t>sync </a:t>
            </a:r>
            <a:r>
              <a:rPr sz="2800" b="0" spc="-10" dirty="0">
                <a:latin typeface="Carlito"/>
                <a:cs typeface="Carlito"/>
              </a:rPr>
              <a:t>photos </a:t>
            </a:r>
            <a:r>
              <a:rPr sz="2800" b="0" dirty="0">
                <a:latin typeface="Carlito"/>
                <a:cs typeface="Carlito"/>
              </a:rPr>
              <a:t>and videos </a:t>
            </a:r>
            <a:r>
              <a:rPr sz="2800" b="0" spc="-15" dirty="0">
                <a:latin typeface="Carlito"/>
                <a:cs typeface="Carlito"/>
              </a:rPr>
              <a:t>to </a:t>
            </a:r>
            <a:r>
              <a:rPr sz="2800" b="0" spc="-5" dirty="0">
                <a:latin typeface="Carlito"/>
                <a:cs typeface="Carlito"/>
              </a:rPr>
              <a:t>cloud</a:t>
            </a:r>
            <a:r>
              <a:rPr sz="2800" b="0" spc="-35" dirty="0">
                <a:latin typeface="Carlito"/>
                <a:cs typeface="Carlito"/>
              </a:rPr>
              <a:t> </a:t>
            </a:r>
            <a:r>
              <a:rPr sz="2800" b="0" spc="-10" dirty="0">
                <a:latin typeface="Carlito"/>
                <a:cs typeface="Carlito"/>
              </a:rPr>
              <a:t>account</a:t>
            </a:r>
          </a:p>
          <a:p>
            <a:pPr marL="80073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801370" algn="l"/>
              </a:tabLst>
            </a:pPr>
            <a:r>
              <a:rPr sz="2800" b="0" spc="-5" dirty="0">
                <a:latin typeface="Carlito"/>
                <a:cs typeface="Carlito"/>
              </a:rPr>
              <a:t>Can </a:t>
            </a:r>
            <a:r>
              <a:rPr sz="2800" b="0" spc="-10" dirty="0">
                <a:latin typeface="Carlito"/>
                <a:cs typeface="Carlito"/>
              </a:rPr>
              <a:t>share photos </a:t>
            </a:r>
            <a:r>
              <a:rPr sz="2800" b="0" spc="-5" dirty="0">
                <a:latin typeface="Carlito"/>
                <a:cs typeface="Carlito"/>
              </a:rPr>
              <a:t>quickly </a:t>
            </a:r>
            <a:r>
              <a:rPr sz="2800" b="0" dirty="0">
                <a:latin typeface="Carlito"/>
                <a:cs typeface="Carlito"/>
              </a:rPr>
              <a:t>with </a:t>
            </a:r>
            <a:r>
              <a:rPr sz="2800" b="0" spc="-10" dirty="0">
                <a:latin typeface="Carlito"/>
                <a:cs typeface="Carlito"/>
              </a:rPr>
              <a:t>others </a:t>
            </a:r>
            <a:r>
              <a:rPr sz="2800" b="0" dirty="0">
                <a:latin typeface="Carlito"/>
                <a:cs typeface="Carlito"/>
              </a:rPr>
              <a:t>as </a:t>
            </a:r>
            <a:r>
              <a:rPr sz="2800" b="0" spc="-10" dirty="0">
                <a:latin typeface="Carlito"/>
                <a:cs typeface="Carlito"/>
              </a:rPr>
              <a:t>well </a:t>
            </a:r>
            <a:r>
              <a:rPr sz="2800" b="0" dirty="0">
                <a:latin typeface="Carlito"/>
                <a:cs typeface="Carlito"/>
              </a:rPr>
              <a:t>as</a:t>
            </a:r>
            <a:r>
              <a:rPr sz="2800" b="0" spc="-65" dirty="0">
                <a:latin typeface="Carlito"/>
                <a:cs typeface="Carlito"/>
              </a:rPr>
              <a:t> </a:t>
            </a:r>
            <a:r>
              <a:rPr sz="2800" b="0" spc="-20" dirty="0">
                <a:latin typeface="Carlito"/>
                <a:cs typeface="Carlito"/>
              </a:rPr>
              <a:t>have</a:t>
            </a:r>
            <a:r>
              <a:rPr lang="en-US" sz="2800" b="0" spc="-20" dirty="0">
                <a:latin typeface="Carlito"/>
                <a:cs typeface="Carlito"/>
              </a:rPr>
              <a:t> </a:t>
            </a:r>
            <a:r>
              <a:rPr sz="2800" b="0" spc="-10" dirty="0">
                <a:latin typeface="Carlito"/>
                <a:cs typeface="Carlito"/>
              </a:rPr>
              <a:t>backups</a:t>
            </a:r>
          </a:p>
        </p:txBody>
      </p:sp>
      <p:sp>
        <p:nvSpPr>
          <p:cNvPr id="4" name="object 4"/>
          <p:cNvSpPr/>
          <p:nvPr/>
        </p:nvSpPr>
        <p:spPr>
          <a:xfrm>
            <a:off x="6217390" y="1524000"/>
            <a:ext cx="2614041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48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0636642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814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Wi-Fi</a:t>
            </a:r>
            <a:r>
              <a:rPr spc="-295" dirty="0"/>
              <a:t> </a:t>
            </a:r>
            <a:r>
              <a:rPr spc="-420" dirty="0"/>
              <a:t>(802.11)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7537" y="1556766"/>
            <a:ext cx="8549640" cy="5093335"/>
            <a:chOff x="467537" y="1556766"/>
            <a:chExt cx="8549640" cy="5093335"/>
          </a:xfrm>
        </p:grpSpPr>
        <p:sp>
          <p:nvSpPr>
            <p:cNvPr id="4" name="object 4"/>
            <p:cNvSpPr/>
            <p:nvPr/>
          </p:nvSpPr>
          <p:spPr>
            <a:xfrm>
              <a:off x="467537" y="1772818"/>
              <a:ext cx="7953375" cy="4876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6377" y="1556766"/>
              <a:ext cx="1420622" cy="6400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49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131077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5813299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WiMAX</a:t>
            </a:r>
            <a:r>
              <a:rPr spc="-260" dirty="0"/>
              <a:t> </a:t>
            </a:r>
            <a:r>
              <a:rPr spc="-425" dirty="0"/>
              <a:t>(802.16)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5100" cy="46878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WiMAX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(802.16)</a:t>
            </a:r>
            <a:endParaRPr sz="2400" dirty="0">
              <a:latin typeface="Carlito"/>
              <a:cs typeface="Carlito"/>
            </a:endParaRPr>
          </a:p>
          <a:p>
            <a:pPr marL="756285" marR="11988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Standards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longer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wireless</a:t>
            </a:r>
            <a:r>
              <a:rPr lang="en-US"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networking  connections, </a:t>
            </a:r>
            <a:r>
              <a:rPr sz="2400" spc="-5" dirty="0">
                <a:latin typeface="Carlito"/>
                <a:cs typeface="Carlito"/>
              </a:rPr>
              <a:t>typically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MANs</a:t>
            </a: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Fixed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WiMAX</a:t>
            </a:r>
          </a:p>
          <a:p>
            <a:pPr marL="1155700" marR="3606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Internet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fixed </a:t>
            </a:r>
            <a:r>
              <a:rPr sz="2400" spc="-10" dirty="0">
                <a:latin typeface="Carlito"/>
                <a:cs typeface="Carlito"/>
              </a:rPr>
              <a:t>locations  (hotzones)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Typical </a:t>
            </a:r>
            <a:r>
              <a:rPr sz="2400" spc="-15" dirty="0">
                <a:latin typeface="Carlito"/>
                <a:cs typeface="Carlito"/>
              </a:rPr>
              <a:t>hotzone </a:t>
            </a:r>
            <a:r>
              <a:rPr sz="2400" spc="-10" dirty="0">
                <a:latin typeface="Carlito"/>
                <a:cs typeface="Carlito"/>
              </a:rPr>
              <a:t>radius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between </a:t>
            </a:r>
            <a:r>
              <a:rPr sz="2400" dirty="0">
                <a:latin typeface="Carlito"/>
                <a:cs typeface="Carlito"/>
              </a:rPr>
              <a:t>2 and 6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miles</a:t>
            </a: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Possible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</a:t>
            </a:r>
            <a:r>
              <a:rPr sz="2400" spc="-20" dirty="0">
                <a:latin typeface="Carlito"/>
                <a:cs typeface="Carlito"/>
              </a:rPr>
              <a:t>coverage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entire </a:t>
            </a:r>
            <a:r>
              <a:rPr sz="2400" dirty="0">
                <a:latin typeface="Carlito"/>
                <a:cs typeface="Carlito"/>
              </a:rPr>
              <a:t>city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using  </a:t>
            </a:r>
            <a:r>
              <a:rPr sz="2400" dirty="0">
                <a:latin typeface="Carlito"/>
                <a:cs typeface="Carlito"/>
              </a:rPr>
              <a:t>multiple WiMAX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towers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Mobile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WiMAX</a:t>
            </a: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Mobile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standard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8773803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0" y="382651"/>
            <a:ext cx="3374899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WiMAX</a:t>
            </a:r>
            <a:r>
              <a:rPr spc="-260" dirty="0"/>
              <a:t> </a:t>
            </a:r>
            <a:r>
              <a:rPr spc="-425" dirty="0"/>
              <a:t>(802.16)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7537" y="1700783"/>
            <a:ext cx="8480425" cy="4349115"/>
            <a:chOff x="467537" y="1700783"/>
            <a:chExt cx="8480425" cy="4349115"/>
          </a:xfrm>
        </p:grpSpPr>
        <p:sp>
          <p:nvSpPr>
            <p:cNvPr id="4" name="object 4"/>
            <p:cNvSpPr/>
            <p:nvPr/>
          </p:nvSpPr>
          <p:spPr>
            <a:xfrm>
              <a:off x="467537" y="1700783"/>
              <a:ext cx="6938899" cy="32918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80350" y="4221086"/>
              <a:ext cx="1567560" cy="18288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51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575188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670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Cellular</a:t>
            </a:r>
            <a:r>
              <a:rPr spc="-295" dirty="0"/>
              <a:t> </a:t>
            </a:r>
            <a:r>
              <a:rPr spc="-465" dirty="0"/>
              <a:t>Standards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54595" cy="44157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Cellular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Standards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First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Generation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Analog and </a:t>
            </a:r>
            <a:r>
              <a:rPr sz="2400" spc="-10" dirty="0">
                <a:latin typeface="Carlito"/>
                <a:cs typeface="Carlito"/>
              </a:rPr>
              <a:t>voice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only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2G </a:t>
            </a:r>
            <a:r>
              <a:rPr sz="2400" spc="-5" dirty="0">
                <a:latin typeface="Carlito"/>
                <a:cs typeface="Carlito"/>
              </a:rPr>
              <a:t>(Second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Generation)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Digital, </a:t>
            </a:r>
            <a:r>
              <a:rPr sz="2400" spc="-5" dirty="0">
                <a:latin typeface="Carlito"/>
                <a:cs typeface="Carlito"/>
              </a:rPr>
              <a:t>both </a:t>
            </a:r>
            <a:r>
              <a:rPr sz="2400" spc="-10" dirty="0">
                <a:latin typeface="Carlito"/>
                <a:cs typeface="Carlito"/>
              </a:rPr>
              <a:t>voice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data,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faster</a:t>
            </a:r>
            <a:endParaRPr sz="2400">
              <a:latin typeface="Carlito"/>
              <a:cs typeface="Carlito"/>
            </a:endParaRPr>
          </a:p>
          <a:p>
            <a:pPr marL="353060" marR="4208780" lvl="1" indent="-353060" algn="r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353060" algn="l"/>
                <a:tab pos="353695" algn="l"/>
              </a:tabLst>
            </a:pPr>
            <a:r>
              <a:rPr sz="2400" dirty="0">
                <a:latin typeface="Carlito"/>
                <a:cs typeface="Carlito"/>
              </a:rPr>
              <a:t>3G and </a:t>
            </a:r>
            <a:r>
              <a:rPr sz="2400" spc="-10" dirty="0">
                <a:latin typeface="Carlito"/>
                <a:cs typeface="Carlito"/>
              </a:rPr>
              <a:t>4G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networks</a:t>
            </a:r>
            <a:endParaRPr sz="2400">
              <a:latin typeface="Carlito"/>
              <a:cs typeface="Carlito"/>
            </a:endParaRPr>
          </a:p>
          <a:p>
            <a:pPr marL="228600" marR="4172585" lvl="2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0" dirty="0">
                <a:latin typeface="Carlito"/>
                <a:cs typeface="Carlito"/>
              </a:rPr>
              <a:t>Current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standards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15" dirty="0">
                <a:latin typeface="Carlito"/>
                <a:cs typeface="Carlito"/>
              </a:rPr>
              <a:t>packet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switching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3G </a:t>
            </a:r>
            <a:r>
              <a:rPr sz="2400" spc="-5" dirty="0">
                <a:latin typeface="Carlito"/>
                <a:cs typeface="Carlito"/>
              </a:rPr>
              <a:t>speeds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between </a:t>
            </a:r>
            <a:r>
              <a:rPr sz="2400" dirty="0">
                <a:latin typeface="Carlito"/>
                <a:cs typeface="Carlito"/>
              </a:rPr>
              <a:t>1 and 4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Mbps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4G </a:t>
            </a:r>
            <a:r>
              <a:rPr sz="2400" spc="-5" dirty="0">
                <a:latin typeface="Carlito"/>
                <a:cs typeface="Carlito"/>
              </a:rPr>
              <a:t>speeds </a:t>
            </a:r>
            <a:r>
              <a:rPr sz="2400" spc="-10" dirty="0">
                <a:latin typeface="Carlito"/>
                <a:cs typeface="Carlito"/>
              </a:rPr>
              <a:t>currently </a:t>
            </a:r>
            <a:r>
              <a:rPr sz="2400" spc="-15" dirty="0">
                <a:latin typeface="Carlito"/>
                <a:cs typeface="Carlito"/>
              </a:rPr>
              <a:t>range from </a:t>
            </a:r>
            <a:r>
              <a:rPr sz="2400" dirty="0">
                <a:latin typeface="Carlito"/>
                <a:cs typeface="Carlito"/>
              </a:rPr>
              <a:t>about 3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15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Mbps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5614863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7336281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365" dirty="0"/>
              <a:t>Bluetooth, </a:t>
            </a:r>
            <a:r>
              <a:rPr sz="3200" spc="-390" dirty="0"/>
              <a:t>Ultra </a:t>
            </a:r>
            <a:r>
              <a:rPr sz="3200" spc="-325" dirty="0"/>
              <a:t>Wideband </a:t>
            </a:r>
            <a:r>
              <a:rPr sz="3200" spc="-380" dirty="0"/>
              <a:t>(UWB),  </a:t>
            </a:r>
            <a:r>
              <a:rPr sz="3200" spc="-360" dirty="0"/>
              <a:t>and </a:t>
            </a:r>
            <a:r>
              <a:rPr sz="3200" spc="-340" dirty="0"/>
              <a:t>Other </a:t>
            </a:r>
            <a:r>
              <a:rPr sz="3200" spc="-345" dirty="0"/>
              <a:t>Short-Range </a:t>
            </a:r>
            <a:r>
              <a:rPr sz="3200" spc="-405" dirty="0"/>
              <a:t>Wireless  </a:t>
            </a:r>
            <a:r>
              <a:rPr sz="3200" spc="-415" dirty="0"/>
              <a:t>Standards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66050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Bluetooth</a:t>
            </a:r>
            <a:endParaRPr sz="2400">
              <a:latin typeface="Carlito"/>
              <a:cs typeface="Carlito"/>
            </a:endParaRPr>
          </a:p>
          <a:p>
            <a:pPr marL="756285" marR="79883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Networking </a:t>
            </a:r>
            <a:r>
              <a:rPr sz="2400" spc="-15" dirty="0">
                <a:latin typeface="Carlito"/>
                <a:cs typeface="Carlito"/>
              </a:rPr>
              <a:t>standard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very </a:t>
            </a:r>
            <a:r>
              <a:rPr sz="2400" spc="-10" dirty="0">
                <a:latin typeface="Carlito"/>
                <a:cs typeface="Carlito"/>
              </a:rPr>
              <a:t>short-range </a:t>
            </a:r>
            <a:r>
              <a:rPr sz="2400" spc="-5" dirty="0">
                <a:latin typeface="Carlito"/>
                <a:cs typeface="Carlito"/>
              </a:rPr>
              <a:t>wireless  </a:t>
            </a:r>
            <a:r>
              <a:rPr sz="2400" spc="-10" dirty="0">
                <a:latin typeface="Carlito"/>
                <a:cs typeface="Carlito"/>
              </a:rPr>
              <a:t>connections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Bluetooth </a:t>
            </a:r>
            <a:r>
              <a:rPr sz="2400" spc="-5" dirty="0">
                <a:latin typeface="Carlito"/>
                <a:cs typeface="Carlito"/>
              </a:rPr>
              <a:t>4.0 </a:t>
            </a:r>
            <a:r>
              <a:rPr sz="2400" spc="-10" dirty="0">
                <a:latin typeface="Carlito"/>
                <a:cs typeface="Carlito"/>
              </a:rPr>
              <a:t>(Bluetooth </a:t>
            </a:r>
            <a:r>
              <a:rPr sz="2400" spc="-5" dirty="0">
                <a:latin typeface="Carlito"/>
                <a:cs typeface="Carlito"/>
              </a:rPr>
              <a:t>Smart)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low </a:t>
            </a:r>
            <a:r>
              <a:rPr sz="2400" spc="-5" dirty="0">
                <a:latin typeface="Carlito"/>
                <a:cs typeface="Carlito"/>
              </a:rPr>
              <a:t>energy so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run 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years </a:t>
            </a:r>
            <a:r>
              <a:rPr sz="2400" spc="-5" dirty="0">
                <a:latin typeface="Carlito"/>
                <a:cs typeface="Carlito"/>
              </a:rPr>
              <a:t>on small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battery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Wireless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USB</a:t>
            </a:r>
            <a:endParaRPr sz="2400">
              <a:latin typeface="Carlito"/>
              <a:cs typeface="Carlito"/>
            </a:endParaRPr>
          </a:p>
          <a:p>
            <a:pPr marL="756285" marR="17462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USB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spc="-5" dirty="0">
                <a:latin typeface="Carlito"/>
                <a:cs typeface="Carlito"/>
              </a:rPr>
              <a:t>peripheral  devices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Wi-Fi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Direct</a:t>
            </a:r>
            <a:endParaRPr sz="2400">
              <a:latin typeface="Carlito"/>
              <a:cs typeface="Carlito"/>
            </a:endParaRPr>
          </a:p>
          <a:p>
            <a:pPr marL="756285" marR="24892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Standard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connecting </a:t>
            </a:r>
            <a:r>
              <a:rPr sz="2400" dirty="0">
                <a:latin typeface="Carlito"/>
                <a:cs typeface="Carlito"/>
              </a:rPr>
              <a:t>Wi-Fi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25" dirty="0">
                <a:latin typeface="Carlito"/>
                <a:cs typeface="Carlito"/>
              </a:rPr>
              <a:t>directly, </a:t>
            </a:r>
            <a:r>
              <a:rPr sz="2400" dirty="0">
                <a:latin typeface="Carlito"/>
                <a:cs typeface="Carlito"/>
              </a:rPr>
              <a:t>without 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router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an access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point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518485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0"/>
            <a:ext cx="613918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365" dirty="0"/>
              <a:t>Bluetooth, </a:t>
            </a:r>
            <a:r>
              <a:rPr sz="3200" spc="-390" dirty="0"/>
              <a:t>Ultra </a:t>
            </a:r>
            <a:r>
              <a:rPr sz="3200" spc="-325" dirty="0"/>
              <a:t>Wideband </a:t>
            </a:r>
            <a:r>
              <a:rPr sz="3200" spc="-380" dirty="0"/>
              <a:t>(UWB),  </a:t>
            </a:r>
            <a:r>
              <a:rPr sz="3200" spc="-360" dirty="0"/>
              <a:t>and </a:t>
            </a:r>
            <a:r>
              <a:rPr sz="3200" spc="-340" dirty="0"/>
              <a:t>Other </a:t>
            </a:r>
            <a:r>
              <a:rPr sz="3200" spc="-345" dirty="0"/>
              <a:t>Short-Range </a:t>
            </a:r>
            <a:r>
              <a:rPr sz="3200" spc="-405" dirty="0"/>
              <a:t>Wireless  </a:t>
            </a:r>
            <a:r>
              <a:rPr sz="3200" spc="-415" dirty="0"/>
              <a:t>Standards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725277" y="1704975"/>
            <a:ext cx="7967345" cy="4185920"/>
            <a:chOff x="725277" y="1704975"/>
            <a:chExt cx="7967345" cy="4185920"/>
          </a:xfrm>
        </p:grpSpPr>
        <p:sp>
          <p:nvSpPr>
            <p:cNvPr id="4" name="object 4"/>
            <p:cNvSpPr/>
            <p:nvPr/>
          </p:nvSpPr>
          <p:spPr>
            <a:xfrm>
              <a:off x="725277" y="1704975"/>
              <a:ext cx="7967313" cy="35068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3873" y="5157190"/>
              <a:ext cx="1438275" cy="7334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9431446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61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15" dirty="0"/>
              <a:t>How </a:t>
            </a:r>
            <a:r>
              <a:rPr spc="-415" dirty="0"/>
              <a:t>It </a:t>
            </a:r>
            <a:r>
              <a:rPr spc="-440" dirty="0"/>
              <a:t>Works</a:t>
            </a:r>
            <a:r>
              <a:rPr spc="-470" dirty="0"/>
              <a:t> </a:t>
            </a:r>
            <a:r>
              <a:rPr spc="-600" dirty="0"/>
              <a:t>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35290" cy="4123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Carlito"/>
                <a:cs typeface="Carlito"/>
              </a:rPr>
              <a:t>Smart</a:t>
            </a:r>
            <a:r>
              <a:rPr sz="2400" b="1" spc="-25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Homes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automation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25" dirty="0">
                <a:latin typeface="Carlito"/>
                <a:cs typeface="Carlito"/>
              </a:rPr>
              <a:t>Z-Wave, </a:t>
            </a:r>
            <a:r>
              <a:rPr sz="2400" spc="-5" dirty="0">
                <a:latin typeface="Carlito"/>
                <a:cs typeface="Carlito"/>
              </a:rPr>
              <a:t>Bluetooth, Wi-Fi or other wireless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standards </a:t>
            </a:r>
            <a:r>
              <a:rPr sz="2400" spc="-15" dirty="0">
                <a:latin typeface="Carlito"/>
                <a:cs typeface="Carlito"/>
              </a:rPr>
              <a:t>to control </a:t>
            </a:r>
            <a:r>
              <a:rPr sz="2400" spc="-5" dirty="0">
                <a:latin typeface="Carlito"/>
                <a:cs typeface="Carlito"/>
              </a:rPr>
              <a:t>lights, </a:t>
            </a:r>
            <a:r>
              <a:rPr sz="2400" spc="-10" dirty="0">
                <a:latin typeface="Carlito"/>
                <a:cs typeface="Carlito"/>
              </a:rPr>
              <a:t>door locks, thermostats,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756285" marR="467359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Smart </a:t>
            </a:r>
            <a:r>
              <a:rPr sz="2400" spc="-10" dirty="0">
                <a:latin typeface="Carlito"/>
                <a:cs typeface="Carlito"/>
              </a:rPr>
              <a:t>door </a:t>
            </a:r>
            <a:r>
              <a:rPr sz="2400" spc="-5" dirty="0">
                <a:latin typeface="Carlito"/>
                <a:cs typeface="Carlito"/>
              </a:rPr>
              <a:t>locks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unlocked </a:t>
            </a:r>
            <a:r>
              <a:rPr sz="2400" dirty="0">
                <a:latin typeface="Carlito"/>
                <a:cs typeface="Carlito"/>
              </a:rPr>
              <a:t>via </a:t>
            </a:r>
            <a:r>
              <a:rPr sz="2400" spc="-15" dirty="0">
                <a:latin typeface="Carlito"/>
                <a:cs typeface="Carlito"/>
              </a:rPr>
              <a:t>proximity </a:t>
            </a:r>
            <a:r>
              <a:rPr sz="2400" spc="-10" dirty="0">
                <a:latin typeface="Carlito"/>
                <a:cs typeface="Carlito"/>
              </a:rPr>
              <a:t>sensors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Bluetooth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4.0</a:t>
            </a:r>
            <a:endParaRPr sz="2400">
              <a:latin typeface="Carlito"/>
              <a:cs typeface="Carlito"/>
            </a:endParaRPr>
          </a:p>
          <a:p>
            <a:pPr marL="1155700" marR="3767454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send </a:t>
            </a:r>
            <a:r>
              <a:rPr sz="2400" spc="-10" dirty="0">
                <a:latin typeface="Carlito"/>
                <a:cs typeface="Carlito"/>
              </a:rPr>
              <a:t>temporary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keys 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others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check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5" dirty="0">
                <a:latin typeface="Carlito"/>
                <a:cs typeface="Carlito"/>
              </a:rPr>
              <a:t>status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locks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30" dirty="0">
                <a:latin typeface="Carlito"/>
                <a:cs typeface="Carlito"/>
              </a:rPr>
              <a:t>keys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online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6533" y="4114800"/>
            <a:ext cx="4010024" cy="2333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55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8447452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9870" cy="461087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Adapter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interface card </a:t>
            </a:r>
            <a:r>
              <a:rPr sz="2400" spc="-5" dirty="0">
                <a:latin typeface="Carlito"/>
                <a:cs typeface="Carlito"/>
              </a:rPr>
              <a:t>(NIC) </a:t>
            </a:r>
            <a:r>
              <a:rPr sz="2400" dirty="0">
                <a:latin typeface="Carlito"/>
                <a:cs typeface="Carlito"/>
              </a:rPr>
              <a:t>when in </a:t>
            </a:r>
            <a:r>
              <a:rPr sz="2400">
                <a:latin typeface="Carlito"/>
                <a:cs typeface="Carlito"/>
              </a:rPr>
              <a:t>the</a:t>
            </a:r>
            <a:r>
              <a:rPr sz="2400" spc="-50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form</a:t>
            </a:r>
            <a:r>
              <a:rPr lang="en-US" sz="2400" spc="-20" dirty="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expansion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Modem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enables 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5">
                <a:latin typeface="Carlito"/>
                <a:cs typeface="Carlito"/>
              </a:rPr>
              <a:t>communicate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over</a:t>
            </a:r>
            <a:r>
              <a:rPr sz="2400">
                <a:latin typeface="Carlito"/>
                <a:cs typeface="Carlito"/>
              </a:rPr>
              <a:t>analog </a:t>
            </a:r>
            <a:r>
              <a:rPr sz="2400" spc="-10" dirty="0">
                <a:latin typeface="Carlito"/>
                <a:cs typeface="Carlito"/>
              </a:rPr>
              <a:t>networking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60" dirty="0">
                <a:latin typeface="Carlito"/>
                <a:cs typeface="Carlito"/>
              </a:rPr>
              <a:t>Term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interchangeably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adapter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mobile devices </a:t>
            </a:r>
            <a:r>
              <a:rPr sz="2400" spc="-20" dirty="0">
                <a:latin typeface="Carlito"/>
                <a:cs typeface="Carlito"/>
              </a:rPr>
              <a:t>today </a:t>
            </a:r>
            <a:r>
              <a:rPr sz="2400" spc="-10" dirty="0">
                <a:latin typeface="Carlito"/>
                <a:cs typeface="Carlito"/>
              </a:rPr>
              <a:t>come </a:t>
            </a:r>
            <a:r>
              <a:rPr sz="2400">
                <a:latin typeface="Carlito"/>
                <a:cs typeface="Carlito"/>
              </a:rPr>
              <a:t>with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a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built-in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adapter </a:t>
            </a:r>
            <a:r>
              <a:rPr sz="2400" spc="-10" dirty="0">
                <a:latin typeface="Carlito"/>
                <a:cs typeface="Carlito"/>
              </a:rPr>
              <a:t>and/or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modem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571604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3" name="object 3"/>
          <p:cNvSpPr/>
          <p:nvPr/>
        </p:nvSpPr>
        <p:spPr>
          <a:xfrm>
            <a:off x="1099573" y="1700783"/>
            <a:ext cx="6970271" cy="3421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20080" y="5661253"/>
            <a:ext cx="1314450" cy="600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57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193905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9795"/>
            <a:ext cx="8067040" cy="465576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Switch</a:t>
            </a:r>
            <a:endParaRPr sz="22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rlito"/>
                <a:cs typeface="Carlito"/>
              </a:rPr>
              <a:t>Central </a:t>
            </a:r>
            <a:r>
              <a:rPr sz="2200" spc="-10" dirty="0">
                <a:latin typeface="Carlito"/>
                <a:cs typeface="Carlito"/>
              </a:rPr>
              <a:t>device that connects devices </a:t>
            </a:r>
            <a:r>
              <a:rPr sz="2200" spc="-5" dirty="0">
                <a:latin typeface="Carlito"/>
                <a:cs typeface="Carlito"/>
              </a:rPr>
              <a:t>in a </a:t>
            </a:r>
            <a:r>
              <a:rPr sz="2200" spc="-10" dirty="0">
                <a:latin typeface="Carlito"/>
                <a:cs typeface="Carlito"/>
              </a:rPr>
              <a:t>wired network but</a:t>
            </a:r>
            <a:r>
              <a:rPr sz="2200" spc="11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only</a:t>
            </a:r>
            <a:r>
              <a:rPr lang="en-US" sz="220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sends </a:t>
            </a:r>
            <a:r>
              <a:rPr sz="2200" spc="-20" dirty="0">
                <a:latin typeface="Carlito"/>
                <a:cs typeface="Carlito"/>
              </a:rPr>
              <a:t>data 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intended</a:t>
            </a:r>
            <a:r>
              <a:rPr sz="2200" spc="4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recipient</a:t>
            </a:r>
            <a:endParaRPr sz="22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Hub </a:t>
            </a:r>
            <a:r>
              <a:rPr sz="2200" spc="-130" dirty="0">
                <a:latin typeface="Arial"/>
                <a:cs typeface="Arial"/>
              </a:rPr>
              <a:t>– </a:t>
            </a:r>
            <a:r>
              <a:rPr sz="2200" spc="-10" dirty="0">
                <a:latin typeface="Carlito"/>
                <a:cs typeface="Carlito"/>
              </a:rPr>
              <a:t>similar but </a:t>
            </a:r>
            <a:r>
              <a:rPr sz="2200" spc="-5" dirty="0">
                <a:latin typeface="Carlito"/>
                <a:cs typeface="Carlito"/>
              </a:rPr>
              <a:t>sends </a:t>
            </a:r>
            <a:r>
              <a:rPr sz="2200" spc="-20" dirty="0">
                <a:latin typeface="Carlito"/>
                <a:cs typeface="Carlito"/>
              </a:rPr>
              <a:t>data to </a:t>
            </a:r>
            <a:r>
              <a:rPr sz="2200" spc="-5" dirty="0">
                <a:latin typeface="Carlito"/>
                <a:cs typeface="Carlito"/>
              </a:rPr>
              <a:t>all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recipients</a:t>
            </a:r>
            <a:endParaRPr sz="22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20" dirty="0">
                <a:latin typeface="Carlito"/>
                <a:cs typeface="Carlito"/>
              </a:rPr>
              <a:t>Router</a:t>
            </a:r>
            <a:endParaRPr sz="2200" dirty="0">
              <a:latin typeface="Carlito"/>
              <a:cs typeface="Carlito"/>
            </a:endParaRPr>
          </a:p>
          <a:p>
            <a:pPr marL="756285" marR="43751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  <a:tab pos="4124325" algn="l"/>
              </a:tabLst>
            </a:pPr>
            <a:r>
              <a:rPr sz="2200" spc="-5" dirty="0">
                <a:latin typeface="Carlito"/>
                <a:cs typeface="Carlito"/>
              </a:rPr>
              <a:t>Connects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multiple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networks:	two </a:t>
            </a:r>
            <a:r>
              <a:rPr sz="2200" spc="-10" dirty="0">
                <a:latin typeface="Carlito"/>
                <a:cs typeface="Carlito"/>
              </a:rPr>
              <a:t>LANs, </a:t>
            </a:r>
            <a:r>
              <a:rPr sz="2200" spc="-15" dirty="0">
                <a:latin typeface="Carlito"/>
                <a:cs typeface="Carlito"/>
              </a:rPr>
              <a:t>two </a:t>
            </a:r>
            <a:r>
              <a:rPr sz="2200" spc="-25" dirty="0">
                <a:latin typeface="Carlito"/>
                <a:cs typeface="Carlito"/>
              </a:rPr>
              <a:t>WANS, </a:t>
            </a:r>
            <a:r>
              <a:rPr sz="2200" spc="-10" dirty="0">
                <a:latin typeface="Carlito"/>
                <a:cs typeface="Carlito"/>
              </a:rPr>
              <a:t>LAN </a:t>
            </a:r>
            <a:r>
              <a:rPr sz="2200" spc="-5" dirty="0">
                <a:latin typeface="Carlito"/>
                <a:cs typeface="Carlito"/>
              </a:rPr>
              <a:t>and  the</a:t>
            </a:r>
            <a:r>
              <a:rPr sz="2200" spc="-1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Internet</a:t>
            </a:r>
            <a:endParaRPr sz="22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rlito"/>
                <a:cs typeface="Carlito"/>
              </a:rPr>
              <a:t>Passes </a:t>
            </a:r>
            <a:r>
              <a:rPr sz="2200" spc="-20" dirty="0">
                <a:latin typeface="Carlito"/>
                <a:cs typeface="Carlito"/>
              </a:rPr>
              <a:t>data to </a:t>
            </a:r>
            <a:r>
              <a:rPr sz="2200" spc="-10" dirty="0">
                <a:latin typeface="Carlito"/>
                <a:cs typeface="Carlito"/>
              </a:rPr>
              <a:t>intended recipient</a:t>
            </a:r>
            <a:r>
              <a:rPr sz="2200" spc="5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only</a:t>
            </a:r>
            <a:endParaRPr sz="22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20" dirty="0">
                <a:latin typeface="Carlito"/>
                <a:cs typeface="Carlito"/>
              </a:rPr>
              <a:t>Routes traffic </a:t>
            </a:r>
            <a:r>
              <a:rPr sz="2200" spc="-15" dirty="0">
                <a:latin typeface="Carlito"/>
                <a:cs typeface="Carlito"/>
              </a:rPr>
              <a:t>over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Internet</a:t>
            </a:r>
            <a:endParaRPr sz="22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Wireless </a:t>
            </a:r>
            <a:r>
              <a:rPr sz="2200" spc="-5">
                <a:latin typeface="Carlito"/>
                <a:cs typeface="Carlito"/>
              </a:rPr>
              <a:t>Access</a:t>
            </a:r>
            <a:r>
              <a:rPr sz="2200" spc="10">
                <a:latin typeface="Carlito"/>
                <a:cs typeface="Carlito"/>
              </a:rPr>
              <a:t> </a:t>
            </a:r>
            <a:r>
              <a:rPr sz="2200" spc="-20">
                <a:latin typeface="Carlito"/>
                <a:cs typeface="Carlito"/>
              </a:rPr>
              <a:t>Point</a:t>
            </a:r>
            <a:r>
              <a:rPr lang="en-US" sz="2200" spc="-20">
                <a:latin typeface="Carlito"/>
                <a:cs typeface="Carlito"/>
              </a:rPr>
              <a:t> (WAP)</a:t>
            </a:r>
            <a:endParaRPr sz="22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rlito"/>
                <a:cs typeface="Carlito"/>
              </a:rPr>
              <a:t>Device </a:t>
            </a:r>
            <a:r>
              <a:rPr sz="2200" spc="-10" dirty="0">
                <a:latin typeface="Carlito"/>
                <a:cs typeface="Carlito"/>
              </a:rPr>
              <a:t>used </a:t>
            </a:r>
            <a:r>
              <a:rPr sz="2200" spc="-20" dirty="0">
                <a:latin typeface="Carlito"/>
                <a:cs typeface="Carlito"/>
              </a:rPr>
              <a:t>to grant </a:t>
            </a:r>
            <a:r>
              <a:rPr sz="2200" spc="-10" dirty="0">
                <a:latin typeface="Carlito"/>
                <a:cs typeface="Carlito"/>
              </a:rPr>
              <a:t>network </a:t>
            </a:r>
            <a:r>
              <a:rPr sz="2200" spc="-5" dirty="0">
                <a:latin typeface="Carlito"/>
                <a:cs typeface="Carlito"/>
              </a:rPr>
              <a:t>access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wireless </a:t>
            </a:r>
            <a:r>
              <a:rPr sz="2200" spc="-10" dirty="0">
                <a:latin typeface="Carlito"/>
                <a:cs typeface="Carlito"/>
              </a:rPr>
              <a:t>client</a:t>
            </a:r>
            <a:r>
              <a:rPr sz="2200" spc="10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devices</a:t>
            </a:r>
            <a:endParaRPr sz="22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950840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0525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Wireless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Router</a:t>
            </a:r>
            <a:endParaRPr sz="2400">
              <a:latin typeface="Carlito"/>
              <a:cs typeface="Carlito"/>
            </a:endParaRPr>
          </a:p>
          <a:p>
            <a:pPr marL="756285" marR="46037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Typically </a:t>
            </a:r>
            <a:r>
              <a:rPr sz="2400" spc="-10" dirty="0">
                <a:latin typeface="Carlito"/>
                <a:cs typeface="Carlito"/>
              </a:rPr>
              <a:t>connects </a:t>
            </a:r>
            <a:r>
              <a:rPr sz="2400" spc="-5" dirty="0">
                <a:latin typeface="Carlito"/>
                <a:cs typeface="Carlito"/>
              </a:rPr>
              <a:t>both </a:t>
            </a:r>
            <a:r>
              <a:rPr sz="2400" spc="-10" dirty="0">
                <a:latin typeface="Carlito"/>
                <a:cs typeface="Carlito"/>
              </a:rPr>
              <a:t>wired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wireless devices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15" dirty="0">
                <a:latin typeface="Carlito"/>
                <a:cs typeface="Carlito"/>
              </a:rPr>
              <a:t>integrates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switch, </a:t>
            </a:r>
            <a:r>
              <a:rPr sz="2400" spc="-40" dirty="0">
                <a:latin typeface="Carlito"/>
                <a:cs typeface="Carlito"/>
              </a:rPr>
              <a:t>router,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dirty="0">
                <a:latin typeface="Carlito"/>
                <a:cs typeface="Carlito"/>
              </a:rPr>
              <a:t>access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point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Bridge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two </a:t>
            </a:r>
            <a:r>
              <a:rPr sz="2400" spc="-5" dirty="0">
                <a:latin typeface="Carlito"/>
                <a:cs typeface="Carlito"/>
              </a:rPr>
              <a:t>LANs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together</a:t>
            </a:r>
            <a:endParaRPr sz="2400">
              <a:latin typeface="Carlito"/>
              <a:cs typeface="Carlito"/>
            </a:endParaRPr>
          </a:p>
          <a:p>
            <a:pPr marL="756285" marR="20256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home </a:t>
            </a:r>
            <a:r>
              <a:rPr sz="2400" spc="-10" dirty="0">
                <a:latin typeface="Carlito"/>
                <a:cs typeface="Carlito"/>
              </a:rPr>
              <a:t>network, </a:t>
            </a:r>
            <a:r>
              <a:rPr sz="2400" spc="-5" dirty="0">
                <a:latin typeface="Carlito"/>
                <a:cs typeface="Carlito"/>
              </a:rPr>
              <a:t>wirelessly </a:t>
            </a:r>
            <a:r>
              <a:rPr sz="2400" spc="-10" dirty="0">
                <a:latin typeface="Carlito"/>
                <a:cs typeface="Carlito"/>
              </a:rPr>
              <a:t>connects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wired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9518402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3" name="object 3"/>
          <p:cNvSpPr/>
          <p:nvPr/>
        </p:nvSpPr>
        <p:spPr>
          <a:xfrm>
            <a:off x="4560315" y="2141666"/>
            <a:ext cx="4116070" cy="298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6640" y="1925981"/>
            <a:ext cx="3587798" cy="32641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56662" y="5521962"/>
            <a:ext cx="1351180" cy="1019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60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9702351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7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258684" cy="513409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Repeaters</a:t>
            </a:r>
            <a:endParaRPr sz="2400" dirty="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Amplify </a:t>
            </a:r>
            <a:r>
              <a:rPr sz="2400" spc="-5" dirty="0">
                <a:latin typeface="Carlito"/>
                <a:cs typeface="Carlito"/>
              </a:rPr>
              <a:t>signals </a:t>
            </a:r>
            <a:r>
              <a:rPr sz="2400" dirty="0">
                <a:latin typeface="Carlito"/>
                <a:cs typeface="Carlito"/>
              </a:rPr>
              <a:t>along a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lang="en-US" sz="2400" spc="-70" dirty="0">
                <a:latin typeface="Carlito"/>
                <a:cs typeface="Carlito"/>
              </a:rPr>
              <a:t>wired/wireless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Range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Extenders</a:t>
            </a:r>
            <a:endParaRPr sz="2400" dirty="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15" dirty="0">
                <a:latin typeface="Carlito"/>
                <a:cs typeface="Carlito"/>
              </a:rPr>
              <a:t>Repeaters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wireless</a:t>
            </a:r>
            <a:r>
              <a:rPr sz="2400" spc="1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Antennas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Devices 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receiving </a:t>
            </a:r>
            <a:r>
              <a:rPr sz="2400" spc="-10" dirty="0">
                <a:latin typeface="Carlito"/>
                <a:cs typeface="Carlito"/>
              </a:rPr>
              <a:t>or </a:t>
            </a:r>
            <a:r>
              <a:rPr sz="2400" spc="-5" dirty="0">
                <a:latin typeface="Carlito"/>
                <a:cs typeface="Carlito"/>
              </a:rPr>
              <a:t>sending </a:t>
            </a:r>
            <a:r>
              <a:rPr sz="2400" spc="-10" dirty="0">
                <a:latin typeface="Carlito"/>
                <a:cs typeface="Carlito"/>
              </a:rPr>
              <a:t>radio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signals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Some </a:t>
            </a:r>
            <a:r>
              <a:rPr sz="2400" spc="-10" dirty="0">
                <a:latin typeface="Carlito"/>
                <a:cs typeface="Carlito"/>
              </a:rPr>
              <a:t>network adapters can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external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antenna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directional or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omnidirectional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Strength measured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decibels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(dB)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388208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15580" cy="28790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Multiplexer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Combines transmissions </a:t>
            </a:r>
            <a:r>
              <a:rPr sz="2400" spc="-15" dirty="0">
                <a:latin typeface="Carlito"/>
                <a:cs typeface="Carlito"/>
              </a:rPr>
              <a:t>from several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5" dirty="0">
                <a:latin typeface="Carlito"/>
                <a:cs typeface="Carlito"/>
              </a:rPr>
              <a:t>send </a:t>
            </a:r>
            <a:r>
              <a:rPr sz="2400" dirty="0">
                <a:latin typeface="Carlito"/>
                <a:cs typeface="Carlito"/>
              </a:rPr>
              <a:t>them as </a:t>
            </a:r>
            <a:r>
              <a:rPr sz="2400" spc="-10" dirty="0">
                <a:latin typeface="Carlito"/>
                <a:cs typeface="Carlito"/>
              </a:rPr>
              <a:t>one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message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Concentrator</a:t>
            </a:r>
            <a:endParaRPr sz="2400" dirty="0">
              <a:latin typeface="Carlito"/>
              <a:cs typeface="Carlito"/>
            </a:endParaRPr>
          </a:p>
          <a:p>
            <a:pPr marL="756285" marR="941069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Combines messages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sends </a:t>
            </a:r>
            <a:r>
              <a:rPr sz="2400" dirty="0">
                <a:latin typeface="Carlito"/>
                <a:cs typeface="Carlito"/>
              </a:rPr>
              <a:t>them via a </a:t>
            </a:r>
            <a:r>
              <a:rPr sz="2400" spc="-5" dirty="0">
                <a:latin typeface="Carlito"/>
                <a:cs typeface="Carlito"/>
              </a:rPr>
              <a:t>single  transmission </a:t>
            </a:r>
            <a:r>
              <a:rPr sz="2400" dirty="0">
                <a:latin typeface="Carlito"/>
                <a:cs typeface="Carlito"/>
              </a:rPr>
              <a:t>medium in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30" dirty="0">
                <a:latin typeface="Carlito"/>
                <a:cs typeface="Carlito"/>
              </a:rPr>
              <a:t>way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0" dirty="0">
                <a:latin typeface="Carlito"/>
                <a:cs typeface="Carlito"/>
              </a:rPr>
              <a:t>of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messages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simultaneously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active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400556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219190"/>
            <a:chOff x="0" y="0"/>
            <a:chExt cx="9144000" cy="6219190"/>
          </a:xfrm>
        </p:grpSpPr>
        <p:sp>
          <p:nvSpPr>
            <p:cNvPr id="3" name="object 3"/>
            <p:cNvSpPr/>
            <p:nvPr/>
          </p:nvSpPr>
          <p:spPr>
            <a:xfrm>
              <a:off x="827582" y="1484782"/>
              <a:ext cx="5886450" cy="47339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76288" y="1844801"/>
              <a:ext cx="1629591" cy="13036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5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84" dirty="0"/>
              <a:t>Hardware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63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4203107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470" dirty="0"/>
              <a:t>Summary</a:t>
            </a:r>
            <a:endParaRPr spc="-47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Networking Concepts</a:t>
            </a:r>
          </a:p>
          <a:p>
            <a:r>
              <a:rPr lang="en-US" dirty="0"/>
              <a:t>Networking Applications</a:t>
            </a:r>
          </a:p>
          <a:p>
            <a:pPr lvl="1"/>
            <a:r>
              <a:rPr lang="en-US" dirty="0"/>
              <a:t>Telecom Industry</a:t>
            </a:r>
          </a:p>
          <a:p>
            <a:pPr lvl="1"/>
            <a:r>
              <a:rPr lang="en-US" dirty="0"/>
              <a:t>Videoconferencing</a:t>
            </a:r>
          </a:p>
          <a:p>
            <a:r>
              <a:rPr lang="en-US" dirty="0"/>
              <a:t>Network Characteristics: </a:t>
            </a:r>
          </a:p>
          <a:p>
            <a:pPr lvl="1"/>
            <a:r>
              <a:rPr lang="en-US" dirty="0"/>
              <a:t>Types of networks</a:t>
            </a:r>
          </a:p>
          <a:p>
            <a:pPr lvl="1"/>
            <a:r>
              <a:rPr lang="en-US" dirty="0"/>
              <a:t>Network Topologies</a:t>
            </a:r>
          </a:p>
          <a:p>
            <a:pPr lvl="1"/>
            <a:r>
              <a:rPr lang="en-US" dirty="0"/>
              <a:t> Network Architectures </a:t>
            </a:r>
          </a:p>
          <a:p>
            <a:pPr lvl="1"/>
            <a:r>
              <a:rPr lang="en-US" dirty="0"/>
              <a:t>Network Size &amp; Coverage Area</a:t>
            </a:r>
          </a:p>
          <a:p>
            <a:endParaRPr lang="en-GB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64</a:t>
            </a:fld>
            <a:endParaRPr spc="-165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B1452A8B9644E8C8746036957D926" ma:contentTypeVersion="4" ma:contentTypeDescription="Create a new document." ma:contentTypeScope="" ma:versionID="c180a0b494e1df634ea8a136120aaaa5">
  <xsd:schema xmlns:xsd="http://www.w3.org/2001/XMLSchema" xmlns:xs="http://www.w3.org/2001/XMLSchema" xmlns:p="http://schemas.microsoft.com/office/2006/metadata/properties" xmlns:ns2="ecb9fd39-69ca-44d1-bf6e-cb49dbade056" targetNamespace="http://schemas.microsoft.com/office/2006/metadata/properties" ma:root="true" ma:fieldsID="f3bb93dc3ae910b110e4de89499c188f" ns2:_="">
    <xsd:import namespace="ecb9fd39-69ca-44d1-bf6e-cb49dbade0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fd39-69ca-44d1-bf6e-cb49dbade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D3B0E4-04C9-4484-958C-5A99B4ADD5D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6EBCEB5-0DB9-42E2-B8BB-7D60BF08D6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b9fd39-69ca-44d1-bf6e-cb49dbade0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5DD7A9-819C-4784-94F2-250EAA9AA4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15578552</TotalTime>
  <Words>2720</Words>
  <Application>Microsoft Macintosh PowerPoint</Application>
  <PresentationFormat>On-screen Show (4:3)</PresentationFormat>
  <Paragraphs>461</Paragraphs>
  <Slides>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Calibri</vt:lpstr>
      <vt:lpstr>Carlito</vt:lpstr>
      <vt:lpstr>Corbel</vt:lpstr>
      <vt:lpstr>Wingdings</vt:lpstr>
      <vt:lpstr>Wingdings 2</vt:lpstr>
      <vt:lpstr>Wingdings 3</vt:lpstr>
      <vt:lpstr>Module</vt:lpstr>
      <vt:lpstr>CSC 101 – Introduction to Computing</vt:lpstr>
      <vt:lpstr>Outline</vt:lpstr>
      <vt:lpstr>What Is  a Network?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 Characteristics</vt:lpstr>
      <vt:lpstr>Network Characteristics</vt:lpstr>
      <vt:lpstr>Network Characteristics</vt:lpstr>
      <vt:lpstr>Network Characteristics</vt:lpstr>
      <vt:lpstr>Network Characteristics</vt:lpstr>
      <vt:lpstr>Network Characteristics</vt:lpstr>
      <vt:lpstr>Network Characteristics</vt:lpstr>
      <vt:lpstr>Network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Networking Media</vt:lpstr>
      <vt:lpstr>Networking Media</vt:lpstr>
      <vt:lpstr>Networking Media</vt:lpstr>
      <vt:lpstr>Networking Media</vt:lpstr>
      <vt:lpstr>Networking Media</vt:lpstr>
      <vt:lpstr>Networking Media</vt:lpstr>
      <vt:lpstr>Networking Media</vt:lpstr>
      <vt:lpstr>Networking Media</vt:lpstr>
      <vt:lpstr>Networking Media</vt:lpstr>
      <vt:lpstr>Communications Protocols and  Networking Standards</vt:lpstr>
      <vt:lpstr>TCP/IP and Other Communications  Protocols</vt:lpstr>
      <vt:lpstr>TCP/IP and Other Communications  Protocols</vt:lpstr>
      <vt:lpstr>TCP/IP and Other Communications  Protocols</vt:lpstr>
      <vt:lpstr>Ethernet (802.3)</vt:lpstr>
      <vt:lpstr>Ethernet (802.3)</vt:lpstr>
      <vt:lpstr>Ethernet (802.3) PoE</vt:lpstr>
      <vt:lpstr>Wi-Fi (802.11)</vt:lpstr>
      <vt:lpstr>Technology and You Box</vt:lpstr>
      <vt:lpstr>Wi-Fi (802.11)</vt:lpstr>
      <vt:lpstr>WiMAX (802.16)</vt:lpstr>
      <vt:lpstr>WiMAX (802.16)</vt:lpstr>
      <vt:lpstr>Cellular Standards</vt:lpstr>
      <vt:lpstr>Bluetooth, Ultra Wideband (UWB),  and Other Short-Range Wireless  Standards</vt:lpstr>
      <vt:lpstr>Bluetooth, Ultra Wideband (UWB),  and Other Short-Range Wireless  Standards</vt:lpstr>
      <vt:lpstr>How It Works Box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(FA24-BSE-042) MUHAMMAD ABDULLAH</cp:lastModifiedBy>
  <cp:revision>198</cp:revision>
  <dcterms:created xsi:type="dcterms:W3CDTF">2015-07-29T13:27:11Z</dcterms:created>
  <dcterms:modified xsi:type="dcterms:W3CDTF">2025-01-18T11:03:02Z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0x0101002C2B1452A8B9644E8C8746036957D926</vt:lpwstr>
  </property>
</Properties>
</file>